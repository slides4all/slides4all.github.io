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ZC2eSCt7YjdxNgsXQugTsMQQJ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FB4F88-963A-4F2B-9455-185FD9881ED3}">
  <a:tblStyle styleId="{43FB4F88-963A-4F2B-9455-185FD9881ED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7EA"/>
          </a:solidFill>
        </a:fill>
      </a:tcStyle>
    </a:wholeTbl>
    <a:band1H>
      <a:tcTxStyle b="off" i="off"/>
      <a:tcStyle>
        <a:fill>
          <a:solidFill>
            <a:srgbClr val="CACBD3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BD3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AF38C63C-7322-4C4E-BEF8-CE5F491D54E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customschemas.google.com/relationships/presentationmetadata" Target="meta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41283a9cb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g3f41283a9cb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Apresentação pessoal e contextualização do trabalho.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Cumprimente a plateia e se apresente pelo nome.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Diga sua afiliação: AI Horizon Labs, UNIPAMPA, PPGES.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Apresente brevemente o título do trabalho: "Rules Farmer – uma ferramenta agêntica que gera e valida regras de IDS em tempo de execução, contra ataques em XRCE-DDS."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Mencione rapidamente os coautores.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~20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Seja direto e confiante. Não precisa ler o título inteiro; parafraseie.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0:00 a 0:20 -&gt; Olá. Meu nome é Matheus Ciocca, do AI Horizon Labs, na UNIPAMPA.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Vou apresentar o Rules Farmer: uma ferramenta agêntica que gera e valida regras de IDS em tempo de execução, contra ataques em XRCE-DDS.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83" name="Google Shape;83;g3f41283a9cb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41283a9cb_0_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g3f41283a9cb_0_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Apresentar o problema central e os dados que o sustentam.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Antes de falar do problema, contextualize o alvo: "XRCE-DDS é o middleware padrão do micro-ROS, usado em drones, robôs e automação industrial."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Apresente o problema: "Uma regra de IDS pode ter sintaxe válida e mesmo assim não detectar nada."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Destaque o dado impactante: "3 de 4 regras iniciais falharam contra o próprio ataque canônico."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Enfatize: "Foram quatro cenários de ataque, todos avaliados em tempo de execução."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Conclua com a lição: "As evasões só aparecem quando você executa."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~45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Faça uma pausa depois de dizer "3 de 4 falharam" – deixe a plateia absorver o dado. É o gancho principal da apresentação.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🔑 PALAVRAS-CHAVE: XRCE-DDS, micro-ROS, evasão, execução ao vivo.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0:20 a 1:05 -&gt; Antes do problema, uma palavra sobre o alvo. XRCE-DDS é o middleware padrão do micro-ROS, a extensão oficial para microcontroladores. Ele está rodando em drones, em robôs e em automação industrial.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aqui está o problema. Uma regra de IDS pode ter sintaxe perfeitamente válida e mesmo assim não detectar nada.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Nos nossos experimentos, 3 das 4 regras iniciais falharam contra o próprio ataque canônico — só uma detectou. Foram quatro cenários de ataque XRCE-DDS, todos avaliados em tempo de execução. E a lição central é esta: as evasões só aparecem quando você executa.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2" name="Google Shape;112;g3f41283a9cb_0_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41283a9cb_0_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g3f41283a9cb_0_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Explicar POR QUE as regras falham – três razões técnicas.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"Três razões para isso acontecer."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RAZÃO 1: "Protocolos emergentes exigem semântica própria. Os repositórios públicos cobrem bem o ambiente de TI tradicional, mas quase não cobrem XRCE-DDS."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RAZÃO 2: "Variações simples quebram assinaturas compactas. Basta mudar tamanho de payload, taxa, fragmentação ou parâmetros de sessão."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RAZÃO 3 (enfatize): "E a mais importante: validação estática não testa comportamento – ela testa gramática."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~50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Numere as razões verbalmente ("primeira", "segunda", "terceira") para dar estrutura. Enfatize a terceira razão com tom de voz mais forte – é a tese do trabalho.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🔑 CONCEITO CENTRAL: Validação estática ≠ validação semântica.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1:05 a 1:55 -&gt; Três razões para isso acontecer.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Primeira: protocolos emergentes exigem semântica própria. Os repositórios públicos de regras cobrem muito bem o ambiente de TI tradicional, mas quase não cobrem XRCE-DDS.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Segunda: variações simples quebram assinaturas compactas. Basta mudar tamanho de payload, taxa de envio, fragmentação ou parâmetros de sessão.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Terceira, e a mais importante: validação estática não testa comportamento. Ela testa gramática.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144" name="Google Shape;144;g3f41283a9cb_0_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41283a9cb_0_7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g3f41283a9cb_0_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Situar o trabalho na literatura e mostrar a lacuna.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Aponte para a tabela: "Aqui está a lacuna nos trabalhos relacionados."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Percorra rapidamente as linhas: "Trabalhos que usam LLM para gerar regras fazem validação estática ou teórica."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Mencione o WAF: "A abordagem de WAF é reativa – só corrige depois que a evasão já aconteceu em produção."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Mencione IoT genérico: "Trabalhos de IoT usam tráfego fixo, sem variantes evasivas."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Destaque o Rules Farmer: "Nenhum deles coloca a regra frente a um atacante que lê a assinatura e tenta quebrá-la. É esse laço que a gente fecha."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~50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Não leia a tabela toda. Passe rápido pelas três primeiras linhas e pare na última com ênfase.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🔑 DIFERENCIAL: Validação ao vivo em laço fechado com adversário adaptativo.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aqui que está a lacuna. Os trabalhos que usam LLM para gerar regras validam de forma teórica, ou estática sobre capturas offline, ou reativa — depois que a evasão já apareceu no log.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único trabalho com validação ao vivo, em MQTT, usa ataques fixos: não há adversário adaptativo, e não cobre XRCE-DDS.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Nenhum deles coloca a regra frente a um atacante que lê a assinatura e tenta quebrá-la. É esse laço que a gente fecha.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6" name="Google Shape;166;g3f41283a9cb_0_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41283a9cb_0_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g3f41283a9cb_0_9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Slide de transição para a seção da solução proposta.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"Vamos à solução proposta."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"O Rules Farmer fecha o ciclo: a defesa gera a regra, o ataque tenta quebrá-la, e os alertas do IDS orientam a próxima rodada."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~10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Use esse slide como respiro. É uma transição – seja breve e direto.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 à solução proposta.</a:t>
            </a:r>
            <a:endParaRPr/>
          </a:p>
        </p:txBody>
      </p:sp>
      <p:sp>
        <p:nvSpPr>
          <p:cNvPr id="187" name="Google Shape;187;g3f41283a9cb_0_9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41283a9cb_0_10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g3f41283a9cb_0_10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Apresentar a arquitetura geral do Rules Farmer (diagrama).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"São três componentes: Orquestrador, Agente de Defesa e Agente de Ataque."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"Tudo começa à esquerda: o usuário escreve a intenção em linguagem natural – por exemplo, 'detecte negação de serviço por UDP contra o agente XRCE-DDS'."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"O Orquestrador recebe isso e aciona o Agente de Defesa."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Aponte para a faixa verde: "Na defesa, quatro passos: enriquecer a intenção, sintetizar a regra Snort 3, validar a sintaxe e implantar."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Faça a ressalva: "Guardem este ponto: até aqui a regra é apenas sintaticamente válida."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~40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Use gestos para apontar as partes do diagrama. A frase "até aqui a regra é apenas sintaticamente válida" é a ponte para os próximos slides.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🔑 CONCEITO: A arquitetura é modular – orquestrador + 2 agentes LLM.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ETAPA 1 — A DEFESA SINTETIZA A REGRA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São três componentes: Orquestrador, Agente de Defesa e Agente de Ataque.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Tudo começa à esquerda: o usuário escreve a intenção em linguagem natural — por exemplo, "detecte negação de serviço por UDP contra o agente XRCE-DDS". O Orquestrador recebe isso e aciona o Agente de Defesa.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faixa verde, quatro passos: enriquecer a intenção, sintetizar a regra Snort 3, validar a sintaxe e implantar. Guardem este ponto: até aqui a regra é apenas sintaticamente válida.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9" name="Google Shape;199;g3f41283a9cb_0_10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41283a9cb_0_1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g3f41283a9cb_0_1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Detalhar o Agente de Defesa (etapa A no diagrama).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"O Agente de Defesa faz 4 etapas automáticas."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"Primeiro, entende o pedido em linguagem natural."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"Depois, escreve a regra Snort 3."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"Terceiro, checa a sintaxe com o Snort."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"E por fim, ativa a regra no IDS."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Reforce: "Tudo isso é automático – o usuário só dá a intenção."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~30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Seja breve – este slide detalha algo já mencionado no slide anterior. O público quer ver o que vem depois.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ETAPA 1 — A DEFESA SINTETIZA A REGRA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São três componentes: Orquestrador, Agente de Defesa e Agente de Ataque.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Tudo começa à esquerda: o usuário escreve a intenção em linguagem natural — por exemplo, "detecte negação de serviço por UDP contra o agente XRCE-DDS". O Orquestrador recebe isso e aciona o Agente de Defesa.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faixa verde, quatro passos: enriquecer a intenção, sintetizar a regra Snort 3, validar a sintaxe e implantar. Guardem este ponto: até aqui a regra é apenas sintaticamente válida.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0" name="Google Shape;210;g3f41283a9cb_0_1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41283a9cb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f41283a9c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Explicar o gate de tráfego benigno (etapa B – barreira 1).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"Antes de a regra ser ativada, ela passa por uma barreira: o gate de tráfego benigno."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"Geramos tráfego legítimo em três perfis – keepalive, registro de participante e heartbeat – todos abaixo dos limiares volumétricos."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"Se a regra disparar alarme em qualquer um deles, ela é rejeitada por ser genérica demais e volta para a síntese."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"O gate é estrutural: o ataque NÃO roda enquanto a regra não passar."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~30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Enfatize que o ataque NÃO começa antes da regra passar no gate benigno – isso mostra rigor.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🔑 CONCEITO: Filtro de falso positivo antes da validação adversarial.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ETAPA 2 — BARREIRA 1: TRÁFEGO BENIGNO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Antes de virar ativa, a regra passa por este losango: o gate de tráfego benigno.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Geramos tráfego legítimo em três perfis — keepalive, registro de participante e heartbeat — todos abaixo dos limiares volumétricos das regras.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a regra alertar em qualquer um deles, ela é rejeitada por ser genérica demais e volta direto para a síntese. O gate é estrutural: o ataque não roda enquanto a regra não passar.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41283a9cb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f41283a9c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Explicar o Agente de Ataque (etapa C – barreira 2).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"Agora a faixa vermelha. O Agente de Ataque opera em white-box: recebe a regra implantada por inteiro."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"Ele não muta pacotes capturados – ele altera o CÓDIGO-FONTE do cenário e reconstrói o contêiner Docker."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"Cada variante é um programa de ataque executável, rodando contra a vítima monitorada pelo Snort."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~30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Enfatize "white-box" – a plateia de segurança vai entender que é o pior caso para o defensor. E reforce: não é replay de pacotes, é código novo.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🔑 CONCEITO: Ataque white-box com mutação no código-fonte, não em pacotes.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ETAPA 3 — BARREIRA 2: ATAQUE ADVERSARIAL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 a faixa vermelha. O Agente de Ataque opera em white-box: recebe a regra implantada por inteiro e deriva uma estratégia de evasão.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 não muta pacotes capturados — ele altera o código-fonte do cenário e reconstrói o contêiner. Cada variante é um programa de ataque executável, rodando em Docker contra a vítima monitorada pelo Snort.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41283a9cb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f41283a9c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Explicar como o laço se fecha (etapa D – veredito do IDS).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"Resumindo o critério: cada regra enfrenta duas barreiras – tráfego benigno e depois ataque adversarial."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"O Snort dá o veredito."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"Detectou? A regra fica e só o ataque muda – o adversário tenta de novo."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"Evadiu? O erro volta para a Defesa gerar uma regra nova, e o ataque canônico é reexecutado."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"A campanha converge quando uma regra sobrevive a 20 rodadas adversariais consecutivas."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~30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"20 rodadas adversariais consecutivas" é o critério de convergência – diga com clareza. É o que dá confiança estatística ao resultado.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🔑 CONCEITO: Convergência = 20 detecções consecutivas contra variantes evasivas.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ETAPA 4 — O LAÇO FECHA NO VEREDITO DO IDS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Resumindo o critério: cada regra enfrenta duas barreiras — primeiro o tráfego benigno, depois o ataque canônico mais as variantes evasivas.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Aí o Snort dá o veredito. Detectou? A regra fica e só o ataque muda. Evadiu? O erro volta para a Defesa gerar uma regra nova, e o ataque canônico é reexecutado.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campanha converge quando uma regra sobrevive a 20 rodadas adversariais consecutivas.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41283a9cb_0_1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g3f41283a9cb_0_1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Slide de transição para a seção de resultados.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"Vamos aos resultados."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"167 execuções em quatro cenários XRCE-DDS."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~10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Transição rápida. O número 167 já chama atenção sozinho.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 aos resultados.</a:t>
            </a:r>
            <a:endParaRPr/>
          </a:p>
        </p:txBody>
      </p:sp>
      <p:sp>
        <p:nvSpPr>
          <p:cNvPr id="244" name="Google Shape;244;g3f41283a9cb_0_1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41283a9cb_0_15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f41283a9cb_0_15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Apresentar o setup experimental (tabela de configuração).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"Quatro cenários." Nomeie cada um rapidamente: "UDP DoS – inundação volumétrica; Malformed Inject – mensagens com cabeçalhos corrompidos; Session Hijack – manipulação de sessão; Fragment Abuse – abuso de fragmentação."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"Orçamento de 50 execuções por cenário. Convergência em 20 detecções seguidas."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"Ambiente: Docker, Snort 3, modelo deepseek-v4-pro."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Aponte para o QR code: "Tudo está público – o QR leva ao repositório com código, cenários, regras e as 167 execuções."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Mencione reprodutibilidade: "Os artefatos regeneram todas as tabelas e figuras sem nenhuma chamada nova ao LLM."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~40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Mencione o QR code mas não pare nele. O fato de ser reproduzível sem LLM é um diferencial forte – enfatize.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🔑 CONCEITO: Reprodutibilidade total dos artefatos.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Quatro cenários: UDP DoS, inundação volumétrica; Malformed Inject, mensagens com campos de cabeçalho corrompidos; Session Hijack, manipulação de sessão; e Fragment Abuse, abuso de fragmentação.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cenário teve orçamento de 50 execuções e convergência em 20 detecções seguidas. Ambiente: Docker, Snort 3 e o modelo deepseek-v4-pro nos dois agentes.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Tudo está público — o QR code leva ao repositório com código, cenários, regras e as 167 execuções. Os artefatos regeneram todas as tabelas e figuras sem nenhuma chamada nova ao LLM.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6" name="Google Shape;256;g3f41283a9cb_0_15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41283a9cb_0_18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f41283a9cb_0_18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Apresentar os resultados numéricos consolidados.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Passe pelos três números com calma: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- "167 execuções no total, incluindo busca de regras e rodada final."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- "142 variantes evasivas geradas para evadir a regra ativa."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- "4 de 4 cenários convergiram – todos resistiram a 20 detecções consecutivas."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Reforce: "Nenhum cenário estourou o orçamento de 50 execuções."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~25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Faça uma pausa entre cada número. "4 de 4 convergiram" é o resultado principal – dê ênfase.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🔑 RESULTADO: 100% de convergência dentro do orçamento.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4:15 a 4:40 -&gt; No total: 167 execuções, 142 variantes evasivas geradas, e os quatro cenários convergiram dentro do orçamento — cada um resistindo a 20 rodadas adversariais consecutivas.</a:t>
            </a:r>
            <a:endParaRPr/>
          </a:p>
        </p:txBody>
      </p:sp>
      <p:sp>
        <p:nvSpPr>
          <p:cNvPr id="281" name="Google Shape;281;g3f41283a9cb_0_1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41283a9cb_0_2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g3f41283a9cb_0_2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Explicar o gráfico de linha do tempo (execução por execução).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Descreva a legenda: "Verde é detecção, vermelho é evasão, linhas finas são regeneração de regra, azul marca o início da convergência."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"A mensagem é esta: convergir exigiu BUSCAR, não apenas validar. Foram 15 a 23 regras distintas testadas por cenário."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Destaque o caso difícil: "Fragment Abuse foi o mais difícil – 23 regras e 53,5% de evasões ao longo da campanha."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Explique por quê: "Faz sentido: variação de estrutura de tráfego é difícil de capturar em assinatura compacta."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Conclua: "Mas repare: os quatro terminam em verde sólido."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~40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Aponte para o gráfico enquanto fala. "Os quatro terminam em verde sólido" é a frase de fechamento deste slide – diga com convicção.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🔑 INSIGHT: O processo é iterativo; a regra não acerta de primeira.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4:40 a 5:20 -&gt; Este gráfico mostra execução por execução. Verde é detecção, vermelho é evasão, as linhas finas são regeneração de regra, e a linha azul marca onde começa a corrida final de convergência.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mensagem é esta: convergir exigiu buscar, não apenas validar. Foram de 15 a 23 regras distintas testadas por cenário.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Fragment Abuse foi o caso mais difícil — 23 regras e 53,5% de evasões ao longo da campanha. Faz sentido: variação de estrutura de tráfego é difícil de capturar em assinatura compacta.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 repare: os quatro terminam em verde sólido.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317" name="Google Shape;317;g3f41283a9cb_0_2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41283a9cb_0_2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g3f41283a9cb_0_2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Mostrar insights qualitativos dos resultados.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"3 das 4 regras iniciais falharam – já disse isso. Mas há um resultado mais interessante."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Dê o exemplo concreto: "No UDP DoS, a regra inicial procurava pacotes pequenos em alta taxa. A regra que convergiu procura o oposto: pacotes GRANDES em BAIXA taxa."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"É praticamente uma inversão – e é algo que dificilmente se deriva olhando capturas offline."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Dados de suporte: "71 de 72 regras precisaram de detection_filter (limite de taxa)."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"E 3 de 4 regras finais abandonaram inspeção de conteúdo, passando a olhar tamanho e frequência."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~40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O exemplo da inversão (pacotes pequenos → pacotes grandes) é muito forte. Conte como uma "história" – a plateia vai lembrar.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🔑 INSIGHT: O laço adversarial mudou a HIPÓTESE de detecção, não apenas refinou parâmetros.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Já disse que 3 das 4 regras iniciais falharam. Mas há um resultado mais interessante: o laço adversarial mudou a própria hipótese de detecção.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UDP DoS, a regra inicial procurava pacotes pequenos em alta taxa. A regra que convergiu procura o oposto: pacotes grandes em baixa taxa. É praticamente uma inversão — e é algo que dificilmente se deriva olhando capturas offline.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Além disso, 71 das 72 regras precisaram de limite de taxa, e 3 das 4 regras finais abandonaram a inspeção de conteúdo, passando a olhar tamanho e frequência.</a:t>
            </a:r>
            <a:endParaRPr/>
          </a:p>
        </p:txBody>
      </p:sp>
      <p:sp>
        <p:nvSpPr>
          <p:cNvPr id="341" name="Google Shape;341;g3f41283a9cb_0_2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41283a9cb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f41283a9cb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Apresentar as limitações com honestidade.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"E o que os resultados ainda NÃO sustentam."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"Não afirmamos robustez operacional fora do testbed – o limite vale para a distribuição de variantes do nosso próprio agente."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"Não afirmamos generalização além de quatro cenários e um único IDS."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"E não medimos falsos positivos sob tráfego misto sustentado, nem latência e custo do LLM."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"Isso é trabalho futuro."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~30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Mostrar limitações com transparência aumenta a credibilidade. Não se desculpe – apenas declare os fatos. A banca valoriza honestidade intelectual.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🔑 CONCEITO: Limitações declaradas preventivamente = blindagem contra críticas.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o que os resultados ainda não sustentam.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afirmamos robustez operacional fora do testbed: o limite vale para a distribuição de variantes do nosso próprio agente.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afirmamos generalização além de quatro cenários e de um único IDS.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não medimos taxa de falsos positivos sob tráfego misto sustentado, nem latência e custo do LLM. Isso é trabalho futuro.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41283a9cb_0_28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g3f41283a9cb_0_28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Slide de transição para as conclusões.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Reforce a tese em UMA frase: "A regra só merece confiança depois de enfrentar tráfego adversarial."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Pause brevemente antes de avançar.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~10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Diga a frase com firmeza, como se fosse a conclusão de toda a apresentação. É a mensagem que a plateia deve levar.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Reforce a tese em uma frase.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Ciocca et al., Toward Agentic Intrusion Detection in the Internet of Things: Rule Generation and Live Validation for XRCE-DDS Attacks, SBSeg 2026., p. 8.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g3f41283a9cb_0_28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41283a9cb_0_2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g3f41283a9cb_0_2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Resumir as três contribuições do trabalho.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"Fechando. A contribuição é uma ferramenta agêntica de código aberto que gera, implanta e testa regras Snort 3 num laço fechado."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"A evidência: 3 de 4 regras iniciais falharam contra o ataque canônico, e as quatro campanhas convergiram."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"O impacto prático: defensores conseguem endurecer assinaturas de IoT antes de colocá-las em produção."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~25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Use a estrutura "Contribuição → Evidência → Impacto". É clara e memorável.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🔑 TAKEAWAY: Teste antes de produção; o Rules Farmer torna isso automático.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6:08 a 6:30 -&gt; Fechando. A contribuição é uma ferramenta agêntica de código aberto que gera, implanta e testa regras Snort 3 num laço fechado.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evidência: 3 de 4 regras iniciais falharam contra o ataque canônico, e as quatro campanhas convergiram.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impacto prático: defensores conseguem endurecer assinaturas de IoT antes de colocá-las em produção.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396" name="Google Shape;396;g3f41283a9cb_0_2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41283a9cb_0_3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g3f41283a9cb_0_3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Explicar que a demonstração é reproduzível em um host.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"A demonstração cabe num único host."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Descreva o fluxo: "Síntese, filtro benigno, mutação, rebuild do contêiner e alerta do Snort."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"Para execução segura, o Snort processa em modo arquivo – nada trafega na rede."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Mencione os requisitos: "Docker, Snort 3, Python 3.12, API key."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~20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Se houver possibilidade de demo ao vivo, ofereça aqui. Se não, mencione que o replay está disponível.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6:30 a 6:50 -&gt; A demonstração cabe num único host: síntese, filtro benigno, mutação, rebuild do contêiner e alerta do Snort.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execução segura, o Snort 3 processa o ataque em modo arquivo — o conteúdo e as mutações são idênticos, mas nada trafega na rede.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426" name="Google Shape;426;g3f41283a9cb_0_3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f4150822b7_0_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g3f4150822b7_0_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Slide de transição para as conclusões.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Reforce a tese em UMA frase: "A regra só merece confiança depois de enfrentar tráfego adversarial."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Pause brevemente antes de avançar.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~10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Diga a frase com firmeza, como se fosse a conclusão de toda a apresentação. É a mensagem que a plateia deve levar.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Reforce a tese em uma frase.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Ciocca et al., Toward Agentic Intrusion Detection in the Internet of Things: Rule Generation and Live Validation for XRCE-DDS Attacks, SBSeg 2026., p. 8.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[/Sources]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8" name="Google Shape;448;g3f4150822b7_0_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41283a9cb_0_3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g3f41283a9cb_0_3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 ROTEIRO PARA O APRESENTADOR 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OBJETIVO DO SLIDE: Encerrar e abrir para perguntas.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 O QUE FALAR (passo a passo):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"É isso. O repositório e o vídeo estão no QR code."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"Se você trabalha com segurança em IoT, o AI Horizon Labs está aberto a colaborações – meu contato está na tela."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"Obrigado, e fico à disposição para perguntas."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 TEMPO SUGERIDO: ~20 segundos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DICA: Sorria. Mantenha contato visual. Agradeça e espere as perguntas.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══════════════════════════════════════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isso. O repositório e o vídeo estão no QR code.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você trabalha com segurança em IoT, o AI Horizon Labs está aberto a colaborações — meu contato está aí na tela.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Obrigado, e fico à disposição para perguntas.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sp>
        <p:nvSpPr>
          <p:cNvPr id="461" name="Google Shape;461;g3f41283a9cb_0_3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12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10" Type="http://schemas.openxmlformats.org/officeDocument/2006/relationships/image" Target="../media/image18.png"/><Relationship Id="rId9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41283a9cb_0_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41283a9cb_0_0"/>
          <p:cNvSpPr/>
          <p:nvPr/>
        </p:nvSpPr>
        <p:spPr>
          <a:xfrm>
            <a:off x="9174175" y="3840480"/>
            <a:ext cx="6035100" cy="60351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41283a9cb_0_0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41283a9cb_0_0"/>
          <p:cNvSpPr/>
          <p:nvPr/>
        </p:nvSpPr>
        <p:spPr>
          <a:xfrm>
            <a:off x="10637215" y="5303520"/>
            <a:ext cx="3108900" cy="310890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41283a9cb_0_0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f41283a9cb_0_0"/>
          <p:cNvSpPr/>
          <p:nvPr/>
        </p:nvSpPr>
        <p:spPr>
          <a:xfrm>
            <a:off x="658368" y="475488"/>
            <a:ext cx="786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XXVI SIMPÓSIO BRASILEIRO DE CIBERSEGURANÇA  ·  SBSEG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41283a9cb_0_0"/>
          <p:cNvSpPr/>
          <p:nvPr/>
        </p:nvSpPr>
        <p:spPr>
          <a:xfrm>
            <a:off x="658368" y="804672"/>
            <a:ext cx="7863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 a 4 de setembro de 2026  ·  Armação dos Búzios, 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41283a9cb_0_0"/>
          <p:cNvSpPr/>
          <p:nvPr/>
        </p:nvSpPr>
        <p:spPr>
          <a:xfrm>
            <a:off x="412325" y="1514175"/>
            <a:ext cx="8295600" cy="22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Toward Agentic Intrusion Detection in the Internet of Things: Rule Generation and Live Validation for XRCE-DDS Attacks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41283a9cb_0_0"/>
          <p:cNvSpPr/>
          <p:nvPr/>
        </p:nvSpPr>
        <p:spPr>
          <a:xfrm>
            <a:off x="658368" y="3602736"/>
            <a:ext cx="1463100" cy="54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41283a9cb_0_0"/>
          <p:cNvSpPr/>
          <p:nvPr/>
        </p:nvSpPr>
        <p:spPr>
          <a:xfrm>
            <a:off x="658368" y="3840480"/>
            <a:ext cx="8412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Matheus Ciocca · Emanuel Ferreira · Tuigg Barcelos · Silvio Quincozes · Diego Kreutz · Paulo Souza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41283a9cb_0_0"/>
          <p:cNvSpPr/>
          <p:nvPr/>
        </p:nvSpPr>
        <p:spPr>
          <a:xfrm>
            <a:off x="640918" y="4625329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AI Horizon Labs · Universidade Federal do Pampa (UNIPAMPA)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Programa de Pós-Graduação em Engenharia de Software (PPGES)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41283a9cb_0_0"/>
          <p:cNvSpPr/>
          <p:nvPr/>
        </p:nvSpPr>
        <p:spPr>
          <a:xfrm>
            <a:off x="9189720" y="1463040"/>
            <a:ext cx="2340900" cy="2340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g3f41283a9c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2892" y="2113585"/>
            <a:ext cx="1874519" cy="103977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f41283a9cb_0_0"/>
          <p:cNvSpPr/>
          <p:nvPr/>
        </p:nvSpPr>
        <p:spPr>
          <a:xfrm>
            <a:off x="0" y="5760720"/>
            <a:ext cx="12191700" cy="109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g3f41283a9c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150" y="6018709"/>
            <a:ext cx="2379015" cy="581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f41283a9cb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1341" y="5883044"/>
            <a:ext cx="1294935" cy="852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f41283a9cb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5103" y="5863663"/>
            <a:ext cx="891525" cy="8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f41283a9cb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76902" y="5930789"/>
            <a:ext cx="502615" cy="7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f41283a9cb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23545" y="5945935"/>
            <a:ext cx="708100" cy="726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f41283a9c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2271" y="5961082"/>
            <a:ext cx="1256008" cy="696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poniveis.png" id="105" name="Google Shape;105;g3f41283a9cb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89720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106" name="Google Shape;106;g3f41283a9cb_0_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02368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107" name="Google Shape;107;g3f41283a9cb_0_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415016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108" name="Google Shape;108;g3f41283a9cb_0_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27664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41283a9cb_0_2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41283a9cb_0_24"/>
          <p:cNvSpPr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ABERTURA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41283a9cb_0_24"/>
          <p:cNvSpPr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41283a9cb_0_2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41283a9cb_0_2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41283a9cb_0_2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41283a9cb_0_24"/>
          <p:cNvSpPr/>
          <p:nvPr/>
        </p:nvSpPr>
        <p:spPr>
          <a:xfrm>
            <a:off x="658375" y="1744200"/>
            <a:ext cx="11533200" cy="1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Regras de IDS plausíveis na sintaxe ainda falham quando encontram ataques IoT reais e variantes evasivas.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41283a9cb_0_24"/>
          <p:cNvSpPr/>
          <p:nvPr/>
        </p:nvSpPr>
        <p:spPr>
          <a:xfrm>
            <a:off x="658368" y="3087878"/>
            <a:ext cx="1463100" cy="54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41283a9cb_0_24"/>
          <p:cNvSpPr/>
          <p:nvPr/>
        </p:nvSpPr>
        <p:spPr>
          <a:xfrm>
            <a:off x="578975" y="3429000"/>
            <a:ext cx="3650700" cy="23727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345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450" lIns="96975" spcFirstLastPara="1" rIns="96975" wrap="square" tIns="48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t/>
            </a:r>
            <a:endParaRPr b="0" i="0" sz="19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41283a9cb_0_24"/>
          <p:cNvSpPr/>
          <p:nvPr/>
        </p:nvSpPr>
        <p:spPr>
          <a:xfrm>
            <a:off x="578975" y="3429000"/>
            <a:ext cx="72900" cy="23727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8450" lIns="96975" spcFirstLastPara="1" rIns="96975" wrap="square" tIns="48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t/>
            </a:r>
            <a:endParaRPr b="0" i="0" sz="19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41283a9cb_0_24"/>
          <p:cNvSpPr/>
          <p:nvPr/>
        </p:nvSpPr>
        <p:spPr>
          <a:xfrm>
            <a:off x="760725" y="3499625"/>
            <a:ext cx="36507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42"/>
              <a:buFont typeface="Arial"/>
              <a:buNone/>
            </a:pPr>
            <a:r>
              <a:rPr b="1" i="0" lang="en-US" sz="4666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1/4</a:t>
            </a:r>
            <a:endParaRPr b="0" i="0" sz="19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48"/>
              </a:spcBef>
              <a:spcAft>
                <a:spcPts val="0"/>
              </a:spcAft>
              <a:buClr>
                <a:srgbClr val="000000"/>
              </a:buClr>
              <a:buSzPts val="2227"/>
              <a:buFont typeface="Arial"/>
              <a:buNone/>
            </a:pPr>
            <a:r>
              <a:rPr b="1" i="0" lang="en-US" sz="265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b="0" i="0" sz="19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54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rPr b="0" i="0" lang="en-US" sz="2433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Regra inicial detectou o ataque canônico.</a:t>
            </a:r>
            <a:endParaRPr b="0" i="0" sz="20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41283a9cb_0_24"/>
          <p:cNvSpPr/>
          <p:nvPr/>
        </p:nvSpPr>
        <p:spPr>
          <a:xfrm>
            <a:off x="4520275" y="3429000"/>
            <a:ext cx="3650700" cy="23727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345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450" lIns="96975" spcFirstLastPara="1" rIns="96975" wrap="square" tIns="48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t/>
            </a:r>
            <a:endParaRPr b="0" i="0" sz="19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41283a9cb_0_24"/>
          <p:cNvSpPr/>
          <p:nvPr/>
        </p:nvSpPr>
        <p:spPr>
          <a:xfrm>
            <a:off x="4520278" y="3429000"/>
            <a:ext cx="72900" cy="23727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8450" lIns="96975" spcFirstLastPara="1" rIns="96975" wrap="square" tIns="48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t/>
            </a:r>
            <a:endParaRPr b="0" i="0" sz="19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41283a9cb_0_24"/>
          <p:cNvSpPr/>
          <p:nvPr/>
        </p:nvSpPr>
        <p:spPr>
          <a:xfrm>
            <a:off x="4693476" y="3499625"/>
            <a:ext cx="34860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42"/>
              <a:buFont typeface="Arial"/>
              <a:buNone/>
            </a:pPr>
            <a:r>
              <a:rPr b="1" i="0" lang="en-US" sz="4666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9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48"/>
              </a:spcBef>
              <a:spcAft>
                <a:spcPts val="0"/>
              </a:spcAft>
              <a:buClr>
                <a:srgbClr val="000000"/>
              </a:buClr>
              <a:buSzPts val="2227"/>
              <a:buFont typeface="Arial"/>
              <a:buNone/>
            </a:pPr>
            <a:r>
              <a:rPr b="1" i="0" lang="en-US" sz="265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Cenários</a:t>
            </a:r>
            <a:endParaRPr b="0" i="0" sz="19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54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rPr b="0" i="0" lang="en-US" sz="2433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Ataques XRCE-DDS avaliados ao vivo.</a:t>
            </a:r>
            <a:endParaRPr b="0" i="0" sz="20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41283a9cb_0_24"/>
          <p:cNvSpPr/>
          <p:nvPr/>
        </p:nvSpPr>
        <p:spPr>
          <a:xfrm>
            <a:off x="8461550" y="3428999"/>
            <a:ext cx="3650700" cy="23727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345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450" lIns="96975" spcFirstLastPara="1" rIns="96975" wrap="square" tIns="48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t/>
            </a:r>
            <a:endParaRPr b="0" i="0" sz="19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f41283a9cb_0_24"/>
          <p:cNvSpPr/>
          <p:nvPr/>
        </p:nvSpPr>
        <p:spPr>
          <a:xfrm>
            <a:off x="8461548" y="3429000"/>
            <a:ext cx="72900" cy="23727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8450" lIns="96975" spcFirstLastPara="1" rIns="96975" wrap="square" tIns="48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t/>
            </a:r>
            <a:endParaRPr b="0" i="0" sz="190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41283a9cb_0_24"/>
          <p:cNvSpPr/>
          <p:nvPr/>
        </p:nvSpPr>
        <p:spPr>
          <a:xfrm>
            <a:off x="8816525" y="3499625"/>
            <a:ext cx="29907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42"/>
              <a:buFont typeface="Arial"/>
              <a:buNone/>
            </a:pPr>
            <a:r>
              <a:rPr b="1" i="0" lang="en-US" sz="4466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AO VIVO</a:t>
            </a:r>
            <a:endParaRPr b="0" i="0" sz="17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48"/>
              </a:spcBef>
              <a:spcAft>
                <a:spcPts val="0"/>
              </a:spcAft>
              <a:buClr>
                <a:srgbClr val="000000"/>
              </a:buClr>
              <a:buSzPts val="2227"/>
              <a:buFont typeface="Arial"/>
              <a:buNone/>
            </a:pPr>
            <a:r>
              <a:rPr b="1" i="0" lang="en-US" sz="265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Validação</a:t>
            </a:r>
            <a:endParaRPr b="0" i="0" sz="19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54"/>
              </a:spcBef>
              <a:spcAft>
                <a:spcPts val="0"/>
              </a:spcAft>
              <a:buClr>
                <a:srgbClr val="000000"/>
              </a:buClr>
              <a:buSzPts val="1909"/>
              <a:buFont typeface="Arial"/>
              <a:buNone/>
            </a:pPr>
            <a:r>
              <a:rPr b="0" i="0" lang="en-US" sz="2433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Evasões aparecem apenas na execução.</a:t>
            </a:r>
            <a:endParaRPr b="0" i="0" sz="200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41283a9cb_0_24"/>
          <p:cNvSpPr/>
          <p:nvPr/>
        </p:nvSpPr>
        <p:spPr>
          <a:xfrm>
            <a:off x="760718" y="6168109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f41283a9cb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f41283a9cb_0_2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g3f41283a9cb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f41283a9cb_0_2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g3f41283a9cb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f41283a9cb_0_24"/>
          <p:cNvSpPr/>
          <p:nvPr/>
        </p:nvSpPr>
        <p:spPr>
          <a:xfrm>
            <a:off x="11030407" y="63733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f41283a9cb_0_2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f41283a9cb_0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f41283a9cb_0_24"/>
          <p:cNvSpPr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41283a9cb_0_5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41283a9cb_0_55"/>
          <p:cNvSpPr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41283a9cb_0_55"/>
          <p:cNvSpPr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Sintaxe válida não garante detecção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41283a9cb_0_5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41283a9cb_0_5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41283a9cb_0_5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f41283a9cb_0_55"/>
          <p:cNvSpPr/>
          <p:nvPr/>
        </p:nvSpPr>
        <p:spPr>
          <a:xfrm>
            <a:off x="659718" y="1693013"/>
            <a:ext cx="10872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08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2275B"/>
              </a:buClr>
              <a:buSzPts val="2470"/>
              <a:buFont typeface="Arial"/>
              <a:buChar char="▪"/>
            </a:pPr>
            <a:r>
              <a:rPr b="0" i="0" lang="en-US" sz="34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Protocolos emergentes exigem semântica específica.</a:t>
            </a:r>
            <a:endParaRPr b="0" i="0" sz="2000" u="none" cap="none" strike="noStrike">
              <a:solidFill>
                <a:srgbClr val="1227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500"/>
              <a:buFont typeface="Arial"/>
              <a:buChar char="-"/>
            </a:pPr>
            <a:r>
              <a:rPr b="0" i="0" lang="en-US" sz="2800" u="none" cap="none" strike="noStrike">
                <a:solidFill>
                  <a:srgbClr val="444A55"/>
                </a:solidFill>
                <a:latin typeface="Arial"/>
                <a:ea typeface="Arial"/>
                <a:cs typeface="Arial"/>
                <a:sym typeface="Arial"/>
              </a:rPr>
              <a:t>Repositórios públicos cobrem pouco XRCE-DDS.</a:t>
            </a:r>
            <a:endParaRPr b="0" i="0" sz="25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630"/>
              </a:spcBef>
              <a:spcAft>
                <a:spcPts val="0"/>
              </a:spcAft>
              <a:buClr>
                <a:srgbClr val="12275B"/>
              </a:buClr>
              <a:buSzPts val="2470"/>
              <a:buFont typeface="Arial"/>
              <a:buChar char="▪"/>
            </a:pPr>
            <a:r>
              <a:rPr b="0" i="0" lang="en-US" sz="34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Variações simples quebram assinaturas compactas.</a:t>
            </a:r>
            <a:endParaRPr b="0" i="0" sz="2000" u="none" cap="none" strike="noStrike">
              <a:solidFill>
                <a:srgbClr val="1227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500"/>
              <a:buFont typeface="Arial"/>
              <a:buChar char="-"/>
            </a:pPr>
            <a:r>
              <a:rPr b="0" i="0" lang="en-US" sz="2800" u="none" cap="none" strike="noStrike">
                <a:solidFill>
                  <a:srgbClr val="444A55"/>
                </a:solidFill>
                <a:latin typeface="Arial"/>
                <a:ea typeface="Arial"/>
                <a:cs typeface="Arial"/>
                <a:sym typeface="Arial"/>
              </a:rPr>
              <a:t>Payload, taxa, fragmentação e sessão mudam.</a:t>
            </a:r>
            <a:endParaRPr b="0" i="0" sz="25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630"/>
              </a:spcBef>
              <a:spcAft>
                <a:spcPts val="0"/>
              </a:spcAft>
              <a:buClr>
                <a:srgbClr val="12275B"/>
              </a:buClr>
              <a:buSzPts val="2470"/>
              <a:buFont typeface="Arial"/>
              <a:buChar char="▪"/>
            </a:pPr>
            <a:r>
              <a:rPr b="0" i="0" lang="en-US" sz="34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Validação estática não testa o comportamento.</a:t>
            </a:r>
            <a:endParaRPr b="0" i="0" sz="2000" u="none" cap="none" strike="noStrike">
              <a:solidFill>
                <a:srgbClr val="1227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500"/>
              <a:buFont typeface="Arial"/>
              <a:buChar char="-"/>
            </a:pPr>
            <a:r>
              <a:rPr b="0" i="0" lang="en-US" sz="2800" u="none" cap="none" strike="noStrike">
                <a:solidFill>
                  <a:srgbClr val="444A55"/>
                </a:solidFill>
                <a:latin typeface="Arial"/>
                <a:ea typeface="Arial"/>
                <a:cs typeface="Arial"/>
                <a:sym typeface="Arial"/>
              </a:rPr>
              <a:t>É preciso executar ataque, regra e tráfego benigno.</a:t>
            </a:r>
            <a:endParaRPr b="0" i="0" sz="25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500"/>
              <a:buFont typeface="Arial"/>
              <a:buChar char="-"/>
            </a:pPr>
            <a:r>
              <a:rPr b="0" i="0" lang="en-US" sz="2800" u="none" cap="none" strike="noStrike">
                <a:solidFill>
                  <a:srgbClr val="444A55"/>
                </a:solidFill>
                <a:latin typeface="Arial"/>
                <a:ea typeface="Arial"/>
                <a:cs typeface="Arial"/>
                <a:sym typeface="Arial"/>
              </a:rPr>
              <a:t>3 de 4 regras iniciais falharam no ataque canônico.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41283a9cb_0_5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f41283a9cb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f41283a9cb_0_5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3f41283a9cb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f41283a9cb_0_5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g3f41283a9cb_0_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f41283a9cb_0_55"/>
          <p:cNvSpPr/>
          <p:nvPr/>
        </p:nvSpPr>
        <p:spPr>
          <a:xfrm>
            <a:off x="11030407" y="63733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41283a9cb_0_5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g3f41283a9cb_0_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f41283a9cb_0_55"/>
          <p:cNvSpPr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41283a9cb_0_76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f41283a9cb_0_76"/>
          <p:cNvSpPr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DESAFIOS TÉCNICOS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f41283a9cb_0_76"/>
          <p:cNvSpPr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que já existe e o que falta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f41283a9cb_0_76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f41283a9cb_0_76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41283a9cb_0_76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3f41283a9cb_0_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370575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f41283a9cb_0_76"/>
          <p:cNvSpPr/>
          <p:nvPr/>
        </p:nvSpPr>
        <p:spPr>
          <a:xfrm>
            <a:off x="1675180" y="6379719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g3f41283a9cb_0_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52287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f41283a9cb_0_76"/>
          <p:cNvSpPr/>
          <p:nvPr/>
        </p:nvSpPr>
        <p:spPr>
          <a:xfrm>
            <a:off x="2329484" y="6379719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g3f41283a9cb_0_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43143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f41283a9cb_0_76"/>
          <p:cNvSpPr/>
          <p:nvPr/>
        </p:nvSpPr>
        <p:spPr>
          <a:xfrm>
            <a:off x="11316157" y="63522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41283a9cb_0_76"/>
          <p:cNvSpPr/>
          <p:nvPr/>
        </p:nvSpPr>
        <p:spPr>
          <a:xfrm>
            <a:off x="10948111" y="6379719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g3f41283a9cb_0_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43143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f41283a9cb_0_76"/>
          <p:cNvSpPr/>
          <p:nvPr/>
        </p:nvSpPr>
        <p:spPr>
          <a:xfrm>
            <a:off x="7362890" y="6370575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3" name="Google Shape;183;g3f41283a9cb_0_76"/>
          <p:cNvGraphicFramePr/>
          <p:nvPr/>
        </p:nvGraphicFramePr>
        <p:xfrm>
          <a:off x="590293" y="1568947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{43FB4F88-963A-4F2B-9455-185FD9881ED3}</a:tableStyleId>
              </a:tblPr>
              <a:tblGrid>
                <a:gridCol w="3663300"/>
                <a:gridCol w="3016250"/>
                <a:gridCol w="4675775"/>
              </a:tblGrid>
              <a:tr h="63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400" u="none" cap="none" strike="noStrike">
                          <a:solidFill>
                            <a:srgbClr val="FFFFFF"/>
                          </a:solidFill>
                        </a:rPr>
                        <a:t>Abordagem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1227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Validação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12275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Lacuna que permanece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12275B"/>
                    </a:solidFill>
                  </a:tcPr>
                </a:tc>
              </a:tr>
              <a:tr h="96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A1A1A"/>
                          </a:solidFill>
                        </a:rPr>
                        <a:t>Regras via LLM</a:t>
                      </a:r>
                      <a:endParaRPr sz="2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5B6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Meng '26 · Lian '25 · Li '25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Estática ou teórica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regra nunca enfrenta um atacante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FFFFFF"/>
                    </a:solidFill>
                  </a:tcPr>
                </a:tc>
              </a:tr>
              <a:tr h="76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WAF</a:t>
                      </a:r>
                      <a:endParaRPr sz="2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5B6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 &amp; Williams '26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Reativa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Só corrige depois da evasão em produção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F2F4F8"/>
                    </a:solidFill>
                  </a:tcPr>
                </a:tc>
              </a:tr>
              <a:tr h="85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IoT genérico</a:t>
                      </a:r>
                      <a:endParaRPr sz="21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5B647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Adewole '25 · Singh '24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Estática ou emulada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Tráfego fixo, sem variantes evasivas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F2F4F8"/>
                    </a:solidFill>
                  </a:tcPr>
                </a:tc>
              </a:tr>
              <a:tr h="85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B8A5A"/>
                          </a:solidFill>
                        </a:rPr>
                        <a:t>Rules Farmer </a:t>
                      </a:r>
                      <a:br>
                        <a:rPr b="1" lang="en-US" sz="2300" u="none" cap="none" strike="noStrike">
                          <a:solidFill>
                            <a:srgbClr val="1B8A5A"/>
                          </a:solidFill>
                        </a:rPr>
                      </a:br>
                      <a:r>
                        <a:rPr b="1" lang="en-US" sz="2300" u="none" cap="none" strike="noStrike">
                          <a:solidFill>
                            <a:srgbClr val="1B8A5A"/>
                          </a:solidFill>
                        </a:rPr>
                        <a:t>(Este trabalho)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E9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B8A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Ao vivo, em laço fechado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E9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solidFill>
                            <a:srgbClr val="1B8A5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Fecha o laço: gera, ataca e refina</a:t>
                      </a:r>
                      <a:endParaRPr sz="2100" u="none" cap="none" strike="noStrike"/>
                    </a:p>
                  </a:txBody>
                  <a:tcPr marT="45725" marB="45725" marR="118875" marL="118875" anchor="ctr">
                    <a:solidFill>
                      <a:srgbClr val="E9F5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41283a9cb_0_9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f41283a9cb_0_96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f41283a9cb_0_96"/>
          <p:cNvSpPr/>
          <p:nvPr/>
        </p:nvSpPr>
        <p:spPr>
          <a:xfrm>
            <a:off x="658368" y="2304288"/>
            <a:ext cx="2011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9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f41283a9cb_0_96"/>
          <p:cNvSpPr/>
          <p:nvPr/>
        </p:nvSpPr>
        <p:spPr>
          <a:xfrm>
            <a:off x="2395725" y="2487175"/>
            <a:ext cx="8351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Rules Farmer fecha o ciclo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f41283a9cb_0_96"/>
          <p:cNvSpPr/>
          <p:nvPr/>
        </p:nvSpPr>
        <p:spPr>
          <a:xfrm>
            <a:off x="2414015" y="3383280"/>
            <a:ext cx="1188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f41283a9cb_0_96"/>
          <p:cNvSpPr/>
          <p:nvPr/>
        </p:nvSpPr>
        <p:spPr>
          <a:xfrm>
            <a:off x="2395725" y="3584450"/>
            <a:ext cx="63201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5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Defesa gera a regra; ataque tenta quebrá-la; alertas orientam a próxima rodada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41283a9cb_0_96"/>
          <p:cNvSpPr/>
          <p:nvPr/>
        </p:nvSpPr>
        <p:spPr>
          <a:xfrm>
            <a:off x="10984687" y="619963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ch_step1.png" id="201" name="Google Shape;201;g3f41283a9cb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7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f41283a9cb_0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75" y="531000"/>
            <a:ext cx="12191674" cy="585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f41283a9cb_0_107"/>
          <p:cNvSpPr/>
          <p:nvPr/>
        </p:nvSpPr>
        <p:spPr>
          <a:xfrm>
            <a:off x="321200" y="118525"/>
            <a:ext cx="6429300" cy="47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f41283a9cb_0_107"/>
          <p:cNvSpPr txBox="1"/>
          <p:nvPr/>
        </p:nvSpPr>
        <p:spPr>
          <a:xfrm>
            <a:off x="321200" y="18175"/>
            <a:ext cx="7020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 arquitetura do Rules Farmer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f41283a9cb_0_107"/>
          <p:cNvSpPr/>
          <p:nvPr/>
        </p:nvSpPr>
        <p:spPr>
          <a:xfrm>
            <a:off x="-12" y="6385175"/>
            <a:ext cx="12191700" cy="47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g3f41283a9cb_0_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4350" y="594913"/>
            <a:ext cx="1895475" cy="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ch_step1.png" id="212" name="Google Shape;212;g3f41283a9cb_0_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" y="0"/>
            <a:ext cx="121916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f41283a9cb_0_117"/>
          <p:cNvSpPr/>
          <p:nvPr/>
        </p:nvSpPr>
        <p:spPr>
          <a:xfrm>
            <a:off x="7512650" y="3259650"/>
            <a:ext cx="2980500" cy="2487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8575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39700" spcFirstLastPara="1" rIns="13970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E8A33D"/>
                </a:solidFill>
                <a:latin typeface="Arial"/>
                <a:ea typeface="Arial"/>
                <a:cs typeface="Arial"/>
                <a:sym typeface="Arial"/>
              </a:rPr>
              <a:t>O que é o Agente de Defesa?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4 etapas automáticas: entender o pedido, escrever a regra, checar a sintaxe e ativá-la no IDS.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f41283a9cb_0_117"/>
          <p:cNvSpPr/>
          <p:nvPr/>
        </p:nvSpPr>
        <p:spPr>
          <a:xfrm>
            <a:off x="9115950" y="928150"/>
            <a:ext cx="342600" cy="340800"/>
          </a:xfrm>
          <a:prstGeom prst="ellipse">
            <a:avLst/>
          </a:prstGeom>
          <a:solidFill>
            <a:srgbClr val="E8A3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g3f41283a9cb_0_117"/>
          <p:cNvCxnSpPr/>
          <p:nvPr/>
        </p:nvCxnSpPr>
        <p:spPr>
          <a:xfrm flipH="1">
            <a:off x="9174125" y="1300700"/>
            <a:ext cx="109800" cy="1895400"/>
          </a:xfrm>
          <a:prstGeom prst="straightConnector1">
            <a:avLst/>
          </a:prstGeom>
          <a:noFill/>
          <a:ln cap="flat" cmpd="sng" w="22225">
            <a:solidFill>
              <a:srgbClr val="E8A33D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ch_step2.png" id="220" name="Google Shape;220;g3f41283a9cb_0_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f41283a9cb_0_125"/>
          <p:cNvSpPr/>
          <p:nvPr/>
        </p:nvSpPr>
        <p:spPr>
          <a:xfrm>
            <a:off x="3422775" y="5535850"/>
            <a:ext cx="8769000" cy="8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f41283a9cb_0_125"/>
          <p:cNvSpPr/>
          <p:nvPr/>
        </p:nvSpPr>
        <p:spPr>
          <a:xfrm>
            <a:off x="7261000" y="3679875"/>
            <a:ext cx="2902800" cy="2185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8575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39700" spcFirstLastPara="1" rIns="13970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E8A33D"/>
                </a:solidFill>
                <a:latin typeface="Arial"/>
                <a:ea typeface="Arial"/>
                <a:cs typeface="Arial"/>
                <a:sym typeface="Arial"/>
              </a:rPr>
              <a:t>O que é essa checagem?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A regra é testada com tráfego legítimo antes de valer. Se disparar alarme falso, é rejeitada e reescrita.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41283a9cb_0_125"/>
          <p:cNvSpPr/>
          <p:nvPr/>
        </p:nvSpPr>
        <p:spPr>
          <a:xfrm>
            <a:off x="9310125" y="1213900"/>
            <a:ext cx="297900" cy="331500"/>
          </a:xfrm>
          <a:prstGeom prst="ellipse">
            <a:avLst/>
          </a:prstGeom>
          <a:solidFill>
            <a:srgbClr val="E8A3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g3f41283a9cb_0_125"/>
          <p:cNvCxnSpPr>
            <a:stCxn id="223" idx="4"/>
          </p:cNvCxnSpPr>
          <p:nvPr/>
        </p:nvCxnSpPr>
        <p:spPr>
          <a:xfrm flipH="1">
            <a:off x="9084075" y="1545400"/>
            <a:ext cx="375000" cy="2065500"/>
          </a:xfrm>
          <a:prstGeom prst="straightConnector1">
            <a:avLst/>
          </a:prstGeom>
          <a:noFill/>
          <a:ln cap="flat" cmpd="sng" w="22225">
            <a:solidFill>
              <a:srgbClr val="E8A33D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ch_step3.png" id="229" name="Google Shape;229;g3f41283a9cb_0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f41283a9cb_0_133"/>
          <p:cNvSpPr/>
          <p:nvPr/>
        </p:nvSpPr>
        <p:spPr>
          <a:xfrm>
            <a:off x="210075" y="832900"/>
            <a:ext cx="2555700" cy="201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8575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39700" spcFirstLastPara="1" rIns="13970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3D"/>
                </a:solidFill>
                <a:latin typeface="Arial"/>
                <a:ea typeface="Arial"/>
                <a:cs typeface="Arial"/>
                <a:sym typeface="Arial"/>
              </a:rPr>
              <a:t>O que é o Agente de Ataque?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Lê a regra ativa e cria uma variante do ataque, tentando escapar da detecção do IDS.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f41283a9cb_0_133"/>
          <p:cNvSpPr/>
          <p:nvPr/>
        </p:nvSpPr>
        <p:spPr>
          <a:xfrm>
            <a:off x="5287125" y="3697370"/>
            <a:ext cx="297900" cy="297900"/>
          </a:xfrm>
          <a:prstGeom prst="ellipse">
            <a:avLst/>
          </a:prstGeom>
          <a:solidFill>
            <a:srgbClr val="E8A3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g3f41283a9cb_0_133"/>
          <p:cNvCxnSpPr/>
          <p:nvPr/>
        </p:nvCxnSpPr>
        <p:spPr>
          <a:xfrm rot="10800000">
            <a:off x="2765800" y="2849025"/>
            <a:ext cx="2381400" cy="952500"/>
          </a:xfrm>
          <a:prstGeom prst="straightConnector1">
            <a:avLst/>
          </a:prstGeom>
          <a:noFill/>
          <a:ln cap="flat" cmpd="sng" w="22225">
            <a:solidFill>
              <a:srgbClr val="E8A33D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ch_step4.png" id="237" name="Google Shape;237;g3f41283a9cb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f41283a9cb_0_140"/>
          <p:cNvSpPr/>
          <p:nvPr/>
        </p:nvSpPr>
        <p:spPr>
          <a:xfrm>
            <a:off x="149000" y="4172000"/>
            <a:ext cx="2696400" cy="21855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8575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4300" lIns="139700" spcFirstLastPara="1" rIns="13970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E8A33D"/>
                </a:solidFill>
                <a:latin typeface="Arial"/>
                <a:ea typeface="Arial"/>
                <a:cs typeface="Arial"/>
                <a:sym typeface="Arial"/>
              </a:rPr>
              <a:t>Como o laço se fecha?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Escapou </a:t>
            </a:r>
            <a:r>
              <a:rPr b="1" i="0" lang="en-US" sz="19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(17a)</a:t>
            </a:r>
            <a:r>
              <a:rPr b="1" i="0" lang="en-US" sz="19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: gera-se outra regra. </a:t>
            </a:r>
            <a:endParaRPr b="1" i="0" sz="1900" u="none" cap="none" strike="noStrike">
              <a:solidFill>
                <a:srgbClr val="1227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Foi detectada </a:t>
            </a:r>
            <a:r>
              <a:rPr b="1" i="0" lang="en-US" sz="19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(17b)</a:t>
            </a:r>
            <a:r>
              <a:rPr b="1" i="0" lang="en-US" sz="19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: tenta-se de novo, até 20 execuções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f41283a9cb_0_140"/>
          <p:cNvSpPr/>
          <p:nvPr/>
        </p:nvSpPr>
        <p:spPr>
          <a:xfrm>
            <a:off x="8699375" y="309975"/>
            <a:ext cx="297900" cy="297900"/>
          </a:xfrm>
          <a:prstGeom prst="ellipse">
            <a:avLst/>
          </a:prstGeom>
          <a:solidFill>
            <a:srgbClr val="E8A3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g3f41283a9cb_0_140"/>
          <p:cNvCxnSpPr/>
          <p:nvPr/>
        </p:nvCxnSpPr>
        <p:spPr>
          <a:xfrm flipH="1" rot="10800000">
            <a:off x="2413800" y="506700"/>
            <a:ext cx="6228300" cy="3784500"/>
          </a:xfrm>
          <a:prstGeom prst="straightConnector1">
            <a:avLst/>
          </a:prstGeom>
          <a:noFill/>
          <a:ln cap="flat" cmpd="sng" w="22225">
            <a:solidFill>
              <a:srgbClr val="E8A33D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41283a9cb_0_147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f41283a9cb_0_147"/>
          <p:cNvSpPr/>
          <p:nvPr/>
        </p:nvSpPr>
        <p:spPr>
          <a:xfrm>
            <a:off x="-12" y="0"/>
            <a:ext cx="121917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f41283a9cb_0_147"/>
          <p:cNvSpPr/>
          <p:nvPr/>
        </p:nvSpPr>
        <p:spPr>
          <a:xfrm>
            <a:off x="658356" y="2304288"/>
            <a:ext cx="2011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f41283a9cb_0_147"/>
          <p:cNvSpPr/>
          <p:nvPr/>
        </p:nvSpPr>
        <p:spPr>
          <a:xfrm>
            <a:off x="2395716" y="2487168"/>
            <a:ext cx="7863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Avaliação experimental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f41283a9cb_0_147"/>
          <p:cNvSpPr/>
          <p:nvPr/>
        </p:nvSpPr>
        <p:spPr>
          <a:xfrm>
            <a:off x="2414003" y="3383280"/>
            <a:ext cx="1188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f41283a9cb_0_147"/>
          <p:cNvSpPr/>
          <p:nvPr/>
        </p:nvSpPr>
        <p:spPr>
          <a:xfrm>
            <a:off x="2395716" y="3584448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5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167 execuções em quatro cenários XRCE-DDS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f41283a9cb_0_147"/>
          <p:cNvSpPr/>
          <p:nvPr/>
        </p:nvSpPr>
        <p:spPr>
          <a:xfrm>
            <a:off x="10984675" y="619963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41283a9cb_0_158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f41283a9cb_0_158"/>
          <p:cNvSpPr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f41283a9cb_0_158"/>
          <p:cNvSpPr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testbed executa a regra e o ataque de ponta a ponta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f41283a9cb_0_158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f41283a9cb_0_158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f41283a9cb_0_158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4" name="Google Shape;264;g3f41283a9cb_0_158"/>
          <p:cNvGraphicFramePr/>
          <p:nvPr/>
        </p:nvGraphicFramePr>
        <p:xfrm>
          <a:off x="658368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{AF38C63C-7322-4C4E-BEF8-CE5F491D54EF}</a:tableStyleId>
              </a:tblPr>
              <a:tblGrid>
                <a:gridCol w="2529300"/>
                <a:gridCol w="4581425"/>
              </a:tblGrid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Item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27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Configuração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0F2369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5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Cenários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5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 DoS · Malformed Inject · Session Hijack · Fragment Abuse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5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Orçamento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5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execuções por cenário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5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Convergência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5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detecções consecutivas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5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Ambiente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0" lang="en-US" sz="2500" u="none" cap="none" strike="noStrike">
                          <a:solidFill>
                            <a:srgbClr val="1F293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Docker · Snort 3 · deepseek-v4-pro</a:t>
                      </a:r>
                      <a:endParaRPr sz="1800" u="none" cap="none" strike="noStrike"/>
                    </a:p>
                  </a:txBody>
                  <a:tcPr marT="45725" marB="45725" marR="128025" marL="128025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265" name="Google Shape;265;g3f41283a9cb_0_158"/>
          <p:cNvSpPr/>
          <p:nvPr/>
        </p:nvSpPr>
        <p:spPr>
          <a:xfrm>
            <a:off x="8008904" y="1737360"/>
            <a:ext cx="3804000" cy="39318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f41283a9cb_0_158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g3f41283a9cb_0_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f41283a9cb_0_158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g3f41283a9cb_0_1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f41283a9cb_0_158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g3f41283a9cb_0_1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f41283a9cb_0_158"/>
          <p:cNvSpPr/>
          <p:nvPr/>
        </p:nvSpPr>
        <p:spPr>
          <a:xfrm>
            <a:off x="11030407" y="63733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f41283a9cb_0_158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g3f41283a9cb_0_1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f41283a9cb_0_158"/>
          <p:cNvSpPr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qr_repo.png" id="276" name="Google Shape;276;g3f41283a9cb_0_1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0627" y="2073554"/>
            <a:ext cx="2460550" cy="246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f41283a9cb_0_158"/>
          <p:cNvSpPr txBox="1"/>
          <p:nvPr/>
        </p:nvSpPr>
        <p:spPr>
          <a:xfrm>
            <a:off x="8048800" y="4708775"/>
            <a:ext cx="3724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400" u="none" cap="none" strike="noStrike">
                <a:solidFill>
                  <a:srgbClr val="444A55"/>
                </a:solidFill>
                <a:latin typeface="Arial"/>
                <a:ea typeface="Arial"/>
                <a:cs typeface="Arial"/>
                <a:sym typeface="Arial"/>
              </a:rPr>
              <a:t>Código, cenários, regras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400" u="none" cap="none" strike="noStrike">
                <a:solidFill>
                  <a:srgbClr val="444A55"/>
                </a:solidFill>
                <a:latin typeface="Arial"/>
                <a:ea typeface="Arial"/>
                <a:cs typeface="Arial"/>
                <a:sym typeface="Arial"/>
              </a:rPr>
              <a:t>e as 167 execuções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41283a9cb_0_18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f41283a9cb_0_182"/>
          <p:cNvSpPr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f41283a9cb_0_182"/>
          <p:cNvSpPr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 validação ao vivo convergiu nos quatro cenários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f41283a9cb_0_18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41283a9cb_0_18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41283a9cb_0_18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f41283a9cb_0_182"/>
          <p:cNvSpPr/>
          <p:nvPr/>
        </p:nvSpPr>
        <p:spPr>
          <a:xfrm>
            <a:off x="658375" y="1993400"/>
            <a:ext cx="3561600" cy="34629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315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275" lIns="94600" spcFirstLastPara="1" rIns="94600" wrap="square" tIns="4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2"/>
              <a:buFont typeface="Arial"/>
              <a:buNone/>
            </a:pPr>
            <a:r>
              <a:t/>
            </a:r>
            <a:endParaRPr b="0" i="0" sz="186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f41283a9cb_0_182"/>
          <p:cNvSpPr/>
          <p:nvPr/>
        </p:nvSpPr>
        <p:spPr>
          <a:xfrm>
            <a:off x="658375" y="1993400"/>
            <a:ext cx="3561600" cy="711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7275" lIns="94600" spcFirstLastPara="1" rIns="94600" wrap="square" tIns="4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2"/>
              <a:buFont typeface="Arial"/>
              <a:buNone/>
            </a:pPr>
            <a:r>
              <a:t/>
            </a:r>
            <a:endParaRPr b="0" i="0" sz="186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41283a9cb_0_182"/>
          <p:cNvSpPr/>
          <p:nvPr/>
        </p:nvSpPr>
        <p:spPr>
          <a:xfrm>
            <a:off x="961136" y="2523232"/>
            <a:ext cx="2955900" cy="9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87"/>
              <a:buFont typeface="Arial"/>
              <a:buNone/>
            </a:pPr>
            <a:r>
              <a:rPr b="1" i="0" lang="en-US" sz="5587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167</a:t>
            </a:r>
            <a:endParaRPr b="0" i="0" sz="14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f41283a9cb_0_182"/>
          <p:cNvSpPr/>
          <p:nvPr/>
        </p:nvSpPr>
        <p:spPr>
          <a:xfrm>
            <a:off x="961136" y="3398218"/>
            <a:ext cx="29559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6"/>
              <a:buFont typeface="Arial"/>
              <a:buNone/>
            </a:pPr>
            <a:r>
              <a:rPr b="1" i="0" lang="en-US" sz="2587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Execuções</a:t>
            </a:r>
            <a:endParaRPr b="0" i="0" sz="25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f41283a9cb_0_182"/>
          <p:cNvSpPr/>
          <p:nvPr/>
        </p:nvSpPr>
        <p:spPr>
          <a:xfrm>
            <a:off x="961136" y="3981784"/>
            <a:ext cx="29559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2"/>
              <a:buFont typeface="Arial"/>
              <a:buNone/>
            </a:pPr>
            <a:r>
              <a:rPr b="0" i="0" lang="en-US" sz="227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Incluem busca de regras e a rodada final de convergência.</a:t>
            </a:r>
            <a:endParaRPr b="0" i="0" sz="227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f41283a9cb_0_182"/>
          <p:cNvSpPr/>
          <p:nvPr/>
        </p:nvSpPr>
        <p:spPr>
          <a:xfrm>
            <a:off x="4503756" y="1993400"/>
            <a:ext cx="3561600" cy="34629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315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275" lIns="94600" spcFirstLastPara="1" rIns="94600" wrap="square" tIns="4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2"/>
              <a:buFont typeface="Arial"/>
              <a:buNone/>
            </a:pPr>
            <a:r>
              <a:t/>
            </a:r>
            <a:endParaRPr b="0" i="0" sz="186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f41283a9cb_0_182"/>
          <p:cNvSpPr/>
          <p:nvPr/>
        </p:nvSpPr>
        <p:spPr>
          <a:xfrm>
            <a:off x="4503756" y="1993400"/>
            <a:ext cx="3561600" cy="711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7275" lIns="94600" spcFirstLastPara="1" rIns="94600" wrap="square" tIns="4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2"/>
              <a:buFont typeface="Arial"/>
              <a:buNone/>
            </a:pPr>
            <a:r>
              <a:t/>
            </a:r>
            <a:endParaRPr b="0" i="0" sz="186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f41283a9cb_0_182"/>
          <p:cNvSpPr/>
          <p:nvPr/>
        </p:nvSpPr>
        <p:spPr>
          <a:xfrm>
            <a:off x="4806517" y="2523232"/>
            <a:ext cx="2955900" cy="9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87"/>
              <a:buFont typeface="Arial"/>
              <a:buNone/>
            </a:pPr>
            <a:r>
              <a:rPr b="1" i="0" lang="en-US" sz="5587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142</a:t>
            </a:r>
            <a:endParaRPr b="0" i="0" sz="14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f41283a9cb_0_182"/>
          <p:cNvSpPr/>
          <p:nvPr/>
        </p:nvSpPr>
        <p:spPr>
          <a:xfrm>
            <a:off x="4806568" y="3390390"/>
            <a:ext cx="29559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6"/>
              <a:buFont typeface="Arial"/>
              <a:buNone/>
            </a:pPr>
            <a:r>
              <a:rPr b="1" i="0" lang="en-US" sz="2587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Variantes</a:t>
            </a:r>
            <a:endParaRPr b="0" i="0" sz="25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f41283a9cb_0_182"/>
          <p:cNvSpPr/>
          <p:nvPr/>
        </p:nvSpPr>
        <p:spPr>
          <a:xfrm>
            <a:off x="4806517" y="3957059"/>
            <a:ext cx="29559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2"/>
              <a:buFont typeface="Arial"/>
              <a:buNone/>
            </a:pPr>
            <a:r>
              <a:rPr b="0" i="0" lang="en-US" sz="227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Geradas para evadir a regra ativa em cada cenário.</a:t>
            </a:r>
            <a:endParaRPr b="0" i="0" sz="227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f41283a9cb_0_182"/>
          <p:cNvSpPr/>
          <p:nvPr/>
        </p:nvSpPr>
        <p:spPr>
          <a:xfrm>
            <a:off x="8349136" y="1993400"/>
            <a:ext cx="3561600" cy="34629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315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275" lIns="94600" spcFirstLastPara="1" rIns="94600" wrap="square" tIns="4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2"/>
              <a:buFont typeface="Arial"/>
              <a:buNone/>
            </a:pPr>
            <a:r>
              <a:t/>
            </a:r>
            <a:endParaRPr b="0" i="0" sz="186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f41283a9cb_0_182"/>
          <p:cNvSpPr/>
          <p:nvPr/>
        </p:nvSpPr>
        <p:spPr>
          <a:xfrm>
            <a:off x="8349136" y="1993400"/>
            <a:ext cx="3561600" cy="711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7275" lIns="94600" spcFirstLastPara="1" rIns="94600" wrap="square" tIns="4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2"/>
              <a:buFont typeface="Arial"/>
              <a:buNone/>
            </a:pPr>
            <a:r>
              <a:t/>
            </a:r>
            <a:endParaRPr b="0" i="0" sz="186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f41283a9cb_0_182"/>
          <p:cNvSpPr/>
          <p:nvPr/>
        </p:nvSpPr>
        <p:spPr>
          <a:xfrm>
            <a:off x="8651897" y="2523232"/>
            <a:ext cx="2955900" cy="9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87"/>
              <a:buFont typeface="Arial"/>
              <a:buNone/>
            </a:pPr>
            <a:r>
              <a:rPr b="1" i="0" lang="en-US" sz="5587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4/4</a:t>
            </a:r>
            <a:endParaRPr b="0" i="0" sz="14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f41283a9cb_0_182"/>
          <p:cNvSpPr/>
          <p:nvPr/>
        </p:nvSpPr>
        <p:spPr>
          <a:xfrm>
            <a:off x="8651897" y="3385856"/>
            <a:ext cx="29559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6"/>
              <a:buFont typeface="Arial"/>
              <a:buNone/>
            </a:pPr>
            <a:r>
              <a:rPr b="1" i="0" lang="en-US" sz="2587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Convergiram</a:t>
            </a:r>
            <a:endParaRPr b="0" i="0" sz="258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f41283a9cb_0_182"/>
          <p:cNvSpPr/>
          <p:nvPr/>
        </p:nvSpPr>
        <p:spPr>
          <a:xfrm>
            <a:off x="8552995" y="3944687"/>
            <a:ext cx="32589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2"/>
              <a:buFont typeface="Arial"/>
              <a:buNone/>
            </a:pPr>
            <a:r>
              <a:rPr b="0" i="0" lang="en-US" sz="227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Todas sobreviveram a 20 detecções adversariais consecutivas.</a:t>
            </a:r>
            <a:endParaRPr b="0" i="0" sz="227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f41283a9cb_0_18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g3f41283a9cb_0_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f41283a9cb_0_18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g3f41283a9cb_0_1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f41283a9cb_0_18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g3f41283a9cb_0_1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f41283a9cb_0_182"/>
          <p:cNvSpPr/>
          <p:nvPr/>
        </p:nvSpPr>
        <p:spPr>
          <a:xfrm>
            <a:off x="11030407" y="63733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f41283a9cb_0_18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g3f41283a9cb_0_1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f41283a9cb_0_182"/>
          <p:cNvSpPr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g3f41283a9cb_0_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899" y="1912400"/>
            <a:ext cx="10810600" cy="359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f41283a9cb_0_21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41283a9cb_0_217"/>
          <p:cNvSpPr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f41283a9cb_0_217"/>
          <p:cNvSpPr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Convergir exigiu buscar, não apenas validar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f41283a9cb_0_21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f41283a9cb_0_21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f41283a9cb_0_21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f41283a9cb_0_21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g3f41283a9cb_0_2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f41283a9cb_0_21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g3f41283a9cb_0_2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f41283a9cb_0_21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g3f41283a9cb_0_2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f41283a9cb_0_217"/>
          <p:cNvSpPr/>
          <p:nvPr/>
        </p:nvSpPr>
        <p:spPr>
          <a:xfrm>
            <a:off x="11030407" y="63733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41283a9cb_0_21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g3f41283a9cb_0_2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f41283a9cb_0_217"/>
          <p:cNvSpPr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f41283a9cb_0_217"/>
          <p:cNvSpPr txBox="1"/>
          <p:nvPr/>
        </p:nvSpPr>
        <p:spPr>
          <a:xfrm>
            <a:off x="414575" y="5413775"/>
            <a:ext cx="11777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Linha do tempo por execução. Verde: detecção; vermelho: evasão; linhas finas: regeneração das regras; azul: início da execução convergente.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f41283a9cb_0_217"/>
          <p:cNvSpPr/>
          <p:nvPr/>
        </p:nvSpPr>
        <p:spPr>
          <a:xfrm>
            <a:off x="658368" y="1584625"/>
            <a:ext cx="108750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8A33D"/>
                </a:solidFill>
                <a:latin typeface="Arial"/>
                <a:ea typeface="Arial"/>
                <a:cs typeface="Arial"/>
                <a:sym typeface="Arial"/>
              </a:rPr>
              <a:t>Por trás dos 167 execuções e 142 variantes: cada campanha buscou a regra certa até convergir.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41283a9cb_0_24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f41283a9cb_0_240"/>
          <p:cNvSpPr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f41283a9cb_0_240"/>
          <p:cNvSpPr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que os resultados sustentam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41283a9cb_0_24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f41283a9cb_0_24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f41283a9cb_0_24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f41283a9cb_0_240"/>
          <p:cNvSpPr/>
          <p:nvPr/>
        </p:nvSpPr>
        <p:spPr>
          <a:xfrm>
            <a:off x="658375" y="1808275"/>
            <a:ext cx="1141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7223" lvl="0" marL="327223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▪"/>
            </a:pPr>
            <a:r>
              <a:rPr b="0" i="0" lang="en-US" sz="33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O baseline sintático detectou só 1 de 4 ataques canônicos.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223" lvl="0" marL="327223" marR="0" rtl="0" algn="l">
              <a:lnSpc>
                <a:spcPct val="116000"/>
              </a:lnSpc>
              <a:spcBef>
                <a:spcPts val="1684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▪"/>
            </a:pPr>
            <a:r>
              <a:rPr b="0" i="0" lang="en-US" sz="33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71 de 72 regras usaram detection_filter.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223" lvl="0" marL="327223" marR="0" rtl="0" algn="l">
              <a:lnSpc>
                <a:spcPct val="116000"/>
              </a:lnSpc>
              <a:spcBef>
                <a:spcPts val="1684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▪"/>
            </a:pPr>
            <a:r>
              <a:rPr lang="en-US" sz="3300">
                <a:solidFill>
                  <a:srgbClr val="12275B"/>
                </a:solidFill>
              </a:rPr>
              <a:t>UDP DoS inverteu a hipótese: de pacotes pequenos/alta taxa para pacotes grandes/baixa taxa.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f41283a9cb_0_24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g3f41283a9cb_0_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41283a9cb_0_24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g3f41283a9cb_0_2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f41283a9cb_0_24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g3f41283a9cb_0_2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3f41283a9cb_0_240"/>
          <p:cNvSpPr/>
          <p:nvPr/>
        </p:nvSpPr>
        <p:spPr>
          <a:xfrm>
            <a:off x="11030407" y="63733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f41283a9cb_0_24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g3f41283a9cb_0_2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3f41283a9cb_0_240"/>
          <p:cNvSpPr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41283a9cb_0_26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f41283a9cb_0_261"/>
          <p:cNvSpPr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02 · 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f41283a9cb_0_261"/>
          <p:cNvSpPr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que ainda não podemos afirmar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f41283a9cb_0_261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f41283a9cb_0_261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f41283a9cb_0_261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f41283a9cb_0_261"/>
          <p:cNvSpPr/>
          <p:nvPr/>
        </p:nvSpPr>
        <p:spPr>
          <a:xfrm>
            <a:off x="658368" y="1858569"/>
            <a:ext cx="10607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7223" lvl="0" marL="327223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2275B"/>
              </a:buClr>
              <a:buSzPts val="2089"/>
              <a:buFont typeface="Arial"/>
              <a:buChar char="▪"/>
            </a:pPr>
            <a:r>
              <a:rPr b="0" i="0" lang="en-US" sz="35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Robustez operacional fora do testbed.</a:t>
            </a:r>
            <a:endParaRPr b="0" i="0" sz="1774" u="none" cap="none" strike="noStrike">
              <a:solidFill>
                <a:srgbClr val="1227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223" lvl="0" marL="327223" marR="0" rtl="0" algn="l">
              <a:lnSpc>
                <a:spcPct val="116000"/>
              </a:lnSpc>
              <a:spcBef>
                <a:spcPts val="1684"/>
              </a:spcBef>
              <a:spcAft>
                <a:spcPts val="0"/>
              </a:spcAft>
              <a:buClr>
                <a:srgbClr val="12275B"/>
              </a:buClr>
              <a:buSzPts val="2089"/>
              <a:buFont typeface="Arial"/>
              <a:buChar char="▪"/>
            </a:pPr>
            <a:r>
              <a:rPr b="0" i="0" lang="en-US" sz="35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Generalização além de quatro cenários e um IDS.</a:t>
            </a:r>
            <a:endParaRPr b="0" i="0" sz="1774" u="none" cap="none" strike="noStrike">
              <a:solidFill>
                <a:srgbClr val="1227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223" lvl="0" marL="327223" marR="0" rtl="0" algn="l">
              <a:lnSpc>
                <a:spcPct val="116000"/>
              </a:lnSpc>
              <a:spcBef>
                <a:spcPts val="1684"/>
              </a:spcBef>
              <a:spcAft>
                <a:spcPts val="0"/>
              </a:spcAft>
              <a:buClr>
                <a:srgbClr val="12275B"/>
              </a:buClr>
              <a:buSzPts val="2089"/>
              <a:buFont typeface="Arial"/>
              <a:buChar char="▪"/>
            </a:pPr>
            <a:r>
              <a:rPr b="0" i="0" lang="en-US" sz="35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Falsos positivos sob tráfego misto e custo do LLM.</a:t>
            </a:r>
            <a:endParaRPr b="0" i="0" sz="1774" u="none" cap="none" strike="noStrike">
              <a:solidFill>
                <a:srgbClr val="1227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f41283a9cb_0_26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g3f41283a9cb_0_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f41283a9cb_0_26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g3f41283a9cb_0_2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3f41283a9cb_0_26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g3f41283a9cb_0_2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f41283a9cb_0_261"/>
          <p:cNvSpPr/>
          <p:nvPr/>
        </p:nvSpPr>
        <p:spPr>
          <a:xfrm>
            <a:off x="11030407" y="63733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f41283a9cb_0_26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g3f41283a9cb_0_2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f41283a9cb_0_261"/>
          <p:cNvSpPr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41283a9cb_0_28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f41283a9cb_0_281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f41283a9cb_0_281"/>
          <p:cNvSpPr/>
          <p:nvPr/>
        </p:nvSpPr>
        <p:spPr>
          <a:xfrm>
            <a:off x="658368" y="2304288"/>
            <a:ext cx="2011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f41283a9cb_0_281"/>
          <p:cNvSpPr/>
          <p:nvPr/>
        </p:nvSpPr>
        <p:spPr>
          <a:xfrm>
            <a:off x="2395728" y="2487168"/>
            <a:ext cx="7863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f41283a9cb_0_281"/>
          <p:cNvSpPr/>
          <p:nvPr/>
        </p:nvSpPr>
        <p:spPr>
          <a:xfrm>
            <a:off x="2414015" y="3383280"/>
            <a:ext cx="1188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f41283a9cb_0_281"/>
          <p:cNvSpPr/>
          <p:nvPr/>
        </p:nvSpPr>
        <p:spPr>
          <a:xfrm>
            <a:off x="2395725" y="3584450"/>
            <a:ext cx="935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24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A regra só merece confiança depois de enfrentar tráfego adversarial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f41283a9cb_0_281"/>
          <p:cNvSpPr/>
          <p:nvPr/>
        </p:nvSpPr>
        <p:spPr>
          <a:xfrm>
            <a:off x="10984687" y="619963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41283a9cb_0_29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f41283a9cb_0_292"/>
          <p:cNvSpPr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f41283a9cb_0_292"/>
          <p:cNvSpPr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que o Rules Farmer entrega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f41283a9cb_0_29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f41283a9cb_0_29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f41283a9cb_0_29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f41283a9cb_0_292"/>
          <p:cNvSpPr/>
          <p:nvPr/>
        </p:nvSpPr>
        <p:spPr>
          <a:xfrm>
            <a:off x="456300" y="1776500"/>
            <a:ext cx="3656100" cy="33414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347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50" lIns="97100" spcFirstLastPara="1" rIns="97100" wrap="square" tIns="4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t/>
            </a:r>
            <a:endParaRPr b="0" i="0" sz="201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f41283a9cb_0_292"/>
          <p:cNvSpPr/>
          <p:nvPr/>
        </p:nvSpPr>
        <p:spPr>
          <a:xfrm>
            <a:off x="456300" y="1776500"/>
            <a:ext cx="72900" cy="3341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8550" lIns="97100" spcFirstLastPara="1" rIns="97100" wrap="square" tIns="4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t/>
            </a:r>
            <a:endParaRPr b="0" i="0" sz="201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f41283a9cb_0_292"/>
          <p:cNvSpPr/>
          <p:nvPr/>
        </p:nvSpPr>
        <p:spPr>
          <a:xfrm>
            <a:off x="786636" y="1966147"/>
            <a:ext cx="2995800" cy="28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443"/>
              <a:buFont typeface="Arial"/>
              <a:buNone/>
            </a:pPr>
            <a:r>
              <a:rPr b="1" i="0" lang="en-US" sz="3293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Contribuição</a:t>
            </a:r>
            <a:endParaRPr b="0" i="0" sz="159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56"/>
              </a:spcBef>
              <a:spcAft>
                <a:spcPts val="0"/>
              </a:spcAft>
              <a:buClr>
                <a:srgbClr val="000000"/>
              </a:buClr>
              <a:buSzPts val="2018"/>
              <a:buFont typeface="Arial"/>
              <a:buNone/>
            </a:pPr>
            <a:r>
              <a:rPr b="0" i="0" lang="en-US" sz="265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Ferramenta agêntica, de código aberto, que gera, implanta e testa regras Snort 3.</a:t>
            </a:r>
            <a:endParaRPr b="0" i="0" sz="159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f41283a9cb_0_292"/>
          <p:cNvSpPr/>
          <p:nvPr/>
        </p:nvSpPr>
        <p:spPr>
          <a:xfrm>
            <a:off x="4403843" y="1776500"/>
            <a:ext cx="3656100" cy="33414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347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50" lIns="97100" spcFirstLastPara="1" rIns="97100" wrap="square" tIns="4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t/>
            </a:r>
            <a:endParaRPr b="0" i="0" sz="201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f41283a9cb_0_292"/>
          <p:cNvSpPr/>
          <p:nvPr/>
        </p:nvSpPr>
        <p:spPr>
          <a:xfrm>
            <a:off x="4403843" y="1776500"/>
            <a:ext cx="72900" cy="334140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8550" lIns="97100" spcFirstLastPara="1" rIns="97100" wrap="square" tIns="4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t/>
            </a:r>
            <a:endParaRPr b="0" i="0" sz="201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3f41283a9cb_0_292"/>
          <p:cNvSpPr/>
          <p:nvPr/>
        </p:nvSpPr>
        <p:spPr>
          <a:xfrm>
            <a:off x="4734126" y="1966147"/>
            <a:ext cx="2995800" cy="28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443"/>
              <a:buFont typeface="Arial"/>
              <a:buNone/>
            </a:pPr>
            <a:r>
              <a:rPr b="1" i="0" lang="en-US" sz="3293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Evidência</a:t>
            </a:r>
            <a:endParaRPr b="0" i="0" sz="159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56"/>
              </a:spcBef>
              <a:spcAft>
                <a:spcPts val="0"/>
              </a:spcAft>
              <a:buClr>
                <a:srgbClr val="000000"/>
              </a:buClr>
              <a:buSzPts val="2018"/>
              <a:buFont typeface="Arial"/>
              <a:buNone/>
            </a:pPr>
            <a:r>
              <a:rPr b="0" i="0" lang="en-US" sz="265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3/4 regras iniciais falharam; as quatro campanhas convergiram.</a:t>
            </a:r>
            <a:endParaRPr b="0" i="0" sz="159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f41283a9cb_0_292"/>
          <p:cNvSpPr/>
          <p:nvPr/>
        </p:nvSpPr>
        <p:spPr>
          <a:xfrm>
            <a:off x="8351385" y="1776500"/>
            <a:ext cx="3656100" cy="3341400"/>
          </a:xfrm>
          <a:prstGeom prst="roundRect">
            <a:avLst>
              <a:gd fmla="val 6000" name="adj"/>
            </a:avLst>
          </a:prstGeom>
          <a:solidFill>
            <a:srgbClr val="F4F6FA"/>
          </a:solidFill>
          <a:ln cap="flat" cmpd="sng" w="1347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50" lIns="97100" spcFirstLastPara="1" rIns="97100" wrap="square" tIns="4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t/>
            </a:r>
            <a:endParaRPr b="0" i="0" sz="201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f41283a9cb_0_292"/>
          <p:cNvSpPr/>
          <p:nvPr/>
        </p:nvSpPr>
        <p:spPr>
          <a:xfrm>
            <a:off x="8351385" y="1776500"/>
            <a:ext cx="72900" cy="3341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8550" lIns="97100" spcFirstLastPara="1" rIns="97100" wrap="square" tIns="4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2"/>
              <a:buFont typeface="Arial"/>
              <a:buNone/>
            </a:pPr>
            <a:r>
              <a:t/>
            </a:r>
            <a:endParaRPr b="0" i="0" sz="201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f41283a9cb_0_292"/>
          <p:cNvSpPr/>
          <p:nvPr/>
        </p:nvSpPr>
        <p:spPr>
          <a:xfrm>
            <a:off x="8715632" y="1966147"/>
            <a:ext cx="2995800" cy="28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443"/>
              <a:buFont typeface="Arial"/>
              <a:buNone/>
            </a:pPr>
            <a:r>
              <a:rPr b="1" i="0" lang="en-US" sz="3293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159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56"/>
              </a:spcBef>
              <a:spcAft>
                <a:spcPts val="0"/>
              </a:spcAft>
              <a:buClr>
                <a:srgbClr val="000000"/>
              </a:buClr>
              <a:buSzPts val="2018"/>
              <a:buFont typeface="Arial"/>
              <a:buNone/>
            </a:pPr>
            <a:r>
              <a:rPr b="0" i="0" lang="en-US" sz="265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Defensores fortalecem assinaturas IoT antes da produção.</a:t>
            </a:r>
            <a:endParaRPr b="0" i="0" sz="159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f41283a9cb_0_29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g3f41283a9cb_0_2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f41283a9cb_0_29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g3f41283a9cb_0_2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3f41283a9cb_0_29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g3f41283a9cb_0_2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f41283a9cb_0_292"/>
          <p:cNvSpPr/>
          <p:nvPr/>
        </p:nvSpPr>
        <p:spPr>
          <a:xfrm>
            <a:off x="11030407" y="63733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f41283a9cb_0_29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g3f41283a9cb_0_2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f41283a9cb_0_292"/>
          <p:cNvSpPr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41283a9cb_0_32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f41283a9cb_0_321"/>
          <p:cNvSpPr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f41283a9cb_0_321"/>
          <p:cNvSpPr/>
          <p:nvPr/>
        </p:nvSpPr>
        <p:spPr>
          <a:xfrm>
            <a:off x="658331" y="649205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 demonstração cabe em um único 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f41283a9cb_0_321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f41283a9cb_0_321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f41283a9cb_0_321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f41283a9cb_0_321"/>
          <p:cNvSpPr/>
          <p:nvPr/>
        </p:nvSpPr>
        <p:spPr>
          <a:xfrm>
            <a:off x="588300" y="1922600"/>
            <a:ext cx="115335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0896" lvl="0" marL="310896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2275B"/>
              </a:buClr>
              <a:buSzPts val="2270"/>
              <a:buFont typeface="Arial"/>
              <a:buChar char="▪"/>
            </a:pPr>
            <a:r>
              <a:rPr b="0" i="0" lang="en-US" sz="30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Síntese → gate benigno → mutação → rebuild → alerta do Snort.</a:t>
            </a:r>
            <a:endParaRPr b="0" i="0" sz="1800" u="none" cap="none" strike="noStrike">
              <a:solidFill>
                <a:srgbClr val="1227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12275B"/>
              </a:buClr>
              <a:buSzPts val="2270"/>
              <a:buFont typeface="Arial"/>
              <a:buChar char="▪"/>
            </a:pPr>
            <a:r>
              <a:rPr b="0" i="0" lang="en-US" sz="30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Modo seguro: Snort 3 lê o arquivo; o ataque não sai na rede.</a:t>
            </a:r>
            <a:endParaRPr b="0" i="0" sz="1800" u="none" cap="none" strike="noStrike">
              <a:solidFill>
                <a:srgbClr val="1227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12275B"/>
              </a:buClr>
              <a:buSzPts val="2270"/>
              <a:buFont typeface="Arial"/>
              <a:buChar char="▪"/>
            </a:pPr>
            <a:r>
              <a:rPr b="0" i="0" lang="en-US" sz="30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Replay dos artefatos roda sem o LLM.</a:t>
            </a:r>
            <a:endParaRPr b="0" i="0" sz="1800" u="none" cap="none" strike="noStrike">
              <a:solidFill>
                <a:srgbClr val="1227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0896" lvl="0" marL="310896" marR="0" rtl="0" algn="l">
              <a:lnSpc>
                <a:spcPct val="116000"/>
              </a:lnSpc>
              <a:spcBef>
                <a:spcPts val="2000"/>
              </a:spcBef>
              <a:spcAft>
                <a:spcPts val="0"/>
              </a:spcAft>
              <a:buClr>
                <a:srgbClr val="12275B"/>
              </a:buClr>
              <a:buSzPts val="2270"/>
              <a:buFont typeface="Arial"/>
              <a:buChar char="▪"/>
            </a:pPr>
            <a:r>
              <a:rPr b="0" i="0" lang="en-US" sz="3000" u="none" cap="none" strike="noStrike">
                <a:solidFill>
                  <a:srgbClr val="12275B"/>
                </a:solidFill>
                <a:latin typeface="Arial"/>
                <a:ea typeface="Arial"/>
                <a:cs typeface="Arial"/>
                <a:sym typeface="Arial"/>
              </a:rPr>
              <a:t>Requisitos: Docker, Snort 3, Python 3.12, API.</a:t>
            </a:r>
            <a:endParaRPr b="0" i="0" sz="1800" u="none" cap="none" strike="noStrike">
              <a:solidFill>
                <a:srgbClr val="1227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f41283a9cb_0_32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g3f41283a9cb_0_3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f41283a9cb_0_32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g3f41283a9cb_0_3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g3f41283a9cb_0_32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0" name="Google Shape;440;g3f41283a9cb_0_3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f41283a9cb_0_321"/>
          <p:cNvSpPr/>
          <p:nvPr/>
        </p:nvSpPr>
        <p:spPr>
          <a:xfrm>
            <a:off x="11030407" y="6373368"/>
            <a:ext cx="50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f41283a9cb_0_32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g3f41283a9cb_0_3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g3f41283a9cb_0_321"/>
          <p:cNvSpPr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4150822b7_0_2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f4150822b7_0_29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f4150822b7_0_29"/>
          <p:cNvSpPr/>
          <p:nvPr/>
        </p:nvSpPr>
        <p:spPr>
          <a:xfrm>
            <a:off x="10984687" y="619963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EBBDA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sponiveis.png" id="453" name="Google Shape;453;g3f4150822b7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08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454" name="Google Shape;454;g3f4150822b7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938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455" name="Google Shape;455;g3f4150822b7_0_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9268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456" name="Google Shape;456;g3f4150822b7_0_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37599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g3f4150822b7_0_29"/>
          <p:cNvSpPr/>
          <p:nvPr/>
        </p:nvSpPr>
        <p:spPr>
          <a:xfrm>
            <a:off x="566093" y="601218"/>
            <a:ext cx="7315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FFFFFF"/>
                </a:solidFill>
              </a:rPr>
              <a:t>Selos Adquiridos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41283a9cb_0_34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f41283a9cb_0_342"/>
          <p:cNvSpPr/>
          <p:nvPr/>
        </p:nvSpPr>
        <p:spPr>
          <a:xfrm>
            <a:off x="9174175" y="3840480"/>
            <a:ext cx="6035100" cy="60351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f41283a9cb_0_342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1C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f41283a9cb_0_342"/>
          <p:cNvSpPr/>
          <p:nvPr/>
        </p:nvSpPr>
        <p:spPr>
          <a:xfrm>
            <a:off x="10637215" y="5303520"/>
            <a:ext cx="3108900" cy="310890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f41283a9cb_0_342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f41283a9cb_0_342"/>
          <p:cNvSpPr/>
          <p:nvPr/>
        </p:nvSpPr>
        <p:spPr>
          <a:xfrm>
            <a:off x="658368" y="1234440"/>
            <a:ext cx="7315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f41283a9cb_0_342"/>
          <p:cNvSpPr/>
          <p:nvPr/>
        </p:nvSpPr>
        <p:spPr>
          <a:xfrm>
            <a:off x="658368" y="2395728"/>
            <a:ext cx="1463100" cy="54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f41283a9cb_0_342"/>
          <p:cNvSpPr/>
          <p:nvPr/>
        </p:nvSpPr>
        <p:spPr>
          <a:xfrm>
            <a:off x="658368" y="2670048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Perguntas são bem-vindas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f41283a9cb_0_342"/>
          <p:cNvSpPr/>
          <p:nvPr/>
        </p:nvSpPr>
        <p:spPr>
          <a:xfrm>
            <a:off x="658368" y="3310128"/>
            <a:ext cx="4937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FA3D0"/>
                </a:solidFill>
                <a:latin typeface="Arial"/>
                <a:ea typeface="Arial"/>
                <a:cs typeface="Arial"/>
                <a:sym typeface="Arial"/>
              </a:rPr>
              <a:t>AUTOR DE CONTATO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f41283a9cb_0_342"/>
          <p:cNvSpPr/>
          <p:nvPr/>
        </p:nvSpPr>
        <p:spPr>
          <a:xfrm>
            <a:off x="658368" y="3602736"/>
            <a:ext cx="5120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Matheus Martins Ciocca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matheusciocca.aluno@unipampa.edu.br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Horizon Labs · UNIPAMPA · PPGES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f41283a9cb_0_342"/>
          <p:cNvSpPr/>
          <p:nvPr/>
        </p:nvSpPr>
        <p:spPr>
          <a:xfrm>
            <a:off x="6184100" y="2450625"/>
            <a:ext cx="2233200" cy="2217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f41283a9cb_0_342"/>
          <p:cNvSpPr/>
          <p:nvPr/>
        </p:nvSpPr>
        <p:spPr>
          <a:xfrm>
            <a:off x="0" y="5760720"/>
            <a:ext cx="12191700" cy="109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g3f41283a9cb_0_3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50" y="6018709"/>
            <a:ext cx="2379015" cy="581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g3f41283a9cb_0_3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1341" y="5883044"/>
            <a:ext cx="1294935" cy="852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g3f41283a9cb_0_3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5103" y="5863663"/>
            <a:ext cx="891525" cy="8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g3f41283a9cb_0_3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76902" y="5930789"/>
            <a:ext cx="502615" cy="7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3f41283a9cb_0_3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23545" y="5945935"/>
            <a:ext cx="708100" cy="726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3f41283a9cb_0_3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2271" y="5961082"/>
            <a:ext cx="1256008" cy="696692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3f41283a9cb_0_342"/>
          <p:cNvSpPr/>
          <p:nvPr/>
        </p:nvSpPr>
        <p:spPr>
          <a:xfrm>
            <a:off x="8949275" y="2450625"/>
            <a:ext cx="2233200" cy="2217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qr_repo.png" id="482" name="Google Shape;482;g3f41283a9cb_0_3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25615" y="2612514"/>
            <a:ext cx="1894124" cy="1894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r_video.png" id="483" name="Google Shape;483;g3f41283a9cb_0_34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18813" y="2612525"/>
            <a:ext cx="1894126" cy="189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g3f41283a9cb_0_342"/>
          <p:cNvSpPr/>
          <p:nvPr/>
        </p:nvSpPr>
        <p:spPr>
          <a:xfrm>
            <a:off x="6897050" y="4837225"/>
            <a:ext cx="807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GitHub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f41283a9cb_0_342"/>
          <p:cNvSpPr/>
          <p:nvPr/>
        </p:nvSpPr>
        <p:spPr>
          <a:xfrm>
            <a:off x="9711888" y="4837225"/>
            <a:ext cx="70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Vídeo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BSeg 2026 · AI Horizon Labs">
  <a:themeElements>
    <a:clrScheme name="SBSeg 2026">
      <a:dk1>
        <a:srgbClr val="000000"/>
      </a:dk1>
      <a:lt1>
        <a:srgbClr val="FFFFFF"/>
      </a:lt1>
      <a:dk2>
        <a:srgbClr val="1F2937"/>
      </a:dk2>
      <a:lt2>
        <a:srgbClr val="F4F6FA"/>
      </a:lt2>
      <a:accent1>
        <a:srgbClr val="0F2369"/>
      </a:accent1>
      <a:accent2>
        <a:srgbClr val="0A866E"/>
      </a:accent2>
      <a:accent3>
        <a:srgbClr val="1279BD"/>
      </a:accent3>
      <a:accent4>
        <a:srgbClr val="F7A823"/>
      </a:accent4>
      <a:accent5>
        <a:srgbClr val="6B7280"/>
      </a:accent5>
      <a:accent6>
        <a:srgbClr val="DDE3EC"/>
      </a:accent6>
      <a:hlink>
        <a:srgbClr val="1279BD"/>
      </a:hlink>
      <a:folHlink>
        <a:srgbClr val="0A86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
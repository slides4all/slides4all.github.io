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6858000" cx="12191675"/>
  <p:notesSz cx="6858000" cy="9144000"/>
  <p:embeddedFontLst>
    <p:embeddedFont>
      <p:font typeface="Inter"/>
      <p:regular r:id="rId32"/>
      <p:bold r:id="rId33"/>
      <p:italic r:id="rId34"/>
      <p:boldItalic r:id="rId35"/>
    </p:embeddedFont>
    <p:embeddedFont>
      <p:font typeface="JetBrains Mono"/>
      <p:regular r:id="rId36"/>
      <p:bold r:id="rId37"/>
      <p:italic r:id="rId38"/>
      <p:boldItalic r:id="rId39"/>
    </p:embeddedFont>
    <p:embeddedFont>
      <p:font typeface="Space Grotesk"/>
      <p:regular r:id="rId40"/>
      <p:bold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2" roundtripDataSignature="AMtx7mjbARo+xfXCRojD99nFvO1nFzxr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paceGrotesk-regular.fntdata"/><Relationship Id="rId20" Type="http://schemas.openxmlformats.org/officeDocument/2006/relationships/slide" Target="slides/slide15.xml"/><Relationship Id="rId42" Type="http://customschemas.google.com/relationships/presentationmetadata" Target="metadata"/><Relationship Id="rId41" Type="http://schemas.openxmlformats.org/officeDocument/2006/relationships/font" Target="fonts/SpaceGrotesk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Inter-bold.fntdata"/><Relationship Id="rId10" Type="http://schemas.openxmlformats.org/officeDocument/2006/relationships/slide" Target="slides/slide5.xml"/><Relationship Id="rId32" Type="http://schemas.openxmlformats.org/officeDocument/2006/relationships/font" Target="fonts/Inter-regular.fntdata"/><Relationship Id="rId13" Type="http://schemas.openxmlformats.org/officeDocument/2006/relationships/slide" Target="slides/slide8.xml"/><Relationship Id="rId35" Type="http://schemas.openxmlformats.org/officeDocument/2006/relationships/font" Target="fonts/Inter-boldItalic.fntdata"/><Relationship Id="rId12" Type="http://schemas.openxmlformats.org/officeDocument/2006/relationships/slide" Target="slides/slide7.xml"/><Relationship Id="rId34" Type="http://schemas.openxmlformats.org/officeDocument/2006/relationships/font" Target="fonts/Inter-italic.fntdata"/><Relationship Id="rId15" Type="http://schemas.openxmlformats.org/officeDocument/2006/relationships/slide" Target="slides/slide10.xml"/><Relationship Id="rId37" Type="http://schemas.openxmlformats.org/officeDocument/2006/relationships/font" Target="fonts/JetBrainsMono-bold.fntdata"/><Relationship Id="rId14" Type="http://schemas.openxmlformats.org/officeDocument/2006/relationships/slide" Target="slides/slide9.xml"/><Relationship Id="rId36" Type="http://schemas.openxmlformats.org/officeDocument/2006/relationships/font" Target="fonts/JetBrainsMono-regular.fntdata"/><Relationship Id="rId17" Type="http://schemas.openxmlformats.org/officeDocument/2006/relationships/slide" Target="slides/slide12.xml"/><Relationship Id="rId39" Type="http://schemas.openxmlformats.org/officeDocument/2006/relationships/font" Target="fonts/JetBrainsMono-boldItalic.fntdata"/><Relationship Id="rId16" Type="http://schemas.openxmlformats.org/officeDocument/2006/relationships/slide" Target="slides/slide11.xml"/><Relationship Id="rId38" Type="http://schemas.openxmlformats.org/officeDocument/2006/relationships/font" Target="fonts/JetBrainsMono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[12 s] FALA Boa tarde. Cristhian Kapelinski, da UNIPAMPA. O ZeroLINC classifica relato de incidente de segurança na máquina do próprio analista, sem treinar modelo nenhum e sem mandar o dado para fora.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 Salão de Ferramentas: a trilha do SBSeg em que a contribuição É o software, não o artigo. Training-free, sem treinamento: nenhum peso de modelo é atualizado em momento nenhum; a ferramenta só usa checkpoints publicados como estão. Local: roda sem chamada a API externa. Os quatro carimbos no canto direito são os selos do Comitê Técnico de Artefatos, que volta no fim.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 O título oficial do artigo é em inglês e é ele que vale no camera-ready, mas a plateia é brasileira: sem a tradução por baixo, os primeiros quinze segundos são gastos traduzindo de cabeça em vez de ouvir a abertura. Se perguntarem o nome: LINC vem de Local Incident Classification.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[17 s] FALA O gargalo da triagem é de leitura. Só o CERT.br registrou 274 mil notificações no primeiro semestre de 2026, e alguém no centro de operações lê e classifica cada uma: num estudo de 2025, três a quatro horas por analista para menos de duzentos chamados.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 CERT.br: o grupo nacional de resposta a incidentes, mantido pelo NIC.br, que recebe as notificações espontâneas da internet brasileira. Notificação: o aviso que chega, ainda não triado. SOC, security operations center, centro de operações de segurança: a equipe que monitora e responde. Triagem: dizer de que tipo é o chamado e com que prioridade, antes de investigar. Chamado: um registro de atendimento; é sempre essa a palavra no deck, e não ticket.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 Eram três telas, uma por número mais uma frase de ligação, e as três diziam o mesmo: chega mais chamado do que gente consegue ler. As três a quatro horas vêm de Severo et al., 2025, que volta na tabela seguinte. Se perguntarem por que não contratar mais analista: o custo é linear no volume e o volume cresce.</a:t>
            </a:r>
            <a:endParaRPr/>
          </a:p>
        </p:txBody>
      </p:sp>
      <p:sp>
        <p:nvSpPr>
          <p:cNvPr id="109" name="Google Shape;10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[26 s] FALA Os dois estudos que fazem esta tarefa. Por API comercial, 92,3% de concordância com os especialistas, mas até quase seis dólares por passagem, até três horas, e o conteúdo saindo da organização. Trazendo o mesmo pipeline para dentro, com sete a setenta bilhões de parâmetros, o dado fica e a acurácia cai para uns 60%. A última fila é a nossa, e ela usa duas coisas que eu explico já: classificar sem nenhum exemplo rotulado, e consultar os chamados que já foram classificados. Existe uma literatura de classificação sem treino, pequena e local, mas ninguém a tinha medido em tráfego real de segurança. É essa a lacuna, e é o que este trabalho faz.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 Local, nesta tabela, significa uma coisa só: rodar sem chamada a API externa. SLM, small language model, modelo de linguagem pequeno: em oposição a LLM, mas 7 bilhões de parâmetros ainda pede GPU de servidor. Zero-shot: classificar sem nenhum exemplo rotulado da tarefa. Memória: o motor que consulta chamados já rotulados por semelhança, e que volta na arquitetura. As duas acurácias do ZeroLINC são sem rótulo nenhum e com 89 rótulos; o n de 93 é a metade de teste do protocolo, a que nunca foi usada para escolher configuração.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 A tela que lia esta tabela em duas colunas saiu: ela comparava as mesmas duas opções que a tabela de custo, na seção da ferramenta, compara com o ZeroLINC junto. Se perguntarem por que o n é tão diferente entre os estudos: são corpora da mesma origem, mas amostras distintas, e por isso a comparação é de faixa de custo e de acurácia, não de diferença de pontos.</a:t>
            </a:r>
            <a:endParaRPr/>
          </a:p>
        </p:txBody>
      </p:sp>
      <p:sp>
        <p:nvSpPr>
          <p:cNvPr id="123" name="Google Shape;123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4" name="Google Shape;154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[5 s] FALA Primeiro o estudo que escolheu cada peça. Nada aqui foi decidido por gosto.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 Estudo de medição: avaliar sistematicamente as opções existentes sob um protocolo fixo, em vez de propor um método novo.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 O deck segue a ordem do artigo: primeiro a seleção medida, depois a ferramenta que sai dela. Apresentar a ferramenta antes obrigava a plateia a aceitar as escolhas sem evidência, e era a pergunta que sobrava no fim.</a:t>
            </a:r>
            <a:endParaRPr/>
          </a:p>
        </p:txBody>
      </p:sp>
      <p:sp>
        <p:nvSpPr>
          <p:cNvPr id="155" name="Google Shape;155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[23 s] FALA A evidência: 182 chamados reais de CSIRTs brasileiros, rotulados por dois especialistas. O corpus é desequilibrado, e por isso chutar sempre a categoria dominante já dá 64,8%, com macro-F1 de dez: é por isso que o macro-F1 anda junto de toda acurácia daqui em diante. A grade tem 288 execuções, e mede-se sempre na metade que não escolheu a configuração.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 Modelo, aqui, é um checkpoint: pesos já treinados e publicados, usados como estão, sem nenhuma atualização. Redação de categoria, verbalização: como a categoria é escrita para o modelo, de só o nome à descrição completa. Vista do texto: qual pedaço do chamado entra. Macro-F1: a média do F1 calculado categoria por categoria, cada uma pesando igual; é ele que desmascara o chute na majoritária, porque as onze categorias restantes puxam a média para baixo. Semente, seed: o número que fixa o sorteio da divisão, para o experimento ser repetível. Teste de McNemar: teste pareado, sobre os MESMOS exemplos, usado em todas as tabelas contra o piso.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 Eram seis telas, uma por linha desta, e ficha de reprodução não vai para a tela: quem quer repetir lê o artigo e o artefato. Declarar o desequilíbrio e o piso ANTES dos resultados é o que torna as próximas tabelas verificáveis, e não só impressionantes. Se perguntarem por que não balancear o corpus: porque o desequilíbrio É a operação real. O 182 vem de 194 registros menos nove avisos que não eram incidente e três duplicatas exatas. E as execuções: a grade de 288 mais quatro dirigidas ao reranker e aos checkpoints maiores, mais uma de leave-one-out, fecham as 293 que o artigo reporta.</a:t>
            </a:r>
            <a:endParaRPr/>
          </a:p>
        </p:txBody>
      </p:sp>
      <p:sp>
        <p:nvSpPr>
          <p:cNvPr id="167" name="Google Shape;16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[18 s] FALA Antes do resultado, o termo que ele usa. Redação é como a categoria é escrita para o modelo, e estas quatro linhas são a MESMA categoria: comprometimento de conta. Do nome cru até a frase de evento, passando pela descrição do NIST e pela descrição com os termos de busca. Esses nomes da esquerda são os mesmos que vão rotular as colunas do gráfico daqui a duas telas, e são oito ao todo: estas quatro mais as versões em português e mais duas variantes da descrição. Nenhuma palavra aqui é nossa: todas vêm do material de prompt dos estudos de referência.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 Redação, verbalização, verbalization: o texto que representa a categoria para o modelo; é o análogo da engenharia de prompt para quem classifica sem treinar. Termos de busca: as palavras que os estudos de referência usavam para caracterizar cada categoria.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 Se perguntarem por que não escrevemos redações melhores: porque aí a comparação mediria a nossa habilidade de escrever prompt, e não o classificador. As oito redações completas estão em dois slides de reserva.</a:t>
            </a:r>
            <a:endParaRPr/>
          </a:p>
        </p:txBody>
      </p:sp>
      <p:sp>
        <p:nvSpPr>
          <p:cNvPr id="186" name="Google Shape;18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" name="Google Shape;209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[15 s] FALA E o terceiro eixo da grade: a vista, que é qual pedaço do chamado entra no modelo. O texto inteiro como veio; o assunto copiado para o começo, porque a janela do modelo é curta e o assunto é a frase mais condensada do chamado; o filtro que tira as linhas repetidas, cabeçalho e rodapé de aviso automático; e a composição das duas. O mapa de calor a seguir é a vista do assunto à frente.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 Janela de contexto: quanto texto o modelo lê de uma vez. Boilerplate: o texto repetido de cabeçalho, rodapé e aviso legal. O filtro não tem padrão escrito à mão: derruba toda linha que aparece em pelo menos 15% dos documentos do corpus, que é uma regra de estatística do corpus.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 Se perguntarem por que quatro e não mais: as quatro são as combinações do par de transformações, e nove modelos vezes oito redações vezes quatro vistas dão as 288 execuções da grade.</a:t>
            </a:r>
            <a:endParaRPr/>
          </a:p>
        </p:txBody>
      </p:sp>
      <p:sp>
        <p:nvSpPr>
          <p:cNvPr id="210" name="Google Shape;210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" name="Google Shape;23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[18 s] FALA O achado que mais surpreende: sem rótulo, o que mais move a acurácia não é o modelo, é como se escreve a categoria. Cada linha é um modelo, cada coluna uma redação, e o mesmo modelo varia mais de sessenta pontos entre a melhor e a pior.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 Mapa de calor, heatmap: cada célula é uma acurácia e a cor codifica o valor, escuro é alto. en-desc-kw: a descrição estendida com os termos de busca, que é a coluna vencedora; as oito redações estão no slide de reserva. Multilíngue: treinado em vários idiomas. BART: um modelo só de inglês, que desaba fora das redações em português.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 Se perguntarem se isso não é só engenharia de prompt: é, e é justamente o ponto, porque a literatura de triagem em SOC trata a redação da categoria como detalhe e ela é o fator dominante. A legenda cinza e a linha de leitura embaixo do gráfico saíram, e a figura subiu para a largura inteira.</a:t>
            </a:r>
            <a:endParaRPr/>
          </a:p>
        </p:txBody>
      </p:sp>
      <p:sp>
        <p:nvSpPr>
          <p:cNvPr id="234" name="Google Shape;234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4" name="Google Shape;244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[14 s] FALA Olhem só uma fila, a do DeBERTa. É um checkpoint só, congelado, e a acurácia dele vai de setenta e nove décimos por cento na melhor redação a oito e oito na pior. Sessenta e dois pontos de diferença, e o modelo é o mesmo: o que mudou foi a frase que descreve a categoria.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 Coluna en-desc-kw: a descrição da categoria mais os termos de busca dos estudos de referência. Coluna pt-name: só o nome da categoria, em português.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 Esta é a fila que sustenta a frase do artigo, de que o mesmo checkpoint varia mais de sessenta pontos entre a melhor e a pior redação. Se perguntarem se não é escolha a dedo: a GLiClass-x-base varia sessenta e três pontos na mesma figura, e a mDeBERTa-base, cinquenta e seis.</a:t>
            </a:r>
            <a:endParaRPr/>
          </a:p>
        </p:txBody>
      </p:sp>
      <p:sp>
        <p:nvSpPr>
          <p:cNvPr id="245" name="Google Shape;245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5" name="Google Shape;265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[27 s] FALA O motor de quem ainda não tem rótulo nenhum. São dois, porque o mais rápido e o mais certeiro não são o mesmo: o padrão faz o corpus em oito segundos, e um argumento de linha de comando troca pelo de 70,9%, que demora 56. A ressalva honesta é a última linha: em acurácia bruta isso não se separa do piso. O que muda é a cobertura das categorias raras.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 Zero-shot: classificar sem nenhum exemplo rotulado, só com a redação de cada categoria. Piso: o classificador que chuta sempre a categoria majoritária. p de McNemar: a probabilidade de observar a diferença medida se os dois sistemas fossem equivalentes; acima de 0,05 não dá para afirmar diferença, e a faixa de 0,34 a 0,69 é o mínimo e o máximo sobre as cinco divisões.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 Seria confortável dizer '70,9% contra 63,4% do piso' e seguir. O honesto é dizer que a diferença em acurácia não é significativa neste tamanho de amostra, e que o ganho está na cobertura. A tabela inteira do protocolo sem rótulo, com o conjunto de famílias, está no slide de reserva. Aumentar o modelo também não resolveu: a versão grande do GLiClass cai para 42,3%, abaixo da versão base.</a:t>
            </a:r>
            <a:endParaRPr/>
          </a:p>
        </p:txBody>
      </p:sp>
      <p:sp>
        <p:nvSpPr>
          <p:cNvPr id="266" name="Google Shape;266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[19 s] FALA E o mecanismo de onde sai tudo o que vem depois. Cada ponto aí é um chamado, e a cor é a categoria que os especialistas deram. Alerta automático repete sempre o mesmo formato, e ao virar vetor os textos de mesmo formato ficam próximos: cada grupo aí é um formato. Um exemplo rotulado cobre a família inteira.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 Espaço de vetores, espaço latente: o espaço de muitas dimensões em que cada chamado vira um ponto. Molde, template: o texto padronizado que uma ferramenta de monitoramento emite, com poucos campos variáveis. Projeção: os vetores têm centenas de dimensões e a figura mostra três; o que se enxerga é uma sombra do espaço real.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 Sem esta explicação, o salto de 70,9% para 90,8% com 89 rótulos soa bom demais e a plateia desconfia; com ela, o salto é consequência de o tráfego ser repetitivo. É também a razão honesta de a acurácia não transferir automaticamente para outra equipe, e eu volto nisso nas limitações. No LibreOffice só o primeiro quadro aparece; no PowerPoint em modo apresentação a animação roda, e a versão estática está no slide de reserva do regime de dados.</a:t>
            </a:r>
            <a:endParaRPr/>
          </a:p>
        </p:txBody>
      </p:sp>
      <p:sp>
        <p:nvSpPr>
          <p:cNvPr id="281" name="Google Shape;281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1" name="Google Shape;291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[22 s] FALA Os cinco recebem os mesmos 89 chamados rotulados, e o resultado contraria a intuição: atualizar todos os pesos é a PIOR opção. Quem passa de 90% são as três regras que deixam o modelo congelado e só leem o vetor, sem se distinguirem entre si. Rótulo vale mais como memória de consulta do que como sinal de treino.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 Ajuste fino completo, full fine-tuning: atualizar todos os pesos do modelo com os dados rotulados. Ajuste fino contrastivo: treinar o modelo a aproximar chamados da mesma categoria no espaço de vetores. Regressão logística: um classificador linear treinado sobre os vetores, sem tocar no modelo que os gera. Centroide de classe: representar cada categoria pela média dos vetores dela e escolher a mais próxima. Valor p: teste de McNemar pareado contra o piso.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 A explicação provável do 76,1% é tamanho de amostra: 89 exemplos com quase 65% em uma categoria só não sustentam ajuste fino de um encoder inteiro, e o macro-F1 de 0,21 mostra que ele colapsa nas minoritárias. Não afirmo isso como comprovado. Se perguntarem se com mais dados o ajuste fino ganharia: provavelmente sim, e por isso a afirmação é sobre o regime de poucos rótulos, que é o regime real de quem adota. A tela separada que comparava o custo de atualizar virou marcador do slide do motor de memória.</a:t>
            </a:r>
            <a:endParaRPr/>
          </a:p>
        </p:txBody>
      </p:sp>
      <p:sp>
        <p:nvSpPr>
          <p:cNvPr id="292" name="Google Shape;292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3" name="Google Shape;333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[18 s] FALA Quantos rótulos são precisos? Com dez, o menor ponto medido, a memória já passa o melhor zero-shot, que é a linha âmbar. Com trinta chega a 88, e satura por volta de quarenta e cinco, que é uma tarde de trabalho e não um projeto de rotulagem.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 O eixo horizontal é o tamanho do conjunto de referência, em chamados rotulados. A altura de cada barra é a acurácia de teste, média das cinco divisões. Saturar: a curva achata, e acrescentar rótulo para de comprar acurácia.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 Os 89 não foram escolhidos por darem o melhor número: são a metade de validação do protocolo, de tamanho fixo, e o platô é que os justifica. Se perguntarem se dá para começar com os rótulos de outra equipe: não medimos isso, e a hipótese dos formatos sugere que não transfere bem, o que está nas limitações.</a:t>
            </a:r>
            <a:endParaRPr/>
          </a:p>
        </p:txBody>
      </p:sp>
      <p:sp>
        <p:nvSpPr>
          <p:cNvPr id="334" name="Google Shape;334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7" name="Google Shape;357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[23 s] FALA O motor de quem já tem classificações confirmadas, e o resultado principal: o chamado recebe a categoria que os três vizinhos mais parecidos votam, 90,8% de média. A escolha não foi por métrica, porque as três regras congeladas empatam; o desempate é operacional, porque só ele mostra ao analista quais chamados decidiram. E manter ao dia é acrescentar uma linha.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 k-NN, k vizinhos mais próximos: o chamado recebe a categoria que os k chamados rotulados mais parecidos votam, com peso pela semelhança; aqui k é 3. Centroide: a média dos vetores de cada categoria. Congelado, frozen: o modelo é usado como está e nenhum peso é atualizado. O p de 0,48 do marcador é o McNemar pareado entre as DUAS melhores, centroide e k-NN, em todas as cinco divisões; nenhuma das três regras congeladas se distingue das outras, e as duas melhores discordam em um ou dois chamados por metade de teste.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 Este é critério de ferramenta, e não de artigo: com as métricas empatadas, quem decide é quem o analista consegue auditar. Aumentar o modelo de vetores também não paga: a versão de 4 bilhões fica dentro do mesmo intervalo de confiança, a 86 segundos e 11,4 GB de memória de GPU, contra 28 segundos e 3,2 GB da versão de 0,6 bilhão.</a:t>
            </a:r>
            <a:endParaRPr/>
          </a:p>
        </p:txBody>
      </p:sp>
      <p:sp>
        <p:nvSpPr>
          <p:cNvPr id="358" name="Google Shape;358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6" name="Google Shape;376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[2 s] FALA Com os motores escolhidos, a ferramenta.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 Doze categorias: a taxonomia de tipos de incidente derivada do guia do NIST, que os especialistas usaram para rotular o corpus.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 A divisória existe para dar respiro e marcar a virada de bloco. É um dos slides fáceis de falar, e o padrão manda não cortar esses.</a:t>
            </a:r>
            <a:endParaRPr/>
          </a:p>
        </p:txBody>
      </p:sp>
      <p:sp>
        <p:nvSpPr>
          <p:cNvPr id="377" name="Google Shape;377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8" name="Google Shape;388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[12 s] FALA Entra o CSV de chamados, e a primeira peça é o normalizador: ele encurta as etiquetas de anonimização e copia o assunto para a frente do texto.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 Etiqueta de anonimização: o marcador que substitui dado sensível no corpus público, do tipo [EMAIL_ADDRESS_f6f7a2...], que a ferramenta encurta para &lt;EMAIL&gt;. Semelhança: o cosseno entre os vetores de dois chamados, de zero a um. Verbalizador: o módulo que guarda as oito redações de cada categoria.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 O pipeline aparece uma peça por vez porque a plateia não consegue ler seis caixas e decidir sozinha em que ordem elas acontecem. É a mesma Figura 2 do artigo, em português: os cinco módulos são normalizador, verbalizador, motor zero-shot, motor de memória e roteador; o predicoes.csv é saída, não é módulo.</a:t>
            </a:r>
            <a:endParaRPr/>
          </a:p>
        </p:txBody>
      </p:sp>
      <p:sp>
        <p:nvSpPr>
          <p:cNvPr id="389" name="Google Shape;389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1" name="Google Shape;401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[9 s] FALA O roteador decide, chamado a chamado, qual motor responde: quando a semelhança com o que já está rotulado não passa de 0,75, ele recua para o zero-shot.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 Etiqueta de anonimização: o marcador que substitui dado sensível no corpus público, do tipo [EMAIL_ADDRESS_f6f7a2...], que a ferramenta encurta para &lt;EMAIL&gt;. Semelhança: o cosseno entre os vetores de dois chamados, de zero a um. Verbalizador: o módulo que guarda as oito redações de cada categoria.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 O pipeline aparece uma peça por vez porque a plateia não consegue ler seis caixas e decidir sozinha em que ordem elas acontecem. É a mesma Figura 2 do artigo, em português: os cinco módulos são normalizador, verbalizador, motor zero-shot, motor de memória e roteador; o predicoes.csv é saída, não é módulo.</a:t>
            </a:r>
            <a:endParaRPr/>
          </a:p>
        </p:txBody>
      </p:sp>
      <p:sp>
        <p:nvSpPr>
          <p:cNvPr id="402" name="Google Shape;402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7" name="Google Shape;417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[9 s] FALA O motor de memória classifica por semelhança com os chamados já rotulados, com o Qwen3 de 0,6 bilhão de parâmetros e voto dos três vizinhos mais próximos.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 Etiqueta de anonimização: o marcador que substitui dado sensível no corpus público, do tipo [EMAIL_ADDRESS_f6f7a2...], que a ferramenta encurta para &lt;EMAIL&gt;. Semelhança: o cosseno entre os vetores de dois chamados, de zero a um. Verbalizador: o módulo que guarda as oito redações de cada categoria.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 O pipeline aparece uma peça por vez porque a plateia não consegue ler seis caixas e decidir sozinha em que ordem elas acontecem. É a mesma Figura 2 do artigo, em português: os cinco módulos são normalizador, verbalizador, motor zero-shot, motor de memória e roteador; o predicoes.csv é saída, não é módulo.</a:t>
            </a:r>
            <a:endParaRPr/>
          </a:p>
        </p:txBody>
      </p:sp>
      <p:sp>
        <p:nvSpPr>
          <p:cNvPr id="418" name="Google Shape;418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6" name="Google Shape;436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[9 s] FALA O motor zero-shot é o de quem não tem rótulo nenhum: GLiClass por padrão, DeBERTa-NLI quando o que importa é a acurácia máxima.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 Etiqueta de anonimização: o marcador que substitui dado sensível no corpus público, do tipo [EMAIL_ADDRESS_f6f7a2...], que a ferramenta encurta para &lt;EMAIL&gt;. Semelhança: o cosseno entre os vetores de dois chamados, de zero a um. Verbalizador: o módulo que guarda as oito redações de cada categoria.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 O pipeline aparece uma peça por vez porque a plateia não consegue ler seis caixas e decidir sozinha em que ordem elas acontecem. É a mesma Figura 2 do artigo, em português: os cinco módulos são normalizador, verbalizador, motor zero-shot, motor de memória e roteador; o predicoes.csv é saída, não é módulo.</a:t>
            </a:r>
            <a:endParaRPr/>
          </a:p>
        </p:txBody>
      </p:sp>
      <p:sp>
        <p:nvSpPr>
          <p:cNvPr id="437" name="Google Shape;437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8" name="Google Shape;458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[9 s] FALA E o verbalizador é o quinto módulo, o que guarda as doze categorias nas oito redações. É ele que carrega o achado do mapa de calor.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 Etiqueta de anonimização: o marcador que substitui dado sensível no corpus público, do tipo [EMAIL_ADDRESS_f6f7a2...], que a ferramenta encurta para &lt;EMAIL&gt;. Semelhança: o cosseno entre os vetores de dois chamados, de zero a um. Verbalizador: o módulo que guarda as oito redações de cada categoria.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 O pipeline aparece uma peça por vez porque a plateia não consegue ler seis caixas e decidir sozinha em que ordem elas acontecem. É a mesma Figura 2 do artigo, em português: os cinco módulos são normalizador, verbalizador, motor zero-shot, motor de memória e roteador; o predicoes.csv é saída, não é módulo.</a:t>
            </a:r>
            <a:endParaRPr/>
          </a:p>
        </p:txBody>
      </p:sp>
      <p:sp>
        <p:nvSpPr>
          <p:cNvPr id="459" name="Google Shape;459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3" name="Google Shape;483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[9 s] FALA No fim sai o predicoes.csv, com a categoria, a confiança e qual motor respondeu. Nada disso sai da organização.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 Etiqueta de anonimização: o marcador que substitui dado sensível no corpus público, do tipo [EMAIL_ADDRESS_f6f7a2...], que a ferramenta encurta para &lt;EMAIL&gt;. Semelhança: o cosseno entre os vetores de dois chamados, de zero a um. Verbalizador: o módulo que guarda as oito redações de cada categoria.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 O pipeline aparece uma peça por vez porque a plateia não consegue ler seis caixas e decidir sozinha em que ordem elas acontecem. É a mesma Figura 2 do artigo, em português: os cinco módulos são normalizador, verbalizador, motor zero-shot, motor de memória e roteador; o predicoes.csv é saída, não é módulo.</a:t>
            </a:r>
            <a:endParaRPr/>
          </a:p>
        </p:txBody>
      </p:sp>
      <p:sp>
        <p:nvSpPr>
          <p:cNvPr id="484" name="Google Shape;484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1" name="Google Shape;511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[10 s] FALA E é isto tudo junto, que é a figura do artigo. Entra o CSV de chamados, o normalizador limpa, o roteador escolhe o motor, e sai o predicoes.csv. A seta tracejada é o recuo: quando a memória não tem nada parecido o bastante, quem responde é o zero-shot.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 Recuo, fallback: o caminho alternativo quando a condição principal não se sustenta; aqui, semelhança abaixo de 0,75. rotulados.csv: o conjunto de referência que alimenta o motor de memória, e que não existe no dia zero.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 Esta tela vem DEPOIS da cascata, e não no lugar dela: o texto dentro do desenho fica pequeno para sala grande, então ele não serve para ensinar as peças. Serve para fechar, e para a plateia reconhecer a figura quando abrir o artigo.</a:t>
            </a:r>
            <a:endParaRPr/>
          </a:p>
        </p:txBody>
      </p:sp>
      <p:sp>
        <p:nvSpPr>
          <p:cNvPr id="512" name="Google Shape;512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1" name="Google Shape;521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[27 s] FALA O custo dos três caminhos, lado a lado. O ZeroLINC passa os 182 chamados em oito a vinte e oito segundos, com menos de três watt-hora: pela tarifa média brasileira, seis centésimos de centavo de dólar, contra um a quase seis dólares por passagem na API, que ainda levava até três horas. Do SLM local nós não medimos custo nenhum, e é honesto dizer isso: o que se sabe é que hospedar de sete a setenta bilhões de parâmetros pede catorze a cento e quarenta gigabytes só para os pesos, muito acima dos nossos três watt-hora. A linha destacada é a que decide para muita organização.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 Watt-hora: energia, não potência; três watt-hora é o que uma lâmpada de LED gasta em algumas horas. Memória de vídeo, VRAM: a memória da placa gráfica, que limita qual modelo cabe na máquina. Passagem completa: uma passada por todos os chamados do corpus, que é a unidade em que o estudo de referência reporta o custo.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 A linha de custo tem unidades diferentes por coluna de propósito: o que cada caminho cobra é de natureza diferente, watt-hora de uma máquina que já existe, dólar recorrente de terceiro, e uma GPU que fica ligada. Eram seis telas, uma métrica por vez. Se perguntarem por que o tempo do local grande não está: o estudo de referência não reporta latência, só acurácia, e eu não vou estimar. O consumo do ZeroLINC foi medido na mesma máquina de todos os experimentos, com o medidor do próprio artefato.</a:t>
            </a:r>
            <a:endParaRPr/>
          </a:p>
        </p:txBody>
      </p:sp>
      <p:sp>
        <p:nvSpPr>
          <p:cNvPr id="522" name="Google Shape;522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8" name="Google Shape;558;p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[27 s] FALA Os limites, e prefiro dizê-los eu. Passar de noventa exige chamados já rotulados. Não é afirmação de transferência: referência e teste vêm do mesmo fluxo, e a acurácia se apoia em formatos que se repetem ali. A comparação com o estudo anterior é de faixa, porque amostra e métrica diferem. E o corpus é de um ecossistema só. Antes de valer para outra equipe, tem de ser medido lá.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 Transferência, transfer: um resultado obtido em um contexto valer em outro sem nova medição. Fluxo operacional: a origem dos chamados, com as ferramentas e os formatos daquela equipe. Métrica: concordância com especialista e acurácia sobre rótulo consolidado não são a mesma coisa. Bilíngue: o corpus tem chamados em português e em inglês, o que interage com a escolha de redação da categoria. Chamados sem anexo: a evidência que faltava na tentativa de intrusão limita o recall de qualquer classificador de conteúdo, LLM incluída.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 Os 89 do experimento não entram nesta tela de propósito: são a metade de validação do protocolo, não um requisito da ferramenta, e citá-los aqui faria parecer que existe um número mágico de rótulos a atingir. A quarta é a que eu mais quero que a plateia leve: a ferramenta existe justamente para que outra equipe consiga medir no próprio tráfego em uma tarde, com quarenta e cinco rótulos. O limite e a proposta de valor são a mesma frase. Execuções ao vivo do motor de memória variam um a dois pontos por divisão, por não determinismo de meia precisão na GPU. Eram quatro telas.</a:t>
            </a:r>
            <a:endParaRPr/>
          </a:p>
        </p:txBody>
      </p:sp>
      <p:sp>
        <p:nvSpPr>
          <p:cNvPr id="559" name="Google Shape;559;p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1" name="Google Shape;571;p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[14 s] FALA O Comitê Técnico de Artefatos avalia o artefato de cada trabalho aceito e concede até quatro selos. Este recebeu os quatro: os números que eu mostrei foram recomputados por outra pessoa, do zero, sem a minha ajuda.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 Artefatos Disponíveis: repositório público e estável, com documentação mínima ligando o artefato ao artigo. Artefatos Funcionais: o avaliador consegue instalar, executar e ver a funcionalidade descrita. Artefatos Sustentáveis: código modularizado, legível e documentado, a ponto de o avaliador achar no código as reivindicações do artigo. Experimentos Reprodutíveis: o avaliador recomputa os números do artigo a partir do repositório. CTA: Comitê Técnico de Artefatos do SBSeg.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 Em um Salão de Ferramentas os selos são a evidência mais forte que existe, porque atestam que a ferramenta roda na mão de outra pessoa. Dizer 'recomputados por outra pessoa, sem a minha ajuda' é mais concreto que listar os nomes dos selos, e é o que fica na cabeça da plateia.</a:t>
            </a:r>
            <a:endParaRPr/>
          </a:p>
        </p:txBody>
      </p:sp>
      <p:sp>
        <p:nvSpPr>
          <p:cNvPr id="572" name="Google Shape;572;p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3" name="Google Shape;583;p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[7 s] FALA Obrigado. Os três QR levam à ferramenta, ao repositório do benchmark e ao vídeo técnico. Fico à disposição.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RESERVA Catorze telas. As seis de sempre: o protocolo sem rótulo, a figura de arquitetura do artigo, acurácia e tempo por modelo, as oito redações em duas telas, e o regime de dados da memória. E oito que respondem ao que um revisor ataca: de que população é cada número; o corpus e as quatro categorias sem exemplo; o que é uma semente aqui; quanto custa chegar aos 90,8%; por que esse número ainda não transfere; a classe em que o zero-shot falha; por que congelar vence ajustar; e o que a comparação de custo vale.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 Benchmark: aqui é o repositório separado com a grade de 288 execuções, os registros e os scripts que recomputam as tabelas; a ferramenta é o outro repositório. Os QR foram gerados e validados por leitura em scripts/qr.py.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 A ilustração decorativa saiu deste slide para o e-mail caber no piso de conteúdo: em meia largura ele exigiria fonte menor, e endereço de contato ilegível é pior que slide sem arte. Os QR também cresceram de 1,10 para 1,30 polegada, porque QR pequeno projetado não é lido por celular do fundo da sala.</a:t>
            </a:r>
            <a:endParaRPr/>
          </a:p>
        </p:txBody>
      </p:sp>
      <p:sp>
        <p:nvSpPr>
          <p:cNvPr id="584" name="Google Shape;584;p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5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5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5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5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5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11" Type="http://schemas.openxmlformats.org/officeDocument/2006/relationships/image" Target="../media/image10.png"/><Relationship Id="rId10" Type="http://schemas.openxmlformats.org/officeDocument/2006/relationships/image" Target="../media/image4.png"/><Relationship Id="rId9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1.png"/><Relationship Id="rId8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5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1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Relationship Id="rId4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.png"/><Relationship Id="rId10" Type="http://schemas.openxmlformats.org/officeDocument/2006/relationships/image" Target="../media/image20.png"/><Relationship Id="rId13" Type="http://schemas.openxmlformats.org/officeDocument/2006/relationships/image" Target="../media/image19.png"/><Relationship Id="rId1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jp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5" Type="http://schemas.openxmlformats.org/officeDocument/2006/relationships/image" Target="../media/image1.png"/><Relationship Id="rId6" Type="http://schemas.openxmlformats.org/officeDocument/2006/relationships/image" Target="../media/image8.png"/><Relationship Id="rId7" Type="http://schemas.openxmlformats.org/officeDocument/2006/relationships/image" Target="../media/image22.png"/><Relationship Id="rId8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9171432" y="3840480"/>
            <a:ext cx="6035040" cy="6035040"/>
          </a:xfrm>
          <a:prstGeom prst="ellipse">
            <a:avLst/>
          </a:prstGeom>
          <a:noFill/>
          <a:ln cap="flat" cmpd="sng" w="19050">
            <a:solidFill>
              <a:srgbClr val="15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9902952" y="4572000"/>
            <a:ext cx="4572000" cy="4572000"/>
          </a:xfrm>
          <a:prstGeom prst="ellipse">
            <a:avLst/>
          </a:prstGeom>
          <a:noFill/>
          <a:ln cap="flat" cmpd="sng" w="19050">
            <a:solidFill>
              <a:srgbClr val="15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10634472" y="5303520"/>
            <a:ext cx="3108960" cy="3108960"/>
          </a:xfrm>
          <a:prstGeom prst="ellipse">
            <a:avLst/>
          </a:prstGeom>
          <a:noFill/>
          <a:ln cap="flat" cmpd="sng" w="19050">
            <a:solidFill>
              <a:srgbClr val="15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658368" y="438912"/>
            <a:ext cx="8366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7E8F9"/>
                </a:solidFill>
                <a:latin typeface="Inter"/>
                <a:ea typeface="Inter"/>
                <a:cs typeface="Inter"/>
                <a:sym typeface="Inter"/>
              </a:rPr>
              <a:t>SBSEG 2026  ·  BÚZIOS, RJ  ·  1 A 4 DE SETEMBRO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658368" y="1115568"/>
            <a:ext cx="8366760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ZeroLINC: Training-Free Local Classification of Security Incident Reports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658375" y="3520450"/>
            <a:ext cx="1063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Classificação local de incidentes, sem treinamento</a:t>
            </a:r>
            <a:endParaRPr/>
          </a:p>
        </p:txBody>
      </p:sp>
      <p:sp>
        <p:nvSpPr>
          <p:cNvPr id="93" name="Google Shape;93;p1"/>
          <p:cNvSpPr/>
          <p:nvPr/>
        </p:nvSpPr>
        <p:spPr>
          <a:xfrm>
            <a:off x="658368" y="4133087"/>
            <a:ext cx="14630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658368" y="4224528"/>
            <a:ext cx="1087221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Cristhian Kapelinski  ·  Beatriz Machado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Diego Kreutz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658368" y="5321808"/>
            <a:ext cx="10872216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CFFAFE"/>
                </a:solidFill>
                <a:latin typeface="Inter"/>
                <a:ea typeface="Inter"/>
                <a:cs typeface="Inter"/>
                <a:sym typeface="Inter"/>
              </a:rPr>
              <a:t>AI Horizon Labs  ·  UNIPAMPA</a:t>
            </a:r>
            <a:endParaRPr/>
          </a:p>
        </p:txBody>
      </p:sp>
      <p:pic>
        <p:nvPicPr>
          <p:cNvPr descr="disponiveis.png" id="96" name="Google Shape;9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89720" y="566928"/>
            <a:ext cx="502920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uncionais.png" id="97" name="Google Shape;9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02368" y="566928"/>
            <a:ext cx="502920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ustentaveis.png" id="98" name="Google Shape;9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15016" y="566928"/>
            <a:ext cx="502920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produziveis.png" id="99" name="Google Shape;99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27664" y="56692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"/>
          <p:cNvSpPr/>
          <p:nvPr/>
        </p:nvSpPr>
        <p:spPr>
          <a:xfrm>
            <a:off x="0" y="5961888"/>
            <a:ext cx="12191695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ihorizonlabs.png" id="101" name="Google Shape;101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368" y="6067044"/>
            <a:ext cx="2806065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pampa.png" id="102" name="Google Shape;102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967353" y="5998464"/>
            <a:ext cx="1249680" cy="822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seg2026.png" id="103" name="Google Shape;103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70724" y="6053328"/>
            <a:ext cx="1285826" cy="7132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ff.png" id="104" name="Google Shape;104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168031" y="6044183"/>
            <a:ext cx="712519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c.png" id="105" name="Google Shape;105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292030" y="6030468"/>
            <a:ext cx="503729" cy="758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111" name="Google Shape;11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"/>
          <p:cNvSpPr txBox="1"/>
          <p:nvPr/>
        </p:nvSpPr>
        <p:spPr>
          <a:xfrm>
            <a:off x="11265408" y="6364224"/>
            <a:ext cx="777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B12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731520" y="182880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55E75"/>
                </a:solidFill>
                <a:latin typeface="Inter"/>
                <a:ea typeface="Inter"/>
                <a:cs typeface="Inter"/>
                <a:sym typeface="Inter"/>
              </a:rPr>
              <a:t>ABERTURA</a:t>
            </a:r>
            <a:endParaRPr/>
          </a:p>
        </p:txBody>
      </p:sp>
      <p:sp>
        <p:nvSpPr>
          <p:cNvPr id="114" name="Google Shape;114;p2"/>
          <p:cNvSpPr/>
          <p:nvPr/>
        </p:nvSpPr>
        <p:spPr>
          <a:xfrm>
            <a:off x="749808" y="1554480"/>
            <a:ext cx="10698480" cy="18288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1078992" y="1554480"/>
            <a:ext cx="29260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00" u="none" cap="none" strike="noStrike">
                <a:solidFill>
                  <a:srgbClr val="155E7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274 mil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4315968" y="1554480"/>
            <a:ext cx="6821424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notificações de incidente</a:t>
            </a:r>
            <a:endParaRPr/>
          </a:p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no Brasil, 1º semestre de 2026</a:t>
            </a:r>
            <a:endParaRPr/>
          </a:p>
        </p:txBody>
      </p:sp>
      <p:sp>
        <p:nvSpPr>
          <p:cNvPr id="117" name="Google Shape;117;p2"/>
          <p:cNvSpPr/>
          <p:nvPr/>
        </p:nvSpPr>
        <p:spPr>
          <a:xfrm>
            <a:off x="749808" y="3703320"/>
            <a:ext cx="10698480" cy="18288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1078992" y="3703320"/>
            <a:ext cx="29260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00" u="none" cap="none" strike="noStrike">
                <a:solidFill>
                  <a:srgbClr val="B91C1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 a 4 h</a:t>
            </a:r>
            <a:endParaRPr/>
          </a:p>
        </p:txBody>
      </p:sp>
      <p:sp>
        <p:nvSpPr>
          <p:cNvPr id="119" name="Google Shape;119;p2"/>
          <p:cNvSpPr txBox="1"/>
          <p:nvPr/>
        </p:nvSpPr>
        <p:spPr>
          <a:xfrm>
            <a:off x="4315968" y="3703320"/>
            <a:ext cx="6821424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para menos de 200 chamados</a:t>
            </a:r>
            <a:endParaRPr/>
          </a:p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à mão, por analista, 2025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125" name="Google Shape;12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3"/>
          <p:cNvSpPr txBox="1"/>
          <p:nvPr/>
        </p:nvSpPr>
        <p:spPr>
          <a:xfrm>
            <a:off x="11265408" y="6364224"/>
            <a:ext cx="777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B12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/>
          </a:p>
        </p:txBody>
      </p:sp>
      <p:sp>
        <p:nvSpPr>
          <p:cNvPr id="127" name="Google Shape;127;p3"/>
          <p:cNvSpPr txBox="1"/>
          <p:nvPr/>
        </p:nvSpPr>
        <p:spPr>
          <a:xfrm>
            <a:off x="731520" y="182880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55E75"/>
                </a:solidFill>
                <a:latin typeface="Inter"/>
                <a:ea typeface="Inter"/>
                <a:cs typeface="Inter"/>
                <a:sym typeface="Inter"/>
              </a:rPr>
              <a:t>ESTADO DA ARTE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713232" y="512064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0B1220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Trabalhos relacionados</a:t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365760" y="1572768"/>
            <a:ext cx="2907791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55E75"/>
                </a:solidFill>
                <a:latin typeface="Inter"/>
                <a:ea typeface="Inter"/>
                <a:cs typeface="Inter"/>
                <a:sym typeface="Inter"/>
              </a:rPr>
              <a:t>Trabalho</a:t>
            </a:r>
            <a:endParaRPr/>
          </a:p>
        </p:txBody>
      </p:sp>
      <p:sp>
        <p:nvSpPr>
          <p:cNvPr id="130" name="Google Shape;130;p3"/>
          <p:cNvSpPr txBox="1"/>
          <p:nvPr/>
        </p:nvSpPr>
        <p:spPr>
          <a:xfrm>
            <a:off x="3383279" y="1572768"/>
            <a:ext cx="39593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55E75"/>
                </a:solidFill>
                <a:latin typeface="Inter"/>
                <a:ea typeface="Inter"/>
                <a:cs typeface="Inter"/>
                <a:sym typeface="Inter"/>
              </a:rPr>
              <a:t>Método</a:t>
            </a:r>
            <a:endParaRPr/>
          </a:p>
        </p:txBody>
      </p:sp>
      <p:sp>
        <p:nvSpPr>
          <p:cNvPr id="131" name="Google Shape;131;p3"/>
          <p:cNvSpPr txBox="1"/>
          <p:nvPr/>
        </p:nvSpPr>
        <p:spPr>
          <a:xfrm>
            <a:off x="7452360" y="1572768"/>
            <a:ext cx="13533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55E75"/>
                </a:solidFill>
                <a:latin typeface="Inter"/>
                <a:ea typeface="Inter"/>
                <a:cs typeface="Inter"/>
                <a:sym typeface="Inter"/>
              </a:rPr>
              <a:t>Local</a:t>
            </a:r>
            <a:endParaRPr/>
          </a:p>
        </p:txBody>
      </p:sp>
      <p:sp>
        <p:nvSpPr>
          <p:cNvPr id="132" name="Google Shape;132;p3"/>
          <p:cNvSpPr txBox="1"/>
          <p:nvPr/>
        </p:nvSpPr>
        <p:spPr>
          <a:xfrm>
            <a:off x="8915400" y="1572768"/>
            <a:ext cx="27980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55E75"/>
                </a:solidFill>
                <a:latin typeface="Inter"/>
                <a:ea typeface="Inter"/>
                <a:cs typeface="Inter"/>
                <a:sym typeface="Inter"/>
              </a:rPr>
              <a:t>Acurácia (n)</a:t>
            </a:r>
            <a:endParaRPr/>
          </a:p>
        </p:txBody>
      </p:sp>
      <p:sp>
        <p:nvSpPr>
          <p:cNvPr id="133" name="Google Shape;133;p3"/>
          <p:cNvSpPr/>
          <p:nvPr/>
        </p:nvSpPr>
        <p:spPr>
          <a:xfrm>
            <a:off x="365760" y="2066543"/>
            <a:ext cx="11347704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365760" y="2231136"/>
            <a:ext cx="2907791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Severo et al., 2025</a:t>
            </a:r>
            <a:endParaRPr/>
          </a:p>
        </p:txBody>
      </p:sp>
      <p:sp>
        <p:nvSpPr>
          <p:cNvPr id="135" name="Google Shape;135;p3"/>
          <p:cNvSpPr txBox="1"/>
          <p:nvPr/>
        </p:nvSpPr>
        <p:spPr>
          <a:xfrm>
            <a:off x="3383279" y="2231136"/>
            <a:ext cx="3959352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LLM comercial por API</a:t>
            </a:r>
            <a:endParaRPr/>
          </a:p>
        </p:txBody>
      </p:sp>
      <p:sp>
        <p:nvSpPr>
          <p:cNvPr id="136" name="Google Shape;136;p3"/>
          <p:cNvSpPr txBox="1"/>
          <p:nvPr/>
        </p:nvSpPr>
        <p:spPr>
          <a:xfrm>
            <a:off x="7452360" y="2231136"/>
            <a:ext cx="1353312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não</a:t>
            </a:r>
            <a:endParaRPr/>
          </a:p>
        </p:txBody>
      </p:sp>
      <p:sp>
        <p:nvSpPr>
          <p:cNvPr id="137" name="Google Shape;137;p3"/>
          <p:cNvSpPr txBox="1"/>
          <p:nvPr/>
        </p:nvSpPr>
        <p:spPr>
          <a:xfrm>
            <a:off x="8915400" y="2231136"/>
            <a:ext cx="279806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92,3% (194)</a:t>
            </a:r>
            <a:endParaRPr/>
          </a:p>
        </p:txBody>
      </p:sp>
      <p:sp>
        <p:nvSpPr>
          <p:cNvPr id="138" name="Google Shape;138;p3"/>
          <p:cNvSpPr txBox="1"/>
          <p:nvPr/>
        </p:nvSpPr>
        <p:spPr>
          <a:xfrm>
            <a:off x="365760" y="3557015"/>
            <a:ext cx="2907791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Almeida et al., 2025</a:t>
            </a:r>
            <a:endParaRPr/>
          </a:p>
        </p:txBody>
      </p:sp>
      <p:sp>
        <p:nvSpPr>
          <p:cNvPr id="139" name="Google Shape;139;p3"/>
          <p:cNvSpPr txBox="1"/>
          <p:nvPr/>
        </p:nvSpPr>
        <p:spPr>
          <a:xfrm>
            <a:off x="3383279" y="3557015"/>
            <a:ext cx="3959352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SLM local, 7 a 70B</a:t>
            </a:r>
            <a:endParaRPr/>
          </a:p>
        </p:txBody>
      </p:sp>
      <p:sp>
        <p:nvSpPr>
          <p:cNvPr id="140" name="Google Shape;140;p3"/>
          <p:cNvSpPr txBox="1"/>
          <p:nvPr/>
        </p:nvSpPr>
        <p:spPr>
          <a:xfrm>
            <a:off x="7452360" y="3557015"/>
            <a:ext cx="1353312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sim</a:t>
            </a:r>
            <a:endParaRPr/>
          </a:p>
        </p:txBody>
      </p:sp>
      <p:sp>
        <p:nvSpPr>
          <p:cNvPr id="141" name="Google Shape;141;p3"/>
          <p:cNvSpPr txBox="1"/>
          <p:nvPr/>
        </p:nvSpPr>
        <p:spPr>
          <a:xfrm>
            <a:off x="8915400" y="3557015"/>
            <a:ext cx="279806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~60% (24)</a:t>
            </a:r>
            <a:endParaRPr/>
          </a:p>
        </p:txBody>
      </p:sp>
      <p:sp>
        <p:nvSpPr>
          <p:cNvPr id="142" name="Google Shape;142;p3"/>
          <p:cNvSpPr/>
          <p:nvPr/>
        </p:nvSpPr>
        <p:spPr>
          <a:xfrm>
            <a:off x="201168" y="4800600"/>
            <a:ext cx="11567160" cy="1289304"/>
          </a:xfrm>
          <a:prstGeom prst="roundRect">
            <a:avLst>
              <a:gd fmla="val 22000" name="adj"/>
            </a:avLst>
          </a:prstGeom>
          <a:solidFill>
            <a:srgbClr val="CFF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 txBox="1"/>
          <p:nvPr/>
        </p:nvSpPr>
        <p:spPr>
          <a:xfrm>
            <a:off x="365760" y="4882896"/>
            <a:ext cx="2907791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ZeroLINC</a:t>
            </a:r>
            <a:endParaRPr/>
          </a:p>
        </p:txBody>
      </p:sp>
      <p:sp>
        <p:nvSpPr>
          <p:cNvPr id="144" name="Google Shape;144;p3"/>
          <p:cNvSpPr txBox="1"/>
          <p:nvPr/>
        </p:nvSpPr>
        <p:spPr>
          <a:xfrm>
            <a:off x="3383279" y="4882896"/>
            <a:ext cx="3959352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Zero-shot + memória, ≤ 0,6B</a:t>
            </a:r>
            <a:endParaRPr/>
          </a:p>
        </p:txBody>
      </p:sp>
      <p:sp>
        <p:nvSpPr>
          <p:cNvPr id="145" name="Google Shape;145;p3"/>
          <p:cNvSpPr txBox="1"/>
          <p:nvPr/>
        </p:nvSpPr>
        <p:spPr>
          <a:xfrm>
            <a:off x="7452360" y="4882896"/>
            <a:ext cx="1353312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sim</a:t>
            </a:r>
            <a:endParaRPr/>
          </a:p>
        </p:txBody>
      </p:sp>
      <p:sp>
        <p:nvSpPr>
          <p:cNvPr id="146" name="Google Shape;146;p3"/>
          <p:cNvSpPr txBox="1"/>
          <p:nvPr/>
        </p:nvSpPr>
        <p:spPr>
          <a:xfrm>
            <a:off x="8915400" y="4882896"/>
            <a:ext cx="279806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70,9% (182)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90,8% (93)</a:t>
            </a:r>
            <a:endParaRPr/>
          </a:p>
        </p:txBody>
      </p:sp>
      <p:sp>
        <p:nvSpPr>
          <p:cNvPr id="147" name="Google Shape;147;p3"/>
          <p:cNvSpPr/>
          <p:nvPr/>
        </p:nvSpPr>
        <p:spPr>
          <a:xfrm>
            <a:off x="365760" y="3493008"/>
            <a:ext cx="11347704" cy="41148"/>
          </a:xfrm>
          <a:prstGeom prst="rect">
            <a:avLst/>
          </a:prstGeom>
          <a:solidFill>
            <a:srgbClr val="3F738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365760" y="4818888"/>
            <a:ext cx="11347704" cy="41148"/>
          </a:xfrm>
          <a:prstGeom prst="rect">
            <a:avLst/>
          </a:prstGeom>
          <a:solidFill>
            <a:srgbClr val="3F738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3328415" y="1572768"/>
            <a:ext cx="41148" cy="4581144"/>
          </a:xfrm>
          <a:prstGeom prst="rect">
            <a:avLst/>
          </a:prstGeom>
          <a:solidFill>
            <a:srgbClr val="3F738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7397496" y="1572768"/>
            <a:ext cx="41148" cy="4581144"/>
          </a:xfrm>
          <a:prstGeom prst="rect">
            <a:avLst/>
          </a:prstGeom>
          <a:solidFill>
            <a:srgbClr val="3F738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8860536" y="1572768"/>
            <a:ext cx="41148" cy="4581144"/>
          </a:xfrm>
          <a:prstGeom prst="rect">
            <a:avLst/>
          </a:prstGeom>
          <a:solidFill>
            <a:srgbClr val="3F738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bseg2026_rodape_branco.png" id="158" name="Google Shape;15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4"/>
          <p:cNvSpPr txBox="1"/>
          <p:nvPr/>
        </p:nvSpPr>
        <p:spPr>
          <a:xfrm>
            <a:off x="11265408" y="6364224"/>
            <a:ext cx="777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/>
          </a:p>
        </p:txBody>
      </p:sp>
      <p:sp>
        <p:nvSpPr>
          <p:cNvPr id="160" name="Google Shape;160;p4"/>
          <p:cNvSpPr/>
          <p:nvPr/>
        </p:nvSpPr>
        <p:spPr>
          <a:xfrm>
            <a:off x="4160520" y="868680"/>
            <a:ext cx="7635240" cy="512064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g05_bancada_justo.jpg" id="161" name="Google Shape;16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34840" y="2035301"/>
            <a:ext cx="7086600" cy="2787396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4"/>
          <p:cNvSpPr txBox="1"/>
          <p:nvPr/>
        </p:nvSpPr>
        <p:spPr>
          <a:xfrm>
            <a:off x="777240" y="2240280"/>
            <a:ext cx="29260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/>
          </a:p>
        </p:txBody>
      </p:sp>
      <p:sp>
        <p:nvSpPr>
          <p:cNvPr id="163" name="Google Shape;163;p4"/>
          <p:cNvSpPr txBox="1"/>
          <p:nvPr/>
        </p:nvSpPr>
        <p:spPr>
          <a:xfrm>
            <a:off x="777240" y="3566160"/>
            <a:ext cx="3310128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Escolha do motor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169" name="Google Shape;16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5"/>
          <p:cNvSpPr txBox="1"/>
          <p:nvPr/>
        </p:nvSpPr>
        <p:spPr>
          <a:xfrm>
            <a:off x="11265408" y="6364224"/>
            <a:ext cx="777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B12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</a:t>
            </a:r>
            <a:endParaRPr/>
          </a:p>
        </p:txBody>
      </p:sp>
      <p:sp>
        <p:nvSpPr>
          <p:cNvPr id="171" name="Google Shape;171;p5"/>
          <p:cNvSpPr txBox="1"/>
          <p:nvPr/>
        </p:nvSpPr>
        <p:spPr>
          <a:xfrm>
            <a:off x="731520" y="182880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55E75"/>
                </a:solidFill>
                <a:latin typeface="Inter"/>
                <a:ea typeface="Inter"/>
                <a:cs typeface="Inter"/>
                <a:sym typeface="Inter"/>
              </a:rPr>
              <a:t>01 · ESCOLHA DO MOTOR</a:t>
            </a:r>
            <a:endParaRPr/>
          </a:p>
        </p:txBody>
      </p:sp>
      <p:sp>
        <p:nvSpPr>
          <p:cNvPr id="172" name="Google Shape;172;p5"/>
          <p:cNvSpPr txBox="1"/>
          <p:nvPr/>
        </p:nvSpPr>
        <p:spPr>
          <a:xfrm>
            <a:off x="713232" y="512064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0B1220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Configuração</a:t>
            </a:r>
            <a:endParaRPr/>
          </a:p>
        </p:txBody>
      </p:sp>
      <p:sp>
        <p:nvSpPr>
          <p:cNvPr id="173" name="Google Shape;173;p5"/>
          <p:cNvSpPr/>
          <p:nvPr/>
        </p:nvSpPr>
        <p:spPr>
          <a:xfrm>
            <a:off x="411480" y="1937512"/>
            <a:ext cx="201168" cy="20116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 txBox="1"/>
          <p:nvPr/>
        </p:nvSpPr>
        <p:spPr>
          <a:xfrm>
            <a:off x="886968" y="1783080"/>
            <a:ext cx="10908792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182 chamados reais de CSIRTs brasileiros</a:t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411480" y="2831592"/>
            <a:ext cx="201168" cy="20116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 txBox="1"/>
          <p:nvPr/>
        </p:nvSpPr>
        <p:spPr>
          <a:xfrm>
            <a:off x="886968" y="2677160"/>
            <a:ext cx="10908792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118 em exploração de vulnerabilidade (64,8%)</a:t>
            </a:r>
            <a:endParaRPr/>
          </a:p>
        </p:txBody>
      </p:sp>
      <p:sp>
        <p:nvSpPr>
          <p:cNvPr id="177" name="Google Shape;177;p5"/>
          <p:cNvSpPr/>
          <p:nvPr/>
        </p:nvSpPr>
        <p:spPr>
          <a:xfrm>
            <a:off x="411480" y="3725672"/>
            <a:ext cx="201168" cy="20116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 txBox="1"/>
          <p:nvPr/>
        </p:nvSpPr>
        <p:spPr>
          <a:xfrm>
            <a:off x="886968" y="3571240"/>
            <a:ext cx="10908792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Piso trivial: 64,8% de acurácia, macro-F1 10%</a:t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411480" y="4619751"/>
            <a:ext cx="201168" cy="20116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 txBox="1"/>
          <p:nvPr/>
        </p:nvSpPr>
        <p:spPr>
          <a:xfrm>
            <a:off x="886968" y="4465320"/>
            <a:ext cx="10908792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Escolhemos em 89, medimos nos outros 93</a:t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411480" y="5513831"/>
            <a:ext cx="201168" cy="20116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886968" y="5359400"/>
            <a:ext cx="10908792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288 execuções: 9 modelos, 8 redações, 4 vistas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188" name="Google Shape;18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6"/>
          <p:cNvSpPr txBox="1"/>
          <p:nvPr/>
        </p:nvSpPr>
        <p:spPr>
          <a:xfrm>
            <a:off x="11265408" y="6364224"/>
            <a:ext cx="777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B12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</a:t>
            </a:r>
            <a:endParaRPr/>
          </a:p>
        </p:txBody>
      </p:sp>
      <p:sp>
        <p:nvSpPr>
          <p:cNvPr id="190" name="Google Shape;190;p6"/>
          <p:cNvSpPr txBox="1"/>
          <p:nvPr/>
        </p:nvSpPr>
        <p:spPr>
          <a:xfrm>
            <a:off x="731520" y="182880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55E75"/>
                </a:solidFill>
                <a:latin typeface="Inter"/>
                <a:ea typeface="Inter"/>
                <a:cs typeface="Inter"/>
                <a:sym typeface="Inter"/>
              </a:rPr>
              <a:t>01 · ESCOLHA DO MOTOR</a:t>
            </a:r>
            <a:endParaRPr/>
          </a:p>
        </p:txBody>
      </p:sp>
      <p:sp>
        <p:nvSpPr>
          <p:cNvPr id="191" name="Google Shape;191;p6"/>
          <p:cNvSpPr txBox="1"/>
          <p:nvPr/>
        </p:nvSpPr>
        <p:spPr>
          <a:xfrm>
            <a:off x="713232" y="512064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0B1220"/>
                </a:solidFill>
                <a:latin typeface="Space Grotesk"/>
                <a:ea typeface="Space Grotesk"/>
                <a:cs typeface="Space Grotesk"/>
                <a:sym typeface="Space Grotesk"/>
              </a:rPr>
              <a:t>A mesma categoria, quatro jeitos</a:t>
            </a:r>
            <a:endParaRPr/>
          </a:p>
        </p:txBody>
      </p:sp>
      <p:sp>
        <p:nvSpPr>
          <p:cNvPr id="192" name="Google Shape;192;p6"/>
          <p:cNvSpPr txBox="1"/>
          <p:nvPr/>
        </p:nvSpPr>
        <p:spPr>
          <a:xfrm>
            <a:off x="365760" y="1572768"/>
            <a:ext cx="27706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55E75"/>
                </a:solidFill>
                <a:latin typeface="Inter"/>
                <a:ea typeface="Inter"/>
                <a:cs typeface="Inter"/>
                <a:sym typeface="Inter"/>
              </a:rPr>
              <a:t>Redação</a:t>
            </a:r>
            <a:endParaRPr/>
          </a:p>
        </p:txBody>
      </p:sp>
      <p:sp>
        <p:nvSpPr>
          <p:cNvPr id="193" name="Google Shape;193;p6"/>
          <p:cNvSpPr txBox="1"/>
          <p:nvPr/>
        </p:nvSpPr>
        <p:spPr>
          <a:xfrm>
            <a:off x="3246120" y="1572768"/>
            <a:ext cx="84673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55E75"/>
                </a:solidFill>
                <a:latin typeface="Inter"/>
                <a:ea typeface="Inter"/>
                <a:cs typeface="Inter"/>
                <a:sym typeface="Inter"/>
              </a:rPr>
              <a:t>Como a categoria é escrita</a:t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365760" y="2066543"/>
            <a:ext cx="11347704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 txBox="1"/>
          <p:nvPr/>
        </p:nvSpPr>
        <p:spPr>
          <a:xfrm>
            <a:off x="365760" y="2231136"/>
            <a:ext cx="2770632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en-name</a:t>
            </a:r>
            <a:endParaRPr/>
          </a:p>
        </p:txBody>
      </p:sp>
      <p:sp>
        <p:nvSpPr>
          <p:cNvPr id="196" name="Google Shape;196;p6"/>
          <p:cNvSpPr txBox="1"/>
          <p:nvPr/>
        </p:nvSpPr>
        <p:spPr>
          <a:xfrm>
            <a:off x="3246120" y="2231136"/>
            <a:ext cx="8467344" cy="859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o nome: “Comprometimento de conta”</a:t>
            </a:r>
            <a:endParaRPr/>
          </a:p>
        </p:txBody>
      </p:sp>
      <p:sp>
        <p:nvSpPr>
          <p:cNvPr id="197" name="Google Shape;197;p6"/>
          <p:cNvSpPr txBox="1"/>
          <p:nvPr/>
        </p:nvSpPr>
        <p:spPr>
          <a:xfrm>
            <a:off x="365760" y="3145536"/>
            <a:ext cx="2770632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en-desc</a:t>
            </a:r>
            <a:endParaRPr/>
          </a:p>
        </p:txBody>
      </p:sp>
      <p:sp>
        <p:nvSpPr>
          <p:cNvPr id="198" name="Google Shape;198;p6"/>
          <p:cNvSpPr txBox="1"/>
          <p:nvPr/>
        </p:nvSpPr>
        <p:spPr>
          <a:xfrm>
            <a:off x="3246120" y="3145536"/>
            <a:ext cx="846734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descrição: “Acesso não autorizado”</a:t>
            </a:r>
            <a:endParaRPr/>
          </a:p>
        </p:txBody>
      </p:sp>
      <p:sp>
        <p:nvSpPr>
          <p:cNvPr id="199" name="Google Shape;199;p6"/>
          <p:cNvSpPr txBox="1"/>
          <p:nvPr/>
        </p:nvSpPr>
        <p:spPr>
          <a:xfrm>
            <a:off x="365760" y="4059935"/>
            <a:ext cx="2770632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en-desc-kw</a:t>
            </a:r>
            <a:endParaRPr/>
          </a:p>
        </p:txBody>
      </p:sp>
      <p:sp>
        <p:nvSpPr>
          <p:cNvPr id="200" name="Google Shape;200;p6"/>
          <p:cNvSpPr txBox="1"/>
          <p:nvPr/>
        </p:nvSpPr>
        <p:spPr>
          <a:xfrm>
            <a:off x="3246120" y="4059935"/>
            <a:ext cx="846734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+ termos: “...senha, credencial, login”</a:t>
            </a:r>
            <a:endParaRPr/>
          </a:p>
        </p:txBody>
      </p:sp>
      <p:sp>
        <p:nvSpPr>
          <p:cNvPr id="201" name="Google Shape;201;p6"/>
          <p:cNvSpPr txBox="1"/>
          <p:nvPr/>
        </p:nvSpPr>
        <p:spPr>
          <a:xfrm>
            <a:off x="365760" y="4974336"/>
            <a:ext cx="2770632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en-event</a:t>
            </a:r>
            <a:endParaRPr/>
          </a:p>
        </p:txBody>
      </p:sp>
      <p:sp>
        <p:nvSpPr>
          <p:cNvPr id="202" name="Google Shape;202;p6"/>
          <p:cNvSpPr txBox="1"/>
          <p:nvPr/>
        </p:nvSpPr>
        <p:spPr>
          <a:xfrm>
            <a:off x="3246120" y="4974336"/>
            <a:ext cx="846734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evento: “Um atacante obteve acesso”</a:t>
            </a:r>
            <a:endParaRPr/>
          </a:p>
        </p:txBody>
      </p:sp>
      <p:sp>
        <p:nvSpPr>
          <p:cNvPr id="203" name="Google Shape;203;p6"/>
          <p:cNvSpPr/>
          <p:nvPr/>
        </p:nvSpPr>
        <p:spPr>
          <a:xfrm>
            <a:off x="365760" y="3081528"/>
            <a:ext cx="11347704" cy="41148"/>
          </a:xfrm>
          <a:prstGeom prst="rect">
            <a:avLst/>
          </a:prstGeom>
          <a:solidFill>
            <a:srgbClr val="3F738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365760" y="3995927"/>
            <a:ext cx="11347704" cy="41148"/>
          </a:xfrm>
          <a:prstGeom prst="rect">
            <a:avLst/>
          </a:prstGeom>
          <a:solidFill>
            <a:srgbClr val="3F738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365760" y="4910327"/>
            <a:ext cx="11347704" cy="41148"/>
          </a:xfrm>
          <a:prstGeom prst="rect">
            <a:avLst/>
          </a:prstGeom>
          <a:solidFill>
            <a:srgbClr val="3F738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3191256" y="1572768"/>
            <a:ext cx="41148" cy="4261104"/>
          </a:xfrm>
          <a:prstGeom prst="rect">
            <a:avLst/>
          </a:prstGeom>
          <a:solidFill>
            <a:srgbClr val="3F738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212" name="Google Shape;21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7"/>
          <p:cNvSpPr txBox="1"/>
          <p:nvPr/>
        </p:nvSpPr>
        <p:spPr>
          <a:xfrm>
            <a:off x="11265408" y="6364224"/>
            <a:ext cx="777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B12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07</a:t>
            </a:r>
            <a:endParaRPr/>
          </a:p>
        </p:txBody>
      </p:sp>
      <p:sp>
        <p:nvSpPr>
          <p:cNvPr id="214" name="Google Shape;214;p7"/>
          <p:cNvSpPr txBox="1"/>
          <p:nvPr/>
        </p:nvSpPr>
        <p:spPr>
          <a:xfrm>
            <a:off x="731520" y="182880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55E75"/>
                </a:solidFill>
                <a:latin typeface="Inter"/>
                <a:ea typeface="Inter"/>
                <a:cs typeface="Inter"/>
                <a:sym typeface="Inter"/>
              </a:rPr>
              <a:t>01 · ESCOLHA DO MOTOR</a:t>
            </a:r>
            <a:endParaRPr/>
          </a:p>
        </p:txBody>
      </p:sp>
      <p:sp>
        <p:nvSpPr>
          <p:cNvPr id="215" name="Google Shape;215;p7"/>
          <p:cNvSpPr txBox="1"/>
          <p:nvPr/>
        </p:nvSpPr>
        <p:spPr>
          <a:xfrm>
            <a:off x="713232" y="512064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0B1220"/>
                </a:solidFill>
                <a:latin typeface="Space Grotesk"/>
                <a:ea typeface="Space Grotesk"/>
                <a:cs typeface="Space Grotesk"/>
                <a:sym typeface="Space Grotesk"/>
              </a:rPr>
              <a:t>As quatro vistas do chamado</a:t>
            </a:r>
            <a:endParaRPr/>
          </a:p>
        </p:txBody>
      </p:sp>
      <p:sp>
        <p:nvSpPr>
          <p:cNvPr id="216" name="Google Shape;216;p7"/>
          <p:cNvSpPr txBox="1"/>
          <p:nvPr/>
        </p:nvSpPr>
        <p:spPr>
          <a:xfrm>
            <a:off x="365760" y="1572768"/>
            <a:ext cx="37307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55E75"/>
                </a:solidFill>
                <a:latin typeface="Inter"/>
                <a:ea typeface="Inter"/>
                <a:cs typeface="Inter"/>
                <a:sym typeface="Inter"/>
              </a:rPr>
              <a:t>Vista</a:t>
            </a:r>
            <a:endParaRPr/>
          </a:p>
        </p:txBody>
      </p:sp>
      <p:sp>
        <p:nvSpPr>
          <p:cNvPr id="217" name="Google Shape;217;p7"/>
          <p:cNvSpPr txBox="1"/>
          <p:nvPr/>
        </p:nvSpPr>
        <p:spPr>
          <a:xfrm>
            <a:off x="4206240" y="1572768"/>
            <a:ext cx="75072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55E75"/>
                </a:solidFill>
                <a:latin typeface="Inter"/>
                <a:ea typeface="Inter"/>
                <a:cs typeface="Inter"/>
                <a:sym typeface="Inter"/>
              </a:rPr>
              <a:t>O que o modelo lê</a:t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365760" y="2066543"/>
            <a:ext cx="11347704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 txBox="1"/>
          <p:nvPr/>
        </p:nvSpPr>
        <p:spPr>
          <a:xfrm>
            <a:off x="365760" y="2231136"/>
            <a:ext cx="3730752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Texto inteiro</a:t>
            </a:r>
            <a:endParaRPr/>
          </a:p>
        </p:txBody>
      </p:sp>
      <p:sp>
        <p:nvSpPr>
          <p:cNvPr id="220" name="Google Shape;220;p7"/>
          <p:cNvSpPr txBox="1"/>
          <p:nvPr/>
        </p:nvSpPr>
        <p:spPr>
          <a:xfrm>
            <a:off x="4206240" y="2231136"/>
            <a:ext cx="750722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como o chamado veio</a:t>
            </a:r>
            <a:endParaRPr/>
          </a:p>
        </p:txBody>
      </p:sp>
      <p:sp>
        <p:nvSpPr>
          <p:cNvPr id="221" name="Google Shape;221;p7"/>
          <p:cNvSpPr txBox="1"/>
          <p:nvPr/>
        </p:nvSpPr>
        <p:spPr>
          <a:xfrm>
            <a:off x="365760" y="3145536"/>
            <a:ext cx="3730752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Assunto à frente</a:t>
            </a:r>
            <a:endParaRPr/>
          </a:p>
        </p:txBody>
      </p:sp>
      <p:sp>
        <p:nvSpPr>
          <p:cNvPr id="222" name="Google Shape;222;p7"/>
          <p:cNvSpPr txBox="1"/>
          <p:nvPr/>
        </p:nvSpPr>
        <p:spPr>
          <a:xfrm>
            <a:off x="4206240" y="3145536"/>
            <a:ext cx="750722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o assunto copiado para o começo</a:t>
            </a:r>
            <a:endParaRPr/>
          </a:p>
        </p:txBody>
      </p:sp>
      <p:sp>
        <p:nvSpPr>
          <p:cNvPr id="223" name="Google Shape;223;p7"/>
          <p:cNvSpPr txBox="1"/>
          <p:nvPr/>
        </p:nvSpPr>
        <p:spPr>
          <a:xfrm>
            <a:off x="365760" y="4059935"/>
            <a:ext cx="3730752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Sem repetição</a:t>
            </a:r>
            <a:endParaRPr/>
          </a:p>
        </p:txBody>
      </p:sp>
      <p:sp>
        <p:nvSpPr>
          <p:cNvPr id="224" name="Google Shape;224;p7"/>
          <p:cNvSpPr txBox="1"/>
          <p:nvPr/>
        </p:nvSpPr>
        <p:spPr>
          <a:xfrm>
            <a:off x="4206240" y="4059935"/>
            <a:ext cx="750722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fora o que se repete no corpus</a:t>
            </a:r>
            <a:endParaRPr/>
          </a:p>
        </p:txBody>
      </p:sp>
      <p:sp>
        <p:nvSpPr>
          <p:cNvPr id="225" name="Google Shape;225;p7"/>
          <p:cNvSpPr txBox="1"/>
          <p:nvPr/>
        </p:nvSpPr>
        <p:spPr>
          <a:xfrm>
            <a:off x="365760" y="4974336"/>
            <a:ext cx="3730752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As duas juntas</a:t>
            </a:r>
            <a:endParaRPr/>
          </a:p>
        </p:txBody>
      </p:sp>
      <p:sp>
        <p:nvSpPr>
          <p:cNvPr id="226" name="Google Shape;226;p7"/>
          <p:cNvSpPr txBox="1"/>
          <p:nvPr/>
        </p:nvSpPr>
        <p:spPr>
          <a:xfrm>
            <a:off x="4206240" y="4974336"/>
            <a:ext cx="750722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assunto à frente e sem repetição</a:t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365760" y="3081528"/>
            <a:ext cx="11347704" cy="41148"/>
          </a:xfrm>
          <a:prstGeom prst="rect">
            <a:avLst/>
          </a:prstGeom>
          <a:solidFill>
            <a:srgbClr val="3F738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365760" y="3995927"/>
            <a:ext cx="11347704" cy="41148"/>
          </a:xfrm>
          <a:prstGeom prst="rect">
            <a:avLst/>
          </a:prstGeom>
          <a:solidFill>
            <a:srgbClr val="3F738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365760" y="4910327"/>
            <a:ext cx="11347704" cy="41148"/>
          </a:xfrm>
          <a:prstGeom prst="rect">
            <a:avLst/>
          </a:prstGeom>
          <a:solidFill>
            <a:srgbClr val="3F738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4151376" y="1572768"/>
            <a:ext cx="41148" cy="4261104"/>
          </a:xfrm>
          <a:prstGeom prst="rect">
            <a:avLst/>
          </a:prstGeom>
          <a:solidFill>
            <a:srgbClr val="3F738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236" name="Google Shape;23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8"/>
          <p:cNvSpPr txBox="1"/>
          <p:nvPr/>
        </p:nvSpPr>
        <p:spPr>
          <a:xfrm>
            <a:off x="11265408" y="6364224"/>
            <a:ext cx="777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B12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</a:t>
            </a:r>
            <a:endParaRPr/>
          </a:p>
        </p:txBody>
      </p:sp>
      <p:sp>
        <p:nvSpPr>
          <p:cNvPr id="238" name="Google Shape;238;p8"/>
          <p:cNvSpPr txBox="1"/>
          <p:nvPr/>
        </p:nvSpPr>
        <p:spPr>
          <a:xfrm>
            <a:off x="731520" y="182880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55E75"/>
                </a:solidFill>
                <a:latin typeface="Inter"/>
                <a:ea typeface="Inter"/>
                <a:cs typeface="Inter"/>
                <a:sym typeface="Inter"/>
              </a:rPr>
              <a:t>01 · ESCOLHA DO MOTOR</a:t>
            </a:r>
            <a:endParaRPr/>
          </a:p>
        </p:txBody>
      </p:sp>
      <p:sp>
        <p:nvSpPr>
          <p:cNvPr id="239" name="Google Shape;239;p8"/>
          <p:cNvSpPr txBox="1"/>
          <p:nvPr/>
        </p:nvSpPr>
        <p:spPr>
          <a:xfrm>
            <a:off x="713232" y="512064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0B1220"/>
                </a:solidFill>
                <a:latin typeface="Space Grotesk"/>
                <a:ea typeface="Space Grotesk"/>
                <a:cs typeface="Space Grotesk"/>
                <a:sym typeface="Space Grotesk"/>
              </a:rPr>
              <a:t>A redação pesa mais que o modelo</a:t>
            </a:r>
            <a:endParaRPr/>
          </a:p>
        </p:txBody>
      </p:sp>
      <p:pic>
        <p:nvPicPr>
          <p:cNvPr descr="fig_grid_acc.png" id="240" name="Google Shape;24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107" y="1664208"/>
            <a:ext cx="11841480" cy="3121122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8"/>
          <p:cNvSpPr/>
          <p:nvPr/>
        </p:nvSpPr>
        <p:spPr>
          <a:xfrm>
            <a:off x="1737360" y="1709928"/>
            <a:ext cx="72694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Acurácia (%) por modelo × redação da categoria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247" name="Google Shape;24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9"/>
          <p:cNvSpPr txBox="1"/>
          <p:nvPr/>
        </p:nvSpPr>
        <p:spPr>
          <a:xfrm>
            <a:off x="11265408" y="6364224"/>
            <a:ext cx="777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B12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09</a:t>
            </a:r>
            <a:endParaRPr/>
          </a:p>
        </p:txBody>
      </p:sp>
      <p:sp>
        <p:nvSpPr>
          <p:cNvPr id="249" name="Google Shape;249;p9"/>
          <p:cNvSpPr txBox="1"/>
          <p:nvPr/>
        </p:nvSpPr>
        <p:spPr>
          <a:xfrm>
            <a:off x="731520" y="182880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55E75"/>
                </a:solidFill>
                <a:latin typeface="Inter"/>
                <a:ea typeface="Inter"/>
                <a:cs typeface="Inter"/>
                <a:sym typeface="Inter"/>
              </a:rPr>
              <a:t>01 · ESCOLHA DO MOTOR</a:t>
            </a:r>
            <a:endParaRPr/>
          </a:p>
        </p:txBody>
      </p:sp>
      <p:sp>
        <p:nvSpPr>
          <p:cNvPr id="250" name="Google Shape;250;p9"/>
          <p:cNvSpPr txBox="1"/>
          <p:nvPr/>
        </p:nvSpPr>
        <p:spPr>
          <a:xfrm>
            <a:off x="713232" y="512064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0B1220"/>
                </a:solidFill>
                <a:latin typeface="Space Grotesk"/>
                <a:ea typeface="Space Grotesk"/>
                <a:cs typeface="Space Grotesk"/>
                <a:sym typeface="Space Grotesk"/>
              </a:rPr>
              <a:t>O mesmo modelo, 62 pontos</a:t>
            </a:r>
            <a:endParaRPr/>
          </a:p>
        </p:txBody>
      </p:sp>
      <p:pic>
        <p:nvPicPr>
          <p:cNvPr descr="fig_grid_acc.png" id="251" name="Google Shape;25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107" y="1664208"/>
            <a:ext cx="11841480" cy="3121122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9"/>
          <p:cNvSpPr/>
          <p:nvPr/>
        </p:nvSpPr>
        <p:spPr>
          <a:xfrm>
            <a:off x="1737360" y="1709928"/>
            <a:ext cx="72694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Acurácia (%) por modelo × redação da categoria</a:t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173736" y="2809768"/>
            <a:ext cx="11841480" cy="332475"/>
          </a:xfrm>
          <a:prstGeom prst="roundRect">
            <a:avLst>
              <a:gd fmla="val 14000" name="adj"/>
            </a:avLst>
          </a:prstGeom>
          <a:noFill/>
          <a:ln cap="flat" cmpd="sng" w="76200">
            <a:solidFill>
              <a:srgbClr val="E548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246888" y="3291840"/>
            <a:ext cx="11704320" cy="981456"/>
          </a:xfrm>
          <a:prstGeom prst="roundRect">
            <a:avLst>
              <a:gd fmla="val 12000" name="adj"/>
            </a:avLst>
          </a:prstGeom>
          <a:solidFill>
            <a:srgbClr val="0B12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5788152" y="3017520"/>
            <a:ext cx="493776" cy="292608"/>
          </a:xfrm>
          <a:prstGeom prst="triangle">
            <a:avLst>
              <a:gd fmla="val 50000" name="adj"/>
            </a:avLst>
          </a:prstGeom>
          <a:solidFill>
            <a:srgbClr val="0B12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 txBox="1"/>
          <p:nvPr/>
        </p:nvSpPr>
        <p:spPr>
          <a:xfrm>
            <a:off x="566928" y="3401568"/>
            <a:ext cx="1106424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70,9% na melhor redação, 8,8% na pior</a:t>
            </a: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365760" y="4809744"/>
            <a:ext cx="5212080" cy="749808"/>
          </a:xfrm>
          <a:prstGeom prst="roundRect">
            <a:avLst>
              <a:gd fmla="val 10000" name="adj"/>
            </a:avLst>
          </a:prstGeom>
          <a:solidFill>
            <a:srgbClr val="0D36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 txBox="1"/>
          <p:nvPr/>
        </p:nvSpPr>
        <p:spPr>
          <a:xfrm>
            <a:off x="365760" y="4846320"/>
            <a:ext cx="52120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70,9%</a:t>
            </a:r>
            <a:endParaRPr/>
          </a:p>
        </p:txBody>
      </p:sp>
      <p:sp>
        <p:nvSpPr>
          <p:cNvPr id="259" name="Google Shape;259;p9"/>
          <p:cNvSpPr txBox="1"/>
          <p:nvPr/>
        </p:nvSpPr>
        <p:spPr>
          <a:xfrm>
            <a:off x="365760" y="5632704"/>
            <a:ext cx="5212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en-desc-kw · a melhor</a:t>
            </a: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6245352" y="4809744"/>
            <a:ext cx="5212080" cy="749808"/>
          </a:xfrm>
          <a:prstGeom prst="roundRect">
            <a:avLst>
              <a:gd fmla="val 10000" name="adj"/>
            </a:avLst>
          </a:prstGeom>
          <a:solidFill>
            <a:srgbClr val="ABCC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 txBox="1"/>
          <p:nvPr/>
        </p:nvSpPr>
        <p:spPr>
          <a:xfrm>
            <a:off x="6245352" y="4846320"/>
            <a:ext cx="52120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0B12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8,8%</a:t>
            </a:r>
            <a:endParaRPr/>
          </a:p>
        </p:txBody>
      </p:sp>
      <p:sp>
        <p:nvSpPr>
          <p:cNvPr id="262" name="Google Shape;262;p9"/>
          <p:cNvSpPr txBox="1"/>
          <p:nvPr/>
        </p:nvSpPr>
        <p:spPr>
          <a:xfrm>
            <a:off x="6245352" y="5632704"/>
            <a:ext cx="5212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pt-name · a pior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268" name="Google Shape;26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1"/>
          <p:cNvSpPr txBox="1"/>
          <p:nvPr/>
        </p:nvSpPr>
        <p:spPr>
          <a:xfrm>
            <a:off x="11265408" y="6364224"/>
            <a:ext cx="777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B12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11</a:t>
            </a:r>
            <a:endParaRPr/>
          </a:p>
        </p:txBody>
      </p:sp>
      <p:sp>
        <p:nvSpPr>
          <p:cNvPr id="270" name="Google Shape;270;p11"/>
          <p:cNvSpPr txBox="1"/>
          <p:nvPr/>
        </p:nvSpPr>
        <p:spPr>
          <a:xfrm>
            <a:off x="731520" y="182880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55E75"/>
                </a:solidFill>
                <a:latin typeface="Inter"/>
                <a:ea typeface="Inter"/>
                <a:cs typeface="Inter"/>
                <a:sym typeface="Inter"/>
              </a:rPr>
              <a:t>01 · ESCOLHA DO MOTOR</a:t>
            </a:r>
            <a:endParaRPr/>
          </a:p>
        </p:txBody>
      </p:sp>
      <p:sp>
        <p:nvSpPr>
          <p:cNvPr id="271" name="Google Shape;271;p11"/>
          <p:cNvSpPr txBox="1"/>
          <p:nvPr/>
        </p:nvSpPr>
        <p:spPr>
          <a:xfrm>
            <a:off x="713232" y="512064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0B1220"/>
                </a:solidFill>
                <a:latin typeface="Space Grotesk"/>
                <a:ea typeface="Space Grotesk"/>
                <a:cs typeface="Space Grotesk"/>
                <a:sym typeface="Space Grotesk"/>
              </a:rPr>
              <a:t>Motor zero-shot</a:t>
            </a:r>
            <a:endParaRPr/>
          </a:p>
        </p:txBody>
      </p:sp>
      <p:sp>
        <p:nvSpPr>
          <p:cNvPr id="272" name="Google Shape;272;p11"/>
          <p:cNvSpPr/>
          <p:nvPr/>
        </p:nvSpPr>
        <p:spPr>
          <a:xfrm>
            <a:off x="367123" y="1718067"/>
            <a:ext cx="201300" cy="2013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 txBox="1"/>
          <p:nvPr/>
        </p:nvSpPr>
        <p:spPr>
          <a:xfrm>
            <a:off x="842610" y="1563635"/>
            <a:ext cx="1098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Padrão GLiClass-modern-base: 67,0% em 8 s</a:t>
            </a: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367123" y="2612147"/>
            <a:ext cx="201300" cy="2013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 txBox="1"/>
          <p:nvPr/>
        </p:nvSpPr>
        <p:spPr>
          <a:xfrm>
            <a:off x="842610" y="2457715"/>
            <a:ext cx="1098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Máxima acurácia DeBERTa-v3-large: 70,9%, 56 s</a:t>
            </a: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367123" y="3506226"/>
            <a:ext cx="201300" cy="2013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 txBox="1"/>
          <p:nvPr/>
        </p:nvSpPr>
        <p:spPr>
          <a:xfrm>
            <a:off x="842610" y="3351795"/>
            <a:ext cx="1098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No corpus inteiro, macro-F1 de 54% contra 10%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283" name="Google Shape;28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2"/>
          <p:cNvSpPr txBox="1"/>
          <p:nvPr/>
        </p:nvSpPr>
        <p:spPr>
          <a:xfrm>
            <a:off x="11265408" y="6364224"/>
            <a:ext cx="777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B12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12</a:t>
            </a:r>
            <a:endParaRPr/>
          </a:p>
        </p:txBody>
      </p:sp>
      <p:sp>
        <p:nvSpPr>
          <p:cNvPr id="285" name="Google Shape;285;p12"/>
          <p:cNvSpPr txBox="1"/>
          <p:nvPr/>
        </p:nvSpPr>
        <p:spPr>
          <a:xfrm>
            <a:off x="731520" y="182880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55E75"/>
                </a:solidFill>
                <a:latin typeface="Inter"/>
                <a:ea typeface="Inter"/>
                <a:cs typeface="Inter"/>
                <a:sym typeface="Inter"/>
              </a:rPr>
              <a:t>01 · ESCOLHA DO MOTOR</a:t>
            </a:r>
            <a:endParaRPr/>
          </a:p>
        </p:txBody>
      </p:sp>
      <p:sp>
        <p:nvSpPr>
          <p:cNvPr id="286" name="Google Shape;286;p12"/>
          <p:cNvSpPr txBox="1"/>
          <p:nvPr/>
        </p:nvSpPr>
        <p:spPr>
          <a:xfrm>
            <a:off x="713232" y="512064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0B1220"/>
                </a:solidFill>
                <a:latin typeface="Space Grotesk"/>
                <a:ea typeface="Space Grotesk"/>
                <a:cs typeface="Space Grotesk"/>
                <a:sym typeface="Space Grotesk"/>
              </a:rPr>
              <a:t>Um rótulo cobre o formato inteiro</a:t>
            </a:r>
            <a:endParaRPr/>
          </a:p>
        </p:txBody>
      </p:sp>
      <p:sp>
        <p:nvSpPr>
          <p:cNvPr id="287" name="Google Shape;287;p12"/>
          <p:cNvSpPr txBox="1"/>
          <p:nvPr/>
        </p:nvSpPr>
        <p:spPr>
          <a:xfrm>
            <a:off x="365760" y="1316736"/>
            <a:ext cx="11457432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CAT5 é exploração; CAT12, tentativa de intrusão</a:t>
            </a:r>
            <a:endParaRPr/>
          </a:p>
        </p:txBody>
      </p:sp>
      <p:pic>
        <p:nvPicPr>
          <p:cNvPr descr="latent_space_3d_cortado.gif" id="288" name="Google Shape;28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68849" y="1755648"/>
            <a:ext cx="5251868" cy="49194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294" name="Google Shape;2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3"/>
          <p:cNvSpPr txBox="1"/>
          <p:nvPr/>
        </p:nvSpPr>
        <p:spPr>
          <a:xfrm>
            <a:off x="11265408" y="6364224"/>
            <a:ext cx="777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B12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13</a:t>
            </a:r>
            <a:endParaRPr/>
          </a:p>
        </p:txBody>
      </p:sp>
      <p:sp>
        <p:nvSpPr>
          <p:cNvPr id="296" name="Google Shape;296;p13"/>
          <p:cNvSpPr txBox="1"/>
          <p:nvPr/>
        </p:nvSpPr>
        <p:spPr>
          <a:xfrm>
            <a:off x="731520" y="182880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55E75"/>
                </a:solidFill>
                <a:latin typeface="Inter"/>
                <a:ea typeface="Inter"/>
                <a:cs typeface="Inter"/>
                <a:sym typeface="Inter"/>
              </a:rPr>
              <a:t>01 · ESCOLHA DO MOTOR</a:t>
            </a:r>
            <a:endParaRPr/>
          </a:p>
        </p:txBody>
      </p:sp>
      <p:sp>
        <p:nvSpPr>
          <p:cNvPr id="297" name="Google Shape;297;p13"/>
          <p:cNvSpPr txBox="1"/>
          <p:nvPr/>
        </p:nvSpPr>
        <p:spPr>
          <a:xfrm>
            <a:off x="713232" y="512064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0B1220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 89 chamados rotulados</a:t>
            </a:r>
            <a:endParaRPr/>
          </a:p>
        </p:txBody>
      </p:sp>
      <p:sp>
        <p:nvSpPr>
          <p:cNvPr id="298" name="Google Shape;298;p13"/>
          <p:cNvSpPr txBox="1"/>
          <p:nvPr/>
        </p:nvSpPr>
        <p:spPr>
          <a:xfrm>
            <a:off x="365760" y="1481328"/>
            <a:ext cx="46451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55E75"/>
                </a:solidFill>
                <a:latin typeface="Inter"/>
                <a:ea typeface="Inter"/>
                <a:cs typeface="Inter"/>
                <a:sym typeface="Inter"/>
              </a:rPr>
              <a:t>Sistema</a:t>
            </a:r>
            <a:endParaRPr/>
          </a:p>
        </p:txBody>
      </p:sp>
      <p:sp>
        <p:nvSpPr>
          <p:cNvPr id="299" name="Google Shape;299;p13"/>
          <p:cNvSpPr txBox="1"/>
          <p:nvPr/>
        </p:nvSpPr>
        <p:spPr>
          <a:xfrm>
            <a:off x="5120640" y="1481328"/>
            <a:ext cx="2221991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55E75"/>
                </a:solidFill>
                <a:latin typeface="Inter"/>
                <a:ea typeface="Inter"/>
                <a:cs typeface="Inter"/>
                <a:sym typeface="Inter"/>
              </a:rPr>
              <a:t>Acurácia</a:t>
            </a:r>
            <a:endParaRPr/>
          </a:p>
        </p:txBody>
      </p:sp>
      <p:sp>
        <p:nvSpPr>
          <p:cNvPr id="300" name="Google Shape;300;p13"/>
          <p:cNvSpPr txBox="1"/>
          <p:nvPr/>
        </p:nvSpPr>
        <p:spPr>
          <a:xfrm>
            <a:off x="7452360" y="1481328"/>
            <a:ext cx="23591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55E75"/>
                </a:solidFill>
                <a:latin typeface="Inter"/>
                <a:ea typeface="Inter"/>
                <a:cs typeface="Inter"/>
                <a:sym typeface="Inter"/>
              </a:rPr>
              <a:t>Macro-F1</a:t>
            </a:r>
            <a:endParaRPr/>
          </a:p>
        </p:txBody>
      </p:sp>
      <p:sp>
        <p:nvSpPr>
          <p:cNvPr id="301" name="Google Shape;301;p13"/>
          <p:cNvSpPr txBox="1"/>
          <p:nvPr/>
        </p:nvSpPr>
        <p:spPr>
          <a:xfrm>
            <a:off x="9921240" y="1481328"/>
            <a:ext cx="17922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55E75"/>
                </a:solidFill>
                <a:latin typeface="Inter"/>
                <a:ea typeface="Inter"/>
                <a:cs typeface="Inter"/>
                <a:sym typeface="Inter"/>
              </a:rPr>
              <a:t>Valor p</a:t>
            </a:r>
            <a:endParaRPr/>
          </a:p>
        </p:txBody>
      </p:sp>
      <p:sp>
        <p:nvSpPr>
          <p:cNvPr id="302" name="Google Shape;302;p13"/>
          <p:cNvSpPr/>
          <p:nvPr/>
        </p:nvSpPr>
        <p:spPr>
          <a:xfrm>
            <a:off x="365760" y="1975104"/>
            <a:ext cx="11347704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3"/>
          <p:cNvSpPr txBox="1"/>
          <p:nvPr/>
        </p:nvSpPr>
        <p:spPr>
          <a:xfrm>
            <a:off x="365760" y="2139696"/>
            <a:ext cx="4645152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Ajuste fino completo</a:t>
            </a:r>
            <a:endParaRPr/>
          </a:p>
        </p:txBody>
      </p:sp>
      <p:sp>
        <p:nvSpPr>
          <p:cNvPr id="304" name="Google Shape;304;p13"/>
          <p:cNvSpPr txBox="1"/>
          <p:nvPr/>
        </p:nvSpPr>
        <p:spPr>
          <a:xfrm>
            <a:off x="5120640" y="2139696"/>
            <a:ext cx="2221991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76,1%</a:t>
            </a:r>
            <a:endParaRPr/>
          </a:p>
        </p:txBody>
      </p:sp>
      <p:sp>
        <p:nvSpPr>
          <p:cNvPr id="305" name="Google Shape;305;p13"/>
          <p:cNvSpPr txBox="1"/>
          <p:nvPr/>
        </p:nvSpPr>
        <p:spPr>
          <a:xfrm>
            <a:off x="7452360" y="2139696"/>
            <a:ext cx="2359152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21%</a:t>
            </a:r>
            <a:endParaRPr/>
          </a:p>
        </p:txBody>
      </p:sp>
      <p:sp>
        <p:nvSpPr>
          <p:cNvPr id="306" name="Google Shape;306;p13"/>
          <p:cNvSpPr txBox="1"/>
          <p:nvPr/>
        </p:nvSpPr>
        <p:spPr>
          <a:xfrm>
            <a:off x="9921240" y="2139696"/>
            <a:ext cx="179222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≤ 0,022</a:t>
            </a:r>
            <a:endParaRPr/>
          </a:p>
        </p:txBody>
      </p:sp>
      <p:sp>
        <p:nvSpPr>
          <p:cNvPr id="307" name="Google Shape;307;p13"/>
          <p:cNvSpPr txBox="1"/>
          <p:nvPr/>
        </p:nvSpPr>
        <p:spPr>
          <a:xfrm>
            <a:off x="365760" y="2926079"/>
            <a:ext cx="4645152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Ajuste contrastivo</a:t>
            </a:r>
            <a:endParaRPr/>
          </a:p>
        </p:txBody>
      </p:sp>
      <p:sp>
        <p:nvSpPr>
          <p:cNvPr id="308" name="Google Shape;308;p13"/>
          <p:cNvSpPr txBox="1"/>
          <p:nvPr/>
        </p:nvSpPr>
        <p:spPr>
          <a:xfrm>
            <a:off x="5120640" y="2926079"/>
            <a:ext cx="2221991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89,5%</a:t>
            </a:r>
            <a:endParaRPr/>
          </a:p>
        </p:txBody>
      </p:sp>
      <p:sp>
        <p:nvSpPr>
          <p:cNvPr id="309" name="Google Shape;309;p13"/>
          <p:cNvSpPr txBox="1"/>
          <p:nvPr/>
        </p:nvSpPr>
        <p:spPr>
          <a:xfrm>
            <a:off x="7452360" y="2926079"/>
            <a:ext cx="2359152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58%</a:t>
            </a:r>
            <a:endParaRPr/>
          </a:p>
        </p:txBody>
      </p:sp>
      <p:sp>
        <p:nvSpPr>
          <p:cNvPr id="310" name="Google Shape;310;p13"/>
          <p:cNvSpPr txBox="1"/>
          <p:nvPr/>
        </p:nvSpPr>
        <p:spPr>
          <a:xfrm>
            <a:off x="9921240" y="2926079"/>
            <a:ext cx="179222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&lt; 0,001</a:t>
            </a:r>
            <a:endParaRPr/>
          </a:p>
        </p:txBody>
      </p:sp>
      <p:sp>
        <p:nvSpPr>
          <p:cNvPr id="311" name="Google Shape;311;p13"/>
          <p:cNvSpPr txBox="1"/>
          <p:nvPr/>
        </p:nvSpPr>
        <p:spPr>
          <a:xfrm>
            <a:off x="365760" y="3712463"/>
            <a:ext cx="4645152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Regressão logística</a:t>
            </a:r>
            <a:endParaRPr/>
          </a:p>
        </p:txBody>
      </p:sp>
      <p:sp>
        <p:nvSpPr>
          <p:cNvPr id="312" name="Google Shape;312;p13"/>
          <p:cNvSpPr txBox="1"/>
          <p:nvPr/>
        </p:nvSpPr>
        <p:spPr>
          <a:xfrm>
            <a:off x="5120640" y="3712463"/>
            <a:ext cx="2221991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90,5%</a:t>
            </a:r>
            <a:endParaRPr/>
          </a:p>
        </p:txBody>
      </p:sp>
      <p:sp>
        <p:nvSpPr>
          <p:cNvPr id="313" name="Google Shape;313;p13"/>
          <p:cNvSpPr txBox="1"/>
          <p:nvPr/>
        </p:nvSpPr>
        <p:spPr>
          <a:xfrm>
            <a:off x="7452360" y="3712463"/>
            <a:ext cx="2359152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53%</a:t>
            </a:r>
            <a:endParaRPr/>
          </a:p>
        </p:txBody>
      </p:sp>
      <p:sp>
        <p:nvSpPr>
          <p:cNvPr id="314" name="Google Shape;314;p13"/>
          <p:cNvSpPr txBox="1"/>
          <p:nvPr/>
        </p:nvSpPr>
        <p:spPr>
          <a:xfrm>
            <a:off x="9921240" y="3712463"/>
            <a:ext cx="179222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&lt; 0,001</a:t>
            </a:r>
            <a:endParaRPr/>
          </a:p>
        </p:txBody>
      </p:sp>
      <p:sp>
        <p:nvSpPr>
          <p:cNvPr id="315" name="Google Shape;315;p13"/>
          <p:cNvSpPr txBox="1"/>
          <p:nvPr/>
        </p:nvSpPr>
        <p:spPr>
          <a:xfrm>
            <a:off x="365760" y="4498848"/>
            <a:ext cx="4645152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Centroide de classe</a:t>
            </a:r>
            <a:endParaRPr/>
          </a:p>
        </p:txBody>
      </p:sp>
      <p:sp>
        <p:nvSpPr>
          <p:cNvPr id="316" name="Google Shape;316;p13"/>
          <p:cNvSpPr txBox="1"/>
          <p:nvPr/>
        </p:nvSpPr>
        <p:spPr>
          <a:xfrm>
            <a:off x="5120640" y="4498848"/>
            <a:ext cx="2221991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91,0%</a:t>
            </a:r>
            <a:endParaRPr/>
          </a:p>
        </p:txBody>
      </p:sp>
      <p:sp>
        <p:nvSpPr>
          <p:cNvPr id="317" name="Google Shape;317;p13"/>
          <p:cNvSpPr txBox="1"/>
          <p:nvPr/>
        </p:nvSpPr>
        <p:spPr>
          <a:xfrm>
            <a:off x="7452360" y="4498848"/>
            <a:ext cx="2359152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62%</a:t>
            </a:r>
            <a:endParaRPr/>
          </a:p>
        </p:txBody>
      </p:sp>
      <p:sp>
        <p:nvSpPr>
          <p:cNvPr id="318" name="Google Shape;318;p13"/>
          <p:cNvSpPr txBox="1"/>
          <p:nvPr/>
        </p:nvSpPr>
        <p:spPr>
          <a:xfrm>
            <a:off x="9921240" y="4498848"/>
            <a:ext cx="179222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&lt; 0,001</a:t>
            </a:r>
            <a:endParaRPr/>
          </a:p>
        </p:txBody>
      </p:sp>
      <p:sp>
        <p:nvSpPr>
          <p:cNvPr id="319" name="Google Shape;319;p13"/>
          <p:cNvSpPr/>
          <p:nvPr/>
        </p:nvSpPr>
        <p:spPr>
          <a:xfrm>
            <a:off x="201168" y="5202936"/>
            <a:ext cx="11567160" cy="749808"/>
          </a:xfrm>
          <a:prstGeom prst="roundRect">
            <a:avLst>
              <a:gd fmla="val 22000" name="adj"/>
            </a:avLst>
          </a:prstGeom>
          <a:solidFill>
            <a:srgbClr val="CFF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 txBox="1"/>
          <p:nvPr/>
        </p:nvSpPr>
        <p:spPr>
          <a:xfrm>
            <a:off x="365760" y="5285232"/>
            <a:ext cx="4645152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k-NN (memória)</a:t>
            </a:r>
            <a:endParaRPr/>
          </a:p>
        </p:txBody>
      </p:sp>
      <p:sp>
        <p:nvSpPr>
          <p:cNvPr id="321" name="Google Shape;321;p13"/>
          <p:cNvSpPr txBox="1"/>
          <p:nvPr/>
        </p:nvSpPr>
        <p:spPr>
          <a:xfrm>
            <a:off x="5120640" y="5285232"/>
            <a:ext cx="2221991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90,8%</a:t>
            </a:r>
            <a:endParaRPr/>
          </a:p>
        </p:txBody>
      </p:sp>
      <p:sp>
        <p:nvSpPr>
          <p:cNvPr id="322" name="Google Shape;322;p13"/>
          <p:cNvSpPr txBox="1"/>
          <p:nvPr/>
        </p:nvSpPr>
        <p:spPr>
          <a:xfrm>
            <a:off x="7452360" y="5285232"/>
            <a:ext cx="2359152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56%</a:t>
            </a:r>
            <a:endParaRPr/>
          </a:p>
        </p:txBody>
      </p:sp>
      <p:sp>
        <p:nvSpPr>
          <p:cNvPr id="323" name="Google Shape;323;p13"/>
          <p:cNvSpPr txBox="1"/>
          <p:nvPr/>
        </p:nvSpPr>
        <p:spPr>
          <a:xfrm>
            <a:off x="9921240" y="5285232"/>
            <a:ext cx="179222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&lt; 0,001</a:t>
            </a:r>
            <a:endParaRPr/>
          </a:p>
        </p:txBody>
      </p:sp>
      <p:sp>
        <p:nvSpPr>
          <p:cNvPr id="324" name="Google Shape;324;p13"/>
          <p:cNvSpPr/>
          <p:nvPr/>
        </p:nvSpPr>
        <p:spPr>
          <a:xfrm>
            <a:off x="365760" y="2862072"/>
            <a:ext cx="11347704" cy="41148"/>
          </a:xfrm>
          <a:prstGeom prst="rect">
            <a:avLst/>
          </a:prstGeom>
          <a:solidFill>
            <a:srgbClr val="3F738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365760" y="3648456"/>
            <a:ext cx="11347704" cy="41148"/>
          </a:xfrm>
          <a:prstGeom prst="rect">
            <a:avLst/>
          </a:prstGeom>
          <a:solidFill>
            <a:srgbClr val="3F738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365760" y="4434840"/>
            <a:ext cx="11347704" cy="41148"/>
          </a:xfrm>
          <a:prstGeom prst="rect">
            <a:avLst/>
          </a:prstGeom>
          <a:solidFill>
            <a:srgbClr val="3F738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365760" y="5221224"/>
            <a:ext cx="11347704" cy="41148"/>
          </a:xfrm>
          <a:prstGeom prst="rect">
            <a:avLst/>
          </a:prstGeom>
          <a:solidFill>
            <a:srgbClr val="3F738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5065776" y="1481328"/>
            <a:ext cx="41148" cy="4535424"/>
          </a:xfrm>
          <a:prstGeom prst="rect">
            <a:avLst/>
          </a:prstGeom>
          <a:solidFill>
            <a:srgbClr val="3F738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7397496" y="1481328"/>
            <a:ext cx="41148" cy="4535424"/>
          </a:xfrm>
          <a:prstGeom prst="rect">
            <a:avLst/>
          </a:prstGeom>
          <a:solidFill>
            <a:srgbClr val="3F738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9866376" y="1481328"/>
            <a:ext cx="41148" cy="4535424"/>
          </a:xfrm>
          <a:prstGeom prst="rect">
            <a:avLst/>
          </a:prstGeom>
          <a:solidFill>
            <a:srgbClr val="3F738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336" name="Google Shape;33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4"/>
          <p:cNvSpPr txBox="1"/>
          <p:nvPr/>
        </p:nvSpPr>
        <p:spPr>
          <a:xfrm>
            <a:off x="11265408" y="6364224"/>
            <a:ext cx="777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B12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14</a:t>
            </a:r>
            <a:endParaRPr/>
          </a:p>
        </p:txBody>
      </p:sp>
      <p:sp>
        <p:nvSpPr>
          <p:cNvPr id="338" name="Google Shape;338;p14"/>
          <p:cNvSpPr txBox="1"/>
          <p:nvPr/>
        </p:nvSpPr>
        <p:spPr>
          <a:xfrm>
            <a:off x="731520" y="182880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55E75"/>
                </a:solidFill>
                <a:latin typeface="Inter"/>
                <a:ea typeface="Inter"/>
                <a:cs typeface="Inter"/>
                <a:sym typeface="Inter"/>
              </a:rPr>
              <a:t>01 · ESCOLHA DO MOTOR</a:t>
            </a:r>
            <a:endParaRPr/>
          </a:p>
        </p:txBody>
      </p:sp>
      <p:sp>
        <p:nvSpPr>
          <p:cNvPr id="339" name="Google Shape;339;p14"/>
          <p:cNvSpPr txBox="1"/>
          <p:nvPr/>
        </p:nvSpPr>
        <p:spPr>
          <a:xfrm>
            <a:off x="713232" y="512064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0B1220"/>
                </a:solidFill>
                <a:latin typeface="Space Grotesk"/>
                <a:ea typeface="Space Grotesk"/>
                <a:cs typeface="Space Grotesk"/>
                <a:sym typeface="Space Grotesk"/>
              </a:rPr>
              <a:t>A curva satura em 45 rótulos</a:t>
            </a:r>
            <a:endParaRPr/>
          </a:p>
        </p:txBody>
      </p:sp>
      <p:sp>
        <p:nvSpPr>
          <p:cNvPr id="340" name="Google Shape;340;p14"/>
          <p:cNvSpPr/>
          <p:nvPr/>
        </p:nvSpPr>
        <p:spPr>
          <a:xfrm>
            <a:off x="1032814" y="2514398"/>
            <a:ext cx="1729130" cy="2149041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4"/>
          <p:cNvSpPr txBox="1"/>
          <p:nvPr/>
        </p:nvSpPr>
        <p:spPr>
          <a:xfrm>
            <a:off x="621334" y="1984046"/>
            <a:ext cx="25520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77,6%</a:t>
            </a:r>
            <a:endParaRPr/>
          </a:p>
        </p:txBody>
      </p:sp>
      <p:sp>
        <p:nvSpPr>
          <p:cNvPr id="342" name="Google Shape;342;p14"/>
          <p:cNvSpPr txBox="1"/>
          <p:nvPr/>
        </p:nvSpPr>
        <p:spPr>
          <a:xfrm>
            <a:off x="621334" y="4773168"/>
            <a:ext cx="255209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/>
          </a:p>
        </p:txBody>
      </p:sp>
      <p:sp>
        <p:nvSpPr>
          <p:cNvPr id="343" name="Google Shape;343;p14"/>
          <p:cNvSpPr/>
          <p:nvPr/>
        </p:nvSpPr>
        <p:spPr>
          <a:xfrm>
            <a:off x="3821734" y="2220843"/>
            <a:ext cx="1729130" cy="244259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4"/>
          <p:cNvSpPr txBox="1"/>
          <p:nvPr/>
        </p:nvSpPr>
        <p:spPr>
          <a:xfrm>
            <a:off x="3410254" y="1690491"/>
            <a:ext cx="25520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88,2%</a:t>
            </a:r>
            <a:endParaRPr/>
          </a:p>
        </p:txBody>
      </p:sp>
      <p:sp>
        <p:nvSpPr>
          <p:cNvPr id="345" name="Google Shape;345;p14"/>
          <p:cNvSpPr txBox="1"/>
          <p:nvPr/>
        </p:nvSpPr>
        <p:spPr>
          <a:xfrm>
            <a:off x="3410254" y="4773168"/>
            <a:ext cx="255209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30</a:t>
            </a:r>
            <a:endParaRPr/>
          </a:p>
        </p:txBody>
      </p:sp>
      <p:sp>
        <p:nvSpPr>
          <p:cNvPr id="346" name="Google Shape;346;p14"/>
          <p:cNvSpPr/>
          <p:nvPr/>
        </p:nvSpPr>
        <p:spPr>
          <a:xfrm>
            <a:off x="6610654" y="2157148"/>
            <a:ext cx="1729130" cy="2506291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4"/>
          <p:cNvSpPr txBox="1"/>
          <p:nvPr/>
        </p:nvSpPr>
        <p:spPr>
          <a:xfrm>
            <a:off x="6199174" y="1626796"/>
            <a:ext cx="25520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90,5%</a:t>
            </a:r>
            <a:endParaRPr/>
          </a:p>
        </p:txBody>
      </p:sp>
      <p:sp>
        <p:nvSpPr>
          <p:cNvPr id="348" name="Google Shape;348;p14"/>
          <p:cNvSpPr txBox="1"/>
          <p:nvPr/>
        </p:nvSpPr>
        <p:spPr>
          <a:xfrm>
            <a:off x="6199174" y="4773168"/>
            <a:ext cx="255209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45</a:t>
            </a:r>
            <a:endParaRPr/>
          </a:p>
        </p:txBody>
      </p:sp>
      <p:sp>
        <p:nvSpPr>
          <p:cNvPr id="349" name="Google Shape;349;p14"/>
          <p:cNvSpPr/>
          <p:nvPr/>
        </p:nvSpPr>
        <p:spPr>
          <a:xfrm>
            <a:off x="9399574" y="2148839"/>
            <a:ext cx="1729130" cy="25146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4"/>
          <p:cNvSpPr txBox="1"/>
          <p:nvPr/>
        </p:nvSpPr>
        <p:spPr>
          <a:xfrm>
            <a:off x="8988094" y="1618487"/>
            <a:ext cx="25520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90,8%</a:t>
            </a:r>
            <a:endParaRPr/>
          </a:p>
        </p:txBody>
      </p:sp>
      <p:sp>
        <p:nvSpPr>
          <p:cNvPr id="351" name="Google Shape;351;p14"/>
          <p:cNvSpPr txBox="1"/>
          <p:nvPr/>
        </p:nvSpPr>
        <p:spPr>
          <a:xfrm>
            <a:off x="8988094" y="4773168"/>
            <a:ext cx="255209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89</a:t>
            </a:r>
            <a:endParaRPr/>
          </a:p>
        </p:txBody>
      </p:sp>
      <p:sp>
        <p:nvSpPr>
          <p:cNvPr id="352" name="Google Shape;352;p14"/>
          <p:cNvSpPr/>
          <p:nvPr/>
        </p:nvSpPr>
        <p:spPr>
          <a:xfrm>
            <a:off x="502920" y="4663440"/>
            <a:ext cx="11155680" cy="2743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4"/>
          <p:cNvSpPr/>
          <p:nvPr/>
        </p:nvSpPr>
        <p:spPr>
          <a:xfrm>
            <a:off x="502920" y="2700223"/>
            <a:ext cx="111556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4"/>
          <p:cNvSpPr txBox="1"/>
          <p:nvPr/>
        </p:nvSpPr>
        <p:spPr>
          <a:xfrm>
            <a:off x="1325880" y="5440680"/>
            <a:ext cx="10241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Âmbar: melhor zero-shot medido, 70,9%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360" name="Google Shape;36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5"/>
          <p:cNvSpPr txBox="1"/>
          <p:nvPr/>
        </p:nvSpPr>
        <p:spPr>
          <a:xfrm>
            <a:off x="11265408" y="6364224"/>
            <a:ext cx="777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B12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</a:t>
            </a:r>
            <a:endParaRPr/>
          </a:p>
        </p:txBody>
      </p:sp>
      <p:sp>
        <p:nvSpPr>
          <p:cNvPr id="362" name="Google Shape;362;p15"/>
          <p:cNvSpPr txBox="1"/>
          <p:nvPr/>
        </p:nvSpPr>
        <p:spPr>
          <a:xfrm>
            <a:off x="731520" y="182880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55E75"/>
                </a:solidFill>
                <a:latin typeface="Inter"/>
                <a:ea typeface="Inter"/>
                <a:cs typeface="Inter"/>
                <a:sym typeface="Inter"/>
              </a:rPr>
              <a:t>01 · ESCOLHA DO MOTOR</a:t>
            </a:r>
            <a:endParaRPr/>
          </a:p>
        </p:txBody>
      </p:sp>
      <p:sp>
        <p:nvSpPr>
          <p:cNvPr id="363" name="Google Shape;363;p15"/>
          <p:cNvSpPr txBox="1"/>
          <p:nvPr/>
        </p:nvSpPr>
        <p:spPr>
          <a:xfrm>
            <a:off x="713232" y="512064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0B1220"/>
                </a:solidFill>
                <a:latin typeface="Space Grotesk"/>
                <a:ea typeface="Space Grotesk"/>
                <a:cs typeface="Space Grotesk"/>
                <a:sym typeface="Space Grotesk"/>
              </a:rPr>
              <a:t>Motor de memória</a:t>
            </a:r>
            <a:endParaRPr/>
          </a:p>
        </p:txBody>
      </p:sp>
      <p:sp>
        <p:nvSpPr>
          <p:cNvPr id="364" name="Google Shape;364;p15"/>
          <p:cNvSpPr/>
          <p:nvPr/>
        </p:nvSpPr>
        <p:spPr>
          <a:xfrm>
            <a:off x="365760" y="1937512"/>
            <a:ext cx="201168" cy="20116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5"/>
          <p:cNvSpPr txBox="1"/>
          <p:nvPr/>
        </p:nvSpPr>
        <p:spPr>
          <a:xfrm>
            <a:off x="841247" y="1783080"/>
            <a:ext cx="10981944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Operação: chamados já rotulados</a:t>
            </a:r>
            <a:endParaRPr/>
          </a:p>
        </p:txBody>
      </p:sp>
      <p:sp>
        <p:nvSpPr>
          <p:cNvPr id="366" name="Google Shape;366;p15"/>
          <p:cNvSpPr/>
          <p:nvPr/>
        </p:nvSpPr>
        <p:spPr>
          <a:xfrm>
            <a:off x="365760" y="2831592"/>
            <a:ext cx="201168" cy="20116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5"/>
          <p:cNvSpPr txBox="1"/>
          <p:nvPr/>
        </p:nvSpPr>
        <p:spPr>
          <a:xfrm>
            <a:off x="841247" y="2677160"/>
            <a:ext cx="10981944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Voto dos 3 vizinhos: 90,8%, corpus em 28 s</a:t>
            </a:r>
            <a:endParaRPr/>
          </a:p>
        </p:txBody>
      </p:sp>
      <p:sp>
        <p:nvSpPr>
          <p:cNvPr id="368" name="Google Shape;368;p15"/>
          <p:cNvSpPr/>
          <p:nvPr/>
        </p:nvSpPr>
        <p:spPr>
          <a:xfrm>
            <a:off x="365760" y="3725672"/>
            <a:ext cx="201168" cy="20116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5"/>
          <p:cNvSpPr txBox="1"/>
          <p:nvPr/>
        </p:nvSpPr>
        <p:spPr>
          <a:xfrm>
            <a:off x="841247" y="3571240"/>
            <a:ext cx="10981944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Empata com centroide e regressão: p ≥ 0,48</a:t>
            </a:r>
            <a:endParaRPr/>
          </a:p>
        </p:txBody>
      </p:sp>
      <p:sp>
        <p:nvSpPr>
          <p:cNvPr id="370" name="Google Shape;370;p15"/>
          <p:cNvSpPr/>
          <p:nvPr/>
        </p:nvSpPr>
        <p:spPr>
          <a:xfrm>
            <a:off x="365760" y="4619751"/>
            <a:ext cx="201168" cy="20116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5"/>
          <p:cNvSpPr txBox="1"/>
          <p:nvPr/>
        </p:nvSpPr>
        <p:spPr>
          <a:xfrm>
            <a:off x="841247" y="4465320"/>
            <a:ext cx="10981944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Só ele aponta os chamados que decidiram</a:t>
            </a:r>
            <a:endParaRPr/>
          </a:p>
        </p:txBody>
      </p:sp>
      <p:sp>
        <p:nvSpPr>
          <p:cNvPr id="372" name="Google Shape;372;p15"/>
          <p:cNvSpPr/>
          <p:nvPr/>
        </p:nvSpPr>
        <p:spPr>
          <a:xfrm>
            <a:off x="365760" y="5513831"/>
            <a:ext cx="201168" cy="20116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5"/>
          <p:cNvSpPr txBox="1"/>
          <p:nvPr/>
        </p:nvSpPr>
        <p:spPr>
          <a:xfrm>
            <a:off x="841247" y="5359400"/>
            <a:ext cx="10981944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Atualizar é acrescentar uma linha, sem GPU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bseg2026_rodape_branco.png" id="380" name="Google Shape;38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17"/>
          <p:cNvSpPr txBox="1"/>
          <p:nvPr/>
        </p:nvSpPr>
        <p:spPr>
          <a:xfrm>
            <a:off x="11265408" y="6364224"/>
            <a:ext cx="777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17</a:t>
            </a:r>
            <a:endParaRPr/>
          </a:p>
        </p:txBody>
      </p:sp>
      <p:sp>
        <p:nvSpPr>
          <p:cNvPr id="382" name="Google Shape;382;p17"/>
          <p:cNvSpPr/>
          <p:nvPr/>
        </p:nvSpPr>
        <p:spPr>
          <a:xfrm>
            <a:off x="4160520" y="868680"/>
            <a:ext cx="7635240" cy="512064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g03_maquina_justo.jpg" id="383" name="Google Shape;38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34840" y="2117979"/>
            <a:ext cx="7086600" cy="2622042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17"/>
          <p:cNvSpPr txBox="1"/>
          <p:nvPr/>
        </p:nvSpPr>
        <p:spPr>
          <a:xfrm>
            <a:off x="777240" y="2240280"/>
            <a:ext cx="29260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/>
          </a:p>
        </p:txBody>
      </p:sp>
      <p:sp>
        <p:nvSpPr>
          <p:cNvPr id="385" name="Google Shape;385;p17"/>
          <p:cNvSpPr txBox="1"/>
          <p:nvPr/>
        </p:nvSpPr>
        <p:spPr>
          <a:xfrm>
            <a:off x="777240" y="3566160"/>
            <a:ext cx="3310128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Ferramenta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391" name="Google Shape;39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18"/>
          <p:cNvSpPr txBox="1"/>
          <p:nvPr/>
        </p:nvSpPr>
        <p:spPr>
          <a:xfrm>
            <a:off x="11265408" y="6364224"/>
            <a:ext cx="777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B12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18</a:t>
            </a:r>
            <a:endParaRPr/>
          </a:p>
        </p:txBody>
      </p:sp>
      <p:sp>
        <p:nvSpPr>
          <p:cNvPr id="393" name="Google Shape;393;p18"/>
          <p:cNvSpPr txBox="1"/>
          <p:nvPr/>
        </p:nvSpPr>
        <p:spPr>
          <a:xfrm>
            <a:off x="731520" y="182880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55E75"/>
                </a:solidFill>
                <a:latin typeface="Inter"/>
                <a:ea typeface="Inter"/>
                <a:cs typeface="Inter"/>
                <a:sym typeface="Inter"/>
              </a:rPr>
              <a:t>02 · FERRAMENTA</a:t>
            </a:r>
            <a:endParaRPr/>
          </a:p>
        </p:txBody>
      </p:sp>
      <p:sp>
        <p:nvSpPr>
          <p:cNvPr id="394" name="Google Shape;394;p18"/>
          <p:cNvSpPr txBox="1"/>
          <p:nvPr/>
        </p:nvSpPr>
        <p:spPr>
          <a:xfrm>
            <a:off x="713232" y="512064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0B1220"/>
                </a:solidFill>
                <a:latin typeface="Space Grotesk"/>
                <a:ea typeface="Space Grotesk"/>
                <a:cs typeface="Space Grotesk"/>
                <a:sym typeface="Space Grotesk"/>
              </a:rPr>
              <a:t>O caminho de um chamado</a:t>
            </a:r>
            <a:endParaRPr/>
          </a:p>
        </p:txBody>
      </p:sp>
      <p:sp>
        <p:nvSpPr>
          <p:cNvPr id="395" name="Google Shape;395;p18"/>
          <p:cNvSpPr txBox="1"/>
          <p:nvPr/>
        </p:nvSpPr>
        <p:spPr>
          <a:xfrm>
            <a:off x="365760" y="1481328"/>
            <a:ext cx="1145743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55E75"/>
                </a:solidFill>
                <a:latin typeface="Inter"/>
                <a:ea typeface="Inter"/>
                <a:cs typeface="Inter"/>
                <a:sym typeface="Inter"/>
              </a:rPr>
              <a:t>Entra o chamados.csv</a:t>
            </a:r>
            <a:endParaRPr/>
          </a:p>
        </p:txBody>
      </p:sp>
      <p:sp>
        <p:nvSpPr>
          <p:cNvPr id="396" name="Google Shape;396;p18"/>
          <p:cNvSpPr/>
          <p:nvPr/>
        </p:nvSpPr>
        <p:spPr>
          <a:xfrm>
            <a:off x="365760" y="2029968"/>
            <a:ext cx="4663440" cy="621792"/>
          </a:xfrm>
          <a:prstGeom prst="roundRect">
            <a:avLst>
              <a:gd fmla="val 18000" name="adj"/>
            </a:avLst>
          </a:prstGeom>
          <a:solidFill>
            <a:srgbClr val="CFF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8"/>
          <p:cNvSpPr txBox="1"/>
          <p:nvPr/>
        </p:nvSpPr>
        <p:spPr>
          <a:xfrm>
            <a:off x="640080" y="205740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Normalizador</a:t>
            </a:r>
            <a:endParaRPr/>
          </a:p>
        </p:txBody>
      </p:sp>
      <p:sp>
        <p:nvSpPr>
          <p:cNvPr id="398" name="Google Shape;398;p18"/>
          <p:cNvSpPr txBox="1"/>
          <p:nvPr/>
        </p:nvSpPr>
        <p:spPr>
          <a:xfrm>
            <a:off x="5212080" y="2057400"/>
            <a:ext cx="66111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etiqueta curta, assunto antes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404" name="Google Shape;40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19"/>
          <p:cNvSpPr txBox="1"/>
          <p:nvPr/>
        </p:nvSpPr>
        <p:spPr>
          <a:xfrm>
            <a:off x="11265408" y="6364224"/>
            <a:ext cx="777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B12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19</a:t>
            </a:r>
            <a:endParaRPr/>
          </a:p>
        </p:txBody>
      </p:sp>
      <p:sp>
        <p:nvSpPr>
          <p:cNvPr id="406" name="Google Shape;406;p19"/>
          <p:cNvSpPr txBox="1"/>
          <p:nvPr/>
        </p:nvSpPr>
        <p:spPr>
          <a:xfrm>
            <a:off x="731520" y="182880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55E75"/>
                </a:solidFill>
                <a:latin typeface="Inter"/>
                <a:ea typeface="Inter"/>
                <a:cs typeface="Inter"/>
                <a:sym typeface="Inter"/>
              </a:rPr>
              <a:t>02 · FERRAMENTA</a:t>
            </a:r>
            <a:endParaRPr/>
          </a:p>
        </p:txBody>
      </p:sp>
      <p:sp>
        <p:nvSpPr>
          <p:cNvPr id="407" name="Google Shape;407;p19"/>
          <p:cNvSpPr txBox="1"/>
          <p:nvPr/>
        </p:nvSpPr>
        <p:spPr>
          <a:xfrm>
            <a:off x="713232" y="512064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0B1220"/>
                </a:solidFill>
                <a:latin typeface="Space Grotesk"/>
                <a:ea typeface="Space Grotesk"/>
                <a:cs typeface="Space Grotesk"/>
                <a:sym typeface="Space Grotesk"/>
              </a:rPr>
              <a:t>O caminho de um chamado</a:t>
            </a:r>
            <a:endParaRPr/>
          </a:p>
        </p:txBody>
      </p:sp>
      <p:sp>
        <p:nvSpPr>
          <p:cNvPr id="408" name="Google Shape;408;p19"/>
          <p:cNvSpPr txBox="1"/>
          <p:nvPr/>
        </p:nvSpPr>
        <p:spPr>
          <a:xfrm>
            <a:off x="365760" y="1481328"/>
            <a:ext cx="1145743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55E75"/>
                </a:solidFill>
                <a:latin typeface="Inter"/>
                <a:ea typeface="Inter"/>
                <a:cs typeface="Inter"/>
                <a:sym typeface="Inter"/>
              </a:rPr>
              <a:t>Entra o chamados.csv</a:t>
            </a:r>
            <a:endParaRPr/>
          </a:p>
        </p:txBody>
      </p:sp>
      <p:sp>
        <p:nvSpPr>
          <p:cNvPr id="409" name="Google Shape;409;p19"/>
          <p:cNvSpPr/>
          <p:nvPr/>
        </p:nvSpPr>
        <p:spPr>
          <a:xfrm>
            <a:off x="365760" y="2029968"/>
            <a:ext cx="4663440" cy="621792"/>
          </a:xfrm>
          <a:prstGeom prst="roundRect">
            <a:avLst>
              <a:gd fmla="val 18000" name="adj"/>
            </a:avLst>
          </a:prstGeom>
          <a:solidFill>
            <a:srgbClr val="CFF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9"/>
          <p:cNvSpPr txBox="1"/>
          <p:nvPr/>
        </p:nvSpPr>
        <p:spPr>
          <a:xfrm>
            <a:off x="640080" y="205740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Normalizador</a:t>
            </a:r>
            <a:endParaRPr/>
          </a:p>
        </p:txBody>
      </p:sp>
      <p:sp>
        <p:nvSpPr>
          <p:cNvPr id="411" name="Google Shape;411;p19"/>
          <p:cNvSpPr txBox="1"/>
          <p:nvPr/>
        </p:nvSpPr>
        <p:spPr>
          <a:xfrm>
            <a:off x="5212080" y="2057400"/>
            <a:ext cx="66111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etiqueta curta, assunto antes</a:t>
            </a:r>
            <a:endParaRPr/>
          </a:p>
        </p:txBody>
      </p:sp>
      <p:sp>
        <p:nvSpPr>
          <p:cNvPr id="412" name="Google Shape;412;p19"/>
          <p:cNvSpPr/>
          <p:nvPr/>
        </p:nvSpPr>
        <p:spPr>
          <a:xfrm>
            <a:off x="365760" y="2688336"/>
            <a:ext cx="4663440" cy="621792"/>
          </a:xfrm>
          <a:prstGeom prst="roundRect">
            <a:avLst>
              <a:gd fmla="val 18000" name="adj"/>
            </a:avLst>
          </a:prstGeom>
          <a:solidFill>
            <a:srgbClr val="CFF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9"/>
          <p:cNvSpPr txBox="1"/>
          <p:nvPr/>
        </p:nvSpPr>
        <p:spPr>
          <a:xfrm>
            <a:off x="640080" y="2715768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Roteador</a:t>
            </a:r>
            <a:endParaRPr/>
          </a:p>
        </p:txBody>
      </p:sp>
      <p:sp>
        <p:nvSpPr>
          <p:cNvPr id="414" name="Google Shape;414;p19"/>
          <p:cNvSpPr txBox="1"/>
          <p:nvPr/>
        </p:nvSpPr>
        <p:spPr>
          <a:xfrm>
            <a:off x="5212080" y="2715768"/>
            <a:ext cx="66111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abaixo de 0,75, o zero-shot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420" name="Google Shape;42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20"/>
          <p:cNvSpPr txBox="1"/>
          <p:nvPr/>
        </p:nvSpPr>
        <p:spPr>
          <a:xfrm>
            <a:off x="11265408" y="6364224"/>
            <a:ext cx="777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B12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</a:t>
            </a:r>
            <a:endParaRPr/>
          </a:p>
        </p:txBody>
      </p:sp>
      <p:sp>
        <p:nvSpPr>
          <p:cNvPr id="422" name="Google Shape;422;p20"/>
          <p:cNvSpPr txBox="1"/>
          <p:nvPr/>
        </p:nvSpPr>
        <p:spPr>
          <a:xfrm>
            <a:off x="731520" y="182880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55E75"/>
                </a:solidFill>
                <a:latin typeface="Inter"/>
                <a:ea typeface="Inter"/>
                <a:cs typeface="Inter"/>
                <a:sym typeface="Inter"/>
              </a:rPr>
              <a:t>02 · FERRAMENTA</a:t>
            </a:r>
            <a:endParaRPr/>
          </a:p>
        </p:txBody>
      </p:sp>
      <p:sp>
        <p:nvSpPr>
          <p:cNvPr id="423" name="Google Shape;423;p20"/>
          <p:cNvSpPr txBox="1"/>
          <p:nvPr/>
        </p:nvSpPr>
        <p:spPr>
          <a:xfrm>
            <a:off x="713232" y="512064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0B1220"/>
                </a:solidFill>
                <a:latin typeface="Space Grotesk"/>
                <a:ea typeface="Space Grotesk"/>
                <a:cs typeface="Space Grotesk"/>
                <a:sym typeface="Space Grotesk"/>
              </a:rPr>
              <a:t>O caminho de um chamado</a:t>
            </a:r>
            <a:endParaRPr/>
          </a:p>
        </p:txBody>
      </p:sp>
      <p:sp>
        <p:nvSpPr>
          <p:cNvPr id="424" name="Google Shape;424;p20"/>
          <p:cNvSpPr txBox="1"/>
          <p:nvPr/>
        </p:nvSpPr>
        <p:spPr>
          <a:xfrm>
            <a:off x="365760" y="1481328"/>
            <a:ext cx="1145743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55E75"/>
                </a:solidFill>
                <a:latin typeface="Inter"/>
                <a:ea typeface="Inter"/>
                <a:cs typeface="Inter"/>
                <a:sym typeface="Inter"/>
              </a:rPr>
              <a:t>Entra o chamados.csv</a:t>
            </a:r>
            <a:endParaRPr/>
          </a:p>
        </p:txBody>
      </p:sp>
      <p:sp>
        <p:nvSpPr>
          <p:cNvPr id="425" name="Google Shape;425;p20"/>
          <p:cNvSpPr/>
          <p:nvPr/>
        </p:nvSpPr>
        <p:spPr>
          <a:xfrm>
            <a:off x="365760" y="2029968"/>
            <a:ext cx="4663440" cy="621792"/>
          </a:xfrm>
          <a:prstGeom prst="roundRect">
            <a:avLst>
              <a:gd fmla="val 18000" name="adj"/>
            </a:avLst>
          </a:prstGeom>
          <a:solidFill>
            <a:srgbClr val="CFF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0"/>
          <p:cNvSpPr txBox="1"/>
          <p:nvPr/>
        </p:nvSpPr>
        <p:spPr>
          <a:xfrm>
            <a:off x="640080" y="205740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Normalizador</a:t>
            </a:r>
            <a:endParaRPr/>
          </a:p>
        </p:txBody>
      </p:sp>
      <p:sp>
        <p:nvSpPr>
          <p:cNvPr id="427" name="Google Shape;427;p20"/>
          <p:cNvSpPr txBox="1"/>
          <p:nvPr/>
        </p:nvSpPr>
        <p:spPr>
          <a:xfrm>
            <a:off x="5212080" y="2057400"/>
            <a:ext cx="66111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etiqueta curta, assunto antes</a:t>
            </a:r>
            <a:endParaRPr/>
          </a:p>
        </p:txBody>
      </p:sp>
      <p:sp>
        <p:nvSpPr>
          <p:cNvPr id="428" name="Google Shape;428;p20"/>
          <p:cNvSpPr/>
          <p:nvPr/>
        </p:nvSpPr>
        <p:spPr>
          <a:xfrm>
            <a:off x="365760" y="2688336"/>
            <a:ext cx="4663440" cy="621792"/>
          </a:xfrm>
          <a:prstGeom prst="roundRect">
            <a:avLst>
              <a:gd fmla="val 18000" name="adj"/>
            </a:avLst>
          </a:prstGeom>
          <a:solidFill>
            <a:srgbClr val="CFF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0"/>
          <p:cNvSpPr txBox="1"/>
          <p:nvPr/>
        </p:nvSpPr>
        <p:spPr>
          <a:xfrm>
            <a:off x="640080" y="2715768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Roteador</a:t>
            </a:r>
            <a:endParaRPr/>
          </a:p>
        </p:txBody>
      </p:sp>
      <p:sp>
        <p:nvSpPr>
          <p:cNvPr id="430" name="Google Shape;430;p20"/>
          <p:cNvSpPr txBox="1"/>
          <p:nvPr/>
        </p:nvSpPr>
        <p:spPr>
          <a:xfrm>
            <a:off x="5212080" y="2715768"/>
            <a:ext cx="66111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abaixo de 0,75, o zero-shot</a:t>
            </a:r>
            <a:endParaRPr/>
          </a:p>
        </p:txBody>
      </p:sp>
      <p:sp>
        <p:nvSpPr>
          <p:cNvPr id="431" name="Google Shape;431;p20"/>
          <p:cNvSpPr/>
          <p:nvPr/>
        </p:nvSpPr>
        <p:spPr>
          <a:xfrm>
            <a:off x="365760" y="3346704"/>
            <a:ext cx="4663440" cy="621792"/>
          </a:xfrm>
          <a:prstGeom prst="roundRect">
            <a:avLst>
              <a:gd fmla="val 18000" name="adj"/>
            </a:avLst>
          </a:prstGeom>
          <a:solidFill>
            <a:srgbClr val="CFF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0"/>
          <p:cNvSpPr txBox="1"/>
          <p:nvPr/>
        </p:nvSpPr>
        <p:spPr>
          <a:xfrm>
            <a:off x="640080" y="3374136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Motor de memória</a:t>
            </a:r>
            <a:endParaRPr/>
          </a:p>
        </p:txBody>
      </p:sp>
      <p:sp>
        <p:nvSpPr>
          <p:cNvPr id="433" name="Google Shape;433;p20"/>
          <p:cNvSpPr txBox="1"/>
          <p:nvPr/>
        </p:nvSpPr>
        <p:spPr>
          <a:xfrm>
            <a:off x="5212080" y="3374136"/>
            <a:ext cx="66111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Qwen3-Emb-0.6B, voto de 3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439" name="Google Shape;43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21"/>
          <p:cNvSpPr txBox="1"/>
          <p:nvPr/>
        </p:nvSpPr>
        <p:spPr>
          <a:xfrm>
            <a:off x="11265408" y="6364224"/>
            <a:ext cx="777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B12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21</a:t>
            </a:r>
            <a:endParaRPr/>
          </a:p>
        </p:txBody>
      </p:sp>
      <p:sp>
        <p:nvSpPr>
          <p:cNvPr id="441" name="Google Shape;441;p21"/>
          <p:cNvSpPr txBox="1"/>
          <p:nvPr/>
        </p:nvSpPr>
        <p:spPr>
          <a:xfrm>
            <a:off x="731520" y="182880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55E75"/>
                </a:solidFill>
                <a:latin typeface="Inter"/>
                <a:ea typeface="Inter"/>
                <a:cs typeface="Inter"/>
                <a:sym typeface="Inter"/>
              </a:rPr>
              <a:t>02 · FERRAMENTA</a:t>
            </a:r>
            <a:endParaRPr/>
          </a:p>
        </p:txBody>
      </p:sp>
      <p:sp>
        <p:nvSpPr>
          <p:cNvPr id="442" name="Google Shape;442;p21"/>
          <p:cNvSpPr txBox="1"/>
          <p:nvPr/>
        </p:nvSpPr>
        <p:spPr>
          <a:xfrm>
            <a:off x="713232" y="512064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0B1220"/>
                </a:solidFill>
                <a:latin typeface="Space Grotesk"/>
                <a:ea typeface="Space Grotesk"/>
                <a:cs typeface="Space Grotesk"/>
                <a:sym typeface="Space Grotesk"/>
              </a:rPr>
              <a:t>O caminho de um chamado</a:t>
            </a:r>
            <a:endParaRPr/>
          </a:p>
        </p:txBody>
      </p:sp>
      <p:sp>
        <p:nvSpPr>
          <p:cNvPr id="443" name="Google Shape;443;p21"/>
          <p:cNvSpPr txBox="1"/>
          <p:nvPr/>
        </p:nvSpPr>
        <p:spPr>
          <a:xfrm>
            <a:off x="365760" y="1481328"/>
            <a:ext cx="1145743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55E75"/>
                </a:solidFill>
                <a:latin typeface="Inter"/>
                <a:ea typeface="Inter"/>
                <a:cs typeface="Inter"/>
                <a:sym typeface="Inter"/>
              </a:rPr>
              <a:t>Entra o chamados.csv</a:t>
            </a:r>
            <a:endParaRPr/>
          </a:p>
        </p:txBody>
      </p:sp>
      <p:sp>
        <p:nvSpPr>
          <p:cNvPr id="444" name="Google Shape;444;p21"/>
          <p:cNvSpPr/>
          <p:nvPr/>
        </p:nvSpPr>
        <p:spPr>
          <a:xfrm>
            <a:off x="365760" y="2029968"/>
            <a:ext cx="4663440" cy="621792"/>
          </a:xfrm>
          <a:prstGeom prst="roundRect">
            <a:avLst>
              <a:gd fmla="val 18000" name="adj"/>
            </a:avLst>
          </a:prstGeom>
          <a:solidFill>
            <a:srgbClr val="CFF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1"/>
          <p:cNvSpPr txBox="1"/>
          <p:nvPr/>
        </p:nvSpPr>
        <p:spPr>
          <a:xfrm>
            <a:off x="640080" y="205740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Normalizador</a:t>
            </a:r>
            <a:endParaRPr/>
          </a:p>
        </p:txBody>
      </p:sp>
      <p:sp>
        <p:nvSpPr>
          <p:cNvPr id="446" name="Google Shape;446;p21"/>
          <p:cNvSpPr txBox="1"/>
          <p:nvPr/>
        </p:nvSpPr>
        <p:spPr>
          <a:xfrm>
            <a:off x="5212080" y="2057400"/>
            <a:ext cx="66111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etiqueta curta, assunto antes</a:t>
            </a:r>
            <a:endParaRPr/>
          </a:p>
        </p:txBody>
      </p:sp>
      <p:sp>
        <p:nvSpPr>
          <p:cNvPr id="447" name="Google Shape;447;p21"/>
          <p:cNvSpPr/>
          <p:nvPr/>
        </p:nvSpPr>
        <p:spPr>
          <a:xfrm>
            <a:off x="365760" y="2688336"/>
            <a:ext cx="4663440" cy="621792"/>
          </a:xfrm>
          <a:prstGeom prst="roundRect">
            <a:avLst>
              <a:gd fmla="val 18000" name="adj"/>
            </a:avLst>
          </a:prstGeom>
          <a:solidFill>
            <a:srgbClr val="CFF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1"/>
          <p:cNvSpPr txBox="1"/>
          <p:nvPr/>
        </p:nvSpPr>
        <p:spPr>
          <a:xfrm>
            <a:off x="640080" y="2715768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Roteador</a:t>
            </a:r>
            <a:endParaRPr/>
          </a:p>
        </p:txBody>
      </p:sp>
      <p:sp>
        <p:nvSpPr>
          <p:cNvPr id="449" name="Google Shape;449;p21"/>
          <p:cNvSpPr txBox="1"/>
          <p:nvPr/>
        </p:nvSpPr>
        <p:spPr>
          <a:xfrm>
            <a:off x="5212080" y="2715768"/>
            <a:ext cx="66111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abaixo de 0,75, o zero-shot</a:t>
            </a:r>
            <a:endParaRPr/>
          </a:p>
        </p:txBody>
      </p:sp>
      <p:sp>
        <p:nvSpPr>
          <p:cNvPr id="450" name="Google Shape;450;p21"/>
          <p:cNvSpPr/>
          <p:nvPr/>
        </p:nvSpPr>
        <p:spPr>
          <a:xfrm>
            <a:off x="365760" y="3346704"/>
            <a:ext cx="4663440" cy="621792"/>
          </a:xfrm>
          <a:prstGeom prst="roundRect">
            <a:avLst>
              <a:gd fmla="val 18000" name="adj"/>
            </a:avLst>
          </a:prstGeom>
          <a:solidFill>
            <a:srgbClr val="CFF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1"/>
          <p:cNvSpPr txBox="1"/>
          <p:nvPr/>
        </p:nvSpPr>
        <p:spPr>
          <a:xfrm>
            <a:off x="640080" y="3374136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Motor de memória</a:t>
            </a:r>
            <a:endParaRPr/>
          </a:p>
        </p:txBody>
      </p:sp>
      <p:sp>
        <p:nvSpPr>
          <p:cNvPr id="452" name="Google Shape;452;p21"/>
          <p:cNvSpPr txBox="1"/>
          <p:nvPr/>
        </p:nvSpPr>
        <p:spPr>
          <a:xfrm>
            <a:off x="5212080" y="3374136"/>
            <a:ext cx="66111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Qwen3-Emb-0.6B, voto de 3</a:t>
            </a:r>
            <a:endParaRPr/>
          </a:p>
        </p:txBody>
      </p:sp>
      <p:sp>
        <p:nvSpPr>
          <p:cNvPr id="453" name="Google Shape;453;p21"/>
          <p:cNvSpPr/>
          <p:nvPr/>
        </p:nvSpPr>
        <p:spPr>
          <a:xfrm>
            <a:off x="365760" y="4005072"/>
            <a:ext cx="4663440" cy="621792"/>
          </a:xfrm>
          <a:prstGeom prst="roundRect">
            <a:avLst>
              <a:gd fmla="val 18000" name="adj"/>
            </a:avLst>
          </a:prstGeom>
          <a:solidFill>
            <a:srgbClr val="CFF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1"/>
          <p:cNvSpPr txBox="1"/>
          <p:nvPr/>
        </p:nvSpPr>
        <p:spPr>
          <a:xfrm>
            <a:off x="640080" y="4032504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Motor zero-shot</a:t>
            </a:r>
            <a:endParaRPr/>
          </a:p>
        </p:txBody>
      </p:sp>
      <p:sp>
        <p:nvSpPr>
          <p:cNvPr id="455" name="Google Shape;455;p21"/>
          <p:cNvSpPr txBox="1"/>
          <p:nvPr/>
        </p:nvSpPr>
        <p:spPr>
          <a:xfrm>
            <a:off x="5212080" y="4032504"/>
            <a:ext cx="66111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GLiClass ou DeBERTa-NLI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461" name="Google Shape;46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22"/>
          <p:cNvSpPr txBox="1"/>
          <p:nvPr/>
        </p:nvSpPr>
        <p:spPr>
          <a:xfrm>
            <a:off x="11265408" y="6364224"/>
            <a:ext cx="777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B12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22</a:t>
            </a:r>
            <a:endParaRPr/>
          </a:p>
        </p:txBody>
      </p:sp>
      <p:sp>
        <p:nvSpPr>
          <p:cNvPr id="463" name="Google Shape;463;p22"/>
          <p:cNvSpPr txBox="1"/>
          <p:nvPr/>
        </p:nvSpPr>
        <p:spPr>
          <a:xfrm>
            <a:off x="731520" y="182880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55E75"/>
                </a:solidFill>
                <a:latin typeface="Inter"/>
                <a:ea typeface="Inter"/>
                <a:cs typeface="Inter"/>
                <a:sym typeface="Inter"/>
              </a:rPr>
              <a:t>02 · FERRAMENTA</a:t>
            </a:r>
            <a:endParaRPr/>
          </a:p>
        </p:txBody>
      </p:sp>
      <p:sp>
        <p:nvSpPr>
          <p:cNvPr id="464" name="Google Shape;464;p22"/>
          <p:cNvSpPr txBox="1"/>
          <p:nvPr/>
        </p:nvSpPr>
        <p:spPr>
          <a:xfrm>
            <a:off x="713232" y="512064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0B1220"/>
                </a:solidFill>
                <a:latin typeface="Space Grotesk"/>
                <a:ea typeface="Space Grotesk"/>
                <a:cs typeface="Space Grotesk"/>
                <a:sym typeface="Space Grotesk"/>
              </a:rPr>
              <a:t>O caminho de um chamado</a:t>
            </a:r>
            <a:endParaRPr/>
          </a:p>
        </p:txBody>
      </p:sp>
      <p:sp>
        <p:nvSpPr>
          <p:cNvPr id="465" name="Google Shape;465;p22"/>
          <p:cNvSpPr txBox="1"/>
          <p:nvPr/>
        </p:nvSpPr>
        <p:spPr>
          <a:xfrm>
            <a:off x="365760" y="1481328"/>
            <a:ext cx="1145743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55E75"/>
                </a:solidFill>
                <a:latin typeface="Inter"/>
                <a:ea typeface="Inter"/>
                <a:cs typeface="Inter"/>
                <a:sym typeface="Inter"/>
              </a:rPr>
              <a:t>Entra o chamados.csv</a:t>
            </a:r>
            <a:endParaRPr/>
          </a:p>
        </p:txBody>
      </p:sp>
      <p:sp>
        <p:nvSpPr>
          <p:cNvPr id="466" name="Google Shape;466;p22"/>
          <p:cNvSpPr/>
          <p:nvPr/>
        </p:nvSpPr>
        <p:spPr>
          <a:xfrm>
            <a:off x="365760" y="2029968"/>
            <a:ext cx="4663440" cy="621792"/>
          </a:xfrm>
          <a:prstGeom prst="roundRect">
            <a:avLst>
              <a:gd fmla="val 18000" name="adj"/>
            </a:avLst>
          </a:prstGeom>
          <a:solidFill>
            <a:srgbClr val="CFF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2"/>
          <p:cNvSpPr txBox="1"/>
          <p:nvPr/>
        </p:nvSpPr>
        <p:spPr>
          <a:xfrm>
            <a:off x="640080" y="205740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Normalizador</a:t>
            </a:r>
            <a:endParaRPr/>
          </a:p>
        </p:txBody>
      </p:sp>
      <p:sp>
        <p:nvSpPr>
          <p:cNvPr id="468" name="Google Shape;468;p22"/>
          <p:cNvSpPr txBox="1"/>
          <p:nvPr/>
        </p:nvSpPr>
        <p:spPr>
          <a:xfrm>
            <a:off x="5212080" y="2057400"/>
            <a:ext cx="66111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etiqueta curta, assunto antes</a:t>
            </a:r>
            <a:endParaRPr/>
          </a:p>
        </p:txBody>
      </p:sp>
      <p:sp>
        <p:nvSpPr>
          <p:cNvPr id="469" name="Google Shape;469;p22"/>
          <p:cNvSpPr/>
          <p:nvPr/>
        </p:nvSpPr>
        <p:spPr>
          <a:xfrm>
            <a:off x="365760" y="2688336"/>
            <a:ext cx="4663440" cy="621792"/>
          </a:xfrm>
          <a:prstGeom prst="roundRect">
            <a:avLst>
              <a:gd fmla="val 18000" name="adj"/>
            </a:avLst>
          </a:prstGeom>
          <a:solidFill>
            <a:srgbClr val="CFF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2"/>
          <p:cNvSpPr txBox="1"/>
          <p:nvPr/>
        </p:nvSpPr>
        <p:spPr>
          <a:xfrm>
            <a:off x="640080" y="2715768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Roteador</a:t>
            </a:r>
            <a:endParaRPr/>
          </a:p>
        </p:txBody>
      </p:sp>
      <p:sp>
        <p:nvSpPr>
          <p:cNvPr id="471" name="Google Shape;471;p22"/>
          <p:cNvSpPr txBox="1"/>
          <p:nvPr/>
        </p:nvSpPr>
        <p:spPr>
          <a:xfrm>
            <a:off x="5212080" y="2715768"/>
            <a:ext cx="66111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abaixo de 0,75, o zero-shot</a:t>
            </a:r>
            <a:endParaRPr/>
          </a:p>
        </p:txBody>
      </p:sp>
      <p:sp>
        <p:nvSpPr>
          <p:cNvPr id="472" name="Google Shape;472;p22"/>
          <p:cNvSpPr/>
          <p:nvPr/>
        </p:nvSpPr>
        <p:spPr>
          <a:xfrm>
            <a:off x="365760" y="3346704"/>
            <a:ext cx="4663440" cy="621792"/>
          </a:xfrm>
          <a:prstGeom prst="roundRect">
            <a:avLst>
              <a:gd fmla="val 18000" name="adj"/>
            </a:avLst>
          </a:prstGeom>
          <a:solidFill>
            <a:srgbClr val="CFF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2"/>
          <p:cNvSpPr txBox="1"/>
          <p:nvPr/>
        </p:nvSpPr>
        <p:spPr>
          <a:xfrm>
            <a:off x="640080" y="3374136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Motor de memória</a:t>
            </a:r>
            <a:endParaRPr/>
          </a:p>
        </p:txBody>
      </p:sp>
      <p:sp>
        <p:nvSpPr>
          <p:cNvPr id="474" name="Google Shape;474;p22"/>
          <p:cNvSpPr txBox="1"/>
          <p:nvPr/>
        </p:nvSpPr>
        <p:spPr>
          <a:xfrm>
            <a:off x="5212080" y="3374136"/>
            <a:ext cx="66111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Qwen3-Emb-0.6B, voto de 3</a:t>
            </a:r>
            <a:endParaRPr/>
          </a:p>
        </p:txBody>
      </p:sp>
      <p:sp>
        <p:nvSpPr>
          <p:cNvPr id="475" name="Google Shape;475;p22"/>
          <p:cNvSpPr/>
          <p:nvPr/>
        </p:nvSpPr>
        <p:spPr>
          <a:xfrm>
            <a:off x="365760" y="4005072"/>
            <a:ext cx="4663440" cy="621792"/>
          </a:xfrm>
          <a:prstGeom prst="roundRect">
            <a:avLst>
              <a:gd fmla="val 18000" name="adj"/>
            </a:avLst>
          </a:prstGeom>
          <a:solidFill>
            <a:srgbClr val="CFF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2"/>
          <p:cNvSpPr txBox="1"/>
          <p:nvPr/>
        </p:nvSpPr>
        <p:spPr>
          <a:xfrm>
            <a:off x="640080" y="4032504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Motor zero-shot</a:t>
            </a:r>
            <a:endParaRPr/>
          </a:p>
        </p:txBody>
      </p:sp>
      <p:sp>
        <p:nvSpPr>
          <p:cNvPr id="477" name="Google Shape;477;p22"/>
          <p:cNvSpPr txBox="1"/>
          <p:nvPr/>
        </p:nvSpPr>
        <p:spPr>
          <a:xfrm>
            <a:off x="5212080" y="4032504"/>
            <a:ext cx="66111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GLiClass ou DeBERTa-NLI</a:t>
            </a:r>
            <a:endParaRPr/>
          </a:p>
        </p:txBody>
      </p:sp>
      <p:sp>
        <p:nvSpPr>
          <p:cNvPr id="478" name="Google Shape;478;p22"/>
          <p:cNvSpPr/>
          <p:nvPr/>
        </p:nvSpPr>
        <p:spPr>
          <a:xfrm>
            <a:off x="365760" y="4663440"/>
            <a:ext cx="4663440" cy="621792"/>
          </a:xfrm>
          <a:prstGeom prst="roundRect">
            <a:avLst>
              <a:gd fmla="val 18000" name="adj"/>
            </a:avLst>
          </a:prstGeom>
          <a:solidFill>
            <a:srgbClr val="CFF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2"/>
          <p:cNvSpPr txBox="1"/>
          <p:nvPr/>
        </p:nvSpPr>
        <p:spPr>
          <a:xfrm>
            <a:off x="640080" y="4690872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Verbalizador</a:t>
            </a:r>
            <a:endParaRPr/>
          </a:p>
        </p:txBody>
      </p:sp>
      <p:sp>
        <p:nvSpPr>
          <p:cNvPr id="480" name="Google Shape;480;p22"/>
          <p:cNvSpPr txBox="1"/>
          <p:nvPr/>
        </p:nvSpPr>
        <p:spPr>
          <a:xfrm>
            <a:off x="5212080" y="4690872"/>
            <a:ext cx="66111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12 categorias × 8 redações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486" name="Google Shape;48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23"/>
          <p:cNvSpPr txBox="1"/>
          <p:nvPr/>
        </p:nvSpPr>
        <p:spPr>
          <a:xfrm>
            <a:off x="11265408" y="6364224"/>
            <a:ext cx="777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B12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23</a:t>
            </a:r>
            <a:endParaRPr/>
          </a:p>
        </p:txBody>
      </p:sp>
      <p:sp>
        <p:nvSpPr>
          <p:cNvPr id="488" name="Google Shape;488;p23"/>
          <p:cNvSpPr txBox="1"/>
          <p:nvPr/>
        </p:nvSpPr>
        <p:spPr>
          <a:xfrm>
            <a:off x="731520" y="182880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55E75"/>
                </a:solidFill>
                <a:latin typeface="Inter"/>
                <a:ea typeface="Inter"/>
                <a:cs typeface="Inter"/>
                <a:sym typeface="Inter"/>
              </a:rPr>
              <a:t>02 · FERRAMENTA</a:t>
            </a:r>
            <a:endParaRPr/>
          </a:p>
        </p:txBody>
      </p:sp>
      <p:sp>
        <p:nvSpPr>
          <p:cNvPr id="489" name="Google Shape;489;p23"/>
          <p:cNvSpPr txBox="1"/>
          <p:nvPr/>
        </p:nvSpPr>
        <p:spPr>
          <a:xfrm>
            <a:off x="713232" y="512064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0B1220"/>
                </a:solidFill>
                <a:latin typeface="Space Grotesk"/>
                <a:ea typeface="Space Grotesk"/>
                <a:cs typeface="Space Grotesk"/>
                <a:sym typeface="Space Grotesk"/>
              </a:rPr>
              <a:t>O caminho de um chamado</a:t>
            </a:r>
            <a:endParaRPr/>
          </a:p>
        </p:txBody>
      </p:sp>
      <p:sp>
        <p:nvSpPr>
          <p:cNvPr id="490" name="Google Shape;490;p23"/>
          <p:cNvSpPr txBox="1"/>
          <p:nvPr/>
        </p:nvSpPr>
        <p:spPr>
          <a:xfrm>
            <a:off x="365760" y="1481328"/>
            <a:ext cx="1145743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55E75"/>
                </a:solidFill>
                <a:latin typeface="Inter"/>
                <a:ea typeface="Inter"/>
                <a:cs typeface="Inter"/>
                <a:sym typeface="Inter"/>
              </a:rPr>
              <a:t>Entra o chamados.csv</a:t>
            </a:r>
            <a:endParaRPr/>
          </a:p>
        </p:txBody>
      </p:sp>
      <p:sp>
        <p:nvSpPr>
          <p:cNvPr id="491" name="Google Shape;491;p23"/>
          <p:cNvSpPr/>
          <p:nvPr/>
        </p:nvSpPr>
        <p:spPr>
          <a:xfrm>
            <a:off x="365760" y="2029968"/>
            <a:ext cx="4663440" cy="621792"/>
          </a:xfrm>
          <a:prstGeom prst="roundRect">
            <a:avLst>
              <a:gd fmla="val 18000" name="adj"/>
            </a:avLst>
          </a:prstGeom>
          <a:solidFill>
            <a:srgbClr val="CFF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3"/>
          <p:cNvSpPr txBox="1"/>
          <p:nvPr/>
        </p:nvSpPr>
        <p:spPr>
          <a:xfrm>
            <a:off x="640080" y="205740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Normalizador</a:t>
            </a:r>
            <a:endParaRPr/>
          </a:p>
        </p:txBody>
      </p:sp>
      <p:sp>
        <p:nvSpPr>
          <p:cNvPr id="493" name="Google Shape;493;p23"/>
          <p:cNvSpPr txBox="1"/>
          <p:nvPr/>
        </p:nvSpPr>
        <p:spPr>
          <a:xfrm>
            <a:off x="5212080" y="2057400"/>
            <a:ext cx="66111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etiqueta curta, assunto antes</a:t>
            </a:r>
            <a:endParaRPr/>
          </a:p>
        </p:txBody>
      </p:sp>
      <p:sp>
        <p:nvSpPr>
          <p:cNvPr id="494" name="Google Shape;494;p23"/>
          <p:cNvSpPr/>
          <p:nvPr/>
        </p:nvSpPr>
        <p:spPr>
          <a:xfrm>
            <a:off x="365760" y="2688336"/>
            <a:ext cx="4663440" cy="621792"/>
          </a:xfrm>
          <a:prstGeom prst="roundRect">
            <a:avLst>
              <a:gd fmla="val 18000" name="adj"/>
            </a:avLst>
          </a:prstGeom>
          <a:solidFill>
            <a:srgbClr val="CFF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3"/>
          <p:cNvSpPr txBox="1"/>
          <p:nvPr/>
        </p:nvSpPr>
        <p:spPr>
          <a:xfrm>
            <a:off x="640080" y="2715768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Roteador</a:t>
            </a:r>
            <a:endParaRPr/>
          </a:p>
        </p:txBody>
      </p:sp>
      <p:sp>
        <p:nvSpPr>
          <p:cNvPr id="496" name="Google Shape;496;p23"/>
          <p:cNvSpPr txBox="1"/>
          <p:nvPr/>
        </p:nvSpPr>
        <p:spPr>
          <a:xfrm>
            <a:off x="5212080" y="2715768"/>
            <a:ext cx="66111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abaixo de 0,75, o zero-shot</a:t>
            </a:r>
            <a:endParaRPr/>
          </a:p>
        </p:txBody>
      </p:sp>
      <p:sp>
        <p:nvSpPr>
          <p:cNvPr id="497" name="Google Shape;497;p23"/>
          <p:cNvSpPr/>
          <p:nvPr/>
        </p:nvSpPr>
        <p:spPr>
          <a:xfrm>
            <a:off x="365760" y="3346704"/>
            <a:ext cx="4663440" cy="621792"/>
          </a:xfrm>
          <a:prstGeom prst="roundRect">
            <a:avLst>
              <a:gd fmla="val 18000" name="adj"/>
            </a:avLst>
          </a:prstGeom>
          <a:solidFill>
            <a:srgbClr val="CFF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3"/>
          <p:cNvSpPr txBox="1"/>
          <p:nvPr/>
        </p:nvSpPr>
        <p:spPr>
          <a:xfrm>
            <a:off x="640080" y="3374136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Motor de memória</a:t>
            </a:r>
            <a:endParaRPr/>
          </a:p>
        </p:txBody>
      </p:sp>
      <p:sp>
        <p:nvSpPr>
          <p:cNvPr id="499" name="Google Shape;499;p23"/>
          <p:cNvSpPr txBox="1"/>
          <p:nvPr/>
        </p:nvSpPr>
        <p:spPr>
          <a:xfrm>
            <a:off x="5212080" y="3374136"/>
            <a:ext cx="66111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Qwen3-Emb-0.6B, voto de 3</a:t>
            </a:r>
            <a:endParaRPr/>
          </a:p>
        </p:txBody>
      </p:sp>
      <p:sp>
        <p:nvSpPr>
          <p:cNvPr id="500" name="Google Shape;500;p23"/>
          <p:cNvSpPr/>
          <p:nvPr/>
        </p:nvSpPr>
        <p:spPr>
          <a:xfrm>
            <a:off x="365760" y="4005072"/>
            <a:ext cx="4663440" cy="621792"/>
          </a:xfrm>
          <a:prstGeom prst="roundRect">
            <a:avLst>
              <a:gd fmla="val 18000" name="adj"/>
            </a:avLst>
          </a:prstGeom>
          <a:solidFill>
            <a:srgbClr val="CFF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3"/>
          <p:cNvSpPr txBox="1"/>
          <p:nvPr/>
        </p:nvSpPr>
        <p:spPr>
          <a:xfrm>
            <a:off x="640080" y="4032504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Motor zero-shot</a:t>
            </a:r>
            <a:endParaRPr/>
          </a:p>
        </p:txBody>
      </p:sp>
      <p:sp>
        <p:nvSpPr>
          <p:cNvPr id="502" name="Google Shape;502;p23"/>
          <p:cNvSpPr txBox="1"/>
          <p:nvPr/>
        </p:nvSpPr>
        <p:spPr>
          <a:xfrm>
            <a:off x="5212080" y="4032504"/>
            <a:ext cx="66111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GLiClass ou DeBERTa-NLI</a:t>
            </a:r>
            <a:endParaRPr/>
          </a:p>
        </p:txBody>
      </p:sp>
      <p:sp>
        <p:nvSpPr>
          <p:cNvPr id="503" name="Google Shape;503;p23"/>
          <p:cNvSpPr/>
          <p:nvPr/>
        </p:nvSpPr>
        <p:spPr>
          <a:xfrm>
            <a:off x="365760" y="4663440"/>
            <a:ext cx="4663440" cy="621792"/>
          </a:xfrm>
          <a:prstGeom prst="roundRect">
            <a:avLst>
              <a:gd fmla="val 18000" name="adj"/>
            </a:avLst>
          </a:prstGeom>
          <a:solidFill>
            <a:srgbClr val="CFF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3"/>
          <p:cNvSpPr txBox="1"/>
          <p:nvPr/>
        </p:nvSpPr>
        <p:spPr>
          <a:xfrm>
            <a:off x="640080" y="4690872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Verbalizador</a:t>
            </a:r>
            <a:endParaRPr/>
          </a:p>
        </p:txBody>
      </p:sp>
      <p:sp>
        <p:nvSpPr>
          <p:cNvPr id="505" name="Google Shape;505;p23"/>
          <p:cNvSpPr txBox="1"/>
          <p:nvPr/>
        </p:nvSpPr>
        <p:spPr>
          <a:xfrm>
            <a:off x="5212080" y="4690872"/>
            <a:ext cx="66111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12 categorias × 8 redações</a:t>
            </a:r>
            <a:endParaRPr/>
          </a:p>
        </p:txBody>
      </p:sp>
      <p:sp>
        <p:nvSpPr>
          <p:cNvPr id="506" name="Google Shape;506;p23"/>
          <p:cNvSpPr/>
          <p:nvPr/>
        </p:nvSpPr>
        <p:spPr>
          <a:xfrm>
            <a:off x="365760" y="5321808"/>
            <a:ext cx="4663440" cy="621792"/>
          </a:xfrm>
          <a:prstGeom prst="roundRect">
            <a:avLst>
              <a:gd fmla="val 18000" name="adj"/>
            </a:avLst>
          </a:prstGeom>
          <a:solidFill>
            <a:srgbClr val="CFF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3"/>
          <p:cNvSpPr txBox="1"/>
          <p:nvPr/>
        </p:nvSpPr>
        <p:spPr>
          <a:xfrm>
            <a:off x="640080" y="534924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predicoes.csv</a:t>
            </a:r>
            <a:endParaRPr/>
          </a:p>
        </p:txBody>
      </p:sp>
      <p:sp>
        <p:nvSpPr>
          <p:cNvPr id="508" name="Google Shape;508;p23"/>
          <p:cNvSpPr txBox="1"/>
          <p:nvPr/>
        </p:nvSpPr>
        <p:spPr>
          <a:xfrm>
            <a:off x="5212080" y="5349240"/>
            <a:ext cx="66111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categoria, confiança, motor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514" name="Google Shape;51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24"/>
          <p:cNvSpPr txBox="1"/>
          <p:nvPr/>
        </p:nvSpPr>
        <p:spPr>
          <a:xfrm>
            <a:off x="11265408" y="6364224"/>
            <a:ext cx="777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B12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24</a:t>
            </a:r>
            <a:endParaRPr/>
          </a:p>
        </p:txBody>
      </p:sp>
      <p:sp>
        <p:nvSpPr>
          <p:cNvPr id="516" name="Google Shape;516;p24"/>
          <p:cNvSpPr txBox="1"/>
          <p:nvPr/>
        </p:nvSpPr>
        <p:spPr>
          <a:xfrm>
            <a:off x="731520" y="182880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55E75"/>
                </a:solidFill>
                <a:latin typeface="Inter"/>
                <a:ea typeface="Inter"/>
                <a:cs typeface="Inter"/>
                <a:sym typeface="Inter"/>
              </a:rPr>
              <a:t>02 · FERRAMENTA</a:t>
            </a:r>
            <a:endParaRPr/>
          </a:p>
        </p:txBody>
      </p:sp>
      <p:sp>
        <p:nvSpPr>
          <p:cNvPr id="517" name="Google Shape;517;p24"/>
          <p:cNvSpPr txBox="1"/>
          <p:nvPr/>
        </p:nvSpPr>
        <p:spPr>
          <a:xfrm>
            <a:off x="713232" y="512064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0B1220"/>
                </a:solidFill>
                <a:latin typeface="Space Grotesk"/>
                <a:ea typeface="Space Grotesk"/>
                <a:cs typeface="Space Grotesk"/>
                <a:sym typeface="Space Grotesk"/>
              </a:rPr>
              <a:t>As seis peças juntas</a:t>
            </a:r>
            <a:endParaRPr/>
          </a:p>
        </p:txBody>
      </p:sp>
      <p:pic>
        <p:nvPicPr>
          <p:cNvPr descr="arquitetura.png" id="518" name="Google Shape;51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107" y="1664208"/>
            <a:ext cx="11841480" cy="4182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524" name="Google Shape;52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26"/>
          <p:cNvSpPr txBox="1"/>
          <p:nvPr/>
        </p:nvSpPr>
        <p:spPr>
          <a:xfrm>
            <a:off x="11265408" y="6364224"/>
            <a:ext cx="777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B12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26</a:t>
            </a:r>
            <a:endParaRPr/>
          </a:p>
        </p:txBody>
      </p:sp>
      <p:sp>
        <p:nvSpPr>
          <p:cNvPr id="526" name="Google Shape;526;p26"/>
          <p:cNvSpPr txBox="1"/>
          <p:nvPr/>
        </p:nvSpPr>
        <p:spPr>
          <a:xfrm>
            <a:off x="731520" y="182880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55E75"/>
                </a:solidFill>
                <a:latin typeface="Inter"/>
                <a:ea typeface="Inter"/>
                <a:cs typeface="Inter"/>
                <a:sym typeface="Inter"/>
              </a:rPr>
              <a:t>02 · FERRAMENTA</a:t>
            </a:r>
            <a:endParaRPr/>
          </a:p>
        </p:txBody>
      </p:sp>
      <p:sp>
        <p:nvSpPr>
          <p:cNvPr id="527" name="Google Shape;527;p26"/>
          <p:cNvSpPr txBox="1"/>
          <p:nvPr/>
        </p:nvSpPr>
        <p:spPr>
          <a:xfrm>
            <a:off x="713232" y="512064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0B1220"/>
                </a:solidFill>
                <a:latin typeface="Space Grotesk"/>
                <a:ea typeface="Space Grotesk"/>
                <a:cs typeface="Space Grotesk"/>
                <a:sym typeface="Space Grotesk"/>
              </a:rPr>
              <a:t>O que cada caminho custa</a:t>
            </a:r>
            <a:endParaRPr/>
          </a:p>
        </p:txBody>
      </p:sp>
      <p:sp>
        <p:nvSpPr>
          <p:cNvPr id="528" name="Google Shape;528;p26"/>
          <p:cNvSpPr txBox="1"/>
          <p:nvPr/>
        </p:nvSpPr>
        <p:spPr>
          <a:xfrm>
            <a:off x="365760" y="1572768"/>
            <a:ext cx="2194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6"/>
          <p:cNvSpPr txBox="1"/>
          <p:nvPr/>
        </p:nvSpPr>
        <p:spPr>
          <a:xfrm>
            <a:off x="2670048" y="1572768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55E75"/>
                </a:solidFill>
                <a:latin typeface="Inter"/>
                <a:ea typeface="Inter"/>
                <a:cs typeface="Inter"/>
                <a:sym typeface="Inter"/>
              </a:rPr>
              <a:t>ZeroLINC</a:t>
            </a:r>
            <a:endParaRPr/>
          </a:p>
        </p:txBody>
      </p:sp>
      <p:sp>
        <p:nvSpPr>
          <p:cNvPr id="530" name="Google Shape;530;p26"/>
          <p:cNvSpPr txBox="1"/>
          <p:nvPr/>
        </p:nvSpPr>
        <p:spPr>
          <a:xfrm>
            <a:off x="5431536" y="1572768"/>
            <a:ext cx="3419856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55E75"/>
                </a:solidFill>
                <a:latin typeface="Inter"/>
                <a:ea typeface="Inter"/>
                <a:cs typeface="Inter"/>
                <a:sym typeface="Inter"/>
              </a:rPr>
              <a:t>API comercial</a:t>
            </a:r>
            <a:endParaRPr/>
          </a:p>
        </p:txBody>
      </p:sp>
      <p:sp>
        <p:nvSpPr>
          <p:cNvPr id="531" name="Google Shape;531;p26"/>
          <p:cNvSpPr txBox="1"/>
          <p:nvPr/>
        </p:nvSpPr>
        <p:spPr>
          <a:xfrm>
            <a:off x="8961119" y="1572768"/>
            <a:ext cx="27523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55E75"/>
                </a:solidFill>
                <a:latin typeface="Inter"/>
                <a:ea typeface="Inter"/>
                <a:cs typeface="Inter"/>
                <a:sym typeface="Inter"/>
              </a:rPr>
              <a:t>SLM 7 a 70B</a:t>
            </a:r>
            <a:endParaRPr/>
          </a:p>
        </p:txBody>
      </p:sp>
      <p:sp>
        <p:nvSpPr>
          <p:cNvPr id="532" name="Google Shape;532;p26"/>
          <p:cNvSpPr/>
          <p:nvPr/>
        </p:nvSpPr>
        <p:spPr>
          <a:xfrm>
            <a:off x="365760" y="2066543"/>
            <a:ext cx="11347704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6"/>
          <p:cNvSpPr txBox="1"/>
          <p:nvPr/>
        </p:nvSpPr>
        <p:spPr>
          <a:xfrm>
            <a:off x="365760" y="2231136"/>
            <a:ext cx="2194560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Tempo</a:t>
            </a:r>
            <a:endParaRPr/>
          </a:p>
        </p:txBody>
      </p:sp>
      <p:sp>
        <p:nvSpPr>
          <p:cNvPr id="534" name="Google Shape;534;p26"/>
          <p:cNvSpPr txBox="1"/>
          <p:nvPr/>
        </p:nvSpPr>
        <p:spPr>
          <a:xfrm>
            <a:off x="2670048" y="2231136"/>
            <a:ext cx="2651760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8 a 28 s</a:t>
            </a:r>
            <a:endParaRPr/>
          </a:p>
        </p:txBody>
      </p:sp>
      <p:sp>
        <p:nvSpPr>
          <p:cNvPr id="535" name="Google Shape;535;p26"/>
          <p:cNvSpPr txBox="1"/>
          <p:nvPr/>
        </p:nvSpPr>
        <p:spPr>
          <a:xfrm>
            <a:off x="5431536" y="2231136"/>
            <a:ext cx="3419856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25 min a 3 h</a:t>
            </a:r>
            <a:endParaRPr/>
          </a:p>
        </p:txBody>
      </p:sp>
      <p:sp>
        <p:nvSpPr>
          <p:cNvPr id="536" name="Google Shape;536;p26"/>
          <p:cNvSpPr txBox="1"/>
          <p:nvPr/>
        </p:nvSpPr>
        <p:spPr>
          <a:xfrm>
            <a:off x="8961119" y="2231136"/>
            <a:ext cx="275234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não medido</a:t>
            </a:r>
            <a:endParaRPr/>
          </a:p>
        </p:txBody>
      </p:sp>
      <p:sp>
        <p:nvSpPr>
          <p:cNvPr id="537" name="Google Shape;537;p26"/>
          <p:cNvSpPr txBox="1"/>
          <p:nvPr/>
        </p:nvSpPr>
        <p:spPr>
          <a:xfrm>
            <a:off x="365760" y="3090672"/>
            <a:ext cx="2194560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Custo</a:t>
            </a:r>
            <a:endParaRPr/>
          </a:p>
        </p:txBody>
      </p:sp>
      <p:sp>
        <p:nvSpPr>
          <p:cNvPr id="538" name="Google Shape;538;p26"/>
          <p:cNvSpPr txBox="1"/>
          <p:nvPr/>
        </p:nvSpPr>
        <p:spPr>
          <a:xfrm>
            <a:off x="2670048" y="3090672"/>
            <a:ext cx="265176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&lt; 3 Wh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US$ 0,0006</a:t>
            </a:r>
            <a:endParaRPr/>
          </a:p>
        </p:txBody>
      </p:sp>
      <p:sp>
        <p:nvSpPr>
          <p:cNvPr id="539" name="Google Shape;539;p26"/>
          <p:cNvSpPr txBox="1"/>
          <p:nvPr/>
        </p:nvSpPr>
        <p:spPr>
          <a:xfrm>
            <a:off x="5431536" y="3090672"/>
            <a:ext cx="3419856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US$ 1,08 a 5,84</a:t>
            </a:r>
            <a:endParaRPr/>
          </a:p>
        </p:txBody>
      </p:sp>
      <p:sp>
        <p:nvSpPr>
          <p:cNvPr id="540" name="Google Shape;540;p26"/>
          <p:cNvSpPr txBox="1"/>
          <p:nvPr/>
        </p:nvSpPr>
        <p:spPr>
          <a:xfrm>
            <a:off x="8961119" y="3090672"/>
            <a:ext cx="275234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não medido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bem acima</a:t>
            </a:r>
            <a:endParaRPr/>
          </a:p>
        </p:txBody>
      </p:sp>
      <p:sp>
        <p:nvSpPr>
          <p:cNvPr id="541" name="Google Shape;541;p26"/>
          <p:cNvSpPr txBox="1"/>
          <p:nvPr/>
        </p:nvSpPr>
        <p:spPr>
          <a:xfrm>
            <a:off x="365760" y="4261104"/>
            <a:ext cx="2194560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Memória</a:t>
            </a:r>
            <a:endParaRPr/>
          </a:p>
        </p:txBody>
      </p:sp>
      <p:sp>
        <p:nvSpPr>
          <p:cNvPr id="542" name="Google Shape;542;p26"/>
          <p:cNvSpPr txBox="1"/>
          <p:nvPr/>
        </p:nvSpPr>
        <p:spPr>
          <a:xfrm>
            <a:off x="2670048" y="4261104"/>
            <a:ext cx="2651760" cy="8046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0,9 a 3,2 GB</a:t>
            </a:r>
            <a:endParaRPr/>
          </a:p>
        </p:txBody>
      </p:sp>
      <p:sp>
        <p:nvSpPr>
          <p:cNvPr id="543" name="Google Shape;543;p26"/>
          <p:cNvSpPr txBox="1"/>
          <p:nvPr/>
        </p:nvSpPr>
        <p:spPr>
          <a:xfrm>
            <a:off x="5431536" y="4261104"/>
            <a:ext cx="3419856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remota</a:t>
            </a:r>
            <a:endParaRPr/>
          </a:p>
        </p:txBody>
      </p:sp>
      <p:sp>
        <p:nvSpPr>
          <p:cNvPr id="544" name="Google Shape;544;p26"/>
          <p:cNvSpPr txBox="1"/>
          <p:nvPr/>
        </p:nvSpPr>
        <p:spPr>
          <a:xfrm>
            <a:off x="8961119" y="4261104"/>
            <a:ext cx="275234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14 a 140 GB</a:t>
            </a:r>
            <a:endParaRPr/>
          </a:p>
        </p:txBody>
      </p:sp>
      <p:sp>
        <p:nvSpPr>
          <p:cNvPr id="545" name="Google Shape;545;p26"/>
          <p:cNvSpPr/>
          <p:nvPr/>
        </p:nvSpPr>
        <p:spPr>
          <a:xfrm>
            <a:off x="201168" y="5038344"/>
            <a:ext cx="11567159" cy="822959"/>
          </a:xfrm>
          <a:prstGeom prst="roundRect">
            <a:avLst>
              <a:gd fmla="val 22000" name="adj"/>
            </a:avLst>
          </a:prstGeom>
          <a:solidFill>
            <a:srgbClr val="CFF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6"/>
          <p:cNvSpPr txBox="1"/>
          <p:nvPr/>
        </p:nvSpPr>
        <p:spPr>
          <a:xfrm>
            <a:off x="365760" y="5120640"/>
            <a:ext cx="2194560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Dado sai?</a:t>
            </a:r>
            <a:endParaRPr/>
          </a:p>
        </p:txBody>
      </p:sp>
      <p:sp>
        <p:nvSpPr>
          <p:cNvPr id="547" name="Google Shape;547;p26"/>
          <p:cNvSpPr txBox="1"/>
          <p:nvPr/>
        </p:nvSpPr>
        <p:spPr>
          <a:xfrm>
            <a:off x="2670048" y="5120640"/>
            <a:ext cx="2651760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não</a:t>
            </a:r>
            <a:endParaRPr/>
          </a:p>
        </p:txBody>
      </p:sp>
      <p:sp>
        <p:nvSpPr>
          <p:cNvPr id="548" name="Google Shape;548;p26"/>
          <p:cNvSpPr txBox="1"/>
          <p:nvPr/>
        </p:nvSpPr>
        <p:spPr>
          <a:xfrm>
            <a:off x="5431536" y="5120640"/>
            <a:ext cx="3419856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sim</a:t>
            </a:r>
            <a:endParaRPr/>
          </a:p>
        </p:txBody>
      </p:sp>
      <p:sp>
        <p:nvSpPr>
          <p:cNvPr id="549" name="Google Shape;549;p26"/>
          <p:cNvSpPr txBox="1"/>
          <p:nvPr/>
        </p:nvSpPr>
        <p:spPr>
          <a:xfrm>
            <a:off x="8961119" y="5120640"/>
            <a:ext cx="275234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não</a:t>
            </a:r>
            <a:endParaRPr/>
          </a:p>
        </p:txBody>
      </p:sp>
      <p:sp>
        <p:nvSpPr>
          <p:cNvPr id="550" name="Google Shape;550;p26"/>
          <p:cNvSpPr/>
          <p:nvPr/>
        </p:nvSpPr>
        <p:spPr>
          <a:xfrm>
            <a:off x="365760" y="3026664"/>
            <a:ext cx="11347704" cy="41148"/>
          </a:xfrm>
          <a:prstGeom prst="rect">
            <a:avLst/>
          </a:prstGeom>
          <a:solidFill>
            <a:srgbClr val="3F738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6"/>
          <p:cNvSpPr/>
          <p:nvPr/>
        </p:nvSpPr>
        <p:spPr>
          <a:xfrm>
            <a:off x="365760" y="4197096"/>
            <a:ext cx="11347704" cy="41148"/>
          </a:xfrm>
          <a:prstGeom prst="rect">
            <a:avLst/>
          </a:prstGeom>
          <a:solidFill>
            <a:srgbClr val="3F738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6"/>
          <p:cNvSpPr/>
          <p:nvPr/>
        </p:nvSpPr>
        <p:spPr>
          <a:xfrm>
            <a:off x="365760" y="5056631"/>
            <a:ext cx="11347704" cy="41148"/>
          </a:xfrm>
          <a:prstGeom prst="rect">
            <a:avLst/>
          </a:prstGeom>
          <a:solidFill>
            <a:srgbClr val="3F738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6"/>
          <p:cNvSpPr/>
          <p:nvPr/>
        </p:nvSpPr>
        <p:spPr>
          <a:xfrm>
            <a:off x="2615184" y="1572768"/>
            <a:ext cx="41148" cy="4352544"/>
          </a:xfrm>
          <a:prstGeom prst="rect">
            <a:avLst/>
          </a:prstGeom>
          <a:solidFill>
            <a:srgbClr val="3F738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6"/>
          <p:cNvSpPr/>
          <p:nvPr/>
        </p:nvSpPr>
        <p:spPr>
          <a:xfrm>
            <a:off x="5376672" y="1572768"/>
            <a:ext cx="41148" cy="4352544"/>
          </a:xfrm>
          <a:prstGeom prst="rect">
            <a:avLst/>
          </a:prstGeom>
          <a:solidFill>
            <a:srgbClr val="3F738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6"/>
          <p:cNvSpPr/>
          <p:nvPr/>
        </p:nvSpPr>
        <p:spPr>
          <a:xfrm>
            <a:off x="8906255" y="1572768"/>
            <a:ext cx="41148" cy="4352544"/>
          </a:xfrm>
          <a:prstGeom prst="rect">
            <a:avLst/>
          </a:prstGeom>
          <a:solidFill>
            <a:srgbClr val="3F738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561" name="Google Shape;56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29"/>
          <p:cNvSpPr txBox="1"/>
          <p:nvPr/>
        </p:nvSpPr>
        <p:spPr>
          <a:xfrm>
            <a:off x="11265408" y="6364224"/>
            <a:ext cx="777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B12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29</a:t>
            </a:r>
            <a:endParaRPr/>
          </a:p>
        </p:txBody>
      </p:sp>
      <p:sp>
        <p:nvSpPr>
          <p:cNvPr id="563" name="Google Shape;563;p29"/>
          <p:cNvSpPr txBox="1"/>
          <p:nvPr/>
        </p:nvSpPr>
        <p:spPr>
          <a:xfrm>
            <a:off x="731520" y="182880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55E75"/>
                </a:solidFill>
                <a:latin typeface="Inter"/>
                <a:ea typeface="Inter"/>
                <a:cs typeface="Inter"/>
                <a:sym typeface="Inter"/>
              </a:rPr>
              <a:t>03 · CONCLUSÕES</a:t>
            </a:r>
            <a:endParaRPr/>
          </a:p>
        </p:txBody>
      </p:sp>
      <p:sp>
        <p:nvSpPr>
          <p:cNvPr id="564" name="Google Shape;564;p29"/>
          <p:cNvSpPr txBox="1"/>
          <p:nvPr/>
        </p:nvSpPr>
        <p:spPr>
          <a:xfrm>
            <a:off x="713232" y="512064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0B1220"/>
                </a:solidFill>
                <a:latin typeface="Space Grotesk"/>
                <a:ea typeface="Space Grotesk"/>
                <a:cs typeface="Space Grotesk"/>
                <a:sym typeface="Space Grotesk"/>
              </a:rPr>
              <a:t>Limitações</a:t>
            </a:r>
            <a:endParaRPr/>
          </a:p>
        </p:txBody>
      </p:sp>
      <p:sp>
        <p:nvSpPr>
          <p:cNvPr id="565" name="Google Shape;565;p29"/>
          <p:cNvSpPr/>
          <p:nvPr/>
        </p:nvSpPr>
        <p:spPr>
          <a:xfrm>
            <a:off x="365760" y="2166112"/>
            <a:ext cx="201168" cy="20116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9"/>
          <p:cNvSpPr txBox="1"/>
          <p:nvPr/>
        </p:nvSpPr>
        <p:spPr>
          <a:xfrm>
            <a:off x="841247" y="2011680"/>
            <a:ext cx="10981944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Passar de 90% exige chamados já rotulados</a:t>
            </a:r>
            <a:endParaRPr/>
          </a:p>
        </p:txBody>
      </p:sp>
      <p:sp>
        <p:nvSpPr>
          <p:cNvPr id="567" name="Google Shape;567;p29"/>
          <p:cNvSpPr/>
          <p:nvPr/>
        </p:nvSpPr>
        <p:spPr>
          <a:xfrm>
            <a:off x="365760" y="3115056"/>
            <a:ext cx="201168" cy="20116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9"/>
          <p:cNvSpPr txBox="1"/>
          <p:nvPr/>
        </p:nvSpPr>
        <p:spPr>
          <a:xfrm>
            <a:off x="841247" y="2960624"/>
            <a:ext cx="10981944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Um CSIRT nacional, bilíngue, 8 das 12 categorias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574" name="Google Shape;57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30"/>
          <p:cNvSpPr txBox="1"/>
          <p:nvPr/>
        </p:nvSpPr>
        <p:spPr>
          <a:xfrm>
            <a:off x="11265408" y="6364224"/>
            <a:ext cx="777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B12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30</a:t>
            </a:r>
            <a:endParaRPr/>
          </a:p>
        </p:txBody>
      </p:sp>
      <p:sp>
        <p:nvSpPr>
          <p:cNvPr id="576" name="Google Shape;576;p30"/>
          <p:cNvSpPr txBox="1"/>
          <p:nvPr/>
        </p:nvSpPr>
        <p:spPr>
          <a:xfrm>
            <a:off x="731520" y="182880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55E75"/>
                </a:solidFill>
                <a:latin typeface="Inter"/>
                <a:ea typeface="Inter"/>
                <a:cs typeface="Inter"/>
                <a:sym typeface="Inter"/>
              </a:rPr>
              <a:t>03 · CONCLUSÕES</a:t>
            </a:r>
            <a:endParaRPr/>
          </a:p>
        </p:txBody>
      </p:sp>
      <p:pic>
        <p:nvPicPr>
          <p:cNvPr descr="disponiveis.png" id="577" name="Google Shape;57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2608" y="2116836"/>
            <a:ext cx="2761488" cy="27614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uncionais.png" id="578" name="Google Shape;578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40938" y="2116836"/>
            <a:ext cx="2761488" cy="27614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ustentaveis.png" id="579" name="Google Shape;579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89268" y="2116836"/>
            <a:ext cx="2761488" cy="27614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produziveis.png" id="580" name="Google Shape;580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37599" y="2116836"/>
            <a:ext cx="2761488" cy="2761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g08_fecho.jpg" id="586" name="Google Shape;58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2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seg2026_rodape.png" id="587" name="Google Shape;58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31"/>
          <p:cNvSpPr txBox="1"/>
          <p:nvPr/>
        </p:nvSpPr>
        <p:spPr>
          <a:xfrm>
            <a:off x="11265408" y="6364224"/>
            <a:ext cx="777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B12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31</a:t>
            </a:r>
            <a:endParaRPr/>
          </a:p>
        </p:txBody>
      </p:sp>
      <p:sp>
        <p:nvSpPr>
          <p:cNvPr id="589" name="Google Shape;589;p31"/>
          <p:cNvSpPr txBox="1"/>
          <p:nvPr/>
        </p:nvSpPr>
        <p:spPr>
          <a:xfrm>
            <a:off x="713232" y="594360"/>
            <a:ext cx="10881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0B1220"/>
                </a:solidFill>
                <a:latin typeface="Space Grotesk"/>
                <a:ea typeface="Space Grotesk"/>
                <a:cs typeface="Space Grotesk"/>
                <a:sym typeface="Space Grotesk"/>
              </a:rPr>
              <a:t>Obrigado!</a:t>
            </a:r>
            <a:endParaRPr/>
          </a:p>
        </p:txBody>
      </p:sp>
      <p:sp>
        <p:nvSpPr>
          <p:cNvPr id="590" name="Google Shape;590;p31"/>
          <p:cNvSpPr txBox="1"/>
          <p:nvPr/>
        </p:nvSpPr>
        <p:spPr>
          <a:xfrm>
            <a:off x="749808" y="1261872"/>
            <a:ext cx="10698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55E75"/>
                </a:solidFill>
                <a:latin typeface="Inter"/>
                <a:ea typeface="Inter"/>
                <a:cs typeface="Inter"/>
                <a:sym typeface="Inter"/>
              </a:rPr>
              <a:t>Perguntas são bem-vindas</a:t>
            </a:r>
            <a:endParaRPr/>
          </a:p>
        </p:txBody>
      </p:sp>
      <p:sp>
        <p:nvSpPr>
          <p:cNvPr id="591" name="Google Shape;591;p31"/>
          <p:cNvSpPr txBox="1"/>
          <p:nvPr/>
        </p:nvSpPr>
        <p:spPr>
          <a:xfrm>
            <a:off x="749808" y="1901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55E75"/>
                </a:solidFill>
                <a:latin typeface="Inter"/>
                <a:ea typeface="Inter"/>
                <a:cs typeface="Inter"/>
                <a:sym typeface="Inter"/>
              </a:rPr>
              <a:t>AUTOR DE CONTATO</a:t>
            </a:r>
            <a:endParaRPr/>
          </a:p>
        </p:txBody>
      </p:sp>
      <p:sp>
        <p:nvSpPr>
          <p:cNvPr id="592" name="Google Shape;592;p31"/>
          <p:cNvSpPr txBox="1"/>
          <p:nvPr/>
        </p:nvSpPr>
        <p:spPr>
          <a:xfrm>
            <a:off x="749808" y="2286000"/>
            <a:ext cx="5669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Space Grotesk"/>
                <a:ea typeface="Space Grotesk"/>
                <a:cs typeface="Space Grotesk"/>
                <a:sym typeface="Space Grotesk"/>
              </a:rPr>
              <a:t>Cristhian Kapelinski</a:t>
            </a:r>
            <a:endParaRPr/>
          </a:p>
        </p:txBody>
      </p:sp>
      <p:sp>
        <p:nvSpPr>
          <p:cNvPr id="593" name="Google Shape;593;p31"/>
          <p:cNvSpPr txBox="1"/>
          <p:nvPr/>
        </p:nvSpPr>
        <p:spPr>
          <a:xfrm>
            <a:off x="749808" y="2834640"/>
            <a:ext cx="94183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B12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cristhianavila.aluno@unipampa.edu.br</a:t>
            </a:r>
            <a:endParaRPr/>
          </a:p>
        </p:txBody>
      </p:sp>
      <p:pic>
        <p:nvPicPr>
          <p:cNvPr descr="aihorizonlabs.png" id="594" name="Google Shape;594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9808" y="3529584"/>
            <a:ext cx="1945538" cy="4754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pampa.png" id="595" name="Google Shape;595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38728" y="3456432"/>
            <a:ext cx="944202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erramenta.png" id="596" name="Google Shape;596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72200" y="749808"/>
            <a:ext cx="1051560" cy="1051560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31"/>
          <p:cNvSpPr txBox="1"/>
          <p:nvPr/>
        </p:nvSpPr>
        <p:spPr>
          <a:xfrm>
            <a:off x="5440680" y="1874519"/>
            <a:ext cx="2514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Ferramenta</a:t>
            </a:r>
            <a:endParaRPr/>
          </a:p>
        </p:txBody>
      </p:sp>
      <p:pic>
        <p:nvPicPr>
          <p:cNvPr descr="benchmark.png" id="598" name="Google Shape;598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41080" y="749808"/>
            <a:ext cx="1051560" cy="1051560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31"/>
          <p:cNvSpPr txBox="1"/>
          <p:nvPr/>
        </p:nvSpPr>
        <p:spPr>
          <a:xfrm>
            <a:off x="8021573" y="1874519"/>
            <a:ext cx="22905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Benchmark</a:t>
            </a:r>
            <a:endParaRPr/>
          </a:p>
        </p:txBody>
      </p:sp>
      <p:pic>
        <p:nvPicPr>
          <p:cNvPr descr="video.png" id="600" name="Google Shape;600;p3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927080" y="749808"/>
            <a:ext cx="1051560" cy="1051560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31"/>
          <p:cNvSpPr txBox="1"/>
          <p:nvPr/>
        </p:nvSpPr>
        <p:spPr>
          <a:xfrm>
            <a:off x="10500055" y="1874519"/>
            <a:ext cx="1691639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Vídeo</a:t>
            </a:r>
            <a:endParaRPr/>
          </a:p>
        </p:txBody>
      </p:sp>
      <p:sp>
        <p:nvSpPr>
          <p:cNvPr id="602" name="Google Shape;602;p31"/>
          <p:cNvSpPr/>
          <p:nvPr/>
        </p:nvSpPr>
        <p:spPr>
          <a:xfrm>
            <a:off x="621792" y="4133087"/>
            <a:ext cx="5852160" cy="768096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31"/>
          <p:cNvSpPr txBox="1"/>
          <p:nvPr/>
        </p:nvSpPr>
        <p:spPr>
          <a:xfrm>
            <a:off x="859536" y="4315968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55E75"/>
                </a:solidFill>
                <a:latin typeface="Inter"/>
                <a:ea typeface="Inter"/>
                <a:cs typeface="Inter"/>
                <a:sym typeface="Inter"/>
              </a:rPr>
              <a:t>APOIO</a:t>
            </a:r>
            <a:endParaRPr/>
          </a:p>
        </p:txBody>
      </p:sp>
      <p:pic>
        <p:nvPicPr>
          <p:cNvPr descr="capes.png" id="604" name="Google Shape;604;p3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221992" y="4335071"/>
            <a:ext cx="460220" cy="3458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npq.png" id="605" name="Google Shape;605;p3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755364" y="4335071"/>
            <a:ext cx="1148453" cy="3458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apergs.png" id="606" name="Google Shape;606;p3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976970" y="4335071"/>
            <a:ext cx="2222661" cy="3458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r_ZeroLINC.png" id="607" name="Google Shape;607;p3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103120" y="502920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31"/>
          <p:cNvSpPr txBox="1"/>
          <p:nvPr/>
        </p:nvSpPr>
        <p:spPr>
          <a:xfrm>
            <a:off x="1691640" y="589788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1220"/>
                </a:solidFill>
                <a:latin typeface="Inter"/>
                <a:ea typeface="Inter"/>
                <a:cs typeface="Inter"/>
                <a:sym typeface="Inter"/>
              </a:rPr>
              <a:t>Artigo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
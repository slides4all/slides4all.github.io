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3" roundtripDataSignature="AMtx7miJIEqbmd58fmBHRgW1387xHDlxh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C52F5AC-45B1-4B98-8164-680DB2C660F4}">
  <a:tblStyle styleId="{EC52F5AC-45B1-4B98-8164-680DB2C660F4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7EA"/>
          </a:solidFill>
        </a:fill>
      </a:tcStyle>
    </a:wholeTbl>
    <a:band1H>
      <a:tcTxStyle b="off" i="off"/>
      <a:tcStyle>
        <a:fill>
          <a:solidFill>
            <a:srgbClr val="CACBD3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CBD3"/>
          </a:solidFill>
        </a:fill>
      </a:tcStyle>
    </a:band1V>
    <a:band2V>
      <a:tcTxStyle b="off" i="off"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413b46ff8_2_0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g3f413b46ff8_2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Capa. Da capa, vá direto para o problema: nada de slide de agenda.</a:t>
            </a:r>
            <a:endParaRPr/>
          </a:p>
        </p:txBody>
      </p:sp>
      <p:sp>
        <p:nvSpPr>
          <p:cNvPr id="83" name="Google Shape;83;g3f413b46ff8_2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413b46ff8_2_25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" name="Google Shape;107;g3f413b46ff8_2_2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Primeiro slide após a capa. Diga o problema em voz alta antes de mostrar os números. Cerca de 30% do tempo total cobre problema e fundamentação.</a:t>
            </a:r>
            <a:endParaRPr/>
          </a:p>
        </p:txBody>
      </p:sp>
      <p:sp>
        <p:nvSpPr>
          <p:cNvPr id="108" name="Google Shape;108;g3f413b46ff8_2_2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413b46ff8_2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8" name="Google Shape;138;g3f413b46ff8_2_5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f413b46ff8_2_9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1" name="Google Shape;171;g3f413b46ff8_2_9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Contribuição e resultados devem ocupar cerca de 45% do tempo.</a:t>
            </a:r>
            <a:endParaRPr/>
          </a:p>
        </p:txBody>
      </p:sp>
      <p:sp>
        <p:nvSpPr>
          <p:cNvPr id="172" name="Google Shape;172;g3f413b46ff8_2_9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f413b46ff8_2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0" name="Google Shape;200;g3f413b46ff8_2_1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f413b46ff8_2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8" name="Google Shape;228;g3f413b46ff8_2_14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f413b46ff8_2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6" name="Google Shape;256;g3f413b46ff8_2_1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f413b46ff8_2_20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g3f413b46ff8_2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f413b46ff8_2_227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1" name="Google Shape;311;g3f413b46ff8_2_22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Informe tudo que um terceiro precisaria para repetir o experimento.</a:t>
            </a:r>
            <a:endParaRPr/>
          </a:p>
        </p:txBody>
      </p:sp>
      <p:sp>
        <p:nvSpPr>
          <p:cNvPr id="312" name="Google Shape;312;g3f413b46ff8_2_22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f413b46ff8_2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0" name="Google Shape;340;g3f413b46ff8_2_25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f413b46ff8_2_275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1" name="Google Shape;361;g3f413b46ff8_2_27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Números grandes são lidos até no celular. Use este slide como fecho da avaliação.</a:t>
            </a:r>
            <a:endParaRPr/>
          </a:p>
        </p:txBody>
      </p:sp>
      <p:sp>
        <p:nvSpPr>
          <p:cNvPr id="362" name="Google Shape;362;g3f413b46ff8_2_27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f413b46ff8_2_303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1" name="Google Shape;391;g3f413b46ff8_2_30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Conclusões e trabalhos futuros: cerca de 10% do tempo. Repita a mensagem central.</a:t>
            </a:r>
            <a:endParaRPr/>
          </a:p>
        </p:txBody>
      </p:sp>
      <p:sp>
        <p:nvSpPr>
          <p:cNvPr id="392" name="Google Shape;392;g3f413b46ff8_2_30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f413b46ff8_2_334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3" name="Google Shape;423;g3f413b46ff8_2_33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Conclusões e trabalhos futuros: cerca de 10% do tempo. Repita a mensagem central.</a:t>
            </a:r>
            <a:endParaRPr/>
          </a:p>
        </p:txBody>
      </p:sp>
      <p:sp>
        <p:nvSpPr>
          <p:cNvPr id="424" name="Google Shape;424;g3f413b46ff8_2_33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f413bfe7c8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f413bfe7c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f413b46ff8_2_361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9" name="Google Shape;459;g3f413b46ff8_2_36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Deixe este slide na tela durante as perguntas. Substitua os quadrados brancos por QR Codes reais.</a:t>
            </a:r>
            <a:endParaRPr/>
          </a:p>
        </p:txBody>
      </p:sp>
      <p:sp>
        <p:nvSpPr>
          <p:cNvPr id="460" name="Google Shape;460;g3f413b46ff8_2_36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f413b46ff8_2_38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7" name="Google Shape;487;g3f413b46ff8_2_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4.png"/><Relationship Id="rId8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6.png"/><Relationship Id="rId7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14.png"/><Relationship Id="rId5" Type="http://schemas.openxmlformats.org/officeDocument/2006/relationships/image" Target="../media/image10.png"/><Relationship Id="rId6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10" Type="http://schemas.openxmlformats.org/officeDocument/2006/relationships/image" Target="../media/image12.png"/><Relationship Id="rId9" Type="http://schemas.openxmlformats.org/officeDocument/2006/relationships/image" Target="../media/image16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1.png"/><Relationship Id="rId8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413b46ff8_2_0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g3f413b46ff8_2_0"/>
          <p:cNvSpPr/>
          <p:nvPr/>
        </p:nvSpPr>
        <p:spPr>
          <a:xfrm>
            <a:off x="9174175" y="3840480"/>
            <a:ext cx="6035100" cy="6035100"/>
          </a:xfrm>
          <a:prstGeom prst="ellipse">
            <a:avLst/>
          </a:prstGeom>
          <a:noFill/>
          <a:ln cap="flat" cmpd="sng" w="15225">
            <a:solidFill>
              <a:srgbClr val="D7DE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g3f413b46ff8_2_0"/>
          <p:cNvSpPr/>
          <p:nvPr/>
        </p:nvSpPr>
        <p:spPr>
          <a:xfrm>
            <a:off x="9905695" y="4572000"/>
            <a:ext cx="4572000" cy="4572000"/>
          </a:xfrm>
          <a:prstGeom prst="ellipse">
            <a:avLst/>
          </a:prstGeom>
          <a:noFill/>
          <a:ln cap="flat" cmpd="sng" w="15225">
            <a:solidFill>
              <a:srgbClr val="D7DE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g3f413b46ff8_2_0"/>
          <p:cNvSpPr/>
          <p:nvPr/>
        </p:nvSpPr>
        <p:spPr>
          <a:xfrm>
            <a:off x="10637215" y="5303520"/>
            <a:ext cx="3108900" cy="3108900"/>
          </a:xfrm>
          <a:prstGeom prst="ellipse">
            <a:avLst/>
          </a:prstGeom>
          <a:noFill/>
          <a:ln cap="flat" cmpd="sng" w="20300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g3f413b46ff8_2_0"/>
          <p:cNvSpPr/>
          <p:nvPr/>
        </p:nvSpPr>
        <p:spPr>
          <a:xfrm>
            <a:off x="0" y="0"/>
            <a:ext cx="12191700" cy="915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g3f413b46ff8_2_0"/>
          <p:cNvSpPr txBox="1"/>
          <p:nvPr/>
        </p:nvSpPr>
        <p:spPr>
          <a:xfrm>
            <a:off x="658368" y="475488"/>
            <a:ext cx="9000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900" u="none" cap="none" strike="noStrike">
                <a:solidFill>
                  <a:srgbClr val="C97A0A"/>
                </a:solidFill>
                <a:latin typeface="Arial"/>
                <a:ea typeface="Arial"/>
                <a:cs typeface="Arial"/>
                <a:sym typeface="Arial"/>
              </a:rPr>
              <a:t>XXVI SIMPÓSIO BRASILEIRO DE CIBERSEGURANÇA  ·  SBSEG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g3f413b46ff8_2_0"/>
          <p:cNvSpPr txBox="1"/>
          <p:nvPr/>
        </p:nvSpPr>
        <p:spPr>
          <a:xfrm>
            <a:off x="658368" y="804672"/>
            <a:ext cx="7863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 a 4 de setembro de 2026  ·  Armação dos Búzios, 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g3f413b46ff8_2_0"/>
          <p:cNvSpPr txBox="1"/>
          <p:nvPr/>
        </p:nvSpPr>
        <p:spPr>
          <a:xfrm>
            <a:off x="658368" y="1353312"/>
            <a:ext cx="8450000" cy="17450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MulitaMiner: An LLM-Based Tool for Structuring Vulnerability Scanner Report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g3f413b46ff8_2_0"/>
          <p:cNvSpPr/>
          <p:nvPr/>
        </p:nvSpPr>
        <p:spPr>
          <a:xfrm>
            <a:off x="658368" y="3602736"/>
            <a:ext cx="1463100" cy="549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g3f413b46ff8_2_0"/>
          <p:cNvSpPr txBox="1"/>
          <p:nvPr/>
        </p:nvSpPr>
        <p:spPr>
          <a:xfrm>
            <a:off x="658368" y="3840480"/>
            <a:ext cx="8412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9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Douglas Lautert, Beatriz Machado, Cristhian Kapelinski, Diego Kreutz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g3f413b46ff8_2_0"/>
          <p:cNvSpPr txBox="1"/>
          <p:nvPr/>
        </p:nvSpPr>
        <p:spPr>
          <a:xfrm>
            <a:off x="658368" y="4242816"/>
            <a:ext cx="8412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2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AI Horizon Labs  ·  Universidade Federal do Pampa (UNIPAMPA)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2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Programa de Pós-Graduação em Engenharia de Software (PPGES)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3f413b46ff8_2_0"/>
          <p:cNvSpPr/>
          <p:nvPr/>
        </p:nvSpPr>
        <p:spPr>
          <a:xfrm>
            <a:off x="9189720" y="1463040"/>
            <a:ext cx="2340900" cy="23409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97" name="Google Shape;97;g3f413b46ff8_2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22892" y="2113585"/>
            <a:ext cx="1874519" cy="1039772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g3f413b46ff8_2_0"/>
          <p:cNvSpPr/>
          <p:nvPr/>
        </p:nvSpPr>
        <p:spPr>
          <a:xfrm>
            <a:off x="0" y="5760720"/>
            <a:ext cx="12191700" cy="109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99" name="Google Shape;99;g3f413b46ff8_2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368" y="5987262"/>
            <a:ext cx="2200960" cy="5436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pampa.png" id="100" name="Google Shape;100;g3f413b46ff8_2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33648" y="5867933"/>
            <a:ext cx="1193292" cy="7822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pges.png" id="101" name="Google Shape;101;g3f413b46ff8_2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01260" y="5848045"/>
            <a:ext cx="822045" cy="8220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bc.png" id="102" name="Google Shape;102;g3f413b46ff8_2_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123668" y="5920739"/>
            <a:ext cx="409658" cy="6172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ff.png" id="103" name="Google Shape;103;g3f413b46ff8_2_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146529" y="5936284"/>
            <a:ext cx="577139" cy="5925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bseg26_mark.png" id="104" name="Google Shape;104;g3f413b46ff8_2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22814" y="5951830"/>
            <a:ext cx="1023715" cy="5678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413b46ff8_2_25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g3f413b46ff8_2_25"/>
          <p:cNvSpPr txBox="1"/>
          <p:nvPr/>
        </p:nvSpPr>
        <p:spPr>
          <a:xfrm>
            <a:off x="658368" y="365760"/>
            <a:ext cx="10874959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7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INTRODUÇÃO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g3f413b46ff8_2_25"/>
          <p:cNvSpPr txBox="1"/>
          <p:nvPr/>
        </p:nvSpPr>
        <p:spPr>
          <a:xfrm>
            <a:off x="658368" y="621792"/>
            <a:ext cx="10874959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6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O problema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g3f413b46ff8_2_25"/>
          <p:cNvSpPr/>
          <p:nvPr/>
        </p:nvSpPr>
        <p:spPr>
          <a:xfrm>
            <a:off x="658368" y="1408176"/>
            <a:ext cx="1005840" cy="50292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g3f413b46ff8_2_25"/>
          <p:cNvSpPr/>
          <p:nvPr/>
        </p:nvSpPr>
        <p:spPr>
          <a:xfrm>
            <a:off x="1737360" y="1408176"/>
            <a:ext cx="384048" cy="50292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g3f413b46ff8_2_25"/>
          <p:cNvSpPr/>
          <p:nvPr/>
        </p:nvSpPr>
        <p:spPr>
          <a:xfrm>
            <a:off x="2194560" y="1408176"/>
            <a:ext cx="219456" cy="50292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g3f413b46ff8_2_25"/>
          <p:cNvSpPr/>
          <p:nvPr/>
        </p:nvSpPr>
        <p:spPr>
          <a:xfrm>
            <a:off x="658368" y="6272784"/>
            <a:ext cx="10874959" cy="10972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117" name="Google Shape;117;g3f413b46ff8_2_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g3f413b46ff8_2_25"/>
          <p:cNvSpPr/>
          <p:nvPr/>
        </p:nvSpPr>
        <p:spPr>
          <a:xfrm>
            <a:off x="1675180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119" name="Google Shape;119;g3f413b46ff8_2_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g3f413b46ff8_2_25"/>
          <p:cNvSpPr/>
          <p:nvPr/>
        </p:nvSpPr>
        <p:spPr>
          <a:xfrm>
            <a:off x="2329484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121" name="Google Shape;121;g3f413b46ff8_2_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g3f413b46ff8_2_25"/>
          <p:cNvSpPr txBox="1"/>
          <p:nvPr/>
        </p:nvSpPr>
        <p:spPr>
          <a:xfrm>
            <a:off x="11030407" y="6373368"/>
            <a:ext cx="502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5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g3f413b46ff8_2_25"/>
          <p:cNvSpPr/>
          <p:nvPr/>
        </p:nvSpPr>
        <p:spPr>
          <a:xfrm>
            <a:off x="10948111" y="6409944"/>
            <a:ext cx="7315" cy="219456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124" name="Google Shape;124;g3f413b46ff8_2_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g3f413b46ff8_2_25"/>
          <p:cNvSpPr txBox="1"/>
          <p:nvPr/>
        </p:nvSpPr>
        <p:spPr>
          <a:xfrm>
            <a:off x="7362890" y="6400800"/>
            <a:ext cx="2880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g3f413b46ff8_2_25"/>
          <p:cNvSpPr txBox="1"/>
          <p:nvPr/>
        </p:nvSpPr>
        <p:spPr>
          <a:xfrm>
            <a:off x="658367" y="1650000"/>
            <a:ext cx="11435309" cy="15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32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Relatórios de scanners de vulnerabilidades ficam presos em PDFs não consultáveis, e cada scanner usa campos e terminologia próprios.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g3f413b46ff8_2_25"/>
          <p:cNvSpPr/>
          <p:nvPr/>
        </p:nvSpPr>
        <p:spPr>
          <a:xfrm>
            <a:off x="658368" y="3370000"/>
            <a:ext cx="1463100" cy="549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g3f413b46ff8_2_25"/>
          <p:cNvSpPr/>
          <p:nvPr/>
        </p:nvSpPr>
        <p:spPr>
          <a:xfrm>
            <a:off x="658368" y="3550000"/>
            <a:ext cx="3742200" cy="26500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g3f413b46ff8_2_25"/>
          <p:cNvSpPr/>
          <p:nvPr/>
        </p:nvSpPr>
        <p:spPr>
          <a:xfrm>
            <a:off x="658368" y="3550000"/>
            <a:ext cx="68700" cy="2650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g3f413b46ff8_2_25"/>
          <p:cNvSpPr txBox="1"/>
          <p:nvPr/>
        </p:nvSpPr>
        <p:spPr>
          <a:xfrm>
            <a:off x="969264" y="3760000"/>
            <a:ext cx="3120300" cy="2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45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2 formatos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23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de PDF diferentes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OpenVAS e Tenable WAS: cada um com seu layout e vocabulário.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g3f413b46ff8_2_25"/>
          <p:cNvSpPr txBox="1"/>
          <p:nvPr/>
        </p:nvSpPr>
        <p:spPr>
          <a:xfrm>
            <a:off x="4703261" y="3452391"/>
            <a:ext cx="7004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3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Na prática, para os CSIRTs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g3f413b46ff8_2_25"/>
          <p:cNvSpPr txBox="1"/>
          <p:nvPr/>
        </p:nvSpPr>
        <p:spPr>
          <a:xfrm>
            <a:off x="4526280" y="5350000"/>
            <a:ext cx="7004400" cy="991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2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Anos de PDFs acumulados, sem estrutura consultável.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g3f413b46ff8_2_25"/>
          <p:cNvSpPr/>
          <p:nvPr/>
        </p:nvSpPr>
        <p:spPr>
          <a:xfrm rot="-179713">
            <a:off x="6704790" y="3897530"/>
            <a:ext cx="1234386" cy="914445"/>
          </a:xfrm>
          <a:prstGeom prst="roundRect">
            <a:avLst>
              <a:gd fmla="val 14000" name="adj"/>
            </a:avLst>
          </a:prstGeom>
          <a:solidFill>
            <a:srgbClr val="FFFFFF"/>
          </a:solidFill>
          <a:ln cap="flat" cmpd="sng" w="12700">
            <a:solidFill>
              <a:srgbClr val="D8DC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PDF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g3f413b46ff8_2_25"/>
          <p:cNvSpPr/>
          <p:nvPr/>
        </p:nvSpPr>
        <p:spPr>
          <a:xfrm rot="300320">
            <a:off x="7423569" y="4366644"/>
            <a:ext cx="1234407" cy="914289"/>
          </a:xfrm>
          <a:prstGeom prst="roundRect">
            <a:avLst>
              <a:gd fmla="val 14000" name="adj"/>
            </a:avLst>
          </a:prstGeom>
          <a:solidFill>
            <a:srgbClr val="FFFFFF"/>
          </a:solidFill>
          <a:ln cap="flat" cmpd="sng" w="12700">
            <a:solidFill>
              <a:srgbClr val="D8DC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PDF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Tenable WAS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g3f413b46ff8_2_25"/>
          <p:cNvSpPr/>
          <p:nvPr/>
        </p:nvSpPr>
        <p:spPr>
          <a:xfrm rot="-540269">
            <a:off x="6064537" y="4376847"/>
            <a:ext cx="1234413" cy="914268"/>
          </a:xfrm>
          <a:prstGeom prst="roundRect">
            <a:avLst>
              <a:gd fmla="val 14000" name="adj"/>
            </a:avLst>
          </a:prstGeom>
          <a:solidFill>
            <a:srgbClr val="FFFFFF"/>
          </a:solidFill>
          <a:ln cap="flat" cmpd="sng" w="12700">
            <a:solidFill>
              <a:srgbClr val="D8DC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PDF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OpenVAS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f413b46ff8_2_55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g3f413b46ff8_2_55"/>
          <p:cNvSpPr txBox="1"/>
          <p:nvPr/>
        </p:nvSpPr>
        <p:spPr>
          <a:xfrm>
            <a:off x="658368" y="365760"/>
            <a:ext cx="10875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7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FUNDAMENTAÇÃO</a:t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g3f413b46ff8_2_55"/>
          <p:cNvSpPr txBox="1"/>
          <p:nvPr/>
        </p:nvSpPr>
        <p:spPr>
          <a:xfrm>
            <a:off x="658368" y="621792"/>
            <a:ext cx="10875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6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O que já existe e o que falta</a:t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g3f413b46ff8_2_55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144" name="Google Shape;144;g3f413b46ff8_2_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g3f413b46ff8_2_55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146" name="Google Shape;146;g3f413b46ff8_2_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g3f413b46ff8_2_55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148" name="Google Shape;148;g3f413b46ff8_2_5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g3f413b46ff8_2_55"/>
          <p:cNvSpPr txBox="1"/>
          <p:nvPr/>
        </p:nvSpPr>
        <p:spPr>
          <a:xfrm>
            <a:off x="11030407" y="6373368"/>
            <a:ext cx="50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5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1400" u="none" cap="none" strike="noStrike">
              <a:solidFill>
                <a:srgbClr val="0F23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F23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g3f413b46ff8_2_55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151" name="Google Shape;151;g3f413b46ff8_2_5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f413b46ff8_2_55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g3f413b46ff8_2_55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g3f413b46ff8_2_55"/>
          <p:cNvSpPr/>
          <p:nvPr/>
        </p:nvSpPr>
        <p:spPr>
          <a:xfrm>
            <a:off x="274200" y="1817238"/>
            <a:ext cx="5623500" cy="1595400"/>
          </a:xfrm>
          <a:prstGeom prst="roundRect">
            <a:avLst>
              <a:gd fmla="val 6000" name="adj"/>
            </a:avLst>
          </a:prstGeom>
          <a:solidFill>
            <a:srgbClr val="E8F5F1"/>
          </a:solidFill>
          <a:ln>
            <a:noFill/>
          </a:ln>
        </p:spPr>
        <p:txBody>
          <a:bodyPr anchorCtr="0" anchor="ctr" bIns="48600" lIns="97225" spcFirstLastPara="1" rIns="97225" wrap="square" tIns="48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2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g3f413b46ff8_2_55"/>
          <p:cNvSpPr/>
          <p:nvPr/>
        </p:nvSpPr>
        <p:spPr>
          <a:xfrm>
            <a:off x="476332" y="1847972"/>
            <a:ext cx="552900" cy="552900"/>
          </a:xfrm>
          <a:prstGeom prst="ellipse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4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2327"/>
          </a:p>
        </p:txBody>
      </p:sp>
      <p:sp>
        <p:nvSpPr>
          <p:cNvPr id="156" name="Google Shape;156;g3f413b46ff8_2_55"/>
          <p:cNvSpPr txBox="1"/>
          <p:nvPr/>
        </p:nvSpPr>
        <p:spPr>
          <a:xfrm>
            <a:off x="1231384" y="1976782"/>
            <a:ext cx="4453500" cy="12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27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O QUE O MinerU JÁ FAZ</a:t>
            </a:r>
            <a:endParaRPr sz="2327"/>
          </a:p>
          <a:p>
            <a:pPr indent="0" lvl="0" marL="0" marR="0" rtl="0" algn="l">
              <a:lnSpc>
                <a:spcPct val="100000"/>
              </a:lnSpc>
              <a:spcBef>
                <a:spcPts val="851"/>
              </a:spcBef>
              <a:spcAft>
                <a:spcPts val="0"/>
              </a:spcAft>
              <a:buNone/>
            </a:pPr>
            <a:r>
              <a:rPr b="0" i="0" lang="en-US" sz="2527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PDF → Markdown/JSON, com layout e tabelas preservados.</a:t>
            </a:r>
            <a:endParaRPr sz="2527"/>
          </a:p>
        </p:txBody>
      </p:sp>
      <p:sp>
        <p:nvSpPr>
          <p:cNvPr id="157" name="Google Shape;157;g3f413b46ff8_2_55"/>
          <p:cNvSpPr/>
          <p:nvPr/>
        </p:nvSpPr>
        <p:spPr>
          <a:xfrm>
            <a:off x="6216600" y="1797739"/>
            <a:ext cx="5623500" cy="1703100"/>
          </a:xfrm>
          <a:prstGeom prst="roundRect">
            <a:avLst>
              <a:gd fmla="val 6000" name="adj"/>
            </a:avLst>
          </a:prstGeom>
          <a:solidFill>
            <a:srgbClr val="FDF3E2"/>
          </a:solidFill>
          <a:ln>
            <a:noFill/>
          </a:ln>
        </p:spPr>
        <p:txBody>
          <a:bodyPr anchorCtr="0" anchor="ctr" bIns="48600" lIns="97225" spcFirstLastPara="1" rIns="97225" wrap="square" tIns="48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2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g3f413b46ff8_2_55"/>
          <p:cNvSpPr/>
          <p:nvPr/>
        </p:nvSpPr>
        <p:spPr>
          <a:xfrm>
            <a:off x="6485389" y="1847972"/>
            <a:ext cx="552900" cy="552900"/>
          </a:xfrm>
          <a:prstGeom prst="ellipse">
            <a:avLst/>
          </a:prstGeom>
          <a:solidFill>
            <a:srgbClr val="8A5A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4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✕</a:t>
            </a:r>
            <a:endParaRPr sz="2327"/>
          </a:p>
        </p:txBody>
      </p:sp>
      <p:sp>
        <p:nvSpPr>
          <p:cNvPr id="159" name="Google Shape;159;g3f413b46ff8_2_55"/>
          <p:cNvSpPr txBox="1"/>
          <p:nvPr/>
        </p:nvSpPr>
        <p:spPr>
          <a:xfrm>
            <a:off x="7168825" y="1817076"/>
            <a:ext cx="4860000" cy="16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27" u="none" cap="none" strike="noStrike">
                <a:solidFill>
                  <a:srgbClr val="8A5A00"/>
                </a:solidFill>
                <a:latin typeface="Arial"/>
                <a:ea typeface="Arial"/>
                <a:cs typeface="Arial"/>
                <a:sym typeface="Arial"/>
              </a:rPr>
              <a:t>O QUE FALTA</a:t>
            </a:r>
            <a:endParaRPr sz="2327"/>
          </a:p>
          <a:p>
            <a:pPr indent="0" lvl="0" marL="0" marR="0" rtl="0" algn="l">
              <a:lnSpc>
                <a:spcPct val="100000"/>
              </a:lnSpc>
              <a:spcBef>
                <a:spcPts val="638"/>
              </a:spcBef>
              <a:spcAft>
                <a:spcPts val="0"/>
              </a:spcAft>
              <a:buNone/>
            </a:pPr>
            <a:r>
              <a:rPr b="0" i="0" lang="en-US" sz="2221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0" i="0" lang="en-US" sz="2421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 Não entende a vulnerabilidade</a:t>
            </a:r>
            <a:endParaRPr sz="2527"/>
          </a:p>
          <a:p>
            <a:pPr indent="0" lvl="0" marL="0" marR="0" rtl="0" algn="l">
              <a:lnSpc>
                <a:spcPct val="100000"/>
              </a:lnSpc>
              <a:spcBef>
                <a:spcPts val="425"/>
              </a:spcBef>
              <a:spcAft>
                <a:spcPts val="0"/>
              </a:spcAft>
              <a:buNone/>
            </a:pPr>
            <a:r>
              <a:rPr b="0" i="0" lang="en-US" sz="2421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•  Schema não unificado</a:t>
            </a:r>
            <a:endParaRPr sz="2527"/>
          </a:p>
          <a:p>
            <a:pPr indent="0" lvl="0" marL="0" marR="0" rtl="0" algn="l">
              <a:lnSpc>
                <a:spcPct val="100000"/>
              </a:lnSpc>
              <a:spcBef>
                <a:spcPts val="425"/>
              </a:spcBef>
              <a:spcAft>
                <a:spcPts val="0"/>
              </a:spcAft>
              <a:buNone/>
            </a:pPr>
            <a:r>
              <a:rPr b="0" i="0" lang="en-US" sz="2421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•  Sem avaliação campo a campo</a:t>
            </a:r>
            <a:endParaRPr sz="2527"/>
          </a:p>
        </p:txBody>
      </p:sp>
      <p:sp>
        <p:nvSpPr>
          <p:cNvPr id="160" name="Google Shape;160;g3f413b46ff8_2_55"/>
          <p:cNvSpPr/>
          <p:nvPr/>
        </p:nvSpPr>
        <p:spPr>
          <a:xfrm>
            <a:off x="274200" y="4048750"/>
            <a:ext cx="3509700" cy="1595400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8600" lIns="97225" spcFirstLastPara="1" rIns="97225" wrap="square" tIns="48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2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g3f413b46ff8_2_55"/>
          <p:cNvSpPr txBox="1"/>
          <p:nvPr/>
        </p:nvSpPr>
        <p:spPr>
          <a:xfrm>
            <a:off x="529449" y="4048750"/>
            <a:ext cx="2999100" cy="16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68" u="none" cap="none" strike="noStrike">
                <a:solidFill>
                  <a:srgbClr val="0F2369"/>
                </a:solidFill>
                <a:latin typeface="Courier New"/>
                <a:ea typeface="Courier New"/>
                <a:cs typeface="Courier New"/>
                <a:sym typeface="Courier New"/>
              </a:rPr>
              <a:t>Vulnerability: SQL Injection</a:t>
            </a:r>
            <a:endParaRPr sz="2527"/>
          </a:p>
          <a:p>
            <a:pPr indent="0" lvl="0" marL="0" marR="0" rtl="0" algn="l">
              <a:lnSpc>
                <a:spcPct val="100000"/>
              </a:lnSpc>
              <a:spcBef>
                <a:spcPts val="638"/>
              </a:spcBef>
              <a:spcAft>
                <a:spcPts val="0"/>
              </a:spcAft>
              <a:buNone/>
            </a:pPr>
            <a:r>
              <a:rPr b="0" i="0" lang="en-US" sz="2368" u="none" cap="none" strike="noStrike">
                <a:solidFill>
                  <a:srgbClr val="0F2369"/>
                </a:solidFill>
                <a:latin typeface="Courier New"/>
                <a:ea typeface="Courier New"/>
                <a:cs typeface="Courier New"/>
                <a:sym typeface="Courier New"/>
              </a:rPr>
              <a:t>Host: 10.0.2.15</a:t>
            </a:r>
            <a:endParaRPr sz="2527"/>
          </a:p>
          <a:p>
            <a:pPr indent="0" lvl="0" marL="0" marR="0" rtl="0" algn="l">
              <a:lnSpc>
                <a:spcPct val="100000"/>
              </a:lnSpc>
              <a:spcBef>
                <a:spcPts val="638"/>
              </a:spcBef>
              <a:spcAft>
                <a:spcPts val="0"/>
              </a:spcAft>
              <a:buNone/>
            </a:pPr>
            <a:r>
              <a:rPr b="0" i="0" lang="en-US" sz="2368" u="none" cap="none" strike="noStrike">
                <a:solidFill>
                  <a:srgbClr val="0F2369"/>
                </a:solidFill>
                <a:latin typeface="Courier New"/>
                <a:ea typeface="Courier New"/>
                <a:cs typeface="Courier New"/>
                <a:sym typeface="Courier New"/>
              </a:rPr>
              <a:t>Severity: High</a:t>
            </a:r>
            <a:endParaRPr sz="2527"/>
          </a:p>
        </p:txBody>
      </p:sp>
      <p:sp>
        <p:nvSpPr>
          <p:cNvPr id="162" name="Google Shape;162;g3f413b46ff8_2_55"/>
          <p:cNvSpPr/>
          <p:nvPr/>
        </p:nvSpPr>
        <p:spPr>
          <a:xfrm>
            <a:off x="3975313" y="4665602"/>
            <a:ext cx="446700" cy="361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B7280"/>
          </a:solidFill>
          <a:ln>
            <a:noFill/>
          </a:ln>
        </p:spPr>
        <p:txBody>
          <a:bodyPr anchorCtr="0" anchor="ctr" bIns="48600" lIns="97225" spcFirstLastPara="1" rIns="97225" wrap="square" tIns="48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2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g3f413b46ff8_2_55"/>
          <p:cNvSpPr/>
          <p:nvPr/>
        </p:nvSpPr>
        <p:spPr>
          <a:xfrm>
            <a:off x="4613435" y="4048750"/>
            <a:ext cx="2233500" cy="1595400"/>
          </a:xfrm>
          <a:prstGeom prst="roundRect">
            <a:avLst>
              <a:gd fmla="val 8000" name="adj"/>
            </a:avLst>
          </a:prstGeom>
          <a:solidFill>
            <a:srgbClr val="E9ECF6"/>
          </a:solidFill>
          <a:ln>
            <a:noFill/>
          </a:ln>
        </p:spPr>
        <p:txBody>
          <a:bodyPr anchorCtr="0" anchor="ctr" bIns="48600" lIns="97225" spcFirstLastPara="1" rIns="97225" wrap="square" tIns="48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2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g3f413b46ff8_2_55"/>
          <p:cNvSpPr txBox="1"/>
          <p:nvPr/>
        </p:nvSpPr>
        <p:spPr>
          <a:xfrm>
            <a:off x="4719789" y="4048750"/>
            <a:ext cx="2020500" cy="12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65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MinerU</a:t>
            </a:r>
            <a:endParaRPr sz="2327"/>
          </a:p>
          <a:p>
            <a:pPr indent="0" lvl="0" marL="0" marR="0" rtl="0" algn="ctr">
              <a:lnSpc>
                <a:spcPct val="100000"/>
              </a:lnSpc>
              <a:spcBef>
                <a:spcPts val="851"/>
              </a:spcBef>
              <a:spcAft>
                <a:spcPts val="0"/>
              </a:spcAft>
              <a:buNone/>
            </a:pPr>
            <a:r>
              <a:rPr b="0" i="0" lang="en-US" sz="2314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PDF → MD/JSON</a:t>
            </a:r>
            <a:endParaRPr sz="2527"/>
          </a:p>
        </p:txBody>
      </p:sp>
      <p:sp>
        <p:nvSpPr>
          <p:cNvPr id="165" name="Google Shape;165;g3f413b46ff8_2_55"/>
          <p:cNvSpPr/>
          <p:nvPr/>
        </p:nvSpPr>
        <p:spPr>
          <a:xfrm>
            <a:off x="7038302" y="4665602"/>
            <a:ext cx="446700" cy="361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B7280"/>
          </a:solidFill>
          <a:ln>
            <a:noFill/>
          </a:ln>
        </p:spPr>
        <p:txBody>
          <a:bodyPr anchorCtr="0" anchor="ctr" bIns="48600" lIns="97225" spcFirstLastPara="1" rIns="97225" wrap="square" tIns="48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2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3f413b46ff8_2_55"/>
          <p:cNvSpPr/>
          <p:nvPr/>
        </p:nvSpPr>
        <p:spPr>
          <a:xfrm>
            <a:off x="7676425" y="4048738"/>
            <a:ext cx="4453500" cy="1595400"/>
          </a:xfrm>
          <a:prstGeom prst="roundRect">
            <a:avLst>
              <a:gd fmla="val 8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48600" lIns="97225" spcFirstLastPara="1" rIns="97225" wrap="square" tIns="48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2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g3f413b46ff8_2_55"/>
          <p:cNvSpPr txBox="1"/>
          <p:nvPr/>
        </p:nvSpPr>
        <p:spPr>
          <a:xfrm>
            <a:off x="7931675" y="4048738"/>
            <a:ext cx="4260300" cy="11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38"/>
              </a:spcBef>
              <a:spcAft>
                <a:spcPts val="0"/>
              </a:spcAft>
              <a:buNone/>
            </a:pPr>
            <a:r>
              <a:rPr lang="en-US" sz="2068">
                <a:solidFill>
                  <a:srgbClr val="0F2369"/>
                </a:solidFill>
                <a:latin typeface="Courier New"/>
                <a:ea typeface="Courier New"/>
                <a:cs typeface="Courier New"/>
                <a:sym typeface="Courier New"/>
              </a:rPr>
              <a:t>Coluna 1        Coluna 2</a:t>
            </a:r>
            <a:endParaRPr sz="2068">
              <a:solidFill>
                <a:srgbClr val="0F236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8"/>
              </a:spcBef>
              <a:spcAft>
                <a:spcPts val="0"/>
              </a:spcAft>
              <a:buNone/>
            </a:pPr>
            <a:r>
              <a:rPr lang="en-US" sz="2068">
                <a:solidFill>
                  <a:srgbClr val="0F2369"/>
                </a:solidFill>
                <a:latin typeface="Courier New"/>
                <a:ea typeface="Courier New"/>
                <a:cs typeface="Courier New"/>
                <a:sym typeface="Courier New"/>
              </a:rPr>
              <a:t>SQL Injection   10.0.2.15</a:t>
            </a:r>
            <a:endParaRPr sz="2068">
              <a:solidFill>
                <a:srgbClr val="0F236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8"/>
              </a:spcBef>
              <a:spcAft>
                <a:spcPts val="0"/>
              </a:spcAft>
              <a:buNone/>
            </a:pPr>
            <a:r>
              <a:rPr lang="en-US" sz="2068">
                <a:solidFill>
                  <a:srgbClr val="0F2369"/>
                </a:solidFill>
                <a:latin typeface="Courier New"/>
                <a:ea typeface="Courier New"/>
                <a:cs typeface="Courier New"/>
                <a:sym typeface="Courier New"/>
              </a:rPr>
              <a:t>High          CVE-2023-1234</a:t>
            </a:r>
            <a:endParaRPr sz="2127"/>
          </a:p>
        </p:txBody>
      </p:sp>
      <p:sp>
        <p:nvSpPr>
          <p:cNvPr id="168" name="Google Shape;168;g3f413b46ff8_2_55"/>
          <p:cNvSpPr/>
          <p:nvPr/>
        </p:nvSpPr>
        <p:spPr>
          <a:xfrm>
            <a:off x="658493" y="6015350"/>
            <a:ext cx="10875000" cy="6999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200000" spcFirstLastPara="1" rIns="200000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MulitaMiner fecha essa lacuna: </a:t>
            </a:r>
            <a:r>
              <a:rPr b="0" i="0" lang="en-US" sz="24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extração direta, schema único, avaliação campo a campo</a:t>
            </a:r>
            <a:r>
              <a:rPr lang="en-US" sz="2400">
                <a:solidFill>
                  <a:srgbClr val="0F2369"/>
                </a:solidFill>
              </a:rPr>
              <a:t>,</a:t>
            </a:r>
            <a:r>
              <a:rPr b="0" i="0" lang="en-US" sz="24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 onde o MinerU para, o MulitaMiner continua.</a:t>
            </a:r>
            <a:endParaRPr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f413b46ff8_2_92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g3f413b46ff8_2_92"/>
          <p:cNvSpPr txBox="1"/>
          <p:nvPr/>
        </p:nvSpPr>
        <p:spPr>
          <a:xfrm>
            <a:off x="658368" y="365760"/>
            <a:ext cx="10875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7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SOLUÇÃO PROPOSTA · ETAPA 1/4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g3f413b46ff8_2_92"/>
          <p:cNvSpPr txBox="1"/>
          <p:nvPr/>
        </p:nvSpPr>
        <p:spPr>
          <a:xfrm>
            <a:off x="658368" y="621792"/>
            <a:ext cx="10875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6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MulitaMiner: pipeline e arquitetura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g3f413b46ff8_2_92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g3f413b46ff8_2_92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g3f413b46ff8_2_92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g3f413b46ff8_2_92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181" name="Google Shape;181;g3f413b46ff8_2_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g3f413b46ff8_2_92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183" name="Google Shape;183;g3f413b46ff8_2_9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g3f413b46ff8_2_92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185" name="Google Shape;185;g3f413b46ff8_2_9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g3f413b46ff8_2_92"/>
          <p:cNvSpPr txBox="1"/>
          <p:nvPr/>
        </p:nvSpPr>
        <p:spPr>
          <a:xfrm>
            <a:off x="11030407" y="6373368"/>
            <a:ext cx="502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5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1400" u="none" cap="none" strike="noStrike">
              <a:solidFill>
                <a:srgbClr val="0F23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F23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g3f413b46ff8_2_92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188" name="Google Shape;188;g3f413b46ff8_2_9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g3f413b46ff8_2_92"/>
          <p:cNvSpPr txBox="1"/>
          <p:nvPr/>
        </p:nvSpPr>
        <p:spPr>
          <a:xfrm>
            <a:off x="7362890" y="6400800"/>
            <a:ext cx="2880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g3f413b46ff8_2_92"/>
          <p:cNvSpPr/>
          <p:nvPr/>
        </p:nvSpPr>
        <p:spPr>
          <a:xfrm>
            <a:off x="6297018" y="1682500"/>
            <a:ext cx="68700" cy="4230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g3f413b46ff8_2_92"/>
          <p:cNvSpPr/>
          <p:nvPr/>
        </p:nvSpPr>
        <p:spPr>
          <a:xfrm>
            <a:off x="658368" y="2148840"/>
            <a:ext cx="2567100" cy="310896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9050">
            <a:solidFill>
              <a:srgbClr val="0F23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09725" spcFirstLastPara="1" rIns="109725" wrap="square" tIns="164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44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25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Ingestão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24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PDF → blocos por vulnerabilidade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2" name="Google Shape;192;g3f413b46ff8_2_92"/>
          <p:cNvCxnSpPr/>
          <p:nvPr/>
        </p:nvCxnSpPr>
        <p:spPr>
          <a:xfrm>
            <a:off x="3252977" y="3744079"/>
            <a:ext cx="146400" cy="0"/>
          </a:xfrm>
          <a:prstGeom prst="straightConnector1">
            <a:avLst/>
          </a:prstGeom>
          <a:noFill/>
          <a:ln cap="flat" cmpd="sng" w="25400">
            <a:solidFill>
              <a:srgbClr val="6B7280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93" name="Google Shape;193;g3f413b46ff8_2_92"/>
          <p:cNvSpPr/>
          <p:nvPr/>
        </p:nvSpPr>
        <p:spPr>
          <a:xfrm>
            <a:off x="3426714" y="2148840"/>
            <a:ext cx="2567100" cy="310896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9050">
            <a:solidFill>
              <a:srgbClr val="E2E6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09725" spcFirstLastPara="1" rIns="109725" wrap="square" tIns="164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4400" u="none" cap="none" strike="noStrike">
                <a:solidFill>
                  <a:srgbClr val="B7BEC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2500" u="none" cap="none" strike="noStrike">
                <a:solidFill>
                  <a:srgbClr val="B7BEC9"/>
                </a:solidFill>
                <a:latin typeface="Arial"/>
                <a:ea typeface="Arial"/>
                <a:cs typeface="Arial"/>
                <a:sym typeface="Arial"/>
              </a:rPr>
              <a:t>Segmentação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2400" u="none" cap="none" strike="noStrike">
                <a:solidFill>
                  <a:srgbClr val="CBD0D8"/>
                </a:solidFill>
                <a:latin typeface="Arial"/>
                <a:ea typeface="Arial"/>
                <a:cs typeface="Arial"/>
                <a:sym typeface="Arial"/>
              </a:rPr>
              <a:t>sem cortar no meio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4" name="Google Shape;194;g3f413b46ff8_2_92"/>
          <p:cNvCxnSpPr/>
          <p:nvPr/>
        </p:nvCxnSpPr>
        <p:spPr>
          <a:xfrm>
            <a:off x="6021324" y="3744079"/>
            <a:ext cx="146400" cy="0"/>
          </a:xfrm>
          <a:prstGeom prst="straightConnector1">
            <a:avLst/>
          </a:prstGeom>
          <a:noFill/>
          <a:ln cap="flat" cmpd="sng" w="25400">
            <a:solidFill>
              <a:srgbClr val="6B7280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95" name="Google Shape;195;g3f413b46ff8_2_92"/>
          <p:cNvSpPr/>
          <p:nvPr/>
        </p:nvSpPr>
        <p:spPr>
          <a:xfrm>
            <a:off x="6195060" y="2148840"/>
            <a:ext cx="2567100" cy="310896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9050">
            <a:solidFill>
              <a:srgbClr val="E2E6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09725" spcFirstLastPara="1" rIns="109725" wrap="square" tIns="164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4400" u="none" cap="none" strike="noStrike">
                <a:solidFill>
                  <a:srgbClr val="B7BEC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2500" u="none" cap="none" strike="noStrike">
                <a:solidFill>
                  <a:srgbClr val="B7BEC9"/>
                </a:solidFill>
                <a:latin typeface="Arial"/>
                <a:ea typeface="Arial"/>
                <a:cs typeface="Arial"/>
                <a:sym typeface="Arial"/>
              </a:rPr>
              <a:t>LLM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2400" u="none" cap="none" strike="noStrike">
                <a:solidFill>
                  <a:srgbClr val="CBD0D8"/>
                </a:solidFill>
                <a:latin typeface="Arial"/>
                <a:ea typeface="Arial"/>
                <a:cs typeface="Arial"/>
                <a:sym typeface="Arial"/>
              </a:rPr>
              <a:t>validação + reparo de JSON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6" name="Google Shape;196;g3f413b46ff8_2_92"/>
          <p:cNvCxnSpPr/>
          <p:nvPr/>
        </p:nvCxnSpPr>
        <p:spPr>
          <a:xfrm>
            <a:off x="8789669" y="3744079"/>
            <a:ext cx="146400" cy="0"/>
          </a:xfrm>
          <a:prstGeom prst="straightConnector1">
            <a:avLst/>
          </a:prstGeom>
          <a:noFill/>
          <a:ln cap="flat" cmpd="sng" w="25400">
            <a:solidFill>
              <a:srgbClr val="6B7280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97" name="Google Shape;197;g3f413b46ff8_2_92"/>
          <p:cNvSpPr/>
          <p:nvPr/>
        </p:nvSpPr>
        <p:spPr>
          <a:xfrm>
            <a:off x="8963406" y="2148840"/>
            <a:ext cx="2567100" cy="310896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9050">
            <a:solidFill>
              <a:srgbClr val="E2E6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09725" spcFirstLastPara="1" rIns="109725" wrap="square" tIns="164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4400" u="none" cap="none" strike="noStrike">
                <a:solidFill>
                  <a:srgbClr val="B7BEC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2500" u="none" cap="none" strike="noStrike">
                <a:solidFill>
                  <a:srgbClr val="B7BEC9"/>
                </a:solidFill>
                <a:latin typeface="Arial"/>
                <a:ea typeface="Arial"/>
                <a:cs typeface="Arial"/>
                <a:sym typeface="Arial"/>
              </a:rPr>
              <a:t>Exportação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2400" u="none" cap="none" strike="noStrike">
                <a:solidFill>
                  <a:srgbClr val="CBD0D8"/>
                </a:solidFill>
                <a:latin typeface="Arial"/>
                <a:ea typeface="Arial"/>
                <a:cs typeface="Arial"/>
                <a:sym typeface="Arial"/>
              </a:rPr>
              <a:t>JSON, CSV, TSV, XLSX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f413b46ff8_2_120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g3f413b46ff8_2_120"/>
          <p:cNvSpPr txBox="1"/>
          <p:nvPr/>
        </p:nvSpPr>
        <p:spPr>
          <a:xfrm>
            <a:off x="658368" y="365760"/>
            <a:ext cx="10875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7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SOLUÇÃO PROPOSTA · ETAPA 2/4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g3f413b46ff8_2_120"/>
          <p:cNvSpPr txBox="1"/>
          <p:nvPr/>
        </p:nvSpPr>
        <p:spPr>
          <a:xfrm>
            <a:off x="658368" y="621792"/>
            <a:ext cx="10875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6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MulitaMiner: pipeline e arquitetura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g3f413b46ff8_2_120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g3f413b46ff8_2_120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g3f413b46ff8_2_120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g3f413b46ff8_2_120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209" name="Google Shape;209;g3f413b46ff8_2_1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g3f413b46ff8_2_120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211" name="Google Shape;211;g3f413b46ff8_2_1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g3f413b46ff8_2_120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213" name="Google Shape;213;g3f413b46ff8_2_1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g3f413b46ff8_2_120"/>
          <p:cNvSpPr txBox="1"/>
          <p:nvPr/>
        </p:nvSpPr>
        <p:spPr>
          <a:xfrm>
            <a:off x="11030407" y="6373368"/>
            <a:ext cx="502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5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1" i="0" sz="1400" u="none" cap="none" strike="noStrike">
              <a:solidFill>
                <a:srgbClr val="0F23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F23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g3f413b46ff8_2_120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216" name="Google Shape;216;g3f413b46ff8_2_1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g3f413b46ff8_2_120"/>
          <p:cNvSpPr txBox="1"/>
          <p:nvPr/>
        </p:nvSpPr>
        <p:spPr>
          <a:xfrm>
            <a:off x="7362890" y="6400800"/>
            <a:ext cx="2880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g3f413b46ff8_2_120"/>
          <p:cNvSpPr/>
          <p:nvPr/>
        </p:nvSpPr>
        <p:spPr>
          <a:xfrm>
            <a:off x="6297018" y="1682500"/>
            <a:ext cx="68700" cy="4230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g3f413b46ff8_2_120"/>
          <p:cNvSpPr/>
          <p:nvPr/>
        </p:nvSpPr>
        <p:spPr>
          <a:xfrm>
            <a:off x="658368" y="2148840"/>
            <a:ext cx="2567100" cy="310896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9050">
            <a:solidFill>
              <a:srgbClr val="0F23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09725" spcFirstLastPara="1" rIns="109725" wrap="square" tIns="164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44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25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Ingestão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24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PDF → blocos por vulnerabilidade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0" name="Google Shape;220;g3f413b46ff8_2_120"/>
          <p:cNvCxnSpPr/>
          <p:nvPr/>
        </p:nvCxnSpPr>
        <p:spPr>
          <a:xfrm>
            <a:off x="3252977" y="3744079"/>
            <a:ext cx="146400" cy="0"/>
          </a:xfrm>
          <a:prstGeom prst="straightConnector1">
            <a:avLst/>
          </a:prstGeom>
          <a:noFill/>
          <a:ln cap="flat" cmpd="sng" w="25400">
            <a:solidFill>
              <a:srgbClr val="6B7280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21" name="Google Shape;221;g3f413b46ff8_2_120"/>
          <p:cNvSpPr/>
          <p:nvPr/>
        </p:nvSpPr>
        <p:spPr>
          <a:xfrm>
            <a:off x="3426714" y="2148840"/>
            <a:ext cx="2567100" cy="310896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9050">
            <a:solidFill>
              <a:srgbClr val="1279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09725" spcFirstLastPara="1" rIns="109725" wrap="square" tIns="164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4400" u="none" cap="none" strike="noStrike">
                <a:solidFill>
                  <a:srgbClr val="1279B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25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Segmentação 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24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sem cortar no meio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2" name="Google Shape;222;g3f413b46ff8_2_120"/>
          <p:cNvCxnSpPr/>
          <p:nvPr/>
        </p:nvCxnSpPr>
        <p:spPr>
          <a:xfrm>
            <a:off x="6021324" y="3744079"/>
            <a:ext cx="146400" cy="0"/>
          </a:xfrm>
          <a:prstGeom prst="straightConnector1">
            <a:avLst/>
          </a:prstGeom>
          <a:noFill/>
          <a:ln cap="flat" cmpd="sng" w="25400">
            <a:solidFill>
              <a:srgbClr val="6B7280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23" name="Google Shape;223;g3f413b46ff8_2_120"/>
          <p:cNvSpPr/>
          <p:nvPr/>
        </p:nvSpPr>
        <p:spPr>
          <a:xfrm>
            <a:off x="6195060" y="2148840"/>
            <a:ext cx="2567100" cy="310896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9050">
            <a:solidFill>
              <a:srgbClr val="E2E6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09725" spcFirstLastPara="1" rIns="109725" wrap="square" tIns="164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4400" u="none" cap="none" strike="noStrike">
                <a:solidFill>
                  <a:srgbClr val="B7BEC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2500" u="none" cap="none" strike="noStrike">
                <a:solidFill>
                  <a:srgbClr val="B7BEC9"/>
                </a:solidFill>
                <a:latin typeface="Arial"/>
                <a:ea typeface="Arial"/>
                <a:cs typeface="Arial"/>
                <a:sym typeface="Arial"/>
              </a:rPr>
              <a:t>LLM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2400" u="none" cap="none" strike="noStrike">
                <a:solidFill>
                  <a:srgbClr val="CBD0D8"/>
                </a:solidFill>
                <a:latin typeface="Arial"/>
                <a:ea typeface="Arial"/>
                <a:cs typeface="Arial"/>
                <a:sym typeface="Arial"/>
              </a:rPr>
              <a:t>validação + reparo de JSON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4" name="Google Shape;224;g3f413b46ff8_2_120"/>
          <p:cNvCxnSpPr/>
          <p:nvPr/>
        </p:nvCxnSpPr>
        <p:spPr>
          <a:xfrm>
            <a:off x="8789669" y="3744079"/>
            <a:ext cx="146400" cy="0"/>
          </a:xfrm>
          <a:prstGeom prst="straightConnector1">
            <a:avLst/>
          </a:prstGeom>
          <a:noFill/>
          <a:ln cap="flat" cmpd="sng" w="25400">
            <a:solidFill>
              <a:srgbClr val="6B7280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25" name="Google Shape;225;g3f413b46ff8_2_120"/>
          <p:cNvSpPr/>
          <p:nvPr/>
        </p:nvSpPr>
        <p:spPr>
          <a:xfrm>
            <a:off x="8963406" y="2148840"/>
            <a:ext cx="2567100" cy="310896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9050">
            <a:solidFill>
              <a:srgbClr val="E2E6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09725" spcFirstLastPara="1" rIns="109725" wrap="square" tIns="164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4400" u="none" cap="none" strike="noStrike">
                <a:solidFill>
                  <a:srgbClr val="B7BEC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2500" u="none" cap="none" strike="noStrike">
                <a:solidFill>
                  <a:srgbClr val="B7BEC9"/>
                </a:solidFill>
                <a:latin typeface="Arial"/>
                <a:ea typeface="Arial"/>
                <a:cs typeface="Arial"/>
                <a:sym typeface="Arial"/>
              </a:rPr>
              <a:t>Exportação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2400" u="none" cap="none" strike="noStrike">
                <a:solidFill>
                  <a:srgbClr val="CBD0D8"/>
                </a:solidFill>
                <a:latin typeface="Arial"/>
                <a:ea typeface="Arial"/>
                <a:cs typeface="Arial"/>
                <a:sym typeface="Arial"/>
              </a:rPr>
              <a:t>JSON, CSV, TSV, XLSX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f413b46ff8_2_147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g3f413b46ff8_2_147"/>
          <p:cNvSpPr txBox="1"/>
          <p:nvPr/>
        </p:nvSpPr>
        <p:spPr>
          <a:xfrm>
            <a:off x="658368" y="365760"/>
            <a:ext cx="10875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7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SOLUÇÃO PROPOSTA · ETAPA 3/4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g3f413b46ff8_2_147"/>
          <p:cNvSpPr txBox="1"/>
          <p:nvPr/>
        </p:nvSpPr>
        <p:spPr>
          <a:xfrm>
            <a:off x="658368" y="621792"/>
            <a:ext cx="10875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6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MulitaMiner: pipeline e arquitetura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g3f413b46ff8_2_147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g3f413b46ff8_2_147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g3f413b46ff8_2_147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g3f413b46ff8_2_147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237" name="Google Shape;237;g3f413b46ff8_2_1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g3f413b46ff8_2_147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239" name="Google Shape;239;g3f413b46ff8_2_1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g3f413b46ff8_2_147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241" name="Google Shape;241;g3f413b46ff8_2_1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g3f413b46ff8_2_147"/>
          <p:cNvSpPr txBox="1"/>
          <p:nvPr/>
        </p:nvSpPr>
        <p:spPr>
          <a:xfrm>
            <a:off x="11030407" y="6373368"/>
            <a:ext cx="502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5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1" i="0" sz="1500" u="none" cap="none" strike="noStrike">
              <a:solidFill>
                <a:srgbClr val="0F23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F23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g3f413b46ff8_2_147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244" name="Google Shape;244;g3f413b46ff8_2_14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g3f413b46ff8_2_147"/>
          <p:cNvSpPr txBox="1"/>
          <p:nvPr/>
        </p:nvSpPr>
        <p:spPr>
          <a:xfrm>
            <a:off x="7362890" y="6400800"/>
            <a:ext cx="2880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g3f413b46ff8_2_147"/>
          <p:cNvSpPr/>
          <p:nvPr/>
        </p:nvSpPr>
        <p:spPr>
          <a:xfrm>
            <a:off x="6297018" y="1682500"/>
            <a:ext cx="68700" cy="4230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g3f413b46ff8_2_147"/>
          <p:cNvSpPr/>
          <p:nvPr/>
        </p:nvSpPr>
        <p:spPr>
          <a:xfrm>
            <a:off x="658368" y="2148840"/>
            <a:ext cx="2567100" cy="310896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9050">
            <a:solidFill>
              <a:srgbClr val="0F23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09725" spcFirstLastPara="1" rIns="109725" wrap="square" tIns="164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44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25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Ingestão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24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PDF → blocos por vulnerabilidade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8" name="Google Shape;248;g3f413b46ff8_2_147"/>
          <p:cNvCxnSpPr/>
          <p:nvPr/>
        </p:nvCxnSpPr>
        <p:spPr>
          <a:xfrm>
            <a:off x="3252977" y="3744079"/>
            <a:ext cx="146400" cy="0"/>
          </a:xfrm>
          <a:prstGeom prst="straightConnector1">
            <a:avLst/>
          </a:prstGeom>
          <a:noFill/>
          <a:ln cap="flat" cmpd="sng" w="25400">
            <a:solidFill>
              <a:srgbClr val="6B7280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49" name="Google Shape;249;g3f413b46ff8_2_147"/>
          <p:cNvSpPr/>
          <p:nvPr/>
        </p:nvSpPr>
        <p:spPr>
          <a:xfrm>
            <a:off x="3426714" y="2148840"/>
            <a:ext cx="2567100" cy="310896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9050">
            <a:solidFill>
              <a:srgbClr val="1279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09725" spcFirstLastPara="1" rIns="109725" wrap="square" tIns="164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4400" u="none" cap="none" strike="noStrike">
                <a:solidFill>
                  <a:srgbClr val="1279B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25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Segmentação 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24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sem cortar no meio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0" name="Google Shape;250;g3f413b46ff8_2_147"/>
          <p:cNvCxnSpPr/>
          <p:nvPr/>
        </p:nvCxnSpPr>
        <p:spPr>
          <a:xfrm>
            <a:off x="6021324" y="3744079"/>
            <a:ext cx="146400" cy="0"/>
          </a:xfrm>
          <a:prstGeom prst="straightConnector1">
            <a:avLst/>
          </a:prstGeom>
          <a:noFill/>
          <a:ln cap="flat" cmpd="sng" w="25400">
            <a:solidFill>
              <a:srgbClr val="6B7280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51" name="Google Shape;251;g3f413b46ff8_2_147"/>
          <p:cNvSpPr/>
          <p:nvPr/>
        </p:nvSpPr>
        <p:spPr>
          <a:xfrm>
            <a:off x="6195060" y="2148840"/>
            <a:ext cx="2567100" cy="310896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9050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09725" spcFirstLastPara="1" rIns="109725" wrap="square" tIns="164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4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25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LLM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24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validação + reparo de JSON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2" name="Google Shape;252;g3f413b46ff8_2_147"/>
          <p:cNvCxnSpPr/>
          <p:nvPr/>
        </p:nvCxnSpPr>
        <p:spPr>
          <a:xfrm>
            <a:off x="8789669" y="3744079"/>
            <a:ext cx="146400" cy="0"/>
          </a:xfrm>
          <a:prstGeom prst="straightConnector1">
            <a:avLst/>
          </a:prstGeom>
          <a:noFill/>
          <a:ln cap="flat" cmpd="sng" w="25400">
            <a:solidFill>
              <a:srgbClr val="6B7280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53" name="Google Shape;253;g3f413b46ff8_2_147"/>
          <p:cNvSpPr/>
          <p:nvPr/>
        </p:nvSpPr>
        <p:spPr>
          <a:xfrm>
            <a:off x="8963406" y="2148840"/>
            <a:ext cx="2567100" cy="310896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9050">
            <a:solidFill>
              <a:srgbClr val="E2E6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09725" spcFirstLastPara="1" rIns="109725" wrap="square" tIns="164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4400" u="none" cap="none" strike="noStrike">
                <a:solidFill>
                  <a:srgbClr val="B7BEC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2500" u="none" cap="none" strike="noStrike">
                <a:solidFill>
                  <a:srgbClr val="B7BEC9"/>
                </a:solidFill>
                <a:latin typeface="Arial"/>
                <a:ea typeface="Arial"/>
                <a:cs typeface="Arial"/>
                <a:sym typeface="Arial"/>
              </a:rPr>
              <a:t>Exportação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2400" u="none" cap="none" strike="noStrike">
                <a:solidFill>
                  <a:srgbClr val="CBD0D8"/>
                </a:solidFill>
                <a:latin typeface="Arial"/>
                <a:ea typeface="Arial"/>
                <a:cs typeface="Arial"/>
                <a:sym typeface="Arial"/>
              </a:rPr>
              <a:t>JSON, CSV, TSV, XLSX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f413b46ff8_2_174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g3f413b46ff8_2_174"/>
          <p:cNvSpPr txBox="1"/>
          <p:nvPr/>
        </p:nvSpPr>
        <p:spPr>
          <a:xfrm>
            <a:off x="658368" y="365760"/>
            <a:ext cx="10875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7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SOLUÇÃO PROPOSTA · ETAPA 4/4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g3f413b46ff8_2_174"/>
          <p:cNvSpPr txBox="1"/>
          <p:nvPr/>
        </p:nvSpPr>
        <p:spPr>
          <a:xfrm>
            <a:off x="658368" y="621792"/>
            <a:ext cx="10875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6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MulitaMiner: pipeline e arquitetura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g3f413b46ff8_2_174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g3f413b46ff8_2_174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g3f413b46ff8_2_174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g3f413b46ff8_2_174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265" name="Google Shape;265;g3f413b46ff8_2_1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g3f413b46ff8_2_174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267" name="Google Shape;267;g3f413b46ff8_2_1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g3f413b46ff8_2_174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269" name="Google Shape;269;g3f413b46ff8_2_17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g3f413b46ff8_2_174"/>
          <p:cNvSpPr txBox="1"/>
          <p:nvPr/>
        </p:nvSpPr>
        <p:spPr>
          <a:xfrm>
            <a:off x="11030407" y="6373368"/>
            <a:ext cx="502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1" i="0" sz="1400" u="none" cap="none" strike="noStrike">
              <a:solidFill>
                <a:srgbClr val="0F23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g3f413b46ff8_2_174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272" name="Google Shape;272;g3f413b46ff8_2_17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g3f413b46ff8_2_174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g3f413b46ff8_2_174"/>
          <p:cNvSpPr/>
          <p:nvPr/>
        </p:nvSpPr>
        <p:spPr>
          <a:xfrm>
            <a:off x="6297018" y="1682500"/>
            <a:ext cx="68700" cy="4230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g3f413b46ff8_2_174"/>
          <p:cNvSpPr/>
          <p:nvPr/>
        </p:nvSpPr>
        <p:spPr>
          <a:xfrm>
            <a:off x="658368" y="2148840"/>
            <a:ext cx="2567100" cy="31089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9050">
            <a:solidFill>
              <a:srgbClr val="0F23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09725" spcFirstLastPara="1" rIns="109725" wrap="square" tIns="164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44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25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Ingestão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24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PDF → blocos por vulnerabilidade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6" name="Google Shape;276;g3f413b46ff8_2_174"/>
          <p:cNvCxnSpPr/>
          <p:nvPr/>
        </p:nvCxnSpPr>
        <p:spPr>
          <a:xfrm>
            <a:off x="3252977" y="3744079"/>
            <a:ext cx="146400" cy="0"/>
          </a:xfrm>
          <a:prstGeom prst="straightConnector1">
            <a:avLst/>
          </a:prstGeom>
          <a:noFill/>
          <a:ln cap="flat" cmpd="sng" w="25400">
            <a:solidFill>
              <a:srgbClr val="6B7280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77" name="Google Shape;277;g3f413b46ff8_2_174"/>
          <p:cNvSpPr/>
          <p:nvPr/>
        </p:nvSpPr>
        <p:spPr>
          <a:xfrm>
            <a:off x="3426714" y="2148840"/>
            <a:ext cx="2567100" cy="31089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9050">
            <a:solidFill>
              <a:srgbClr val="1279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09725" spcFirstLastPara="1" rIns="109725" wrap="square" tIns="164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4400" u="none" cap="none" strike="noStrike">
                <a:solidFill>
                  <a:srgbClr val="1279B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25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Segmentação 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24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sem cortar no meio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8" name="Google Shape;278;g3f413b46ff8_2_174"/>
          <p:cNvCxnSpPr/>
          <p:nvPr/>
        </p:nvCxnSpPr>
        <p:spPr>
          <a:xfrm>
            <a:off x="6021324" y="3744079"/>
            <a:ext cx="146400" cy="0"/>
          </a:xfrm>
          <a:prstGeom prst="straightConnector1">
            <a:avLst/>
          </a:prstGeom>
          <a:noFill/>
          <a:ln cap="flat" cmpd="sng" w="25400">
            <a:solidFill>
              <a:srgbClr val="6B7280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79" name="Google Shape;279;g3f413b46ff8_2_174"/>
          <p:cNvSpPr/>
          <p:nvPr/>
        </p:nvSpPr>
        <p:spPr>
          <a:xfrm>
            <a:off x="6195060" y="2148840"/>
            <a:ext cx="2567100" cy="31089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9050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09725" spcFirstLastPara="1" rIns="109725" wrap="square" tIns="164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4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25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LLM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24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validação + reparo de JSON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0" name="Google Shape;280;g3f413b46ff8_2_174"/>
          <p:cNvCxnSpPr/>
          <p:nvPr/>
        </p:nvCxnSpPr>
        <p:spPr>
          <a:xfrm>
            <a:off x="8789669" y="3744079"/>
            <a:ext cx="146400" cy="0"/>
          </a:xfrm>
          <a:prstGeom prst="straightConnector1">
            <a:avLst/>
          </a:prstGeom>
          <a:noFill/>
          <a:ln cap="flat" cmpd="sng" w="25400">
            <a:solidFill>
              <a:srgbClr val="6B7280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81" name="Google Shape;281;g3f413b46ff8_2_174"/>
          <p:cNvSpPr/>
          <p:nvPr/>
        </p:nvSpPr>
        <p:spPr>
          <a:xfrm>
            <a:off x="8963406" y="2148840"/>
            <a:ext cx="2567100" cy="3108900"/>
          </a:xfrm>
          <a:prstGeom prst="roundRect">
            <a:avLst>
              <a:gd fmla="val 10000" name="adj"/>
            </a:avLst>
          </a:prstGeom>
          <a:solidFill>
            <a:schemeClr val="lt1"/>
          </a:solidFill>
          <a:ln cap="flat" cmpd="sng" w="1905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09725" spcFirstLastPara="1" rIns="109725" wrap="square" tIns="164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4400" u="none" cap="none" strike="noStrike">
                <a:solidFill>
                  <a:srgbClr val="F7A823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2200" u="none" cap="none" strike="noStrike">
              <a:solidFill>
                <a:srgbClr val="F7A82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25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Exportação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24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JSON, CSV, TSV, XLSX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f413b46ff8_2_201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g3f413b46ff8_2_201"/>
          <p:cNvSpPr txBox="1"/>
          <p:nvPr/>
        </p:nvSpPr>
        <p:spPr>
          <a:xfrm>
            <a:off x="658368" y="365760"/>
            <a:ext cx="10875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7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AVALIAÇÃO EXPERIMENTAL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g3f413b46ff8_2_201"/>
          <p:cNvSpPr txBox="1"/>
          <p:nvPr/>
        </p:nvSpPr>
        <p:spPr>
          <a:xfrm>
            <a:off x="658368" y="621792"/>
            <a:ext cx="10875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6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O dataset: 129 containers Docker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g3f413b46ff8_2_201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g3f413b46ff8_2_201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g3f413b46ff8_2_201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g3f413b46ff8_2_201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293" name="Google Shape;293;g3f413b46ff8_2_2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g3f413b46ff8_2_201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295" name="Google Shape;295;g3f413b46ff8_2_20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g3f413b46ff8_2_201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297" name="Google Shape;297;g3f413b46ff8_2_20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g3f413b46ff8_2_201"/>
          <p:cNvSpPr txBox="1"/>
          <p:nvPr/>
        </p:nvSpPr>
        <p:spPr>
          <a:xfrm>
            <a:off x="11030407" y="6373368"/>
            <a:ext cx="502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5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g3f413b46ff8_2_201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300" name="Google Shape;300;g3f413b46ff8_2_20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g3f413b46ff8_2_201"/>
          <p:cNvSpPr txBox="1"/>
          <p:nvPr/>
        </p:nvSpPr>
        <p:spPr>
          <a:xfrm>
            <a:off x="7362890" y="6400800"/>
            <a:ext cx="2880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g3f413b46ff8_2_201"/>
          <p:cNvSpPr/>
          <p:nvPr/>
        </p:nvSpPr>
        <p:spPr>
          <a:xfrm>
            <a:off x="8273822" y="1718586"/>
            <a:ext cx="3259800" cy="43260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g3f413b46ff8_2_201"/>
          <p:cNvSpPr/>
          <p:nvPr/>
        </p:nvSpPr>
        <p:spPr>
          <a:xfrm>
            <a:off x="8273822" y="1718586"/>
            <a:ext cx="1005900" cy="54900"/>
          </a:xfrm>
          <a:prstGeom prst="roundRect">
            <a:avLst>
              <a:gd fmla="val 50000" name="adj"/>
            </a:avLst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g3f413b46ff8_2_201"/>
          <p:cNvSpPr txBox="1"/>
          <p:nvPr/>
        </p:nvSpPr>
        <p:spPr>
          <a:xfrm>
            <a:off x="8273822" y="1718586"/>
            <a:ext cx="3259800" cy="6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1150" spcFirstLastPara="1" rIns="201150" wrap="square" tIns="201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24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PERFIL DE RISCO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g3f413b46ff8_2_201"/>
          <p:cNvSpPr/>
          <p:nvPr/>
        </p:nvSpPr>
        <p:spPr>
          <a:xfrm>
            <a:off x="658369" y="1718586"/>
            <a:ext cx="7541736" cy="432135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6375">
            <a:solidFill>
              <a:srgbClr val="D8DC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6" name="Google Shape;306;g3f413b46ff8_2_20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8500" y="2485287"/>
            <a:ext cx="7501476" cy="3480775"/>
          </a:xfrm>
          <a:prstGeom prst="rect">
            <a:avLst/>
          </a:prstGeom>
          <a:solidFill>
            <a:srgbClr val="FFFFFF"/>
          </a:solidFill>
          <a:ln cap="flat" cmpd="sng" w="16375">
            <a:solidFill>
              <a:srgbClr val="D8DCE3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07" name="Google Shape;307;g3f413b46ff8_2_20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273825" y="2431900"/>
            <a:ext cx="3918175" cy="3747550"/>
          </a:xfrm>
          <a:prstGeom prst="rect">
            <a:avLst/>
          </a:prstGeom>
          <a:solidFill>
            <a:srgbClr val="FFFFFF"/>
          </a:solidFill>
          <a:ln cap="flat" cmpd="sng" w="16375">
            <a:solidFill>
              <a:srgbClr val="D8DCE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08" name="Google Shape;308;g3f413b46ff8_2_201"/>
          <p:cNvSpPr txBox="1"/>
          <p:nvPr/>
        </p:nvSpPr>
        <p:spPr>
          <a:xfrm>
            <a:off x="2414160" y="1878586"/>
            <a:ext cx="26525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2000" u="none" cap="none" strike="noStrike">
                <a:solidFill>
                  <a:srgbClr val="F7A823"/>
                </a:solidFill>
                <a:latin typeface="Arial"/>
                <a:ea typeface="Arial"/>
                <a:cs typeface="Arial"/>
                <a:sym typeface="Arial"/>
              </a:rPr>
              <a:t>POR CATEGORIA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f413b46ff8_2_227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g3f413b46ff8_2_227"/>
          <p:cNvSpPr txBox="1"/>
          <p:nvPr/>
        </p:nvSpPr>
        <p:spPr>
          <a:xfrm>
            <a:off x="658368" y="365760"/>
            <a:ext cx="10875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7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AVALIAÇÃO EXPERIMENTAL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g3f413b46ff8_2_227"/>
          <p:cNvSpPr txBox="1"/>
          <p:nvPr/>
        </p:nvSpPr>
        <p:spPr>
          <a:xfrm>
            <a:off x="658368" y="621792"/>
            <a:ext cx="10875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6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Configuração experimental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g3f413b46ff8_2_227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g3f413b46ff8_2_227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g3f413b46ff8_2_227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g3f413b46ff8_2_227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321" name="Google Shape;321;g3f413b46ff8_2_2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g3f413b46ff8_2_227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323" name="Google Shape;323;g3f413b46ff8_2_2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g3f413b46ff8_2_227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325" name="Google Shape;325;g3f413b46ff8_2_2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g3f413b46ff8_2_227"/>
          <p:cNvSpPr txBox="1"/>
          <p:nvPr/>
        </p:nvSpPr>
        <p:spPr>
          <a:xfrm>
            <a:off x="11030407" y="6373368"/>
            <a:ext cx="502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5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g3f413b46ff8_2_227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328" name="Google Shape;328;g3f413b46ff8_2_2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g3f413b46ff8_2_227"/>
          <p:cNvSpPr txBox="1"/>
          <p:nvPr/>
        </p:nvSpPr>
        <p:spPr>
          <a:xfrm>
            <a:off x="7362890" y="6400800"/>
            <a:ext cx="2880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g3f413b46ff8_2_227"/>
          <p:cNvSpPr/>
          <p:nvPr/>
        </p:nvSpPr>
        <p:spPr>
          <a:xfrm>
            <a:off x="658368" y="1773936"/>
            <a:ext cx="3259800" cy="4326064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137150" lIns="201150" spcFirstLastPara="1" rIns="201150" wrap="square" tIns="201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24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DATASET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36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129 relatórios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2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OpenVAS · containers Docker · 6.343 achados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g3f413b46ff8_2_227"/>
          <p:cNvSpPr/>
          <p:nvPr/>
        </p:nvSpPr>
        <p:spPr>
          <a:xfrm>
            <a:off x="658368" y="1773936"/>
            <a:ext cx="3259800" cy="54900"/>
          </a:xfrm>
          <a:prstGeom prst="roundRect">
            <a:avLst>
              <a:gd fmla="val 50000" name="adj"/>
            </a:avLst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g3f413b46ff8_2_227"/>
          <p:cNvSpPr/>
          <p:nvPr/>
        </p:nvSpPr>
        <p:spPr>
          <a:xfrm>
            <a:off x="8109937" y="1718586"/>
            <a:ext cx="3971740" cy="4303864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137150" lIns="201150" spcFirstLastPara="1" rIns="201150" wrap="square" tIns="201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2400" u="none" cap="none" strike="noStrike">
                <a:solidFill>
                  <a:srgbClr val="1279BD"/>
                </a:solidFill>
                <a:latin typeface="Arial"/>
                <a:ea typeface="Arial"/>
                <a:cs typeface="Arial"/>
                <a:sym typeface="Arial"/>
              </a:rPr>
              <a:t>MODELOS AVALIADOS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36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5 LLMs </a:t>
            </a:r>
            <a:endParaRPr b="1" i="0" sz="3600" u="none" cap="none" strike="noStrike">
              <a:solidFill>
                <a:srgbClr val="0F23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5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DeepSeek, GPT-4, GPT-5, LLaMA 3, LLaMA 4</a:t>
            </a:r>
            <a:endParaRPr b="0" i="0" sz="2500" u="none" cap="none" strike="noStrik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279BD"/>
                </a:solidFill>
                <a:latin typeface="Arial"/>
                <a:ea typeface="Arial"/>
                <a:cs typeface="Arial"/>
                <a:sym typeface="Arial"/>
              </a:rPr>
              <a:t>Experimentos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5x </a:t>
            </a:r>
            <a:r>
              <a:rPr b="0" i="0" lang="en-US" sz="4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v1, v2, v3 = </a:t>
            </a:r>
            <a:r>
              <a:rPr b="1" i="0" lang="en-US" sz="40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15 x 129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g3f413b46ff8_2_227"/>
          <p:cNvSpPr/>
          <p:nvPr/>
        </p:nvSpPr>
        <p:spPr>
          <a:xfrm>
            <a:off x="8273822" y="1718586"/>
            <a:ext cx="3259800" cy="54900"/>
          </a:xfrm>
          <a:prstGeom prst="roundRect">
            <a:avLst>
              <a:gd fmla="val 50000" name="adj"/>
            </a:avLst>
          </a:prstGeom>
          <a:solidFill>
            <a:srgbClr val="1279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g3f413b46ff8_2_227"/>
          <p:cNvSpPr/>
          <p:nvPr/>
        </p:nvSpPr>
        <p:spPr>
          <a:xfrm>
            <a:off x="4694884" y="1956564"/>
            <a:ext cx="2966700" cy="14604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6375">
            <a:solidFill>
              <a:srgbClr val="6B72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550" lIns="157100" spcFirstLastPara="1" rIns="157100" wrap="square" tIns="12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90"/>
              <a:buFont typeface="Arial"/>
              <a:buNone/>
            </a:pPr>
            <a:r>
              <a:rPr b="1" i="0" lang="en-US" sz="2905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V1</a:t>
            </a:r>
            <a:endParaRPr b="0" i="0" sz="230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515"/>
              </a:spcBef>
              <a:spcAft>
                <a:spcPts val="0"/>
              </a:spcAft>
              <a:buClr>
                <a:srgbClr val="000000"/>
              </a:buClr>
              <a:buSzPts val="1203"/>
              <a:buFont typeface="Arial"/>
              <a:buNone/>
            </a:pPr>
            <a:r>
              <a:rPr b="0" i="0" lang="en-US" sz="2218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Marcador é só sugestão; bloco fixo</a:t>
            </a:r>
            <a:endParaRPr b="0" i="0" sz="230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g3f413b46ff8_2_227"/>
          <p:cNvSpPr/>
          <p:nvPr/>
        </p:nvSpPr>
        <p:spPr>
          <a:xfrm>
            <a:off x="4694875" y="3542466"/>
            <a:ext cx="2966700" cy="14604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6375">
            <a:solidFill>
              <a:srgbClr val="1279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550" lIns="157100" spcFirstLastPara="1" rIns="157100" wrap="square" tIns="12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90"/>
              <a:buFont typeface="Arial"/>
              <a:buNone/>
            </a:pPr>
            <a:r>
              <a:rPr b="1" i="0" lang="en-US" sz="2905" u="none" cap="none" strike="noStrike">
                <a:solidFill>
                  <a:srgbClr val="1279BD"/>
                </a:solidFill>
                <a:latin typeface="Arial"/>
                <a:ea typeface="Arial"/>
                <a:cs typeface="Arial"/>
                <a:sym typeface="Arial"/>
              </a:rPr>
              <a:t>V2</a:t>
            </a:r>
            <a:endParaRPr b="0" i="0" sz="230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515"/>
              </a:spcBef>
              <a:spcAft>
                <a:spcPts val="0"/>
              </a:spcAft>
              <a:buClr>
                <a:srgbClr val="000000"/>
              </a:buClr>
              <a:buSzPts val="1203"/>
              <a:buFont typeface="Arial"/>
              <a:buNone/>
            </a:pPr>
            <a:r>
              <a:rPr b="0" i="0" lang="en-US" sz="2218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Marcador vira regra; corte em 2 etapas</a:t>
            </a:r>
            <a:endParaRPr b="0" i="0" sz="230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g3f413b46ff8_2_227"/>
          <p:cNvSpPr/>
          <p:nvPr/>
        </p:nvSpPr>
        <p:spPr>
          <a:xfrm>
            <a:off x="4696937" y="5128368"/>
            <a:ext cx="2966700" cy="14604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6375">
            <a:solidFill>
              <a:srgbClr val="0F23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550" lIns="157100" spcFirstLastPara="1" rIns="157100" wrap="square" tIns="125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90"/>
              <a:buFont typeface="Arial"/>
              <a:buNone/>
            </a:pPr>
            <a:r>
              <a:rPr b="1" i="0" lang="en-US" sz="2905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V3</a:t>
            </a:r>
            <a:endParaRPr b="0" i="0" sz="230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515"/>
              </a:spcBef>
              <a:spcAft>
                <a:spcPts val="0"/>
              </a:spcAft>
              <a:buClr>
                <a:srgbClr val="000000"/>
              </a:buClr>
              <a:buSzPts val="1203"/>
              <a:buFont typeface="Arial"/>
              <a:buNone/>
            </a:pPr>
            <a:r>
              <a:rPr b="0" i="0" lang="en-US" sz="16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Ajuste por LLM; tokenizador nativo + reparo de JSON</a:t>
            </a:r>
            <a:endParaRPr b="0" i="0" sz="230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g3f413b46ff8_2_227"/>
          <p:cNvSpPr/>
          <p:nvPr/>
        </p:nvSpPr>
        <p:spPr>
          <a:xfrm>
            <a:off x="4465968" y="1746486"/>
            <a:ext cx="3259800" cy="549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f413b46ff8_2_255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g3f413b46ff8_2_255"/>
          <p:cNvSpPr txBox="1"/>
          <p:nvPr/>
        </p:nvSpPr>
        <p:spPr>
          <a:xfrm>
            <a:off x="658368" y="365760"/>
            <a:ext cx="10875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7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AVALIAÇÃO EXPERIMENTAL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g3f413b46ff8_2_255"/>
          <p:cNvSpPr txBox="1"/>
          <p:nvPr/>
        </p:nvSpPr>
        <p:spPr>
          <a:xfrm>
            <a:off x="658368" y="621792"/>
            <a:ext cx="108750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6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Métricas utilizadas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g3f413b46ff8_2_255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g3f413b46ff8_2_255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g3f413b46ff8_2_255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g3f413b46ff8_2_255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349" name="Google Shape;349;g3f413b46ff8_2_2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g3f413b46ff8_2_255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351" name="Google Shape;351;g3f413b46ff8_2_2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g3f413b46ff8_2_255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353" name="Google Shape;353;g3f413b46ff8_2_25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g3f413b46ff8_2_255"/>
          <p:cNvSpPr txBox="1"/>
          <p:nvPr/>
        </p:nvSpPr>
        <p:spPr>
          <a:xfrm>
            <a:off x="11030407" y="6373368"/>
            <a:ext cx="502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5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g3f413b46ff8_2_255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356" name="Google Shape;356;g3f413b46ff8_2_25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g3f413b46ff8_2_255"/>
          <p:cNvSpPr txBox="1"/>
          <p:nvPr/>
        </p:nvSpPr>
        <p:spPr>
          <a:xfrm>
            <a:off x="7362890" y="6400800"/>
            <a:ext cx="2880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58" name="Google Shape;358;g3f413b46ff8_2_255"/>
          <p:cNvGraphicFramePr/>
          <p:nvPr/>
        </p:nvGraphicFramePr>
        <p:xfrm>
          <a:off x="658368" y="177393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{EC52F5AC-45B1-4B98-8164-680DB2C660F4}</a:tableStyleId>
              </a:tblPr>
              <a:tblGrid>
                <a:gridCol w="3129350"/>
                <a:gridCol w="8070425"/>
              </a:tblGrid>
              <a:tr h="5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Métrica</a:t>
                      </a:r>
                      <a:endParaRPr sz="2600" u="none" cap="none" strike="noStrike"/>
                    </a:p>
                  </a:txBody>
                  <a:tcPr marT="45725" marB="45725" marR="91450" marL="91450" anchor="ctr">
                    <a:solidFill>
                      <a:srgbClr val="0F236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 que mede</a:t>
                      </a:r>
                      <a:endParaRPr sz="2600" u="none" cap="none" strike="noStrike"/>
                    </a:p>
                  </a:txBody>
                  <a:tcPr marT="45725" marB="45725" marR="91450" marL="91450" anchor="ctr">
                    <a:solidFill>
                      <a:srgbClr val="0F2369"/>
                    </a:solidFill>
                  </a:tcPr>
                </a:tc>
              </a:tr>
              <a:tr h="63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0F23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ROUGE-L</a:t>
                      </a:r>
                      <a:endParaRPr sz="2600" u="none" cap="none" strike="noStrike"/>
                    </a:p>
                  </a:txBody>
                  <a:tcPr marT="45725" marB="45725" marR="91450" marL="914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Sobreposição de sequências de texto (n-gramas) com a referência</a:t>
                      </a:r>
                      <a:endParaRPr sz="2600" u="none" cap="none" strike="noStrike"/>
                    </a:p>
                  </a:txBody>
                  <a:tcPr marT="45725" marB="45725" marR="91450" marL="91450" anchor="ctr">
                    <a:solidFill>
                      <a:srgbClr val="F2F4F7"/>
                    </a:solidFill>
                  </a:tcPr>
                </a:tc>
              </a:tr>
              <a:tr h="63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0F23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Token-F1</a:t>
                      </a:r>
                      <a:endParaRPr sz="2600" u="none" cap="none" strike="noStrike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F1 sobre os tokens extraídos, campo a campo</a:t>
                      </a:r>
                      <a:endParaRPr sz="2600" u="none" cap="none" strike="noStrike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63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0F23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Soft-F1</a:t>
                      </a:r>
                      <a:endParaRPr sz="2600" u="none" cap="none" strike="noStrike"/>
                    </a:p>
                  </a:txBody>
                  <a:tcPr marT="45725" marB="45725" marR="91450" marL="914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F1 com correspondência aproximada (tolerante a variações)</a:t>
                      </a:r>
                      <a:endParaRPr sz="2600" u="none" cap="none" strike="noStrike"/>
                    </a:p>
                  </a:txBody>
                  <a:tcPr marT="45725" marB="45725" marR="91450" marL="91450" anchor="ctr">
                    <a:solidFill>
                      <a:srgbClr val="F2F4F7"/>
                    </a:solidFill>
                  </a:tcPr>
                </a:tc>
              </a:tr>
              <a:tr h="63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0F23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Set-F1</a:t>
                      </a:r>
                      <a:endParaRPr sz="2600" u="none" cap="none" strike="noStrike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F1 sobre conjuntos de valores (ex.: listas de CVEs)</a:t>
                      </a:r>
                      <a:endParaRPr sz="2600" u="none" cap="none" strike="noStrike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63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0F23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Exact Match</a:t>
                      </a:r>
                      <a:endParaRPr sz="2600" u="none" cap="none" strike="noStrike"/>
                    </a:p>
                  </a:txBody>
                  <a:tcPr marT="45725" marB="45725" marR="91450" marL="9145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Igualdade exata entre valor extraído e referência</a:t>
                      </a:r>
                      <a:endParaRPr sz="2600" u="none" cap="none" strike="noStrike"/>
                    </a:p>
                  </a:txBody>
                  <a:tcPr marT="45725" marB="45725" marR="91450" marL="91450" anchor="ctr">
                    <a:solidFill>
                      <a:srgbClr val="F2F4F7"/>
                    </a:solidFill>
                  </a:tcPr>
                </a:tc>
              </a:tr>
              <a:tr h="63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>
                          <a:solidFill>
                            <a:srgbClr val="0F236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F1-macro</a:t>
                      </a:r>
                      <a:endParaRPr sz="2600" u="none" cap="none" strike="noStrike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 u="none" cap="none" strike="noStrike">
                          <a:solidFill>
                            <a:srgbClr val="6B728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Média do F1 por classe, sem peso pela frequência</a:t>
                      </a:r>
                      <a:endParaRPr sz="2600" u="none" cap="none" strike="noStrike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f413b46ff8_2_275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g3f413b46ff8_2_275"/>
          <p:cNvSpPr txBox="1"/>
          <p:nvPr/>
        </p:nvSpPr>
        <p:spPr>
          <a:xfrm>
            <a:off x="658368" y="365760"/>
            <a:ext cx="10875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7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RESULTADOS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g3f413b46ff8_2_275"/>
          <p:cNvSpPr txBox="1"/>
          <p:nvPr/>
        </p:nvSpPr>
        <p:spPr>
          <a:xfrm>
            <a:off x="658368" y="621792"/>
            <a:ext cx="108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6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MulitaMiner entre versões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g3f413b46ff8_2_275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g3f413b46ff8_2_275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g3f413b46ff8_2_275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370" name="Google Shape;370;g3f413b46ff8_2_2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g3f413b46ff8_2_275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372" name="Google Shape;372;g3f413b46ff8_2_27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g3f413b46ff8_2_275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374" name="Google Shape;374;g3f413b46ff8_2_27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g3f413b46ff8_2_275"/>
          <p:cNvSpPr txBox="1"/>
          <p:nvPr/>
        </p:nvSpPr>
        <p:spPr>
          <a:xfrm>
            <a:off x="11030407" y="6373368"/>
            <a:ext cx="502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5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g3f413b46ff8_2_275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377" name="Google Shape;377;g3f413b46ff8_2_27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g3f413b46ff8_2_275"/>
          <p:cNvSpPr txBox="1"/>
          <p:nvPr/>
        </p:nvSpPr>
        <p:spPr>
          <a:xfrm>
            <a:off x="7362890" y="6400800"/>
            <a:ext cx="2880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g3f413b46ff8_2_275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g3f413b46ff8_2_275"/>
          <p:cNvSpPr/>
          <p:nvPr/>
        </p:nvSpPr>
        <p:spPr>
          <a:xfrm>
            <a:off x="658368" y="1664208"/>
            <a:ext cx="3489900" cy="777300"/>
          </a:xfrm>
          <a:prstGeom prst="roundRect">
            <a:avLst>
              <a:gd fmla="val 14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164575" spcFirstLastPara="1" rIns="164575" wrap="square" tIns="12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30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78,3%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corretude agregada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g3f413b46ff8_2_275"/>
          <p:cNvSpPr/>
          <p:nvPr/>
        </p:nvSpPr>
        <p:spPr>
          <a:xfrm>
            <a:off x="658368" y="1664208"/>
            <a:ext cx="3489900" cy="50400"/>
          </a:xfrm>
          <a:prstGeom prst="roundRect">
            <a:avLst>
              <a:gd fmla="val 50000" name="adj"/>
            </a:avLst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g3f413b46ff8_2_275"/>
          <p:cNvSpPr/>
          <p:nvPr/>
        </p:nvSpPr>
        <p:spPr>
          <a:xfrm>
            <a:off x="4349496" y="1664208"/>
            <a:ext cx="3489900" cy="777300"/>
          </a:xfrm>
          <a:prstGeom prst="roundRect">
            <a:avLst>
              <a:gd fmla="val 14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164575" spcFirstLastPara="1" rIns="164575" wrap="square" tIns="12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3000" u="none" cap="none" strike="noStrike">
                <a:solidFill>
                  <a:srgbClr val="1279BD"/>
                </a:solidFill>
                <a:latin typeface="Arial"/>
                <a:ea typeface="Arial"/>
                <a:cs typeface="Arial"/>
                <a:sym typeface="Arial"/>
              </a:rPr>
              <a:t>2,8%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omissão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g3f413b46ff8_2_275"/>
          <p:cNvSpPr/>
          <p:nvPr/>
        </p:nvSpPr>
        <p:spPr>
          <a:xfrm>
            <a:off x="4349496" y="1664208"/>
            <a:ext cx="3489900" cy="50400"/>
          </a:xfrm>
          <a:prstGeom prst="roundRect">
            <a:avLst>
              <a:gd fmla="val 50000" name="adj"/>
            </a:avLst>
          </a:prstGeom>
          <a:solidFill>
            <a:srgbClr val="1279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g3f413b46ff8_2_275"/>
          <p:cNvSpPr/>
          <p:nvPr/>
        </p:nvSpPr>
        <p:spPr>
          <a:xfrm>
            <a:off x="8040624" y="1664208"/>
            <a:ext cx="3489900" cy="777300"/>
          </a:xfrm>
          <a:prstGeom prst="roundRect">
            <a:avLst>
              <a:gd fmla="val 14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164575" spcFirstLastPara="1" rIns="164575" wrap="square" tIns="12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30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US$ 0,035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custo (DeepSeek)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g3f413b46ff8_2_275"/>
          <p:cNvSpPr/>
          <p:nvPr/>
        </p:nvSpPr>
        <p:spPr>
          <a:xfrm>
            <a:off x="8040624" y="1664208"/>
            <a:ext cx="3489900" cy="50400"/>
          </a:xfrm>
          <a:prstGeom prst="roundRect">
            <a:avLst>
              <a:gd fmla="val 50000" name="adj"/>
            </a:avLst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g3f413b46ff8_2_275"/>
          <p:cNvSpPr txBox="1"/>
          <p:nvPr/>
        </p:nvSpPr>
        <p:spPr>
          <a:xfrm>
            <a:off x="2042476" y="2622175"/>
            <a:ext cx="812490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2"/>
              <a:buFont typeface="Arial"/>
              <a:buNone/>
            </a:pPr>
            <a:r>
              <a:rPr b="1" i="0" lang="en-US" sz="2152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Corretude por modelo (V3): os 5 LLMs convergem</a:t>
            </a:r>
            <a:endParaRPr b="0" i="0" sz="202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g3f413b46ff8_2_275"/>
          <p:cNvSpPr/>
          <p:nvPr/>
        </p:nvSpPr>
        <p:spPr>
          <a:xfrm>
            <a:off x="1399325" y="2684450"/>
            <a:ext cx="8907900" cy="4124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8" name="Google Shape;388;g3f413b46ff8_2_27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576973" y="2411481"/>
            <a:ext cx="8730275" cy="42414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f413b46ff8_2_303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g3f413b46ff8_2_303"/>
          <p:cNvSpPr txBox="1"/>
          <p:nvPr/>
        </p:nvSpPr>
        <p:spPr>
          <a:xfrm>
            <a:off x="658368" y="365760"/>
            <a:ext cx="10875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7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CONCLUSÕES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g3f413b46ff8_2_303"/>
          <p:cNvSpPr txBox="1"/>
          <p:nvPr/>
        </p:nvSpPr>
        <p:spPr>
          <a:xfrm>
            <a:off x="658368" y="621792"/>
            <a:ext cx="10875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6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Considerações finais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g3f413b46ff8_2_303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g3f413b46ff8_2_303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g3f413b46ff8_2_303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g3f413b46ff8_2_303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401" name="Google Shape;401;g3f413b46ff8_2_3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g3f413b46ff8_2_303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403" name="Google Shape;403;g3f413b46ff8_2_30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g3f413b46ff8_2_303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405" name="Google Shape;405;g3f413b46ff8_2_30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g3f413b46ff8_2_303"/>
          <p:cNvSpPr txBox="1"/>
          <p:nvPr/>
        </p:nvSpPr>
        <p:spPr>
          <a:xfrm>
            <a:off x="11030407" y="6373368"/>
            <a:ext cx="502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5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g3f413b46ff8_2_303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408" name="Google Shape;408;g3f413b46ff8_2_30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g3f413b46ff8_2_303"/>
          <p:cNvSpPr txBox="1"/>
          <p:nvPr/>
        </p:nvSpPr>
        <p:spPr>
          <a:xfrm>
            <a:off x="7362890" y="6400800"/>
            <a:ext cx="2880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g3f413b46ff8_2_303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g3f413b46ff8_2_303"/>
          <p:cNvSpPr/>
          <p:nvPr/>
        </p:nvSpPr>
        <p:spPr>
          <a:xfrm>
            <a:off x="642382" y="5460000"/>
            <a:ext cx="10872300" cy="780000"/>
          </a:xfrm>
          <a:prstGeom prst="roundRect">
            <a:avLst>
              <a:gd fmla="val 16000" name="adj"/>
            </a:avLst>
          </a:prstGeom>
          <a:solidFill>
            <a:srgbClr val="FFFFFF"/>
          </a:solidFill>
          <a:ln cap="flat" cmpd="sng" w="12700">
            <a:solidFill>
              <a:srgbClr val="D8DC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150" lIns="274300" spcFirstLastPara="1" rIns="274300" wrap="square" tIns="7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1" lang="en-US" sz="28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Engenharia de pipeline vale mais do que trocar de modelo.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PDF isolado, sem estrutura  →  </a:t>
            </a:r>
            <a:r>
              <a:rPr b="1" i="0" lang="en-US" sz="20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dado consultável</a:t>
            </a:r>
            <a:r>
              <a:rPr b="0" i="0" lang="en-US" sz="2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, o problema do início, resolvido.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g3f413b46ff8_2_303"/>
          <p:cNvSpPr/>
          <p:nvPr/>
        </p:nvSpPr>
        <p:spPr>
          <a:xfrm>
            <a:off x="818235" y="1783080"/>
            <a:ext cx="3282900" cy="347472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125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575" lIns="87200" spcFirstLastPara="1" rIns="87200" wrap="square" tIns="43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17"/>
              <a:buFont typeface="Arial"/>
              <a:buNone/>
            </a:pPr>
            <a:r>
              <a:t/>
            </a:r>
            <a:endParaRPr b="0" i="0" sz="171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g3f413b46ff8_2_303"/>
          <p:cNvSpPr/>
          <p:nvPr/>
        </p:nvSpPr>
        <p:spPr>
          <a:xfrm>
            <a:off x="818235" y="1783080"/>
            <a:ext cx="65400" cy="347472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3575" lIns="87200" spcFirstLastPara="1" rIns="87200" wrap="square" tIns="43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17"/>
              <a:buFont typeface="Arial"/>
              <a:buNone/>
            </a:pPr>
            <a:r>
              <a:t/>
            </a:r>
            <a:endParaRPr b="0" i="0" sz="171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g3f413b46ff8_2_303"/>
          <p:cNvSpPr txBox="1"/>
          <p:nvPr/>
        </p:nvSpPr>
        <p:spPr>
          <a:xfrm>
            <a:off x="1001821" y="2153690"/>
            <a:ext cx="3099429" cy="3097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763"/>
              </a:spcBef>
              <a:spcAft>
                <a:spcPts val="0"/>
              </a:spcAft>
              <a:buClr>
                <a:srgbClr val="000000"/>
              </a:buClr>
              <a:buSzPts val="2194"/>
              <a:buFont typeface="Arial"/>
              <a:buNone/>
            </a:pPr>
            <a:r>
              <a:rPr b="1" i="0" lang="en-US" sz="30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Contribuição</a:t>
            </a:r>
            <a:endParaRPr b="0" i="0" sz="183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763"/>
              </a:spcBef>
              <a:spcAft>
                <a:spcPts val="0"/>
              </a:spcAft>
              <a:buClr>
                <a:srgbClr val="000000"/>
              </a:buClr>
              <a:buSzPts val="2194"/>
              <a:buFont typeface="Arial"/>
              <a:buNone/>
            </a:pPr>
            <a:r>
              <a:rPr b="0" i="0" lang="en-US" sz="24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Schema de 18 campos + pipeline segmentação-prompt-validação: converte PDFs de scanners em registros estruturados.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g3f413b46ff8_2_303"/>
          <p:cNvSpPr/>
          <p:nvPr/>
        </p:nvSpPr>
        <p:spPr>
          <a:xfrm>
            <a:off x="4362757" y="1783080"/>
            <a:ext cx="3282900" cy="347472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125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575" lIns="87200" spcFirstLastPara="1" rIns="87200" wrap="square" tIns="43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17"/>
              <a:buFont typeface="Arial"/>
              <a:buNone/>
            </a:pPr>
            <a:r>
              <a:t/>
            </a:r>
            <a:endParaRPr b="0" i="0" sz="171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g3f413b46ff8_2_303"/>
          <p:cNvSpPr/>
          <p:nvPr/>
        </p:nvSpPr>
        <p:spPr>
          <a:xfrm>
            <a:off x="4362757" y="1783080"/>
            <a:ext cx="65400" cy="3474720"/>
          </a:xfrm>
          <a:prstGeom prst="rect">
            <a:avLst/>
          </a:prstGeom>
          <a:solidFill>
            <a:srgbClr val="1279BD"/>
          </a:solidFill>
          <a:ln>
            <a:noFill/>
          </a:ln>
        </p:spPr>
        <p:txBody>
          <a:bodyPr anchorCtr="0" anchor="ctr" bIns="43575" lIns="87200" spcFirstLastPara="1" rIns="87200" wrap="square" tIns="43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17"/>
              <a:buFont typeface="Arial"/>
              <a:buNone/>
            </a:pPr>
            <a:r>
              <a:t/>
            </a:r>
            <a:endParaRPr b="0" i="0" sz="171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g3f413b46ff8_2_303"/>
          <p:cNvSpPr txBox="1"/>
          <p:nvPr/>
        </p:nvSpPr>
        <p:spPr>
          <a:xfrm>
            <a:off x="4659275" y="2153689"/>
            <a:ext cx="2689800" cy="27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763"/>
              </a:spcBef>
              <a:spcAft>
                <a:spcPts val="0"/>
              </a:spcAft>
              <a:buClr>
                <a:srgbClr val="000000"/>
              </a:buClr>
              <a:buSzPts val="2194"/>
              <a:buFont typeface="Arial"/>
              <a:buNone/>
            </a:pPr>
            <a:r>
              <a:rPr b="1" i="0" lang="en-US" sz="29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="1" i="0" lang="en-US" sz="30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vidência</a:t>
            </a:r>
            <a:endParaRPr b="0" i="0" sz="183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858"/>
              </a:spcBef>
              <a:spcAft>
                <a:spcPts val="0"/>
              </a:spcAft>
              <a:buClr>
                <a:srgbClr val="000000"/>
              </a:buClr>
              <a:buSzPts val="1431"/>
              <a:buFont typeface="Arial"/>
              <a:buNone/>
            </a:pPr>
            <a:r>
              <a:rPr b="0" i="0" lang="en-US" sz="24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78,3% de corretude, 2,8% de omissão, ganho vem do pipeline, não do modelo.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g3f413b46ff8_2_303"/>
          <p:cNvSpPr/>
          <p:nvPr/>
        </p:nvSpPr>
        <p:spPr>
          <a:xfrm>
            <a:off x="7907279" y="1783080"/>
            <a:ext cx="3282900" cy="347472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125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575" lIns="87200" spcFirstLastPara="1" rIns="87200" wrap="square" tIns="43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17"/>
              <a:buFont typeface="Arial"/>
              <a:buNone/>
            </a:pPr>
            <a:r>
              <a:t/>
            </a:r>
            <a:endParaRPr b="0" i="0" sz="171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g3f413b46ff8_2_303"/>
          <p:cNvSpPr/>
          <p:nvPr/>
        </p:nvSpPr>
        <p:spPr>
          <a:xfrm>
            <a:off x="7907279" y="1783080"/>
            <a:ext cx="65400" cy="347472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3575" lIns="87200" spcFirstLastPara="1" rIns="87200" wrap="square" tIns="43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17"/>
              <a:buFont typeface="Arial"/>
              <a:buNone/>
            </a:pPr>
            <a:r>
              <a:t/>
            </a:r>
            <a:endParaRPr b="0" i="0" sz="1717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g3f413b46ff8_2_303"/>
          <p:cNvSpPr txBox="1"/>
          <p:nvPr/>
        </p:nvSpPr>
        <p:spPr>
          <a:xfrm>
            <a:off x="8203795" y="2153701"/>
            <a:ext cx="2689800" cy="27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763"/>
              </a:spcBef>
              <a:spcAft>
                <a:spcPts val="0"/>
              </a:spcAft>
              <a:buClr>
                <a:srgbClr val="000000"/>
              </a:buClr>
              <a:buSzPts val="2194"/>
              <a:buFont typeface="Arial"/>
              <a:buNone/>
            </a:pPr>
            <a:r>
              <a:rPr b="1" i="0" lang="en-US" sz="30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Impacto</a:t>
            </a:r>
            <a:endParaRPr b="0" i="0" sz="183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858"/>
              </a:spcBef>
              <a:spcAft>
                <a:spcPts val="0"/>
              </a:spcAft>
              <a:buClr>
                <a:srgbClr val="000000"/>
              </a:buClr>
              <a:buSzPts val="1431"/>
              <a:buFont typeface="Arial"/>
              <a:buNone/>
            </a:pPr>
            <a:r>
              <a:rPr b="0" i="0" lang="en-US" sz="24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CSIRTs consultam o histórico em vez de reabrir PDFs. Código e dataset abertos (MIT)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f413b46ff8_2_334"/>
          <p:cNvSpPr/>
          <p:nvPr/>
        </p:nvSpPr>
        <p:spPr>
          <a:xfrm>
            <a:off x="0" y="0"/>
            <a:ext cx="274200" cy="68580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g3f413b46ff8_2_334"/>
          <p:cNvSpPr txBox="1"/>
          <p:nvPr/>
        </p:nvSpPr>
        <p:spPr>
          <a:xfrm>
            <a:off x="658368" y="365760"/>
            <a:ext cx="1087500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700" u="none" cap="none" strike="noStrike">
                <a:solidFill>
                  <a:srgbClr val="0A866E"/>
                </a:solidFill>
                <a:latin typeface="Arial"/>
                <a:ea typeface="Arial"/>
                <a:cs typeface="Arial"/>
                <a:sym typeface="Arial"/>
              </a:rPr>
              <a:t>CONCLUSÕES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g3f413b46ff8_2_334"/>
          <p:cNvSpPr txBox="1"/>
          <p:nvPr/>
        </p:nvSpPr>
        <p:spPr>
          <a:xfrm>
            <a:off x="658368" y="621792"/>
            <a:ext cx="1087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6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Trabalhos Futuros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g3f413b46ff8_2_334"/>
          <p:cNvSpPr/>
          <p:nvPr/>
        </p:nvSpPr>
        <p:spPr>
          <a:xfrm>
            <a:off x="658368" y="1408176"/>
            <a:ext cx="1005900" cy="50400"/>
          </a:xfrm>
          <a:prstGeom prst="rect">
            <a:avLst/>
          </a:prstGeom>
          <a:solidFill>
            <a:srgbClr val="0F23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g3f413b46ff8_2_334"/>
          <p:cNvSpPr/>
          <p:nvPr/>
        </p:nvSpPr>
        <p:spPr>
          <a:xfrm>
            <a:off x="1737360" y="1408176"/>
            <a:ext cx="384000" cy="504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g3f413b46ff8_2_334"/>
          <p:cNvSpPr/>
          <p:nvPr/>
        </p:nvSpPr>
        <p:spPr>
          <a:xfrm>
            <a:off x="2194560" y="1408176"/>
            <a:ext cx="219600" cy="50400"/>
          </a:xfrm>
          <a:prstGeom prst="rect">
            <a:avLst/>
          </a:prstGeom>
          <a:solidFill>
            <a:srgbClr val="F7A8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g3f413b46ff8_2_334"/>
          <p:cNvSpPr/>
          <p:nvPr/>
        </p:nvSpPr>
        <p:spPr>
          <a:xfrm>
            <a:off x="658368" y="1580000"/>
            <a:ext cx="5320000" cy="43000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g3f413b46ff8_2_334"/>
          <p:cNvSpPr/>
          <p:nvPr/>
        </p:nvSpPr>
        <p:spPr>
          <a:xfrm>
            <a:off x="728368" y="1760000"/>
            <a:ext cx="45720" cy="39400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0A866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g3f413b46ff8_2_334"/>
          <p:cNvSpPr txBox="1"/>
          <p:nvPr/>
        </p:nvSpPr>
        <p:spPr>
          <a:xfrm>
            <a:off x="958368" y="1800000"/>
            <a:ext cx="4760000" cy="39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29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Novos scanners e provedores locais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25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Mapear </a:t>
            </a:r>
            <a:r>
              <a:rPr b="1" i="0" lang="en-US" sz="25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scanners adicionais</a:t>
            </a:r>
            <a:r>
              <a:rPr b="0" i="0" lang="en-US" sz="25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(Nessus, Qualys, Rapid7) e validar execução com </a:t>
            </a:r>
            <a:r>
              <a:rPr b="1" i="0" lang="en-US" sz="25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modelos locais</a:t>
            </a:r>
            <a:r>
              <a:rPr b="0" i="0" lang="en-US" sz="25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, reduzindo a dependência de APIs externas.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g3f413b46ff8_2_334"/>
          <p:cNvSpPr/>
          <p:nvPr/>
        </p:nvSpPr>
        <p:spPr>
          <a:xfrm>
            <a:off x="6213368" y="1580000"/>
            <a:ext cx="5320000" cy="43000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9525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g3f413b46ff8_2_334"/>
          <p:cNvSpPr/>
          <p:nvPr/>
        </p:nvSpPr>
        <p:spPr>
          <a:xfrm>
            <a:off x="6283368" y="1760000"/>
            <a:ext cx="45720" cy="39400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1279B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g3f413b46ff8_2_334"/>
          <p:cNvSpPr txBox="1"/>
          <p:nvPr/>
        </p:nvSpPr>
        <p:spPr>
          <a:xfrm>
            <a:off x="6513368" y="1800000"/>
            <a:ext cx="4760000" cy="39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29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Re-extração orientada por campo (v4)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25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Investigar </a:t>
            </a:r>
            <a:r>
              <a:rPr b="1" i="0" lang="en-US" sz="25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reprocessamento seletivo</a:t>
            </a:r>
            <a:r>
              <a:rPr b="0" i="0" lang="en-US" sz="25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dos campos ainda divergentes, atacando os </a:t>
            </a:r>
            <a:r>
              <a:rPr b="1" i="0" lang="en-US" sz="25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campos interpretativos</a:t>
            </a:r>
            <a:r>
              <a:rPr b="0" i="0" lang="en-US" sz="25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que concentram o erro residual.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g3f413b46ff8_2_334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439" name="Google Shape;439;g3f413b46ff8_2_3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400800"/>
            <a:ext cx="897940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g3f413b46ff8_2_334"/>
          <p:cNvSpPr/>
          <p:nvPr/>
        </p:nvSpPr>
        <p:spPr>
          <a:xfrm>
            <a:off x="1675180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ipampa.png" id="441" name="Google Shape;441;g3f413b46ff8_2_3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4052" y="6382512"/>
            <a:ext cx="41656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g3f413b46ff8_2_334"/>
          <p:cNvSpPr/>
          <p:nvPr/>
        </p:nvSpPr>
        <p:spPr>
          <a:xfrm>
            <a:off x="2329484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pges.png" id="443" name="Google Shape;443;g3f413b46ff8_2_3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8356" y="63733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g3f413b46ff8_2_334"/>
          <p:cNvSpPr txBox="1"/>
          <p:nvPr/>
        </p:nvSpPr>
        <p:spPr>
          <a:xfrm>
            <a:off x="11030407" y="6373368"/>
            <a:ext cx="50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5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1" i="0" sz="1400" u="none" cap="none" strike="noStrike">
              <a:solidFill>
                <a:srgbClr val="0F23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F23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g3f413b46ff8_2_334"/>
          <p:cNvSpPr/>
          <p:nvPr/>
        </p:nvSpPr>
        <p:spPr>
          <a:xfrm>
            <a:off x="10948111" y="6409944"/>
            <a:ext cx="7200" cy="2196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bseg26_mark.png" id="446" name="Google Shape;446;g3f413b46ff8_2_3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0410" y="6373368"/>
            <a:ext cx="49454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g3f413b46ff8_2_334"/>
          <p:cNvSpPr txBox="1"/>
          <p:nvPr/>
        </p:nvSpPr>
        <p:spPr>
          <a:xfrm>
            <a:off x="7362890" y="6400800"/>
            <a:ext cx="288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XXVI SBSeg 2026  ·  Armação dos Búzios/RJ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g3f413b46ff8_2_334"/>
          <p:cNvSpPr/>
          <p:nvPr/>
        </p:nvSpPr>
        <p:spPr>
          <a:xfrm>
            <a:off x="658368" y="6272784"/>
            <a:ext cx="10875000" cy="11100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sponiveis.png" id="453" name="Google Shape;453;g3f413bfe7c8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" y="2103120"/>
            <a:ext cx="2788920" cy="2788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uncionais.png" id="454" name="Google Shape;454;g3f413bfe7c8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50082" y="2103120"/>
            <a:ext cx="2788920" cy="2788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ustentaveis.png" id="455" name="Google Shape;455;g3f413bfe7c8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52692" y="2103120"/>
            <a:ext cx="2788920" cy="2788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produziveis.png" id="456" name="Google Shape;456;g3f413bfe7c8_0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55303" y="2103120"/>
            <a:ext cx="2788920" cy="2788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f413b46ff8_2_36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g3f413b46ff8_2_361"/>
          <p:cNvSpPr/>
          <p:nvPr/>
        </p:nvSpPr>
        <p:spPr>
          <a:xfrm>
            <a:off x="9174420" y="3840480"/>
            <a:ext cx="6035400" cy="6035100"/>
          </a:xfrm>
          <a:prstGeom prst="ellipse">
            <a:avLst/>
          </a:prstGeom>
          <a:noFill/>
          <a:ln cap="flat" cmpd="sng" w="15225">
            <a:solidFill>
              <a:srgbClr val="D7DE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g3f413b46ff8_2_361"/>
          <p:cNvSpPr/>
          <p:nvPr/>
        </p:nvSpPr>
        <p:spPr>
          <a:xfrm>
            <a:off x="9905959" y="4572000"/>
            <a:ext cx="4572000" cy="4572000"/>
          </a:xfrm>
          <a:prstGeom prst="ellipse">
            <a:avLst/>
          </a:prstGeom>
          <a:noFill/>
          <a:ln cap="flat" cmpd="sng" w="15225">
            <a:solidFill>
              <a:srgbClr val="D7DE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g3f413b46ff8_2_361"/>
          <p:cNvSpPr/>
          <p:nvPr/>
        </p:nvSpPr>
        <p:spPr>
          <a:xfrm>
            <a:off x="10637499" y="5303520"/>
            <a:ext cx="3108900" cy="3108900"/>
          </a:xfrm>
          <a:prstGeom prst="ellipse">
            <a:avLst/>
          </a:prstGeom>
          <a:noFill/>
          <a:ln cap="flat" cmpd="sng" w="20300">
            <a:solidFill>
              <a:srgbClr val="0A8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g3f413b46ff8_2_361"/>
          <p:cNvSpPr/>
          <p:nvPr/>
        </p:nvSpPr>
        <p:spPr>
          <a:xfrm>
            <a:off x="0" y="0"/>
            <a:ext cx="12192000" cy="915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g3f413b46ff8_2_361"/>
          <p:cNvSpPr txBox="1"/>
          <p:nvPr/>
        </p:nvSpPr>
        <p:spPr>
          <a:xfrm>
            <a:off x="658386" y="1234440"/>
            <a:ext cx="7315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6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Obrigado!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g3f413b46ff8_2_361"/>
          <p:cNvSpPr/>
          <p:nvPr/>
        </p:nvSpPr>
        <p:spPr>
          <a:xfrm>
            <a:off x="658386" y="2395728"/>
            <a:ext cx="1463100" cy="54900"/>
          </a:xfrm>
          <a:prstGeom prst="rect">
            <a:avLst/>
          </a:prstGeom>
          <a:solidFill>
            <a:srgbClr val="0A8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g3f413b46ff8_2_361"/>
          <p:cNvSpPr txBox="1"/>
          <p:nvPr/>
        </p:nvSpPr>
        <p:spPr>
          <a:xfrm>
            <a:off x="658386" y="2670048"/>
            <a:ext cx="731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700" u="none" cap="none" strike="noStrike">
                <a:solidFill>
                  <a:srgbClr val="C97A0A"/>
                </a:solidFill>
                <a:latin typeface="Arial"/>
                <a:ea typeface="Arial"/>
                <a:cs typeface="Arial"/>
                <a:sym typeface="Arial"/>
              </a:rPr>
              <a:t>Perguntas são bem-vindas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g3f413b46ff8_2_361"/>
          <p:cNvSpPr txBox="1"/>
          <p:nvPr/>
        </p:nvSpPr>
        <p:spPr>
          <a:xfrm>
            <a:off x="658386" y="3310128"/>
            <a:ext cx="4937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AUTOR DE CONTATO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g3f413b46ff8_2_361"/>
          <p:cNvSpPr txBox="1"/>
          <p:nvPr/>
        </p:nvSpPr>
        <p:spPr>
          <a:xfrm>
            <a:off x="658386" y="3602736"/>
            <a:ext cx="62000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3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Douglas Paim Lautert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douglaslautert.aluno@unipampa.edu.br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300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AI Horizon Labs · UNIPAMPA · PPGES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g3f413b46ff8_2_361"/>
          <p:cNvSpPr/>
          <p:nvPr/>
        </p:nvSpPr>
        <p:spPr>
          <a:xfrm>
            <a:off x="6492413" y="3246120"/>
            <a:ext cx="1572900" cy="15729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g3f413b46ff8_2_361"/>
          <p:cNvSpPr/>
          <p:nvPr/>
        </p:nvSpPr>
        <p:spPr>
          <a:xfrm>
            <a:off x="8412704" y="3246120"/>
            <a:ext cx="1572900" cy="15729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DD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g3f413b46ff8_2_361"/>
          <p:cNvSpPr/>
          <p:nvPr/>
        </p:nvSpPr>
        <p:spPr>
          <a:xfrm>
            <a:off x="0" y="5760720"/>
            <a:ext cx="12192000" cy="109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l.png" id="475" name="Google Shape;475;g3f413b46ff8_2_3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6110478"/>
            <a:ext cx="1630832" cy="3977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pampa.png" id="476" name="Google Shape;476;g3f413b46ff8_2_3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63520" y="6017666"/>
            <a:ext cx="888339" cy="5833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pges.png" id="477" name="Google Shape;477;g3f413b46ff8_2_36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26179" y="6004407"/>
            <a:ext cx="609904" cy="6099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bc.png" id="478" name="Google Shape;478;g3f413b46ff8_2_36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230174" y="6080759"/>
            <a:ext cx="303451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ff.png" id="479" name="Google Shape;479;g3f413b46ff8_2_36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73459" y="6089903"/>
            <a:ext cx="427511" cy="4389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bseg26_mark.png" id="480" name="Google Shape;480;g3f413b46ff8_2_36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385938" y="6099048"/>
            <a:ext cx="758308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g3f413b46ff8_2_361" title="Captura de tela 2026-08-13 183548.png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12699" y="3138696"/>
            <a:ext cx="1723675" cy="172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g3f413b46ff8_2_361" title="Captura de tela 2026-08-13 191337.png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17031" y="3104844"/>
            <a:ext cx="1723675" cy="1739204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g3f413b46ff8_2_361"/>
          <p:cNvSpPr txBox="1"/>
          <p:nvPr/>
        </p:nvSpPr>
        <p:spPr>
          <a:xfrm>
            <a:off x="6598863" y="4913125"/>
            <a:ext cx="17500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Site do MulitaMiner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g3f413b46ff8_2_361"/>
          <p:cNvSpPr txBox="1"/>
          <p:nvPr/>
        </p:nvSpPr>
        <p:spPr>
          <a:xfrm>
            <a:off x="8488076" y="4909250"/>
            <a:ext cx="19854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Repositório para Evento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f413b46ff8_2_388"/>
          <p:cNvSpPr/>
          <p:nvPr/>
        </p:nvSpPr>
        <p:spPr>
          <a:xfrm>
            <a:off x="705356" y="784647"/>
            <a:ext cx="10131900" cy="52887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24150">
            <a:solidFill>
              <a:srgbClr val="D8DC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925" lIns="173900" spcFirstLastPara="1" rIns="173900" wrap="square" tIns="86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3"/>
              <a:buFont typeface="Arial"/>
              <a:buNone/>
            </a:pPr>
            <a:r>
              <a:t/>
            </a:r>
            <a:endParaRPr b="0" i="0" sz="266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g3f413b46ff8_2_388"/>
          <p:cNvSpPr txBox="1"/>
          <p:nvPr/>
        </p:nvSpPr>
        <p:spPr>
          <a:xfrm>
            <a:off x="1088015" y="1062945"/>
            <a:ext cx="9599649" cy="10538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44"/>
              <a:buFont typeface="Arial"/>
              <a:buNone/>
            </a:pPr>
            <a:r>
              <a:rPr b="1" i="0" lang="en-US" sz="3424" u="none" cap="none" strike="noStrike">
                <a:solidFill>
                  <a:srgbClr val="0F2369"/>
                </a:solidFill>
                <a:latin typeface="Arial"/>
                <a:ea typeface="Arial"/>
                <a:cs typeface="Arial"/>
                <a:sym typeface="Arial"/>
              </a:rPr>
              <a:t>Evolução na V3 por versão da corretude e omissão</a:t>
            </a:r>
            <a:endParaRPr b="0" i="0" sz="266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1" name="Google Shape;491;g3f413b46ff8_2_3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8015" y="2150000"/>
            <a:ext cx="8918973" cy="3773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BSeg 2026 · AI Horizon Labs">
  <a:themeElements>
    <a:clrScheme name="SBSeg 2026">
      <a:dk1>
        <a:srgbClr val="000000"/>
      </a:dk1>
      <a:lt1>
        <a:srgbClr val="FFFFFF"/>
      </a:lt1>
      <a:dk2>
        <a:srgbClr val="1F2937"/>
      </a:dk2>
      <a:lt2>
        <a:srgbClr val="F4F6FA"/>
      </a:lt2>
      <a:accent1>
        <a:srgbClr val="0F2369"/>
      </a:accent1>
      <a:accent2>
        <a:srgbClr val="0A866E"/>
      </a:accent2>
      <a:accent3>
        <a:srgbClr val="1279BD"/>
      </a:accent3>
      <a:accent4>
        <a:srgbClr val="F7A823"/>
      </a:accent4>
      <a:accent5>
        <a:srgbClr val="6B7280"/>
      </a:accent5>
      <a:accent6>
        <a:srgbClr val="DDE3EC"/>
      </a:accent6>
      <a:hlink>
        <a:srgbClr val="1279BD"/>
      </a:hlink>
      <a:folHlink>
        <a:srgbClr val="0A866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
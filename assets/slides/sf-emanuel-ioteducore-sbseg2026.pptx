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iSXOIDgC24iLrblUKoPFPgKaD0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8CC469-19C5-4C7B-A2C6-7BADC259A849}">
  <a:tblStyle styleId="{088CC469-19C5-4C7B-A2C6-7BADC259A8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aae156d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f8aae156d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[20 s] Capa.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Bom dia. Sou Emanuel Ferreira, da UNIPAMPA. Apresento o IoTEdu Core: uma ferramenta que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correlaciona alertas de três IDSs e contém ataques por dispositivo em redes IoT institucionais.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Trabalho feito com Matheus Ciocca, Douglas Fideles, Silvio Quincozes e Diego Kreutz.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Abrir a apresentação, se apresentar e contextualizar rapidamente o tema.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Cumprimentar a plateia ("Bom dia/boa tarde a todos")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Se apresentar: nome, instituição (UNIPAMPA), laboratório (AI Horizon Labs)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Apresentar brevemente os coautores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Dizer o nome da ferramenta: IoTEdu Core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Dar o gancho: "Vamos mostrar como correlacionar alertas de três IDSs diferentes e conter ataques automaticamente em redes IoT institucionais"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Não se demore na capa. É só situar a plateia e partir para o problema.</a:t>
            </a:r>
            <a:endParaRPr/>
          </a:p>
        </p:txBody>
      </p:sp>
      <p:sp>
        <p:nvSpPr>
          <p:cNvPr id="83" name="Google Shape;83;g3f8aae156d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aae156d6_0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3f8aae156d6_0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[45 s] O problema.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rede institucional opera milhares de dispositivos IoT com proteção limitada. O IDS resolve 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detecção, mas detectar não é conter: quem bloqueia ainda é o operador.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a resposta é automatizada, aparece o problema da figura: se o pipeline bloqueia em cima de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falso positivo, quem sai do ar é um dispositivo legítimo.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Três lacunas, todas apoiadas na literatura. Alerta não é ação. Cada motor enxerga só um pedaço do espaço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ataques. E o custo do bloqueio automático não é reportado por ninguém.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Apresentar o problema central — detectar ≠ conter — e as 3 lacunas da literatura.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Começar com a frase-chave: "Detectar não é conter"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Explicar que o IDS gera alerta, mas quem bloqueia ainda é o operador humano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Introduzir o risco: "Se o bloqueio automático age sobre um falso positivo, quem sai do ar é um dispositivo legítimo"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Percorrer as 3 lacunas (apontar para cada uma):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1. "Alerta não é ação" — o IDS detecta mas não bloqueia sozinho (Waleed et al. 2022)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2. "Cobertura parcial" — cada motor cobre só um subconjunto de classes de ataque (Boukebous et al. 2023)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3. "Custo invisível" — ninguém reporta quantos dispositivos legítimos o bloqueio derruba (Wazuh 2026)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Fechar: "São essas três lacunas que o IoTEdu Core endereça"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~45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Use a expressão "dispositivo legítimo fora do ar" para gerar impacto. É o ponto central de toda a apresentação.</a:t>
            </a:r>
            <a:endParaRPr/>
          </a:p>
        </p:txBody>
      </p:sp>
      <p:sp>
        <p:nvSpPr>
          <p:cNvPr id="112" name="Google Shape;112;g3f8aae156d6_0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aae156d6_0_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g3f8aae156d6_0_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[40 s] Cada motor é cego em um lugar diferente.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mapa é medição nossa: taxa de detecção por classe de ataque, um motor por coluna.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Leiam por linha. As inundações são território de Snort e Suricata. Varredura TCP e travessia de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diretório, só o Zeek enxerga. E força bruta SSH está vermelha nas três colunas.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isso que abre espaço para a orquestração: e é isso que torna a concordância cara: as classes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só um motor vê são as que a exigência de acordo perde.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Mostrar evidência empírica de que nenhum motor sozinho cobre tudo. O mapa de calor é medição própria.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"Este mapa é medição nossa: taxa de detecção por classe de ataque, um motor por coluna"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Pedir para ler por LINHA: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Inundações (SYN, UDP, ICMP) → Snort e Suricata detectam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Varredura TCP e Path Traversal → só o Zeek enxerga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SSH Brute Force → nenhum dos três detecta (vermelho em todas as colunas)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Explicar o insight: "É isso que abre espaço para a orquestração"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Pontuar: "E é isso que torna a concordância cara: as classes que só um motor vê são as que a exigência de acordo perde"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Mencionar: "Dados de 240 janelas rotuladas, 15 por cenário"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~40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Esse slide é visual. Aponte para as cores no mapa. Verde = detecta. Vermelho = não detecta. A complementaridade fica evidente.</a:t>
            </a:r>
            <a:endParaRPr/>
          </a:p>
        </p:txBody>
      </p:sp>
      <p:sp>
        <p:nvSpPr>
          <p:cNvPr id="140" name="Google Shape;140;g3f8aae156d6_0_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aae156d6_0_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f8aae156d6_0_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[30 s] O que já existe e o que falta.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literatura se divide em três grupos: os que comparam motores sem integrar, os que integram sem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agir, e os que agem a partir de um único IDS.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Alguém vai perguntar do Wazuh e do Security Onion. Eles ingerem os três motores e têm resposta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ativa. Nossa lacuna não é o pipeline: é a última coluna. Ninguém reporta quantos dispositivos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legítimos esse pipeline derruba no mesmo tráfego.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Posicionar o trabalho na literatura. Mostrar que o pipeline existe, mas a evidência de custo, não.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 literatura se divide em três grupos":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1. Quem compara motores sem integrar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2. Quem integra sem agir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3. Quem age a partir de um único IDS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Antecipar pergunta: "Alguém pode perguntar sobre Wazuh e Security Onion. Eles ingerem os três motores e têm resposta ativa."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Marcar a lacuna: "Nossa contribuição não é o pipeline em si — é a última coluna: ninguém reporta quantos dispositivos legítimos esse pipeline derruba no mesmo tráfego"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~30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Esse slide é estratégico para defesa. Se alguém perguntar "por que não usar Wazuh?", volte aqui: a lacuna é a evidência de custo, não o pipeline.</a:t>
            </a:r>
            <a:endParaRPr/>
          </a:p>
        </p:txBody>
      </p:sp>
      <p:sp>
        <p:nvSpPr>
          <p:cNvPr id="164" name="Google Shape;164;g3f8aae156d6_0_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aae156d6_0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f8aae156d6_0_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 s] Divisória. Passe rápido.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divisória — transição para a seção da ferramenta.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"Agora vou mostrar como a ferramenta funciona: do alerta de três motores ao bloqueio por dispositivo"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Passe rápido (5 segundos)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Não pare nesse slide. É só uma pausa visual.</a:t>
            </a:r>
            <a:endParaRPr/>
          </a:p>
        </p:txBody>
      </p:sp>
      <p:sp>
        <p:nvSpPr>
          <p:cNvPr id="175" name="Google Shape;175;g3f8aae156d6_0_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aae156d6_0_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f8aae156d6_0_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[25 s] Etapa 1: coleta.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Vou percorrer o caminho de um alerta em três etapas.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Primeiro, a coleta. O coletor acompanha o eve.json do Suricata, o alert_fast do Snort e 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notice.log do Zeek: três formatos diferentes: e empurra cada registro novo para a API.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a Etapa 1 do pipeline — Coleta.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"Vou percorrer o caminho de um alerta em três etapas"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"Primeiro, a coleta"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Explicar que o coletor acompanha TRÊS arquivos diferentes: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eve.json do Suricata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alert_fast do Snort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notice.log do Zeek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"São três formatos completamente diferentes"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"O coletor empurra cada registro novo para a API via Server-Sent Events"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Se houver diagrama no slide, apontar para o fluxo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Enfatize que os três formatos são diferentes — isso justifica a etapa de normalização no próximo slide.</a:t>
            </a:r>
            <a:endParaRPr/>
          </a:p>
        </p:txBody>
      </p:sp>
      <p:sp>
        <p:nvSpPr>
          <p:cNvPr id="190" name="Google Shape;190;g3f8aae156d6_0_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aae156d6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8aae156d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[30 s] Etapa 2: identidade.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Segundo, a identidade. A API normaliza tudo para um esquema comum: é isso que torna alertas de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três motores comparáveis.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 resolve o IP de origem contra o registro de dispositivos. Repare: os eventos passam 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acumular por DISPOSITIVO, com dono e sala, não por endereço. Ficam numa janela de T segundos.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a Etapa 2 — Identidade (normalização + resolução de dispositivo).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"Segundo, a identidade"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 API normaliza tudo para um esquema comum — é isso que torna alertas de três motores comparáveis"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Explicar a resolução: "Resolve o IP de origem contra o registro de dispositivos"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Insight importante: "Os eventos passam a acumular por DISPOSITIVO, com dono e sala, não por endereço IP"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Mencionar a janela de T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~30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A mudança de IP → dispositivo é central. Reforce que o bloqueio é por dispositivo, não por IP genérico. Isso permite notificar o dono.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aae156d6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f8aae156d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[30 s] Etapa 3: decisão.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Terceiro, a decisão. A política lê essa janela. Quando dispara, a API envia a regra ao pfSense,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guarda a evidência e notifica o dono.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Nada é irreversível: o operador desfaz qualquer bloqueio pela interface web.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a Etapa 3 — Decisão (política + bloqueio via pfSense).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"Terceiro, a decisão"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 política lê essa janela de eventos acumulados"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"Quando dispara, a API envia a regra ao pfSense, guarda a evidência e notifica o dono"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Ressaltar reversibilidade: "Nada é irreversível: o operador desfaz qualquer bloqueio pela interface web"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~30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Mencionar a reversibilidade é importante — mostra que o sistema não é cego. O operador tem controle.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aae156d6_0_1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f8aae156d6_0_1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[40 s] As duas políticas.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diferença entre as duas é simples.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bloqueia no primeiro alerta: basta um dos três motores acusar severidade alta. É a resposta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rápida e a mais exposta a falso positivo.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k-de-n exige acordo. Com k=2, dois motores precisam apontar a MESMA classe de ataque, no mesmo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dispositivo, dentro da janela.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 acordo é sobre a classe, não sobre a existência do alerta. Concordar que houve ataque é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barato; concordar qual ataque é o que uma decisão de bloqueio exige.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Detalhar as duas políticas de contenção (ANY vs. k-de-n).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 diferença entre as duas é simples"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ANY: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"Bloqueia no primeiro alerta com severidade alta"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"É a resposta mais rápida, mas a mais exposta a falso positivo"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k-de-n (k=2):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"Exige que dois motores apontem a MESMA classe de ataque, no mesmo dispositivo, dentro da janela"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"Com dois motores confirmando, um falso positivo isolado não derruba ninguém"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Ponto crucial: "O acordo é sobre a CLASSE do ataque, não sobre a existência do alerta"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"Concordar que houve ataque é barato; concordar QUAL ataque é o que o bloqueio exige"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"E a política é trocável sem mexer no pipeline"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~40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Esse slide é denso. Fale devagar na distinção entre concordar que existe alerta vs. concordar qual classe. É o ponto-chave do k-de-n.</a:t>
            </a:r>
            <a:endParaRPr/>
          </a:p>
        </p:txBody>
      </p:sp>
      <p:sp>
        <p:nvSpPr>
          <p:cNvPr id="257" name="Google Shape;257;g3f8aae156d6_0_1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aae156d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 s] Divisória. Passe rápido.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divisória — transição para a seção de avaliação.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"Agora vamos para a avaliação: o que a orquestração detecta e o que ela derrubaria por engano"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Passe rápido (5 segundos)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Não pare nesse slide.</a:t>
            </a:r>
            <a:endParaRPr/>
          </a:p>
        </p:txBody>
      </p:sp>
      <p:sp>
        <p:nvSpPr>
          <p:cNvPr id="280" name="Google Shape;280;g3f8aae156d6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aae156d6_0_1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f8aae156d6_0_1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[35 s] A campanha de detecção.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experimento roda numa rede Docker dedicada. O gerador produz um cenário por janela, os alvos são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HTTP e um SSH emulados, e os três motores leem o mesmo tráfego ao mesmo tempo.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Foram 240 janelas rotuladas, quase sete horas de tráfego e 10,3 milhões de pacotes.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ponto metodológico: malicioso e benigno rodam em janelas separadas. Assim cada falso alarme é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atribuível ao perfil benigno que o produziu. Tudo está no repositório do QR.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Descrever o setup experimental e a campanha de detecção.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"O experimento roda numa rede Docker dedicada"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"O gerador produz um cenário por janela, os alvos são HTTP e SSH emulados, e os três motores leem o mesmo tráfego ao mesmo tempo"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Números: "240 janelas rotuladas, quase 7 horas de tráfego, 10,3 milhões de pacotes"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Ponto metodológico crucial: "Malicioso e benigno rodam em janelas SEPARADAS"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"Assim cada falso alarme é atribuível ao perfil benigno que o produziu"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"Tudo está no repositório do QR"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~35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Enfatize as janelas separadas — é a decisão metodológica que permite atribuir falsos positivos ao perfil correto.</a:t>
            </a:r>
            <a:endParaRPr/>
          </a:p>
        </p:txBody>
      </p:sp>
      <p:sp>
        <p:nvSpPr>
          <p:cNvPr id="295" name="Google Shape;295;g3f8aae156d6_0_1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aae156d6_0_2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f8aae156d6_0_2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[40 s] Q1: o que a orquestração detecta.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barras azuis são o recall. Suricata 0,67, Snort 0,46, Zeek 0,40: e a orquestração, à direita,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0,81. A cobertura sobe de sete para nove classes das dez.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Reparem nas barras laranja, a precisão: Snort e Suricata em 1,00, nunca disparam em tráfego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benigno. O Zeek fica em 0,88: é ele, e só ele, que produz falso alarme. Guardem isso: decide 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próximo slide.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décima classe é força bruta SSH, que nenhum dos três detecta. Lacuna do catálogo de regras, não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 orquestração.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Responder Q1 — o que a orquestração detecta (recall e precisão por motor).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"Q1: o que a orquestração detecta"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Apontar para as barras AZUIS (recall):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Suricata: 0,67 | Snort: 0,46 | Zeek: 0,40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Orquestração: 0,81 (destaque!)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"A cobertura sobe de sete para nove classes das dez"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Apontar para as barras LARANJA (precisão):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Snort e Suricata: 1,00 — "nunca disparam em tráfego benigno"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Zeek: 0,88 — "é ele, e só ele, que produz falso alarme"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"Guardem isso: decide o próximo slide"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Mencionar a 10ª classe: "Força bruta SSH, que nenhum dos três detecta. É lacuna do catálogo de regras, não da orquestração"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~40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Faça a plateia olhar para as barras. O recall da orquestração (0,81) é o número mais importante. E marque que o Zeek é o único que produz falso alarme.</a:t>
            </a:r>
            <a:endParaRPr/>
          </a:p>
        </p:txBody>
      </p:sp>
      <p:sp>
        <p:nvSpPr>
          <p:cNvPr id="307" name="Google Shape;307;g3f8aae156d6_0_2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aae156d6_0_2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f8aae156d6_0_2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[45 s] Q2: o que a política custa.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está a contribuição central. Mantivemos o tráfego constante e variamos só a política.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À esquerda, cobertura: ANY contém nove das dez classes; k=2 contém sete. À direita, o custo: ANY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produz oito bloqueios indevidos: oito dispositivos legítimos fora do ar: e k=2 produz zero.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 porque todos os falsos alarmes vêm de um único motor. Como a origem é uma só, pedir um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segundo motor independente zera a conta. E nenhuma janela benigna acionou dois motores, então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nenhuma escolha de T muda esse zero.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preço são as duas classes que só um motor enxerga.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Responder Q2 (parte 1) — cobertura. ANY cobre mais classes.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"Q2: o que a política custa"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"Mantivemos o tráfego constante e variamos só a política"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Cobertura (apontar para gráfico):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ANY: contém 9 das 10 classes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k=2: contém 7 das 10 classes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"O preço do k=2 são as duas classes que só um motor enxerga"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~25 segundos (este e o slide 14 formam um par)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Este slide e o próximo formam a contribuição central. Aqui é cobertura, no próximo é custo. Se possível, apresente os dois como um bloco.</a:t>
            </a:r>
            <a:endParaRPr/>
          </a:p>
        </p:txBody>
      </p:sp>
      <p:sp>
        <p:nvSpPr>
          <p:cNvPr id="325" name="Google Shape;325;g3f8aae156d6_0_2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8aae156d6_0_2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f8aae156d6_0_2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[45 s] Q2: o que a política custa.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está a contribuição central. Mantivemos o tráfego constante e variamos só a política.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À esquerda, cobertura: ANY contém nove das dez classes; k=2 contém sete. À direita, o custo: ANY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produz oito bloqueios indevidos: oito dispositivos legítimos fora do ar: e k=2 produz zero.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 porque todos os falsos alarmes vêm de um único motor. Como a origem é uma só, pedir um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segundo motor independente zera a conta. E nenhuma janela benigna acionou dois motores, então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nenhuma escolha de T muda esse zero.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preço são as duas classes que só um motor enxerga.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Responder Q2 (parte 2) — custo. k-de-n elimina bloqueios indevidos.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Custo (apontar para gráfico):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ANY: 8 bloqueios indevidos (8 dispositivos legítimos fora do ar)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k=2: ZERO bloqueios indevidos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Explicar POR QUE funciona: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"Todos os falsos alarmes vêm de um ÚNICO motor (o Zeek)"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"Como a origem é uma só, pedir um segundo motor independente zera a conta"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"Nenhuma janela benigna acionou dois motores, então nenhuma escolha de T muda esse zero"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Resumir o trade-off: "ANY: máxima cobertura, 8 bloqueios indevidos. k=2: perde 2 classes, ganha zero bloqueios indevidos"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~45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"Zero bloqueios indevidos" é o número-chave da contribuição. Enfatize e dê uma pausa breve depois de dizer.</a:t>
            </a:r>
            <a:endParaRPr/>
          </a:p>
        </p:txBody>
      </p:sp>
      <p:sp>
        <p:nvSpPr>
          <p:cNvPr id="340" name="Google Shape;340;g3f8aae156d6_0_2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aae156d6_0_2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g3f8aae156d6_0_2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[20 s] Três números.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 0,81 contra 0,67 do melhor motor sozinho. Zero bloqueios indevidos com k=2, contra oito sob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ANY. E 240 janelas rotuladas públicas, para qualquer um conferir.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Resumo numérico — "A avaliação em três números".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"Três números resumem a avaliação":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1. Recall 0,81 — contra 0,67 do melhor motor sozinho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2. Zero bloqueios indevidos com k=2 — contra 8 sob ANY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3. 240 janelas públicas — com regras, logs e scripts abertos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"Qualquer um pode conferir no repositório do QR"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Slide de impacto. Fale cada número com pausa. É o slide que a plateia leva para casa.</a:t>
            </a:r>
            <a:endParaRPr/>
          </a:p>
        </p:txBody>
      </p:sp>
      <p:sp>
        <p:nvSpPr>
          <p:cNvPr id="355" name="Google Shape;355;g3f8aae156d6_0_2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4139f5a0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g3f4139f5a0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[25 s] O que sustentamos e o que não.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À esquerda, o que os dados sustentam. À direita, o que eles não sustentam.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 controlado, um cenário por janela. Latência não medida. E a contenção é por IP de origem,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pode ser forjado: o k-de-n mitiga, não elimina.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Transparência — o que os resultados sustentam vs. o que NÃO podem afirmar.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"Agora, o que sustentamos e o que não podemos afirmar"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 que os dados sustentam (apontar à esquerda):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Mais classes cobertas que qualquer motor isolado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Zero bloqueio indevido com k=2, independente da janela T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O ganho vem da complementaridade entre assinatura e comportamento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 que NÃO podemos afirmar (apontar à direita):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Ambiente controlado, um cenário por janela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Latência não instrumentada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Contenção por IP de origem, que pode ser forjado — "o k-de-n mitiga, não elimina"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Este slide demonstra maturidade e honestidade científica. Não pule. Mostra que os autores conhecem as limitações.</a:t>
            </a:r>
            <a:endParaRPr/>
          </a:p>
        </p:txBody>
      </p:sp>
      <p:sp>
        <p:nvSpPr>
          <p:cNvPr id="391" name="Google Shape;391;g3f4139f5a0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8aae156d6_0_2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g3f8aae156d6_0_2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[25 s] O que sustentamos e o que não.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À esquerda, o que os dados sustentam. À direita, o que eles não sustentam.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 controlado, um cenário por janela. Latência não medida. E a contenção é por IP de origem,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pode ser forjado: o k-de-n mitiga, não elimina.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Transparência — o que os resultados sustentam vs. o que NÃO podem afirmar.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"Agora, o que sustentamos e o que não podemos afirmar"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 que os dados sustentam (apontar à esquerda):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Mais classes cobertas que qualquer motor isolado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Zero bloqueio indevido com k=2, independente da janela T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O ganho vem da complementaridade entre assinatura e comportamento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 que NÃO podemos afirmar (apontar à direita):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Ambiente controlado, um cenário por janela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Latência não instrumentada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Contenção por IP de origem, que pode ser forjado — "o k-de-n mitiga, não elimina"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Este slide demonstra maturidade e honestidade científica. Não pule. Mostra que os autores conhecem as limitações.</a:t>
            </a:r>
            <a:endParaRPr/>
          </a:p>
        </p:txBody>
      </p:sp>
      <p:sp>
        <p:nvSpPr>
          <p:cNvPr id="413" name="Google Shape;413;g3f8aae156d6_0_2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8aae156d6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 s] Divisória. Passe rápido.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divisória — transição para conclusões.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"Para finalizar, as conclusões: o que fica e para onde vamos"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Passe rápido (5 segundos)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Não pare nesse slide.</a:t>
            </a:r>
            <a:endParaRPr/>
          </a:p>
        </p:txBody>
      </p:sp>
      <p:sp>
        <p:nvSpPr>
          <p:cNvPr id="434" name="Google Shape;434;g3f8aae156d6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8aae156d6_0_3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g3f8aae156d6_0_3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[25 s] A contribuição.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contribuição do IoTEdu Core não é orquestrar: SIEM maduro já orquestra. É tornar a orquestração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mensurável.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Entregamos um catálogo de regras público e uma política trocável. A evidência é o ganho de recall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 custo explicitado. E o impacto: a equipe de rede escolhe com um número na mão, não com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intuição.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Contribuição final — "Tornar a orquestração mensurável".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Frase central: "A contribuição do IoTEdu Core NÃO é orquestrar — SIEM maduro já orquestra. É tornar a orquestração MENSURÁVEL."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Três pontos: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1. Contribuição: catálogo de regras público e política trocável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2. Evidência: recall de 0,67 para 0,81, custo explicitado (8 bloqueios sob ANY, zero sob k=2)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3. Impacto: a equipe de rede escolhe com um NÚMERO na mão, não com intuição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~25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"Tornar mensurável" é a frase que diferencia o trabalho. Repita se necessário.</a:t>
            </a:r>
            <a:endParaRPr/>
          </a:p>
        </p:txBody>
      </p:sp>
      <p:sp>
        <p:nvSpPr>
          <p:cNvPr id="449" name="Google Shape;449;g3f8aae156d6_0_3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8aae156d6_0_3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g3f8aae156d6_0_3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[20 s] Para onde vamos.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próximo passo é a taxonomia compartilhada entre os motores, que fecha a lacuna do SSH, e 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num segmento de campus. Depois, latência instrumentada e identidade de dispositivo mais forte que o IP.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 convite: a ferramenta roda na bancada nos dias 1, 2 e 3: dá para ver o ataque sair, a regra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aparecer no pfSense e o bloqueio ser revertido, ao vivo.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Trabalhos futuros — para onde vai a pesquisa.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Listar os próximos passos: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1. Taxonomia compartilhada entre os motores (fecha a lacuna do SSH brute force)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2. Validação em um segmento IoT de campus (sair do lab para ambiente real)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3. Instrumentar latência e exposição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4. Proteger o canal com o firewall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5. Identidade mais forte que o IP (certificado de dispositivo, etc.)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Se houver demo na conferência: "A ferramenta roda na bancada nos dias 1, 2 e 3. Dá para ver o ataque sair, a regra aparecer no pfSense e o bloqueio ser revertido, ao vivo."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~20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A menção à demo ao vivo é um convite que funciona bem. Use se aplicável.</a:t>
            </a:r>
            <a:endParaRPr/>
          </a:p>
        </p:txBody>
      </p:sp>
      <p:sp>
        <p:nvSpPr>
          <p:cNvPr id="479" name="Google Shape;479;g3f8aae156d6_0_3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4151e6d1b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g3f4151e6d1b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de transição para as conclusões.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Reforce a tese em UMA frase: "A regra só merece confiança depois de enfrentar tráfego adversarial."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Pause brevemente antes de avançar.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~10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Diga a frase com firmeza, como se fosse a conclusão de toda a apresentação. É a mensagem que a plateia deve levar.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Reforce a tese em uma frase.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Ciocca et al., Toward Agentic Intrusion Detection in the Internet of Things: Rule Generation and Live Validation for XRCE-DDS Attacks, SBSeg 2026., p. 8.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g3f4151e6d1b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8aae156d6_0_3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g3f8aae156d6_0_3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[10 s] Obrigado.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Obrigado. Fico à disposição para as perguntas: o repositório e o vídeo estão no QR.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Encerramento e agradecimento.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"Obrigado. Fico à disposição para as perguntas."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"O repositório e o vídeo de demonstração estão no QR."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Aguardar perguntas com postura aberta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 TEMPO SUGERIDO: ~10 segundos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Sorria. Mantenha contato visual. Postura aberta para perguntas.</a:t>
            </a:r>
            <a:endParaRPr/>
          </a:p>
        </p:txBody>
      </p:sp>
      <p:sp>
        <p:nvSpPr>
          <p:cNvPr id="514" name="Google Shape;514;g3f8aae156d6_0_3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8aae156d6_0_3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f8aae156d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[SLIDE DE APOIO] A partir daqui são slides de treino para possíveis perguntas. Não fazem parte da apresentação principal.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8aae156d6_0_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f8aae156d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Essa é a pergunta mais provável. Responda com calma.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Não competimos com Wazuh/Security Onion. 2) Nossa contribuição é a EVIDÊNCIA de custo (coluna FP+M da Tabela 1). 3) A política trocável permite medir o trade-off.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insistirem: mencione que o Wazuh usa active-response com regras próprias, mas não publica quantos bloqueios indevidos cada política gera.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8aae156d6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f8aae156d6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Essa pergunta é sobre validade experimental.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Separação permite atribuição limpa de falsos positivos. 2) Misturar tráfego impediria saber a origem do alarme. 3) Campus é o próximo passo.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Referência: Seção 4.1 do artigo, definição de "labeled window".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8aae156d6_0_4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f8aae156d6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Reconheça a limitação diretamente — está declarada no artigo.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Foco foi eficácia, não eficiência. 2) Latência depende de T, motores, pfSense. 3) É trabalho futuro declarado.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pedirem estimativa: o pipeline Docker processa cada janela em poucos segundos, mas isso não foi medido sistematicamente.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8aae156d6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f8aae156d6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Não tente minimizar — assuma a limitação.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Spoofing é risco real. 2) k-de-n eleva a barra (precisa de 2 motores concordando). 3) Identidade forte é trabalho futuro.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perguntarem sobre 802.1X: é uma possibilidade, mas exige infraestrutura de PKI que nem toda instituição tem.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8aae156d6_0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f8aae156d6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Diferencie o testbed (Docker, avaliação) do deployment (VMs, demonstração).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Docker é para avaliação controlada. 2) Demo roda em VMs com pfSense real. 3) Campus é trabalho futuro.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perguntarem sobre throughput: Suricata e Zeek lidam com Gbps em produção; o gargalo seria a API, não os motores.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8aae156d6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f8aae156d6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Essa pergunta é fácil de responder porque já está no slide 12.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Limitação do catálogo de regras, não da orquestração. 2) Nenhum motor viu → orquestração não pode recuperar. 3) Taxonomia compartilhada é trabalho futuro.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Detalhe técnico: os thresholds de SSH podem precisar de ajuste fino (número de tentativas, janela de tempo).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8aae156d6_0_4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f8aae156d6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Referência ao slide 3 (mapa de calor) ajuda visualmente.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k=3 eliminaria classes vistas por &lt;3 motores. 2) k=2 é o mínimo que evita FP de motor isolado. 3) Com n=3, é o equilíbrio.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Seção do artigo: 2.2 (Containment policies) — "k=2 is the smallest value that prevents a false positive from a single engine from triggering a block".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8aae156d6_0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f8aae156d6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Essa é uma pergunta técnica que pode confundir. Seja preciso.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T não foi exercitado na campanha. 2) O k-de-n reportado é upper bound. 3) T deve ser ≥ maior window_s das regras. 4) Calibração é trabalho futuro.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pedirem número: o artigo não fixa T; é parâmetro de deployment.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8aae156d6_0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8aae156d6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Pergunta fácil — responda com orgulho. Reprodutibilidade é diferencial.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Repositório público. 2) Dados + regras + scripts. 3) Vídeo de demo.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URL: github.com/GT-IoTEdu/iotedu-core_sbseg26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8aae156d6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f8aae156d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Não entre na defesa de regras vs. ML — desvie para a contribuição (política, não detector).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Foco é orquestração, não detecção. 2) Regras são auditáveis. 3) Pipeline é agnóstico ao mecanismo de detecção.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insistirem: ML é ortogonal — pode entrar como um quarto "motor" no futuro.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8aae156d6_0_4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f8aae156d6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Essa pergunta mostra que a pessoa leu com atenção. Responda com precisão.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Acordo é sobre classe, não existência. 2) Discordância de classe = k não satisfeito. 3) 57 misclassificações documentadas (Figura 4).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Seção do artigo: 4.3 (Cross-family misclassification analysis).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8aae156d6_0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3f8aae156d6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Use exemplos concretos (hospital vs. laboratório) para tornar tangível.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Administrador escolhe k e T. 2) Escolha é informada por dados. 3) Perfil de risco determina a política.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perguntarem sobre interface: a política é parâmetro da API, trocável sem restart.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8aae156d6_0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f8aae156d6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Não critique o Zeek — explique que é a natureza do mecanismo.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Zeek é event-driven, mais sensível. 2) Sensibilidade gera FPs. 3) Heterogeneidade é FEATURE, não bug — é o que faz k-de-n funcionar.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Seção: 4.2 — "only Zeek generates alerts on benign traffic".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8aae156d6_0_5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f8aae156d6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 Resposta curta e direta.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Pontos-chave: 1) Basta escrever coletor + mapping. 2) k-de-n se adapta a n variável. 3) Esquema comum é genérico.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concreto: um detector ML poderia ser o quarto motor, gerando alertas no mesmo formato.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2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aae156d6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8aae156d6_0_0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8aae156d6_0_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8aae156d6_0_0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8aae156d6_0_0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8aae156d6_0_0"/>
          <p:cNvSpPr txBox="1"/>
          <p:nvPr/>
        </p:nvSpPr>
        <p:spPr>
          <a:xfrm>
            <a:off x="658368" y="475488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8aae156d6_0_0"/>
          <p:cNvSpPr txBox="1"/>
          <p:nvPr/>
        </p:nvSpPr>
        <p:spPr>
          <a:xfrm>
            <a:off x="658368" y="80467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8aae156d6_0_0"/>
          <p:cNvSpPr txBox="1"/>
          <p:nvPr/>
        </p:nvSpPr>
        <p:spPr>
          <a:xfrm>
            <a:off x="658368" y="1542212"/>
            <a:ext cx="81381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i="0" lang="en-US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IoTEdu Core: correlação multi-IDS e contenção automatizada de ataques em redes IoT institucionais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8aae156d6_0_0"/>
          <p:cNvSpPr/>
          <p:nvPr/>
        </p:nvSpPr>
        <p:spPr>
          <a:xfrm>
            <a:off x="658368" y="3602736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8aae156d6_0_0"/>
          <p:cNvSpPr txBox="1"/>
          <p:nvPr/>
        </p:nvSpPr>
        <p:spPr>
          <a:xfrm>
            <a:off x="658368" y="3840480"/>
            <a:ext cx="8412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158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Emanuel Ferreira · Matheus Ciocca · Douglas Fideles · Silvio Quincozes · Diego Kreutz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8aae156d6_0_0"/>
          <p:cNvSpPr txBox="1"/>
          <p:nvPr/>
        </p:nvSpPr>
        <p:spPr>
          <a:xfrm>
            <a:off x="658368" y="4242816"/>
            <a:ext cx="8412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AI Horizon Labs  ·  Universidade Federal do Pampa (UNIPAMPA)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Programa de Pós-Graduação em Engenharia de Software (PPGES)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8aae156d6_0_0"/>
          <p:cNvSpPr/>
          <p:nvPr/>
        </p:nvSpPr>
        <p:spPr>
          <a:xfrm>
            <a:off x="9189720" y="1463040"/>
            <a:ext cx="2340900" cy="2340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7" name="Google Shape;97;g3f8aae156d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8aae156d6_0_0"/>
          <p:cNvSpPr/>
          <p:nvPr/>
        </p:nvSpPr>
        <p:spPr>
          <a:xfrm>
            <a:off x="0" y="5760720"/>
            <a:ext cx="121917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9" name="Google Shape;99;g3f8aae156d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103620"/>
            <a:ext cx="169164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0" name="Google Shape;100;g3f8aae156d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6040" y="6007608"/>
            <a:ext cx="914400" cy="603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01" name="Google Shape;101;g3f8aae156d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1920" y="5993892"/>
            <a:ext cx="630936" cy="630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2" name="Google Shape;102;g3f8aae156d6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3" name="Google Shape;103;g3f8aae156d6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04" name="Google Shape;104;g3f8aae156d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poniveis.png" id="105" name="Google Shape;105;g3f8aae156d6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89720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106" name="Google Shape;106;g3f8aae156d6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02368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107" name="Google Shape;107;g3f8aae156d6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15016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108" name="Google Shape;108;g3f8aae156d6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27664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8aae156d6_0_2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8aae156d6_0_2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8aae156d6_0_2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8aae156d6_0_2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8aae156d6_0_2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8aae156d6_0_2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8aae156d6_0_24"/>
          <p:cNvSpPr txBox="1"/>
          <p:nvPr/>
        </p:nvSpPr>
        <p:spPr>
          <a:xfrm>
            <a:off x="604788" y="1803750"/>
            <a:ext cx="109821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65"/>
              <a:buFont typeface="Arial"/>
              <a:buNone/>
            </a:pPr>
            <a:r>
              <a:rPr b="1" i="0" lang="en-US" sz="2943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Detectar não é conter.</a:t>
            </a:r>
            <a:endParaRPr b="1" i="0" sz="2943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65"/>
              <a:buFont typeface="Arial"/>
              <a:buNone/>
            </a:pPr>
            <a:r>
              <a:rPr b="1" i="0" lang="en-US" sz="2943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 conter no alerta errado tira do ar um dispositivo legítimo.</a:t>
            </a:r>
            <a:endParaRPr b="0" i="0" sz="16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8aae156d6_0_24"/>
          <p:cNvSpPr/>
          <p:nvPr/>
        </p:nvSpPr>
        <p:spPr>
          <a:xfrm>
            <a:off x="369864" y="3127525"/>
            <a:ext cx="3716700" cy="252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3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325" lIns="98725" spcFirstLastPara="1" rIns="98725" wrap="square" tIns="49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3"/>
              <a:buFont typeface="Arial"/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8aae156d6_0_24"/>
          <p:cNvSpPr txBox="1"/>
          <p:nvPr/>
        </p:nvSpPr>
        <p:spPr>
          <a:xfrm>
            <a:off x="537913" y="3441057"/>
            <a:ext cx="35136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19"/>
              <a:buFont typeface="Arial"/>
              <a:buNone/>
            </a:pPr>
            <a:r>
              <a:rPr b="1" i="0" lang="en-US" sz="3217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Alerta não é ação</a:t>
            </a:r>
            <a:endParaRPr b="0" i="0" sz="19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64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b="0" i="0" lang="en-US" sz="2353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O IDS detecta, mas o bloqueio segue manual. [Waleed et al. 2022]</a:t>
            </a:r>
            <a:endParaRPr b="0" i="0" sz="19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8aae156d6_0_24"/>
          <p:cNvSpPr/>
          <p:nvPr/>
        </p:nvSpPr>
        <p:spPr>
          <a:xfrm>
            <a:off x="4382467" y="3127525"/>
            <a:ext cx="3716700" cy="252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3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325" lIns="98725" spcFirstLastPara="1" rIns="98725" wrap="square" tIns="49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3"/>
              <a:buFont typeface="Arial"/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8aae156d6_0_24"/>
          <p:cNvSpPr txBox="1"/>
          <p:nvPr/>
        </p:nvSpPr>
        <p:spPr>
          <a:xfrm>
            <a:off x="4585820" y="3453336"/>
            <a:ext cx="3610500" cy="1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19"/>
              <a:buFont typeface="Arial"/>
              <a:buNone/>
            </a:pPr>
            <a:r>
              <a:rPr b="1" i="0" lang="en-US" sz="3217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Cobertura parcial</a:t>
            </a:r>
            <a:endParaRPr b="0" i="0" sz="19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64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b="0" i="0" lang="en-US" sz="2302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Cada motor cobre um subconjunto das classes. [Boukebous et al. 2023]</a:t>
            </a:r>
            <a:endParaRPr b="0" i="0" sz="23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8aae156d6_0_24"/>
          <p:cNvSpPr/>
          <p:nvPr/>
        </p:nvSpPr>
        <p:spPr>
          <a:xfrm>
            <a:off x="8395069" y="3127525"/>
            <a:ext cx="3716700" cy="252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3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325" lIns="98725" spcFirstLastPara="1" rIns="98725" wrap="square" tIns="49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3"/>
              <a:buFont typeface="Arial"/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8aae156d6_0_24"/>
          <p:cNvSpPr txBox="1"/>
          <p:nvPr/>
        </p:nvSpPr>
        <p:spPr>
          <a:xfrm>
            <a:off x="8730742" y="3364470"/>
            <a:ext cx="3045000" cy="21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19"/>
              <a:buFont typeface="Arial"/>
              <a:buNone/>
            </a:pPr>
            <a:r>
              <a:rPr b="1" i="0" lang="en-US" sz="3172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Custo invisível</a:t>
            </a:r>
            <a:endParaRPr b="0" i="0" sz="31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64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r>
              <a:rPr b="0" i="0" lang="en-US" sz="2302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Ninguém reporta quantos dispositivos legítimos o bloqueio derruba. [Wazuh 2026]</a:t>
            </a:r>
            <a:endParaRPr b="0" i="0" sz="23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8aae156d6_0_2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8" name="Google Shape;128;g3f8aae156d6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8aae156d6_0_2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0" name="Google Shape;130;g3f8aae156d6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8aae156d6_0_2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32" name="Google Shape;132;g3f8aae156d6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8aae156d6_0_2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8aae156d6_0_2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35" name="Google Shape;135;g3f8aae156d6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f8aae156d6_0_2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_heatmap_v3.png" id="142" name="Google Shape;142;g3f8aae156d6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8075" y="826500"/>
            <a:ext cx="6335201" cy="5513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8aae156d6_0_5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8aae156d6_0_5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8aae156d6_0_51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Nenhum </a:t>
            </a:r>
            <a:r>
              <a:rPr b="1" lang="en-US" sz="3200">
                <a:solidFill>
                  <a:srgbClr val="0F2369"/>
                </a:solidFill>
              </a:rPr>
              <a:t>IDS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sozinho basta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8aae156d6_0_5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8aae156d6_0_5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8aae156d6_0_5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8aae156d6_0_51"/>
          <p:cNvSpPr txBox="1"/>
          <p:nvPr/>
        </p:nvSpPr>
        <p:spPr>
          <a:xfrm>
            <a:off x="617150" y="1945425"/>
            <a:ext cx="5434800" cy="3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900"/>
              <a:buFont typeface="Arial"/>
              <a:buChar char="▪"/>
            </a:pP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b="1" lang="en-US" sz="2900">
                <a:solidFill>
                  <a:srgbClr val="0F2369"/>
                </a:solidFill>
              </a:rPr>
              <a:t>IDS</a:t>
            </a: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é cego em um lugar diferente.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0A866E"/>
              </a:buClr>
              <a:buSzPts val="2900"/>
              <a:buFont typeface="Arial"/>
              <a:buChar char="▪"/>
            </a:pP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Concordar entre </a:t>
            </a:r>
            <a:r>
              <a:rPr b="1" lang="en-US" sz="2900">
                <a:solidFill>
                  <a:srgbClr val="0F2369"/>
                </a:solidFill>
              </a:rPr>
              <a:t>IDS</a:t>
            </a: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custa cobertura.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0A866E"/>
              </a:buClr>
              <a:buSzPts val="2900"/>
              <a:buFont typeface="Arial"/>
              <a:buChar char="▪"/>
            </a:pP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Errar a família não é o mesmo que não detectar.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8aae156d6_0_5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51" name="Google Shape;151;g3f8aae156d6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8aae156d6_0_5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53" name="Google Shape;153;g3f8aae156d6_0_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8aae156d6_0_5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55" name="Google Shape;155;g3f8aae156d6_0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8aae156d6_0_51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8aae156d6_0_5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58" name="Google Shape;158;g3f8aae156d6_0_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f8aae156d6_0_5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8aae156d6_0_51"/>
          <p:cNvSpPr txBox="1"/>
          <p:nvPr/>
        </p:nvSpPr>
        <p:spPr>
          <a:xfrm>
            <a:off x="864750" y="5422225"/>
            <a:ext cx="447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Medição própria: 240 janelas rotuladas, 15 por cenário.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aae156d6_0_7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8aae156d6_0_7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8aae156d6_0_7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já existe e o que falta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f8aae156d6_0_74"/>
          <p:cNvGraphicFramePr/>
          <p:nvPr/>
        </p:nvGraphicFramePr>
        <p:xfrm>
          <a:off x="495468" y="1170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{088CC469-19C5-4C7B-A2C6-7BADC259A849}</a:tableStyleId>
              </a:tblPr>
              <a:tblGrid>
                <a:gridCol w="3932175"/>
                <a:gridCol w="2978900"/>
                <a:gridCol w="4289650"/>
              </a:tblGrid>
              <a:tr h="53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Abordagem</a:t>
                      </a:r>
                      <a:endParaRPr sz="1300" u="none" cap="none" strike="noStrike"/>
                    </a:p>
                  </a:txBody>
                  <a:tcPr marT="64000" marB="64000" marR="109725" marL="1097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Operação</a:t>
                      </a:r>
                      <a:endParaRPr sz="1300" u="none" cap="none" strike="noStrike"/>
                    </a:p>
                  </a:txBody>
                  <a:tcPr marT="64000" marB="64000" marR="109725" marL="1097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falta medir</a:t>
                      </a:r>
                      <a:endParaRPr sz="1300" u="none" cap="none" strike="noStrike"/>
                    </a:p>
                  </a:txBody>
                  <a:tcPr marT="64000" marB="64000" marR="109725" marL="109725" anchor="ctr">
                    <a:solidFill>
                      <a:srgbClr val="0F2369"/>
                    </a:solidFill>
                  </a:tcPr>
                </a:tc>
              </a:tr>
              <a:tr h="84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Avaliações comparativas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Só detecção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Não integram alertas nem contêm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FFFFF"/>
                    </a:solidFill>
                  </a:tcPr>
                </a:tc>
              </a:tr>
              <a:tr h="84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Plataformas de integração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Só detecção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Agregam eventos, mas não bloqueiam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</a:tr>
              <a:tr h="84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Abordagens que bloqueiam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Detecção + resposta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Um único motor, sem correlação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FFFFF"/>
                    </a:solidFill>
                  </a:tcPr>
                </a:tc>
              </a:tr>
              <a:tr h="10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SIEM / XDR (Wazuh, Security Onion)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Detecção + resposta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Não reportam bloqueio indevido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</a:tr>
              <a:tr h="84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IoTEdu Core (este trabalho)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Detecção + resposta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Mede cobertura e bloqueio indevido</a:t>
                      </a:r>
                      <a:endParaRPr sz="2400" u="none" cap="none" strike="noStrike"/>
                    </a:p>
                  </a:txBody>
                  <a:tcPr marT="64000" marB="64000" marR="109725" marL="1097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g3f8aae156d6_0_74"/>
          <p:cNvSpPr txBox="1"/>
          <p:nvPr/>
        </p:nvSpPr>
        <p:spPr>
          <a:xfrm>
            <a:off x="495475" y="6297100"/>
            <a:ext cx="95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pipeline já existe. A evidência sobre o que ele custa, não.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8aae156d6_0_7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aae156d6_0_84"/>
          <p:cNvSpPr/>
          <p:nvPr/>
        </p:nvSpPr>
        <p:spPr>
          <a:xfrm>
            <a:off x="79375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8aae156d6_0_84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8aae156d6_0_84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8aae156d6_0_84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8aae156d6_0_84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8aae156d6_0_84"/>
          <p:cNvSpPr txBox="1"/>
          <p:nvPr/>
        </p:nvSpPr>
        <p:spPr>
          <a:xfrm>
            <a:off x="658368" y="2304288"/>
            <a:ext cx="2011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8aae156d6_0_84"/>
          <p:cNvSpPr txBox="1"/>
          <p:nvPr/>
        </p:nvSpPr>
        <p:spPr>
          <a:xfrm>
            <a:off x="2395728" y="2487168"/>
            <a:ext cx="7863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ferramenta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f8aae156d6_0_84"/>
          <p:cNvSpPr/>
          <p:nvPr/>
        </p:nvSpPr>
        <p:spPr>
          <a:xfrm>
            <a:off x="2414015" y="3383280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8aae156d6_0_84"/>
          <p:cNvSpPr txBox="1"/>
          <p:nvPr/>
        </p:nvSpPr>
        <p:spPr>
          <a:xfrm>
            <a:off x="2395728" y="3584448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Do alerta de três motores ao bloqueio por dispositivo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8aae156d6_0_84"/>
          <p:cNvSpPr txBox="1"/>
          <p:nvPr/>
        </p:nvSpPr>
        <p:spPr>
          <a:xfrm>
            <a:off x="10984687" y="619963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aae156d6_0_9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8aae156d6_0_9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 · ETAPA 1 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8aae156d6_0_98"/>
          <p:cNvSpPr txBox="1"/>
          <p:nvPr/>
        </p:nvSpPr>
        <p:spPr>
          <a:xfrm>
            <a:off x="658368" y="621792"/>
            <a:ext cx="10875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07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Do alerta ao bloqueio: coleta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8aae156d6_0_9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8aae156d6_0_9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8aae156d6_0_9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8aae156d6_0_9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99" name="Google Shape;199;g3f8aae156d6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8aae156d6_0_9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01" name="Google Shape;201;g3f8aae156d6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8aae156d6_0_9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03" name="Google Shape;203;g3f8aae156d6_0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f8aae156d6_0_98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8aae156d6_0_9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06" name="Google Shape;206;g3f8aae156d6_0_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f8aae156d6_0_9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f8aae156d6_0_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200" y="1481325"/>
            <a:ext cx="11914749" cy="427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8aae156d6_0_98"/>
          <p:cNvSpPr/>
          <p:nvPr/>
        </p:nvSpPr>
        <p:spPr>
          <a:xfrm>
            <a:off x="374749" y="1979355"/>
            <a:ext cx="4680600" cy="3032400"/>
          </a:xfrm>
          <a:prstGeom prst="roundRect">
            <a:avLst>
              <a:gd fmla="val 16667" name="adj"/>
            </a:avLst>
          </a:prstGeom>
          <a:noFill/>
          <a:ln cap="flat" cmpd="sng" w="508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f8aae156d6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200" y="1408175"/>
            <a:ext cx="12118817" cy="43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8aae156d6_0_12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8aae156d6_0_12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 · ETAPA 2 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8aae156d6_0_120"/>
          <p:cNvSpPr txBox="1"/>
          <p:nvPr/>
        </p:nvSpPr>
        <p:spPr>
          <a:xfrm>
            <a:off x="658368" y="621792"/>
            <a:ext cx="10875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07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Do alerta ao bloqueio: identidade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8aae156d6_0_12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8aae156d6_0_12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8aae156d6_0_12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8aae156d6_0_12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22" name="Google Shape;222;g3f8aae156d6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8aae156d6_0_12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24" name="Google Shape;224;g3f8aae156d6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f8aae156d6_0_12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26" name="Google Shape;226;g3f8aae156d6_0_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f8aae156d6_0_12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8aae156d6_0_12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29" name="Google Shape;229;g3f8aae156d6_0_1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f8aae156d6_0_12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8aae156d6_0_120"/>
          <p:cNvSpPr/>
          <p:nvPr/>
        </p:nvSpPr>
        <p:spPr>
          <a:xfrm>
            <a:off x="4822226" y="2854276"/>
            <a:ext cx="5558100" cy="2733300"/>
          </a:xfrm>
          <a:prstGeom prst="roundRect">
            <a:avLst>
              <a:gd fmla="val 16667" name="adj"/>
            </a:avLst>
          </a:prstGeom>
          <a:noFill/>
          <a:ln cap="flat" cmpd="sng" w="508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aae156d6_0_14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8aae156d6_0_141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 · ETAPA 3 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8aae156d6_0_141"/>
          <p:cNvSpPr txBox="1"/>
          <p:nvPr/>
        </p:nvSpPr>
        <p:spPr>
          <a:xfrm>
            <a:off x="658368" y="621792"/>
            <a:ext cx="10875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07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Do alerta ao bloqueio: decisão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8aae156d6_0_14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8aae156d6_0_14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8aae156d6_0_14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8aae156d6_0_14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43" name="Google Shape;243;g3f8aae156d6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f8aae156d6_0_14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45" name="Google Shape;245;g3f8aae156d6_0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f8aae156d6_0_14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47" name="Google Shape;247;g3f8aae156d6_0_1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f8aae156d6_0_141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8aae156d6_0_14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50" name="Google Shape;250;g3f8aae156d6_0_1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f8aae156d6_0_14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f8aae156d6_0_1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200" y="1481325"/>
            <a:ext cx="11914749" cy="427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8aae156d6_0_141"/>
          <p:cNvSpPr/>
          <p:nvPr/>
        </p:nvSpPr>
        <p:spPr>
          <a:xfrm>
            <a:off x="10238719" y="1737586"/>
            <a:ext cx="1926000" cy="3801300"/>
          </a:xfrm>
          <a:prstGeom prst="roundRect">
            <a:avLst>
              <a:gd fmla="val 16667" name="adj"/>
            </a:avLst>
          </a:prstGeom>
          <a:noFill/>
          <a:ln cap="flat" cmpd="sng" w="508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8aae156d6_0_16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8aae156d6_0_16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8aae156d6_0_16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As duas políticas de contenção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8aae156d6_0_16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8aae156d6_0_16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8aae156d6_0_16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f8aae156d6_0_162"/>
          <p:cNvSpPr txBox="1"/>
          <p:nvPr/>
        </p:nvSpPr>
        <p:spPr>
          <a:xfrm>
            <a:off x="546850" y="1774150"/>
            <a:ext cx="59925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54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1770"/>
              <a:buFont typeface="Arial"/>
              <a:buChar char="▪"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ANY: bloqueia no primeiro alerta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54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1770"/>
              <a:buFont typeface="Arial"/>
              <a:buChar char="▪"/>
            </a:pPr>
            <a:r>
              <a:rPr b="0" i="0" lang="en-US" sz="23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Basta um motor acusar severidade alta.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54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1770"/>
              <a:buFont typeface="Arial"/>
              <a:buChar char="▪"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k-de-n: exige acordo entre </a:t>
            </a:r>
            <a:r>
              <a:rPr b="1" lang="en-US" sz="2600">
                <a:solidFill>
                  <a:srgbClr val="0F2369"/>
                </a:solidFill>
              </a:rPr>
              <a:t>IDS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54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1770"/>
              <a:buFont typeface="Arial"/>
              <a:buChar char="▪"/>
            </a:pPr>
            <a:r>
              <a:rPr b="0" i="0" lang="en-US" sz="23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Com k=2, dois motores apontam a mesma classe no mesmo dispositivo.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546" lvl="0" marL="310896" marR="0" rtl="0" algn="l">
              <a:lnSpc>
                <a:spcPct val="116000"/>
              </a:lnSpc>
              <a:spcBef>
                <a:spcPts val="1800"/>
              </a:spcBef>
              <a:spcAft>
                <a:spcPts val="0"/>
              </a:spcAft>
              <a:buClr>
                <a:srgbClr val="0A866E"/>
              </a:buClr>
              <a:buSzPts val="1770"/>
              <a:buFont typeface="Arial"/>
              <a:buChar char="▪"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 política é trocável, sem mexer no pipeline.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8aae156d6_0_162"/>
          <p:cNvSpPr/>
          <p:nvPr/>
        </p:nvSpPr>
        <p:spPr>
          <a:xfrm>
            <a:off x="6650790" y="1632434"/>
            <a:ext cx="5236200" cy="3931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8aae156d6_0_162"/>
          <p:cNvSpPr txBox="1"/>
          <p:nvPr/>
        </p:nvSpPr>
        <p:spPr>
          <a:xfrm>
            <a:off x="6811996" y="1965425"/>
            <a:ext cx="50430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isso importa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3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ANY é rápido, mas confia em um motor só.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3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k-de-n demora, mas um falso positivo isolado não derruba ninguém.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3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Concordar qual ataque é o que o bloqueio exige.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8aae156d6_0_16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69" name="Google Shape;269;g3f8aae156d6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8aae156d6_0_16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71" name="Google Shape;271;g3f8aae156d6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f8aae156d6_0_16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73" name="Google Shape;273;g3f8aae156d6_0_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f8aae156d6_0_162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8aae156d6_0_16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76" name="Google Shape;276;g3f8aae156d6_0_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f8aae156d6_0_16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8aae156d6_0_18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8aae156d6_0_185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8aae156d6_0_18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8aae156d6_0_185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8aae156d6_0_185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8aae156d6_0_185"/>
          <p:cNvSpPr txBox="1"/>
          <p:nvPr/>
        </p:nvSpPr>
        <p:spPr>
          <a:xfrm>
            <a:off x="658368" y="2304288"/>
            <a:ext cx="2011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8aae156d6_0_185"/>
          <p:cNvSpPr txBox="1"/>
          <p:nvPr/>
        </p:nvSpPr>
        <p:spPr>
          <a:xfrm>
            <a:off x="2395728" y="2487168"/>
            <a:ext cx="7863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8aae156d6_0_185"/>
          <p:cNvSpPr/>
          <p:nvPr/>
        </p:nvSpPr>
        <p:spPr>
          <a:xfrm>
            <a:off x="2414015" y="3383280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8aae156d6_0_185"/>
          <p:cNvSpPr txBox="1"/>
          <p:nvPr/>
        </p:nvSpPr>
        <p:spPr>
          <a:xfrm>
            <a:off x="2395725" y="3584450"/>
            <a:ext cx="651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que a orquestração detecta e o que ela derrubaria por engano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8aae156d6_0_185"/>
          <p:cNvSpPr txBox="1"/>
          <p:nvPr/>
        </p:nvSpPr>
        <p:spPr>
          <a:xfrm>
            <a:off x="10984687" y="619963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uxograma de testes: Gerador de tráfego, rede Docker, ferramentas de segurança (Suricata, Snort, Zeek) e resultados." id="297" name="Google Shape;297;g3f8aae156d6_0_198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353213" y="971225"/>
            <a:ext cx="11762249" cy="540215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8aae156d6_0_19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8aae156d6_0_19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8aae156d6_0_19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 campanha de detecção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8aae156d6_0_198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8aae156d6_0_19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8aae156d6_0_198"/>
          <p:cNvSpPr txBox="1"/>
          <p:nvPr/>
        </p:nvSpPr>
        <p:spPr>
          <a:xfrm>
            <a:off x="353218" y="6327310"/>
            <a:ext cx="1005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Janelas separadas para malicioso e benigno · 6,88 h · 10,3 M de pacotes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8aae156d6_0_20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8aae156d6_0_20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· 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8aae156d6_0_20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Recall 0,81 contra 0,67 do melhor </a:t>
            </a:r>
            <a:r>
              <a:rPr b="1" lang="en-US" sz="3200">
                <a:solidFill>
                  <a:srgbClr val="0F2369"/>
                </a:solidFill>
              </a:rPr>
              <a:t>IDS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isolado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8aae156d6_0_20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8aae156d6_0_20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8aae156d6_0_20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15" name="Google Shape;315;g3f8aae156d6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f8aae156d6_0_20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17" name="Google Shape;317;g3f8aae156d6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f8aae156d6_0_209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8aae156d6_0_20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8aae156d6_0_20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metricas_pt.png" id="321" name="Google Shape;321;g3f8aae156d6_0_2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0900" y="1114400"/>
            <a:ext cx="9517199" cy="5705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rt_cobertura.png" id="327" name="Google Shape;327;g3f8aae156d6_0_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137" y="1039275"/>
            <a:ext cx="6795401" cy="520702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f8aae156d6_0_22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8aae156d6_0_22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· Q2 · COBERTURA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8aae156d6_0_22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ANY cobre mais classes de ataque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8aae156d6_0_226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8aae156d6_0_22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8aae156d6_0_226"/>
          <p:cNvSpPr/>
          <p:nvPr/>
        </p:nvSpPr>
        <p:spPr>
          <a:xfrm>
            <a:off x="658368" y="1408176"/>
            <a:ext cx="1005900" cy="549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8aae156d6_0_226"/>
          <p:cNvSpPr/>
          <p:nvPr/>
        </p:nvSpPr>
        <p:spPr>
          <a:xfrm>
            <a:off x="1737360" y="1408176"/>
            <a:ext cx="3840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8aae156d6_0_226"/>
          <p:cNvSpPr/>
          <p:nvPr/>
        </p:nvSpPr>
        <p:spPr>
          <a:xfrm>
            <a:off x="2194560" y="1408176"/>
            <a:ext cx="219600" cy="54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f8aae156d6_0_226"/>
          <p:cNvSpPr txBox="1"/>
          <p:nvPr/>
        </p:nvSpPr>
        <p:spPr>
          <a:xfrm>
            <a:off x="451993" y="6151062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Classes de ataque contidas, das 10 avaliadas na campanha de detecção.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rt_custo.png" id="342" name="Google Shape;342;g3f8aae156d6_0_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8013" y="1155050"/>
            <a:ext cx="6615722" cy="506932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f8aae156d6_0_24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8aae156d6_0_24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· Q2 · CUSTO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8aae156d6_0_24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k-de-n elimina os </a:t>
            </a:r>
            <a:r>
              <a:rPr b="1" lang="en-US" sz="3200">
                <a:solidFill>
                  <a:srgbClr val="0F2369"/>
                </a:solidFill>
              </a:rPr>
              <a:t>falsos positivos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8aae156d6_0_24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8aae156d6_0_24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8aae156d6_0_240"/>
          <p:cNvSpPr/>
          <p:nvPr/>
        </p:nvSpPr>
        <p:spPr>
          <a:xfrm>
            <a:off x="658368" y="1408176"/>
            <a:ext cx="1005900" cy="549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8aae156d6_0_240"/>
          <p:cNvSpPr/>
          <p:nvPr/>
        </p:nvSpPr>
        <p:spPr>
          <a:xfrm>
            <a:off x="1737360" y="1408176"/>
            <a:ext cx="3840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8aae156d6_0_240"/>
          <p:cNvSpPr/>
          <p:nvPr/>
        </p:nvSpPr>
        <p:spPr>
          <a:xfrm>
            <a:off x="2194560" y="1408176"/>
            <a:ext cx="219600" cy="54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8aae156d6_0_240"/>
          <p:cNvSpPr txBox="1"/>
          <p:nvPr/>
        </p:nvSpPr>
        <p:spPr>
          <a:xfrm>
            <a:off x="499618" y="6183737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Bloqueios indevidos, das 90 janelas testadas com tráfego benigno.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aae156d6_0_25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f8aae156d6_0_25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8aae156d6_0_25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 avaliação em três números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8aae156d6_0_25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8aae156d6_0_25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f8aae156d6_0_25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f8aae156d6_0_254"/>
          <p:cNvSpPr/>
          <p:nvPr/>
        </p:nvSpPr>
        <p:spPr>
          <a:xfrm>
            <a:off x="658368" y="1993392"/>
            <a:ext cx="3442200" cy="3346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8aae156d6_0_254"/>
          <p:cNvSpPr/>
          <p:nvPr/>
        </p:nvSpPr>
        <p:spPr>
          <a:xfrm>
            <a:off x="658368" y="1993392"/>
            <a:ext cx="3442200" cy="6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8aae156d6_0_254"/>
          <p:cNvSpPr txBox="1"/>
          <p:nvPr/>
        </p:nvSpPr>
        <p:spPr>
          <a:xfrm>
            <a:off x="896051" y="2221819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0,81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8aae156d6_0_254"/>
          <p:cNvSpPr txBox="1"/>
          <p:nvPr/>
        </p:nvSpPr>
        <p:spPr>
          <a:xfrm>
            <a:off x="895975" y="3026750"/>
            <a:ext cx="314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Recall da orquestração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f8aae156d6_0_254"/>
          <p:cNvSpPr txBox="1"/>
          <p:nvPr/>
        </p:nvSpPr>
        <p:spPr>
          <a:xfrm>
            <a:off x="905912" y="4049400"/>
            <a:ext cx="314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Contra 0,67 do melhor motor isolado.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8aae156d6_0_254"/>
          <p:cNvSpPr/>
          <p:nvPr/>
        </p:nvSpPr>
        <p:spPr>
          <a:xfrm>
            <a:off x="4374794" y="1993392"/>
            <a:ext cx="3442200" cy="3346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8aae156d6_0_254"/>
          <p:cNvSpPr/>
          <p:nvPr/>
        </p:nvSpPr>
        <p:spPr>
          <a:xfrm>
            <a:off x="4374794" y="1993392"/>
            <a:ext cx="3442200" cy="68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8aae156d6_0_254"/>
          <p:cNvSpPr txBox="1"/>
          <p:nvPr/>
        </p:nvSpPr>
        <p:spPr>
          <a:xfrm>
            <a:off x="4667440" y="2262094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8aae156d6_0_254"/>
          <p:cNvSpPr txBox="1"/>
          <p:nvPr/>
        </p:nvSpPr>
        <p:spPr>
          <a:xfrm>
            <a:off x="4667452" y="3026767"/>
            <a:ext cx="285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Bloqueios indevidos, k=2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f8aae156d6_0_254"/>
          <p:cNvSpPr txBox="1"/>
          <p:nvPr/>
        </p:nvSpPr>
        <p:spPr>
          <a:xfrm>
            <a:off x="4687315" y="4049395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Contra 8 sob a política ANY.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f8aae156d6_0_254"/>
          <p:cNvSpPr/>
          <p:nvPr/>
        </p:nvSpPr>
        <p:spPr>
          <a:xfrm>
            <a:off x="8091220" y="1993392"/>
            <a:ext cx="3442200" cy="3346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f8aae156d6_0_254"/>
          <p:cNvSpPr/>
          <p:nvPr/>
        </p:nvSpPr>
        <p:spPr>
          <a:xfrm>
            <a:off x="8091220" y="1993392"/>
            <a:ext cx="3442200" cy="68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f8aae156d6_0_254"/>
          <p:cNvSpPr txBox="1"/>
          <p:nvPr/>
        </p:nvSpPr>
        <p:spPr>
          <a:xfrm>
            <a:off x="8383828" y="2262106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240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8aae156d6_0_254"/>
          <p:cNvSpPr txBox="1"/>
          <p:nvPr/>
        </p:nvSpPr>
        <p:spPr>
          <a:xfrm>
            <a:off x="8383828" y="3053130"/>
            <a:ext cx="28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Janelas públicas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8aae156d6_0_254"/>
          <p:cNvSpPr txBox="1"/>
          <p:nvPr/>
        </p:nvSpPr>
        <p:spPr>
          <a:xfrm>
            <a:off x="8383828" y="4049395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Com regras, logs e scripts abertos.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8aae156d6_0_25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79" name="Google Shape;379;g3f8aae156d6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8aae156d6_0_25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81" name="Google Shape;381;g3f8aae156d6_0_2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f8aae156d6_0_25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83" name="Google Shape;383;g3f8aae156d6_0_2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8aae156d6_0_25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f8aae156d6_0_25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86" name="Google Shape;386;g3f8aae156d6_0_2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8aae156d6_0_25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4139f5a07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4139f5a07_0_0"/>
          <p:cNvSpPr txBox="1"/>
          <p:nvPr/>
        </p:nvSpPr>
        <p:spPr>
          <a:xfrm>
            <a:off x="515493" y="346335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4139f5a07_0_0"/>
          <p:cNvSpPr txBox="1"/>
          <p:nvPr/>
        </p:nvSpPr>
        <p:spPr>
          <a:xfrm>
            <a:off x="515500" y="713497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51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O que os resultados sustentam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396" name="Google Shape;396;g3f4139f5a07_0_0"/>
          <p:cNvSpPr/>
          <p:nvPr/>
        </p:nvSpPr>
        <p:spPr>
          <a:xfrm>
            <a:off x="515493" y="1388751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4139f5a07_0_0"/>
          <p:cNvSpPr/>
          <p:nvPr/>
        </p:nvSpPr>
        <p:spPr>
          <a:xfrm>
            <a:off x="1594485" y="1388751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f4139f5a07_0_0"/>
          <p:cNvSpPr/>
          <p:nvPr/>
        </p:nvSpPr>
        <p:spPr>
          <a:xfrm>
            <a:off x="2099664" y="1388751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4139f5a07_0_0"/>
          <p:cNvSpPr txBox="1"/>
          <p:nvPr/>
        </p:nvSpPr>
        <p:spPr>
          <a:xfrm>
            <a:off x="515500" y="1929850"/>
            <a:ext cx="106641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5446" lvl="0" marL="3463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99"/>
              <a:buFont typeface="Arial"/>
              <a:buChar char="▪"/>
            </a:pPr>
            <a:r>
              <a:rPr b="0" i="0" lang="en-US" sz="2967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Mais classes cobertas que qualquer motor isolado.</a:t>
            </a:r>
            <a:endParaRPr b="0" i="0" sz="19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446" lvl="0" marL="346396" marR="0" rtl="0" algn="l">
              <a:lnSpc>
                <a:spcPct val="116000"/>
              </a:lnSpc>
              <a:spcBef>
                <a:spcPts val="1783"/>
              </a:spcBef>
              <a:spcAft>
                <a:spcPts val="0"/>
              </a:spcAft>
              <a:buClr>
                <a:srgbClr val="0A866E"/>
              </a:buClr>
              <a:buSzPts val="2299"/>
              <a:buFont typeface="Arial"/>
              <a:buChar char="▪"/>
            </a:pPr>
            <a:r>
              <a:rPr b="0" i="0" lang="en-US" sz="2967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Zero bloqueio indevido com k=2, independente da janela T.</a:t>
            </a:r>
            <a:endParaRPr b="0" i="0" sz="19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446" lvl="0" marL="346396" marR="0" rtl="0" algn="l">
              <a:lnSpc>
                <a:spcPct val="116000"/>
              </a:lnSpc>
              <a:spcBef>
                <a:spcPts val="1783"/>
              </a:spcBef>
              <a:spcAft>
                <a:spcPts val="0"/>
              </a:spcAft>
              <a:buClr>
                <a:srgbClr val="0A866E"/>
              </a:buClr>
              <a:buSzPts val="2299"/>
              <a:buFont typeface="Arial"/>
              <a:buChar char="▪"/>
            </a:pPr>
            <a:r>
              <a:rPr b="0" i="0" lang="en-US" sz="2856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O ganho vem da complementaridade entre assinatura e comportamento.</a:t>
            </a:r>
            <a:endParaRPr b="0" i="0" sz="19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4139f5a07_0_0"/>
          <p:cNvSpPr/>
          <p:nvPr/>
        </p:nvSpPr>
        <p:spPr>
          <a:xfrm>
            <a:off x="420200" y="5992951"/>
            <a:ext cx="11533500" cy="117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8475" lIns="96950" spcFirstLastPara="1" rIns="96950" wrap="square" tIns="4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01" name="Google Shape;401;g3f4139f5a0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200" y="6128717"/>
            <a:ext cx="952298" cy="23274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f4139f5a07_0_0"/>
          <p:cNvSpPr/>
          <p:nvPr/>
        </p:nvSpPr>
        <p:spPr>
          <a:xfrm>
            <a:off x="1498567" y="6138415"/>
            <a:ext cx="7500" cy="2328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8475" lIns="96950" spcFirstLastPara="1" rIns="96950" wrap="square" tIns="4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03" name="Google Shape;403;g3f4139f5a0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636" y="6109322"/>
            <a:ext cx="441777" cy="29092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4139f5a07_0_0"/>
          <p:cNvSpPr/>
          <p:nvPr/>
        </p:nvSpPr>
        <p:spPr>
          <a:xfrm>
            <a:off x="2192482" y="6138415"/>
            <a:ext cx="7500" cy="2328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8475" lIns="96950" spcFirstLastPara="1" rIns="96950" wrap="square" tIns="4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05" name="Google Shape;405;g3f4139f5a0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8550" y="6099624"/>
            <a:ext cx="310322" cy="31032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f4139f5a07_0_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4139f5a07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08" name="Google Shape;408;g3f4139f5a0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f4139f5a07_0_0"/>
          <p:cNvSpPr txBox="1"/>
          <p:nvPr/>
        </p:nvSpPr>
        <p:spPr>
          <a:xfrm>
            <a:off x="7530600" y="6128717"/>
            <a:ext cx="30546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b="0" i="0" lang="en-US" sz="1167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8aae156d6_0_28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f8aae156d6_0_289"/>
          <p:cNvSpPr txBox="1"/>
          <p:nvPr/>
        </p:nvSpPr>
        <p:spPr>
          <a:xfrm>
            <a:off x="515493" y="346335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f8aae156d6_0_289"/>
          <p:cNvSpPr txBox="1"/>
          <p:nvPr/>
        </p:nvSpPr>
        <p:spPr>
          <a:xfrm>
            <a:off x="483693" y="691092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51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O que ainda não podemos afirmar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418" name="Google Shape;418;g3f8aae156d6_0_289"/>
          <p:cNvSpPr/>
          <p:nvPr/>
        </p:nvSpPr>
        <p:spPr>
          <a:xfrm>
            <a:off x="515493" y="1388751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f8aae156d6_0_289"/>
          <p:cNvSpPr/>
          <p:nvPr/>
        </p:nvSpPr>
        <p:spPr>
          <a:xfrm>
            <a:off x="1594485" y="1388751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8aae156d6_0_289"/>
          <p:cNvSpPr/>
          <p:nvPr/>
        </p:nvSpPr>
        <p:spPr>
          <a:xfrm>
            <a:off x="2099664" y="1388751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f8aae156d6_0_289"/>
          <p:cNvSpPr txBox="1"/>
          <p:nvPr/>
        </p:nvSpPr>
        <p:spPr>
          <a:xfrm>
            <a:off x="483698" y="1891025"/>
            <a:ext cx="11049600" cy="1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785" lvl="0" marL="3463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950"/>
              <a:buFont typeface="Arial"/>
              <a:buChar char="▪"/>
            </a:pPr>
            <a:r>
              <a:rPr b="0" i="0" lang="en-US" sz="295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Ambiente controlado, um cenário por janela.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785" lvl="0" marL="346396" marR="0" rtl="0" algn="l">
              <a:lnSpc>
                <a:spcPct val="116000"/>
              </a:lnSpc>
              <a:spcBef>
                <a:spcPts val="1783"/>
              </a:spcBef>
              <a:spcAft>
                <a:spcPts val="0"/>
              </a:spcAft>
              <a:buClr>
                <a:srgbClr val="F7A823"/>
              </a:buClr>
              <a:buSzPts val="2950"/>
              <a:buFont typeface="Arial"/>
              <a:buChar char="▪"/>
            </a:pPr>
            <a:r>
              <a:rPr b="0" i="0" lang="en-US" sz="295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Latência não instrumentada.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785" lvl="0" marL="346396" marR="0" rtl="0" algn="l">
              <a:lnSpc>
                <a:spcPct val="116000"/>
              </a:lnSpc>
              <a:spcBef>
                <a:spcPts val="1783"/>
              </a:spcBef>
              <a:spcAft>
                <a:spcPts val="0"/>
              </a:spcAft>
              <a:buClr>
                <a:srgbClr val="F7A823"/>
              </a:buClr>
              <a:buSzPts val="2950"/>
              <a:buFont typeface="Arial"/>
              <a:buChar char="▪"/>
            </a:pPr>
            <a:r>
              <a:rPr b="0" i="0" lang="en-US" sz="295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Contenção por IP de origem, que pode ser forjado.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f8aae156d6_0_289"/>
          <p:cNvSpPr/>
          <p:nvPr/>
        </p:nvSpPr>
        <p:spPr>
          <a:xfrm>
            <a:off x="420200" y="5992951"/>
            <a:ext cx="11533500" cy="117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8475" lIns="96950" spcFirstLastPara="1" rIns="96950" wrap="square" tIns="4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23" name="Google Shape;423;g3f8aae156d6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200" y="6128717"/>
            <a:ext cx="952298" cy="23274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f8aae156d6_0_289"/>
          <p:cNvSpPr/>
          <p:nvPr/>
        </p:nvSpPr>
        <p:spPr>
          <a:xfrm>
            <a:off x="1498567" y="6138415"/>
            <a:ext cx="7500" cy="2328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8475" lIns="96950" spcFirstLastPara="1" rIns="96950" wrap="square" tIns="4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25" name="Google Shape;425;g3f8aae156d6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636" y="6109322"/>
            <a:ext cx="441777" cy="29092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f8aae156d6_0_289"/>
          <p:cNvSpPr/>
          <p:nvPr/>
        </p:nvSpPr>
        <p:spPr>
          <a:xfrm>
            <a:off x="2192482" y="6138415"/>
            <a:ext cx="7500" cy="2328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8475" lIns="96950" spcFirstLastPara="1" rIns="96950" wrap="square" tIns="4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27" name="Google Shape;427;g3f8aae156d6_0_2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8550" y="6099624"/>
            <a:ext cx="310322" cy="31032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f8aae156d6_0_289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8aae156d6_0_28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30" name="Google Shape;430;g3f8aae156d6_0_2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f8aae156d6_0_289"/>
          <p:cNvSpPr txBox="1"/>
          <p:nvPr/>
        </p:nvSpPr>
        <p:spPr>
          <a:xfrm>
            <a:off x="7530600" y="6128717"/>
            <a:ext cx="30546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b="0" i="0" lang="en-US" sz="1167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8aae156d6_0_3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f8aae156d6_0_313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f8aae156d6_0_313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f8aae156d6_0_313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8aae156d6_0_313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f8aae156d6_0_313"/>
          <p:cNvSpPr txBox="1"/>
          <p:nvPr/>
        </p:nvSpPr>
        <p:spPr>
          <a:xfrm>
            <a:off x="658368" y="2304288"/>
            <a:ext cx="2011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8aae156d6_0_313"/>
          <p:cNvSpPr txBox="1"/>
          <p:nvPr/>
        </p:nvSpPr>
        <p:spPr>
          <a:xfrm>
            <a:off x="2395728" y="2487168"/>
            <a:ext cx="7863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f8aae156d6_0_313"/>
          <p:cNvSpPr/>
          <p:nvPr/>
        </p:nvSpPr>
        <p:spPr>
          <a:xfrm>
            <a:off x="2414015" y="3383280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f8aae156d6_0_313"/>
          <p:cNvSpPr txBox="1"/>
          <p:nvPr/>
        </p:nvSpPr>
        <p:spPr>
          <a:xfrm>
            <a:off x="2395728" y="3584448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que fica e para onde vamos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f8aae156d6_0_313"/>
          <p:cNvSpPr txBox="1"/>
          <p:nvPr/>
        </p:nvSpPr>
        <p:spPr>
          <a:xfrm>
            <a:off x="10984687" y="6199632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8aae156d6_0_32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8aae156d6_0_32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8aae156d6_0_326"/>
          <p:cNvSpPr txBox="1"/>
          <p:nvPr/>
        </p:nvSpPr>
        <p:spPr>
          <a:xfrm>
            <a:off x="658368" y="621792"/>
            <a:ext cx="10875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69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Tornar a orquestração mensurável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f8aae156d6_0_32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8aae156d6_0_32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8aae156d6_0_32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f8aae156d6_0_326"/>
          <p:cNvSpPr/>
          <p:nvPr/>
        </p:nvSpPr>
        <p:spPr>
          <a:xfrm>
            <a:off x="515501" y="1898726"/>
            <a:ext cx="3656400" cy="3933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35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50" lIns="97125" spcFirstLastPara="1" rIns="97125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19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f8aae156d6_0_326"/>
          <p:cNvSpPr/>
          <p:nvPr/>
        </p:nvSpPr>
        <p:spPr>
          <a:xfrm>
            <a:off x="515501" y="1898726"/>
            <a:ext cx="72900" cy="39339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8550" lIns="97125" spcFirstLastPara="1" rIns="97125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19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8aae156d6_0_326"/>
          <p:cNvSpPr txBox="1"/>
          <p:nvPr/>
        </p:nvSpPr>
        <p:spPr>
          <a:xfrm>
            <a:off x="845748" y="2141554"/>
            <a:ext cx="29958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6"/>
              </a:spcBef>
              <a:spcAft>
                <a:spcPts val="0"/>
              </a:spcAft>
              <a:buClr>
                <a:srgbClr val="000000"/>
              </a:buClr>
              <a:buSzPts val="2018"/>
              <a:buFont typeface="Arial"/>
              <a:buNone/>
            </a:pPr>
            <a:r>
              <a:rPr b="0" i="0" lang="en-US" sz="26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Catálogo de regras público e política de contenção trocável.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8aae156d6_0_326"/>
          <p:cNvSpPr/>
          <p:nvPr/>
        </p:nvSpPr>
        <p:spPr>
          <a:xfrm>
            <a:off x="4463255" y="1898726"/>
            <a:ext cx="3656400" cy="3933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35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50" lIns="97125" spcFirstLastPara="1" rIns="97125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19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f8aae156d6_0_326"/>
          <p:cNvSpPr/>
          <p:nvPr/>
        </p:nvSpPr>
        <p:spPr>
          <a:xfrm>
            <a:off x="4463255" y="1898726"/>
            <a:ext cx="72900" cy="39339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8550" lIns="97125" spcFirstLastPara="1" rIns="97125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19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8aae156d6_0_326"/>
          <p:cNvSpPr txBox="1"/>
          <p:nvPr/>
        </p:nvSpPr>
        <p:spPr>
          <a:xfrm>
            <a:off x="4793503" y="2141554"/>
            <a:ext cx="2995800" cy="30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6"/>
              </a:spcBef>
              <a:spcAft>
                <a:spcPts val="0"/>
              </a:spcAft>
              <a:buClr>
                <a:srgbClr val="000000"/>
              </a:buClr>
              <a:buSzPts val="2018"/>
              <a:buFont typeface="Arial"/>
              <a:buNone/>
            </a:pPr>
            <a:r>
              <a:rPr b="0" i="0" lang="en-US" sz="26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Recall de 0,67 para 0,81, com o custo explicitado: 8 bloqueios sob ANY, zero sob k=2.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f8aae156d6_0_326"/>
          <p:cNvSpPr/>
          <p:nvPr/>
        </p:nvSpPr>
        <p:spPr>
          <a:xfrm>
            <a:off x="8411010" y="1898726"/>
            <a:ext cx="3656400" cy="3933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35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50" lIns="97125" spcFirstLastPara="1" rIns="97125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19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8aae156d6_0_326"/>
          <p:cNvSpPr/>
          <p:nvPr/>
        </p:nvSpPr>
        <p:spPr>
          <a:xfrm>
            <a:off x="8411010" y="1898726"/>
            <a:ext cx="72900" cy="393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8550" lIns="97125" spcFirstLastPara="1" rIns="97125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191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8aae156d6_0_326"/>
          <p:cNvSpPr txBox="1"/>
          <p:nvPr/>
        </p:nvSpPr>
        <p:spPr>
          <a:xfrm>
            <a:off x="8644174" y="2141554"/>
            <a:ext cx="33261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6"/>
              </a:spcBef>
              <a:spcAft>
                <a:spcPts val="0"/>
              </a:spcAft>
              <a:buClr>
                <a:srgbClr val="000000"/>
              </a:buClr>
              <a:buSzPts val="2018"/>
              <a:buFont typeface="Arial"/>
              <a:buNone/>
            </a:pPr>
            <a:r>
              <a:rPr b="0" i="0" lang="en-US" sz="26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A equipe escolhe entre cobertura e bloqueio indevido com um número na mão.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8aae156d6_0_32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67" name="Google Shape;467;g3f8aae156d6_0_3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f8aae156d6_0_32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69" name="Google Shape;469;g3f8aae156d6_0_3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f8aae156d6_0_32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71" name="Google Shape;471;g3f8aae156d6_0_3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f8aae156d6_0_326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8aae156d6_0_32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74" name="Google Shape;474;g3f8aae156d6_0_3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f8aae156d6_0_32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8aae156d6_0_3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8aae156d6_0_35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8aae156d6_0_355"/>
          <p:cNvSpPr txBox="1"/>
          <p:nvPr/>
        </p:nvSpPr>
        <p:spPr>
          <a:xfrm>
            <a:off x="658368" y="621792"/>
            <a:ext cx="108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8aae156d6_0_35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f8aae156d6_0_35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8aae156d6_0_35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8aae156d6_0_355"/>
          <p:cNvSpPr txBox="1"/>
          <p:nvPr/>
        </p:nvSpPr>
        <p:spPr>
          <a:xfrm>
            <a:off x="658375" y="1995875"/>
            <a:ext cx="8227200" cy="27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24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570"/>
              <a:buFont typeface="Arial"/>
              <a:buChar char="▪"/>
            </a:pPr>
            <a:r>
              <a:rPr b="0" i="0" lang="en-US" sz="31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Taxonomia compartilhada entre os motores.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24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570"/>
              <a:buFont typeface="Arial"/>
              <a:buChar char="▪"/>
            </a:pPr>
            <a:r>
              <a:rPr b="0" i="0" lang="en-US" sz="31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Validação em um segmento IoT de campus.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24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570"/>
              <a:buFont typeface="Arial"/>
              <a:buChar char="▪"/>
            </a:pPr>
            <a:r>
              <a:rPr lang="en-US" sz="3100">
                <a:solidFill>
                  <a:srgbClr val="4B5260"/>
                </a:solidFill>
              </a:rPr>
              <a:t>Avaliar</a:t>
            </a:r>
            <a:r>
              <a:rPr b="0" i="0" lang="en-US" sz="3100" u="none" cap="none" strike="noStrike">
                <a:solidFill>
                  <a:srgbClr val="4B5260"/>
                </a:solidFill>
                <a:latin typeface="Arial"/>
                <a:ea typeface="Arial"/>
                <a:cs typeface="Arial"/>
                <a:sym typeface="Arial"/>
              </a:rPr>
              <a:t> latência e exposição.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8aae156d6_0_3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89" name="Google Shape;489;g3f8aae156d6_0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g3f8aae156d6_0_3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91" name="Google Shape;491;g3f8aae156d6_0_3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f8aae156d6_0_3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93" name="Google Shape;493;g3f8aae156d6_0_3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f8aae156d6_0_35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f8aae156d6_0_3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96" name="Google Shape;496;g3f8aae156d6_0_3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8aae156d6_0_35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4151e6d1b_0_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4151e6d1b_0_4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4151e6d1b_0_4"/>
          <p:cNvSpPr/>
          <p:nvPr/>
        </p:nvSpPr>
        <p:spPr>
          <a:xfrm>
            <a:off x="10984687" y="619963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poniveis.png" id="506" name="Google Shape;506;g3f4151e6d1b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507" name="Google Shape;507;g3f4151e6d1b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93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508" name="Google Shape;508;g3f4151e6d1b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926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509" name="Google Shape;509;g3f4151e6d1b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7599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f4151e6d1b_0_4"/>
          <p:cNvSpPr/>
          <p:nvPr/>
        </p:nvSpPr>
        <p:spPr>
          <a:xfrm>
            <a:off x="566093" y="601218"/>
            <a:ext cx="7315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FFFFFF"/>
                </a:solidFill>
              </a:rPr>
              <a:t>Selos Adquiridos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8aae156d6_0_376"/>
          <p:cNvSpPr/>
          <p:nvPr/>
        </p:nvSpPr>
        <p:spPr>
          <a:xfrm>
            <a:off x="-12" y="36575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8aae156d6_0_376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8aae156d6_0_376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8aae156d6_0_376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8aae156d6_0_376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8aae156d6_0_376"/>
          <p:cNvSpPr txBox="1"/>
          <p:nvPr/>
        </p:nvSpPr>
        <p:spPr>
          <a:xfrm>
            <a:off x="658368" y="1170440"/>
            <a:ext cx="731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8aae156d6_0_376"/>
          <p:cNvSpPr/>
          <p:nvPr/>
        </p:nvSpPr>
        <p:spPr>
          <a:xfrm>
            <a:off x="658368" y="2395728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8aae156d6_0_376"/>
          <p:cNvSpPr txBox="1"/>
          <p:nvPr/>
        </p:nvSpPr>
        <p:spPr>
          <a:xfrm>
            <a:off x="658368" y="2670048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8aae156d6_0_376"/>
          <p:cNvSpPr txBox="1"/>
          <p:nvPr/>
        </p:nvSpPr>
        <p:spPr>
          <a:xfrm>
            <a:off x="658368" y="3310128"/>
            <a:ext cx="493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8aae156d6_0_376"/>
          <p:cNvSpPr txBox="1"/>
          <p:nvPr/>
        </p:nvSpPr>
        <p:spPr>
          <a:xfrm>
            <a:off x="658368" y="3602736"/>
            <a:ext cx="5120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Emanuel Carricio Ferreira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emanuelferreira.aluno@unipampa.edu.br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8aae156d6_0_376"/>
          <p:cNvSpPr/>
          <p:nvPr/>
        </p:nvSpPr>
        <p:spPr>
          <a:xfrm>
            <a:off x="0" y="5760720"/>
            <a:ext cx="121917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27" name="Google Shape;527;g3f8aae156d6_0_3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103620"/>
            <a:ext cx="169164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528" name="Google Shape;528;g3f8aae156d6_0_3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6040" y="6007608"/>
            <a:ext cx="914400" cy="603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529" name="Google Shape;529;g3f8aae156d6_0_3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1920" y="5993892"/>
            <a:ext cx="630936" cy="630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530" name="Google Shape;530;g3f8aae156d6_0_3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531" name="Google Shape;531;g3f8aae156d6_0_3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532" name="Google Shape;532;g3f8aae156d6_0_3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repo.png" id="533" name="Google Shape;533;g3f8aae156d6_0_3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39326" y="2157636"/>
            <a:ext cx="2542725" cy="25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8aae156d6_0_398"/>
          <p:cNvSpPr txBox="1"/>
          <p:nvPr/>
        </p:nvSpPr>
        <p:spPr>
          <a:xfrm>
            <a:off x="5029200" y="1371600"/>
            <a:ext cx="210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39" name="Google Shape;539;g3f8aae156d6_0_398"/>
          <p:cNvSpPr txBox="1"/>
          <p:nvPr/>
        </p:nvSpPr>
        <p:spPr>
          <a:xfrm>
            <a:off x="1828800" y="2743200"/>
            <a:ext cx="850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Perguntas Frequentes</a:t>
            </a:r>
            <a:endParaRPr/>
          </a:p>
        </p:txBody>
      </p:sp>
      <p:sp>
        <p:nvSpPr>
          <p:cNvPr id="540" name="Google Shape;540;g3f8aae156d6_0_398"/>
          <p:cNvSpPr txBox="1"/>
          <p:nvPr/>
        </p:nvSpPr>
        <p:spPr>
          <a:xfrm>
            <a:off x="1828800" y="3840480"/>
            <a:ext cx="850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Possíveis perguntas da banca e respostas preparadas</a:t>
            </a:r>
            <a:endParaRPr/>
          </a:p>
        </p:txBody>
      </p:sp>
      <p:sp>
        <p:nvSpPr>
          <p:cNvPr id="541" name="Google Shape;541;g3f8aae156d6_0_398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8aae156d6_0_405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1 · DIFERENCIAL</a:t>
            </a:r>
            <a:endParaRPr/>
          </a:p>
        </p:txBody>
      </p:sp>
      <p:sp>
        <p:nvSpPr>
          <p:cNvPr id="547" name="Google Shape;547;g3f8aae156d6_0_405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não usar diretamente o Wazuh ou o Security Onion, que já integram Snort, Suricata e Zeek?</a:t>
            </a:r>
            <a:endParaRPr sz="2800"/>
          </a:p>
        </p:txBody>
      </p:sp>
      <p:sp>
        <p:nvSpPr>
          <p:cNvPr id="548" name="Google Shape;548;g3f8aae156d6_0_405"/>
          <p:cNvSpPr txBox="1"/>
          <p:nvPr/>
        </p:nvSpPr>
        <p:spPr>
          <a:xfrm>
            <a:off x="731520" y="2454450"/>
            <a:ext cx="105156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Wazuh e o Security Onion são plataformas maduras e excelentes. A questão não é substituí-los.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eles NÃO fazem — e que é a nossa contribuição — é reportar o custo operacional da contenção automática. Ou seja: quantos dispositivos legítimos seriam bloqueados sob o mesmo tráfego?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No artigo (Tabela 1), mostramos que nenhum desses trabalhos reporta a coluna FP (false positives sob tráfego benigno) combinada com contenção ativa. A nossa contribuição é justamente tornar essa evidência disponível e a política trocável sem mexer no pipeline.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Em resumo: o pipeline já existe. A evidência sobre o que ele custa, não.</a:t>
            </a:r>
            <a:endParaRPr sz="1600"/>
          </a:p>
        </p:txBody>
      </p:sp>
      <p:sp>
        <p:nvSpPr>
          <p:cNvPr id="549" name="Google Shape;549;g3f8aae156d6_0_405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550" name="Google Shape;550;g3f8aae156d6_0_405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8aae156d6_0_413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2 · METODOLOGIA</a:t>
            </a:r>
            <a:endParaRPr/>
          </a:p>
        </p:txBody>
      </p:sp>
      <p:sp>
        <p:nvSpPr>
          <p:cNvPr id="556" name="Google Shape;556;g3f8aae156d6_0_413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malicioso e benigno rodam em janelas separadas? Isso não é irrealista?</a:t>
            </a:r>
            <a:endParaRPr sz="2800"/>
          </a:p>
        </p:txBody>
      </p:sp>
      <p:sp>
        <p:nvSpPr>
          <p:cNvPr id="557" name="Google Shape;557;g3f8aae156d6_0_413"/>
          <p:cNvSpPr txBox="1"/>
          <p:nvPr/>
        </p:nvSpPr>
        <p:spPr>
          <a:xfrm>
            <a:off x="731520" y="2446800"/>
            <a:ext cx="105156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separação é uma decisão metodológica deliberada, não uma limitação.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Ao rodar em janelas separadas, conseguimos ATRIBUIR cada falso alarme diretamente ao perfil benigno que o produziu. Se misturássemos, não saberíamos se o alarme veio do tráfego benigno ou do malicioso.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Isso é especialmente importante para o k-de-n: precisamos saber com certeza que o zero de bloqueios indevidos vem de tráfego realmente benigno.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É uma simplificação controlada. A validação em campus (trabalho futuro) vai testar com tráfego misto.</a:t>
            </a:r>
            <a:endParaRPr sz="1600"/>
          </a:p>
        </p:txBody>
      </p:sp>
      <p:sp>
        <p:nvSpPr>
          <p:cNvPr id="558" name="Google Shape;558;g3f8aae156d6_0_413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559" name="Google Shape;559;g3f8aae156d6_0_413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aae156d6_0_421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3 · LIMITAÇÃO</a:t>
            </a:r>
            <a:endParaRPr/>
          </a:p>
        </p:txBody>
      </p:sp>
      <p:sp>
        <p:nvSpPr>
          <p:cNvPr id="565" name="Google Shape;565;g3f8aae156d6_0_421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a latência? Vocês não mediram o tempo entre o ataque e o bloqueio?</a:t>
            </a:r>
            <a:endParaRPr sz="2800"/>
          </a:p>
        </p:txBody>
      </p:sp>
      <p:sp>
        <p:nvSpPr>
          <p:cNvPr id="566" name="Google Shape;566;g3f8aae156d6_0_421"/>
          <p:cNvSpPr txBox="1"/>
          <p:nvPr/>
        </p:nvSpPr>
        <p:spPr>
          <a:xfrm>
            <a:off x="731520" y="2235200"/>
            <a:ext cx="105156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Correto, a latência não foi instrumentada nesta versão. Isso é uma limitação declarada no slide 16 e no artigo.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foco desta avaliação foi a EFICÁCIA (o que detecta e o que bloqueia por engano), não a eficiência temporal.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latência depende de vários fatores: janela T, tempo de processamento de cada motor, latência da API do pfSense, e tempo de propagação da regra.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Instrumentar latência e tempo de exposição é o terceiro item dos trabalhos futuros.</a:t>
            </a:r>
            <a:endParaRPr sz="1600"/>
          </a:p>
        </p:txBody>
      </p:sp>
      <p:sp>
        <p:nvSpPr>
          <p:cNvPr id="567" name="Google Shape;567;g3f8aae156d6_0_421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568" name="Google Shape;568;g3f8aae156d6_0_421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8aae156d6_0_429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4 · SEGURANÇA</a:t>
            </a:r>
            <a:endParaRPr/>
          </a:p>
        </p:txBody>
      </p:sp>
      <p:sp>
        <p:nvSpPr>
          <p:cNvPr id="574" name="Google Shape;574;g3f8aae156d6_0_429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contenção é por IP de origem. E se o atacante forjar (spoof) o IP?</a:t>
            </a:r>
            <a:endParaRPr sz="2800"/>
          </a:p>
        </p:txBody>
      </p:sp>
      <p:sp>
        <p:nvSpPr>
          <p:cNvPr id="575" name="Google Shape;575;g3f8aae156d6_0_429"/>
          <p:cNvSpPr txBox="1"/>
          <p:nvPr/>
        </p:nvSpPr>
        <p:spPr>
          <a:xfrm>
            <a:off x="731520" y="2616200"/>
            <a:ext cx="105156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Essa é uma limitação conhecida e declarada. Se o atacante forja o IP de um dispositivo legítimo, o sistema pode bloquear a vítima.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k-de-n MITIGA (não elimina) esse risco: para forjar um bloqueio, o atacante precisaria que DOIS motores independentes classificassem o tráfego na mesma classe de ataque.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Nos trabalhos futuros, listamos "identidade mais forte que o IP" — por exemplo, certificado de dispositivo ou autenticação 802.1X — como evolução necessária.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O k-de-n dificulta o ataque, mas não é defesa completa contra spoofing.</a:t>
            </a:r>
            <a:endParaRPr sz="1600"/>
          </a:p>
        </p:txBody>
      </p:sp>
      <p:sp>
        <p:nvSpPr>
          <p:cNvPr id="576" name="Google Shape;576;g3f8aae156d6_0_429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577" name="Google Shape;577;g3f8aae156d6_0_429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8aae156d6_0_437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5 · ESCALABILIDADE</a:t>
            </a:r>
            <a:endParaRPr/>
          </a:p>
        </p:txBody>
      </p:sp>
      <p:sp>
        <p:nvSpPr>
          <p:cNvPr id="583" name="Google Shape;583;g3f8aae156d6_0_437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experimento foi em Docker. Isso escala para uma rede de campus real?</a:t>
            </a:r>
            <a:endParaRPr sz="2800"/>
          </a:p>
        </p:txBody>
      </p:sp>
      <p:sp>
        <p:nvSpPr>
          <p:cNvPr id="584" name="Google Shape;584;g3f8aae156d6_0_437"/>
          <p:cNvSpPr txBox="1"/>
          <p:nvPr/>
        </p:nvSpPr>
        <p:spPr>
          <a:xfrm>
            <a:off x="731520" y="2512588"/>
            <a:ext cx="10515600" cy="3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testbed Docker é um ambiente controlado para a campanha de detecção. O pipeline em si foi projetado para deployment real — inclusive a demonstração (Seção 5 do artigo) roda em VMs com pfSense real.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escalabilidade depende de três fatores: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Volume de alertas por segundo (determinado pelos motores, não pelo Core)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Capacidade da API de normalização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Capacidade do pfSense de processar regras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validação em campus é o segundo item dos trabalhos futuros. O objetivo é testar com tráfego real e volume de produção.</a:t>
            </a:r>
            <a:endParaRPr sz="1600"/>
          </a:p>
        </p:txBody>
      </p:sp>
      <p:sp>
        <p:nvSpPr>
          <p:cNvPr id="585" name="Google Shape;585;g3f8aae156d6_0_437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586" name="Google Shape;586;g3f8aae156d6_0_437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8aae156d6_0_445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6 · RESULTADOS</a:t>
            </a:r>
            <a:endParaRPr/>
          </a:p>
        </p:txBody>
      </p:sp>
      <p:sp>
        <p:nvSpPr>
          <p:cNvPr id="592" name="Google Shape;592;g3f8aae156d6_0_445"/>
          <p:cNvSpPr txBox="1"/>
          <p:nvPr/>
        </p:nvSpPr>
        <p:spPr>
          <a:xfrm>
            <a:off x="731520" y="109728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o SSH brute force? Por que nenhum motor detecta?</a:t>
            </a:r>
            <a:endParaRPr sz="1800"/>
          </a:p>
        </p:txBody>
      </p:sp>
      <p:sp>
        <p:nvSpPr>
          <p:cNvPr id="593" name="Google Shape;593;g3f8aae156d6_0_445"/>
          <p:cNvSpPr txBox="1"/>
          <p:nvPr/>
        </p:nvSpPr>
        <p:spPr>
          <a:xfrm>
            <a:off x="731520" y="2346325"/>
            <a:ext cx="10515600" cy="3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 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SSH brute force é a única das 10 classes que nenhum dos três motores detectou. Isso é uma limitação do CATÁLOGO DE REGRAS, não da orquestração.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As regras de SSH brute force dos motores dependem de thresholds de tentativas de login em janelas de tempo. No nosso catálogo, essas regras não dispararam para o padrão de tráfego gerado.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Isso mostra que a orquestração só pode recuperar o que pelo menos um motor enxerga. Se nenhum vê, o pipeline inteiro é cego.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taxonomia compartilhada entre motores (primeiro item dos trabalhos futuros) visa fechar essa lacuna.</a:t>
            </a:r>
            <a:endParaRPr sz="1600"/>
          </a:p>
        </p:txBody>
      </p:sp>
      <p:sp>
        <p:nvSpPr>
          <p:cNvPr id="594" name="Google Shape;594;g3f8aae156d6_0_445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595" name="Google Shape;595;g3f8aae156d6_0_445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8aae156d6_0_453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7 · POLÍTICA</a:t>
            </a:r>
            <a:endParaRPr/>
          </a:p>
        </p:txBody>
      </p:sp>
      <p:sp>
        <p:nvSpPr>
          <p:cNvPr id="601" name="Google Shape;601;g3f8aae156d6_0_453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k=2 e não k=3 (unanimidade)? E se vocês testassem com k=3?</a:t>
            </a:r>
            <a:endParaRPr sz="2800"/>
          </a:p>
        </p:txBody>
      </p:sp>
      <p:sp>
        <p:nvSpPr>
          <p:cNvPr id="602" name="Google Shape;602;g3f8aae156d6_0_453"/>
          <p:cNvSpPr txBox="1"/>
          <p:nvPr/>
        </p:nvSpPr>
        <p:spPr>
          <a:xfrm>
            <a:off x="731520" y="2580125"/>
            <a:ext cx="10515600" cy="3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 k=3 (unanimidade), exigiríamos que os TRÊS motores concordassem na mesma classe. Na prática, isso eliminaria a maioria das detecções, porque muitas classes são vistas por apenas 1 ou 2 motores.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No mapa de calor (slide 3): varredura TCP e path traversal só o Zeek enxerga. Com k=3, essas classes seriam perdidas.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k=2 é o menor valor que impede um falso positivo de um único motor de virar bloqueio, sem exigir unanimidade.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k=2 com n=3 é o ponto de equilíbrio: elimina falsos positivos de motor isolado, preservando a maioria da cobertura.</a:t>
            </a:r>
            <a:endParaRPr sz="1600"/>
          </a:p>
        </p:txBody>
      </p:sp>
      <p:sp>
        <p:nvSpPr>
          <p:cNvPr id="603" name="Google Shape;603;g3f8aae156d6_0_453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604" name="Google Shape;604;g3f8aae156d6_0_453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f8aae156d6_0_461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8 · JANELA T</a:t>
            </a:r>
            <a:endParaRPr/>
          </a:p>
        </p:txBody>
      </p:sp>
      <p:sp>
        <p:nvSpPr>
          <p:cNvPr id="610" name="Google Shape;610;g3f8aae156d6_0_461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o valor de T usado? E se mudar T, os resultados mudam?</a:t>
            </a:r>
            <a:endParaRPr sz="2800"/>
          </a:p>
        </p:txBody>
      </p:sp>
      <p:sp>
        <p:nvSpPr>
          <p:cNvPr id="611" name="Google Shape;611;g3f8aae156d6_0_461"/>
          <p:cNvSpPr txBox="1"/>
          <p:nvPr/>
        </p:nvSpPr>
        <p:spPr>
          <a:xfrm>
            <a:off x="731520" y="2595725"/>
            <a:ext cx="10515600" cy="3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Na campanha de detecção, T não é exercitado diretamente. Cada janela roda um cenário isolado com contenção desabilitada.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replay da política (Seção 4.4 do artigo) agrega por classe de ataque, não dentro de uma janela de T segundos — por isso o k-de-n da avaliação é reportado como LIMITE SUPERIOR.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Na prática, T deve ser pelo menos tão grande quanto a maior janela de agregação interna das regras dos motores. Se T for muito curto, motores lentos não têm tempo de concordar. Se for muito longo, alertas antigos podem influenciar a decisão.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calibração de T em ambiente real é parte da validação de campus nos trabalhos futuros.</a:t>
            </a:r>
            <a:endParaRPr sz="1600"/>
          </a:p>
        </p:txBody>
      </p:sp>
      <p:sp>
        <p:nvSpPr>
          <p:cNvPr id="612" name="Google Shape;612;g3f8aae156d6_0_461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613" name="Google Shape;613;g3f8aae156d6_0_461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8aae156d6_0_469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9 · REPRODUTIBILIDADE</a:t>
            </a:r>
            <a:endParaRPr/>
          </a:p>
        </p:txBody>
      </p:sp>
      <p:sp>
        <p:nvSpPr>
          <p:cNvPr id="619" name="Google Shape;619;g3f8aae156d6_0_469"/>
          <p:cNvSpPr txBox="1"/>
          <p:nvPr/>
        </p:nvSpPr>
        <p:spPr>
          <a:xfrm>
            <a:off x="731520" y="109728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 dados e scripts estão disponíveis? Posso reproduzir?</a:t>
            </a:r>
            <a:endParaRPr sz="2800"/>
          </a:p>
        </p:txBody>
      </p:sp>
      <p:sp>
        <p:nvSpPr>
          <p:cNvPr id="620" name="Google Shape;620;g3f8aae156d6_0_469"/>
          <p:cNvSpPr txBox="1"/>
          <p:nvPr/>
        </p:nvSpPr>
        <p:spPr>
          <a:xfrm>
            <a:off x="731520" y="2161950"/>
            <a:ext cx="105156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Sim. Tudo está público no repositório GitHub: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240 janelas rotuladas com logs originais de cada motor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Catálogo completo de regras (Suricata, Snort, Zeek) com SHA-256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Scripts de geração de tráfego e análise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Vídeo de demonstração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repositório é: github.com/GT-IoTEdu/iotedu-core_sbseg26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vídeo está no QR do último slide.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Qualquer pessoa pode baixar, rodar os scripts e reproduzir as tabelas e figuras do artigo.</a:t>
            </a:r>
            <a:endParaRPr sz="1600"/>
          </a:p>
        </p:txBody>
      </p:sp>
      <p:sp>
        <p:nvSpPr>
          <p:cNvPr id="621" name="Google Shape;621;g3f8aae156d6_0_469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622" name="Google Shape;622;g3f8aae156d6_0_469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8aae156d6_0_477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10 · COMPARAÇÃO</a:t>
            </a:r>
            <a:endParaRPr/>
          </a:p>
        </p:txBody>
      </p:sp>
      <p:sp>
        <p:nvSpPr>
          <p:cNvPr id="628" name="Google Shape;628;g3f8aae156d6_0_477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Vocês compararam com abordagens baseadas em machine learning? Por que só regras?</a:t>
            </a:r>
            <a:endParaRPr sz="2800"/>
          </a:p>
        </p:txBody>
      </p:sp>
      <p:sp>
        <p:nvSpPr>
          <p:cNvPr id="629" name="Google Shape;629;g3f8aae156d6_0_477"/>
          <p:cNvSpPr txBox="1"/>
          <p:nvPr/>
        </p:nvSpPr>
        <p:spPr>
          <a:xfrm>
            <a:off x="731520" y="2545888"/>
            <a:ext cx="105156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foco do trabalho é a orquestração e a política de contenção, não o mecanismo de detecção em si. Usamos regras porque são determinísticas, auditáveis e reproduzíveis.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 ML, a detecção melhora potencialmente, mas o problema de CUSTO permanece o mesmo: quantos bloqueios indevidos a política gera?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IoTEdu Core é agnóstico ao mecanismo: se amanhã substituirmos o Zeek por um detector ML, o pipeline de correlação e a política k-de-n funcionam exatamente da mesma forma.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contribuição é a política mensurável, não o detector.</a:t>
            </a:r>
            <a:endParaRPr sz="1600"/>
          </a:p>
        </p:txBody>
      </p:sp>
      <p:sp>
        <p:nvSpPr>
          <p:cNvPr id="630" name="Google Shape;630;g3f8aae156d6_0_477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631" name="Google Shape;631;g3f8aae156d6_0_477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8aae156d6_0_485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11 · CLASSE DE ATAQUE</a:t>
            </a:r>
            <a:endParaRPr/>
          </a:p>
        </p:txBody>
      </p:sp>
      <p:sp>
        <p:nvSpPr>
          <p:cNvPr id="637" name="Google Shape;637;g3f8aae156d6_0_485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acontece quando os motores discordam na classe? (ex: Suricata diz SYN flood, Zeek diz scan)</a:t>
            </a:r>
            <a:endParaRPr sz="2800"/>
          </a:p>
        </p:txBody>
      </p:sp>
      <p:sp>
        <p:nvSpPr>
          <p:cNvPr id="638" name="Google Shape;638;g3f8aae156d6_0_485"/>
          <p:cNvSpPr txBox="1"/>
          <p:nvPr/>
        </p:nvSpPr>
        <p:spPr>
          <a:xfrm>
            <a:off x="685795" y="2325900"/>
            <a:ext cx="10515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Isso é exatamente o que chamamos de "cross-family misclassification" na Seção 4.3 do artigo.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No k-de-n, a concordância é sobre a CLASSE, não sobre a existência do alerta. Se Suricata diz SYN flood e Zeek diz scan, o k=2 NÃO é satisfeito para nenhuma das duas classes.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Isso é intencional: "concordar que houve ataque é barato; concordar QUAL ataque é o que uma decisão de bloqueio exige."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Na avaliação, identificamos 57 misclassificações cruzadas (Figura 4 do artigo). Exemplo: 15 janelas de path traversal foram classificadas como HTTP DoS pelo Snort e pelo Suricata.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exigência de concordância de classe torna o k-de-n mais conservador, mas mais seguro.</a:t>
            </a:r>
            <a:endParaRPr sz="1600"/>
          </a:p>
        </p:txBody>
      </p:sp>
      <p:sp>
        <p:nvSpPr>
          <p:cNvPr id="639" name="Google Shape;639;g3f8aae156d6_0_485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640" name="Google Shape;640;g3f8aae156d6_0_485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8aae156d6_0_493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12 · IMPACTO PRÁTICO</a:t>
            </a:r>
            <a:endParaRPr/>
          </a:p>
        </p:txBody>
      </p:sp>
      <p:sp>
        <p:nvSpPr>
          <p:cNvPr id="646" name="Google Shape;646;g3f8aae156d6_0_493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 prática, quem configuraria o k e o T? O administrador de rede?</a:t>
            </a:r>
            <a:endParaRPr sz="2800"/>
          </a:p>
        </p:txBody>
      </p:sp>
      <p:sp>
        <p:nvSpPr>
          <p:cNvPr id="647" name="Google Shape;647;g3f8aae156d6_0_493"/>
          <p:cNvSpPr txBox="1"/>
          <p:nvPr/>
        </p:nvSpPr>
        <p:spPr>
          <a:xfrm>
            <a:off x="731520" y="2207188"/>
            <a:ext cx="10515600" cy="4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Sim, a ideia é que a equipe de rede/segurança escolha a política com base no perfil de risco.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Rede hospitalar com dispositivos críticos → k=2 (prioriza evitar bloqueios indevidos)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• Rede de laboratório aberto → ANY (prioriza cobertura máxima)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IoTEdu Core torna essa escolha INFORMADA: a equipe sabe, com números, o que cada política custa em cobertura e em bloqueios indevidos.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 é calibrado pelo tempo de resposta dos motores. Na prática, 30–60 segundos seria um ponto de partida razoável.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contribuição é dar dados para a decisão, não decidir pelo administrador.</a:t>
            </a:r>
            <a:endParaRPr sz="1600"/>
          </a:p>
        </p:txBody>
      </p:sp>
      <p:sp>
        <p:nvSpPr>
          <p:cNvPr id="648" name="Google Shape;648;g3f8aae156d6_0_493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649" name="Google Shape;649;g3f8aae156d6_0_493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8aae156d6_0_501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13 · ZEEK</a:t>
            </a:r>
            <a:endParaRPr/>
          </a:p>
        </p:txBody>
      </p:sp>
      <p:sp>
        <p:nvSpPr>
          <p:cNvPr id="655" name="Google Shape;655;g3f8aae156d6_0_501"/>
          <p:cNvSpPr txBox="1"/>
          <p:nvPr/>
        </p:nvSpPr>
        <p:spPr>
          <a:xfrm>
            <a:off x="731520" y="1097280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só o Zeek gera falsos positivos? Isso não é um problema do Zeek?</a:t>
            </a:r>
            <a:endParaRPr sz="2800"/>
          </a:p>
        </p:txBody>
      </p:sp>
      <p:sp>
        <p:nvSpPr>
          <p:cNvPr id="656" name="Google Shape;656;g3f8aae156d6_0_501"/>
          <p:cNvSpPr txBox="1"/>
          <p:nvPr/>
        </p:nvSpPr>
        <p:spPr>
          <a:xfrm>
            <a:off x="731532" y="2276475"/>
            <a:ext cx="10515600" cy="3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Zeek usa uma abordagem fundamentalmente diferente. Enquanto Snort e Suricata fazem matching de assinaturas (pattern-based), o Zeek usa scripts event-driven que mantêm estado e derivam decisões de observações de rede.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Isso o torna mais sensível — ele detecta classes que os outros não veem (port scan, path traversal), mas também gera alertas em tráfego benigno que se parece com padrão anômalo.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Na avaliação, 8 dos 90 janelas benignas produziram alertas no Zeek (perfis dns, http, icmp, mix, scan). Snort e Suricata: zero.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É justamente essa heterogeneidade que torna o k-de-n efetivo: como os FPs vêm de um só motor, um segundo motor elimina todos.</a:t>
            </a:r>
            <a:endParaRPr sz="1600"/>
          </a:p>
        </p:txBody>
      </p:sp>
      <p:sp>
        <p:nvSpPr>
          <p:cNvPr id="657" name="Google Shape;657;g3f8aae156d6_0_501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sp>
        <p:nvSpPr>
          <p:cNvPr id="658" name="Google Shape;658;g3f8aae156d6_0_501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f8aae156d6_0_509"/>
          <p:cNvSpPr txBox="1"/>
          <p:nvPr/>
        </p:nvSpPr>
        <p:spPr>
          <a:xfrm>
            <a:off x="731520" y="365760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PERGUNTA 15 · EXTENSIBILIDADE</a:t>
            </a:r>
            <a:endParaRPr/>
          </a:p>
        </p:txBody>
      </p:sp>
      <p:sp>
        <p:nvSpPr>
          <p:cNvPr id="664" name="Google Shape;664;g3f8aae156d6_0_509"/>
          <p:cNvSpPr txBox="1"/>
          <p:nvPr/>
        </p:nvSpPr>
        <p:spPr>
          <a:xfrm>
            <a:off x="731520" y="109728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Dá para adicionar um quarto motor de detecção? Como?</a:t>
            </a:r>
            <a:endParaRPr sz="2800"/>
          </a:p>
        </p:txBody>
      </p:sp>
      <p:sp>
        <p:nvSpPr>
          <p:cNvPr id="665" name="Google Shape;665;g3f8aae156d6_0_509"/>
          <p:cNvSpPr txBox="1"/>
          <p:nvPr/>
        </p:nvSpPr>
        <p:spPr>
          <a:xfrm>
            <a:off x="731520" y="1737000"/>
            <a:ext cx="105156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RESPOSTA: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Sim. A arquitetura é extensível por design.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Para adicionar um novo motor: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1. Escrever um coletor que leia o log do novo motor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2. Mapear os alertas para o esquema comum (Listing 1 do artigo)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 3. Empurrar para a API via SSE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política k-de-n se ajusta automaticamente: com n=4, k=2 ainda funciona, e pode-se usar k=3 para maior rigor.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esquema comum (source, attack_class, severity) é genérico o suficiente para acomodar motores de ML, WAFs, ou qualquer fonte de alerta.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EC9B0"/>
                </a:solidFill>
                <a:latin typeface="Arial"/>
                <a:ea typeface="Arial"/>
                <a:cs typeface="Arial"/>
                <a:sym typeface="Arial"/>
              </a:rPr>
              <a:t>→ A normalização para esquema comum é o que permite a extensibilidade.</a:t>
            </a:r>
            <a:endParaRPr sz="1600"/>
          </a:p>
        </p:txBody>
      </p:sp>
      <p:sp>
        <p:nvSpPr>
          <p:cNvPr id="666" name="Google Shape;666;g3f8aae156d6_0_509"/>
          <p:cNvSpPr txBox="1"/>
          <p:nvPr/>
        </p:nvSpPr>
        <p:spPr>
          <a:xfrm>
            <a:off x="5486400" y="6217920"/>
            <a:ext cx="118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667" name="Google Shape;667;g3f8aae156d6_0_509"/>
          <p:cNvSpPr txBox="1"/>
          <p:nvPr/>
        </p:nvSpPr>
        <p:spPr>
          <a:xfrm>
            <a:off x="1371600" y="6400800"/>
            <a:ext cx="9144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
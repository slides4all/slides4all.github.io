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1675"/>
  <p:notesSz cx="6858000" cy="9144000"/>
  <p:embeddedFontLst>
    <p:embeddedFont>
      <p:font typeface="Lexen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D/RLdzPUJxNJWYCXzG69gCcOq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73580B-B878-4A6B-A71D-4103AFF924EE}">
  <a:tblStyle styleId="{B273580B-B878-4A6B-A71D-4103AFF924E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Lexend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Lexen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Capa. Da capa, vá direto para o problema: nada de slide de agenda.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0320ea5c_0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f40320ea5c_0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08" name="Google Shape;108;g3f40320ea5c_0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Simplifique a tabela. Se ficar densa, quebre em dois slides.</a:t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Divisória de seção. Use no máximo 15 a 20 segundos aqui.</a:t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9c05da9b1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f9c05da9b1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203" name="Google Shape;203;g3f9c05da9b1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c05da9b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9c05da9b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9c05da9b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9c05da9b1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9c05da9b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9c05da9b1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9c05da9b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9c05da9b1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9c05da9b1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f9c05da9b1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9c05da9b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9c05da9b1_0_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9c05da9b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9c05da9b1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9c05da9b1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9c05da9b1_0_4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9c05da9b1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9c05da9b1_0_5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0" name="Google Shape;5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585" name="Google Shape;58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9c05da9b1_0_6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g3f9c05da9b1_0_6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12" name="Google Shape;612;g3f9c05da9b1_0_6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a15364e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fa15364e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Números grandes são lidos até no celular. Use este slide como fecho da avaliação.</a:t>
            </a:r>
            <a:endParaRPr/>
          </a:p>
        </p:txBody>
      </p:sp>
      <p:sp>
        <p:nvSpPr>
          <p:cNvPr id="661" name="Google Shape;66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6" name="Google Shape;69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Antecipar limitações fortalece a apresentação e reduz perguntas hostis.</a:t>
            </a:r>
            <a:endParaRPr/>
          </a:p>
        </p:txBody>
      </p:sp>
      <p:sp>
        <p:nvSpPr>
          <p:cNvPr id="697" name="Google Shape;69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9" name="Google Shape;7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754" name="Google Shape;75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3" name="Google Shape;78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784" name="Google Shape;78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40320ea5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f40320ea5c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4" name="Google Shape;83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835" name="Google Shape;83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f9c05da9b1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f9c05da9b1_0_4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f9c05da9b1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g3f9c05da9b1_0_5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f9c05da9b1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g3f9c05da9b1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0" Type="http://schemas.openxmlformats.org/officeDocument/2006/relationships/image" Target="../media/image47.png"/><Relationship Id="rId9" Type="http://schemas.openxmlformats.org/officeDocument/2006/relationships/image" Target="../media/image4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8.png"/><Relationship Id="rId8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10" Type="http://schemas.openxmlformats.org/officeDocument/2006/relationships/image" Target="../media/image43.png"/><Relationship Id="rId9" Type="http://schemas.openxmlformats.org/officeDocument/2006/relationships/image" Target="../media/image2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37.png"/><Relationship Id="rId8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658368" y="4754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58368" y="804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58368" y="1353312"/>
            <a:ext cx="8138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AIaCGateGuard: A Security-First Pipeline for Benchmarking LLM- and SLM-Generated IaC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58368" y="3602736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658368" y="3840480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 Luis Santos Vargas, Rodrigo Brandão Mansilha, Diego Kreutz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58368" y="46700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 ·  Universidade Federal do Pampa (UNIPAMPA)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2" name="Google Shape;10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3" name="Google Shape;10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0320ea5c_0_10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40320ea5c_0_10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40320ea5c_0_10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40320ea5c_0_10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40320ea5c_0_10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40320ea5c_0_10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40320ea5c_0_108"/>
          <p:cNvSpPr txBox="1"/>
          <p:nvPr/>
        </p:nvSpPr>
        <p:spPr>
          <a:xfrm>
            <a:off x="658375" y="1737350"/>
            <a:ext cx="10998600" cy="1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IaC acelera a implantação, mas também escala configurações inseguras e exposições que podem permanecer meses sem detecção.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40320ea5c_0_108"/>
          <p:cNvSpPr/>
          <p:nvPr/>
        </p:nvSpPr>
        <p:spPr>
          <a:xfrm>
            <a:off x="658368" y="3310128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40320ea5c_0_108"/>
          <p:cNvSpPr/>
          <p:nvPr/>
        </p:nvSpPr>
        <p:spPr>
          <a:xfrm>
            <a:off x="658368" y="3621024"/>
            <a:ext cx="3442200" cy="2084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40320ea5c_0_108"/>
          <p:cNvSpPr/>
          <p:nvPr/>
        </p:nvSpPr>
        <p:spPr>
          <a:xfrm>
            <a:off x="658368" y="3621024"/>
            <a:ext cx="68700" cy="2084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40320ea5c_0_108"/>
          <p:cNvSpPr txBox="1"/>
          <p:nvPr/>
        </p:nvSpPr>
        <p:spPr>
          <a:xfrm>
            <a:off x="969264" y="3858768"/>
            <a:ext cx="28203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B"/>
              </a:buClr>
              <a:buSzPts val="1400"/>
              <a:buFont typeface="Lexend"/>
              <a:buNone/>
            </a:pPr>
            <a:r>
              <a:rPr b="0" i="0" lang="en-US" sz="1400" u="none" cap="none" strike="noStrike">
                <a:solidFill>
                  <a:srgbClr val="22333B"/>
                </a:solidFill>
                <a:latin typeface="Lexend"/>
                <a:ea typeface="Lexend"/>
                <a:cs typeface="Lexend"/>
                <a:sym typeface="Lexend"/>
              </a:rPr>
              <a:t>dos incidentes de nuvem vêm de recursos mal configurados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40320ea5c_0_108"/>
          <p:cNvSpPr/>
          <p:nvPr/>
        </p:nvSpPr>
        <p:spPr>
          <a:xfrm>
            <a:off x="4374794" y="3621024"/>
            <a:ext cx="3442200" cy="2084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40320ea5c_0_108"/>
          <p:cNvSpPr/>
          <p:nvPr/>
        </p:nvSpPr>
        <p:spPr>
          <a:xfrm>
            <a:off x="4374794" y="3621024"/>
            <a:ext cx="68700" cy="2084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40320ea5c_0_108"/>
          <p:cNvSpPr txBox="1"/>
          <p:nvPr/>
        </p:nvSpPr>
        <p:spPr>
          <a:xfrm>
            <a:off x="4685690" y="3858768"/>
            <a:ext cx="28203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Threat </a:t>
            </a:r>
            <a:r>
              <a:rPr b="1" lang="en-US" sz="4000">
                <a:solidFill>
                  <a:schemeClr val="accent1"/>
                </a:solidFill>
              </a:rPr>
              <a:t>#1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50"/>
              <a:buFont typeface="Lexend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Threat #1 — Misconfiguration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40320ea5c_0_108"/>
          <p:cNvSpPr/>
          <p:nvPr/>
        </p:nvSpPr>
        <p:spPr>
          <a:xfrm>
            <a:off x="8091220" y="3621024"/>
            <a:ext cx="3442200" cy="2084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40320ea5c_0_108"/>
          <p:cNvSpPr/>
          <p:nvPr/>
        </p:nvSpPr>
        <p:spPr>
          <a:xfrm>
            <a:off x="8091220" y="3621024"/>
            <a:ext cx="68700" cy="2084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40320ea5c_0_108"/>
          <p:cNvSpPr txBox="1"/>
          <p:nvPr/>
        </p:nvSpPr>
        <p:spPr>
          <a:xfrm>
            <a:off x="8402116" y="3858768"/>
            <a:ext cx="28203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 código vulnerável ainda é gerado por IA em cenários sensíveis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40320ea5c_0_10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28" name="Google Shape;128;g3f40320ea5c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40320ea5c_0_10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30" name="Google Shape;130;g3f40320ea5c_0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40320ea5c_0_10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32" name="Google Shape;132;g3f40320ea5c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40320ea5c_0_10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40320ea5c_0_10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35" name="Google Shape;135;g3f40320ea5c_0_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40320ea5c_0_10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f40320ea5c_0_1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8525" y="4883900"/>
            <a:ext cx="821949" cy="82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40320ea5c_0_10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94950" y="4921899"/>
            <a:ext cx="821949" cy="82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f40320ea5c_0_10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11365" y="4883900"/>
            <a:ext cx="821949" cy="82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O que 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é difícil na automaç</a:t>
            </a:r>
            <a:r>
              <a:rPr b="1" lang="en-US" sz="3200">
                <a:solidFill>
                  <a:srgbClr val="0F2369"/>
                </a:solidFill>
              </a:rPr>
              <a:t>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58379" y="1773925"/>
            <a:ext cx="10875000" cy="4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7251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lang="en-US" sz="2600">
                <a:solidFill>
                  <a:srgbClr val="1F2937"/>
                </a:solidFill>
              </a:rPr>
              <a:t>Como medir a qualidade do resultados final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0"/>
                </a:ext>
              </a:extLst>
            </a:endParaRPr>
          </a:p>
          <a:p>
            <a:pPr indent="-300292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Checkov mede conformidade de políticas; </a:t>
            </a:r>
            <a:endParaRPr b="0" i="0" sz="2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-300292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Trivy mede severidade de vulnerabilidades.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4"/>
                </a:ext>
              </a:extLst>
            </a:endParaRPr>
          </a:p>
          <a:p>
            <a:pPr indent="-357251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0A866E"/>
              </a:buClr>
              <a:buSzPts val="2600"/>
              <a:buFont typeface="Arial"/>
              <a:buChar char="▪"/>
            </a:pP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Modelos variam em custo </a:t>
            </a:r>
            <a:r>
              <a:rPr lang="en-US" sz="2600">
                <a:solidFill>
                  <a:srgbClr val="1F2937"/>
                </a:solidFill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e</a:t>
            </a:r>
            <a:r>
              <a:rPr b="0" i="0" lang="en-US" sz="2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 latência.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8"/>
                </a:ext>
              </a:extLst>
            </a:endParaRPr>
          </a:p>
          <a:p>
            <a:pPr indent="-300292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LLMs via API</a:t>
            </a:r>
            <a:endParaRPr b="0" i="0" sz="26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10"/>
                </a:ext>
              </a:extLst>
            </a:endParaRPr>
          </a:p>
          <a:p>
            <a:pPr indent="-300292" lvl="0" marL="658368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Clr>
                <a:srgbClr val="6B7280"/>
              </a:buClr>
              <a:buSzPts val="2600"/>
              <a:buFont typeface="Arial"/>
              <a:buChar char="–"/>
            </a:pPr>
            <a:r>
              <a:rPr b="0" i="0" lang="en-US" sz="2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SLMs locais</a:t>
            </a:r>
            <a:r>
              <a:rPr lang="en-US" sz="2600">
                <a:solidFill>
                  <a:srgbClr val="6B7280"/>
                </a:solidFill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: desafio adicional: qualidade dos resultados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13"/>
                </a:ext>
              </a:extLst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55" name="Google Shape;15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60" name="Google Shape;16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3" name="Google Shape;173;p6"/>
          <p:cNvGraphicFramePr/>
          <p:nvPr/>
        </p:nvGraphicFramePr>
        <p:xfrm>
          <a:off x="2375368" y="1825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{B273580B-B878-4A6B-A71D-4103AFF924EE}</a:tableStyleId>
              </a:tblPr>
              <a:tblGrid>
                <a:gridCol w="2805575"/>
                <a:gridCol w="2317675"/>
                <a:gridCol w="2317675"/>
              </a:tblGrid>
              <a:tr h="73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Abordagem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Foco</a:t>
                      </a:r>
                      <a:endParaRPr b="1" sz="2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Pipeline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IaC-Eval [Kon et al.]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1F2937"/>
                          </a:solidFill>
                        </a:rPr>
                        <a:t>Código válido</a:t>
                      </a:r>
                      <a:endParaRPr b="0" sz="24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1F2937"/>
                          </a:solidFill>
                        </a:rPr>
                        <a:t>Segmentado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DPIaC-Eval [Zhang et al.]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</a:rPr>
                        <a:t>Código válido</a:t>
                      </a:r>
                      <a:endParaRPr b="0" sz="24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1F2937"/>
                          </a:solidFill>
                        </a:rPr>
                        <a:t>Segmentado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24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AIaCGateGuard (nosso)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2"/>
                          </a:solidFill>
                        </a:rPr>
                        <a:t>Código Seguro</a:t>
                      </a:r>
                      <a:endParaRPr b="0" sz="2400" u="none" cap="none" strike="noStrike">
                        <a:solidFill>
                          <a:srgbClr val="1F293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rgbClr val="1F2937"/>
                          </a:solidFill>
                        </a:rPr>
                        <a:t>Integrado e automatizado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6"/>
          <p:cNvSpPr txBox="1"/>
          <p:nvPr/>
        </p:nvSpPr>
        <p:spPr>
          <a:xfrm>
            <a:off x="658368" y="5157216"/>
            <a:ext cx="10874959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IaC-Eval e DPIaC-Eval avaliam sintaxe/deployability; scanners manuais não escalam entre modelos e prompts.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80" name="Google Shape;1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83" name="Google Shape;1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 contribuição central do trabalho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9c05da9b1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9c05da9b1_0_0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9c05da9b1_0_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Arquitetura macro do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9c05da9b1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9c05da9b1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9c05da9b1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9c05da9b1_0_0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Um único fluxo: 5 estágios centrais sempre executados, mais duas extensões opcionais</a:t>
            </a:r>
            <a:r>
              <a:rPr i="1" lang="en-US" sz="2000">
                <a:solidFill>
                  <a:srgbClr val="6B7280"/>
                </a:solidFill>
              </a:rPr>
              <a:t>,</a:t>
            </a: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infraestrutura real e interface conversacional via MCP.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9c05da9b1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13" name="Google Shape;213;g3f9c05da9b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9c05da9b1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15" name="Google Shape;215;g3f9c05da9b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f9c05da9b1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17" name="Google Shape;217;g3f9c05da9b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9c05da9b1_0_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9c05da9b1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20" name="Google Shape;220;g3f9c05da9b1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9c05da9b1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9c05da9b1_0_0"/>
          <p:cNvSpPr txBox="1"/>
          <p:nvPr/>
        </p:nvSpPr>
        <p:spPr>
          <a:xfrm>
            <a:off x="658368" y="157276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PIPELINE PRINCIPAL  ·  5 ESTÁGIOS, SEMPRE EXECUTADOS</a:t>
            </a:r>
            <a:endParaRPr/>
          </a:p>
        </p:txBody>
      </p:sp>
      <p:sp>
        <p:nvSpPr>
          <p:cNvPr id="223" name="Google Shape;223;g3f9c05da9b1_0_0"/>
          <p:cNvSpPr txBox="1"/>
          <p:nvPr/>
        </p:nvSpPr>
        <p:spPr>
          <a:xfrm>
            <a:off x="658368" y="1847088"/>
            <a:ext cx="5943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Stage 0 (opcional): templates de prompt, zero/few-shot × 3 níveis</a:t>
            </a:r>
            <a:endParaRPr/>
          </a:p>
        </p:txBody>
      </p:sp>
      <p:sp>
        <p:nvSpPr>
          <p:cNvPr id="224" name="Google Shape;224;g3f9c05da9b1_0_0"/>
          <p:cNvSpPr/>
          <p:nvPr/>
        </p:nvSpPr>
        <p:spPr>
          <a:xfrm>
            <a:off x="658368" y="2148840"/>
            <a:ext cx="1801500" cy="16002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225" name="Google Shape;225;g3f9c05da9b1_0_0"/>
          <p:cNvSpPr/>
          <p:nvPr/>
        </p:nvSpPr>
        <p:spPr>
          <a:xfrm>
            <a:off x="549554" y="204002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6" name="Google Shape;226;g3f9c05da9b1_0_0"/>
          <p:cNvSpPr/>
          <p:nvPr/>
        </p:nvSpPr>
        <p:spPr>
          <a:xfrm>
            <a:off x="2926080" y="2148840"/>
            <a:ext cx="1801500" cy="16002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227" name="Google Shape;227;g3f9c05da9b1_0_0"/>
          <p:cNvSpPr/>
          <p:nvPr/>
        </p:nvSpPr>
        <p:spPr>
          <a:xfrm>
            <a:off x="2817266" y="204002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8" name="Google Shape;228;g3f9c05da9b1_0_0"/>
          <p:cNvSpPr/>
          <p:nvPr/>
        </p:nvSpPr>
        <p:spPr>
          <a:xfrm>
            <a:off x="5193792" y="2148840"/>
            <a:ext cx="1801500" cy="16002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229" name="Google Shape;229;g3f9c05da9b1_0_0"/>
          <p:cNvSpPr/>
          <p:nvPr/>
        </p:nvSpPr>
        <p:spPr>
          <a:xfrm>
            <a:off x="5084978" y="204002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0" name="Google Shape;230;g3f9c05da9b1_0_0"/>
          <p:cNvSpPr/>
          <p:nvPr/>
        </p:nvSpPr>
        <p:spPr>
          <a:xfrm>
            <a:off x="7461504" y="2148840"/>
            <a:ext cx="1801500" cy="16002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231" name="Google Shape;231;g3f9c05da9b1_0_0"/>
          <p:cNvSpPr/>
          <p:nvPr/>
        </p:nvSpPr>
        <p:spPr>
          <a:xfrm>
            <a:off x="7352690" y="204002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2" name="Google Shape;232;g3f9c05da9b1_0_0"/>
          <p:cNvSpPr/>
          <p:nvPr/>
        </p:nvSpPr>
        <p:spPr>
          <a:xfrm>
            <a:off x="9729216" y="2148840"/>
            <a:ext cx="1801500" cy="16002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sp>
        <p:nvSpPr>
          <p:cNvPr id="233" name="Google Shape;233;g3f9c05da9b1_0_0"/>
          <p:cNvSpPr/>
          <p:nvPr/>
        </p:nvSpPr>
        <p:spPr>
          <a:xfrm>
            <a:off x="9620402" y="204002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34" name="Google Shape;234;g3f9c05da9b1_0_0"/>
          <p:cNvCxnSpPr/>
          <p:nvPr/>
        </p:nvCxnSpPr>
        <p:spPr>
          <a:xfrm>
            <a:off x="2459736" y="2948940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5" name="Google Shape;235;g3f9c05da9b1_0_0"/>
          <p:cNvCxnSpPr/>
          <p:nvPr/>
        </p:nvCxnSpPr>
        <p:spPr>
          <a:xfrm>
            <a:off x="4727448" y="2948940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6" name="Google Shape;236;g3f9c05da9b1_0_0"/>
          <p:cNvCxnSpPr/>
          <p:nvPr/>
        </p:nvCxnSpPr>
        <p:spPr>
          <a:xfrm>
            <a:off x="6995159" y="2948940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7" name="Google Shape;237;g3f9c05da9b1_0_0"/>
          <p:cNvCxnSpPr/>
          <p:nvPr/>
        </p:nvCxnSpPr>
        <p:spPr>
          <a:xfrm>
            <a:off x="9262872" y="2948940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8" name="Google Shape;238;g3f9c05da9b1_0_0"/>
          <p:cNvCxnSpPr/>
          <p:nvPr/>
        </p:nvCxnSpPr>
        <p:spPr>
          <a:xfrm>
            <a:off x="10629900" y="3767327"/>
            <a:ext cx="0" cy="420600"/>
          </a:xfrm>
          <a:prstGeom prst="straightConnector1">
            <a:avLst/>
          </a:prstGeom>
          <a:noFill/>
          <a:ln cap="flat" cmpd="sng" w="22225">
            <a:solidFill>
              <a:srgbClr val="F7A82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39" name="Google Shape;239;g3f9c05da9b1_0_0"/>
          <p:cNvCxnSpPr/>
          <p:nvPr/>
        </p:nvCxnSpPr>
        <p:spPr>
          <a:xfrm rot="10800000">
            <a:off x="4320600" y="4187952"/>
            <a:ext cx="6309300" cy="0"/>
          </a:xfrm>
          <a:prstGeom prst="straightConnector1">
            <a:avLst/>
          </a:prstGeom>
          <a:noFill/>
          <a:ln cap="flat" cmpd="sng" w="22225">
            <a:solidFill>
              <a:srgbClr val="F7A823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40" name="Google Shape;240;g3f9c05da9b1_0_0"/>
          <p:cNvSpPr txBox="1"/>
          <p:nvPr/>
        </p:nvSpPr>
        <p:spPr>
          <a:xfrm>
            <a:off x="9395460" y="3803903"/>
            <a:ext cx="155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opcional</a:t>
            </a:r>
            <a:endParaRPr/>
          </a:p>
        </p:txBody>
      </p:sp>
      <p:sp>
        <p:nvSpPr>
          <p:cNvPr id="241" name="Google Shape;241;g3f9c05da9b1_0_0"/>
          <p:cNvSpPr txBox="1"/>
          <p:nvPr/>
        </p:nvSpPr>
        <p:spPr>
          <a:xfrm>
            <a:off x="3246120" y="384048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EXTENSÕES OPCIONAIS  ·  INFRAESTRUTURA REAL</a:t>
            </a:r>
            <a:endParaRPr/>
          </a:p>
        </p:txBody>
      </p:sp>
      <p:sp>
        <p:nvSpPr>
          <p:cNvPr id="242" name="Google Shape;242;g3f9c05da9b1_0_0"/>
          <p:cNvSpPr/>
          <p:nvPr/>
        </p:nvSpPr>
        <p:spPr>
          <a:xfrm>
            <a:off x="3246120" y="4297680"/>
            <a:ext cx="2148900" cy="8688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plan-real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plan · infraestrutura AWS real</a:t>
            </a:r>
            <a:endParaRPr/>
          </a:p>
        </p:txBody>
      </p:sp>
      <p:sp>
        <p:nvSpPr>
          <p:cNvPr id="243" name="Google Shape;243;g3f9c05da9b1_0_0"/>
          <p:cNvSpPr/>
          <p:nvPr/>
        </p:nvSpPr>
        <p:spPr>
          <a:xfrm>
            <a:off x="5806440" y="4297680"/>
            <a:ext cx="2148900" cy="8688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Apply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apply · disparo manual</a:t>
            </a:r>
            <a:endParaRPr/>
          </a:p>
        </p:txBody>
      </p:sp>
      <p:sp>
        <p:nvSpPr>
          <p:cNvPr id="244" name="Google Shape;244;g3f9c05da9b1_0_0"/>
          <p:cNvSpPr/>
          <p:nvPr/>
        </p:nvSpPr>
        <p:spPr>
          <a:xfrm>
            <a:off x="8366760" y="4297680"/>
            <a:ext cx="2148900" cy="8688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Destroy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destroy · disparo manual</a:t>
            </a:r>
            <a:endParaRPr/>
          </a:p>
        </p:txBody>
      </p:sp>
      <p:cxnSp>
        <p:nvCxnSpPr>
          <p:cNvPr id="245" name="Google Shape;245;g3f9c05da9b1_0_0"/>
          <p:cNvCxnSpPr/>
          <p:nvPr/>
        </p:nvCxnSpPr>
        <p:spPr>
          <a:xfrm>
            <a:off x="5394960" y="4732020"/>
            <a:ext cx="4116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46" name="Google Shape;246;g3f9c05da9b1_0_0"/>
          <p:cNvCxnSpPr/>
          <p:nvPr/>
        </p:nvCxnSpPr>
        <p:spPr>
          <a:xfrm>
            <a:off x="7955279" y="4732020"/>
            <a:ext cx="411600" cy="0"/>
          </a:xfrm>
          <a:prstGeom prst="straightConnector1">
            <a:avLst/>
          </a:prstGeom>
          <a:noFill/>
          <a:ln cap="flat" cmpd="sng" w="22225">
            <a:solidFill>
              <a:srgbClr val="0F2369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47" name="Google Shape;247;g3f9c05da9b1_0_0"/>
          <p:cNvSpPr txBox="1"/>
          <p:nvPr/>
        </p:nvSpPr>
        <p:spPr>
          <a:xfrm>
            <a:off x="5715000" y="5230368"/>
            <a:ext cx="4114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↳ também acionável de forma conversacional via servidor MCP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9c05da9b1_0_4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9c05da9b1_0_47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9c05da9b1_0_4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Estágio 1 de 5 — 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9c05da9b1_0_4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9c05da9b1_0_4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f9c05da9b1_0_4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9c05da9b1_0_47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Estágio 1 — o pipeline chama o LLM ou SLM com o prompt do cenário e extrai o bloco de código HCL gerado.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9c05da9b1_0_4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60" name="Google Shape;260;g3f9c05da9b1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f9c05da9b1_0_4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62" name="Google Shape;262;g3f9c05da9b1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f9c05da9b1_0_4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64" name="Google Shape;264;g3f9c05da9b1_0_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f9c05da9b1_0_4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9c05da9b1_0_4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67" name="Google Shape;267;g3f9c05da9b1_0_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9c05da9b1_0_4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f9c05da9b1_0_47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270" name="Google Shape;270;g3f9c05da9b1_0_47"/>
          <p:cNvSpPr txBox="1"/>
          <p:nvPr/>
        </p:nvSpPr>
        <p:spPr>
          <a:xfrm>
            <a:off x="658368" y="1810512"/>
            <a:ext cx="5943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Stage 0 (opcional): templates de prompt, zero/few-shot × 3 níveis</a:t>
            </a:r>
            <a:endParaRPr/>
          </a:p>
        </p:txBody>
      </p:sp>
      <p:sp>
        <p:nvSpPr>
          <p:cNvPr id="271" name="Google Shape;271;g3f9c05da9b1_0_47"/>
          <p:cNvSpPr txBox="1"/>
          <p:nvPr/>
        </p:nvSpPr>
        <p:spPr>
          <a:xfrm>
            <a:off x="6766560" y="1810512"/>
            <a:ext cx="475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1 arquivo YAML → novo modelo, cenário ou scanner, sem mudar o pipeline</a:t>
            </a:r>
            <a:endParaRPr/>
          </a:p>
        </p:txBody>
      </p:sp>
      <p:sp>
        <p:nvSpPr>
          <p:cNvPr id="272" name="Google Shape;272;g3f9c05da9b1_0_47"/>
          <p:cNvSpPr/>
          <p:nvPr/>
        </p:nvSpPr>
        <p:spPr>
          <a:xfrm>
            <a:off x="658368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Camada de abstração isola custo, latência e API entre provedores.</a:t>
            </a:r>
            <a:endParaRPr/>
          </a:p>
        </p:txBody>
      </p:sp>
      <p:sp>
        <p:nvSpPr>
          <p:cNvPr id="273" name="Google Shape;273;g3f9c05da9b1_0_47"/>
          <p:cNvSpPr/>
          <p:nvPr/>
        </p:nvSpPr>
        <p:spPr>
          <a:xfrm>
            <a:off x="658368" y="2331720"/>
            <a:ext cx="18015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9c05da9b1_0_47"/>
          <p:cNvSpPr/>
          <p:nvPr/>
        </p:nvSpPr>
        <p:spPr>
          <a:xfrm>
            <a:off x="549554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5" name="Google Shape;275;g3f9c05da9b1_0_47"/>
          <p:cNvSpPr/>
          <p:nvPr/>
        </p:nvSpPr>
        <p:spPr>
          <a:xfrm>
            <a:off x="2926080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276" name="Google Shape;276;g3f9c05da9b1_0_47"/>
          <p:cNvSpPr/>
          <p:nvPr/>
        </p:nvSpPr>
        <p:spPr>
          <a:xfrm>
            <a:off x="2817266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7" name="Google Shape;277;g3f9c05da9b1_0_47"/>
          <p:cNvSpPr/>
          <p:nvPr/>
        </p:nvSpPr>
        <p:spPr>
          <a:xfrm>
            <a:off x="5193792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278" name="Google Shape;278;g3f9c05da9b1_0_47"/>
          <p:cNvSpPr/>
          <p:nvPr/>
        </p:nvSpPr>
        <p:spPr>
          <a:xfrm>
            <a:off x="5084978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9" name="Google Shape;279;g3f9c05da9b1_0_47"/>
          <p:cNvSpPr/>
          <p:nvPr/>
        </p:nvSpPr>
        <p:spPr>
          <a:xfrm>
            <a:off x="7461504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280" name="Google Shape;280;g3f9c05da9b1_0_47"/>
          <p:cNvSpPr/>
          <p:nvPr/>
        </p:nvSpPr>
        <p:spPr>
          <a:xfrm>
            <a:off x="7352690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81" name="Google Shape;281;g3f9c05da9b1_0_47"/>
          <p:cNvSpPr/>
          <p:nvPr/>
        </p:nvSpPr>
        <p:spPr>
          <a:xfrm>
            <a:off x="9729216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sp>
        <p:nvSpPr>
          <p:cNvPr id="282" name="Google Shape;282;g3f9c05da9b1_0_47"/>
          <p:cNvSpPr/>
          <p:nvPr/>
        </p:nvSpPr>
        <p:spPr>
          <a:xfrm>
            <a:off x="9620402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283" name="Google Shape;283;g3f9c05da9b1_0_47"/>
          <p:cNvCxnSpPr/>
          <p:nvPr/>
        </p:nvCxnSpPr>
        <p:spPr>
          <a:xfrm>
            <a:off x="2459736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84" name="Google Shape;284;g3f9c05da9b1_0_47"/>
          <p:cNvCxnSpPr/>
          <p:nvPr/>
        </p:nvCxnSpPr>
        <p:spPr>
          <a:xfrm>
            <a:off x="4727448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85" name="Google Shape;285;g3f9c05da9b1_0_47"/>
          <p:cNvCxnSpPr/>
          <p:nvPr/>
        </p:nvCxnSpPr>
        <p:spPr>
          <a:xfrm>
            <a:off x="6995159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286" name="Google Shape;286;g3f9c05da9b1_0_47"/>
          <p:cNvCxnSpPr/>
          <p:nvPr/>
        </p:nvCxnSpPr>
        <p:spPr>
          <a:xfrm>
            <a:off x="9262872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9c05da9b1_0_8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9c05da9b1_0_85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9c05da9b1_0_8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Estágio 2 de 5 —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9c05da9b1_0_8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9c05da9b1_0_8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9c05da9b1_0_8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9c05da9b1_0_85"/>
          <p:cNvSpPr txBox="1"/>
          <p:nvPr/>
        </p:nvSpPr>
        <p:spPr>
          <a:xfrm>
            <a:off x="658368" y="5559552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Estágio 2 — terraform fmt, init e validate confirmam que o HCL gerado é sintaticamente correto.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9c05da9b1_0_8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99" name="Google Shape;299;g3f9c05da9b1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9c05da9b1_0_8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01" name="Google Shape;301;g3f9c05da9b1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9c05da9b1_0_8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03" name="Google Shape;303;g3f9c05da9b1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f9c05da9b1_0_8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9c05da9b1_0_8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06" name="Google Shape;306;g3f9c05da9b1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f9c05da9b1_0_8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9c05da9b1_0_85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309" name="Google Shape;309;g3f9c05da9b1_0_85"/>
          <p:cNvSpPr/>
          <p:nvPr/>
        </p:nvSpPr>
        <p:spPr>
          <a:xfrm>
            <a:off x="658368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310" name="Google Shape;310;g3f9c05da9b1_0_85"/>
          <p:cNvSpPr/>
          <p:nvPr/>
        </p:nvSpPr>
        <p:spPr>
          <a:xfrm>
            <a:off x="549554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1" name="Google Shape;311;g3f9c05da9b1_0_85"/>
          <p:cNvSpPr/>
          <p:nvPr/>
        </p:nvSpPr>
        <p:spPr>
          <a:xfrm>
            <a:off x="2926080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Só HCL sintaticamente válido segue para os scanners.</a:t>
            </a:r>
            <a:endParaRPr/>
          </a:p>
        </p:txBody>
      </p:sp>
      <p:sp>
        <p:nvSpPr>
          <p:cNvPr id="312" name="Google Shape;312;g3f9c05da9b1_0_85"/>
          <p:cNvSpPr/>
          <p:nvPr/>
        </p:nvSpPr>
        <p:spPr>
          <a:xfrm>
            <a:off x="2926080" y="2331720"/>
            <a:ext cx="18015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9c05da9b1_0_85"/>
          <p:cNvSpPr/>
          <p:nvPr/>
        </p:nvSpPr>
        <p:spPr>
          <a:xfrm>
            <a:off x="2817266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4" name="Google Shape;314;g3f9c05da9b1_0_85"/>
          <p:cNvSpPr/>
          <p:nvPr/>
        </p:nvSpPr>
        <p:spPr>
          <a:xfrm>
            <a:off x="5193792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315" name="Google Shape;315;g3f9c05da9b1_0_85"/>
          <p:cNvSpPr/>
          <p:nvPr/>
        </p:nvSpPr>
        <p:spPr>
          <a:xfrm>
            <a:off x="5084978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6" name="Google Shape;316;g3f9c05da9b1_0_85"/>
          <p:cNvSpPr/>
          <p:nvPr/>
        </p:nvSpPr>
        <p:spPr>
          <a:xfrm>
            <a:off x="7461504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317" name="Google Shape;317;g3f9c05da9b1_0_85"/>
          <p:cNvSpPr/>
          <p:nvPr/>
        </p:nvSpPr>
        <p:spPr>
          <a:xfrm>
            <a:off x="7352690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8" name="Google Shape;318;g3f9c05da9b1_0_85"/>
          <p:cNvSpPr/>
          <p:nvPr/>
        </p:nvSpPr>
        <p:spPr>
          <a:xfrm>
            <a:off x="9729216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sp>
        <p:nvSpPr>
          <p:cNvPr id="319" name="Google Shape;319;g3f9c05da9b1_0_85"/>
          <p:cNvSpPr/>
          <p:nvPr/>
        </p:nvSpPr>
        <p:spPr>
          <a:xfrm>
            <a:off x="9620402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320" name="Google Shape;320;g3f9c05da9b1_0_85"/>
          <p:cNvCxnSpPr/>
          <p:nvPr/>
        </p:nvCxnSpPr>
        <p:spPr>
          <a:xfrm>
            <a:off x="2459736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21" name="Google Shape;321;g3f9c05da9b1_0_85"/>
          <p:cNvCxnSpPr/>
          <p:nvPr/>
        </p:nvCxnSpPr>
        <p:spPr>
          <a:xfrm>
            <a:off x="4727448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22" name="Google Shape;322;g3f9c05da9b1_0_85"/>
          <p:cNvCxnSpPr/>
          <p:nvPr/>
        </p:nvCxnSpPr>
        <p:spPr>
          <a:xfrm>
            <a:off x="6995159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23" name="Google Shape;323;g3f9c05da9b1_0_85"/>
          <p:cNvCxnSpPr/>
          <p:nvPr/>
        </p:nvCxnSpPr>
        <p:spPr>
          <a:xfrm>
            <a:off x="9262872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9c05da9b1_0_12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f9c05da9b1_0_121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9c05da9b1_0_12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Estágio 3 de 5 — Scan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9c05da9b1_0_12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9c05da9b1_0_12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9c05da9b1_0_12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9c05da9b1_0_121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Estágio 3 — Checkov e Trivy analisam o HCL validado; as saídas são normalizadas em um schema comum.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9c05da9b1_0_12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36" name="Google Shape;336;g3f9c05da9b1_0_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f9c05da9b1_0_12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38" name="Google Shape;338;g3f9c05da9b1_0_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9c05da9b1_0_12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40" name="Google Shape;340;g3f9c05da9b1_0_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9c05da9b1_0_12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f9c05da9b1_0_12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43" name="Google Shape;343;g3f9c05da9b1_0_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f9c05da9b1_0_12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9c05da9b1_0_121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346" name="Google Shape;346;g3f9c05da9b1_0_121"/>
          <p:cNvSpPr/>
          <p:nvPr/>
        </p:nvSpPr>
        <p:spPr>
          <a:xfrm>
            <a:off x="658368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347" name="Google Shape;347;g3f9c05da9b1_0_121"/>
          <p:cNvSpPr/>
          <p:nvPr/>
        </p:nvSpPr>
        <p:spPr>
          <a:xfrm>
            <a:off x="549554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48" name="Google Shape;348;g3f9c05da9b1_0_121"/>
          <p:cNvSpPr/>
          <p:nvPr/>
        </p:nvSpPr>
        <p:spPr>
          <a:xfrm>
            <a:off x="2926080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349" name="Google Shape;349;g3f9c05da9b1_0_121"/>
          <p:cNvSpPr/>
          <p:nvPr/>
        </p:nvSpPr>
        <p:spPr>
          <a:xfrm>
            <a:off x="2817266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50" name="Google Shape;350;g3f9c05da9b1_0_121"/>
          <p:cNvSpPr/>
          <p:nvPr/>
        </p:nvSpPr>
        <p:spPr>
          <a:xfrm>
            <a:off x="5193792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Saídas normalizadas em um schema comum de achados.</a:t>
            </a:r>
            <a:endParaRPr/>
          </a:p>
        </p:txBody>
      </p:sp>
      <p:sp>
        <p:nvSpPr>
          <p:cNvPr id="351" name="Google Shape;351;g3f9c05da9b1_0_121"/>
          <p:cNvSpPr/>
          <p:nvPr/>
        </p:nvSpPr>
        <p:spPr>
          <a:xfrm>
            <a:off x="5193792" y="2331720"/>
            <a:ext cx="18015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f9c05da9b1_0_121"/>
          <p:cNvSpPr/>
          <p:nvPr/>
        </p:nvSpPr>
        <p:spPr>
          <a:xfrm>
            <a:off x="5084978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53" name="Google Shape;353;g3f9c05da9b1_0_121"/>
          <p:cNvSpPr/>
          <p:nvPr/>
        </p:nvSpPr>
        <p:spPr>
          <a:xfrm>
            <a:off x="7461504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354" name="Google Shape;354;g3f9c05da9b1_0_121"/>
          <p:cNvSpPr/>
          <p:nvPr/>
        </p:nvSpPr>
        <p:spPr>
          <a:xfrm>
            <a:off x="7352690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55" name="Google Shape;355;g3f9c05da9b1_0_121"/>
          <p:cNvSpPr/>
          <p:nvPr/>
        </p:nvSpPr>
        <p:spPr>
          <a:xfrm>
            <a:off x="9729216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sp>
        <p:nvSpPr>
          <p:cNvPr id="356" name="Google Shape;356;g3f9c05da9b1_0_121"/>
          <p:cNvSpPr/>
          <p:nvPr/>
        </p:nvSpPr>
        <p:spPr>
          <a:xfrm>
            <a:off x="9620402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357" name="Google Shape;357;g3f9c05da9b1_0_121"/>
          <p:cNvCxnSpPr/>
          <p:nvPr/>
        </p:nvCxnSpPr>
        <p:spPr>
          <a:xfrm>
            <a:off x="2459736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8" name="Google Shape;358;g3f9c05da9b1_0_121"/>
          <p:cNvCxnSpPr/>
          <p:nvPr/>
        </p:nvCxnSpPr>
        <p:spPr>
          <a:xfrm>
            <a:off x="4727448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9" name="Google Shape;359;g3f9c05da9b1_0_121"/>
          <p:cNvCxnSpPr/>
          <p:nvPr/>
        </p:nvCxnSpPr>
        <p:spPr>
          <a:xfrm>
            <a:off x="6995159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60" name="Google Shape;360;g3f9c05da9b1_0_121"/>
          <p:cNvCxnSpPr/>
          <p:nvPr/>
        </p:nvCxnSpPr>
        <p:spPr>
          <a:xfrm>
            <a:off x="9262872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9c05da9b1_0_15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9c05da9b1_0_157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9c05da9b1_0_15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Estágio 4 de 5 — Evaluate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9c05da9b1_0_15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9c05da9b1_0_15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9c05da9b1_0_15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9c05da9b1_0_157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Estágio 4 — pass@k e métricas de conformidade de segurança são calculadas a partir dos achados dos scanners.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f9c05da9b1_0_15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73" name="Google Shape;373;g3f9c05da9b1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f9c05da9b1_0_15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75" name="Google Shape;375;g3f9c05da9b1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g3f9c05da9b1_0_15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77" name="Google Shape;377;g3f9c05da9b1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9c05da9b1_0_15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9c05da9b1_0_15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80" name="Google Shape;380;g3f9c05da9b1_0_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9c05da9b1_0_15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9c05da9b1_0_157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383" name="Google Shape;383;g3f9c05da9b1_0_157"/>
          <p:cNvSpPr/>
          <p:nvPr/>
        </p:nvSpPr>
        <p:spPr>
          <a:xfrm>
            <a:off x="658368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384" name="Google Shape;384;g3f9c05da9b1_0_157"/>
          <p:cNvSpPr/>
          <p:nvPr/>
        </p:nvSpPr>
        <p:spPr>
          <a:xfrm>
            <a:off x="549554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5" name="Google Shape;385;g3f9c05da9b1_0_157"/>
          <p:cNvSpPr/>
          <p:nvPr/>
        </p:nvSpPr>
        <p:spPr>
          <a:xfrm>
            <a:off x="2926080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386" name="Google Shape;386;g3f9c05da9b1_0_157"/>
          <p:cNvSpPr/>
          <p:nvPr/>
        </p:nvSpPr>
        <p:spPr>
          <a:xfrm>
            <a:off x="2817266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87" name="Google Shape;387;g3f9c05da9b1_0_157"/>
          <p:cNvSpPr/>
          <p:nvPr/>
        </p:nvSpPr>
        <p:spPr>
          <a:xfrm>
            <a:off x="5193792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388" name="Google Shape;388;g3f9c05da9b1_0_157"/>
          <p:cNvSpPr/>
          <p:nvPr/>
        </p:nvSpPr>
        <p:spPr>
          <a:xfrm>
            <a:off x="5084978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9" name="Google Shape;389;g3f9c05da9b1_0_157"/>
          <p:cNvSpPr/>
          <p:nvPr/>
        </p:nvSpPr>
        <p:spPr>
          <a:xfrm>
            <a:off x="7461504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3.570 avaliações: sintaxe e segurança são quase independentes.</a:t>
            </a:r>
            <a:endParaRPr/>
          </a:p>
        </p:txBody>
      </p:sp>
      <p:sp>
        <p:nvSpPr>
          <p:cNvPr id="390" name="Google Shape;390;g3f9c05da9b1_0_157"/>
          <p:cNvSpPr/>
          <p:nvPr/>
        </p:nvSpPr>
        <p:spPr>
          <a:xfrm>
            <a:off x="7461504" y="2331720"/>
            <a:ext cx="18015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9c05da9b1_0_157"/>
          <p:cNvSpPr/>
          <p:nvPr/>
        </p:nvSpPr>
        <p:spPr>
          <a:xfrm>
            <a:off x="7352690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92" name="Google Shape;392;g3f9c05da9b1_0_157"/>
          <p:cNvSpPr/>
          <p:nvPr/>
        </p:nvSpPr>
        <p:spPr>
          <a:xfrm>
            <a:off x="9729216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2F3F5"/>
          </a:solidFill>
          <a:ln cap="flat" cmpd="sng" w="12700">
            <a:solidFill>
              <a:srgbClr val="D9DE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CC2CC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sp>
        <p:nvSpPr>
          <p:cNvPr id="393" name="Google Shape;393;g3f9c05da9b1_0_157"/>
          <p:cNvSpPr/>
          <p:nvPr/>
        </p:nvSpPr>
        <p:spPr>
          <a:xfrm>
            <a:off x="9620402" y="2222906"/>
            <a:ext cx="310800" cy="310800"/>
          </a:xfrm>
          <a:prstGeom prst="ellipse">
            <a:avLst/>
          </a:prstGeom>
          <a:solidFill>
            <a:srgbClr val="D9DEE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394" name="Google Shape;394;g3f9c05da9b1_0_157"/>
          <p:cNvCxnSpPr/>
          <p:nvPr/>
        </p:nvCxnSpPr>
        <p:spPr>
          <a:xfrm>
            <a:off x="2459736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95" name="Google Shape;395;g3f9c05da9b1_0_157"/>
          <p:cNvCxnSpPr/>
          <p:nvPr/>
        </p:nvCxnSpPr>
        <p:spPr>
          <a:xfrm>
            <a:off x="4727448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96" name="Google Shape;396;g3f9c05da9b1_0_157"/>
          <p:cNvCxnSpPr/>
          <p:nvPr/>
        </p:nvCxnSpPr>
        <p:spPr>
          <a:xfrm>
            <a:off x="6995159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97" name="Google Shape;397;g3f9c05da9b1_0_157"/>
          <p:cNvCxnSpPr/>
          <p:nvPr/>
        </p:nvCxnSpPr>
        <p:spPr>
          <a:xfrm>
            <a:off x="9262872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D9DEE6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9c05da9b1_0_19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9c05da9b1_0_193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9c05da9b1_0_19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Estágio 5 de 5 —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f9c05da9b1_0_19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f9c05da9b1_0_19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9c05da9b1_0_19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f9c05da9b1_0_193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Estágio 5 — tudo é consolidado em summary.json e heatmap, prontos para comparar modelos e cenários.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f9c05da9b1_0_19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10" name="Google Shape;410;g3f9c05da9b1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f9c05da9b1_0_19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12" name="Google Shape;412;g3f9c05da9b1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g3f9c05da9b1_0_19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14" name="Google Shape;414;g3f9c05da9b1_0_1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f9c05da9b1_0_193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f9c05da9b1_0_19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17" name="Google Shape;417;g3f9c05da9b1_0_1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f9c05da9b1_0_19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f9c05da9b1_0_193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420" name="Google Shape;420;g3f9c05da9b1_0_193"/>
          <p:cNvSpPr/>
          <p:nvPr/>
        </p:nvSpPr>
        <p:spPr>
          <a:xfrm>
            <a:off x="658368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421" name="Google Shape;421;g3f9c05da9b1_0_193"/>
          <p:cNvSpPr/>
          <p:nvPr/>
        </p:nvSpPr>
        <p:spPr>
          <a:xfrm>
            <a:off x="549554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2" name="Google Shape;422;g3f9c05da9b1_0_193"/>
          <p:cNvSpPr/>
          <p:nvPr/>
        </p:nvSpPr>
        <p:spPr>
          <a:xfrm>
            <a:off x="2926080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423" name="Google Shape;423;g3f9c05da9b1_0_193"/>
          <p:cNvSpPr/>
          <p:nvPr/>
        </p:nvSpPr>
        <p:spPr>
          <a:xfrm>
            <a:off x="2817266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4" name="Google Shape;424;g3f9c05da9b1_0_193"/>
          <p:cNvSpPr/>
          <p:nvPr/>
        </p:nvSpPr>
        <p:spPr>
          <a:xfrm>
            <a:off x="5193792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425" name="Google Shape;425;g3f9c05da9b1_0_193"/>
          <p:cNvSpPr/>
          <p:nvPr/>
        </p:nvSpPr>
        <p:spPr>
          <a:xfrm>
            <a:off x="5084978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26" name="Google Shape;426;g3f9c05da9b1_0_193"/>
          <p:cNvSpPr/>
          <p:nvPr/>
        </p:nvSpPr>
        <p:spPr>
          <a:xfrm>
            <a:off x="7461504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427" name="Google Shape;427;g3f9c05da9b1_0_193"/>
          <p:cNvSpPr/>
          <p:nvPr/>
        </p:nvSpPr>
        <p:spPr>
          <a:xfrm>
            <a:off x="7352690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28" name="Google Shape;428;g3f9c05da9b1_0_193"/>
          <p:cNvSpPr/>
          <p:nvPr/>
        </p:nvSpPr>
        <p:spPr>
          <a:xfrm>
            <a:off x="9729216" y="2331720"/>
            <a:ext cx="1801500" cy="26061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Base única para comparar modelos, cenários e scanners.</a:t>
            </a:r>
            <a:endParaRPr/>
          </a:p>
        </p:txBody>
      </p:sp>
      <p:sp>
        <p:nvSpPr>
          <p:cNvPr id="429" name="Google Shape;429;g3f9c05da9b1_0_193"/>
          <p:cNvSpPr/>
          <p:nvPr/>
        </p:nvSpPr>
        <p:spPr>
          <a:xfrm>
            <a:off x="9729216" y="2331720"/>
            <a:ext cx="1801500" cy="63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9c05da9b1_0_193"/>
          <p:cNvSpPr/>
          <p:nvPr/>
        </p:nvSpPr>
        <p:spPr>
          <a:xfrm>
            <a:off x="9620402" y="2222906"/>
            <a:ext cx="310800" cy="310800"/>
          </a:xfrm>
          <a:prstGeom prst="ellipse">
            <a:avLst/>
          </a:prstGeom>
          <a:solidFill>
            <a:srgbClr val="0A866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431" name="Google Shape;431;g3f9c05da9b1_0_193"/>
          <p:cNvCxnSpPr/>
          <p:nvPr/>
        </p:nvCxnSpPr>
        <p:spPr>
          <a:xfrm>
            <a:off x="2459736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32" name="Google Shape;432;g3f9c05da9b1_0_193"/>
          <p:cNvCxnSpPr/>
          <p:nvPr/>
        </p:nvCxnSpPr>
        <p:spPr>
          <a:xfrm>
            <a:off x="4727448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33" name="Google Shape;433;g3f9c05da9b1_0_193"/>
          <p:cNvCxnSpPr/>
          <p:nvPr/>
        </p:nvCxnSpPr>
        <p:spPr>
          <a:xfrm>
            <a:off x="6995159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34" name="Google Shape;434;g3f9c05da9b1_0_193"/>
          <p:cNvCxnSpPr/>
          <p:nvPr/>
        </p:nvCxnSpPr>
        <p:spPr>
          <a:xfrm>
            <a:off x="9262872" y="3634739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9c05da9b1_0_22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f9c05da9b1_0_229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f9c05da9b1_0_22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Extensão opcional — Infraestrutura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9c05da9b1_0_22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f9c05da9b1_0_22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f9c05da9b1_0_22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f9c05da9b1_0_229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Depois do Report, o pipeline pode opcionalmente provisionar infraestrutura AWS real</a:t>
            </a:r>
            <a:r>
              <a:rPr i="1" lang="en-US" sz="2000">
                <a:solidFill>
                  <a:srgbClr val="6B7280"/>
                </a:solidFill>
              </a:rPr>
              <a:t>, </a:t>
            </a: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sempre com disparo manual.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f9c05da9b1_0_22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47" name="Google Shape;447;g3f9c05da9b1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3f9c05da9b1_0_22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49" name="Google Shape;449;g3f9c05da9b1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f9c05da9b1_0_22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51" name="Google Shape;451;g3f9c05da9b1_0_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g3f9c05da9b1_0_22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9c05da9b1_0_22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54" name="Google Shape;454;g3f9c05da9b1_0_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f9c05da9b1_0_22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9c05da9b1_0_229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457" name="Google Shape;457;g3f9c05da9b1_0_229"/>
          <p:cNvSpPr/>
          <p:nvPr/>
        </p:nvSpPr>
        <p:spPr>
          <a:xfrm>
            <a:off x="658368" y="1810512"/>
            <a:ext cx="1801500" cy="7773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458" name="Google Shape;458;g3f9c05da9b1_0_229"/>
          <p:cNvSpPr/>
          <p:nvPr/>
        </p:nvSpPr>
        <p:spPr>
          <a:xfrm>
            <a:off x="2926080" y="1810512"/>
            <a:ext cx="1801500" cy="7773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459" name="Google Shape;459;g3f9c05da9b1_0_229"/>
          <p:cNvSpPr/>
          <p:nvPr/>
        </p:nvSpPr>
        <p:spPr>
          <a:xfrm>
            <a:off x="5193792" y="1810512"/>
            <a:ext cx="1801500" cy="7773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460" name="Google Shape;460;g3f9c05da9b1_0_229"/>
          <p:cNvSpPr/>
          <p:nvPr/>
        </p:nvSpPr>
        <p:spPr>
          <a:xfrm>
            <a:off x="7461504" y="1810512"/>
            <a:ext cx="1801500" cy="7773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461" name="Google Shape;461;g3f9c05da9b1_0_229"/>
          <p:cNvSpPr/>
          <p:nvPr/>
        </p:nvSpPr>
        <p:spPr>
          <a:xfrm>
            <a:off x="9729216" y="1810512"/>
            <a:ext cx="1801500" cy="7773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cxnSp>
        <p:nvCxnSpPr>
          <p:cNvPr id="462" name="Google Shape;462;g3f9c05da9b1_0_229"/>
          <p:cNvCxnSpPr/>
          <p:nvPr/>
        </p:nvCxnSpPr>
        <p:spPr>
          <a:xfrm>
            <a:off x="2459736" y="2199132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63" name="Google Shape;463;g3f9c05da9b1_0_229"/>
          <p:cNvCxnSpPr/>
          <p:nvPr/>
        </p:nvCxnSpPr>
        <p:spPr>
          <a:xfrm>
            <a:off x="4727448" y="2199132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64" name="Google Shape;464;g3f9c05da9b1_0_229"/>
          <p:cNvCxnSpPr/>
          <p:nvPr/>
        </p:nvCxnSpPr>
        <p:spPr>
          <a:xfrm>
            <a:off x="6995159" y="2199132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65" name="Google Shape;465;g3f9c05da9b1_0_229"/>
          <p:cNvCxnSpPr/>
          <p:nvPr/>
        </p:nvCxnSpPr>
        <p:spPr>
          <a:xfrm>
            <a:off x="9262872" y="2199132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66" name="Google Shape;466;g3f9c05da9b1_0_229"/>
          <p:cNvSpPr/>
          <p:nvPr/>
        </p:nvSpPr>
        <p:spPr>
          <a:xfrm>
            <a:off x="1280160" y="2880360"/>
            <a:ext cx="2423100" cy="21489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plan-real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plan · infraestrutura AWS real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Simula o provisionamento antes de tocar recursos reais.</a:t>
            </a:r>
            <a:endParaRPr/>
          </a:p>
        </p:txBody>
      </p:sp>
      <p:sp>
        <p:nvSpPr>
          <p:cNvPr id="467" name="Google Shape;467;g3f9c05da9b1_0_229"/>
          <p:cNvSpPr/>
          <p:nvPr/>
        </p:nvSpPr>
        <p:spPr>
          <a:xfrm>
            <a:off x="1280160" y="2880360"/>
            <a:ext cx="2423100" cy="6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f9c05da9b1_0_229"/>
          <p:cNvSpPr/>
          <p:nvPr/>
        </p:nvSpPr>
        <p:spPr>
          <a:xfrm>
            <a:off x="4892040" y="2880360"/>
            <a:ext cx="2423100" cy="21489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Apply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apply · disparo manual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Cria a infraestrutura de fato</a:t>
            </a:r>
            <a:r>
              <a:rPr i="1" lang="en-US" sz="1300">
                <a:solidFill>
                  <a:srgbClr val="0F2369"/>
                </a:solidFill>
              </a:rPr>
              <a:t>,</a:t>
            </a: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300">
                <a:solidFill>
                  <a:srgbClr val="0F2369"/>
                </a:solidFill>
              </a:rPr>
              <a:t>não</a:t>
            </a: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acionado automaticamente.</a:t>
            </a:r>
            <a:endParaRPr/>
          </a:p>
        </p:txBody>
      </p:sp>
      <p:sp>
        <p:nvSpPr>
          <p:cNvPr id="469" name="Google Shape;469;g3f9c05da9b1_0_229"/>
          <p:cNvSpPr/>
          <p:nvPr/>
        </p:nvSpPr>
        <p:spPr>
          <a:xfrm>
            <a:off x="4892040" y="2880360"/>
            <a:ext cx="2423100" cy="6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9c05da9b1_0_229"/>
          <p:cNvSpPr/>
          <p:nvPr/>
        </p:nvSpPr>
        <p:spPr>
          <a:xfrm>
            <a:off x="8503920" y="2880360"/>
            <a:ext cx="2423100" cy="21489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Destroy (opcional)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destroy · disparo manual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Encerra os recursos criados, evitando custo residual.</a:t>
            </a:r>
            <a:endParaRPr/>
          </a:p>
        </p:txBody>
      </p:sp>
      <p:sp>
        <p:nvSpPr>
          <p:cNvPr id="471" name="Google Shape;471;g3f9c05da9b1_0_229"/>
          <p:cNvSpPr/>
          <p:nvPr/>
        </p:nvSpPr>
        <p:spPr>
          <a:xfrm>
            <a:off x="8503920" y="2880360"/>
            <a:ext cx="2423100" cy="639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g3f9c05da9b1_0_229"/>
          <p:cNvCxnSpPr/>
          <p:nvPr/>
        </p:nvCxnSpPr>
        <p:spPr>
          <a:xfrm>
            <a:off x="3703320" y="3954780"/>
            <a:ext cx="1188600" cy="0"/>
          </a:xfrm>
          <a:prstGeom prst="straightConnector1">
            <a:avLst/>
          </a:prstGeom>
          <a:noFill/>
          <a:ln cap="flat" cmpd="sng" w="22225">
            <a:solidFill>
              <a:srgbClr val="F7A82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73" name="Google Shape;473;g3f9c05da9b1_0_229"/>
          <p:cNvCxnSpPr/>
          <p:nvPr/>
        </p:nvCxnSpPr>
        <p:spPr>
          <a:xfrm>
            <a:off x="7315200" y="3954780"/>
            <a:ext cx="1188600" cy="0"/>
          </a:xfrm>
          <a:prstGeom prst="straightConnector1">
            <a:avLst/>
          </a:prstGeom>
          <a:noFill/>
          <a:ln cap="flat" cmpd="sng" w="22225">
            <a:solidFill>
              <a:srgbClr val="F7A82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74" name="Google Shape;474;g3f9c05da9b1_0_229"/>
          <p:cNvCxnSpPr/>
          <p:nvPr/>
        </p:nvCxnSpPr>
        <p:spPr>
          <a:xfrm flipH="1">
            <a:off x="2491799" y="2606040"/>
            <a:ext cx="8138100" cy="255900"/>
          </a:xfrm>
          <a:prstGeom prst="straightConnector1">
            <a:avLst/>
          </a:prstGeom>
          <a:noFill/>
          <a:ln cap="flat" cmpd="sng" w="22225">
            <a:solidFill>
              <a:srgbClr val="F7A823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9c05da9b1_0_26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f9c05da9b1_0_268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9c05da9b1_0_26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Extensão opcional — Interface conversacional (MCP)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9c05da9b1_0_26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9c05da9b1_0_26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9c05da9b1_0_26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f9c05da9b1_0_268"/>
          <p:cNvSpPr txBox="1"/>
          <p:nvPr/>
        </p:nvSpPr>
        <p:spPr>
          <a:xfrm>
            <a:off x="658368" y="5559552"/>
            <a:ext cx="1087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Qualquer cliente MCP aciona o pipeline por linguagem natural; o servidor expõe generate_terraform, apply_terraform e query_results.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9c05da9b1_0_26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87" name="Google Shape;487;g3f9c05da9b1_0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f9c05da9b1_0_26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89" name="Google Shape;489;g3f9c05da9b1_0_2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f9c05da9b1_0_26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91" name="Google Shape;491;g3f9c05da9b1_0_2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f9c05da9b1_0_268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f9c05da9b1_0_26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94" name="Google Shape;494;g3f9c05da9b1_0_2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f9c05da9b1_0_26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9c05da9b1_0_268"/>
          <p:cNvSpPr txBox="1"/>
          <p:nvPr/>
        </p:nvSpPr>
        <p:spPr>
          <a:xfrm>
            <a:off x="658368" y="1517904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  |    </a:t>
            </a:r>
            <a:r>
              <a:rPr b="0" i="0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Infra real</a:t>
            </a:r>
            <a:r>
              <a:rPr b="0" i="0" lang="en-US" sz="1300" u="none" cap="none" strike="noStrike">
                <a:solidFill>
                  <a:srgbClr val="DDE3EC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/>
          </a:p>
        </p:txBody>
      </p:sp>
      <p:sp>
        <p:nvSpPr>
          <p:cNvPr id="497" name="Google Shape;497;g3f9c05da9b1_0_268"/>
          <p:cNvSpPr/>
          <p:nvPr/>
        </p:nvSpPr>
        <p:spPr>
          <a:xfrm>
            <a:off x="658368" y="1737360"/>
            <a:ext cx="1801500" cy="713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Chama o LLM/SLM e extrai o HCL</a:t>
            </a:r>
            <a:endParaRPr/>
          </a:p>
        </p:txBody>
      </p:sp>
      <p:sp>
        <p:nvSpPr>
          <p:cNvPr id="498" name="Google Shape;498;g3f9c05da9b1_0_268"/>
          <p:cNvSpPr/>
          <p:nvPr/>
        </p:nvSpPr>
        <p:spPr>
          <a:xfrm>
            <a:off x="2926080" y="1737360"/>
            <a:ext cx="1801500" cy="713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fmt · init · validate</a:t>
            </a:r>
            <a:endParaRPr/>
          </a:p>
        </p:txBody>
      </p:sp>
      <p:sp>
        <p:nvSpPr>
          <p:cNvPr id="499" name="Google Shape;499;g3f9c05da9b1_0_268"/>
          <p:cNvSpPr/>
          <p:nvPr/>
        </p:nvSpPr>
        <p:spPr>
          <a:xfrm>
            <a:off x="5193792" y="1737360"/>
            <a:ext cx="1801500" cy="713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Checkov + Trivy</a:t>
            </a:r>
            <a:endParaRPr/>
          </a:p>
        </p:txBody>
      </p:sp>
      <p:sp>
        <p:nvSpPr>
          <p:cNvPr id="500" name="Google Shape;500;g3f9c05da9b1_0_268"/>
          <p:cNvSpPr/>
          <p:nvPr/>
        </p:nvSpPr>
        <p:spPr>
          <a:xfrm>
            <a:off x="7461504" y="1737360"/>
            <a:ext cx="1801500" cy="713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pass@k, métricas</a:t>
            </a:r>
            <a:endParaRPr/>
          </a:p>
        </p:txBody>
      </p:sp>
      <p:sp>
        <p:nvSpPr>
          <p:cNvPr id="501" name="Google Shape;501;g3f9c05da9b1_0_268"/>
          <p:cNvSpPr/>
          <p:nvPr/>
        </p:nvSpPr>
        <p:spPr>
          <a:xfrm>
            <a:off x="9729216" y="1737360"/>
            <a:ext cx="1801500" cy="7131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C8B82"/>
                </a:solidFill>
                <a:latin typeface="Arial"/>
                <a:ea typeface="Arial"/>
                <a:cs typeface="Arial"/>
                <a:sym typeface="Arial"/>
              </a:rPr>
              <a:t>summary.json, heatmap</a:t>
            </a:r>
            <a:endParaRPr/>
          </a:p>
        </p:txBody>
      </p:sp>
      <p:cxnSp>
        <p:nvCxnSpPr>
          <p:cNvPr id="502" name="Google Shape;502;g3f9c05da9b1_0_268"/>
          <p:cNvCxnSpPr/>
          <p:nvPr/>
        </p:nvCxnSpPr>
        <p:spPr>
          <a:xfrm>
            <a:off x="2459736" y="2093976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03" name="Google Shape;503;g3f9c05da9b1_0_268"/>
          <p:cNvCxnSpPr/>
          <p:nvPr/>
        </p:nvCxnSpPr>
        <p:spPr>
          <a:xfrm>
            <a:off x="4727448" y="2093976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04" name="Google Shape;504;g3f9c05da9b1_0_268"/>
          <p:cNvCxnSpPr/>
          <p:nvPr/>
        </p:nvCxnSpPr>
        <p:spPr>
          <a:xfrm>
            <a:off x="6995159" y="2093976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05" name="Google Shape;505;g3f9c05da9b1_0_268"/>
          <p:cNvCxnSpPr/>
          <p:nvPr/>
        </p:nvCxnSpPr>
        <p:spPr>
          <a:xfrm>
            <a:off x="9262872" y="2093976"/>
            <a:ext cx="466200" cy="0"/>
          </a:xfrm>
          <a:prstGeom prst="straightConnector1">
            <a:avLst/>
          </a:prstGeom>
          <a:noFill/>
          <a:ln cap="flat" cmpd="sng" w="2222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06" name="Google Shape;506;g3f9c05da9b1_0_268"/>
          <p:cNvSpPr/>
          <p:nvPr/>
        </p:nvSpPr>
        <p:spPr>
          <a:xfrm>
            <a:off x="3246120" y="2606040"/>
            <a:ext cx="2148900" cy="6219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plan-real</a:t>
            </a:r>
            <a:endParaRPr/>
          </a:p>
        </p:txBody>
      </p:sp>
      <p:sp>
        <p:nvSpPr>
          <p:cNvPr id="507" name="Google Shape;507;g3f9c05da9b1_0_268"/>
          <p:cNvSpPr/>
          <p:nvPr/>
        </p:nvSpPr>
        <p:spPr>
          <a:xfrm>
            <a:off x="5806440" y="2606040"/>
            <a:ext cx="2148900" cy="6219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/>
          </a:p>
        </p:txBody>
      </p:sp>
      <p:sp>
        <p:nvSpPr>
          <p:cNvPr id="508" name="Google Shape;508;g3f9c05da9b1_0_268"/>
          <p:cNvSpPr/>
          <p:nvPr/>
        </p:nvSpPr>
        <p:spPr>
          <a:xfrm>
            <a:off x="8366760" y="2606040"/>
            <a:ext cx="2148900" cy="621900"/>
          </a:xfrm>
          <a:prstGeom prst="roundRect">
            <a:avLst>
              <a:gd fmla="val 8000" name="adj"/>
            </a:avLst>
          </a:prstGeom>
          <a:solidFill>
            <a:srgbClr val="EAF4F0"/>
          </a:solidFill>
          <a:ln cap="flat" cmpd="sng" w="127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Destroy</a:t>
            </a:r>
            <a:endParaRPr/>
          </a:p>
        </p:txBody>
      </p:sp>
      <p:cxnSp>
        <p:nvCxnSpPr>
          <p:cNvPr id="509" name="Google Shape;509;g3f9c05da9b1_0_268"/>
          <p:cNvCxnSpPr/>
          <p:nvPr/>
        </p:nvCxnSpPr>
        <p:spPr>
          <a:xfrm>
            <a:off x="5394960" y="2916936"/>
            <a:ext cx="411600" cy="0"/>
          </a:xfrm>
          <a:prstGeom prst="straightConnector1">
            <a:avLst/>
          </a:prstGeom>
          <a:noFill/>
          <a:ln cap="flat" cmpd="sng" w="1587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10" name="Google Shape;510;g3f9c05da9b1_0_268"/>
          <p:cNvCxnSpPr/>
          <p:nvPr/>
        </p:nvCxnSpPr>
        <p:spPr>
          <a:xfrm>
            <a:off x="7955279" y="2916936"/>
            <a:ext cx="411600" cy="0"/>
          </a:xfrm>
          <a:prstGeom prst="straightConnector1">
            <a:avLst/>
          </a:prstGeom>
          <a:noFill/>
          <a:ln cap="flat" cmpd="sng" w="15875">
            <a:solidFill>
              <a:srgbClr val="0A866E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11" name="Google Shape;511;g3f9c05da9b1_0_268"/>
          <p:cNvCxnSpPr/>
          <p:nvPr/>
        </p:nvCxnSpPr>
        <p:spPr>
          <a:xfrm flipH="1">
            <a:off x="4320600" y="2468879"/>
            <a:ext cx="6309300" cy="118800"/>
          </a:xfrm>
          <a:prstGeom prst="straightConnector1">
            <a:avLst/>
          </a:prstGeom>
          <a:noFill/>
          <a:ln cap="flat" cmpd="sng" w="19050">
            <a:solidFill>
              <a:srgbClr val="F7A823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512" name="Google Shape;512;g3f9c05da9b1_0_268"/>
          <p:cNvSpPr/>
          <p:nvPr/>
        </p:nvSpPr>
        <p:spPr>
          <a:xfrm>
            <a:off x="658368" y="3611880"/>
            <a:ext cx="3291900" cy="15087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Cliente MCP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qualquer cliente compatível (ex.: Claude, IDEs)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Envia comandos em linguagem natural para o servidor.</a:t>
            </a:r>
            <a:endParaRPr/>
          </a:p>
        </p:txBody>
      </p:sp>
      <p:sp>
        <p:nvSpPr>
          <p:cNvPr id="513" name="Google Shape;513;g3f9c05da9b1_0_268"/>
          <p:cNvSpPr/>
          <p:nvPr/>
        </p:nvSpPr>
        <p:spPr>
          <a:xfrm>
            <a:off x="658368" y="3611880"/>
            <a:ext cx="3291900" cy="639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9c05da9b1_0_268"/>
          <p:cNvSpPr/>
          <p:nvPr/>
        </p:nvSpPr>
        <p:spPr>
          <a:xfrm>
            <a:off x="4434840" y="3611880"/>
            <a:ext cx="3977700" cy="15087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28575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Servidor MCP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generate_terraform · apply_terraform · query_results …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— Traduz a intenção em chamadas ao pipeline existente.</a:t>
            </a:r>
            <a:endParaRPr/>
          </a:p>
        </p:txBody>
      </p:sp>
      <p:sp>
        <p:nvSpPr>
          <p:cNvPr id="515" name="Google Shape;515;g3f9c05da9b1_0_268"/>
          <p:cNvSpPr/>
          <p:nvPr/>
        </p:nvSpPr>
        <p:spPr>
          <a:xfrm>
            <a:off x="4434840" y="3611880"/>
            <a:ext cx="3977700" cy="639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g3f9c05da9b1_0_268"/>
          <p:cNvCxnSpPr/>
          <p:nvPr/>
        </p:nvCxnSpPr>
        <p:spPr>
          <a:xfrm>
            <a:off x="3950208" y="4366260"/>
            <a:ext cx="484500" cy="0"/>
          </a:xfrm>
          <a:prstGeom prst="straightConnector1">
            <a:avLst/>
          </a:prstGeom>
          <a:noFill/>
          <a:ln cap="flat" cmpd="sng" w="22225">
            <a:solidFill>
              <a:srgbClr val="1279BD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517" name="Google Shape;517;g3f9c05da9b1_0_268"/>
          <p:cNvCxnSpPr/>
          <p:nvPr/>
        </p:nvCxnSpPr>
        <p:spPr>
          <a:xfrm flipH="1" rot="10800000">
            <a:off x="6423659" y="3246191"/>
            <a:ext cx="457200" cy="347400"/>
          </a:xfrm>
          <a:prstGeom prst="straightConnector1">
            <a:avLst/>
          </a:prstGeom>
          <a:noFill/>
          <a:ln cap="flat" cmpd="sng" w="22225">
            <a:solidFill>
              <a:srgbClr val="1279BD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c05da9b1_0_4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9c05da9b1_0_455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9c05da9b1_0_45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Arquitetura de implantação 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9c05da9b1_0_4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9c05da9b1_0_4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f9c05da9b1_0_4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f9c05da9b1_0_455"/>
          <p:cNvSpPr txBox="1"/>
          <p:nvPr/>
        </p:nvSpPr>
        <p:spPr>
          <a:xfrm>
            <a:off x="658368" y="5486400"/>
            <a:ext cx="1087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Modelo C4 (Container) — zonas Local, GitLab CI/CD e AWS Cloud. Nos próximos slides, cada zona em detalhe. Figura 2 do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9c05da9b1_0_4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30" name="Google Shape;530;g3f9c05da9b1_0_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g3f9c05da9b1_0_4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32" name="Google Shape;532;g3f9c05da9b1_0_4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f9c05da9b1_0_4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34" name="Google Shape;534;g3f9c05da9b1_0_4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f9c05da9b1_0_45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9c05da9b1_0_4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37" name="Google Shape;537;g3f9c05da9b1_0_4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g3f9c05da9b1_0_45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-000.png" id="539" name="Google Shape;539;g3f9c05da9b1_0_4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4054" y="1828800"/>
            <a:ext cx="5980843" cy="352043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f9c05da9b1_0_455"/>
          <p:cNvSpPr txBox="1"/>
          <p:nvPr/>
        </p:nvSpPr>
        <p:spPr>
          <a:xfrm>
            <a:off x="658368" y="1517904"/>
            <a:ext cx="1088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Visão geral</a:t>
            </a: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   →   Aciona a geração   →   Guarda os artefatos   →   Extensões opcionais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9c05da9b1_0_54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9c05da9b1_0_543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9c05da9b1_0_54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Prova real — MCP em 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f9c05da9b1_0_54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f9c05da9b1_0_54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9c05da9b1_0_54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f9c05da9b1_0_543"/>
          <p:cNvSpPr txBox="1"/>
          <p:nvPr/>
        </p:nvSpPr>
        <p:spPr>
          <a:xfrm>
            <a:off x="658368" y="5426285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Capturas reais do vídeo de demonstração — Figura 3 do paper.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9c05da9b1_0_54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53" name="Google Shape;553;g3f9c05da9b1_0_5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f9c05da9b1_0_54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55" name="Google Shape;555;g3f9c05da9b1_0_5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f9c05da9b1_0_54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57" name="Google Shape;557;g3f9c05da9b1_0_5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f9c05da9b1_0_543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9c05da9b1_0_54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60" name="Google Shape;560;g3f9c05da9b1_0_5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f9c05da9b1_0_54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9c05da9b1_0_543"/>
          <p:cNvSpPr/>
          <p:nvPr/>
        </p:nvSpPr>
        <p:spPr>
          <a:xfrm>
            <a:off x="658368" y="1691640"/>
            <a:ext cx="4864500" cy="3570000"/>
          </a:xfrm>
          <a:prstGeom prst="roundRect">
            <a:avLst>
              <a:gd fmla="val 4500" name="adj"/>
            </a:avLst>
          </a:prstGeom>
          <a:solidFill>
            <a:srgbClr val="0F2369"/>
          </a:solidFill>
          <a:ln cap="flat" cmpd="sng" w="12700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f9c05da9b1_0_543"/>
          <p:cNvSpPr txBox="1"/>
          <p:nvPr/>
        </p:nvSpPr>
        <p:spPr>
          <a:xfrm>
            <a:off x="804672" y="1801368"/>
            <a:ext cx="45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PROMPT · CLAUDE CODE</a:t>
            </a:r>
            <a:endParaRPr/>
          </a:p>
        </p:txBody>
      </p:sp>
      <p:pic>
        <p:nvPicPr>
          <p:cNvPr descr="Picture_222_redacted.png" id="564" name="Google Shape;564;g3f9c05da9b1_0_5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4672" y="2167128"/>
            <a:ext cx="4572001" cy="2948261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f9c05da9b1_0_543"/>
          <p:cNvSpPr/>
          <p:nvPr/>
        </p:nvSpPr>
        <p:spPr>
          <a:xfrm>
            <a:off x="5657150" y="1691650"/>
            <a:ext cx="6458700" cy="2898600"/>
          </a:xfrm>
          <a:prstGeom prst="roundRect">
            <a:avLst>
              <a:gd fmla="val 4500" name="adj"/>
            </a:avLst>
          </a:prstGeom>
          <a:solidFill>
            <a:srgbClr val="0F2369"/>
          </a:solidFill>
          <a:ln cap="flat" cmpd="sng" w="13050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975" lIns="94000" spcFirstLastPara="1" rIns="94000" wrap="square" tIns="469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9c05da9b1_0_543"/>
          <p:cNvSpPr txBox="1"/>
          <p:nvPr/>
        </p:nvSpPr>
        <p:spPr>
          <a:xfrm>
            <a:off x="5807570" y="1804465"/>
            <a:ext cx="61578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42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RESPOSTA NO CHAT · ACHADOS DOS SCANNERS</a:t>
            </a:r>
            <a:endParaRPr sz="1439"/>
          </a:p>
        </p:txBody>
      </p:sp>
      <p:pic>
        <p:nvPicPr>
          <p:cNvPr descr="Picture_223_cropped.png" id="567" name="Google Shape;567;g3f9c05da9b1_0_5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07570" y="2180512"/>
            <a:ext cx="6157777" cy="2259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0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0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0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0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0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0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Como validamos 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0"/>
          <p:cNvSpPr txBox="1"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1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1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Configuração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93" name="Google Shape;593;p11"/>
          <p:cNvGraphicFramePr/>
          <p:nvPr/>
        </p:nvGraphicFramePr>
        <p:xfrm>
          <a:off x="658368" y="1682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{B273580B-B878-4A6B-A71D-4103AFF924EE}</a:tableStyleId>
              </a:tblPr>
              <a:tblGrid>
                <a:gridCol w="2377450"/>
                <a:gridCol w="4297675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Configuração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1</a:t>
                      </a: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modelo (GPT-5.4)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Cenários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3</a:t>
                      </a: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cenários Terraform AWS, com identificadores Checkov/Trivy esperados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Scanners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Checkov (conformidade de políticas) + Trivy (severidade de vulnerabilidades)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Parâmetros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Zero-shot, prompt </a:t>
                      </a: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L3 (Security detailed Level)</a:t>
                      </a: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, 1 repetição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11"/>
          <p:cNvSpPr/>
          <p:nvPr/>
        </p:nvSpPr>
        <p:spPr>
          <a:xfrm>
            <a:off x="7726679" y="1682496"/>
            <a:ext cx="3803904" cy="3401568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7726679" y="1682496"/>
            <a:ext cx="68580" cy="3401568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1"/>
          <p:cNvSpPr txBox="1"/>
          <p:nvPr/>
        </p:nvSpPr>
        <p:spPr>
          <a:xfrm>
            <a:off x="8037575" y="1920240"/>
            <a:ext cx="318211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Reprodutibilidade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Código, prompts, cenários e vídeo no GitLab (open-source).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98" name="Google Shape;5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1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00" name="Google Shape;6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1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02" name="Google Shape;60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1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05" name="Google Shape;6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1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607" name="Google Shape;60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3631" y="2940240"/>
            <a:ext cx="1250000" cy="12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1"/>
          <p:cNvSpPr txBox="1"/>
          <p:nvPr/>
        </p:nvSpPr>
        <p:spPr>
          <a:xfrm>
            <a:off x="8037575" y="4250240"/>
            <a:ext cx="3182112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aponte a câmera · repositório no GitLab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f9c05da9b1_0_64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9c05da9b1_0_644"/>
          <p:cNvSpPr txBox="1"/>
          <p:nvPr/>
        </p:nvSpPr>
        <p:spPr>
          <a:xfrm>
            <a:off x="658368" y="365760"/>
            <a:ext cx="1087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9c05da9b1_0_64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9c05da9b1_0_64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g3f9c05da9b1_0_64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9c05da9b1_0_64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9c05da9b1_0_64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21" name="Google Shape;621;g3f9c05da9b1_0_6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g3f9c05da9b1_0_64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23" name="Google Shape;623;g3f9c05da9b1_0_6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g3f9c05da9b1_0_64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25" name="Google Shape;625;g3f9c05da9b1_0_6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3f9c05da9b1_0_64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9c05da9b1_0_64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28" name="Google Shape;628;g3f9c05da9b1_0_6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f9c05da9b1_0_64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g3f9c05da9b1_0_644"/>
          <p:cNvSpPr/>
          <p:nvPr/>
        </p:nvSpPr>
        <p:spPr>
          <a:xfrm>
            <a:off x="658368" y="1783080"/>
            <a:ext cx="5308200" cy="23316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00" lIns="91425" spcFirstLastPara="1" rIns="91425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Trivy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 achados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Nenhuma vulnerabilidade de severidade crítica ou alta detectada.</a:t>
            </a:r>
            <a:endParaRPr sz="2400"/>
          </a:p>
        </p:txBody>
      </p:sp>
      <p:sp>
        <p:nvSpPr>
          <p:cNvPr id="631" name="Google Shape;631;g3f9c05da9b1_0_644"/>
          <p:cNvSpPr/>
          <p:nvPr/>
        </p:nvSpPr>
        <p:spPr>
          <a:xfrm>
            <a:off x="6222492" y="1783080"/>
            <a:ext cx="5308200" cy="2331600"/>
          </a:xfrm>
          <a:prstGeom prst="roundRect">
            <a:avLst>
              <a:gd fmla="val 8000" name="adj"/>
            </a:avLst>
          </a:prstGeom>
          <a:solidFill>
            <a:srgbClr val="F4F6FA"/>
          </a:solidFill>
          <a:ln cap="flat" cmpd="sng" w="15875">
            <a:solidFill>
              <a:srgbClr val="F7A8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000" lIns="91425" spcFirstLastPara="1" rIns="91425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Checkov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6 pendências de hardening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Missing lifecycle configuration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Missing event notifications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Missing cross-region replication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CKV2_AWS_61 · CKV2_AWS_62 · CKV_AWS_144</a:t>
            </a:r>
            <a:endParaRPr/>
          </a:p>
        </p:txBody>
      </p:sp>
      <p:sp>
        <p:nvSpPr>
          <p:cNvPr id="632" name="Google Shape;632;g3f9c05da9b1_0_644"/>
          <p:cNvSpPr txBox="1"/>
          <p:nvPr/>
        </p:nvSpPr>
        <p:spPr>
          <a:xfrm>
            <a:off x="658368" y="1458579"/>
            <a:ext cx="1088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DEMONSTRAÇÃO  ·  PIPELINE REDUZIDO VIA MCP (3 CENÁRIOS, 1 LLM, k=1)</a:t>
            </a:r>
            <a:endParaRPr/>
          </a:p>
        </p:txBody>
      </p:sp>
      <p:sp>
        <p:nvSpPr>
          <p:cNvPr id="633" name="Google Shape;633;g3f9c05da9b1_0_644"/>
          <p:cNvSpPr txBox="1"/>
          <p:nvPr/>
        </p:nvSpPr>
        <p:spPr>
          <a:xfrm>
            <a:off x="658368" y="5621559"/>
            <a:ext cx="1088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Demonstração com pipeline reduzido — o estudo completo (7 modelos × 17 cenários) está no paper complementar</a:t>
            </a:r>
            <a:r>
              <a:rPr i="1" lang="en-US" sz="1500">
                <a:solidFill>
                  <a:srgbClr val="6B7280"/>
                </a:solidFill>
              </a:rPr>
              <a:t>.</a:t>
            </a:r>
            <a:endParaRPr/>
          </a:p>
        </p:txBody>
      </p:sp>
      <p:pic>
        <p:nvPicPr>
          <p:cNvPr descr="fig-002.png" id="634" name="Google Shape;634;g3f9c05da9b1_0_6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8115" y="4206240"/>
            <a:ext cx="10332720" cy="1323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a15364e4f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g3fa15364e4f_0_0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a15364e4f_0_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— 3 cenários (gpt-5.4)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a15364e4f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a15364e4f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a15364e4f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a15364e4f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46" name="Google Shape;646;g3fa15364e4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g3fa15364e4f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48" name="Google Shape;648;g3fa15364e4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g3fa15364e4f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50" name="Google Shape;650;g3fa15364e4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g3fa15364e4f_0_0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fa15364e4f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53" name="Google Shape;653;g3fa15364e4f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3fa15364e4f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fa15364e4f_0_0"/>
          <p:cNvSpPr txBox="1"/>
          <p:nvPr/>
        </p:nvSpPr>
        <p:spPr>
          <a:xfrm>
            <a:off x="658368" y="1481328"/>
            <a:ext cx="1088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DEMONSTRAÇÃO AMPLIADA  ·  MESMO PIPELINE VIA MCP (gpt-5.4, k=1, 3 CENÁRIOS)</a:t>
            </a:r>
            <a:endParaRPr/>
          </a:p>
        </p:txBody>
      </p:sp>
      <p:sp>
        <p:nvSpPr>
          <p:cNvPr id="656" name="Google Shape;656;g3fa15364e4f_0_0"/>
          <p:cNvSpPr txBox="1"/>
          <p:nvPr/>
        </p:nvSpPr>
        <p:spPr>
          <a:xfrm>
            <a:off x="658368" y="5486400"/>
            <a:ext cx="1088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Mesma demonstração da página anterior, agora nos 3 cenários do benchmark_test.yaml — sintaxe válida (fmt/validate) não garante conformidade de segurança.</a:t>
            </a:r>
            <a:endParaRPr/>
          </a:p>
        </p:txBody>
      </p:sp>
      <p:pic>
        <p:nvPicPr>
          <p:cNvPr descr="image.png" id="657" name="Google Shape;657;g3fa15364e4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1810512"/>
            <a:ext cx="10872217" cy="3466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3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3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Dados</a:t>
            </a: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3200">
                <a:solidFill>
                  <a:srgbClr val="0F2369"/>
                </a:solidFill>
              </a:rPr>
              <a:t>do benchmark onde a solução foi aplicada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3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658375" y="1993400"/>
            <a:ext cx="3442200" cy="3792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3"/>
          <p:cNvSpPr/>
          <p:nvPr/>
        </p:nvSpPr>
        <p:spPr>
          <a:xfrm>
            <a:off x="658368" y="1993392"/>
            <a:ext cx="3442106" cy="6858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 txBox="1"/>
          <p:nvPr/>
        </p:nvSpPr>
        <p:spPr>
          <a:xfrm>
            <a:off x="950964" y="2179631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"/>
          <p:cNvSpPr txBox="1"/>
          <p:nvPr/>
        </p:nvSpPr>
        <p:spPr>
          <a:xfrm>
            <a:off x="950976" y="3010935"/>
            <a:ext cx="28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Modelos avaliados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3"/>
          <p:cNvSpPr txBox="1"/>
          <p:nvPr/>
        </p:nvSpPr>
        <p:spPr>
          <a:xfrm>
            <a:off x="950976" y="3431559"/>
            <a:ext cx="2856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 LLMs (API) + 4 SLMs (inferência local), no mesmo pipeline.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4374799" y="1993400"/>
            <a:ext cx="3442200" cy="3792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4374794" y="1993392"/>
            <a:ext cx="3442106" cy="6858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3"/>
          <p:cNvSpPr txBox="1"/>
          <p:nvPr/>
        </p:nvSpPr>
        <p:spPr>
          <a:xfrm>
            <a:off x="4667390" y="2179631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3"/>
          <p:cNvSpPr txBox="1"/>
          <p:nvPr/>
        </p:nvSpPr>
        <p:spPr>
          <a:xfrm>
            <a:off x="4667402" y="3010935"/>
            <a:ext cx="28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Cenários AWS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3"/>
          <p:cNvSpPr txBox="1"/>
          <p:nvPr/>
        </p:nvSpPr>
        <p:spPr>
          <a:xfrm>
            <a:off x="4667402" y="3431559"/>
            <a:ext cx="2856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Terraform cobrindo múltiplos recursos e níveis de especificidade.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8091224" y="1993400"/>
            <a:ext cx="3442200" cy="37926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8091220" y="1993392"/>
            <a:ext cx="3442106" cy="6858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3"/>
          <p:cNvSpPr txBox="1"/>
          <p:nvPr/>
        </p:nvSpPr>
        <p:spPr>
          <a:xfrm>
            <a:off x="8383816" y="2179631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3.570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3"/>
          <p:cNvSpPr txBox="1"/>
          <p:nvPr/>
        </p:nvSpPr>
        <p:spPr>
          <a:xfrm>
            <a:off x="8383828" y="3010935"/>
            <a:ext cx="285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Avaliações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3"/>
          <p:cNvSpPr txBox="1"/>
          <p:nvPr/>
        </p:nvSpPr>
        <p:spPr>
          <a:xfrm>
            <a:off x="8383825" y="3431550"/>
            <a:ext cx="3149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Sintaxe e segurança se mostraram propriedades amplamente independentes.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85" name="Google Shape;6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1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87" name="Google Shape;6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89" name="Google Shape;6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3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92" name="Google Shape;6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3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4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4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O que os resultados sustentam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4"/>
          <p:cNvSpPr txBox="1"/>
          <p:nvPr/>
        </p:nvSpPr>
        <p:spPr>
          <a:xfrm>
            <a:off x="658368" y="2050000"/>
            <a:ext cx="10874959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Validade sintática e conformidade de segurança são propriedades amplamente independentes.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80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pipeline automatiza geração, validação, varredura, avaliação e relatório sem alterar código.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800"/>
              </a:spcBef>
              <a:spcAft>
                <a:spcPts val="0"/>
              </a:spcAft>
              <a:buClr>
                <a:srgbClr val="0A866E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extensão a novos modelos, cenários e scanners é puramente declarativa (YAML).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07" name="Google Shape;7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1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09" name="Google Shape;7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1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11" name="Google Shape;7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14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14" name="Google Shape;7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4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9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9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9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Ameaças à validade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9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9"/>
          <p:cNvSpPr txBox="1"/>
          <p:nvPr/>
        </p:nvSpPr>
        <p:spPr>
          <a:xfrm>
            <a:off x="658368" y="2050000"/>
            <a:ext cx="10874959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Cobertura limitada a Terraform e AWS; outras linguagens exigem novos adaptadores.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80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Estágio 6 (Revise) faz uma rodada por vez; múltiplas rodadas exigem novo disparo manual.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800"/>
              </a:spcBef>
              <a:spcAft>
                <a:spcPts val="0"/>
              </a:spcAft>
              <a:buClr>
                <a:srgbClr val="F7A823"/>
              </a:buClr>
              <a:buSzPts val="17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Testes estatísticos (Wilson, Bonferroni) rodam como pós-processamento, fora do Estágio 5.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28" name="Google Shape;7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9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30" name="Google Shape;7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19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32" name="Google Shape;7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19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9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35" name="Google Shape;7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9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5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5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5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fica e para onde vamos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5"/>
          <p:cNvSpPr txBox="1"/>
          <p:nvPr/>
        </p:nvSpPr>
        <p:spPr>
          <a:xfrm>
            <a:off x="10984687" y="6199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6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6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658375" y="2066550"/>
            <a:ext cx="3442200" cy="3363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658368" y="2066544"/>
            <a:ext cx="68580" cy="3145536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6"/>
          <p:cNvSpPr txBox="1"/>
          <p:nvPr/>
        </p:nvSpPr>
        <p:spPr>
          <a:xfrm>
            <a:off x="969264" y="2304288"/>
            <a:ext cx="28203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Pipeline security-first com dual-scanner e MCP conversacional.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4374800" y="2066551"/>
            <a:ext cx="3442200" cy="3363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6"/>
          <p:cNvSpPr/>
          <p:nvPr/>
        </p:nvSpPr>
        <p:spPr>
          <a:xfrm>
            <a:off x="4374794" y="2066544"/>
            <a:ext cx="68580" cy="3145536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6"/>
          <p:cNvSpPr txBox="1"/>
          <p:nvPr/>
        </p:nvSpPr>
        <p:spPr>
          <a:xfrm>
            <a:off x="4685690" y="2304288"/>
            <a:ext cx="28203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 modelos, 17 cenários, 3.570 avaliações: segurança ≠ sintaxe.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6"/>
          <p:cNvSpPr/>
          <p:nvPr/>
        </p:nvSpPr>
        <p:spPr>
          <a:xfrm>
            <a:off x="8091225" y="2066551"/>
            <a:ext cx="3442200" cy="3363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8091220" y="2066544"/>
            <a:ext cx="68580" cy="3145536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6"/>
          <p:cNvSpPr txBox="1"/>
          <p:nvPr/>
        </p:nvSpPr>
        <p:spPr>
          <a:xfrm>
            <a:off x="8402116" y="2304288"/>
            <a:ext cx="28203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DevSecOps corrige gaps antes da produção; uso educacional.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72" name="Google Shape;7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74" name="Google Shape;7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1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76" name="Google Shape;7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16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79" name="Google Shape;7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1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7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7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7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7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7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7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7"/>
          <p:cNvSpPr txBox="1"/>
          <p:nvPr/>
        </p:nvSpPr>
        <p:spPr>
          <a:xfrm>
            <a:off x="658368" y="1773936"/>
            <a:ext cx="6675000" cy="4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4551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web para análise interativa de conformidade.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Suporte plugável a CloudFormation, Pulumi, Ansible e OPA/Rego.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Revisão automática multi-rodada, preservando o humano no loop por padrão.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0" i="0" lang="en-US" sz="2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API REST multiusuário e integração dos testes estatísticos ao Estágio 5.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7"/>
          <p:cNvSpPr/>
          <p:nvPr/>
        </p:nvSpPr>
        <p:spPr>
          <a:xfrm>
            <a:off x="7726679" y="1682496"/>
            <a:ext cx="3803904" cy="36027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7"/>
          <p:cNvSpPr/>
          <p:nvPr/>
        </p:nvSpPr>
        <p:spPr>
          <a:xfrm>
            <a:off x="7726679" y="1682496"/>
            <a:ext cx="68580" cy="3602736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7"/>
          <p:cNvSpPr txBox="1"/>
          <p:nvPr/>
        </p:nvSpPr>
        <p:spPr>
          <a:xfrm>
            <a:off x="8037575" y="1920240"/>
            <a:ext cx="3182112" cy="3127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Colabore com o AI Horizon Labs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16"/>
                </a:ext>
              </a:extLst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  <a:t>IA aplicada à Engenharia de Software, Cibersegurança e IaC.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textRoundtripDataId="18"/>
                </a:ext>
              </a:extLst>
            </a:endParaRPr>
          </a:p>
        </p:txBody>
      </p:sp>
      <p:sp>
        <p:nvSpPr>
          <p:cNvPr id="796" name="Google Shape;796;p17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97" name="Google Shape;7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17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99" name="Google Shape;7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7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01" name="Google Shape;8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17"/>
          <p:cNvSpPr txBox="1"/>
          <p:nvPr/>
        </p:nvSpPr>
        <p:spPr>
          <a:xfrm>
            <a:off x="11030407" y="6373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7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04" name="Google Shape;80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17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06" name="Google Shape;80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3631" y="3420240"/>
            <a:ext cx="1150000" cy="11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7"/>
          <p:cNvSpPr txBox="1"/>
          <p:nvPr/>
        </p:nvSpPr>
        <p:spPr>
          <a:xfrm>
            <a:off x="8037575" y="4630240"/>
            <a:ext cx="3182112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ai-horizon-labs.github.io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40320ea5c_0_21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g3f40320ea5c_0_217"/>
          <p:cNvSpPr txBox="1"/>
          <p:nvPr/>
        </p:nvSpPr>
        <p:spPr>
          <a:xfrm>
            <a:off x="658368" y="365760"/>
            <a:ext cx="1087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g3f40320ea5c_0_21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artefato recebeu os quatro selos do CTA/SBSeg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g3f40320ea5c_0_21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g3f40320ea5c_0_21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40320ea5c_0_21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3f40320ea5c_0_21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19" name="Google Shape;819;g3f40320ea5c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g3f40320ea5c_0_21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21" name="Google Shape;821;g3f40320ea5c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g3f40320ea5c_0_21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23" name="Google Shape;823;g3f40320ea5c_0_2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f40320ea5c_0_21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40320ea5c_0_21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26" name="Google Shape;826;g3f40320ea5c_0_2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g3f40320ea5c_0_21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lo_disponiveis.png" id="828" name="Google Shape;828;g3f40320ea5c_0_2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2801588"/>
            <a:ext cx="2512998" cy="251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o_funcionais.png" id="829" name="Google Shape;829;g3f40320ea5c_0_2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45687" y="2801588"/>
            <a:ext cx="2512998" cy="251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o_sustentaveis.png" id="830" name="Google Shape;830;g3f40320ea5c_0_2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3006" y="2801588"/>
            <a:ext cx="2512998" cy="2512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o_reprodutiveis.png" id="831" name="Google Shape;831;g3f40320ea5c_0_2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20325" y="2801588"/>
            <a:ext cx="2512998" cy="251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18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8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18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658368" y="123444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8"/>
          <p:cNvSpPr/>
          <p:nvPr/>
        </p:nvSpPr>
        <p:spPr>
          <a:xfrm>
            <a:off x="658368" y="23957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8"/>
          <p:cNvSpPr txBox="1"/>
          <p:nvPr/>
        </p:nvSpPr>
        <p:spPr>
          <a:xfrm>
            <a:off x="658368" y="2670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8"/>
          <p:cNvSpPr txBox="1"/>
          <p:nvPr/>
        </p:nvSpPr>
        <p:spPr>
          <a:xfrm>
            <a:off x="658368" y="3310128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8"/>
          <p:cNvSpPr txBox="1"/>
          <p:nvPr/>
        </p:nvSpPr>
        <p:spPr>
          <a:xfrm>
            <a:off x="658368" y="3602736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 Luis Santos Vargas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francisvargas.aluno@unipampa.edu.br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8"/>
          <p:cNvSpPr/>
          <p:nvPr/>
        </p:nvSpPr>
        <p:spPr>
          <a:xfrm>
            <a:off x="649224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8"/>
          <p:cNvSpPr txBox="1"/>
          <p:nvPr/>
        </p:nvSpPr>
        <p:spPr>
          <a:xfrm>
            <a:off x="649224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8"/>
          <p:cNvSpPr/>
          <p:nvPr/>
        </p:nvSpPr>
        <p:spPr>
          <a:xfrm>
            <a:off x="841248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841248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vídeo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52" name="Google Shape;8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853" name="Google Shape;8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854" name="Google Shape;8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855" name="Google Shape;8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856" name="Google Shape;8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857" name="Google Shape;8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repo.png" id="858" name="Google Shape;85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2333" y="3356213"/>
            <a:ext cx="1352580" cy="1352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video.png" id="859" name="Google Shape;85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22573" y="3356213"/>
            <a:ext cx="1352580" cy="135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f9c05da9b1_0_49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f9c05da9b1_0_499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f9c05da9b1_0_49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Onde os artefatos ficam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f9c05da9b1_0_49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9c05da9b1_0_49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g3f9c05da9b1_0_49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g3f9c05da9b1_0_499"/>
          <p:cNvSpPr txBox="1"/>
          <p:nvPr/>
        </p:nvSpPr>
        <p:spPr>
          <a:xfrm>
            <a:off x="658368" y="4590339"/>
            <a:ext cx="1087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Zoom 2 de 3 — Container Registry guarda a imagem do runner; GitLab Pages publica relatórios e heatmaps; AWS S3 Backend guarda o state isolado por execução.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f9c05da9b1_0_49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72" name="Google Shape;872;g3f9c05da9b1_0_4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g3f9c05da9b1_0_49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74" name="Google Shape;874;g3f9c05da9b1_0_4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g3f9c05da9b1_0_49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76" name="Google Shape;876;g3f9c05da9b1_0_4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g3f9c05da9b1_0_499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g3f9c05da9b1_0_49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79" name="Google Shape;879;g3f9c05da9b1_0_4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g3f9c05da9b1_0_49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9c05da9b1_0_499"/>
          <p:cNvSpPr txBox="1"/>
          <p:nvPr/>
        </p:nvSpPr>
        <p:spPr>
          <a:xfrm>
            <a:off x="658368" y="1517904"/>
            <a:ext cx="1088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Visão geral   →   Aciona a geração   →   </a:t>
            </a: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Guarda os artefatos</a:t>
            </a: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   →   Extensões opcionais</a:t>
            </a:r>
            <a:endParaRPr/>
          </a:p>
        </p:txBody>
      </p:sp>
      <p:pic>
        <p:nvPicPr>
          <p:cNvPr descr="arch_row2.png" id="882" name="Google Shape;882;g3f9c05da9b1_0_4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2221940"/>
            <a:ext cx="10872216" cy="2231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9c05da9b1_0_52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g3f9c05da9b1_0_521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g3f9c05da9b1_0_52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Extensões de infraestrutura opcionais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g3f9c05da9b1_0_52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g3f9c05da9b1_0_52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g3f9c05da9b1_0_52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g3f9c05da9b1_0_521"/>
          <p:cNvSpPr txBox="1"/>
          <p:nvPr/>
        </p:nvSpPr>
        <p:spPr>
          <a:xfrm>
            <a:off x="658368" y="4597945"/>
            <a:ext cx="1087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Zoom 3 de 3 — extensões opcionais: EC2 para SLMs locais (llama-server/GGUF) e AWS Sandbox para infraestrutura real provisionada sob demanda.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3f9c05da9b1_0_52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95" name="Google Shape;895;g3f9c05da9b1_0_5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g3f9c05da9b1_0_52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97" name="Google Shape;897;g3f9c05da9b1_0_5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g3f9c05da9b1_0_52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99" name="Google Shape;899;g3f9c05da9b1_0_5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g3f9c05da9b1_0_521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g3f9c05da9b1_0_52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02" name="Google Shape;902;g3f9c05da9b1_0_5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g3f9c05da9b1_0_52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g3f9c05da9b1_0_521"/>
          <p:cNvSpPr txBox="1"/>
          <p:nvPr/>
        </p:nvSpPr>
        <p:spPr>
          <a:xfrm>
            <a:off x="658368" y="1517904"/>
            <a:ext cx="1088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Visão geral   →   Aciona a geração   →   Guarda os artefatos   →   </a:t>
            </a: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Extensões opcionais</a:t>
            </a:r>
            <a:endParaRPr/>
          </a:p>
        </p:txBody>
      </p:sp>
      <p:pic>
        <p:nvPicPr>
          <p:cNvPr descr="arch_row3.png" id="905" name="Google Shape;905;g3f9c05da9b1_0_5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2214334"/>
            <a:ext cx="10872215" cy="224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f9c05da9b1_0_4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f9c05da9b1_0_477"/>
          <p:cNvSpPr txBox="1"/>
          <p:nvPr/>
        </p:nvSpPr>
        <p:spPr>
          <a:xfrm>
            <a:off x="658368" y="365760"/>
            <a:ext cx="1087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f9c05da9b1_0_4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Como o pipeline é acionado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f9c05da9b1_0_4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f9c05da9b1_0_4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9c05da9b1_0_4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3f9c05da9b1_0_477"/>
          <p:cNvSpPr txBox="1"/>
          <p:nvPr/>
        </p:nvSpPr>
        <p:spPr>
          <a:xfrm>
            <a:off x="658368" y="4374821"/>
            <a:ext cx="1087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Zoom 1 de 3 — o cliente MCP aciona o MCP Server, que dispara o pipeline GitLab CI/CD; o pipeline chama as LLM Provider APIs para gerar o Terraform.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9c05da9b1_0_4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18" name="Google Shape;918;g3f9c05da9b1_0_4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g3f9c05da9b1_0_4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20" name="Google Shape;920;g3f9c05da9b1_0_4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g3f9c05da9b1_0_4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22" name="Google Shape;922;g3f9c05da9b1_0_4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g3f9c05da9b1_0_47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g3f9c05da9b1_0_4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25" name="Google Shape;925;g3f9c05da9b1_0_4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3f9c05da9b1_0_4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9c05da9b1_0_477"/>
          <p:cNvSpPr txBox="1"/>
          <p:nvPr/>
        </p:nvSpPr>
        <p:spPr>
          <a:xfrm>
            <a:off x="658368" y="1517904"/>
            <a:ext cx="1088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Visão geral   →   </a:t>
            </a: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Aciona a geração</a:t>
            </a:r>
            <a:r>
              <a:rPr b="0" i="0" lang="en-US" sz="1600" u="none" cap="none" strike="noStrike">
                <a:solidFill>
                  <a:srgbClr val="A3AAB7"/>
                </a:solidFill>
                <a:latin typeface="Arial"/>
                <a:ea typeface="Arial"/>
                <a:cs typeface="Arial"/>
                <a:sym typeface="Arial"/>
              </a:rPr>
              <a:t>   →   Guarda os artefatos   →   Extensões opcionais</a:t>
            </a:r>
            <a:endParaRPr/>
          </a:p>
        </p:txBody>
      </p:sp>
      <p:pic>
        <p:nvPicPr>
          <p:cNvPr descr="arch_row1.png" id="928" name="Google Shape;928;g3f9c05da9b1_0_4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68" y="2437458"/>
            <a:ext cx="10872218" cy="1800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
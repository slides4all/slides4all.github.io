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/Rp7ttQrgxdBMkGcssGLUAYRGm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Leonardo de Jesus Bitzki"/>
  <p:cmAuthor clrIdx="1" id="1" initials="" lastIdx="11" name="Diego Luis Kreut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A79D05-37DF-4EF1-B04F-CED29E2924E0}">
  <a:tblStyle styleId="{7AA79D05-37DF-4EF1-B04F-CED29E2924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2T16:55:23.348">
    <p:pos x="6000" y="0"/>
    <p:text>Vídeo gerado pelo Google Slides: Renderizado: https://drive.google.com/file/d/1zLigbhPLpe-ke_OceLklUK77YFKyIZ8e/view?usp=vids_web
Editável: https://docs.google.com/videos/d/1lnVafKeIOUkYIZkg8auB6zFOiMJ1JW3XUXhUvEv-7bw/play?usp=sharing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18luNk"/>
      </p:ext>
    </p:extLst>
  </p:cm>
  <p:cm authorId="0" idx="2" dt="2026-08-22T16:44:29.815">
    <p:pos x="6000" y="100"/>
    <p:text>Programação SF:
Apresentação: 8º trabalho na SEXTA-FEIRA, 04 /09, Bloco 1, 09:00 - 10:30
Demonstração: 1º trabalho na QUARTA-FEIRA, 02/09, Sessão 2: Detecção, Ataques e Segurança, 16:00 - 16:45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18luNo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8-19T18:01:21.422">
    <p:pos x="610" y="2338"/>
    <p:text>eu focaria em estatísticas de ataques e tráfego de rede ao invés de investimentos. fica mais relacionado ao problema.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-o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8-19T18:02:33.889">
    <p:pos x="351" y="1122"/>
    <p:text>eu reduziria a itens curtos ao invés de frases longas. exemplo: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-s"/>
      </p:ext>
    </p:extLst>
  </p:cm>
  <p:cm authorId="1" idx="3" dt="2026-08-19T18:02:33.889">
    <p:pos x="351" y="1122"/>
    <p:text>Envelhecimento dos datasets com a evolução de serviços e ataques</p:text>
    <p:extLst>
      <p:ext uri="{C676402C-5697-4E1C-873F-D02D1690AC5C}">
        <p15:threadingInfo timeZoneBias="0">
          <p15:parentCm authorId="1" idx="2"/>
        </p15:threadingInfo>
      </p:ext>
      <p:ext uri="http://customooxmlschemas.google.com/">
        <go:slidesCustomData xmlns:go="http://customooxmlschemas.google.com/" commentPostId="AAACFx8VN-w"/>
      </p:ext>
    </p:extLst>
  </p:cm>
  <p:cm authorId="1" idx="4" dt="2026-08-19T18:05:14.824">
    <p:pos x="4701" y="919"/>
    <p:text>não sei se a figura ficou tão representativa assim. talvez, tentar usar uma LLM para gerar algumas variações que ficam mais "evidentes"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-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5" dt="2026-08-19T18:08:44.330">
    <p:pos x="310" y="1227"/>
    <p:text>parece interessante apresentar de forma gradual e progressiva. 3 partes = 3 slides. a própria LLM consegue fazer bem essa transição gradual nos slides.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A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6" dt="2026-08-19T18:11:32.276">
    <p:pos x="414" y="391"/>
    <p:text>aqui dá pra destacar o que há de novo em relação a outras soluções. até reforçar eventualmente alguma limitação de outras.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I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7" dt="2026-08-19T18:11:32.276">
    <p:pos x="414" y="391"/>
    <p:text>aqui dá pra destacar o que há de novo em relação a outras soluções. até reforçar eventualmente alguma limitação de outras.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I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8" dt="2026-08-19T18:13:47.090">
    <p:pos x="414" y="1059"/>
    <p:text>as fontes das tabelas não estão uniformes. além disso, acho que poderiam ser um pouco maior nas tabelas.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M"/>
      </p:ext>
    </p:extLst>
  </p:cm>
  <p:cm authorId="1" idx="9" dt="2026-08-19T18:13:47.090">
    <p:pos x="414" y="1059"/>
    <p:text>talvez também alguma figura do setup experimental.</p:text>
    <p:extLst>
      <p:ext uri="{C676402C-5697-4E1C-873F-D02D1690AC5C}">
        <p15:threadingInfo timeZoneBias="0">
          <p15:parentCm authorId="1" idx="8"/>
        </p15:threadingInfo>
      </p:ext>
      <p:ext uri="http://customooxmlschemas.google.com/">
        <go:slidesCustomData xmlns:go="http://customooxmlschemas.google.com/" commentPostId="AAACFx8VN_Q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0" dt="2026-08-19T18:14:41.456">
    <p:pos x="414" y="391"/>
    <p:text>parece que faltou um slide anterior falando um pouco mais dos resultados e descobertas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U"/>
      </p:ext>
    </p:extLst>
  </p:cm>
  <p:cm authorId="1" idx="11" dt="2026-08-19T18:15:51.230">
    <p:pos x="3966" y="1370"/>
    <p:text>talvez, também não misturar resultados e limitações num único slide.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x8VN_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Capa. Da capa, vá direto para o problema: nada de slide de agenda.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17" name="Google Shape;11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Divisória de seção. Use no máximo 15 a 20 segundos aqui.</a:t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Duplique este slide e destaque uma etapa de cada vez.</a:t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74e20ae5_0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f774e20ae5_0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Duplique este slide e destaque uma etapa de cada vez.</a:t>
            </a:r>
            <a:endParaRPr/>
          </a:p>
        </p:txBody>
      </p:sp>
      <p:sp>
        <p:nvSpPr>
          <p:cNvPr id="219" name="Google Shape;219;g3f774e20ae5_0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774e20ae5_0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f774e20ae5_0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Duplique este slide e destaque uma etapa de cada vez.</a:t>
            </a:r>
            <a:endParaRPr/>
          </a:p>
        </p:txBody>
      </p:sp>
      <p:sp>
        <p:nvSpPr>
          <p:cNvPr id="245" name="Google Shape;245;g3f774e20ae5_0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Contribuição e resultados devem ocupar cerca de 45% do tempo.</a:t>
            </a:r>
            <a:endParaRPr/>
          </a:p>
        </p:txBody>
      </p:sp>
      <p:sp>
        <p:nvSpPr>
          <p:cNvPr id="271" name="Google Shape;27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3f70f57dc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f3f70f57dc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Contribuição e resultados devem ocupar cerca de 45% do tempo.</a:t>
            </a:r>
            <a:endParaRPr/>
          </a:p>
        </p:txBody>
      </p:sp>
      <p:sp>
        <p:nvSpPr>
          <p:cNvPr id="297" name="Google Shape;297;g3f3f70f57dc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Informe tudo que um terceiro precisaria para repetir o experimento.</a:t>
            </a:r>
            <a:endParaRPr/>
          </a:p>
        </p:txBody>
      </p:sp>
      <p:sp>
        <p:nvSpPr>
          <p:cNvPr id="339" name="Google Shape;3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Números grandes são lidos até no celular. Use este slide como fecho da avaliação.</a:t>
            </a:r>
            <a:endParaRPr/>
          </a:p>
        </p:txBody>
      </p:sp>
      <p:sp>
        <p:nvSpPr>
          <p:cNvPr id="378" name="Google Shape;37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Antecipar limitações fortalece a apresentação e reduz perguntas hostis.</a:t>
            </a:r>
            <a:endParaRPr/>
          </a:p>
        </p:txBody>
      </p:sp>
      <p:sp>
        <p:nvSpPr>
          <p:cNvPr id="416" name="Google Shape;4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Conclusões e trabalhos futuros: cerca de 10% do tempo. Repita a mensagem central.</a:t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Simplifique a tabela. Se ficar densa, quebre em dois slides.</a:t>
            </a:r>
            <a:endParaRPr/>
          </a:p>
        </p:txBody>
      </p:sp>
      <p:sp>
        <p:nvSpPr>
          <p:cNvPr id="490" name="Google Shape;4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Encerre com um convite claro à colaboração.</a:t>
            </a:r>
            <a:endParaRPr/>
          </a:p>
        </p:txBody>
      </p:sp>
      <p:sp>
        <p:nvSpPr>
          <p:cNvPr id="516" name="Google Shape;51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540" name="Google Shape;54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2.png"/><Relationship Id="rId13" Type="http://schemas.openxmlformats.org/officeDocument/2006/relationships/image" Target="../media/image7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6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8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2.png"/><Relationship Id="rId13" Type="http://schemas.openxmlformats.org/officeDocument/2006/relationships/image" Target="../media/image7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5" Type="http://schemas.openxmlformats.org/officeDocument/2006/relationships/image" Target="../media/image16.png"/><Relationship Id="rId1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58368" y="4754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58368" y="804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58368" y="1353312"/>
            <a:ext cx="8138100" cy="1678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</a:rPr>
              <a:t>AttackZoo: </a:t>
            </a:r>
            <a:r>
              <a:rPr b="1" lang="en-US" sz="3400">
                <a:solidFill>
                  <a:srgbClr val="FFFFFF"/>
                </a:solidFill>
              </a:rPr>
              <a:t>A Reproducible Testbed for Attack Execution and Network Traffic Dataset Generation</a:t>
            </a:r>
            <a:endParaRPr b="1" sz="34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658368" y="3602736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658375" y="4267617"/>
            <a:ext cx="968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Leonardo Bitzki, Diego Kreutz, Leandro Bertholdo, Cristhian Kapelinski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58368" y="4669958"/>
            <a:ext cx="8412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EBBDA"/>
                </a:solidFill>
              </a:rPr>
              <a:t>Programa de Pós-Graduação em Engenharia de Software (PPGES)</a:t>
            </a:r>
            <a:endParaRPr sz="1800">
              <a:solidFill>
                <a:srgbClr val="AEBBDA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EBBDA"/>
                </a:solidFill>
              </a:rPr>
              <a:t>AI Horizon Labs · Universidade Federal do Pampa (UNIPAMPA) e</a:t>
            </a:r>
            <a:endParaRPr sz="1800">
              <a:solidFill>
                <a:srgbClr val="AEBBDA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EBBDA"/>
                </a:solidFill>
              </a:rPr>
              <a:t>Universidade Federal do Rio Grande do Sul (UFRGS)</a:t>
            </a:r>
            <a:endParaRPr sz="1800">
              <a:solidFill>
                <a:srgbClr val="AEBBDA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74" y="6088956"/>
            <a:ext cx="2061626" cy="503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7527" y="5841796"/>
            <a:ext cx="1342519" cy="8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0566" y="5841799"/>
            <a:ext cx="937975" cy="9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79700" y="5926350"/>
            <a:ext cx="516225" cy="7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1250" y="5948075"/>
            <a:ext cx="757586" cy="7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2175" y="5955030"/>
            <a:ext cx="1402200" cy="777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 title="ufrgs_co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87854" y="5904507"/>
            <a:ext cx="1087109" cy="82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title="Selo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99167" y="103662"/>
            <a:ext cx="688201" cy="6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 title="SeloF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085559" y="103662"/>
            <a:ext cx="688201" cy="688784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pic>
        <p:nvPicPr>
          <p:cNvPr id="112" name="Google Shape;112;p1" title="Selo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773757" y="91450"/>
            <a:ext cx="688201" cy="688790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pic>
        <p:nvPicPr>
          <p:cNvPr id="113" name="Google Shape;113;p1" title="SeloR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461956" y="103650"/>
            <a:ext cx="688201" cy="688787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A866E"/>
                </a:solidFill>
              </a:rPr>
              <a:t>INTRODUÇÃO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58368" y="1737360"/>
            <a:ext cx="1033272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Gerar datasets de tráfego atuais e comparáveis ainda exige fluxos fragmentados, pouco reprodutíveis e com cobertura limitada de ataques.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58368" y="33101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58368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58368" y="3621024"/>
            <a:ext cx="68580" cy="2084831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969275" y="3712475"/>
            <a:ext cx="30894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F2369"/>
                </a:solidFill>
              </a:rPr>
              <a:t>8,8 ZB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2369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Tráfego global em 2025*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6B7280"/>
                </a:solidFill>
              </a:rPr>
              <a:t>7,3 ZB internet fixa</a:t>
            </a:r>
            <a:br>
              <a:rPr lang="en-US" sz="1800">
                <a:solidFill>
                  <a:srgbClr val="6B7280"/>
                </a:solidFill>
              </a:rPr>
            </a:br>
            <a:r>
              <a:rPr lang="en-US" sz="1800">
                <a:solidFill>
                  <a:srgbClr val="6B7280"/>
                </a:solidFill>
              </a:rPr>
              <a:t>1,5 ZB internet móvel</a:t>
            </a:r>
            <a:endParaRPr sz="1800">
              <a:solidFill>
                <a:srgbClr val="6B7280"/>
              </a:solidFill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374794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374794" y="3621024"/>
            <a:ext cx="68580" cy="2084831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4685700" y="3712350"/>
            <a:ext cx="30672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279BD"/>
                </a:solidFill>
              </a:rPr>
              <a:t>1.925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2369"/>
                </a:solidFill>
              </a:rPr>
              <a:t>Ataques por semana**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6B7280"/>
                </a:solidFill>
              </a:rPr>
              <a:t>Média de ataques por cada dispositivo </a:t>
            </a:r>
            <a:r>
              <a:rPr lang="en-US" sz="1800">
                <a:solidFill>
                  <a:srgbClr val="6B7280"/>
                </a:solidFill>
              </a:rPr>
              <a:t>corporativo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091220" y="3621024"/>
            <a:ext cx="3442106" cy="2084831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8091220" y="3621024"/>
            <a:ext cx="68580" cy="2084831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8402125" y="3712350"/>
            <a:ext cx="28203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A866E"/>
                </a:solidFill>
              </a:rPr>
              <a:t>39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accent1"/>
                </a:solidFill>
              </a:rPr>
              <a:t>Bilhões***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5"/>
                </a:solidFill>
              </a:rPr>
              <a:t>Projeção</a:t>
            </a:r>
            <a:r>
              <a:rPr lang="en-US" sz="1800">
                <a:solidFill>
                  <a:schemeClr val="accent5"/>
                </a:solidFill>
              </a:rPr>
              <a:t> de dispositivos IoT em 2030.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"/>
          <p:cNvSpPr/>
          <p:nvPr/>
        </p:nvSpPr>
        <p:spPr>
          <a:xfrm>
            <a:off x="658375" y="5871548"/>
            <a:ext cx="10875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2100">
                <a:solidFill>
                  <a:srgbClr val="6B7280"/>
                </a:solidFill>
              </a:rPr>
              <a:t>* </a:t>
            </a:r>
            <a:r>
              <a:rPr i="1" lang="en-US" sz="2100">
                <a:solidFill>
                  <a:srgbClr val="6B7280"/>
                </a:solidFill>
              </a:rPr>
              <a:t>ITU Facts and Figures	 	 ** CheckPoint GCA 2025		  ***IoT Analytics</a:t>
            </a:r>
            <a:endParaRPr b="0" i="0" sz="17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isso é difícil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58100" y="1781650"/>
            <a:ext cx="6627000" cy="4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24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1970"/>
              <a:buFont typeface="Arial"/>
              <a:buChar char="▪"/>
            </a:pPr>
            <a:r>
              <a:rPr lang="en-US" sz="2300">
                <a:solidFill>
                  <a:srgbClr val="1F2937"/>
                </a:solidFill>
              </a:rPr>
              <a:t>Envelhecimento dos datasets com a evolução de serviços e ataques</a:t>
            </a:r>
            <a:r>
              <a:rPr b="0" i="0" lang="en-US" sz="23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.</a:t>
            </a:r>
            <a:endParaRPr sz="2300">
              <a:solidFill>
                <a:srgbClr val="1F2937"/>
              </a:solidFill>
              <a:extLst>
                <a:ext uri="http://customooxmlschemas.google.com/">
                  <go:slidesCustomData xmlns:go="http://customooxmlschemas.google.com/" textRoundtripDataId="4"/>
                </a:ext>
              </a:extLst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F2937"/>
              </a:solidFill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-31724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0A866E"/>
              </a:buClr>
              <a:buSzPts val="1970"/>
              <a:buFont typeface="Arial"/>
              <a:buChar char="▪"/>
            </a:pPr>
            <a:r>
              <a:rPr lang="en-US" sz="23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Cobertura limitada e verticalizada.</a:t>
            </a:r>
            <a:endParaRPr sz="2300">
              <a:solidFill>
                <a:srgbClr val="1F2937"/>
              </a:solidFill>
              <a:extLst>
                <a:ext uri="http://customooxmlschemas.google.com/">
                  <go:slidesCustomData xmlns:go="http://customooxmlschemas.google.com/" textRoundtripDataId="7"/>
                </a:ext>
              </a:extLst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F2937"/>
              </a:solidFill>
              <a:extLst>
                <a:ext uri="http://customooxmlschemas.google.com/">
                  <go:slidesCustomData xmlns:go="http://customooxmlschemas.google.com/" textRoundtripDataId="8"/>
                </a:ext>
              </a:extLst>
            </a:endParaRPr>
          </a:p>
          <a:p>
            <a:pPr indent="-317246" lvl="0" marL="310896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chemeClr val="accent2"/>
              </a:buClr>
              <a:buSzPts val="1970"/>
              <a:buChar char="▪"/>
            </a:pPr>
            <a:r>
              <a:rPr lang="en-US" sz="2300">
                <a:solidFill>
                  <a:schemeClr val="dk2"/>
                </a:solidFill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Ferramentas fragmentadas elevam o esforço operacional.</a:t>
            </a:r>
            <a:endParaRPr sz="2300">
              <a:solidFill>
                <a:schemeClr val="dk2"/>
              </a:solidFill>
              <a:extLst>
                <a:ext uri="http://customooxmlschemas.google.com/">
                  <go:slidesCustomData xmlns:go="http://customooxmlschemas.google.com/" textRoundtripDataId="10"/>
                </a:ext>
              </a:extLst>
            </a:endParaRPr>
          </a:p>
          <a:p>
            <a:pPr indent="0" lvl="0" marL="45720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extLst>
                <a:ext uri="http://customooxmlschemas.google.com/">
                  <go:slidesCustomData xmlns:go="http://customooxmlschemas.google.com/" textRoundtripDataId="11"/>
                </a:ext>
              </a:extLst>
            </a:endParaRPr>
          </a:p>
          <a:p>
            <a:pPr indent="-317246" lvl="0" marL="310896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chemeClr val="accent2"/>
              </a:buClr>
              <a:buSzPts val="1970"/>
              <a:buChar char="▪"/>
            </a:pPr>
            <a:r>
              <a:rPr lang="en-US" sz="2300">
                <a:solidFill>
                  <a:schemeClr val="dk2"/>
                </a:solidFill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Dificuldade de repetição de experimentos.</a:t>
            </a:r>
            <a:endParaRPr sz="2300">
              <a:solidFill>
                <a:srgbClr val="1F2937"/>
              </a:solidFill>
              <a:extLst>
                <a:ext uri="http://customooxmlschemas.google.com/">
                  <go:slidesCustomData xmlns:go="http://customooxmlschemas.google.com/" textRoundtripDataId="13"/>
                </a:ext>
              </a:extLst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F2937"/>
              </a:solidFill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" title="Gemini_Generated_Image_64jwxo64jwxo64jw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63115" y="1459389"/>
            <a:ext cx="4634150" cy="40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 title="ufrgs_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20999" y="1207400"/>
            <a:ext cx="5081329" cy="50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395728" y="3584448"/>
            <a:ext cx="786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AEBBDA"/>
                </a:solidFill>
              </a:rPr>
              <a:t>Ataques como unidades experimentais; coleta e pós-processamento como um único pipeline.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4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Arquitetura:</a:t>
            </a:r>
            <a:r>
              <a:rPr b="1" lang="en-US" sz="3200">
                <a:solidFill>
                  <a:srgbClr val="0F2369"/>
                </a:solidFill>
              </a:rPr>
              <a:t> 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orquestração, </a:t>
            </a:r>
            <a:r>
              <a:rPr b="1" lang="en-US" sz="3200">
                <a:solidFill>
                  <a:schemeClr val="accent1"/>
                </a:solidFill>
              </a:rPr>
              <a:t>catálogo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e artefatos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5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2251" y="1949250"/>
            <a:ext cx="11431301" cy="3549976"/>
          </a:xfrm>
          <a:prstGeom prst="rect">
            <a:avLst/>
          </a:prstGeom>
          <a:noFill/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212" name="Google Shape;212;p6" title="ufrgs_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71075" y="1877675"/>
            <a:ext cx="4091400" cy="3722700"/>
          </a:xfrm>
          <a:prstGeom prst="rect">
            <a:avLst/>
          </a:prstGeom>
          <a:noFill/>
          <a:ln cap="flat" cmpd="sng" w="76200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571000" y="5643025"/>
            <a:ext cx="409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</a:rPr>
              <a:t>O</a:t>
            </a:r>
            <a:r>
              <a:rPr b="1" lang="en-US" sz="2600">
                <a:solidFill>
                  <a:schemeClr val="accent1"/>
                </a:solidFill>
              </a:rPr>
              <a:t>rquestração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74e20ae5_0_8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774e20ae5_0_83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774e20ae5_0_83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Arquitetura:</a:t>
            </a:r>
            <a:r>
              <a:rPr b="1" lang="en-US" sz="3200">
                <a:solidFill>
                  <a:srgbClr val="0F2369"/>
                </a:solidFill>
              </a:rPr>
              <a:t> 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orquestração, </a:t>
            </a:r>
            <a:r>
              <a:rPr b="1" lang="en-US" sz="3200">
                <a:solidFill>
                  <a:schemeClr val="accent1"/>
                </a:solidFill>
              </a:rPr>
              <a:t>catálogo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e artefatos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774e20ae5_0_8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774e20ae5_0_8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774e20ae5_0_8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774e20ae5_0_8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f774e20ae5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774e20ae5_0_8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f774e20ae5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774e20ae5_0_8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f774e20ae5_0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f774e20ae5_0_83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6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774e20ae5_0_8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f774e20ae5_0_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774e20ae5_0_83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f774e20ae5_0_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251" y="1949250"/>
            <a:ext cx="11431301" cy="3549976"/>
          </a:xfrm>
          <a:prstGeom prst="rect">
            <a:avLst/>
          </a:prstGeom>
          <a:noFill/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238" name="Google Shape;238;g3f774e20ae5_0_83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f774e20ae5_0_83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774e20ae5_0_83"/>
          <p:cNvSpPr/>
          <p:nvPr/>
        </p:nvSpPr>
        <p:spPr>
          <a:xfrm>
            <a:off x="5015850" y="1877675"/>
            <a:ext cx="3258900" cy="3722700"/>
          </a:xfrm>
          <a:prstGeom prst="rect">
            <a:avLst/>
          </a:prstGeom>
          <a:noFill/>
          <a:ln cap="flat" cmpd="sng" w="76200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774e20ae5_0_83"/>
          <p:cNvSpPr txBox="1"/>
          <p:nvPr/>
        </p:nvSpPr>
        <p:spPr>
          <a:xfrm>
            <a:off x="5015800" y="5643025"/>
            <a:ext cx="325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</a:rPr>
              <a:t>Catálogo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74e20ae5_0_10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774e20ae5_0_108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774e20ae5_0_108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Arquitetura:</a:t>
            </a:r>
            <a:r>
              <a:rPr b="1" lang="en-US" sz="3200">
                <a:solidFill>
                  <a:srgbClr val="0F2369"/>
                </a:solidFill>
              </a:rPr>
              <a:t> 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orquestração, </a:t>
            </a:r>
            <a:r>
              <a:rPr b="1" lang="en-US" sz="3200">
                <a:solidFill>
                  <a:schemeClr val="accent1"/>
                </a:solidFill>
              </a:rPr>
              <a:t>catálogo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e artefatos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774e20ae5_0_10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774e20ae5_0_10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774e20ae5_0_10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774e20ae5_0_10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f774e20ae5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774e20ae5_0_10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f774e20ae5_0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774e20ae5_0_10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f774e20ae5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774e20ae5_0_108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7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774e20ae5_0_10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3f774e20ae5_0_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f774e20ae5_0_108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f774e20ae5_0_1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251" y="1949250"/>
            <a:ext cx="11431301" cy="3549976"/>
          </a:xfrm>
          <a:prstGeom prst="rect">
            <a:avLst/>
          </a:prstGeom>
          <a:noFill/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264" name="Google Shape;264;g3f774e20ae5_0_108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774e20ae5_0_108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774e20ae5_0_108"/>
          <p:cNvSpPr/>
          <p:nvPr/>
        </p:nvSpPr>
        <p:spPr>
          <a:xfrm>
            <a:off x="8599050" y="1877675"/>
            <a:ext cx="3258900" cy="3722700"/>
          </a:xfrm>
          <a:prstGeom prst="rect">
            <a:avLst/>
          </a:prstGeom>
          <a:noFill/>
          <a:ln cap="flat" cmpd="sng" w="76200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774e20ae5_0_108"/>
          <p:cNvSpPr txBox="1"/>
          <p:nvPr/>
        </p:nvSpPr>
        <p:spPr>
          <a:xfrm>
            <a:off x="8599000" y="5643025"/>
            <a:ext cx="325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</a:rPr>
              <a:t>Artefatos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Um fluxo uniforme para qualquer ataque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15275" y="1682500"/>
            <a:ext cx="9434100" cy="42693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58375" y="1773925"/>
            <a:ext cx="9390900" cy="4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5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▪"/>
            </a:pP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Descoberta dinâmica do catálogo</a:t>
            </a:r>
            <a:r>
              <a:rPr lang="en-US" sz="2400">
                <a:solidFill>
                  <a:srgbClr val="1F2937"/>
                </a:solidFill>
              </a:rPr>
              <a:t> de ataques via attack.yaml</a:t>
            </a: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▪"/>
            </a:pP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Validação dos parâmetros e preparação d</a:t>
            </a: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400">
                <a:solidFill>
                  <a:srgbClr val="1F2937"/>
                </a:solidFill>
              </a:rPr>
              <a:t>experimento</a:t>
            </a: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▪"/>
            </a:pPr>
            <a:r>
              <a:rPr lang="en-US" sz="2400">
                <a:solidFill>
                  <a:srgbClr val="1F2937"/>
                </a:solidFill>
              </a:rPr>
              <a:t>Etapas bem definidas </a:t>
            </a:r>
            <a:r>
              <a:rPr lang="en-US" sz="2400">
                <a:solidFill>
                  <a:schemeClr val="dk2"/>
                </a:solidFill>
              </a:rPr>
              <a:t>com captura e telemetria</a:t>
            </a:r>
            <a:r>
              <a:rPr lang="en-US" sz="2400">
                <a:solidFill>
                  <a:srgbClr val="1F2937"/>
                </a:solidFill>
              </a:rPr>
              <a:t>:</a:t>
            </a:r>
            <a:endParaRPr sz="2400">
              <a:solidFill>
                <a:srgbClr val="1F2937"/>
              </a:solidFill>
            </a:endParaRPr>
          </a:p>
          <a:p>
            <a:pPr indent="-360045" lvl="1" marL="914400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○"/>
            </a:pPr>
            <a:r>
              <a:rPr lang="en-US" sz="2400">
                <a:solidFill>
                  <a:srgbClr val="1F2937"/>
                </a:solidFill>
              </a:rPr>
              <a:t>w</a:t>
            </a: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armup→ataque→cooldown</a:t>
            </a:r>
            <a:r>
              <a:rPr lang="en-US" sz="2400">
                <a:solidFill>
                  <a:srgbClr val="1F2937"/>
                </a:solidFill>
              </a:rPr>
              <a:t>.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▪"/>
            </a:pPr>
            <a:r>
              <a:rPr lang="en-US" sz="2400">
                <a:solidFill>
                  <a:srgbClr val="1F2937"/>
                </a:solidFill>
              </a:rPr>
              <a:t>Múltiplos extratores:</a:t>
            </a:r>
            <a:endParaRPr sz="2400">
              <a:solidFill>
                <a:srgbClr val="1F2937"/>
              </a:solidFill>
            </a:endParaRPr>
          </a:p>
          <a:p>
            <a:pPr indent="-360045" lvl="1" marL="914400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2070"/>
              <a:buFont typeface="Arial"/>
              <a:buChar char="○"/>
            </a:pPr>
            <a:r>
              <a:rPr b="0" i="0" lang="en-US" sz="24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TShark, Scapy e NTLFlowLyzer.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82026" y="1682500"/>
            <a:ext cx="75600" cy="42693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7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8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7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3f70f57dc_0_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3f70f57dc_0_2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3f70f57dc_0_2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Um fluxo uniforme para qualquer ataque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3f70f57dc_0_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3f70f57dc_0_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3f70f57dc_0_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3f70f57dc_0_2"/>
          <p:cNvSpPr/>
          <p:nvPr/>
        </p:nvSpPr>
        <p:spPr>
          <a:xfrm>
            <a:off x="582025" y="1682500"/>
            <a:ext cx="9798300" cy="42693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3f70f57dc_0_2"/>
          <p:cNvSpPr/>
          <p:nvPr/>
        </p:nvSpPr>
        <p:spPr>
          <a:xfrm>
            <a:off x="582026" y="1682500"/>
            <a:ext cx="75600" cy="42693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3f70f57dc_0_2"/>
          <p:cNvSpPr/>
          <p:nvPr/>
        </p:nvSpPr>
        <p:spPr>
          <a:xfrm>
            <a:off x="780150" y="1828150"/>
            <a:ext cx="9269400" cy="4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3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há de novo aqui</a:t>
            </a:r>
            <a:br>
              <a:rPr b="1" i="0" lang="en-US" sz="23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070"/>
              <a:buChar char="▪"/>
            </a:pPr>
            <a:r>
              <a:rPr lang="en-US" sz="2400">
                <a:solidFill>
                  <a:srgbClr val="1F2937"/>
                </a:solidFill>
              </a:rPr>
              <a:t>O ataque é uma unidade Docker isolada e parametrizável.</a:t>
            </a:r>
            <a:endParaRPr sz="2400">
              <a:solidFill>
                <a:srgbClr val="1F2937"/>
              </a:solidFill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070"/>
              <a:buChar char="▪"/>
            </a:pPr>
            <a:r>
              <a:rPr lang="en-US" sz="2400">
                <a:solidFill>
                  <a:srgbClr val="1F2937"/>
                </a:solidFill>
              </a:rPr>
              <a:t>Amplitude, automação e rastreabilidade no mesmo fluxo.</a:t>
            </a:r>
            <a:endParaRPr sz="2400">
              <a:solidFill>
                <a:srgbClr val="1F2937"/>
              </a:solidFill>
            </a:endParaRPr>
          </a:p>
          <a:p>
            <a:pPr indent="-3235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070"/>
              <a:buChar char="▪"/>
            </a:pPr>
            <a:r>
              <a:rPr lang="en-US" sz="2400">
                <a:solidFill>
                  <a:srgbClr val="1F2937"/>
                </a:solidFill>
              </a:rPr>
              <a:t>Captura, telemetria, features e datasets ficam no mesmo pipeline.</a:t>
            </a:r>
            <a:endParaRPr sz="1900"/>
          </a:p>
          <a:p>
            <a:pPr indent="0" lvl="0" marL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2300">
                <a:solidFill>
                  <a:srgbClr val="0F2369"/>
                </a:solidFill>
              </a:rPr>
              <a:t>Limitação comum de outras soluções</a:t>
            </a:r>
            <a:endParaRPr b="0" i="0" sz="15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596" lvl="0" marL="310896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70"/>
              <a:buChar char="▪"/>
            </a:pPr>
            <a:r>
              <a:rPr lang="en-US" sz="2400">
                <a:solidFill>
                  <a:schemeClr val="dk2"/>
                </a:solidFill>
              </a:rPr>
              <a:t>Foco em domínios específicos, poucos ataques ou etapas experimentais separadas.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2400">
              <a:solidFill>
                <a:srgbClr val="1F2937"/>
              </a:solidFill>
            </a:endParaRPr>
          </a:p>
        </p:txBody>
      </p:sp>
      <p:sp>
        <p:nvSpPr>
          <p:cNvPr id="308" name="Google Shape;308;g3f3f70f57dc_0_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f3f70f57dc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f3f70f57dc_0_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f3f70f57dc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3f70f57dc_0_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g3f3f70f57dc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f3f70f57dc_0_2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3f70f57dc_0_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g3f3f70f57dc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3f70f57dc_0_2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g3f3f70f57dc_0_2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3f70f57dc_0_2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3f70f57dc_0_2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9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Execução integral do catálogo sob a mesma política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10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Definições da </a:t>
            </a:r>
            <a:r>
              <a:rPr b="1" lang="en-US" sz="3200">
                <a:solidFill>
                  <a:schemeClr val="accent1"/>
                </a:solidFill>
              </a:rPr>
              <a:t>campanha experimental</a:t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7" name="Google Shape;347;p8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{7AA79D05-37DF-4EF1-B04F-CED29E2924E0}</a:tableStyleId>
              </a:tblPr>
              <a:tblGrid>
                <a:gridCol w="2201000"/>
                <a:gridCol w="476745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Configuração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6"/>
                            </a:ext>
                          </a:extLst>
                        </a:rPr>
                        <a:t>Escopo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7"/>
                            </a:ext>
                          </a:extLst>
                        </a:rPr>
                        <a:t>60 ataques; 7 categorias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8"/>
                            </a:ext>
                          </a:extLst>
                        </a:rPr>
                        <a:t>Níveis e repetições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9"/>
                            </a:ext>
                          </a:extLst>
                        </a:rPr>
                        <a:t>L0–L3; 5 execuções por nível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0"/>
                            </a:ext>
                          </a:extLst>
                        </a:rPr>
                        <a:t>Janela por execução</a:t>
                      </a:r>
                      <a:endParaRPr sz="15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1"/>
                            </a:ext>
                          </a:extLst>
                        </a:rPr>
                        <a:t>60s + 120s + 60s</a:t>
                      </a:r>
                      <a:endParaRPr b="0" sz="22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22"/>
                            </a:ext>
                          </a:extLst>
                        </a:rPr>
                        <a:t>Warmup → Ataque → Cooldown</a:t>
                      </a:r>
                      <a:endParaRPr sz="22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3"/>
                            </a:ext>
                          </a:extLst>
                        </a:rPr>
                        <a:t>Coleta e processamento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4"/>
                            </a:ext>
                          </a:extLst>
                        </a:rPr>
                        <a:t>pcap, probes, telemetria</a:t>
                      </a:r>
                      <a:r>
                        <a:rPr lang="en-US" sz="2200">
                          <a:solidFill>
                            <a:srgbClr val="1F2937"/>
                          </a:solidFill>
                        </a:rPr>
                        <a:t>, extração</a:t>
                      </a:r>
                      <a:endParaRPr sz="17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8"/>
          <p:cNvSpPr/>
          <p:nvPr/>
        </p:nvSpPr>
        <p:spPr>
          <a:xfrm>
            <a:off x="7726675" y="1458475"/>
            <a:ext cx="4098300" cy="4644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7726675" y="1458400"/>
            <a:ext cx="76800" cy="46446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8037575" y="1538575"/>
            <a:ext cx="3649500" cy="46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3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Política uniforme em todos os ataques e níveis.</a:t>
            </a:r>
            <a:endParaRPr sz="2000">
              <a:solidFill>
                <a:srgbClr val="6B7280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US" sz="2300">
                <a:solidFill>
                  <a:schemeClr val="accent1"/>
                </a:solidFill>
              </a:rPr>
              <a:t>Dispon</a:t>
            </a:r>
            <a:r>
              <a:rPr b="1" lang="en-US" sz="2300">
                <a:solidFill>
                  <a:schemeClr val="accent1"/>
                </a:solidFill>
              </a:rPr>
              <a:t>ibilidade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Código, documentação, relatórios e datasets disponibilizados publicamente.</a:t>
            </a:r>
            <a:endParaRPr b="0" i="0" sz="2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US" sz="2300">
                <a:solidFill>
                  <a:schemeClr val="accent1"/>
                </a:solidFill>
              </a:rPr>
              <a:t>Setup experimental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Host único com Docker, tcpdump/probes e pós-processamento por TShark, Scapy e NTLFlowLyzer.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8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8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8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11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8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8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8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815049" y="5452613"/>
            <a:ext cx="897900" cy="63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Captura</a:t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2002651" y="5831650"/>
            <a:ext cx="1121100" cy="3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Alvos</a:t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2002651" y="5368250"/>
            <a:ext cx="1121100" cy="3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Ataques</a:t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3357979" y="5452600"/>
            <a:ext cx="1081200" cy="63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Telemetria</a:t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4670904" y="5452613"/>
            <a:ext cx="1081200" cy="63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Extraç</a:t>
            </a:r>
            <a:r>
              <a:rPr lang="en-US"/>
              <a:t>ão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5983829" y="5452600"/>
            <a:ext cx="1514400" cy="63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Processamento</a:t>
            </a:r>
            <a:endParaRPr/>
          </a:p>
        </p:txBody>
      </p:sp>
      <p:cxnSp>
        <p:nvCxnSpPr>
          <p:cNvPr id="369" name="Google Shape;369;p8"/>
          <p:cNvCxnSpPr>
            <a:stCxn id="363" idx="3"/>
            <a:endCxn id="365" idx="1"/>
          </p:cNvCxnSpPr>
          <p:nvPr/>
        </p:nvCxnSpPr>
        <p:spPr>
          <a:xfrm flipH="1" rot="10800000">
            <a:off x="1712949" y="5549363"/>
            <a:ext cx="289800" cy="2205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0" name="Google Shape;370;p8"/>
          <p:cNvCxnSpPr>
            <a:stCxn id="363" idx="3"/>
            <a:endCxn id="364" idx="1"/>
          </p:cNvCxnSpPr>
          <p:nvPr/>
        </p:nvCxnSpPr>
        <p:spPr>
          <a:xfrm>
            <a:off x="1712949" y="5769863"/>
            <a:ext cx="289800" cy="2427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1" name="Google Shape;371;p8"/>
          <p:cNvCxnSpPr>
            <a:stCxn id="365" idx="3"/>
            <a:endCxn id="366" idx="1"/>
          </p:cNvCxnSpPr>
          <p:nvPr/>
        </p:nvCxnSpPr>
        <p:spPr>
          <a:xfrm>
            <a:off x="3123751" y="5549300"/>
            <a:ext cx="234300" cy="2205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2" name="Google Shape;372;p8"/>
          <p:cNvCxnSpPr>
            <a:stCxn id="364" idx="3"/>
            <a:endCxn id="366" idx="1"/>
          </p:cNvCxnSpPr>
          <p:nvPr/>
        </p:nvCxnSpPr>
        <p:spPr>
          <a:xfrm flipH="1" rot="10800000">
            <a:off x="3123751" y="5769700"/>
            <a:ext cx="234300" cy="2430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3" name="Google Shape;373;p8"/>
          <p:cNvCxnSpPr>
            <a:stCxn id="366" idx="3"/>
            <a:endCxn id="367" idx="1"/>
          </p:cNvCxnSpPr>
          <p:nvPr/>
        </p:nvCxnSpPr>
        <p:spPr>
          <a:xfrm>
            <a:off x="4439179" y="5769850"/>
            <a:ext cx="231600" cy="600"/>
          </a:xfrm>
          <a:prstGeom prst="bentConnector3">
            <a:avLst>
              <a:gd fmla="val 500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4" name="Google Shape;374;p8"/>
          <p:cNvCxnSpPr>
            <a:stCxn id="367" idx="3"/>
            <a:endCxn id="368" idx="1"/>
          </p:cNvCxnSpPr>
          <p:nvPr/>
        </p:nvCxnSpPr>
        <p:spPr>
          <a:xfrm>
            <a:off x="5752104" y="5769863"/>
            <a:ext cx="231600" cy="600"/>
          </a:xfrm>
          <a:prstGeom prst="bentConnector3">
            <a:avLst>
              <a:gd fmla="val 500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O</a:t>
            </a: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peração em escala da campanha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58368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58368" y="1993392"/>
            <a:ext cx="3442106" cy="6858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950976" y="2505456"/>
            <a:ext cx="285689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1.200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950976" y="3566160"/>
            <a:ext cx="285689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capturas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950976" y="3986784"/>
            <a:ext cx="28568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 ataques × 4 níveis × 5 repetições.</a:t>
            </a:r>
            <a:endParaRPr b="0" i="0" sz="1800" u="non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6B7280"/>
                </a:solidFill>
              </a:rPr>
              <a:t>~82 horas de execução.</a:t>
            </a:r>
            <a:endParaRPr sz="1800">
              <a:solidFill>
                <a:srgbClr val="6B7280"/>
              </a:solidFill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374794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374794" y="1993392"/>
            <a:ext cx="3442106" cy="6858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667402" y="2505456"/>
            <a:ext cx="285689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672,1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667402" y="3566160"/>
            <a:ext cx="285689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GB brutos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667402" y="3986784"/>
            <a:ext cx="28568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Tráfego e artefatos da campanha.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8091220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8091220" y="1993392"/>
            <a:ext cx="3442106" cy="6858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383828" y="2505456"/>
            <a:ext cx="285689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220,4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8383828" y="3566160"/>
            <a:ext cx="285689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GB derivados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8383828" y="3986784"/>
            <a:ext cx="285689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Features normalizadas e consolidadas.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0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0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0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12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0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10" title="ufrgs_c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0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58368" y="621792"/>
            <a:ext cx="10875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5"/>
                  </a:ext>
                </a:extLst>
              </a:rPr>
              <a:t>O que os resultados demonstram e </a:t>
            </a:r>
            <a:r>
              <a:rPr b="1" lang="en-US" sz="3200">
                <a:solidFill>
                  <a:srgbClr val="0F2369"/>
                </a:solidFill>
                <a:extLst>
                  <a:ext uri="http://customooxmlschemas.google.com/">
                    <go:slidesCustomData xmlns:go="http://customooxmlschemas.google.com/" textRoundtripDataId="26"/>
                  </a:ext>
                </a:extLst>
              </a:rPr>
              <a:t>limitações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58368" y="1682496"/>
            <a:ext cx="523631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os resultados sustentam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658368" y="2176272"/>
            <a:ext cx="5236311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catálogo completo foi executado sem atingir os guardrails.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Capturas e datasets são rastreáveis por ataque, nível e repetição.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Mediana do CV: 0,59% no tamanho das capturas e 0,60% nas linhas d</a:t>
            </a:r>
            <a:r>
              <a:rPr lang="en-US" sz="2000">
                <a:solidFill>
                  <a:srgbClr val="1F2937"/>
                </a:solidFill>
              </a:rPr>
              <a:t>os datasets resultantes</a:t>
            </a: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6297015" y="1682496"/>
            <a:ext cx="523631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Limites da avaliação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6297025" y="2176275"/>
            <a:ext cx="52362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lang="en-US" sz="20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27"/>
                  </a:ext>
                </a:extLst>
              </a:rPr>
              <a:t>Tráfego sintético e ambiente conteinerizado somente com redes internas não reproduzem tráfego em redes reais.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28"/>
                </a:ext>
              </a:extLst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9"/>
                  </a:ext>
                </a:extLst>
              </a:rPr>
              <a:t>A campanha não avaliou </a:t>
            </a:r>
            <a:r>
              <a:rPr lang="en-US" sz="20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30"/>
                  </a:ext>
                </a:extLst>
              </a:rPr>
              <a:t>aplicabilidade</a:t>
            </a: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1"/>
                  </a:ext>
                </a:extLst>
              </a:rPr>
              <a:t> imediata em IDS/ML.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32"/>
                </a:ext>
              </a:extLst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3"/>
                  </a:ext>
                </a:extLst>
              </a:rPr>
              <a:t>L0 não incluiu </a:t>
            </a:r>
            <a:r>
              <a:rPr lang="en-US" sz="20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34"/>
                  </a:ext>
                </a:extLst>
              </a:rPr>
              <a:t>tráfego</a:t>
            </a:r>
            <a:r>
              <a:rPr b="0" i="0" lang="en-US" sz="2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5"/>
                  </a:ext>
                </a:extLst>
              </a:rPr>
              <a:t> benigno nesta campanha</a:t>
            </a:r>
            <a:r>
              <a:rPr lang="en-US" sz="20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36"/>
                  </a:ext>
                </a:extLst>
              </a:rPr>
              <a:t>.</a:t>
            </a:r>
            <a:endParaRPr sz="2000">
              <a:solidFill>
                <a:srgbClr val="1F2937"/>
              </a:solidFill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1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1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1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13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1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11" title="ufrgs_c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Uma base aberta e extensível para experimentos comparáveis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AEBBDA"/>
                </a:solidFill>
              </a:rPr>
              <a:t>14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658368" y="621792"/>
            <a:ext cx="10874959" cy="97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AttackZoo integra amplitude, automação e rastreabilidade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658368" y="1661297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737360" y="1661297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2194560" y="1661297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658368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658368" y="2066544"/>
            <a:ext cx="68580" cy="3145536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969264" y="2304288"/>
            <a:ext cx="2820314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9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20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7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 ataques em 7 categorias, mapeados ao MITRE ATT&amp;CK.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374794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374794" y="2066544"/>
            <a:ext cx="68580" cy="3145536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685700" y="2304300"/>
            <a:ext cx="29325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9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20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7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1.200 capturas e 220,4 GB de datasets derivados.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8091220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8091220" y="2066544"/>
            <a:ext cx="68580" cy="3145536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8402116" y="2304288"/>
            <a:ext cx="2820314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9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20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7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Experimentos mais rastreáveis, repetíveis e comparáveis.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15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3" title="ufrgs_c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3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2"/>
                </a:solidFill>
              </a:rPr>
              <a:t>03 · </a:t>
            </a: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TRABALHOS RELACIONADOS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7"/>
                  </a:ext>
                </a:extLst>
              </a:rPr>
              <a:t>O diferencial está na integração e na amplitude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p4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{7AA79D05-37DF-4EF1-B04F-CED29E2924E0}</a:tableStyleId>
              </a:tblPr>
              <a:tblGrid>
                <a:gridCol w="2501250"/>
                <a:gridCol w="1413425"/>
                <a:gridCol w="2035700"/>
                <a:gridCol w="1316725"/>
                <a:gridCol w="360787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Abordagem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Ataques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Téc./subtéc.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Táticas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Lacuna principal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8"/>
                            </a:ext>
                          </a:extLst>
                        </a:rPr>
                        <a:t>Gotham (2024)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39"/>
                            </a:ext>
                          </a:extLst>
                        </a:rPr>
                        <a:t>19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0"/>
                            </a:ext>
                          </a:extLst>
                        </a:rPr>
                        <a:t>12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1"/>
                            </a:ext>
                          </a:extLst>
                        </a:rPr>
                        <a:t>7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2"/>
                            </a:ext>
                          </a:extLst>
                        </a:rPr>
                        <a:t>Cenários IoT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3"/>
                            </a:ext>
                          </a:extLst>
                        </a:rPr>
                        <a:t>HackInSDN (2025)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4"/>
                            </a:ext>
                          </a:extLst>
                        </a:rPr>
                        <a:t>5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5"/>
                            </a:ext>
                          </a:extLst>
                        </a:rPr>
                        <a:t>8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6"/>
                            </a:ext>
                          </a:extLst>
                        </a:rPr>
                        <a:t>6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7"/>
                            </a:ext>
                          </a:extLst>
                        </a:rPr>
                        <a:t>Foco em SDN e mitigação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8"/>
                            </a:ext>
                          </a:extLst>
                        </a:rPr>
                        <a:t>Mediana dos trabalhos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9"/>
                            </a:ext>
                          </a:extLst>
                        </a:rPr>
                        <a:t>4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0"/>
                            </a:ext>
                          </a:extLst>
                        </a:rPr>
                        <a:t>—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1"/>
                            </a:ext>
                          </a:extLst>
                        </a:rPr>
                        <a:t>—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2"/>
                            </a:ext>
                          </a:extLst>
                        </a:rPr>
                        <a:t>Cobertura restrita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3"/>
                            </a:ext>
                          </a:extLst>
                        </a:rPr>
                        <a:t>AttackZoo (2026)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4"/>
                            </a:ext>
                          </a:extLst>
                        </a:rPr>
                        <a:t>60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5"/>
                            </a:ext>
                          </a:extLst>
                        </a:rPr>
                        <a:t>35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6"/>
                            </a:ext>
                          </a:extLst>
                        </a:rPr>
                        <a:t>9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7"/>
                            </a:ext>
                          </a:extLst>
                        </a:rPr>
                        <a:t>Pipeline fim a fim +</a:t>
                      </a:r>
                      <a:b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7"/>
                            </a:ext>
                          </a:extLst>
                        </a:rPr>
                      </a:br>
                      <a:r>
                        <a:rPr lang="en-US" sz="2200">
                          <a:solidFill>
                            <a:srgbClr val="1F2937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58"/>
                            </a:ext>
                          </a:extLst>
                        </a:rPr>
                        <a:t>c</a:t>
                      </a:r>
                      <a:r>
                        <a:rPr b="0" lang="en-US" sz="22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59"/>
                            </a:ext>
                          </a:extLst>
                        </a:rPr>
                        <a:t>at</a:t>
                      </a:r>
                      <a:r>
                        <a:rPr lang="en-US" sz="2200">
                          <a:solidFill>
                            <a:srgbClr val="1F2937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60"/>
                            </a:ext>
                          </a:extLst>
                        </a:rPr>
                        <a:t>álogo amplo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4"/>
          <p:cNvSpPr/>
          <p:nvPr/>
        </p:nvSpPr>
        <p:spPr>
          <a:xfrm>
            <a:off x="658375" y="5614321"/>
            <a:ext cx="108750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AttackZoo combina </a:t>
            </a:r>
            <a:r>
              <a:rPr i="1" lang="en-US" sz="2100">
                <a:solidFill>
                  <a:schemeClr val="accent5"/>
                </a:solidFill>
              </a:rPr>
              <a:t>conteinerização, </a:t>
            </a:r>
            <a:r>
              <a:rPr b="0" i="1" lang="en-US" sz="2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dispositivos alcançáveis, IoT, protocolos TCP/IP e artefatos públicos em um único fluxo.</a:t>
            </a:r>
            <a:endParaRPr b="0" i="0" sz="17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16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p4" title="ufrgs_c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"/>
          <p:cNvSpPr/>
          <p:nvPr/>
        </p:nvSpPr>
        <p:spPr>
          <a:xfrm>
            <a:off x="688162" y="2340273"/>
            <a:ext cx="10829100" cy="534300"/>
          </a:xfrm>
          <a:prstGeom prst="rect">
            <a:avLst/>
          </a:prstGeom>
          <a:noFill/>
          <a:ln cap="flat" cmpd="sng" w="76200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Próximos passos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58380" y="1773925"/>
            <a:ext cx="112623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6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Incluir campanhas com clientes benignos e perfis realistas.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6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Avaliar reprodutibilidade entre hosts, fidelidade do tráfego e utilidade em IDS/ML.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6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Medir overhead do pipeline e refinar as features.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6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670"/>
              <a:buFont typeface="Arial"/>
              <a:buChar char="▪"/>
            </a:pPr>
            <a:r>
              <a:rPr b="0" i="0" lang="en-US" sz="3000" u="non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Ampliar o catálogo e validar contribuições externas.</a:t>
            </a:r>
            <a:endParaRPr b="0" i="0" sz="22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4"/>
          <p:cNvSpPr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2369"/>
                </a:solidFill>
              </a:rPr>
              <a:t>17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4"/>
          <p:cNvSpPr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4" title="ufrgs_c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7434" y="6362763"/>
            <a:ext cx="416548" cy="31667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4"/>
          <p:cNvSpPr/>
          <p:nvPr/>
        </p:nvSpPr>
        <p:spPr>
          <a:xfrm>
            <a:off x="2852170" y="6408058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58368" y="12344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658368" y="23957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58368" y="3207000"/>
            <a:ext cx="4937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658376" y="3602725"/>
            <a:ext cx="5736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Leonardo Bitzki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leonardobitzki.aluno@unipampa.edu.br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AI Horizon Labs · UNIPAMPA · PPGES</a:t>
            </a:r>
            <a:r>
              <a:rPr lang="en-US" sz="2000">
                <a:solidFill>
                  <a:schemeClr val="lt1"/>
                </a:solidFill>
              </a:rPr>
              <a:t> · UFRGS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9536661" y="2864826"/>
            <a:ext cx="1954200" cy="1954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6954378" y="2864801"/>
            <a:ext cx="1954200" cy="1954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7034" y="2954325"/>
            <a:ext cx="1809700" cy="18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74" y="6088956"/>
            <a:ext cx="2061626" cy="503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7527" y="5841796"/>
            <a:ext cx="1342519" cy="8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30566" y="5841799"/>
            <a:ext cx="937975" cy="9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79700" y="5926350"/>
            <a:ext cx="516225" cy="7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81250" y="5948075"/>
            <a:ext cx="757586" cy="7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12175" y="5955030"/>
            <a:ext cx="1402200" cy="777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15" title="ufrgs_co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87854" y="5904507"/>
            <a:ext cx="1087109" cy="8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5"/>
          <p:cNvSpPr/>
          <p:nvPr/>
        </p:nvSpPr>
        <p:spPr>
          <a:xfrm>
            <a:off x="6954375" y="2361800"/>
            <a:ext cx="4572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>
                <a:solidFill>
                  <a:srgbClr val="FFFFFF"/>
                </a:solidFill>
              </a:rPr>
              <a:t>   Repositório                  Dataset</a:t>
            </a:r>
            <a:endParaRPr b="0" i="0" sz="16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15" title="Selo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96116" y="467841"/>
            <a:ext cx="1543617" cy="1544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15" title="SeloF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5675" y="467842"/>
            <a:ext cx="1543617" cy="1544924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pic>
        <p:nvPicPr>
          <p:cNvPr id="565" name="Google Shape;565;p15" title="Selo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679286" y="440450"/>
            <a:ext cx="1543617" cy="1544936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pic>
        <p:nvPicPr>
          <p:cNvPr id="566" name="Google Shape;566;p15" title="SeloR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222899" y="467814"/>
            <a:ext cx="1543617" cy="1544930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pic>
        <p:nvPicPr>
          <p:cNvPr id="567" name="Google Shape;567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06573" y="2928543"/>
            <a:ext cx="1809699" cy="180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
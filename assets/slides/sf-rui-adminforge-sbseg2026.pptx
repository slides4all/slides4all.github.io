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1675"/>
  <p:notesSz cx="6858000" cy="9144000"/>
  <p:embeddedFontLst>
    <p:embeddedFont>
      <p:font typeface="Inter"/>
      <p:regular r:id="rId30"/>
      <p:bold r:id="rId31"/>
      <p:italic r:id="rId32"/>
      <p:boldItalic r:id="rId33"/>
    </p:embeddedFont>
    <p:embeddedFont>
      <p:font typeface="JetBrains Mono"/>
      <p:regular r:id="rId34"/>
      <p:bold r:id="rId35"/>
      <p:italic r:id="rId36"/>
      <p:boldItalic r:id="rId37"/>
    </p:embeddedFont>
    <p:embeddedFont>
      <p:font typeface="Space Grotesk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jBGCuLPucCeoFM0pgjPeuLvIAk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font" Target="fonts/Inter-regular.fntdata"/><Relationship Id="rId31" Type="http://schemas.openxmlformats.org/officeDocument/2006/relationships/font" Target="fonts/Inter-bold.fntdata"/><Relationship Id="rId32" Type="http://schemas.openxmlformats.org/officeDocument/2006/relationships/font" Target="fonts/Inter-italic.fntdata"/><Relationship Id="rId33" Type="http://schemas.openxmlformats.org/officeDocument/2006/relationships/font" Target="fonts/Inter-boldItalic.fntdata"/><Relationship Id="rId34" Type="http://schemas.openxmlformats.org/officeDocument/2006/relationships/font" Target="fonts/JetBrainsMono-regular.fntdata"/><Relationship Id="rId35" Type="http://schemas.openxmlformats.org/officeDocument/2006/relationships/font" Target="fonts/JetBrainsMono-bold.fntdata"/><Relationship Id="rId36" Type="http://schemas.openxmlformats.org/officeDocument/2006/relationships/font" Target="fonts/JetBrainsMono-italic.fntdata"/><Relationship Id="rId37" Type="http://schemas.openxmlformats.org/officeDocument/2006/relationships/font" Target="fonts/JetBrainsMono-boldItalic.fntdata"/><Relationship Id="rId38" Type="http://schemas.openxmlformats.org/officeDocument/2006/relationships/font" Target="fonts/SpaceGrotesk-regular.fntdata"/><Relationship Id="rId39" Type="http://schemas.openxmlformats.org/officeDocument/2006/relationships/font" Target="fonts/SpaceGrotesk-bold.fntdata"/><Relationship Id="rId4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[15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Bom dia. Rui de Quadros Ribeiro, UNIPAMPA, com Cristhian Kapelinski e Diego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Kreutz. O AdminForge governa quem tem shell e quem tem sudo numa frota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inteira, a partir de um estado declarado, sem agente e sem serviço residente.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Salão de Ferramentas: a trilha do SBSeg em que a contribuição É o software.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Declarativo: o operador escreve o estado desejado, e a ferramenta calcula e aplica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diferença; ele não escreve o passo a passo. Os quatro carimbos no alto à direita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são os selos do Comitê Técnico de Artefatos, e voltam no fim.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título oficial do artigo é em inglês e é ele que vale no camera-ready, mas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plateia é brasileira: sem a tradução por baixo, os primeiros quinze segundos 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gastos traduzindo de cabeça em vez de ouvir a abertura.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Hoje o acesso é configurado servidor a servidor. Quando alguém entra, a chave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instalada máquina a máquina. Quando alguém sai, é fácil esquecer um servidor,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impossível provar que não sobrou nenhum. O cenário que motivou a ferramenta 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cerca de seiscentas máquinas e vinte administradores.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Frota: o conjunto de servidores administrados pela mesma equipe. Sudo: o mecanismo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padrão do Linux para executar comando como outro usuário, em geral root.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três marcadores são o problema em ordem: a configuração é por máquina, a saída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alguém deixa resíduo, e não há inventário que prove o contrário. Os números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motivação vêm na tela seguinte.</a:t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Credencial não é um vetor entre outros. Credencial roubada aparece em pouco mais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um terço das violações do relatório da Verizon deste ano. Quando o vetor inicial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credencial, o custo médio passa de quatro milhões e meio de dólares. 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superfície é quase toda Unix.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DBIR: Data Breach Investigations Report, o relatório anual da Verizon sobre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violações confirmadas. Os 36% são a AÇÃO "uso de credencial roubada" presente 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violação, sobre 19.550 violações, e não o vetor de acesso inicial: no DBIR de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acesso inicial por abuso de credencial é 13%, e o primeiro colocado passou a ser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exploração de vulnerabilidade, com 31%. Se alguém perguntar, é esta a distinção.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custo de 4,67 milhões é a Figura 9 do Cost of a Data Breach Report da IBM, edição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2025, na linha "compromised credentials". Os 92% do W3Techs são sobre os sítios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cujo sistema operacional o levantamento conhece, e não sobre todos os sítios.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correções em relação ao arquivo do Drive, todas conferidas na fonte primária: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legenda dos 36% dizia "credenciais roubadas" sem dizer sobre o quê, e "iniciam"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seria o número errado; o custo e a superfície estavam sem fonte e sem ano na tela;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o valor do W3Techs que estava na tela é um ponto histórico da mesma série,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agosto de 2026 marca 92,0%.</a:t>
            </a:r>
            <a:endParaRPr/>
          </a:p>
        </p:txBody>
      </p:sp>
      <p:sp>
        <p:nvSpPr>
          <p:cNvPr id="131" name="Google Shape;13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famílias resolvem partes disto. Um diretório como o FreeIPA centraliza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identidade e exige mais um serviço no ar. Um broker como o Teleport dá trilha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excelente, e também é serviço residente. O Ansible é declarativo e não deixa nada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rodando. A última linha é a nossa.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Serviço residente: processo que fica escutando em porta, no servidor gerido ou num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servidor central, e que precisa ser mantido e defendido. Broker de sessão: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intermediário por onde a conexão passa, emitindo certificado de curta duração.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Drift: divergência entre o estado declarado e o estado real da máquina.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tabela substitui a frase "o AdminForge combina as três propriedades centrais",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estava embaixo dela no arquivo original: com o vermelho nas outras colunas,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comparação fala sozinha e a frase é redundante.</a:t>
            </a:r>
            <a:endParaRPr/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segunda metade, a governança. Concessão auditável: no FreeIPA a resposta está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diretório; no Teleport, na trilha de sessão; no Ansible o objeto não existe.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revogar é editar o diretório, esperar a sessão expirar, escrever a tarefa inversa,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 tirar do grupo e aplicar.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"No apply" quer dizer que a revogação acontece no próprio comando de aplicar: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delta passa a incluir a remoção, e ela viaja como qualquer outra mudança.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tabela de quatro propriedades e cinco colunas não cabe numa tela no piso de 32 pt: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"AdminForge" sozinho pede 3,1 polegadas de cabeçalho e "Sem serviço residente" pede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5,6 de rótulo de fila. Duas telas mantêm as dezesseis células e a fonte legível.</a:t>
            </a:r>
            <a:endParaRPr/>
          </a:p>
        </p:txBody>
      </p:sp>
      <p:sp>
        <p:nvSpPr>
          <p:cNvPr id="189" name="Google Shape;18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[19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peças, e nenhuma mora no servidor gerido. O operador digita na CLI.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Planner compara o declarado com o instalado e produz o delta. O Deployer abre SSH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pelo cliente OpenSSH comum, aplica e fecha. O Store guarda o estado em JSON, 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histórico encadeado por SHA-256. E o Auditor lê os servidores, também por SSH e só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leitura, e devolve ao Store o que encontrou fora do declarado.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Delta: a diferença entre o que está declarado e o que já está instalado. Se 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servidor já tem cinco chaves e entra um usuário novo no grupo, só a sexta chave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viaja. Histórico encadeado: cada registro inclui o hash do registro anterior,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modo que apagar ou reescrever uma linha do meio quebra a cadeia e o comando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`history verify` aponta o primeiro ponto de divergência.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ponto que sustenta o trabalho inteiro: nenhuma das cinco peças RESIDE no host.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Comando roda lá, sim, durante o apply e durante a auditoria; o que não existe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serviço permanente escutando em porta. Com a ferramenta fora do ar, ninguém perde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acesso a servidor nenhum, porque não há nada para cair.</a:t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[14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Onze operações, e é tudo. Cadastrar usuário, chave e servidor; organizar em grupos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perfis de sudo; conceder ou revogar, pré-visualizar e aplicar; auditar e ler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histórico. Nenhuma delas pede serviço no host.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Perfil de sudo: uma lista nomeada de comandos permitidos, reutilizável entre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permissões, em vez de escrever a regra do sudoers de novo a cada concessão.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Pré-visualizar: o `preview` mostra o delta antes de qualquer coisa viajar.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a Figura 2 do artigo, redesenhada. A original é arte vetorial em inglês, com tipo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muito abaixo do piso de fonte deste deck quando projetada; o conteúdo é o mesmo,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onze casos de uso, agrupados nas quatro fases da operação. Ela vem ANTES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fluxo de propósito: primeiro o repertório inteiro, depois a ordem em que se usa.</a:t>
            </a:r>
            <a:endParaRPr/>
          </a:p>
        </p:txBody>
      </p:sp>
      <p:sp>
        <p:nvSpPr>
          <p:cNvPr id="267" name="Google Shape;2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[16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regra central: permissão não liga pessoa a máquina, liga grupo de usuários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grupo de servidores, com nível shell ou sudo. O sudo pode ser restrito a uma lista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nomeada de comandos. É isso que faz a política ser reutilizável.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Perfil de sudo: um conjunto nomeado de comandos permitidos, por exemplo systemctl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journalctl, que vira um arquivo em sudoers.d validado com `visudo -cf` antes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entrar no lugar. Se a sintaxe estiver ruim, o sudo da máquina não quebra.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modelo completo do artigo tem oito entidades. A tela mostra as três que sustentam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regra central; as outras cinco (chave, grupo de usuários, grupo de servidores,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perfil de sudo e registro de histórico) aparecem na demonstração.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[10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passos. O primeiro é cadastro puro: o usuário, a chave pública e 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servidores. Nada disso toca máquina nenhuma; muda só o estado declarado.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Chave pública: a metade que se instala no servidor. A privada nunca sai da máquina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quem vai entrar. O servidor entra com a host key registrada na primeira vez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visto, e daí em diante ela é conferida: StrictHostKeyChecking desligado é proibido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ferramenta.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anel âmbar marca o passo em discussão. Se a demonstração ao vivo couber no tempo,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estas quatro telas podem ser puladas: elas são a mesma figura com o anel andando.</a:t>
            </a:r>
            <a:endParaRPr/>
          </a:p>
        </p:txBody>
      </p:sp>
      <p:sp>
        <p:nvSpPr>
          <p:cNvPr id="327" name="Google Shape;32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Segundo: agrupar. É o agrupamento que faz a política valer para a frota inteira,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vez de uma linha por pessoa e por máquina.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comando aceita vários membros de uma vez, então colocar cinco pessoas num grupo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uma operação, não cinco.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passo que a plateia costuma achar burocrático e que é justamente o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compra a revogação barata do passo quatro.</a:t>
            </a:r>
            <a:endParaRPr/>
          </a:p>
        </p:txBody>
      </p:sp>
      <p:sp>
        <p:nvSpPr>
          <p:cNvPr id="354" name="Google Shape;35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[10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Terceiro: conceder. A permissão liga os dois grupos, com shell ou sudo, e o sudo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pode vir restrito por perfil. Continua sem tocar em servidor.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Nível shell: a conta é criada e a chave é instalada, sem sudo. Nível sudo: entra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também um arquivo em sudoers.d, validado antes de ser movido para o lugar.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Concessão é objeto de primeira classe aqui, e é essa a diferença para o Ansible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tabela de trabalhos relacionados: lá, conceder é efeito colateral de uma tarefa.</a:t>
            </a:r>
            <a:endParaRPr/>
          </a:p>
        </p:txBody>
      </p:sp>
      <p:sp>
        <p:nvSpPr>
          <p:cNvPr id="381" name="Google Shape;38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[12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Só o quarto passo fala com os servidores. Preview mostra o delta, apply propaga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só o que mudou, e verify volta em cada host e confere o que ficou instalado.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Preview: modo somente leitura, equivalente a um plano. Verify: confere declarado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 real, e é o que impede que um bloco deixado por um `userdel` sem `-r` vire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OK falso.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aqui que a demonstração ao vivo entra, se o tempo permitir: preview, apply 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verify em três hosts.</a:t>
            </a:r>
            <a:endParaRPr/>
          </a:p>
        </p:txBody>
      </p:sp>
      <p:sp>
        <p:nvSpPr>
          <p:cNvPr id="408" name="Google Shape;40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rotinas do dia a dia. Desligamento: desabilita e aplica, e as chaves saem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todos os servidores. Investigação: o audit entra em modo somente leitura e aponta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está lá e não foi declarado. Integridade: o history verify diz se alguém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reescreveu o registro.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Desvio, ou drift: conta ou regra de sudo que existe na máquina e não está no estado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declarado. Pode ser legítima, como uma conta de serviço, e por isso o audit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classifica em sistema, serviço e humano em vez de acusar tudo.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Estas três respondem às perguntas que o público de operação faz primeiro: como 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desliga alguém, como se descobre o que já está lá, e como se confia no registro.</a:t>
            </a:r>
            <a:endParaRPr/>
          </a:p>
        </p:txBody>
      </p:sp>
      <p:sp>
        <p:nvSpPr>
          <p:cNvPr id="435" name="Google Shape;43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[18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o desenho reduz, medido. Amostramos os sockets em escuta de três containers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e depois de gerir: o conjunto é idêntico, só o sshd que já existia. Sudo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perfil é lista fechada de comandos. Desvio vira detectável. E reescrever o histórico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quebra a cadeia.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Socket em escuta: porta aberta esperando conexão. A verificação também amostrou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lado do operador, 2.489 amostras durante o apply, e o processo do AdminForge não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abre socket em escuta em momento nenhum.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arquivo original punha as duas metades do modelo de ameaças na mesma tela, 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colunas de 24 pt. Duas telas no piso de 32 é a mesma informação legível.</a:t>
            </a:r>
            <a:endParaRPr/>
          </a:p>
        </p:txBody>
      </p:sp>
      <p:sp>
        <p:nvSpPr>
          <p:cNvPr id="452" name="Google Shape;45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[16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o que ele não cobre. O AdminForge decide quem recebe o privilégio; o que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pessoa faz depois fica com o sshd e o auditd de cada máquina. E a estação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 é ponto único. É a troca do desenho.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Escopo de auditoria estrito: a ferramenta audita o superadministrador, isto é,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 ela mesma fez. Login de usuário no servidor é registro do sshd.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frase era o TÍTULO do slide no arquivo original. Título é rótulo; conclusão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se fala, ou o que se põe no cartão de remate como aqui.</a:t>
            </a:r>
            <a:endParaRPr/>
          </a:p>
        </p:txBody>
      </p:sp>
      <p:sp>
        <p:nvSpPr>
          <p:cNvPr id="474" name="Google Shape;47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[15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estudo é exploratório. Cinco administradores Linux, sem treinamento prévio, num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laboratório de três containers com desvio plantado. Nove tarefas em ordem fixa.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Depois de cada uma, duas notas de um a sete; ao fim, um questionário TAM.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Protocolo verbal, ou think aloud: o participante narra o raciocínio enquanto opera,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o facilitador registra sem intervir. Likert 1 a 7: escala de concordância. TAM: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Technology Acceptance Model, o instrumento clássico de utilidade percebida,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facilidade percebida e intenção de uso.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três perguntas de pesquisa que estavam ao lado da tabela saíram da tela: 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ficha de reprodução, e quem quer repetir lê o artigo e o pacote de replicação. RQ1,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aprender e concluir sem treinamento; RQ2, onde surgem os erros; RQ3, utilidade,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facilidade, segurança e intenção.</a:t>
            </a:r>
            <a:endParaRPr/>
          </a:p>
        </p:txBody>
      </p:sp>
      <p:sp>
        <p:nvSpPr>
          <p:cNvPr id="494" name="Google Shape;49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[19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cinco concluíram as nove tarefas: quarenta e cinco tarefas, todas terminadas,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 ajuda. Nos quatro construtos a mediana é seis de sete, e o que separa um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outro é a concentração no topo da escala: intenção de uso em setenta e três por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cento, utilidade em sessenta.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Top-box: a fração de respostas nas duas notas mais altas da escala, seis e sete.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medida usual quando a mediana empata, como aqui.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gráfico do arquivo original mostrava a mediana dos quatro construtos: quatro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barras idênticas em seis, que não informam nada. As frações no topo da escala 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de fato varia entre construtos, e vêm recomputadas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paper_data/study-responses.csv.</a:t>
            </a:r>
            <a:endParaRPr/>
          </a:p>
        </p:txBody>
      </p:sp>
      <p:sp>
        <p:nvSpPr>
          <p:cNvPr id="523" name="Google Shape;52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[17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lado do desempenho, cinquenta containers Debian. Sequencial, aplicar do zero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leva onze minutos e meio; com vinte e cinco conexões, trinta e nove segundos.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verify cai de quase quatro minutos para treze segundos, e a auditoria dos cinquenta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hosts, para menos de um.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Cold apply: aplicar sobre uma frota em que nada foi instalado ainda, ou seja,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pior caso. Os valores são medianas de cinco repetições, com containers novos a cada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repetição do caso frio.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a curva mostra é que o tempo é dominado por conexão SSH, não por computação: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isso o paralelismo entrega quase o fator do número de conexões, e por isso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auditoria, que é uma leitura curta por host, é a que mais ganha.</a:t>
            </a:r>
            <a:endParaRPr/>
          </a:p>
        </p:txBody>
      </p:sp>
      <p:sp>
        <p:nvSpPr>
          <p:cNvPr id="559" name="Google Shape;55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[22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Contra o Ansible, na mesma frota e com o mesmo efeito. Na primeira execução são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comparáveis: os dois pagam conexão SSH. A diferença é a segunda. Sem nada para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mudar, o AdminForge responde em vinte e quatro centésimos, sem abrir conexão.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Ansible leva cinquenta e sete segundos, porque tem de ir perguntar em cada host.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Idempotência: reaplicar não muda nada. Os dois são idempotentes; o que difere é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 de descobrir isso. Playbook do Ansible: só módulos embutidos, sem coleção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externa, com as opções de justiça registradas na saída bruta do experimento.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linha do meio está destacada porque é a única que arrisca alguma coisa: é o custo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 operação que um operador roda dezenas de vezes por dia. As outras duas existem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mostrar que a comparação não foi escolhida a dedo.</a:t>
            </a:r>
            <a:endParaRPr/>
          </a:p>
        </p:txBody>
      </p:sp>
      <p:sp>
        <p:nvSpPr>
          <p:cNvPr id="575" name="Google Shape;57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[15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 o esforço de escrever. Para dez administradores em dez hosts, vinte e nove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comandos de um lado e setenta e oito linhas de YAML do outro. É o tamanho 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superfície que alguém revisa antes de aprovar a mudança.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Inventário: o arquivo que lista os hosts, uma linha por host. Os vinte e nove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comandos são dezenove fixos mais um por host.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par está numa tela só, e não na tabela anterior, porque o denominador é OUTRO: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esforço é medido em N=10 e as três linhas de tempo em N=50. Juntos na mesma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tabela, sob a mesma nota de rodapé, o par estava atribuído ao N errado no arquivo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Drive.</a:t>
            </a:r>
            <a:endParaRPr/>
          </a:p>
        </p:txBody>
      </p:sp>
      <p:sp>
        <p:nvSpPr>
          <p:cNvPr id="613" name="Google Shape;61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[16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Limitações. Cinco participantes, sessão única, em laboratório: sustenta que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ferramenta é aprendível sem treinamento, e nada sobre uso continuado. Validação só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Debian bookworm. As duas fricções que o estudo achou são reais. E a confiança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concentrada na estação do operador.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Sessão única: cada participante usou a ferramenta uma vez, por cerca de uma hora.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participantes é pouco para estatística e é o tamanho usual de um estudo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exploratório de usabilidade, que é o que este é. O que ele não pode fazer é virar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alegação de aceitação da comunidade.</a:t>
            </a:r>
            <a:endParaRPr/>
          </a:p>
        </p:txBody>
      </p:sp>
      <p:sp>
        <p:nvSpPr>
          <p:cNvPr id="634" name="Google Shape;63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1" name="Google Shape;65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[11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vem: estudo longitudinal em produção, Red Hat e SUSE, ajuda contextual 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impacto explícito, e estado versionado em Git com aprovação de N pessoas antes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Aprovação N de M: exigir a assinatura de N operadores distintos, de um grupo de M,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a mudança poder ser aplicada.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dois primeiros itens respondem a limitações desta lista; os dois últimos vêm 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achado do estudo e da revisão. Nenhum é ideia solta.</a:t>
            </a:r>
            <a:endParaRPr/>
          </a:p>
        </p:txBody>
      </p:sp>
      <p:sp>
        <p:nvSpPr>
          <p:cNvPr id="652" name="Google Shape;65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9" name="Google Shape;66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[22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slide do Comitê de Artefatos. O CTA avalia o artefato de cada trabalho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aceito, num processo separado da revisão do artigo. Da esquerda para a direita: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Disponíveis, Funcionais, Sustentáveis e Experimentos Reprodutíveis. O artefato deste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trabalho recebeu os quatro, o que quer dizer que os números que mostrei foram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recomputados por outra pessoa, do zero.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CTA: Comitê Técnico de Avaliação de Artefatos do SBSeg.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texto desta tela é o do Rui, palavra por palavra. Só o corpo da fonte subiu,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o objeto desta revisão.</a:t>
            </a:r>
            <a:endParaRPr/>
          </a:p>
        </p:txBody>
      </p:sp>
      <p:sp>
        <p:nvSpPr>
          <p:cNvPr id="670" name="Google Shape;67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[9 s] FALA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isso. O código, a documentação e o pacote de replicação do estudo estão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repositório do artefato. Obrigado, e fico com as perguntas.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Nada novo nesta tela.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arquivo do Drive não trazia o endereço do repositório em tela nenhuma. Num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trabalho de Salão de Ferramentas, em que a contribuição É o software, o link é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única coisa que a plateia leva embora, então ele entrou aqui, com QR. O endereço 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`repository-code` do CITATION.cff do artefato, e foi conferido: responde 200 e 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título da página é o do projeto. CONFIRMAR COM O RUI se é este o endereço que vale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apresentação, ou se o artefato mudou de casa depois da migração do GitHub.</a:t>
            </a:r>
            <a:endParaRPr/>
          </a:p>
        </p:txBody>
      </p:sp>
      <p:sp>
        <p:nvSpPr>
          <p:cNvPr id="688" name="Google Shape;688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10.png"/><Relationship Id="rId10" Type="http://schemas.openxmlformats.org/officeDocument/2006/relationships/image" Target="../media/image6.png"/><Relationship Id="rId11" Type="http://schemas.openxmlformats.org/officeDocument/2006/relationships/image" Target="../media/image8.png"/><Relationship Id="rId12" Type="http://schemas.openxmlformats.org/officeDocument/2006/relationships/image" Target="../media/image3.png"/><Relationship Id="rId1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11.png"/><Relationship Id="rId11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3.png"/><Relationship Id="rId10" Type="http://schemas.openxmlformats.org/officeDocument/2006/relationships/image" Target="../media/image7.png"/><Relationship Id="rId1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171432" y="3840480"/>
            <a:ext cx="6035040" cy="6035040"/>
          </a:xfrm>
          <a:prstGeom prst="ellipse">
            <a:avLst/>
          </a:prstGeom>
          <a:noFill/>
          <a:ln cap="flat" cmpd="sng" w="19050">
            <a:solidFill>
              <a:srgbClr val="1B3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902952" y="4572000"/>
            <a:ext cx="4572000" cy="4572000"/>
          </a:xfrm>
          <a:prstGeom prst="ellipse">
            <a:avLst/>
          </a:prstGeom>
          <a:noFill/>
          <a:ln cap="flat" cmpd="sng" w="19050">
            <a:solidFill>
              <a:srgbClr val="1B3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634472" y="5303520"/>
            <a:ext cx="3108960" cy="3108960"/>
          </a:xfrm>
          <a:prstGeom prst="ellipse">
            <a:avLst/>
          </a:prstGeom>
          <a:noFill/>
          <a:ln cap="flat" cmpd="sng" w="19050">
            <a:solidFill>
              <a:srgbClr val="1B3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58368" y="420624"/>
            <a:ext cx="8366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7A823"/>
                </a:solidFill>
                <a:latin typeface="Inter"/>
                <a:ea typeface="Inter"/>
                <a:cs typeface="Inter"/>
                <a:sym typeface="Inter"/>
              </a:rPr>
              <a:t>XXVI SBSEG 2026  ·  SALÃO DE FERRAMENTAS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58368" y="768096"/>
            <a:ext cx="8366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C2F0"/>
                </a:solidFill>
                <a:latin typeface="Inter"/>
                <a:ea typeface="Inter"/>
                <a:cs typeface="Inter"/>
                <a:sym typeface="Inter"/>
              </a:rPr>
              <a:t>1 a 4 de setembro de 2026  ·  Armação dos Búzios, RJ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58368" y="1115568"/>
            <a:ext cx="108356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AdminForge: Declarative Privileged-Identity Management for Linux Server Fleets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58368" y="3511296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A8C2F0"/>
                </a:solidFill>
                <a:latin typeface="Inter"/>
                <a:ea typeface="Inter"/>
                <a:cs typeface="Inter"/>
                <a:sym typeface="Inter"/>
              </a:rPr>
              <a:t>Gestão declarativa de identidades privilegiadas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58368" y="4187952"/>
            <a:ext cx="1463040" cy="54864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58368" y="4407408"/>
            <a:ext cx="10835640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Rui de Quadros Ribeiro  ·  Cristhian Kapelinski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Diego Kreutz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58375" y="5559550"/>
            <a:ext cx="1111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A8C2F0"/>
                </a:solidFill>
                <a:latin typeface="Inter"/>
                <a:ea typeface="Inter"/>
                <a:cs typeface="Inter"/>
                <a:sym typeface="Inter"/>
              </a:rPr>
              <a:t>AI Horizon Labs · PPGES, UNIPAMPA · CPD, UFRGS</a:t>
            </a:r>
            <a:endParaRPr/>
          </a:p>
        </p:txBody>
      </p:sp>
      <p:pic>
        <p:nvPicPr>
          <p:cNvPr descr="disponiveis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0" y="457200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2368" y="457200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5016" y="457200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27664" y="4572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horizonlabs.png" id="102" name="Google Shape;10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6373368"/>
            <a:ext cx="1496568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3" name="Google Shape;10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60320" y="6318504"/>
            <a:ext cx="722037" cy="475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04" name="Google Shape;10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49039" y="6291072"/>
            <a:ext cx="530352" cy="530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105" name="Google Shape;105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00016" y="6300216"/>
            <a:ext cx="67354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06" name="Google Shape;106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95360" y="6318504"/>
            <a:ext cx="857217" cy="475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7" name="Google Shape;107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66960" y="6300216"/>
            <a:ext cx="339865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8" name="Google Shape;108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917936" y="6291072"/>
            <a:ext cx="516576" cy="53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pic>
        <p:nvPicPr>
          <p:cNvPr descr="aihorizonlabs.png" id="116" name="Google Shape;1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17" name="Google Shape;1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119" name="Google Shape;11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20" name="Google Shape;12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Acesso privilegiado, host a host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749808" y="2066544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261872" y="1920240"/>
            <a:ext cx="5248656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Conta, chave SSH e sudo, servidor a servidor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749808" y="4133088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261872" y="3986784"/>
            <a:ext cx="5248656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Quem sai deixa chave para trás, sem inventário</a:t>
            </a:r>
            <a:endParaRPr/>
          </a:p>
        </p:txBody>
      </p:sp>
      <p:pic>
        <p:nvPicPr>
          <p:cNvPr descr="access-drift.png" id="127" name="Google Shape;12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216654"/>
            <a:ext cx="5120640" cy="2881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pic>
        <p:nvPicPr>
          <p:cNvPr descr="aihorizonlabs.png" id="135" name="Google Shape;1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36" name="Google Shape;1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37" name="Google Shape;13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138" name="Google Shape;13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39" name="Google Shape;13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 que credencial pesa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49808" y="1572768"/>
            <a:ext cx="39319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A5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36%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4846320" y="1700784"/>
            <a:ext cx="6601968" cy="1040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Violações:</a:t>
            </a: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 usam credencial roubada  ·  DBIR 2026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781771" y="3818546"/>
            <a:ext cx="393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B5C4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US$ 4,67 mi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4878283" y="3946562"/>
            <a:ext cx="66021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Custo:</a:t>
            </a: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 quando o vetor é credencial  ·  IBM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/>
          </a:p>
        </p:txBody>
      </p:sp>
      <p:pic>
        <p:nvPicPr>
          <p:cNvPr descr="aihorizonlabs.png"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54" name="Google Shape;1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55" name="Google Shape;15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156" name="Google Shape;15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57" name="Google Shape;15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LACUNA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Trabalhos relacionados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694944" y="1481328"/>
            <a:ext cx="298094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Ferramenta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3803904" y="1481328"/>
            <a:ext cx="375818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Sem serviço residente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7690104" y="1481328"/>
            <a:ext cx="371246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Estado declarativo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694944" y="2578608"/>
            <a:ext cx="10707624" cy="41148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94944" y="2761488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FreeIPA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3803904" y="2761488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7690104" y="2761488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94944" y="3474720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Teleport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3803904" y="3474720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7690104" y="3474720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parcial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694944" y="4187952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Boundary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3803904" y="4187952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7690104" y="4187952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parcial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694944" y="4901184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Ansible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3803904" y="4901184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7690104" y="4901184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530352" y="5522976"/>
            <a:ext cx="10927080" cy="694944"/>
          </a:xfrm>
          <a:prstGeom prst="roundRect">
            <a:avLst>
              <a:gd fmla="val 22000" name="adj"/>
            </a:avLst>
          </a:prstGeom>
          <a:solidFill>
            <a:srgbClr val="E8ED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694944" y="5614416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AdminForge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3803904" y="5614416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7690104" y="5614416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94944" y="3401568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94944" y="4114800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94944" y="4828032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94944" y="5541264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3739896" y="1481328"/>
            <a:ext cx="27432" cy="4773168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7626096" y="1481328"/>
            <a:ext cx="27432" cy="4773168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/>
          </a:p>
        </p:txBody>
      </p:sp>
      <p:pic>
        <p:nvPicPr>
          <p:cNvPr descr="aihorizonlabs.png" id="193" name="Google Shape;1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94" name="Google Shape;19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95" name="Google Shape;19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196" name="Google Shape;19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97" name="Google Shape;19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LACUNA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Trabalhos relacionados (2 de 2)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694944" y="1481328"/>
            <a:ext cx="298094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Ferramenta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3803904" y="1481328"/>
            <a:ext cx="375818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Concessão auditável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7690104" y="1481328"/>
            <a:ext cx="371246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Revogação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694944" y="2578608"/>
            <a:ext cx="10707624" cy="41148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694944" y="2761488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FreeIPA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3803904" y="2761488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diretório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7690104" y="2761488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edição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694944" y="3474720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Teleport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3803904" y="3474720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7690104" y="3474720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sessão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694944" y="4187952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Boundary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3803904" y="4187952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7690104" y="4187952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no controlador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94944" y="4901184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Ansible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3803904" y="4901184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7690104" y="4901184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manual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530352" y="5522976"/>
            <a:ext cx="10927080" cy="694944"/>
          </a:xfrm>
          <a:prstGeom prst="roundRect">
            <a:avLst>
              <a:gd fmla="val 22000" name="adj"/>
            </a:avLst>
          </a:prstGeom>
          <a:solidFill>
            <a:srgbClr val="E8ED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694944" y="5614416"/>
            <a:ext cx="2980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AdminForge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3803904" y="5614416"/>
            <a:ext cx="37581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sim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7690104" y="5614416"/>
            <a:ext cx="37124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no apply</a:t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694944" y="3401568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94944" y="4114800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94944" y="4828032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94944" y="5541264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739896" y="1481328"/>
            <a:ext cx="27432" cy="4773168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7626096" y="1481328"/>
            <a:ext cx="27432" cy="4773168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/>
          </a:p>
        </p:txBody>
      </p:sp>
      <p:pic>
        <p:nvPicPr>
          <p:cNvPr descr="aihorizonlabs.png" id="233" name="Google Shape;2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234" name="Google Shape;2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235" name="Google Shape;23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236" name="Google Shape;23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237" name="Google Shape;23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7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Arquitetura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56616" y="2029968"/>
            <a:ext cx="2615184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502920" y="2176272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502920" y="2761488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comandos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310128" y="2029968"/>
            <a:ext cx="2615184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3456432" y="2176272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Planner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3456432" y="2761488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delta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263640" y="2029968"/>
            <a:ext cx="2615184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6409944" y="2176272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Deployer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6409944" y="2761488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SSH</a:t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9217152" y="2029968"/>
            <a:ext cx="2615184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9363456" y="2176272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Hosts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9363456" y="2761488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798064" y="2633472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751576" y="2633472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8705088" y="2633472"/>
            <a:ext cx="45720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310128" y="3931920"/>
            <a:ext cx="2615184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3456432" y="4078224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3456432" y="4663440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JSON</a:t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9217152" y="3931920"/>
            <a:ext cx="2615184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9363456" y="4078224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Auditor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9363456" y="4663440"/>
            <a:ext cx="2322576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inspeciona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590288" y="3511296"/>
            <a:ext cx="45720" cy="42062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0497312" y="3511296"/>
            <a:ext cx="45720" cy="42062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925312" y="4654296"/>
            <a:ext cx="3291840" cy="4572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/>
          </a:p>
        </p:txBody>
      </p:sp>
      <p:pic>
        <p:nvPicPr>
          <p:cNvPr descr="aihorizonlabs.png" id="271" name="Google Shape;2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272" name="Google Shape;2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273" name="Google Shape;27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274" name="Google Shape;27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275" name="Google Shape;27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 operador faz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365760" y="1572768"/>
            <a:ext cx="5586984" cy="22402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566928" y="1627632"/>
            <a:ext cx="5184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Cadastrar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566928" y="2176272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Usuário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566928" y="2633472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Chave SSH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566928" y="3090672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Servidor</a:t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6236208" y="1572768"/>
            <a:ext cx="5586984" cy="22402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6437376" y="1627632"/>
            <a:ext cx="5184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Organizar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6437376" y="2176272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Grupos de usuários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6437376" y="2633472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Grupos de servidores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6437376" y="3090672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Perfis de sudo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365760" y="3913632"/>
            <a:ext cx="5586984" cy="22402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566928" y="3968496"/>
            <a:ext cx="5184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Conceder e aplicar</a:t>
            </a:r>
            <a:endParaRPr/>
          </a:p>
        </p:txBody>
      </p:sp>
      <p:sp>
        <p:nvSpPr>
          <p:cNvPr id="290" name="Google Shape;290;p8"/>
          <p:cNvSpPr txBox="1"/>
          <p:nvPr/>
        </p:nvSpPr>
        <p:spPr>
          <a:xfrm>
            <a:off x="566928" y="4517136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Conceder ou revogar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566928" y="4974336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Pré-visualizar</a:t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566928" y="5431536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Aplicar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6236208" y="3913632"/>
            <a:ext cx="5586984" cy="22402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6437376" y="3968496"/>
            <a:ext cx="5184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Verificar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6437376" y="4517136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Auditar usuários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6437376" y="4974336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Auditar serviços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6437376" y="5431536"/>
            <a:ext cx="51846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Ver histórico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/>
          </a:p>
        </p:txBody>
      </p:sp>
      <p:pic>
        <p:nvPicPr>
          <p:cNvPr descr="aihorizonlabs.png" id="305" name="Google Shape;3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306" name="Google Shape;3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307" name="Google Shape;30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308" name="Google Shape;30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309" name="Google Shape;30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Permissão liga grupo a grupo</a:t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749808" y="2212848"/>
            <a:ext cx="3291840" cy="26517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932688" y="246888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Usuário</a:t>
            </a:r>
            <a:endParaRPr/>
          </a:p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+ chave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932688" y="365760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grupo de usuários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4315968" y="2212848"/>
            <a:ext cx="3291840" cy="26517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4498848" y="246888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Permissão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4498848" y="365760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shell ou sudo</a:t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7882127" y="2212848"/>
            <a:ext cx="3291840" cy="26517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8065007" y="246888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Servidor</a:t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8065007" y="365760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grupo de servidores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3931920" y="3401568"/>
            <a:ext cx="32918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7498079" y="3401568"/>
            <a:ext cx="329184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749808" y="5266944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Uma política reutilizável, não uma linha por par.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pic>
        <p:nvPicPr>
          <p:cNvPr descr="aihorizonlabs.png" id="331" name="Google Shape;3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332" name="Google Shape;3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333" name="Google Shape;3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334" name="Google Shape;33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335" name="Google Shape;33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 de operação</a:t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749808" y="1755648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1060704" y="1755648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1883664" y="1755648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Registrar usuário, chave e hosts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749808" y="2871215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1060704" y="2871215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1883664" y="2871215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Organizar em grupos</a:t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749808" y="3986783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1060704" y="3986783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1883664" y="3986783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Conceder shell ou sudo</a:t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749808" y="5102352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1060704" y="5102352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349" name="Google Shape;349;p10"/>
          <p:cNvSpPr txBox="1"/>
          <p:nvPr/>
        </p:nvSpPr>
        <p:spPr>
          <a:xfrm>
            <a:off x="1883664" y="5102352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Preview, apply e verify</a:t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667512" y="1709928"/>
            <a:ext cx="10863072" cy="1097280"/>
          </a:xfrm>
          <a:prstGeom prst="roundRect">
            <a:avLst>
              <a:gd fmla="val 12000" name="adj"/>
            </a:avLst>
          </a:prstGeom>
          <a:noFill/>
          <a:ln cap="flat" cmpd="sng" w="2286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357" name="Google Shape;357;p11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/>
          </a:p>
        </p:txBody>
      </p:sp>
      <p:pic>
        <p:nvPicPr>
          <p:cNvPr descr="aihorizonlabs.png" id="358" name="Google Shape;3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359" name="Google Shape;3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360" name="Google Shape;36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361" name="Google Shape;36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362" name="Google Shape;362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364" name="Google Shape;364;p11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 de operação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749808" y="1755648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1060704" y="1755648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67" name="Google Shape;367;p11"/>
          <p:cNvSpPr txBox="1"/>
          <p:nvPr/>
        </p:nvSpPr>
        <p:spPr>
          <a:xfrm>
            <a:off x="1883664" y="1755648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Registrar usuário, chave e hosts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749808" y="2871215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1060704" y="2871215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1883664" y="2871215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Organizar em grupos</a:t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749808" y="3986783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1060704" y="3986783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1883664" y="3986783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Conceder shell ou sudo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749808" y="5102352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 txBox="1"/>
          <p:nvPr/>
        </p:nvSpPr>
        <p:spPr>
          <a:xfrm>
            <a:off x="1060704" y="5102352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376" name="Google Shape;376;p11"/>
          <p:cNvSpPr txBox="1"/>
          <p:nvPr/>
        </p:nvSpPr>
        <p:spPr>
          <a:xfrm>
            <a:off x="1883664" y="5102352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Preview, apply e verify</a:t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667512" y="2825496"/>
            <a:ext cx="10863072" cy="1097280"/>
          </a:xfrm>
          <a:prstGeom prst="roundRect">
            <a:avLst>
              <a:gd fmla="val 12000" name="adj"/>
            </a:avLst>
          </a:prstGeom>
          <a:noFill/>
          <a:ln cap="flat" cmpd="sng" w="2286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/>
          </a:p>
        </p:txBody>
      </p:sp>
      <p:pic>
        <p:nvPicPr>
          <p:cNvPr descr="aihorizonlabs.png" id="385" name="Google Shape;3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386" name="Google Shape;3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387" name="Google Shape;38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388" name="Google Shape;38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389" name="Google Shape;38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2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 de operação</a:t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749808" y="1755648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1060704" y="1755648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94" name="Google Shape;394;p12"/>
          <p:cNvSpPr txBox="1"/>
          <p:nvPr/>
        </p:nvSpPr>
        <p:spPr>
          <a:xfrm>
            <a:off x="1883664" y="1755648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Registrar usuário, chave e hosts</a:t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749808" y="2871215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1060704" y="2871215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1883664" y="2871215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Organizar em grupos</a:t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749808" y="3986783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1060704" y="3986783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1883664" y="3986783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Conceder shell ou sudo</a:t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749808" y="5102352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1060704" y="5102352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403" name="Google Shape;403;p12"/>
          <p:cNvSpPr txBox="1"/>
          <p:nvPr/>
        </p:nvSpPr>
        <p:spPr>
          <a:xfrm>
            <a:off x="1883664" y="5102352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Preview, apply e verify</a:t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667512" y="3941063"/>
            <a:ext cx="10863072" cy="1097280"/>
          </a:xfrm>
          <a:prstGeom prst="roundRect">
            <a:avLst>
              <a:gd fmla="val 12000" name="adj"/>
            </a:avLst>
          </a:prstGeom>
          <a:noFill/>
          <a:ln cap="flat" cmpd="sng" w="2286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/>
          </a:p>
        </p:txBody>
      </p:sp>
      <p:pic>
        <p:nvPicPr>
          <p:cNvPr descr="aihorizonlabs.png" id="412" name="Google Shape;4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413" name="Google Shape;4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414" name="Google Shape;41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415" name="Google Shape;41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416" name="Google Shape;41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3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418" name="Google Shape;418;p13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 de operação</a:t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749808" y="1755648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 txBox="1"/>
          <p:nvPr/>
        </p:nvSpPr>
        <p:spPr>
          <a:xfrm>
            <a:off x="1060704" y="1755648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421" name="Google Shape;421;p13"/>
          <p:cNvSpPr txBox="1"/>
          <p:nvPr/>
        </p:nvSpPr>
        <p:spPr>
          <a:xfrm>
            <a:off x="1883664" y="1755648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Registrar usuário, chave e hosts</a:t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749808" y="2871215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1060704" y="2871215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424" name="Google Shape;424;p13"/>
          <p:cNvSpPr txBox="1"/>
          <p:nvPr/>
        </p:nvSpPr>
        <p:spPr>
          <a:xfrm>
            <a:off x="1883664" y="2871215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Organizar em grupos</a:t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749808" y="3986783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 txBox="1"/>
          <p:nvPr/>
        </p:nvSpPr>
        <p:spPr>
          <a:xfrm>
            <a:off x="1060704" y="3986783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1883664" y="3986783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Conceder shell ou sudo</a:t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749808" y="5102352"/>
            <a:ext cx="10698480" cy="10058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1060704" y="5102352"/>
            <a:ext cx="640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/>
          </a:p>
        </p:txBody>
      </p:sp>
      <p:sp>
        <p:nvSpPr>
          <p:cNvPr id="430" name="Google Shape;430;p13"/>
          <p:cNvSpPr txBox="1"/>
          <p:nvPr/>
        </p:nvSpPr>
        <p:spPr>
          <a:xfrm>
            <a:off x="1883664" y="5102352"/>
            <a:ext cx="9235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Preview, apply e verify</a:t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667512" y="5056632"/>
            <a:ext cx="10863072" cy="1097280"/>
          </a:xfrm>
          <a:prstGeom prst="roundRect">
            <a:avLst>
              <a:gd fmla="val 12000" name="adj"/>
            </a:avLst>
          </a:prstGeom>
          <a:noFill/>
          <a:ln cap="flat" cmpd="sng" w="228600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4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438" name="Google Shape;438;p14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/>
          </a:p>
        </p:txBody>
      </p:sp>
      <p:pic>
        <p:nvPicPr>
          <p:cNvPr descr="aihorizonlabs.png" id="439" name="Google Shape;4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440" name="Google Shape;4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441" name="Google Shape;44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442" name="Google Shape;44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443" name="Google Shape;44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4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01 · SOLUÇÃO</a:t>
            </a:r>
            <a:endParaRPr/>
          </a:p>
        </p:txBody>
      </p:sp>
      <p:sp>
        <p:nvSpPr>
          <p:cNvPr id="445" name="Google Shape;445;p14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Rotinas de operação</a:t>
            </a:r>
            <a:endParaRPr/>
          </a:p>
        </p:txBody>
      </p:sp>
      <p:sp>
        <p:nvSpPr>
          <p:cNvPr id="446" name="Google Shape;446;p14"/>
          <p:cNvSpPr txBox="1"/>
          <p:nvPr/>
        </p:nvSpPr>
        <p:spPr>
          <a:xfrm>
            <a:off x="749808" y="2194560"/>
            <a:ext cx="10698480" cy="520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Desligamento</a:t>
            </a: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 · disable + apply tira as chaves</a:t>
            </a:r>
            <a:endParaRPr/>
          </a:p>
        </p:txBody>
      </p:sp>
      <p:sp>
        <p:nvSpPr>
          <p:cNvPr id="447" name="Google Shape;447;p14"/>
          <p:cNvSpPr txBox="1"/>
          <p:nvPr/>
        </p:nvSpPr>
        <p:spPr>
          <a:xfrm>
            <a:off x="749808" y="3281679"/>
            <a:ext cx="10698480" cy="520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Investigação</a:t>
            </a: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 · audit server aponta o desvio</a:t>
            </a:r>
            <a:endParaRPr/>
          </a:p>
        </p:txBody>
      </p:sp>
      <p:sp>
        <p:nvSpPr>
          <p:cNvPr id="448" name="Google Shape;448;p14"/>
          <p:cNvSpPr txBox="1"/>
          <p:nvPr/>
        </p:nvSpPr>
        <p:spPr>
          <a:xfrm>
            <a:off x="749808" y="4368800"/>
            <a:ext cx="10698480" cy="520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Integridade</a:t>
            </a: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 · history verify confere a cadeia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455" name="Google Shape;455;p15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/>
          </a:p>
        </p:txBody>
      </p:sp>
      <p:pic>
        <p:nvPicPr>
          <p:cNvPr descr="aihorizonlabs.png" id="456" name="Google Shape;4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457" name="Google Shape;45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458" name="Google Shape;45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459" name="Google Shape;45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460" name="Google Shape;46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5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MODELO DE AMEAÇAS</a:t>
            </a:r>
            <a:endParaRPr/>
          </a:p>
        </p:txBody>
      </p:sp>
      <p:sp>
        <p:nvSpPr>
          <p:cNvPr id="462" name="Google Shape;462;p15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 desenho reduz</a:t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749808" y="2157984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 txBox="1"/>
          <p:nvPr/>
        </p:nvSpPr>
        <p:spPr>
          <a:xfrm>
            <a:off x="1261872" y="2011680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Nenhum serviço novo exposto na frota</a:t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749808" y="3176016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 txBox="1"/>
          <p:nvPr/>
        </p:nvSpPr>
        <p:spPr>
          <a:xfrm>
            <a:off x="1261872" y="3029712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Sudo restrito por perfil de comandos</a:t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749808" y="4194048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 txBox="1"/>
          <p:nvPr/>
        </p:nvSpPr>
        <p:spPr>
          <a:xfrm>
            <a:off x="1261872" y="4047744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Desvio no host vira coisa detectável</a:t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749808" y="5212080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 txBox="1"/>
          <p:nvPr/>
        </p:nvSpPr>
        <p:spPr>
          <a:xfrm>
            <a:off x="1261872" y="5065776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Histórico encadeado denuncia reescrita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477" name="Google Shape;477;p16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/>
          </a:p>
        </p:txBody>
      </p:sp>
      <p:pic>
        <p:nvPicPr>
          <p:cNvPr descr="aihorizonlabs.png" id="478" name="Google Shape;47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479" name="Google Shape;4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480" name="Google Shape;48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481" name="Google Shape;48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482" name="Google Shape;48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6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MODELO DE AMEAÇAS</a:t>
            </a:r>
            <a:endParaRPr/>
          </a:p>
        </p:txBody>
      </p:sp>
      <p:sp>
        <p:nvSpPr>
          <p:cNvPr id="484" name="Google Shape;484;p16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 desenho não cobre</a:t>
            </a: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749808" y="2340864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 txBox="1"/>
          <p:nvPr/>
        </p:nvSpPr>
        <p:spPr>
          <a:xfrm>
            <a:off x="1261872" y="2194560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Uso do privilégio depois de concedido</a:t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749808" y="3450336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 txBox="1"/>
          <p:nvPr/>
        </p:nvSpPr>
        <p:spPr>
          <a:xfrm>
            <a:off x="1261872" y="3304032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Estação do operador comprometida</a:t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749808" y="4297680"/>
            <a:ext cx="10698480" cy="129844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 txBox="1"/>
          <p:nvPr/>
        </p:nvSpPr>
        <p:spPr>
          <a:xfrm>
            <a:off x="1133856" y="4498848"/>
            <a:ext cx="99303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Menos exposição na frota é mais confiança depositada no operador.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497" name="Google Shape;497;p17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  <a:endParaRPr/>
          </a:p>
        </p:txBody>
      </p:sp>
      <p:pic>
        <p:nvPicPr>
          <p:cNvPr descr="aihorizonlabs.png" id="498" name="Google Shape;4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499" name="Google Shape;4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500" name="Google Shape;5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501" name="Google Shape;50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502" name="Google Shape;50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7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02 · AVALIAÇÃO</a:t>
            </a:r>
            <a:endParaRPr/>
          </a:p>
        </p:txBody>
      </p:sp>
      <p:sp>
        <p:nvSpPr>
          <p:cNvPr id="504" name="Google Shape;504;p17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Estudo de usabilidade</a:t>
            </a:r>
            <a:endParaRPr/>
          </a:p>
        </p:txBody>
      </p:sp>
      <p:sp>
        <p:nvSpPr>
          <p:cNvPr id="505" name="Google Shape;505;p17"/>
          <p:cNvSpPr txBox="1"/>
          <p:nvPr/>
        </p:nvSpPr>
        <p:spPr>
          <a:xfrm>
            <a:off x="749808" y="1773936"/>
            <a:ext cx="34838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Item</a:t>
            </a:r>
            <a:endParaRPr/>
          </a:p>
        </p:txBody>
      </p:sp>
      <p:sp>
        <p:nvSpPr>
          <p:cNvPr id="506" name="Google Shape;506;p17"/>
          <p:cNvSpPr txBox="1"/>
          <p:nvPr/>
        </p:nvSpPr>
        <p:spPr>
          <a:xfrm>
            <a:off x="4361688" y="1773936"/>
            <a:ext cx="69585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Desenho</a:t>
            </a: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749808" y="2304288"/>
            <a:ext cx="10570463" cy="41148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749808" y="2487168"/>
            <a:ext cx="34838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Participantes</a:t>
            </a:r>
            <a:endParaRPr/>
          </a:p>
        </p:txBody>
      </p:sp>
      <p:sp>
        <p:nvSpPr>
          <p:cNvPr id="509" name="Google Shape;509;p17"/>
          <p:cNvSpPr txBox="1"/>
          <p:nvPr/>
        </p:nvSpPr>
        <p:spPr>
          <a:xfrm>
            <a:off x="4361688" y="2487168"/>
            <a:ext cx="69585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 administradores Linux</a:t>
            </a:r>
            <a:endParaRPr/>
          </a:p>
        </p:txBody>
      </p:sp>
      <p:sp>
        <p:nvSpPr>
          <p:cNvPr id="510" name="Google Shape;510;p17"/>
          <p:cNvSpPr txBox="1"/>
          <p:nvPr/>
        </p:nvSpPr>
        <p:spPr>
          <a:xfrm>
            <a:off x="749808" y="3419856"/>
            <a:ext cx="34838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Cenário</a:t>
            </a:r>
            <a:endParaRPr/>
          </a:p>
        </p:txBody>
      </p:sp>
      <p:sp>
        <p:nvSpPr>
          <p:cNvPr id="511" name="Google Shape;511;p17"/>
          <p:cNvSpPr txBox="1"/>
          <p:nvPr/>
        </p:nvSpPr>
        <p:spPr>
          <a:xfrm>
            <a:off x="4361688" y="3419856"/>
            <a:ext cx="69585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3 hosts, sessão moderada</a:t>
            </a:r>
            <a:endParaRPr/>
          </a:p>
        </p:txBody>
      </p:sp>
      <p:sp>
        <p:nvSpPr>
          <p:cNvPr id="512" name="Google Shape;512;p17"/>
          <p:cNvSpPr txBox="1"/>
          <p:nvPr/>
        </p:nvSpPr>
        <p:spPr>
          <a:xfrm>
            <a:off x="749808" y="4352544"/>
            <a:ext cx="34838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Tarefas</a:t>
            </a:r>
            <a:endParaRPr/>
          </a:p>
        </p:txBody>
      </p:sp>
      <p:sp>
        <p:nvSpPr>
          <p:cNvPr id="513" name="Google Shape;513;p17"/>
          <p:cNvSpPr txBox="1"/>
          <p:nvPr/>
        </p:nvSpPr>
        <p:spPr>
          <a:xfrm>
            <a:off x="4361688" y="4352544"/>
            <a:ext cx="69585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9, em ordem fixa</a:t>
            </a:r>
            <a:endParaRPr/>
          </a:p>
        </p:txBody>
      </p:sp>
      <p:sp>
        <p:nvSpPr>
          <p:cNvPr id="514" name="Google Shape;514;p17"/>
          <p:cNvSpPr txBox="1"/>
          <p:nvPr/>
        </p:nvSpPr>
        <p:spPr>
          <a:xfrm>
            <a:off x="749808" y="5285231"/>
            <a:ext cx="348386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Medição</a:t>
            </a:r>
            <a:endParaRPr/>
          </a:p>
        </p:txBody>
      </p:sp>
      <p:sp>
        <p:nvSpPr>
          <p:cNvPr id="515" name="Google Shape;515;p17"/>
          <p:cNvSpPr txBox="1"/>
          <p:nvPr/>
        </p:nvSpPr>
        <p:spPr>
          <a:xfrm>
            <a:off x="4361688" y="5285231"/>
            <a:ext cx="695858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Likert 1–7 e protocolo verbal</a:t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>
            <a:off x="749808" y="3346704"/>
            <a:ext cx="10570463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749808" y="4279392"/>
            <a:ext cx="10570463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749808" y="5212079"/>
            <a:ext cx="10570463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297680" y="1773936"/>
            <a:ext cx="27432" cy="4370831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526" name="Google Shape;526;p18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  <a:endParaRPr/>
          </a:p>
        </p:txBody>
      </p:sp>
      <p:pic>
        <p:nvPicPr>
          <p:cNvPr descr="aihorizonlabs.png" id="527" name="Google Shape;5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528" name="Google Shape;5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529" name="Google Shape;52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530" name="Google Shape;53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531" name="Google Shape;53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8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02 · AVALIAÇÃO</a:t>
            </a:r>
            <a:endParaRPr/>
          </a:p>
        </p:txBody>
      </p:sp>
      <p:sp>
        <p:nvSpPr>
          <p:cNvPr id="533" name="Google Shape;533;p18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do estudo</a:t>
            </a:r>
            <a:endParaRPr/>
          </a:p>
        </p:txBody>
      </p:sp>
      <p:sp>
        <p:nvSpPr>
          <p:cNvPr id="534" name="Google Shape;534;p18"/>
          <p:cNvSpPr txBox="1"/>
          <p:nvPr/>
        </p:nvSpPr>
        <p:spPr>
          <a:xfrm>
            <a:off x="694944" y="1481328"/>
            <a:ext cx="526694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Construto</a:t>
            </a:r>
            <a:endParaRPr/>
          </a:p>
        </p:txBody>
      </p:sp>
      <p:sp>
        <p:nvSpPr>
          <p:cNvPr id="535" name="Google Shape;535;p18"/>
          <p:cNvSpPr txBox="1"/>
          <p:nvPr/>
        </p:nvSpPr>
        <p:spPr>
          <a:xfrm>
            <a:off x="6089904" y="1481328"/>
            <a:ext cx="1975103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Mediana</a:t>
            </a:r>
            <a:endParaRPr/>
          </a:p>
        </p:txBody>
      </p:sp>
      <p:sp>
        <p:nvSpPr>
          <p:cNvPr id="536" name="Google Shape;536;p18"/>
          <p:cNvSpPr txBox="1"/>
          <p:nvPr/>
        </p:nvSpPr>
        <p:spPr>
          <a:xfrm>
            <a:off x="8193024" y="1481328"/>
            <a:ext cx="3209544" cy="10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Intervalo interquartil</a:t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694944" y="2578608"/>
            <a:ext cx="10707624" cy="41148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 txBox="1"/>
          <p:nvPr/>
        </p:nvSpPr>
        <p:spPr>
          <a:xfrm>
            <a:off x="694944" y="2761488"/>
            <a:ext cx="5266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Utilidade percebida</a:t>
            </a:r>
            <a:endParaRPr/>
          </a:p>
        </p:txBody>
      </p:sp>
      <p:sp>
        <p:nvSpPr>
          <p:cNvPr id="539" name="Google Shape;539;p18"/>
          <p:cNvSpPr txBox="1"/>
          <p:nvPr/>
        </p:nvSpPr>
        <p:spPr>
          <a:xfrm>
            <a:off x="6089904" y="2761488"/>
            <a:ext cx="197510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540" name="Google Shape;540;p18"/>
          <p:cNvSpPr txBox="1"/>
          <p:nvPr/>
        </p:nvSpPr>
        <p:spPr>
          <a:xfrm>
            <a:off x="8193024" y="2761488"/>
            <a:ext cx="32095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3,8 a 7,0</a:t>
            </a:r>
            <a:endParaRPr/>
          </a:p>
        </p:txBody>
      </p:sp>
      <p:sp>
        <p:nvSpPr>
          <p:cNvPr id="541" name="Google Shape;541;p18"/>
          <p:cNvSpPr txBox="1"/>
          <p:nvPr/>
        </p:nvSpPr>
        <p:spPr>
          <a:xfrm>
            <a:off x="694944" y="3529584"/>
            <a:ext cx="5266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Facilidade de uso</a:t>
            </a:r>
            <a:endParaRPr/>
          </a:p>
        </p:txBody>
      </p:sp>
      <p:sp>
        <p:nvSpPr>
          <p:cNvPr id="542" name="Google Shape;542;p18"/>
          <p:cNvSpPr txBox="1"/>
          <p:nvPr/>
        </p:nvSpPr>
        <p:spPr>
          <a:xfrm>
            <a:off x="6089904" y="3529584"/>
            <a:ext cx="197510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543" name="Google Shape;543;p18"/>
          <p:cNvSpPr txBox="1"/>
          <p:nvPr/>
        </p:nvSpPr>
        <p:spPr>
          <a:xfrm>
            <a:off x="8193024" y="3529584"/>
            <a:ext cx="32095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4,5 a 7,0</a:t>
            </a:r>
            <a:endParaRPr/>
          </a:p>
        </p:txBody>
      </p:sp>
      <p:sp>
        <p:nvSpPr>
          <p:cNvPr id="544" name="Google Shape;544;p18"/>
          <p:cNvSpPr txBox="1"/>
          <p:nvPr/>
        </p:nvSpPr>
        <p:spPr>
          <a:xfrm>
            <a:off x="694944" y="4297680"/>
            <a:ext cx="5266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Intenção de uso</a:t>
            </a:r>
            <a:endParaRPr/>
          </a:p>
        </p:txBody>
      </p:sp>
      <p:sp>
        <p:nvSpPr>
          <p:cNvPr id="545" name="Google Shape;545;p18"/>
          <p:cNvSpPr txBox="1"/>
          <p:nvPr/>
        </p:nvSpPr>
        <p:spPr>
          <a:xfrm>
            <a:off x="6089904" y="4297680"/>
            <a:ext cx="197510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546" name="Google Shape;546;p18"/>
          <p:cNvSpPr txBox="1"/>
          <p:nvPr/>
        </p:nvSpPr>
        <p:spPr>
          <a:xfrm>
            <a:off x="8193024" y="4297680"/>
            <a:ext cx="32095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4,5 a 7,0</a:t>
            </a:r>
            <a:endParaRPr/>
          </a:p>
        </p:txBody>
      </p:sp>
      <p:sp>
        <p:nvSpPr>
          <p:cNvPr id="547" name="Google Shape;547;p18"/>
          <p:cNvSpPr txBox="1"/>
          <p:nvPr/>
        </p:nvSpPr>
        <p:spPr>
          <a:xfrm>
            <a:off x="694944" y="5065776"/>
            <a:ext cx="52669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Confiança e segurança</a:t>
            </a:r>
            <a:endParaRPr/>
          </a:p>
        </p:txBody>
      </p:sp>
      <p:sp>
        <p:nvSpPr>
          <p:cNvPr id="548" name="Google Shape;548;p18"/>
          <p:cNvSpPr txBox="1"/>
          <p:nvPr/>
        </p:nvSpPr>
        <p:spPr>
          <a:xfrm>
            <a:off x="6089904" y="5065776"/>
            <a:ext cx="197510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549" name="Google Shape;549;p18"/>
          <p:cNvSpPr txBox="1"/>
          <p:nvPr/>
        </p:nvSpPr>
        <p:spPr>
          <a:xfrm>
            <a:off x="8193024" y="5065776"/>
            <a:ext cx="320954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3,0 a 7,0</a:t>
            </a: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694944" y="3456432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694944" y="4224528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694944" y="4992624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6025896" y="1481328"/>
            <a:ext cx="27432" cy="427939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8129016" y="1481328"/>
            <a:ext cx="27432" cy="427939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 txBox="1"/>
          <p:nvPr/>
        </p:nvSpPr>
        <p:spPr>
          <a:xfrm>
            <a:off x="749808" y="5760720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Proteção contra erro perigoso fica em 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562" name="Google Shape;562;p19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</a:t>
            </a:r>
            <a:endParaRPr/>
          </a:p>
        </p:txBody>
      </p:sp>
      <p:pic>
        <p:nvPicPr>
          <p:cNvPr descr="aihorizonlabs.png" id="563" name="Google Shape;5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564" name="Google Shape;5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565" name="Google Shape;5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566" name="Google Shape;5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567" name="Google Shape;5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9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02 · AVALIAÇÃO</a:t>
            </a:r>
            <a:endParaRPr/>
          </a:p>
        </p:txBody>
      </p:sp>
      <p:sp>
        <p:nvSpPr>
          <p:cNvPr id="569" name="Google Shape;569;p19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Escalabilidade em 50 hosts</a:t>
            </a:r>
            <a:endParaRPr/>
          </a:p>
        </p:txBody>
      </p:sp>
      <p:pic>
        <p:nvPicPr>
          <p:cNvPr descr="escala.png" id="570" name="Google Shape;5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5065" y="1645920"/>
            <a:ext cx="9757109" cy="4041649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9"/>
          <p:cNvSpPr txBox="1"/>
          <p:nvPr/>
        </p:nvSpPr>
        <p:spPr>
          <a:xfrm>
            <a:off x="749808" y="5760720"/>
            <a:ext cx="1069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Medianas de 5 repetições  ·  frota Docker 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578" name="Google Shape;578;p20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/>
          </a:p>
        </p:txBody>
      </p:sp>
      <p:pic>
        <p:nvPicPr>
          <p:cNvPr descr="aihorizonlabs.png" id="579" name="Google Shape;5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580" name="Google Shape;5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581" name="Google Shape;5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582" name="Google Shape;5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583" name="Google Shape;5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0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02 · AVALIAÇÃO</a:t>
            </a:r>
            <a:endParaRPr/>
          </a:p>
        </p:txBody>
      </p:sp>
      <p:sp>
        <p:nvSpPr>
          <p:cNvPr id="585" name="Google Shape;585;p20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Comparação com o Ansible</a:t>
            </a:r>
            <a:endParaRPr/>
          </a:p>
        </p:txBody>
      </p:sp>
      <p:sp>
        <p:nvSpPr>
          <p:cNvPr id="586" name="Google Shape;586;p20"/>
          <p:cNvSpPr txBox="1"/>
          <p:nvPr/>
        </p:nvSpPr>
        <p:spPr>
          <a:xfrm>
            <a:off x="749808" y="1682496"/>
            <a:ext cx="362102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Operação</a:t>
            </a:r>
            <a:endParaRPr/>
          </a:p>
        </p:txBody>
      </p:sp>
      <p:sp>
        <p:nvSpPr>
          <p:cNvPr id="587" name="Google Shape;587;p20"/>
          <p:cNvSpPr txBox="1"/>
          <p:nvPr/>
        </p:nvSpPr>
        <p:spPr>
          <a:xfrm>
            <a:off x="4498848" y="1682496"/>
            <a:ext cx="27066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AdminForge</a:t>
            </a:r>
            <a:endParaRPr/>
          </a:p>
        </p:txBody>
      </p:sp>
      <p:sp>
        <p:nvSpPr>
          <p:cNvPr id="588" name="Google Shape;588;p20"/>
          <p:cNvSpPr txBox="1"/>
          <p:nvPr/>
        </p:nvSpPr>
        <p:spPr>
          <a:xfrm>
            <a:off x="7333488" y="1682496"/>
            <a:ext cx="22494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Ansible</a:t>
            </a:r>
            <a:endParaRPr/>
          </a:p>
        </p:txBody>
      </p:sp>
      <p:sp>
        <p:nvSpPr>
          <p:cNvPr id="589" name="Google Shape;589;p20"/>
          <p:cNvSpPr txBox="1"/>
          <p:nvPr/>
        </p:nvSpPr>
        <p:spPr>
          <a:xfrm>
            <a:off x="9710928" y="1682496"/>
            <a:ext cx="174650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Razão</a:t>
            </a: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749808" y="2212848"/>
            <a:ext cx="10707624" cy="41148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 txBox="1"/>
          <p:nvPr/>
        </p:nvSpPr>
        <p:spPr>
          <a:xfrm>
            <a:off x="749808" y="2395728"/>
            <a:ext cx="362102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1ª execução</a:t>
            </a:r>
            <a:endParaRPr/>
          </a:p>
        </p:txBody>
      </p:sp>
      <p:sp>
        <p:nvSpPr>
          <p:cNvPr id="592" name="Google Shape;592;p20"/>
          <p:cNvSpPr txBox="1"/>
          <p:nvPr/>
        </p:nvSpPr>
        <p:spPr>
          <a:xfrm>
            <a:off x="4498848" y="2395728"/>
            <a:ext cx="27066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38,7 s</a:t>
            </a:r>
            <a:endParaRPr/>
          </a:p>
        </p:txBody>
      </p:sp>
      <p:sp>
        <p:nvSpPr>
          <p:cNvPr id="593" name="Google Shape;593;p20"/>
          <p:cNvSpPr txBox="1"/>
          <p:nvPr/>
        </p:nvSpPr>
        <p:spPr>
          <a:xfrm>
            <a:off x="7333488" y="2395728"/>
            <a:ext cx="22494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59,4 s</a:t>
            </a:r>
            <a:endParaRPr/>
          </a:p>
        </p:txBody>
      </p:sp>
      <p:sp>
        <p:nvSpPr>
          <p:cNvPr id="594" name="Google Shape;594;p20"/>
          <p:cNvSpPr txBox="1"/>
          <p:nvPr/>
        </p:nvSpPr>
        <p:spPr>
          <a:xfrm>
            <a:off x="9710928" y="2395728"/>
            <a:ext cx="174650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1,5×</a:t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585215" y="3346703"/>
            <a:ext cx="10927080" cy="1024127"/>
          </a:xfrm>
          <a:prstGeom prst="roundRect">
            <a:avLst>
              <a:gd fmla="val 22000" name="adj"/>
            </a:avLst>
          </a:prstGeom>
          <a:solidFill>
            <a:srgbClr val="E8ED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 txBox="1"/>
          <p:nvPr/>
        </p:nvSpPr>
        <p:spPr>
          <a:xfrm>
            <a:off x="749808" y="3438144"/>
            <a:ext cx="362102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Sem mudança</a:t>
            </a:r>
            <a:endParaRPr/>
          </a:p>
        </p:txBody>
      </p:sp>
      <p:sp>
        <p:nvSpPr>
          <p:cNvPr id="597" name="Google Shape;597;p20"/>
          <p:cNvSpPr txBox="1"/>
          <p:nvPr/>
        </p:nvSpPr>
        <p:spPr>
          <a:xfrm>
            <a:off x="4498848" y="3438144"/>
            <a:ext cx="27066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0,24 s</a:t>
            </a:r>
            <a:endParaRPr/>
          </a:p>
        </p:txBody>
      </p:sp>
      <p:sp>
        <p:nvSpPr>
          <p:cNvPr id="598" name="Google Shape;598;p20"/>
          <p:cNvSpPr txBox="1"/>
          <p:nvPr/>
        </p:nvSpPr>
        <p:spPr>
          <a:xfrm>
            <a:off x="7333488" y="3438144"/>
            <a:ext cx="22494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57,4 s</a:t>
            </a:r>
            <a:endParaRPr/>
          </a:p>
        </p:txBody>
      </p:sp>
      <p:sp>
        <p:nvSpPr>
          <p:cNvPr id="599" name="Google Shape;599;p20"/>
          <p:cNvSpPr txBox="1"/>
          <p:nvPr/>
        </p:nvSpPr>
        <p:spPr>
          <a:xfrm>
            <a:off x="9710928" y="3438144"/>
            <a:ext cx="174650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236×</a:t>
            </a:r>
            <a:endParaRPr/>
          </a:p>
        </p:txBody>
      </p:sp>
      <p:sp>
        <p:nvSpPr>
          <p:cNvPr id="600" name="Google Shape;600;p20"/>
          <p:cNvSpPr txBox="1"/>
          <p:nvPr/>
        </p:nvSpPr>
        <p:spPr>
          <a:xfrm>
            <a:off x="749808" y="4480559"/>
            <a:ext cx="362102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Auditoria</a:t>
            </a:r>
            <a:endParaRPr/>
          </a:p>
        </p:txBody>
      </p:sp>
      <p:sp>
        <p:nvSpPr>
          <p:cNvPr id="601" name="Google Shape;601;p20"/>
          <p:cNvSpPr txBox="1"/>
          <p:nvPr/>
        </p:nvSpPr>
        <p:spPr>
          <a:xfrm>
            <a:off x="4498848" y="4480559"/>
            <a:ext cx="27066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0,87 s</a:t>
            </a:r>
            <a:endParaRPr/>
          </a:p>
        </p:txBody>
      </p:sp>
      <p:sp>
        <p:nvSpPr>
          <p:cNvPr id="602" name="Google Shape;602;p20"/>
          <p:cNvSpPr txBox="1"/>
          <p:nvPr/>
        </p:nvSpPr>
        <p:spPr>
          <a:xfrm>
            <a:off x="7333488" y="4480559"/>
            <a:ext cx="2249424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57,4 s</a:t>
            </a:r>
            <a:endParaRPr/>
          </a:p>
        </p:txBody>
      </p:sp>
      <p:sp>
        <p:nvSpPr>
          <p:cNvPr id="603" name="Google Shape;603;p20"/>
          <p:cNvSpPr txBox="1"/>
          <p:nvPr/>
        </p:nvSpPr>
        <p:spPr>
          <a:xfrm>
            <a:off x="9710928" y="4480559"/>
            <a:ext cx="1746503" cy="57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66×</a:t>
            </a:r>
            <a:endParaRPr/>
          </a:p>
        </p:txBody>
      </p:sp>
      <p:sp>
        <p:nvSpPr>
          <p:cNvPr id="604" name="Google Shape;604;p20"/>
          <p:cNvSpPr/>
          <p:nvPr/>
        </p:nvSpPr>
        <p:spPr>
          <a:xfrm>
            <a:off x="749808" y="3364991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749808" y="4407407"/>
            <a:ext cx="10707624" cy="27432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4434840" y="1682496"/>
            <a:ext cx="27432" cy="3767327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7269479" y="1682496"/>
            <a:ext cx="27432" cy="3767327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9646919" y="1682496"/>
            <a:ext cx="27432" cy="3767327"/>
          </a:xfrm>
          <a:prstGeom prst="rect">
            <a:avLst/>
          </a:prstGeom>
          <a:solidFill>
            <a:srgbClr val="3F5A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 txBox="1"/>
          <p:nvPr/>
        </p:nvSpPr>
        <p:spPr>
          <a:xfrm>
            <a:off x="749808" y="5541264"/>
            <a:ext cx="1069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Frota Docker  ·  N=50  ·  25 conexões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1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616" name="Google Shape;616;p21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/>
          </a:p>
        </p:txBody>
      </p:sp>
      <p:pic>
        <p:nvPicPr>
          <p:cNvPr descr="aihorizonlabs.png" id="617" name="Google Shape;6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618" name="Google Shape;6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619" name="Google Shape;6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620" name="Google Shape;6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621" name="Google Shape;6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1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02 · AVALIAÇÃO</a:t>
            </a:r>
            <a:endParaRPr/>
          </a:p>
        </p:txBody>
      </p:sp>
      <p:sp>
        <p:nvSpPr>
          <p:cNvPr id="623" name="Google Shape;623;p21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Esforço de configuração</a:t>
            </a:r>
            <a:endParaRPr/>
          </a:p>
        </p:txBody>
      </p:sp>
      <p:sp>
        <p:nvSpPr>
          <p:cNvPr id="624" name="Google Shape;624;p21"/>
          <p:cNvSpPr txBox="1"/>
          <p:nvPr/>
        </p:nvSpPr>
        <p:spPr>
          <a:xfrm>
            <a:off x="749808" y="182880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B5C4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29</a:t>
            </a:r>
            <a:endParaRPr/>
          </a:p>
        </p:txBody>
      </p:sp>
      <p:sp>
        <p:nvSpPr>
          <p:cNvPr id="625" name="Google Shape;625;p21"/>
          <p:cNvSpPr txBox="1"/>
          <p:nvPr/>
        </p:nvSpPr>
        <p:spPr>
          <a:xfrm>
            <a:off x="3986784" y="1865376"/>
            <a:ext cx="746150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AdminForge</a:t>
            </a:r>
            <a:endParaRPr/>
          </a:p>
        </p:txBody>
      </p:sp>
      <p:sp>
        <p:nvSpPr>
          <p:cNvPr id="626" name="Google Shape;626;p21"/>
          <p:cNvSpPr txBox="1"/>
          <p:nvPr/>
        </p:nvSpPr>
        <p:spPr>
          <a:xfrm>
            <a:off x="3986784" y="2395728"/>
            <a:ext cx="7461503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comandos de CLI para pôr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10 administradores em 10 hosts</a:t>
            </a:r>
            <a:endParaRPr/>
          </a:p>
        </p:txBody>
      </p:sp>
      <p:sp>
        <p:nvSpPr>
          <p:cNvPr id="627" name="Google Shape;627;p21"/>
          <p:cNvSpPr txBox="1"/>
          <p:nvPr/>
        </p:nvSpPr>
        <p:spPr>
          <a:xfrm>
            <a:off x="749808" y="3675887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A5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78</a:t>
            </a:r>
            <a:endParaRPr/>
          </a:p>
        </p:txBody>
      </p:sp>
      <p:sp>
        <p:nvSpPr>
          <p:cNvPr id="628" name="Google Shape;628;p21"/>
          <p:cNvSpPr txBox="1"/>
          <p:nvPr/>
        </p:nvSpPr>
        <p:spPr>
          <a:xfrm>
            <a:off x="3986784" y="3712463"/>
            <a:ext cx="7461503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Ansible</a:t>
            </a:r>
            <a:endParaRPr/>
          </a:p>
        </p:txBody>
      </p:sp>
      <p:sp>
        <p:nvSpPr>
          <p:cNvPr id="629" name="Google Shape;629;p21"/>
          <p:cNvSpPr txBox="1"/>
          <p:nvPr/>
        </p:nvSpPr>
        <p:spPr>
          <a:xfrm>
            <a:off x="3986784" y="4242816"/>
            <a:ext cx="7461503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linhas de YAML: inventário,</a:t>
            </a:r>
            <a:endParaRPr/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playbook e lista de usuários</a:t>
            </a:r>
            <a:endParaRPr/>
          </a:p>
        </p:txBody>
      </p:sp>
      <p:sp>
        <p:nvSpPr>
          <p:cNvPr id="630" name="Google Shape;630;p21"/>
          <p:cNvSpPr txBox="1"/>
          <p:nvPr/>
        </p:nvSpPr>
        <p:spPr>
          <a:xfrm>
            <a:off x="749808" y="5486400"/>
            <a:ext cx="1069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Mesmo efeito final, mesma frota, N=10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2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637" name="Google Shape;637;p22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</a:t>
            </a:r>
            <a:endParaRPr/>
          </a:p>
        </p:txBody>
      </p:sp>
      <p:pic>
        <p:nvPicPr>
          <p:cNvPr descr="aihorizonlabs.png" id="638" name="Google Shape;6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639" name="Google Shape;6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640" name="Google Shape;6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641" name="Google Shape;6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642" name="Google Shape;64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2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03 · FECHO</a:t>
            </a:r>
            <a:endParaRPr/>
          </a:p>
        </p:txBody>
      </p:sp>
      <p:sp>
        <p:nvSpPr>
          <p:cNvPr id="644" name="Google Shape;644;p22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Limitações</a:t>
            </a:r>
            <a:endParaRPr/>
          </a:p>
        </p:txBody>
      </p:sp>
      <p:sp>
        <p:nvSpPr>
          <p:cNvPr id="645" name="Google Shape;645;p22"/>
          <p:cNvSpPr/>
          <p:nvPr/>
        </p:nvSpPr>
        <p:spPr>
          <a:xfrm>
            <a:off x="749808" y="2103120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 txBox="1"/>
          <p:nvPr/>
        </p:nvSpPr>
        <p:spPr>
          <a:xfrm>
            <a:off x="1261872" y="1956816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5 participantes, sessão única, em laboratório</a:t>
            </a:r>
            <a:endParaRPr/>
          </a:p>
        </p:txBody>
      </p:sp>
      <p:sp>
        <p:nvSpPr>
          <p:cNvPr id="647" name="Google Shape;647;p22"/>
          <p:cNvSpPr/>
          <p:nvPr/>
        </p:nvSpPr>
        <p:spPr>
          <a:xfrm>
            <a:off x="746608" y="2941311"/>
            <a:ext cx="219600" cy="219600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 txBox="1"/>
          <p:nvPr/>
        </p:nvSpPr>
        <p:spPr>
          <a:xfrm>
            <a:off x="1258672" y="2795007"/>
            <a:ext cx="1018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Estação do operador é ponto único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655" name="Google Shape;655;p23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</a:t>
            </a:r>
            <a:endParaRPr/>
          </a:p>
        </p:txBody>
      </p:sp>
      <p:pic>
        <p:nvPicPr>
          <p:cNvPr descr="aihorizonlabs.png" id="656" name="Google Shape;6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657" name="Google Shape;6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658" name="Google Shape;65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659" name="Google Shape;65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660" name="Google Shape;66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3"/>
          <p:cNvSpPr txBox="1"/>
          <p:nvPr/>
        </p:nvSpPr>
        <p:spPr>
          <a:xfrm>
            <a:off x="731520" y="237744"/>
            <a:ext cx="10835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5C4C"/>
                </a:solidFill>
                <a:latin typeface="Inter"/>
                <a:ea typeface="Inter"/>
                <a:cs typeface="Inter"/>
                <a:sym typeface="Inter"/>
              </a:rPr>
              <a:t>03 · FECHO</a:t>
            </a:r>
            <a:endParaRPr/>
          </a:p>
        </p:txBody>
      </p:sp>
      <p:sp>
        <p:nvSpPr>
          <p:cNvPr id="662" name="Google Shape;662;p23"/>
          <p:cNvSpPr txBox="1"/>
          <p:nvPr/>
        </p:nvSpPr>
        <p:spPr>
          <a:xfrm>
            <a:off x="713232" y="566928"/>
            <a:ext cx="10835640" cy="750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Próximos passos</a:t>
            </a:r>
            <a:endParaRPr/>
          </a:p>
        </p:txBody>
      </p:sp>
      <p:sp>
        <p:nvSpPr>
          <p:cNvPr id="663" name="Google Shape;663;p23"/>
          <p:cNvSpPr/>
          <p:nvPr/>
        </p:nvSpPr>
        <p:spPr>
          <a:xfrm>
            <a:off x="749808" y="2194560"/>
            <a:ext cx="219456" cy="219456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3"/>
          <p:cNvSpPr txBox="1"/>
          <p:nvPr/>
        </p:nvSpPr>
        <p:spPr>
          <a:xfrm>
            <a:off x="1261872" y="2048256"/>
            <a:ext cx="10186415" cy="633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Estudo longitudinal em produção</a:t>
            </a:r>
            <a:endParaRPr/>
          </a:p>
        </p:txBody>
      </p:sp>
      <p:sp>
        <p:nvSpPr>
          <p:cNvPr id="665" name="Google Shape;665;p23"/>
          <p:cNvSpPr/>
          <p:nvPr/>
        </p:nvSpPr>
        <p:spPr>
          <a:xfrm>
            <a:off x="746608" y="2941317"/>
            <a:ext cx="219600" cy="219600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 txBox="1"/>
          <p:nvPr/>
        </p:nvSpPr>
        <p:spPr>
          <a:xfrm>
            <a:off x="1258672" y="2795013"/>
            <a:ext cx="1018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Estado em Git, com aprovação N de 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5"/>
          <p:cNvSpPr txBox="1"/>
          <p:nvPr/>
        </p:nvSpPr>
        <p:spPr>
          <a:xfrm>
            <a:off x="4023360" y="6345936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Inter"/>
                <a:ea typeface="Inter"/>
                <a:cs typeface="Inter"/>
                <a:sym typeface="Inter"/>
              </a:rPr>
              <a:t>XXVI SBSeg 2026  ·  Armação dos Búzios/RJ</a:t>
            </a:r>
            <a:endParaRPr/>
          </a:p>
        </p:txBody>
      </p:sp>
      <p:sp>
        <p:nvSpPr>
          <p:cNvPr id="673" name="Google Shape;673;p25"/>
          <p:cNvSpPr txBox="1"/>
          <p:nvPr/>
        </p:nvSpPr>
        <p:spPr>
          <a:xfrm>
            <a:off x="11228832" y="634593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23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endParaRPr/>
          </a:p>
        </p:txBody>
      </p:sp>
      <p:pic>
        <p:nvPicPr>
          <p:cNvPr descr="aihorizonlabs.png" id="674" name="Google Shape;6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19088"/>
            <a:ext cx="89794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675" name="Google Shape;6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224" y="6391655"/>
            <a:ext cx="41656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676" name="Google Shape;67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592" y="6382512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677" name="Google Shape;67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62656" y="6368796"/>
            <a:ext cx="420964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678" name="Google Shape;67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7584" y="6391655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25"/>
          <p:cNvSpPr txBox="1"/>
          <p:nvPr/>
        </p:nvSpPr>
        <p:spPr>
          <a:xfrm>
            <a:off x="713232" y="603504"/>
            <a:ext cx="10835640" cy="1410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quatro selos do Comitê de Artefatos</a:t>
            </a:r>
            <a:endParaRPr/>
          </a:p>
        </p:txBody>
      </p:sp>
      <p:sp>
        <p:nvSpPr>
          <p:cNvPr id="680" name="Google Shape;680;p25"/>
          <p:cNvSpPr txBox="1"/>
          <p:nvPr/>
        </p:nvSpPr>
        <p:spPr>
          <a:xfrm>
            <a:off x="713232" y="1883664"/>
            <a:ext cx="10835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 artefato deste trabalho recebeu os quatro selos do CTA/SBSeg 2026.</a:t>
            </a:r>
            <a:endParaRPr/>
          </a:p>
        </p:txBody>
      </p:sp>
      <p:pic>
        <p:nvPicPr>
          <p:cNvPr descr="disponiveis.png" id="681" name="Google Shape;68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7824" y="3054096"/>
            <a:ext cx="2395728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682" name="Google Shape;68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9584" y="3054096"/>
            <a:ext cx="2395728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683" name="Google Shape;683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81344" y="3054096"/>
            <a:ext cx="2395728" cy="239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684" name="Google Shape;68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33104" y="3054096"/>
            <a:ext cx="2395728" cy="2395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9171432" y="3840480"/>
            <a:ext cx="6035040" cy="6035040"/>
          </a:xfrm>
          <a:prstGeom prst="ellipse">
            <a:avLst/>
          </a:prstGeom>
          <a:noFill/>
          <a:ln cap="flat" cmpd="sng" w="19050">
            <a:solidFill>
              <a:srgbClr val="1B3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9902952" y="4572000"/>
            <a:ext cx="4572000" cy="4572000"/>
          </a:xfrm>
          <a:prstGeom prst="ellipse">
            <a:avLst/>
          </a:prstGeom>
          <a:noFill/>
          <a:ln cap="flat" cmpd="sng" w="19050">
            <a:solidFill>
              <a:srgbClr val="1B3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10634472" y="5303520"/>
            <a:ext cx="3108960" cy="3108960"/>
          </a:xfrm>
          <a:prstGeom prst="ellipse">
            <a:avLst/>
          </a:prstGeom>
          <a:noFill/>
          <a:ln cap="flat" cmpd="sng" w="19050">
            <a:solidFill>
              <a:srgbClr val="1B3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6"/>
          <p:cNvSpPr txBox="1"/>
          <p:nvPr/>
        </p:nvSpPr>
        <p:spPr>
          <a:xfrm>
            <a:off x="658368" y="91440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/>
          </a:p>
        </p:txBody>
      </p:sp>
      <p:sp>
        <p:nvSpPr>
          <p:cNvPr id="696" name="Google Shape;696;p26"/>
          <p:cNvSpPr txBox="1"/>
          <p:nvPr/>
        </p:nvSpPr>
        <p:spPr>
          <a:xfrm>
            <a:off x="658368" y="2011680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7A823"/>
                </a:solidFill>
                <a:latin typeface="Inter"/>
                <a:ea typeface="Inter"/>
                <a:cs typeface="Inter"/>
                <a:sym typeface="Inter"/>
              </a:rPr>
              <a:t>Perguntas e discussão</a:t>
            </a:r>
            <a:endParaRPr/>
          </a:p>
        </p:txBody>
      </p:sp>
      <p:sp>
        <p:nvSpPr>
          <p:cNvPr id="697" name="Google Shape;697;p26"/>
          <p:cNvSpPr txBox="1"/>
          <p:nvPr/>
        </p:nvSpPr>
        <p:spPr>
          <a:xfrm>
            <a:off x="658368" y="2834640"/>
            <a:ext cx="813816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Rui de Quadros Ribeiro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ruiribeiro.aluno@unipampa.edu.br</a:t>
            </a:r>
            <a:endParaRPr/>
          </a:p>
        </p:txBody>
      </p:sp>
      <p:sp>
        <p:nvSpPr>
          <p:cNvPr id="698" name="Google Shape;698;p26"/>
          <p:cNvSpPr txBox="1"/>
          <p:nvPr/>
        </p:nvSpPr>
        <p:spPr>
          <a:xfrm>
            <a:off x="658368" y="4261104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8C2F0"/>
                </a:solidFill>
                <a:latin typeface="Inter"/>
                <a:ea typeface="Inter"/>
                <a:cs typeface="Inter"/>
                <a:sym typeface="Inter"/>
              </a:rPr>
              <a:t>ARTEFATO</a:t>
            </a:r>
            <a:endParaRPr/>
          </a:p>
        </p:txBody>
      </p:sp>
      <p:sp>
        <p:nvSpPr>
          <p:cNvPr id="699" name="Google Shape;699;p26"/>
          <p:cNvSpPr txBox="1"/>
          <p:nvPr/>
        </p:nvSpPr>
        <p:spPr>
          <a:xfrm>
            <a:off x="658368" y="4572000"/>
            <a:ext cx="813816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gitlab.com/cristhianavila.aluno/</a:t>
            </a:r>
            <a:endParaRPr/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adminforge-sbseg2026</a:t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9089136" y="822960"/>
            <a:ext cx="1874519" cy="187451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tefato.png" id="701" name="Google Shape;7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7152" y="950976"/>
            <a:ext cx="1618488" cy="16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26"/>
          <p:cNvSpPr txBox="1"/>
          <p:nvPr/>
        </p:nvSpPr>
        <p:spPr>
          <a:xfrm>
            <a:off x="8869680" y="2788920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8C2F0"/>
                </a:solidFill>
                <a:latin typeface="Inter"/>
                <a:ea typeface="Inter"/>
                <a:cs typeface="Inter"/>
                <a:sym typeface="Inter"/>
              </a:rPr>
              <a:t>código e dados</a:t>
            </a:r>
            <a:endParaRPr/>
          </a:p>
        </p:txBody>
      </p:sp>
      <p:sp>
        <p:nvSpPr>
          <p:cNvPr id="703" name="Google Shape;703;p26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horizonlabs.png" id="704" name="Google Shape;7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373368"/>
            <a:ext cx="1496568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705" name="Google Shape;70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0320" y="6318504"/>
            <a:ext cx="722037" cy="475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706" name="Google Shape;70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9039" y="6291072"/>
            <a:ext cx="530352" cy="530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rgs.png" id="707" name="Google Shape;70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0016" y="6300216"/>
            <a:ext cx="67354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708" name="Google Shape;70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5360" y="6318504"/>
            <a:ext cx="857217" cy="475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709" name="Google Shape;709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66960" y="6300216"/>
            <a:ext cx="339865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710" name="Google Shape;710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17936" y="6291072"/>
            <a:ext cx="516576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cartao-artigo"/>
          <p:cNvSpPr/>
          <p:nvPr/>
        </p:nvSpPr>
        <p:spPr>
          <a:xfrm>
            <a:off x="9089136" y="3246120"/>
            <a:ext cx="1874519" cy="187451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" name="Picture 710" descr="qr_AdminForge_Ru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7152" y="3374136"/>
            <a:ext cx="1618488" cy="1618488"/>
          </a:xfrm>
          <a:prstGeom prst="rect">
            <a:avLst/>
          </a:prstGeom>
        </p:spPr>
      </p:pic>
      <p:sp>
        <p:nvSpPr>
          <p:cNvPr id="702" name="rotulo-artigo"/>
          <p:cNvSpPr txBox="1"/>
          <p:nvPr/>
        </p:nvSpPr>
        <p:spPr>
          <a:xfrm>
            <a:off x="8869680" y="5212080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8C2F0"/>
                </a:solidFill>
                <a:latin typeface="Inter"/>
                <a:ea typeface="Inter"/>
                <a:cs typeface="Inter"/>
                <a:sym typeface="Inter"/>
              </a:rPr>
              <a:t>artigo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
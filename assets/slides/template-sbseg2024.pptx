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Lexend Light"/>
      <p:regular r:id="rId28"/>
      <p:bold r:id="rId29"/>
    </p:embeddedFont>
    <p:embeddedFont>
      <p:font typeface="Roboto Condensed Light"/>
      <p:regular r:id="rId30"/>
      <p:bold r:id="rId31"/>
      <p:italic r:id="rId32"/>
      <p:boldItalic r:id="rId33"/>
    </p:embeddedFont>
    <p:embeddedFont>
      <p:font typeface="Exo 2"/>
      <p:regular r:id="rId34"/>
      <p:bold r:id="rId35"/>
      <p:italic r:id="rId36"/>
      <p:boldItalic r:id="rId37"/>
    </p:embeddedFont>
    <p:embeddedFont>
      <p:font typeface="Lexen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7A413D-EEB2-46E6-8EB5-582C43F5A3C1}">
  <a:tblStyle styleId="{617A413D-EEB2-46E6-8EB5-582C43F5A3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exendLigh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CondensedLight-bold.fntdata"/><Relationship Id="rId30" Type="http://schemas.openxmlformats.org/officeDocument/2006/relationships/font" Target="fonts/RobotoCondensedLight-regular.fntdata"/><Relationship Id="rId11" Type="http://schemas.openxmlformats.org/officeDocument/2006/relationships/slide" Target="slides/slide6.xml"/><Relationship Id="rId33" Type="http://schemas.openxmlformats.org/officeDocument/2006/relationships/font" Target="fonts/RobotoCondensed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CondensedLight-italic.fntdata"/><Relationship Id="rId13" Type="http://schemas.openxmlformats.org/officeDocument/2006/relationships/slide" Target="slides/slide8.xml"/><Relationship Id="rId35" Type="http://schemas.openxmlformats.org/officeDocument/2006/relationships/font" Target="fonts/Exo2-bold.fntdata"/><Relationship Id="rId12" Type="http://schemas.openxmlformats.org/officeDocument/2006/relationships/slide" Target="slides/slide7.xml"/><Relationship Id="rId34" Type="http://schemas.openxmlformats.org/officeDocument/2006/relationships/font" Target="fonts/Exo2-regular.fntdata"/><Relationship Id="rId15" Type="http://schemas.openxmlformats.org/officeDocument/2006/relationships/slide" Target="slides/slide10.xml"/><Relationship Id="rId37" Type="http://schemas.openxmlformats.org/officeDocument/2006/relationships/font" Target="fonts/Exo2-boldItalic.fntdata"/><Relationship Id="rId14" Type="http://schemas.openxmlformats.org/officeDocument/2006/relationships/slide" Target="slides/slide9.xml"/><Relationship Id="rId36" Type="http://schemas.openxmlformats.org/officeDocument/2006/relationships/font" Target="fonts/Exo2-italic.fntdata"/><Relationship Id="rId17" Type="http://schemas.openxmlformats.org/officeDocument/2006/relationships/slide" Target="slides/slide12.xml"/><Relationship Id="rId39" Type="http://schemas.openxmlformats.org/officeDocument/2006/relationships/font" Target="fonts/Lexend-bold.fntdata"/><Relationship Id="rId16" Type="http://schemas.openxmlformats.org/officeDocument/2006/relationships/slide" Target="slides/slide11.xml"/><Relationship Id="rId38" Type="http://schemas.openxmlformats.org/officeDocument/2006/relationships/font" Target="fonts/Lexen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4314b000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24314b000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4314b000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4314b000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2440fa9f9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2440fa9f9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440fa9f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2440fa9f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440fa9f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2440fa9f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4314b000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24314b000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440fa9f9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440fa9f9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6704014e569320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6704014e569320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2440fa9f9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2440fa9f9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2440fa9f9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2440fa9f9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440fa9f9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440fa9f9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440fa9f9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440fa9f9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2440fa9f9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2440fa9f9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e70551cd2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e70551cd2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440fa9f9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2440fa9f9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2440fa9f9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2440fa9f9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2440fa9f9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2440fa9f9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e70551cd2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e70551cd2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e70551cd2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e70551cd2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4314b000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24314b000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24314b000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24314b000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360274" y="1241300"/>
            <a:ext cx="7500600" cy="17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072973" y="2947400"/>
            <a:ext cx="57879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 Light"/>
              <a:buNone/>
              <a:defRPr sz="20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900349" cy="19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4727650"/>
            <a:ext cx="451500" cy="41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enas título">
  <p:cSld name="CUSTOM_38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850" y="4749900"/>
            <a:ext cx="125756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1 coluna">
  <p:cSld name="CUSTOM_38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02675"/>
            <a:ext cx="8520600" cy="34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93700" lvl="1" marL="914400" rtl="0">
              <a:spcBef>
                <a:spcPts val="1600"/>
              </a:spcBef>
              <a:spcAft>
                <a:spcPts val="0"/>
              </a:spcAft>
              <a:buSzPts val="2600"/>
              <a:buChar char="○"/>
              <a:defRPr sz="2600"/>
            </a:lvl2pPr>
            <a:lvl3pPr indent="-381000" lvl="2" marL="1371600" rtl="0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68300" lvl="3" marL="1828800" rtl="0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850" y="4749900"/>
            <a:ext cx="125756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imagem">
  <p:cSld name="CUSTOM_38_2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/>
          <p:nvPr>
            <p:ph idx="2" type="pic"/>
          </p:nvPr>
        </p:nvSpPr>
        <p:spPr>
          <a:xfrm>
            <a:off x="343075" y="1102675"/>
            <a:ext cx="8489100" cy="34746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850" y="4749900"/>
            <a:ext cx="125756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2 colunas">
  <p:cSld name="CUSTOM_38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/>
        </p:nvSpPr>
        <p:spPr>
          <a:xfrm>
            <a:off x="311700" y="1102675"/>
            <a:ext cx="38589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697875" y="1102675"/>
            <a:ext cx="3858900" cy="3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93700" lvl="1" marL="914400" rtl="0">
              <a:spcBef>
                <a:spcPts val="1600"/>
              </a:spcBef>
              <a:spcAft>
                <a:spcPts val="0"/>
              </a:spcAft>
              <a:buSzPts val="2600"/>
              <a:buChar char="○"/>
              <a:defRPr sz="2600"/>
            </a:lvl2pPr>
            <a:lvl3pPr indent="-381000" lvl="2" marL="1371600" rtl="0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68300" lvl="3" marL="1828800" rtl="0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11700" y="1102675"/>
            <a:ext cx="4059600" cy="34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93700" lvl="1" marL="914400" rtl="0">
              <a:spcBef>
                <a:spcPts val="1600"/>
              </a:spcBef>
              <a:spcAft>
                <a:spcPts val="0"/>
              </a:spcAft>
              <a:buSzPts val="2600"/>
              <a:buChar char="○"/>
              <a:defRPr sz="2600"/>
            </a:lvl2pPr>
            <a:lvl3pPr indent="-381000" lvl="2" marL="1371600" rtl="0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68300" lvl="3" marL="1828800" rtl="0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850" y="4749900"/>
            <a:ext cx="125756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&amp; Imagem">
  <p:cSld name="CUSTOM_38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6" name="Google Shape;36;p7"/>
          <p:cNvSpPr txBox="1"/>
          <p:nvPr/>
        </p:nvSpPr>
        <p:spPr>
          <a:xfrm>
            <a:off x="4697875" y="1102675"/>
            <a:ext cx="38589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7"/>
          <p:cNvSpPr/>
          <p:nvPr>
            <p:ph idx="2" type="pic"/>
          </p:nvPr>
        </p:nvSpPr>
        <p:spPr>
          <a:xfrm>
            <a:off x="4710025" y="1102650"/>
            <a:ext cx="3858900" cy="34746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311700" y="1102675"/>
            <a:ext cx="4059600" cy="34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93700" lvl="1" marL="914400" rtl="0">
              <a:spcBef>
                <a:spcPts val="1600"/>
              </a:spcBef>
              <a:spcAft>
                <a:spcPts val="0"/>
              </a:spcAft>
              <a:buSzPts val="2600"/>
              <a:buChar char="○"/>
              <a:defRPr sz="2600"/>
            </a:lvl2pPr>
            <a:lvl3pPr indent="-381000" lvl="2" marL="1371600" rtl="0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68300" lvl="3" marL="1828800" rtl="0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r">
              <a:buNone/>
              <a:defRPr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850" y="4749900"/>
            <a:ext cx="125756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>
  <p:cSld name="CUSTOM_38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4697875" y="1102675"/>
            <a:ext cx="38589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" name="Google Shape;43;p8"/>
          <p:cNvSpPr/>
          <p:nvPr>
            <p:ph idx="2" type="pic"/>
          </p:nvPr>
        </p:nvSpPr>
        <p:spPr>
          <a:xfrm>
            <a:off x="4710025" y="1102650"/>
            <a:ext cx="3858900" cy="34746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11700" y="1102575"/>
            <a:ext cx="4059600" cy="34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93700" lvl="1" marL="914400" rtl="0">
              <a:spcBef>
                <a:spcPts val="1600"/>
              </a:spcBef>
              <a:spcAft>
                <a:spcPts val="0"/>
              </a:spcAft>
              <a:buSzPts val="2600"/>
              <a:buChar char="○"/>
              <a:defRPr sz="2600"/>
            </a:lvl2pPr>
            <a:lvl3pPr indent="-381000" lvl="2" marL="1371600" rtl="0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68300" lvl="3" marL="1828800" rtl="0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8"/>
          <p:cNvSpPr txBox="1"/>
          <p:nvPr/>
        </p:nvSpPr>
        <p:spPr>
          <a:xfrm>
            <a:off x="310896" y="448056"/>
            <a:ext cx="8522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Obrigado!</a:t>
            </a:r>
            <a:endParaRPr b="1" sz="34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81975" y="0"/>
            <a:ext cx="2687677" cy="8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 1 1">
  <p:cSld name="BLANK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52550" y="2398500"/>
            <a:ext cx="3602768" cy="7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23" y="4070250"/>
            <a:ext cx="2277409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325" y="2412851"/>
            <a:ext cx="1492009" cy="136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5050" y="1527175"/>
            <a:ext cx="2358599" cy="7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/>
        </p:nvSpPr>
        <p:spPr>
          <a:xfrm>
            <a:off x="310896" y="295656"/>
            <a:ext cx="8522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Patrocinadores do SBSeg 2024!</a:t>
            </a:r>
            <a:endParaRPr b="1" sz="34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325" y="1441825"/>
            <a:ext cx="2933669" cy="85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59375" y="1483573"/>
            <a:ext cx="2632982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76800" y="2474699"/>
            <a:ext cx="2556127" cy="85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88249" y="3797030"/>
            <a:ext cx="1792266" cy="11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37228" y="3492225"/>
            <a:ext cx="1913825" cy="5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60550" y="3570775"/>
            <a:ext cx="2128123" cy="44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54388" y="4330225"/>
            <a:ext cx="2116187" cy="5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/>
          <p:nvPr/>
        </p:nvSpPr>
        <p:spPr>
          <a:xfrm>
            <a:off x="0" y="4727650"/>
            <a:ext cx="451500" cy="41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200" y="0"/>
            <a:ext cx="1159125" cy="115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Lexend"/>
              <a:buNone/>
              <a:defRPr b="1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D8E"/>
              </a:buClr>
              <a:buSzPts val="2400"/>
              <a:buFont typeface="Lexend"/>
              <a:buChar char="●"/>
              <a:defRPr sz="24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6D8E"/>
              </a:buClr>
              <a:buSzPts val="2200"/>
              <a:buFont typeface="Lexend"/>
              <a:buChar char="○"/>
              <a:defRPr sz="2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6D8E"/>
              </a:buClr>
              <a:buSzPts val="2000"/>
              <a:buFont typeface="Lexend"/>
              <a:buChar char="■"/>
              <a:defRPr sz="2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6D8E"/>
              </a:buClr>
              <a:buSzPts val="1800"/>
              <a:buFont typeface="Lexend"/>
              <a:buChar char="●"/>
              <a:defRPr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6D8E"/>
              </a:buClr>
              <a:buSzPts val="1600"/>
              <a:buFont typeface="Lexend"/>
              <a:buChar char="○"/>
              <a:defRPr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6D8E"/>
              </a:buClr>
              <a:buSzPts val="1400"/>
              <a:buFont typeface="Lexend"/>
              <a:buChar char="■"/>
              <a:defRPr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6D8E"/>
              </a:buClr>
              <a:buSzPts val="1200"/>
              <a:buFont typeface="Lexend"/>
              <a:buChar char="●"/>
              <a:defRPr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6D8E"/>
              </a:buClr>
              <a:buSzPts val="1200"/>
              <a:buFont typeface="Lexend"/>
              <a:buChar char="○"/>
              <a:defRPr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6D8E"/>
              </a:buClr>
              <a:buSzPts val="1200"/>
              <a:buFont typeface="Lexend"/>
              <a:buChar char="■"/>
              <a:defRPr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bseg2024.ita.br/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4294967295" type="ctrTitle"/>
          </p:nvPr>
        </p:nvSpPr>
        <p:spPr>
          <a:xfrm>
            <a:off x="130725" y="980600"/>
            <a:ext cx="8898300" cy="367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Caros(as) autores(as) dos trabalhos aceitos no SBSeg24, 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Esta é uma proposta de template/exemplo de slides para o SBSeg 2024! Você pode modificar e editar livremente. Substitua as logos do template pelas da sua(s) instituição(ões). Adeque o conteúdo ao seu trabalho. 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 último slide contém apenas as logos dos patrocinadores, para fins de divulgação e valorização. Você pode removê-lo de sua apresentação. 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Sugerimos que você verifique atentamente as instruções para uma boa apresentação no link a seguir.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https://sbseg2024.ita.br/</a:t>
            </a: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Sugestões</a:t>
            </a: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Sugestões para Apresentações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Cordialmente,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Organização do SBSeg 2024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8" name="Google Shape;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8275" y="-124150"/>
            <a:ext cx="4036352" cy="12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idx="1" type="subTitle"/>
          </p:nvPr>
        </p:nvSpPr>
        <p:spPr>
          <a:xfrm>
            <a:off x="3072973" y="2947400"/>
            <a:ext cx="5787900" cy="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Autor1, Autor2, Autor3, 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Autor4, Autor5, Autor6, …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Instituição 1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Instituição 2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Instituição 3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4" name="Google Shape;74;p12"/>
          <p:cNvSpPr txBox="1"/>
          <p:nvPr>
            <p:ph type="ctrTitle"/>
          </p:nvPr>
        </p:nvSpPr>
        <p:spPr>
          <a:xfrm>
            <a:off x="1360274" y="1241300"/>
            <a:ext cx="7500600" cy="17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hlink"/>
                </a:solidFill>
              </a:rPr>
              <a:t>Título do seu Trabalho a ser Apresentado na Trilha Principal ou em um dos Eventos Satélites do SBSeg 2024 </a:t>
            </a:r>
            <a:endParaRPr sz="3600"/>
          </a:p>
        </p:txBody>
      </p:sp>
      <p:pic>
        <p:nvPicPr>
          <p:cNvPr id="75" name="Google Shape;7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376" y="4519913"/>
            <a:ext cx="570337" cy="5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25" y="3893987"/>
            <a:ext cx="1602435" cy="52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925" y="4487325"/>
            <a:ext cx="2017852" cy="58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350" y="3330276"/>
            <a:ext cx="1602425" cy="41737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2"/>
          <p:cNvSpPr/>
          <p:nvPr/>
        </p:nvSpPr>
        <p:spPr>
          <a:xfrm>
            <a:off x="2676525" y="2795000"/>
            <a:ext cx="2473800" cy="1539900"/>
          </a:xfrm>
          <a:prstGeom prst="wedgeRoundRectCallout">
            <a:avLst>
              <a:gd fmla="val -77600" name="adj1"/>
              <a:gd fmla="val 26544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Sugestão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: coloque aqui as logos das instituições dos co-autores e agências de fomento ou outras instituições financiadoras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Motivação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579" y="1093925"/>
            <a:ext cx="2960621" cy="37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400" y="359047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1900" y="3452100"/>
            <a:ext cx="4010400" cy="1253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79200" y="398070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1900" y="1253213"/>
            <a:ext cx="4010400" cy="1711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79200" y="1320950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Problema(s)</a:t>
            </a:r>
            <a:endParaRPr/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3048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{617A413D-EEB2-46E6-8EB5-582C43F5A3C1}</a:tableStyleId>
              </a:tblPr>
              <a:tblGrid>
                <a:gridCol w="1905000"/>
                <a:gridCol w="1714500"/>
                <a:gridCol w="1685925"/>
                <a:gridCol w="1428750"/>
                <a:gridCol w="1533525"/>
              </a:tblGrid>
              <a:tr h="48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900"/>
                        <a:t>Dataset</a:t>
                      </a:r>
                      <a:endParaRPr b="1" i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Tempo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# Maliciosos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Threshold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Metadados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MalGenome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2010 - 2012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1.264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DREBIN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2013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5.560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PiggyBacking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1.136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AMD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2010 - 2016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24.533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28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14"/>
          <p:cNvSpPr/>
          <p:nvPr/>
        </p:nvSpPr>
        <p:spPr>
          <a:xfrm>
            <a:off x="2170100" y="1236750"/>
            <a:ext cx="3440100" cy="3120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371600" y="4323900"/>
            <a:ext cx="514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6D8E"/>
                </a:solidFill>
                <a:latin typeface="Lexend"/>
                <a:ea typeface="Lexend"/>
                <a:cs typeface="Lexend"/>
                <a:sym typeface="Lexend"/>
              </a:rPr>
              <a:t>Tamanho e cobertura</a:t>
            </a:r>
            <a:endParaRPr b="1" sz="3000">
              <a:solidFill>
                <a:srgbClr val="006D8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hlink"/>
                </a:solidFill>
              </a:rPr>
              <a:t>Problema(s)</a:t>
            </a:r>
            <a:endParaRPr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3048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{617A413D-EEB2-46E6-8EB5-582C43F5A3C1}</a:tableStyleId>
              </a:tblPr>
              <a:tblGrid>
                <a:gridCol w="1905000"/>
                <a:gridCol w="1714500"/>
                <a:gridCol w="1685925"/>
                <a:gridCol w="1428750"/>
                <a:gridCol w="1533525"/>
              </a:tblGrid>
              <a:tr h="48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900"/>
                        <a:t>Dataset</a:t>
                      </a:r>
                      <a:endParaRPr b="1" i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Tempo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# Maliciosos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Threshold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Metadados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MalGenome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2010 - 2012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1.264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DREBIN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2013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5.560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PiggyBacking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1.136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AMD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2010 - 2016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24.533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28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5"/>
          <p:cNvSpPr/>
          <p:nvPr/>
        </p:nvSpPr>
        <p:spPr>
          <a:xfrm>
            <a:off x="7038975" y="1236750"/>
            <a:ext cx="1542900" cy="3120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412625" y="4344550"/>
            <a:ext cx="552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6D8E"/>
                </a:solidFill>
                <a:latin typeface="Lexend"/>
                <a:ea typeface="Lexend"/>
                <a:cs typeface="Lexend"/>
                <a:sym typeface="Lexend"/>
              </a:rPr>
              <a:t>Ausência de metadados</a:t>
            </a:r>
            <a:endParaRPr b="1" sz="3000">
              <a:solidFill>
                <a:srgbClr val="006D8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hlink"/>
                </a:solidFill>
              </a:rPr>
              <a:t>Problema(s)</a:t>
            </a:r>
            <a:endParaRPr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" name="Google Shape;116;p16"/>
          <p:cNvGraphicFramePr/>
          <p:nvPr/>
        </p:nvGraphicFramePr>
        <p:xfrm>
          <a:off x="3048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{617A413D-EEB2-46E6-8EB5-582C43F5A3C1}</a:tableStyleId>
              </a:tblPr>
              <a:tblGrid>
                <a:gridCol w="1905000"/>
                <a:gridCol w="1714500"/>
                <a:gridCol w="1685925"/>
                <a:gridCol w="1428750"/>
                <a:gridCol w="1533525"/>
              </a:tblGrid>
              <a:tr h="48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900"/>
                        <a:t>Dataset</a:t>
                      </a:r>
                      <a:endParaRPr b="1" i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Tempo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# Maliciosos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Threshold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Metadados</a:t>
                      </a:r>
                      <a:endParaRPr b="1" sz="19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MalGenome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2010 - 2012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1.264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DREBIN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2013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5.560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PiggyBacking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1.136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1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AMD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2010 - 2016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24.533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28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Não</a:t>
                      </a:r>
                      <a:endParaRPr sz="2100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6"/>
          <p:cNvSpPr/>
          <p:nvPr/>
        </p:nvSpPr>
        <p:spPr>
          <a:xfrm>
            <a:off x="5610225" y="1236750"/>
            <a:ext cx="1447500" cy="3120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979175" y="4344550"/>
            <a:ext cx="542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6D8E"/>
                </a:solidFill>
                <a:latin typeface="Lexend"/>
                <a:ea typeface="Lexend"/>
                <a:cs typeface="Lexend"/>
                <a:sym typeface="Lexend"/>
              </a:rPr>
              <a:t>Threshold de detecção</a:t>
            </a:r>
            <a:endParaRPr b="1" sz="3000">
              <a:solidFill>
                <a:srgbClr val="006D8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Desafio(s)</a:t>
            </a:r>
            <a:endParaRPr/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1525"/>
            <a:ext cx="8839200" cy="3502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642575" y="4268350"/>
            <a:ext cx="807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6D8E"/>
                </a:solidFill>
                <a:latin typeface="Lexend"/>
                <a:ea typeface="Lexend"/>
                <a:cs typeface="Lexend"/>
                <a:sym typeface="Lexend"/>
              </a:rPr>
              <a:t>Limitações da rotulação com VirusTotal</a:t>
            </a:r>
            <a:endParaRPr b="1" sz="3000">
              <a:solidFill>
                <a:srgbClr val="006D8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hlink"/>
                </a:solidFill>
              </a:rPr>
              <a:t>Desafio(s)</a:t>
            </a:r>
            <a:endParaRPr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1624075" y="4420750"/>
            <a:ext cx="636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6D8E"/>
                </a:solidFill>
                <a:latin typeface="Lexend"/>
                <a:ea typeface="Lexend"/>
                <a:cs typeface="Lexend"/>
                <a:sym typeface="Lexend"/>
              </a:rPr>
              <a:t>Dados defasados</a:t>
            </a:r>
            <a:endParaRPr b="1" sz="3000">
              <a:solidFill>
                <a:srgbClr val="006D8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72125" y="1393125"/>
            <a:ext cx="88809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Aplicativo: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Corrida de Fogo de Vento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E1965D8D028D9824ACC4F39DE02BA2760C0367598B21ABBD303A8416F08598EC</a:t>
            </a:r>
            <a:endParaRPr sz="2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1616900" y="2659175"/>
            <a:ext cx="66288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de Maio de 2014: 1 </a:t>
            </a:r>
            <a:r>
              <a:rPr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Scanner</a:t>
            </a:r>
            <a:endParaRPr i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09 de Junho de 2023: 11 </a:t>
            </a:r>
            <a:r>
              <a:rPr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Scanners</a:t>
            </a:r>
            <a:endParaRPr i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de Setembro de 2023: 24 </a:t>
            </a:r>
            <a:r>
              <a:rPr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Scanners</a:t>
            </a:r>
            <a:endParaRPr sz="24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0"/>
            <a:ext cx="9144000" cy="3597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0"/>
            <a:ext cx="9144000" cy="359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1032650" y="3013850"/>
            <a:ext cx="2225100" cy="17361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1032650" y="1323450"/>
            <a:ext cx="1816500" cy="393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3029150" y="1594725"/>
            <a:ext cx="2757000" cy="1479600"/>
          </a:xfrm>
          <a:prstGeom prst="wedgeRoundRectCallout">
            <a:avLst>
              <a:gd fmla="val -74563" name="adj1"/>
              <a:gd fmla="val 45651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Download</a:t>
            </a: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dos APKs a partir de uma lista de SHA256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0"/>
            <a:ext cx="9144000" cy="359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/>
          <p:nvPr/>
        </p:nvSpPr>
        <p:spPr>
          <a:xfrm>
            <a:off x="2391350" y="3089925"/>
            <a:ext cx="4560900" cy="17361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2820250" y="1323450"/>
            <a:ext cx="1849500" cy="393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5410500" y="1564650"/>
            <a:ext cx="3451200" cy="1517400"/>
          </a:xfrm>
          <a:prstGeom prst="wedgeRoundRectCallout">
            <a:avLst>
              <a:gd fmla="val -63095" name="adj1"/>
              <a:gd fmla="val 49315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Extração de características utilizando ferramentas especializadas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0"/>
            <a:ext cx="9144000" cy="359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/>
          <p:nvPr/>
        </p:nvSpPr>
        <p:spPr>
          <a:xfrm>
            <a:off x="4271400" y="1280100"/>
            <a:ext cx="2681100" cy="17796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917175" y="2983500"/>
            <a:ext cx="3451200" cy="1517400"/>
          </a:xfrm>
          <a:prstGeom prst="wedgeRoundRectCallout">
            <a:avLst>
              <a:gd fmla="val 62078" name="adj1"/>
              <a:gd fmla="val -54925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Rotulação das amostras utilizando serviços especializados como o VirusTotal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0"/>
            <a:ext cx="9144000" cy="359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/>
          <p:nvPr/>
        </p:nvSpPr>
        <p:spPr>
          <a:xfrm>
            <a:off x="5332625" y="1767375"/>
            <a:ext cx="3599100" cy="28317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1437300" y="3142425"/>
            <a:ext cx="3451200" cy="1517400"/>
          </a:xfrm>
          <a:prstGeom prst="wedgeRoundRectCallout">
            <a:avLst>
              <a:gd fmla="val 62078" name="adj1"/>
              <a:gd fmla="val -54925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Geração do conjunto de dados a partir dos metadados das diferentes etapas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6461150" y="1294550"/>
            <a:ext cx="1502700" cy="393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0"/>
            <a:ext cx="9144000" cy="359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/>
          <p:nvPr/>
        </p:nvSpPr>
        <p:spPr>
          <a:xfrm>
            <a:off x="998225" y="3302825"/>
            <a:ext cx="1533000" cy="13293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5255525" y="2974725"/>
            <a:ext cx="3451200" cy="1517400"/>
          </a:xfrm>
          <a:prstGeom prst="wedgeRoundRectCallout">
            <a:avLst>
              <a:gd fmla="val -60583" name="adj1"/>
              <a:gd fmla="val -36946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Paralelização para aumentar a escalabilidade e vazão da solução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4669600" y="1280100"/>
            <a:ext cx="1806000" cy="393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2863600" y="1280100"/>
            <a:ext cx="1806000" cy="393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1057600" y="1280100"/>
            <a:ext cx="1806000" cy="393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3136600" y="3224075"/>
            <a:ext cx="1619700" cy="13293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4603775" y="1646675"/>
            <a:ext cx="1619700" cy="11112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300" y="801075"/>
            <a:ext cx="6763874" cy="44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2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2741475" y="1037050"/>
            <a:ext cx="1011300" cy="21792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800" y="788875"/>
            <a:ext cx="6773251" cy="44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2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4655025" y="2020875"/>
            <a:ext cx="831600" cy="7539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2741475" y="1020025"/>
            <a:ext cx="1011300" cy="1647000"/>
          </a:xfrm>
          <a:prstGeom prst="ellipse">
            <a:avLst/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pic>
        <p:nvPicPr>
          <p:cNvPr id="219" name="Google Shape;2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3424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497" y="865325"/>
            <a:ext cx="7583702" cy="427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2847975" y="2074750"/>
            <a:ext cx="5129100" cy="650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3263075" y="3080050"/>
            <a:ext cx="3451200" cy="1125000"/>
          </a:xfrm>
          <a:prstGeom prst="wedgeRoundRectCallout">
            <a:avLst>
              <a:gd fmla="val -23857" name="adj1"/>
              <a:gd fmla="val -78687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Comportamento anormal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311700" y="1255075"/>
            <a:ext cx="8520600" cy="3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●"/>
            </a:pPr>
            <a:r>
              <a:rPr lang="en">
                <a:solidFill>
                  <a:schemeClr val="dk1"/>
                </a:solidFill>
              </a:rPr>
              <a:t>Conjuntos de dados atualizados e realistas</a:t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●"/>
            </a:pPr>
            <a:r>
              <a:rPr lang="en">
                <a:solidFill>
                  <a:schemeClr val="dk1"/>
                </a:solidFill>
              </a:rPr>
              <a:t>Resultados influenciados dos modelos</a:t>
            </a:r>
            <a:endParaRPr>
              <a:solidFill>
                <a:schemeClr val="hlink"/>
              </a:solidFill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8E"/>
              </a:buClr>
              <a:buSzPts val="2600"/>
              <a:buChar char="○"/>
            </a:pPr>
            <a:r>
              <a:rPr i="1" lang="en">
                <a:solidFill>
                  <a:schemeClr val="hlink"/>
                </a:solidFill>
              </a:rPr>
              <a:t>Dataset</a:t>
            </a:r>
            <a:r>
              <a:rPr lang="en">
                <a:solidFill>
                  <a:schemeClr val="hlink"/>
                </a:solidFill>
              </a:rPr>
              <a:t> é determinante</a:t>
            </a:r>
            <a:endParaRPr>
              <a:solidFill>
                <a:schemeClr val="hlink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>
                <a:solidFill>
                  <a:schemeClr val="dk1"/>
                </a:solidFill>
              </a:rPr>
              <a:t>Outras restrições além dos dados</a:t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>
                <a:solidFill>
                  <a:schemeClr val="dk1"/>
                </a:solidFill>
              </a:rPr>
              <a:t>Realidade </a:t>
            </a:r>
            <a:r>
              <a:rPr i="1" lang="en">
                <a:solidFill>
                  <a:schemeClr val="dk1"/>
                </a:solidFill>
              </a:rPr>
              <a:t>versus</a:t>
            </a:r>
            <a:r>
              <a:rPr lang="en">
                <a:solidFill>
                  <a:schemeClr val="dk1"/>
                </a:solidFill>
              </a:rPr>
              <a:t> mundo ideal</a:t>
            </a:r>
            <a:endParaRPr sz="3800">
              <a:solidFill>
                <a:srgbClr val="434343"/>
              </a:solidFill>
            </a:endParaRPr>
          </a:p>
        </p:txBody>
      </p:sp>
      <p:sp>
        <p:nvSpPr>
          <p:cNvPr id="234" name="Google Shape;23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Considerações finais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331275"/>
            <a:ext cx="8520600" cy="3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Estudar mais a fundo as métricas 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Analisar outros modelos</a:t>
            </a:r>
            <a:endParaRPr sz="2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●"/>
            </a:pPr>
            <a:r>
              <a:rPr lang="en"/>
              <a:t>Criar mais conjuntos de dados atualizados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Explorar a explicabilidade dos modelos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Investigar conjuntos de dados contaminados</a:t>
            </a:r>
            <a:endParaRPr/>
          </a:p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Trabalhos futuros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821" r="18815" t="0"/>
          <a:stretch/>
        </p:blipFill>
        <p:spPr>
          <a:xfrm>
            <a:off x="4710025" y="1102650"/>
            <a:ext cx="3858898" cy="3474601"/>
          </a:xfrm>
          <a:prstGeom prst="rect">
            <a:avLst/>
          </a:prstGeom>
        </p:spPr>
      </p:pic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950175"/>
            <a:ext cx="4059600" cy="30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Autor(es)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Contato(s)</a:t>
            </a:r>
            <a:endParaRPr/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75" y="3904755"/>
            <a:ext cx="1685624" cy="36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526" y="3289525"/>
            <a:ext cx="1391375" cy="41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700" y="4487553"/>
            <a:ext cx="2537000" cy="4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/>
          <p:nvPr/>
        </p:nvSpPr>
        <p:spPr>
          <a:xfrm>
            <a:off x="4854200" y="1175725"/>
            <a:ext cx="1663500" cy="1332600"/>
          </a:xfrm>
          <a:prstGeom prst="wedgeRoundRectCallout">
            <a:avLst>
              <a:gd fmla="val 76132" name="adj1"/>
              <a:gd fmla="val 27221" name="adj2"/>
              <a:gd fmla="val 0" name="adj3"/>
            </a:avLst>
          </a:prstGeom>
          <a:solidFill>
            <a:srgbClr val="B6E7E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Sugestão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coloque aqui uma imagem da sua cidade ou região!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2798700" y="2527925"/>
            <a:ext cx="1663500" cy="2121600"/>
          </a:xfrm>
          <a:prstGeom prst="wedgeRoundRectCallout">
            <a:avLst>
              <a:gd fmla="val -84385" name="adj1"/>
              <a:gd fmla="val 22407" name="adj2"/>
              <a:gd fmla="val 0" name="adj3"/>
            </a:avLst>
          </a:prstGeom>
          <a:solidFill>
            <a:srgbClr val="B6E7E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Sugestão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adicione as logos das agências de fomento, empresas financiadoras, etc.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BSeg 2024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3F3F3"/>
      </a:accent1>
      <a:accent2>
        <a:srgbClr val="D9D9D9"/>
      </a:accent2>
      <a:accent3>
        <a:srgbClr val="B7B7B7"/>
      </a:accent3>
      <a:accent4>
        <a:srgbClr val="999999"/>
      </a:accent4>
      <a:accent5>
        <a:srgbClr val="666666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
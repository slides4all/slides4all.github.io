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4m73ZlSQEmBl+LO32i4jPrBl3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D5568B-4F5D-47E9-99CE-D931F7C20D97}">
  <a:tblStyle styleId="{D1D5568B-4F5D-47E9-99CE-D931F7C20D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9B9B429-B1F6-4CD1-8578-C455484DF67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2203CD0-0E3B-4778-B3A6-0B23DC09DCF3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Capa. Da capa, vá direto para o problema: nada de slide de agenda.</a:t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35741b06_0_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f835741b06_0_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37" name="Google Shape;137;g3f835741b06_0_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835741b06_0_10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f835741b06_0_10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Detalhe técnico do problema. É aqui que a plateia especialista decide se vale prestar atenção.</a:t>
            </a:r>
            <a:endParaRPr/>
          </a:p>
        </p:txBody>
      </p:sp>
      <p:sp>
        <p:nvSpPr>
          <p:cNvPr id="161" name="Google Shape;161;g3f835741b06_0_10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835741b06_0_1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f835741b06_0_1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Detalhe técnico do problema. É aqui que a plateia especialista decide se vale prestar atenção.</a:t>
            </a:r>
            <a:endParaRPr/>
          </a:p>
        </p:txBody>
      </p:sp>
      <p:sp>
        <p:nvSpPr>
          <p:cNvPr id="189" name="Google Shape;189;g3f835741b06_0_1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contar a historia do pq o statistical nasceu, que usamos os metodos do mh fsf e nao se deu tao bem com os nossos dados</a:t>
            </a:r>
            <a:endParaRPr/>
          </a:p>
        </p:txBody>
      </p:sp>
      <p:sp>
        <p:nvSpPr>
          <p:cNvPr id="217" name="Google Shape;21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Divisória de seção. Use no máximo 15 a 20 segundos aqui.</a:t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3e410b300_0_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f3e410b300_0_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278" name="Google Shape;278;g3f3e410b300_0_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3e410b300_0_27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g3f3e410b300_0_27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302" name="Google Shape;302;g3f3e410b300_0_27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3e410b300_0_3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g3f3e410b300_0_3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327" name="Google Shape;327;g3f3e410b300_0_3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3e410b300_0_1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g3f3e410b300_0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349" name="Google Shape;349;g3f3e410b300_0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835741b06_0_3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f835741b06_0_3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374" name="Google Shape;374;g3f835741b06_0_3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835741b06_0_3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g3f835741b06_0_3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399" name="Google Shape;399;g3f835741b06_0_3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835741b06_0_3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f835741b06_0_3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424" name="Google Shape;424;g3f835741b06_0_3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3e410b300_0_5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f3e410b300_0_5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Duplique este slide e destaque uma etapa de cada vez.</a:t>
            </a:r>
            <a:endParaRPr/>
          </a:p>
        </p:txBody>
      </p:sp>
      <p:sp>
        <p:nvSpPr>
          <p:cNvPr id="448" name="Google Shape;448;g3f3e410b300_0_5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3e410b300_0_6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f3e410b300_0_6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Informe tudo que um terceiro precisaria para repetir o experimento.</a:t>
            </a:r>
            <a:endParaRPr/>
          </a:p>
        </p:txBody>
      </p:sp>
      <p:sp>
        <p:nvSpPr>
          <p:cNvPr id="496" name="Google Shape;496;g3f3e410b300_0_6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f835741b06_0_2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f835741b06_0_2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Informe tudo que um terceiro precisaria para repetir o experimento.</a:t>
            </a:r>
            <a:endParaRPr/>
          </a:p>
        </p:txBody>
      </p:sp>
      <p:sp>
        <p:nvSpPr>
          <p:cNvPr id="518" name="Google Shape;518;g3f835741b06_0_2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3e410b300_0_6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g3f3e410b300_0_6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Informe tudo que um terceiro precisaria para repetir o experimento.</a:t>
            </a:r>
            <a:endParaRPr/>
          </a:p>
        </p:txBody>
      </p:sp>
      <p:sp>
        <p:nvSpPr>
          <p:cNvPr id="542" name="Google Shape;542;g3f3e410b300_0_6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3e410b300_0_7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g3f3e410b300_0_7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Informe tudo que um terceiro precisaria para repetir o experimento.</a:t>
            </a:r>
            <a:endParaRPr/>
          </a:p>
        </p:txBody>
      </p:sp>
      <p:sp>
        <p:nvSpPr>
          <p:cNvPr id="566" name="Google Shape;566;g3f3e410b300_0_7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f3e410b300_0_8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g3f3e410b300_0_8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589" name="Google Shape;589;g3f3e410b300_0_8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3e410b300_0_8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g3f3e410b300_0_86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613" name="Google Shape;613;g3f3e410b300_0_86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3e410b300_0_8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7" name="Google Shape;637;g3f3e410b300_0_8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638" name="Google Shape;638;g3f3e410b300_0_8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835741b06_0_50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g3f835741b06_0_50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660" name="Google Shape;660;g3f835741b06_0_50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835741b06_0_5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g3f835741b06_0_5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684" name="Google Shape;684;g3f835741b06_0_5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Números grandes são lidos até no celular. Use este slide como fecho da avaliação.</a:t>
            </a:r>
            <a:endParaRPr/>
          </a:p>
        </p:txBody>
      </p:sp>
      <p:sp>
        <p:nvSpPr>
          <p:cNvPr id="708" name="Google Shape;70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f3e410b300_0_10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g3f3e410b300_0_10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Antecipar limitações fortalece a apresentação e reduz perguntas hostis.</a:t>
            </a:r>
            <a:endParaRPr/>
          </a:p>
        </p:txBody>
      </p:sp>
      <p:sp>
        <p:nvSpPr>
          <p:cNvPr id="741" name="Google Shape;741;g3f3e410b300_0_10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f835741b06_0_2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6" name="Google Shape;766;g3f835741b06_0_2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Antecipar limitações fortalece a apresentação e reduz perguntas hostis.</a:t>
            </a:r>
            <a:endParaRPr/>
          </a:p>
        </p:txBody>
      </p:sp>
      <p:sp>
        <p:nvSpPr>
          <p:cNvPr id="767" name="Google Shape;767;g3f835741b06_0_2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f86b84b4b0_0_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g3f86b84b4b0_0_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3" name="Google Shape;793;g3f86b84b4b0_0_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5" name="Google Shape;8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9" name="Google Shape;83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Conclusões e trabalhos futuros: cerca de 10% do tempo. Repita a mensagem central.</a:t>
            </a:r>
            <a:endParaRPr/>
          </a:p>
        </p:txBody>
      </p:sp>
      <p:sp>
        <p:nvSpPr>
          <p:cNvPr id="840" name="Google Shape;84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9" name="Google Shape;86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Encerre com um convite claro à colaboração.</a:t>
            </a:r>
            <a:endParaRPr/>
          </a:p>
        </p:txBody>
      </p:sp>
      <p:sp>
        <p:nvSpPr>
          <p:cNvPr id="870" name="Google Shape;87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1" name="Google Shape;89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Deixe este slide na tela durante as perguntas. Substitua os quadrados brancos por QR Codes reais.</a:t>
            </a:r>
            <a:endParaRPr/>
          </a:p>
        </p:txBody>
      </p:sp>
      <p:sp>
        <p:nvSpPr>
          <p:cNvPr id="892" name="Google Shape;89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f86b84b4b0_0_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2" name="Google Shape;922;g3f86b84b4b0_0_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Mantenha aqui os slides que você só mostra se perguntarem.</a:t>
            </a:r>
            <a:endParaRPr/>
          </a:p>
        </p:txBody>
      </p:sp>
      <p:sp>
        <p:nvSpPr>
          <p:cNvPr id="923" name="Google Shape;923;g3f86b84b4b0_0_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f9ba36223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2" name="Google Shape;932;g3f9ba362237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Diga em voz alta o que a plateia deve olhar no gráfico antes de explicar os eixos.</a:t>
            </a:r>
            <a:endParaRPr/>
          </a:p>
        </p:txBody>
      </p:sp>
      <p:sp>
        <p:nvSpPr>
          <p:cNvPr id="933" name="Google Shape;933;g3f9ba362237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f3e410b300_0_4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6" name="Google Shape;956;g3f3e410b300_0_4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957" name="Google Shape;957;g3f3e410b300_0_4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f3e410b300_0_3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9" name="Google Shape;979;g3f3e410b300_0_3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980" name="Google Shape;980;g3f3e410b300_0_3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f3e410b300_0_4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g3f3e410b300_0_4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1004" name="Google Shape;1004;g3f3e410b300_0_4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8.png"/><Relationship Id="rId8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658368" y="47548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658368" y="804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58368" y="1353312"/>
            <a:ext cx="81381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</a:rPr>
              <a:t>Statistical Ranking: A Voting-Based Ensemble Approach to Feature Selection in Android Malware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58368" y="3602736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658368" y="3840480"/>
            <a:ext cx="841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Anna Luiza Gomes, Lucas Ferreira, Angelo Gaspar, Diego Kreutz, Dionatan Schmidt, Rodrigo Mansilha e Kayuã Paim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658431" y="4864979"/>
            <a:ext cx="8412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AI Horizon Labs  ·  Universidade Federal do Pampa (UNIPAMPA)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Programa de Pós-Graduação em Engenharia de Software (PPGES)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172199"/>
            <a:ext cx="1122426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1" name="Google Shape;10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6554" y="6108192"/>
            <a:ext cx="610954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02" name="Google Shape;10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23268" y="60990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3" name="Google Shape;10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4" name="Google Shape;10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23" name="Google Shape;12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25" name="Google Shape;12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87175" y="2372477"/>
            <a:ext cx="2542450" cy="25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49760" y="2949263"/>
            <a:ext cx="1269665" cy="155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56838" y="2276851"/>
            <a:ext cx="2222500" cy="22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5153775" y="4572126"/>
            <a:ext cx="334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modelos de aprendizado de máquina</a:t>
            </a:r>
            <a:endParaRPr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506550" y="621801"/>
            <a:ext cx="2222400" cy="1778100"/>
          </a:xfrm>
          <a:prstGeom prst="wedgeRoundRectCallout">
            <a:avLst>
              <a:gd fmla="val 14542" name="adj1"/>
              <a:gd fmla="val 109160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Tempo de execução de até 3 anos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238425" y="900213"/>
            <a:ext cx="2089800" cy="2128500"/>
          </a:xfrm>
          <a:prstGeom prst="wedgeRoundRectCallout">
            <a:avLst>
              <a:gd fmla="val 11551" name="adj1"/>
              <a:gd fmla="val 64494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101k amostras e 24k features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835741b06_0_8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835741b06_0_8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835741b06_0_8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accent1"/>
                </a:solidFill>
              </a:rPr>
              <a:t>Problema: A Explosão da Dimensionalidade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835741b06_0_8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835741b06_0_8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835741b06_0_8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835741b06_0_8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46" name="Google Shape;146;g3f835741b06_0_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835741b06_0_8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48" name="Google Shape;148;g3f835741b06_0_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835741b06_0_8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50" name="Google Shape;150;g3f835741b06_0_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f835741b06_0_8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52" name="Google Shape;152;g3f835741b06_0_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f835741b06_0_8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835741b06_0_82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5" name="Google Shape;155;g3f835741b06_0_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3848" y="1410714"/>
            <a:ext cx="11317150" cy="470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835741b06_0_82"/>
          <p:cNvSpPr/>
          <p:nvPr/>
        </p:nvSpPr>
        <p:spPr>
          <a:xfrm>
            <a:off x="642475" y="4546500"/>
            <a:ext cx="3427500" cy="998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g3f835741b06_0_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17837" y="0"/>
            <a:ext cx="1276575" cy="1394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35741b06_0_108"/>
          <p:cNvSpPr/>
          <p:nvPr/>
        </p:nvSpPr>
        <p:spPr>
          <a:xfrm>
            <a:off x="6053975" y="3652725"/>
            <a:ext cx="5823600" cy="1728600"/>
          </a:xfrm>
          <a:prstGeom prst="roundRect">
            <a:avLst>
              <a:gd fmla="val 16667" name="adj"/>
            </a:avLst>
          </a:prstGeom>
          <a:solidFill>
            <a:srgbClr val="CADC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835741b06_0_108"/>
          <p:cNvSpPr/>
          <p:nvPr/>
        </p:nvSpPr>
        <p:spPr>
          <a:xfrm>
            <a:off x="6053975" y="1658300"/>
            <a:ext cx="5823600" cy="1728600"/>
          </a:xfrm>
          <a:prstGeom prst="roundRect">
            <a:avLst>
              <a:gd fmla="val 16667" name="adj"/>
            </a:avLst>
          </a:prstGeom>
          <a:solidFill>
            <a:srgbClr val="CADC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835741b06_0_10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835741b06_0_10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Desafios Técnicos na Seleção de Features</a:t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167" name="Google Shape;167;g3f835741b06_0_10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835741b06_0_10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835741b06_0_10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835741b06_0_10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71" name="Google Shape;171;g3f835741b06_0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f835741b06_0_10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835741b06_0_108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4" name="Google Shape;174;g3f835741b06_0_108"/>
          <p:cNvGraphicFramePr/>
          <p:nvPr/>
        </p:nvGraphicFramePr>
        <p:xfrm>
          <a:off x="555738" y="181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{D1D5568B-4F5D-47E9-99CE-D931F7C20D97}</a:tableStyleId>
              </a:tblPr>
              <a:tblGrid>
                <a:gridCol w="1275175"/>
                <a:gridCol w="1275175"/>
                <a:gridCol w="1275175"/>
                <a:gridCol w="1275175"/>
              </a:tblGrid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x1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x2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Y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" name="Google Shape;175;g3f835741b06_0_108"/>
          <p:cNvSpPr txBox="1"/>
          <p:nvPr/>
        </p:nvSpPr>
        <p:spPr>
          <a:xfrm>
            <a:off x="6323225" y="1658300"/>
            <a:ext cx="4959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Informação Mútua  —  I(Xi ; Y)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76" name="Google Shape;176;g3f835741b06_0_108"/>
          <p:cNvSpPr txBox="1"/>
          <p:nvPr/>
        </p:nvSpPr>
        <p:spPr>
          <a:xfrm>
            <a:off x="6353825" y="3652725"/>
            <a:ext cx="5523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Random Forest  —  importância Gini</a:t>
            </a:r>
            <a:endParaRPr b="1" sz="2400">
              <a:solidFill>
                <a:schemeClr val="dk1"/>
              </a:solidFill>
            </a:endParaRPr>
          </a:p>
        </p:txBody>
      </p:sp>
      <p:graphicFrame>
        <p:nvGraphicFramePr>
          <p:cNvPr id="177" name="Google Shape;177;g3f835741b06_0_108"/>
          <p:cNvGraphicFramePr/>
          <p:nvPr/>
        </p:nvGraphicFramePr>
        <p:xfrm>
          <a:off x="6524063" y="22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{D1D5568B-4F5D-47E9-99CE-D931F7C20D97}</a:tableStyleId>
              </a:tblPr>
              <a:tblGrid>
                <a:gridCol w="2278975"/>
                <a:gridCol w="2278975"/>
              </a:tblGrid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x1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x2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g3f835741b06_0_108"/>
          <p:cNvGraphicFramePr/>
          <p:nvPr/>
        </p:nvGraphicFramePr>
        <p:xfrm>
          <a:off x="6553188" y="424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{D1D5568B-4F5D-47E9-99CE-D931F7C20D97}</a:tableStyleId>
              </a:tblPr>
              <a:tblGrid>
                <a:gridCol w="2278975"/>
                <a:gridCol w="2278975"/>
              </a:tblGrid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x1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0,51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x2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0,49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g3f835741b06_0_108"/>
          <p:cNvSpPr/>
          <p:nvPr/>
        </p:nvSpPr>
        <p:spPr>
          <a:xfrm>
            <a:off x="2550725" y="4381123"/>
            <a:ext cx="2871600" cy="1423500"/>
          </a:xfrm>
          <a:prstGeom prst="wedgeRoundRectCallout">
            <a:avLst>
              <a:gd fmla="val 84333" name="adj1"/>
              <a:gd fmla="val -170477" name="adj2"/>
              <a:gd fmla="val 0" name="adj3"/>
            </a:avLst>
          </a:prstGeom>
          <a:solidFill>
            <a:srgbClr val="4472C4"/>
          </a:solidFill>
          <a:ln cap="flat" cmpd="sng" w="5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725" lIns="55725" spcFirstLastPara="1" rIns="55725" wrap="square" tIns="5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84">
                <a:solidFill>
                  <a:srgbClr val="FFFFFF"/>
                </a:solidFill>
              </a:rPr>
              <a:t>Avalia uma feature por vez</a:t>
            </a:r>
            <a:endParaRPr sz="2484">
              <a:solidFill>
                <a:srgbClr val="FFFFFF"/>
              </a:solidFill>
            </a:endParaRPr>
          </a:p>
        </p:txBody>
      </p:sp>
      <p:sp>
        <p:nvSpPr>
          <p:cNvPr id="180" name="Google Shape;180;g3f835741b06_0_10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81" name="Google Shape;181;g3f835741b06_0_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835741b06_0_10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83" name="Google Shape;183;g3f835741b06_0_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835741b06_0_10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85" name="Google Shape;185;g3f835741b06_0_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35741b06_0_141"/>
          <p:cNvSpPr/>
          <p:nvPr/>
        </p:nvSpPr>
        <p:spPr>
          <a:xfrm>
            <a:off x="6053975" y="3652725"/>
            <a:ext cx="5823600" cy="1728600"/>
          </a:xfrm>
          <a:prstGeom prst="roundRect">
            <a:avLst>
              <a:gd fmla="val 16667" name="adj"/>
            </a:avLst>
          </a:prstGeom>
          <a:solidFill>
            <a:srgbClr val="CADC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835741b06_0_141"/>
          <p:cNvSpPr/>
          <p:nvPr/>
        </p:nvSpPr>
        <p:spPr>
          <a:xfrm>
            <a:off x="6053975" y="1658300"/>
            <a:ext cx="5823600" cy="1728600"/>
          </a:xfrm>
          <a:prstGeom prst="roundRect">
            <a:avLst>
              <a:gd fmla="val 16667" name="adj"/>
            </a:avLst>
          </a:prstGeom>
          <a:solidFill>
            <a:srgbClr val="CADC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835741b06_0_14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835741b06_0_141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Desafios Técnicos na Seleção de Features</a:t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195" name="Google Shape;195;g3f835741b06_0_14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835741b06_0_14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835741b06_0_14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835741b06_0_14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99" name="Google Shape;199;g3f835741b06_0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835741b06_0_141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835741b06_0_141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2" name="Google Shape;202;g3f835741b06_0_141"/>
          <p:cNvGraphicFramePr/>
          <p:nvPr/>
        </p:nvGraphicFramePr>
        <p:xfrm>
          <a:off x="555738" y="181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{D1D5568B-4F5D-47E9-99CE-D931F7C20D97}</a:tableStyleId>
              </a:tblPr>
              <a:tblGrid>
                <a:gridCol w="1275175"/>
                <a:gridCol w="1275175"/>
                <a:gridCol w="1275175"/>
                <a:gridCol w="1275175"/>
              </a:tblGrid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x1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x2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Y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</a:t>
                      </a:r>
                      <a:endParaRPr b="1" sz="2400"/>
                    </a:p>
                  </a:txBody>
                  <a:tcPr marT="91425" marB="91425" marR="91425" marL="91425">
                    <a:solidFill>
                      <a:srgbClr val="8FA3D0"/>
                    </a:solidFill>
                  </a:tcPr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  <a:tr h="517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50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3" name="Google Shape;203;g3f835741b06_0_141"/>
          <p:cNvSpPr txBox="1"/>
          <p:nvPr/>
        </p:nvSpPr>
        <p:spPr>
          <a:xfrm>
            <a:off x="6323225" y="1658300"/>
            <a:ext cx="4959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Informação Mútua  —  I(Xi ; Y)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204" name="Google Shape;204;g3f835741b06_0_141"/>
          <p:cNvSpPr txBox="1"/>
          <p:nvPr/>
        </p:nvSpPr>
        <p:spPr>
          <a:xfrm>
            <a:off x="6353825" y="3652725"/>
            <a:ext cx="5523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Random Forest  —  importância Gini</a:t>
            </a:r>
            <a:endParaRPr b="1" sz="2400">
              <a:solidFill>
                <a:schemeClr val="dk1"/>
              </a:solidFill>
            </a:endParaRPr>
          </a:p>
        </p:txBody>
      </p:sp>
      <p:graphicFrame>
        <p:nvGraphicFramePr>
          <p:cNvPr id="205" name="Google Shape;205;g3f835741b06_0_141"/>
          <p:cNvGraphicFramePr/>
          <p:nvPr/>
        </p:nvGraphicFramePr>
        <p:xfrm>
          <a:off x="6524063" y="22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{D1D5568B-4F5D-47E9-99CE-D931F7C20D97}</a:tableStyleId>
              </a:tblPr>
              <a:tblGrid>
                <a:gridCol w="2278975"/>
                <a:gridCol w="2278975"/>
              </a:tblGrid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x1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x2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6" name="Google Shape;206;g3f835741b06_0_141"/>
          <p:cNvGraphicFramePr/>
          <p:nvPr/>
        </p:nvGraphicFramePr>
        <p:xfrm>
          <a:off x="6553188" y="424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{D1D5568B-4F5D-47E9-99CE-D931F7C20D97}</a:tableStyleId>
              </a:tblPr>
              <a:tblGrid>
                <a:gridCol w="2278975"/>
                <a:gridCol w="2278975"/>
              </a:tblGrid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x1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0,51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x2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0,49</a:t>
                      </a:r>
                      <a:endParaRPr sz="2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g3f835741b06_0_141"/>
          <p:cNvSpPr/>
          <p:nvPr/>
        </p:nvSpPr>
        <p:spPr>
          <a:xfrm>
            <a:off x="2152000" y="4464523"/>
            <a:ext cx="2871600" cy="1258800"/>
          </a:xfrm>
          <a:prstGeom prst="wedgeRoundRectCallout">
            <a:avLst>
              <a:gd fmla="val 96135" name="adj1"/>
              <a:gd fmla="val -88799" name="adj2"/>
              <a:gd fmla="val 0" name="adj3"/>
            </a:avLst>
          </a:prstGeom>
          <a:solidFill>
            <a:srgbClr val="4472C4"/>
          </a:solidFill>
          <a:ln cap="flat" cmpd="sng" w="5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725" lIns="55725" spcFirstLastPara="1" rIns="55725" wrap="square" tIns="5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84">
                <a:solidFill>
                  <a:srgbClr val="FFFFFF"/>
                </a:solidFill>
              </a:rPr>
              <a:t>Avalia as features em conjunto</a:t>
            </a:r>
            <a:endParaRPr sz="2484">
              <a:solidFill>
                <a:srgbClr val="FFFFFF"/>
              </a:solidFill>
            </a:endParaRPr>
          </a:p>
        </p:txBody>
      </p:sp>
      <p:sp>
        <p:nvSpPr>
          <p:cNvPr id="208" name="Google Shape;208;g3f835741b06_0_14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09" name="Google Shape;209;g3f835741b06_0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835741b06_0_14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11" name="Google Shape;211;g3f835741b06_0_1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835741b06_0_14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13" name="Google Shape;213;g3f835741b06_0_1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Lacunas no Estado da Arte</a:t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" name="Google Shape;225;p6"/>
          <p:cNvGraphicFramePr/>
          <p:nvPr/>
        </p:nvGraphicFramePr>
        <p:xfrm>
          <a:off x="538318" y="1576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{49B9B429-B1F6-4CD1-8578-C455484DF673}</a:tableStyleId>
              </a:tblPr>
              <a:tblGrid>
                <a:gridCol w="3230250"/>
                <a:gridCol w="3819075"/>
                <a:gridCol w="4065800"/>
              </a:tblGrid>
              <a:tr h="80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Abordagem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Limitação</a:t>
                      </a:r>
                      <a:endParaRPr sz="2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Nossa </a:t>
                      </a: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solução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79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Wrappers (DroidRL, SigAPI)</a:t>
                      </a:r>
                      <a:endParaRPr sz="25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Wrapper caro</a:t>
                      </a:r>
                      <a:endParaRPr sz="25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Filtro eficiente</a:t>
                      </a:r>
                      <a:endParaRPr sz="25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79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Filtros Únicos (CorrNetDroid)</a:t>
                      </a:r>
                      <a:endParaRPr sz="25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Viés univariado / falha em interações</a:t>
                      </a:r>
                      <a:endParaRPr sz="25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Múltiplas modalidades</a:t>
                      </a:r>
                      <a:endParaRPr sz="25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79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Ensembles Simples (EnFeSTDroid)</a:t>
                      </a:r>
                      <a:endParaRPr sz="25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Rankers redundantes (TF-IDF)</a:t>
                      </a:r>
                      <a:endParaRPr sz="25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1F2937"/>
                          </a:solidFill>
                        </a:rPr>
                        <a:t>Rankers complementares</a:t>
                      </a:r>
                      <a:endParaRPr sz="2500">
                        <a:solidFill>
                          <a:srgbClr val="1F2937"/>
                        </a:solidFill>
                      </a:endParaRPr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6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27" name="Google Shape;2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29" name="Google Shape;2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31" name="Google Shape;23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6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33" name="Google Shape;23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2395725" y="2487171"/>
            <a:ext cx="7863900" cy="20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rgbClr val="FFFFFF"/>
                </a:solidFill>
              </a:rPr>
              <a:t>A Solução: Statistical Ranking</a:t>
            </a:r>
            <a:endParaRPr b="1" sz="4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sz="4200">
              <a:solidFill>
                <a:srgbClr val="FFFFFF"/>
              </a:solidFill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 contribuição central do trabalho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658375" y="621800"/>
            <a:ext cx="109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Statistical 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58368" y="1682496"/>
            <a:ext cx="10874959" cy="3712463"/>
          </a:xfrm>
          <a:prstGeom prst="roundRect">
            <a:avLst>
              <a:gd fmla="val 3000" name="adj"/>
            </a:avLst>
          </a:prstGeom>
          <a:solidFill>
            <a:srgbClr val="F4F6FA"/>
          </a:solidFill>
          <a:ln cap="flat" cmpd="sng" w="15875">
            <a:solidFill>
              <a:srgbClr val="DDE3E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658368" y="3127248"/>
            <a:ext cx="10874959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Insira aqui o diagrama da arquitetura ou do fluxo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Prefira SVG ou PDF; em último caso, PNG em alta resolução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65" name="Google Shape;2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67" name="Google Shape;2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8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69" name="Google Shape;26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71" name="Google Shape;27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4" name="Google Shape;274;p8" title="feature selection-2026-08-23-22164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325" y="1261417"/>
            <a:ext cx="11949051" cy="4965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f3e410b300_0_33" title="feature selection-2026-08-23-221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261417"/>
            <a:ext cx="11949051" cy="496515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f3e410b300_0_3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f3e410b300_0_33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3e410b300_0_33"/>
          <p:cNvSpPr txBox="1"/>
          <p:nvPr/>
        </p:nvSpPr>
        <p:spPr>
          <a:xfrm>
            <a:off x="658375" y="621800"/>
            <a:ext cx="109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Statistical 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3e410b300_0_3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3e410b300_0_3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3e410b300_0_3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3e410b300_0_3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88" name="Google Shape;288;g3f3e410b300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f3e410b300_0_3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90" name="Google Shape;290;g3f3e410b300_0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f3e410b300_0_3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92" name="Google Shape;292;g3f3e410b300_0_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f3e410b300_0_3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94" name="Google Shape;294;g3f3e410b300_0_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f3e410b300_0_33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3e410b300_0_33"/>
          <p:cNvSpPr/>
          <p:nvPr/>
        </p:nvSpPr>
        <p:spPr>
          <a:xfrm>
            <a:off x="0" y="3340364"/>
            <a:ext cx="4718700" cy="2714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3e410b300_0_33"/>
          <p:cNvSpPr/>
          <p:nvPr/>
        </p:nvSpPr>
        <p:spPr>
          <a:xfrm>
            <a:off x="5364300" y="1458575"/>
            <a:ext cx="5406300" cy="1702200"/>
          </a:xfrm>
          <a:prstGeom prst="wedgeRoundRectCallout">
            <a:avLst>
              <a:gd fmla="val -62048" name="adj1"/>
              <a:gd fmla="val 82430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</a:rPr>
              <a:t>R</a:t>
            </a:r>
            <a:r>
              <a:rPr lang="en-US" sz="2300">
                <a:solidFill>
                  <a:schemeClr val="lt1"/>
                </a:solidFill>
              </a:rPr>
              <a:t>emoç</a:t>
            </a:r>
            <a:r>
              <a:rPr lang="en-US" sz="2300">
                <a:solidFill>
                  <a:schemeClr val="lt1"/>
                </a:solidFill>
              </a:rPr>
              <a:t>ã</a:t>
            </a:r>
            <a:r>
              <a:rPr lang="en-US" sz="2300">
                <a:solidFill>
                  <a:schemeClr val="lt1"/>
                </a:solidFill>
              </a:rPr>
              <a:t>o de características </a:t>
            </a:r>
            <a:r>
              <a:rPr b="1" lang="en-US" sz="2300">
                <a:solidFill>
                  <a:schemeClr val="lt1"/>
                </a:solidFill>
              </a:rPr>
              <a:t>irrelevantes</a:t>
            </a:r>
            <a:r>
              <a:rPr lang="en-US" sz="2300">
                <a:solidFill>
                  <a:schemeClr val="lt1"/>
                </a:solidFill>
              </a:rPr>
              <a:t> e </a:t>
            </a:r>
            <a:r>
              <a:rPr b="1" lang="en-US" sz="2300">
                <a:solidFill>
                  <a:schemeClr val="lt1"/>
                </a:solidFill>
              </a:rPr>
              <a:t>redundantes</a:t>
            </a:r>
            <a:r>
              <a:rPr lang="en-US" sz="2300">
                <a:solidFill>
                  <a:schemeClr val="lt1"/>
                </a:solidFill>
              </a:rPr>
              <a:t>!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298" name="Google Shape;298;g3f3e410b300_0_33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3e410b300_0_27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3e410b300_0_277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3e410b300_0_277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Fase 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f3e410b300_0_27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f3e410b300_0_27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3e410b300_0_27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3e410b300_0_27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11" name="Google Shape;311;g3f3e410b300_0_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f3e410b300_0_27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13" name="Google Shape;313;g3f3e410b300_0_2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f3e410b300_0_27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15" name="Google Shape;315;g3f3e410b300_0_2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f3e410b300_0_27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17" name="Google Shape;317;g3f3e410b300_0_2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f3e410b300_0_277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g3f3e410b300_0_2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68875" y="4633850"/>
            <a:ext cx="3181900" cy="132579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f3e410b300_0_277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1" name="Google Shape;321;g3f3e410b300_0_2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8225" y="1752825"/>
            <a:ext cx="11717276" cy="40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g3f3e410b300_0_2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575" y="1648050"/>
            <a:ext cx="11717275" cy="14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f3e410b300_0_27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921910" y="1605629"/>
            <a:ext cx="228858" cy="22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3e410b300_0_30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3e410b300_0_30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3e410b300_0_30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Fase 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3e410b300_0_30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3e410b300_0_30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3e410b300_0_30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3e410b300_0_30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36" name="Google Shape;336;g3f3e410b300_0_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f3e410b300_0_30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38" name="Google Shape;338;g3f3e410b300_0_3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f3e410b300_0_30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40" name="Google Shape;340;g3f3e410b300_0_3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f3e410b300_0_30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42" name="Google Shape;342;g3f3e410b300_0_3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f3e410b300_0_30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g3f3e410b300_0_3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525" y="1125938"/>
            <a:ext cx="11480625" cy="526331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f3e410b300_0_302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g3f3e410b300_0_106" title="feature selection-2026-08-23-221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261417"/>
            <a:ext cx="11949051" cy="496515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3e410b300_0_10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f3e410b300_0_106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f3e410b300_0_106"/>
          <p:cNvSpPr txBox="1"/>
          <p:nvPr/>
        </p:nvSpPr>
        <p:spPr>
          <a:xfrm>
            <a:off x="658375" y="621800"/>
            <a:ext cx="109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Statistical 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f3e410b300_0_10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f3e410b300_0_10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3e410b300_0_10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f3e410b300_0_106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59" name="Google Shape;359;g3f3e410b300_0_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3e410b300_0_106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61" name="Google Shape;361;g3f3e410b300_0_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f3e410b300_0_106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63" name="Google Shape;363;g3f3e410b300_0_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f3e410b300_0_106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65" name="Google Shape;365;g3f3e410b300_0_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f3e410b300_0_106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f3e410b300_0_106"/>
          <p:cNvSpPr/>
          <p:nvPr/>
        </p:nvSpPr>
        <p:spPr>
          <a:xfrm>
            <a:off x="2194550" y="1914300"/>
            <a:ext cx="6897000" cy="371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3e410b300_0_106"/>
          <p:cNvSpPr/>
          <p:nvPr/>
        </p:nvSpPr>
        <p:spPr>
          <a:xfrm>
            <a:off x="6208725" y="894450"/>
            <a:ext cx="4925400" cy="2145600"/>
          </a:xfrm>
          <a:prstGeom prst="wedgeRoundRectCallout">
            <a:avLst>
              <a:gd fmla="val -56887" name="adj1"/>
              <a:gd fmla="val 71501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Mede dependência entre feature e target (class)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69" name="Google Shape;369;g3f3e410b300_0_106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0" name="Google Shape;370;g3f3e410b300_0_10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10600" y="3638650"/>
            <a:ext cx="2472675" cy="15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3f835741b06_0_324" title="feature selection-2026-08-23-221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261417"/>
            <a:ext cx="11949051" cy="4965157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835741b06_0_32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f835741b06_0_32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835741b06_0_324"/>
          <p:cNvSpPr txBox="1"/>
          <p:nvPr/>
        </p:nvSpPr>
        <p:spPr>
          <a:xfrm>
            <a:off x="658375" y="621800"/>
            <a:ext cx="109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Statistical 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f835741b06_0_32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835741b06_0_32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835741b06_0_32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f835741b06_0_32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84" name="Google Shape;384;g3f835741b06_0_3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f835741b06_0_32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86" name="Google Shape;386;g3f835741b06_0_3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835741b06_0_32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88" name="Google Shape;388;g3f835741b06_0_3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f835741b06_0_32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90" name="Google Shape;390;g3f835741b06_0_3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f835741b06_0_32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f835741b06_0_324"/>
          <p:cNvSpPr/>
          <p:nvPr/>
        </p:nvSpPr>
        <p:spPr>
          <a:xfrm>
            <a:off x="2194550" y="1914300"/>
            <a:ext cx="6897000" cy="371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835741b06_0_324"/>
          <p:cNvSpPr/>
          <p:nvPr/>
        </p:nvSpPr>
        <p:spPr>
          <a:xfrm>
            <a:off x="6167325" y="1114400"/>
            <a:ext cx="4519500" cy="1817100"/>
          </a:xfrm>
          <a:prstGeom prst="wedgeRoundRectCallout">
            <a:avLst>
              <a:gd fmla="val -34987" name="adj1"/>
              <a:gd fmla="val 81447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Mede quanto uma feature reduz a incerteza da classe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94" name="Google Shape;394;g3f835741b06_0_324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5" name="Google Shape;395;g3f835741b06_0_3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10600" y="3638650"/>
            <a:ext cx="2472675" cy="151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g3f835741b06_0_349" title="feature selection-2026-08-23-221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261417"/>
            <a:ext cx="11949051" cy="496515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f835741b06_0_34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835741b06_0_349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835741b06_0_349"/>
          <p:cNvSpPr txBox="1"/>
          <p:nvPr/>
        </p:nvSpPr>
        <p:spPr>
          <a:xfrm>
            <a:off x="658375" y="621800"/>
            <a:ext cx="109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Statistical 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f835741b06_0_34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f835741b06_0_34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835741b06_0_34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f835741b06_0_34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09" name="Google Shape;409;g3f835741b06_0_3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f835741b06_0_34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11" name="Google Shape;411;g3f835741b06_0_3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f835741b06_0_34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13" name="Google Shape;413;g3f835741b06_0_3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f835741b06_0_34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15" name="Google Shape;415;g3f835741b06_0_3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f835741b06_0_34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f835741b06_0_349"/>
          <p:cNvSpPr/>
          <p:nvPr/>
        </p:nvSpPr>
        <p:spPr>
          <a:xfrm>
            <a:off x="2194550" y="1914300"/>
            <a:ext cx="6897000" cy="3712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835741b06_0_349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9" name="Google Shape;419;g3f835741b06_0_3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10600" y="3638650"/>
            <a:ext cx="2472675" cy="15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f835741b06_0_349"/>
          <p:cNvSpPr/>
          <p:nvPr/>
        </p:nvSpPr>
        <p:spPr>
          <a:xfrm>
            <a:off x="2843400" y="1308525"/>
            <a:ext cx="4519500" cy="2136000"/>
          </a:xfrm>
          <a:prstGeom prst="wedgeRoundRectCallout">
            <a:avLst>
              <a:gd fmla="val 59153" name="adj1"/>
              <a:gd fmla="val 49676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Usa um modelo real para ver importância das features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g3f835741b06_0_374" title="feature selection-2026-08-23-2216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1261417"/>
            <a:ext cx="11949051" cy="496515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f835741b06_0_37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f835741b06_0_37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835741b06_0_374"/>
          <p:cNvSpPr txBox="1"/>
          <p:nvPr/>
        </p:nvSpPr>
        <p:spPr>
          <a:xfrm>
            <a:off x="658375" y="621800"/>
            <a:ext cx="109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Statistical 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f835741b06_0_37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f835741b06_0_37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835741b06_0_37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f835741b06_0_37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34" name="Google Shape;434;g3f835741b06_0_3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f835741b06_0_37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36" name="Google Shape;436;g3f835741b06_0_3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f835741b06_0_37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38" name="Google Shape;438;g3f835741b06_0_3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f835741b06_0_37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40" name="Google Shape;440;g3f835741b06_0_3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f835741b06_0_37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835741b06_0_374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g3f835741b06_0_374"/>
          <p:cNvSpPr/>
          <p:nvPr/>
        </p:nvSpPr>
        <p:spPr>
          <a:xfrm>
            <a:off x="9068350" y="2548063"/>
            <a:ext cx="3167700" cy="2315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f835741b06_0_374"/>
          <p:cNvSpPr/>
          <p:nvPr/>
        </p:nvSpPr>
        <p:spPr>
          <a:xfrm>
            <a:off x="4685175" y="3296575"/>
            <a:ext cx="3542100" cy="1566600"/>
          </a:xfrm>
          <a:prstGeom prst="wedgeRoundRectCallout">
            <a:avLst>
              <a:gd fmla="val 74877" name="adj1"/>
              <a:gd fmla="val -34594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Consenso através do voto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3e410b300_0_55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f3e410b300_0_555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3e410b300_0_555"/>
          <p:cNvSpPr txBox="1"/>
          <p:nvPr/>
        </p:nvSpPr>
        <p:spPr>
          <a:xfrm>
            <a:off x="658375" y="621800"/>
            <a:ext cx="1093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Statistical Ranking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f3e410b300_0_55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f3e410b300_0_55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f3e410b300_0_55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3e410b300_0_5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57" name="Google Shape;457;g3f3e410b300_0_5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f3e410b300_0_55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59" name="Google Shape;459;g3f3e410b300_0_5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f3e410b300_0_55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61" name="Google Shape;461;g3f3e410b300_0_5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f3e410b300_0_55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63" name="Google Shape;463;g3f3e410b300_0_5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f3e410b300_0_55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f3e410b300_0_555"/>
          <p:cNvSpPr/>
          <p:nvPr/>
        </p:nvSpPr>
        <p:spPr>
          <a:xfrm>
            <a:off x="1737350" y="2367680"/>
            <a:ext cx="2560200" cy="1188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3e410b300_0_555"/>
          <p:cNvSpPr/>
          <p:nvPr/>
        </p:nvSpPr>
        <p:spPr>
          <a:xfrm>
            <a:off x="3931910" y="2367680"/>
            <a:ext cx="2560200" cy="1188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3e410b300_0_555"/>
          <p:cNvSpPr/>
          <p:nvPr/>
        </p:nvSpPr>
        <p:spPr>
          <a:xfrm>
            <a:off x="4643425" y="264205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3e410b300_0_555"/>
          <p:cNvSpPr/>
          <p:nvPr/>
        </p:nvSpPr>
        <p:spPr>
          <a:xfrm>
            <a:off x="6429728" y="2367725"/>
            <a:ext cx="3840600" cy="1188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f3e410b300_0_555"/>
          <p:cNvSpPr/>
          <p:nvPr/>
        </p:nvSpPr>
        <p:spPr>
          <a:xfrm>
            <a:off x="6907895" y="2596355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g3f3e410b300_0_555"/>
          <p:cNvCxnSpPr/>
          <p:nvPr/>
        </p:nvCxnSpPr>
        <p:spPr>
          <a:xfrm>
            <a:off x="3017510" y="3556400"/>
            <a:ext cx="0" cy="457200"/>
          </a:xfrm>
          <a:prstGeom prst="straightConnector1">
            <a:avLst/>
          </a:prstGeom>
          <a:noFill/>
          <a:ln cap="flat" cmpd="sng" w="50800">
            <a:solidFill>
              <a:srgbClr val="F9616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1" name="Google Shape;471;g3f3e410b300_0_555"/>
          <p:cNvCxnSpPr/>
          <p:nvPr/>
        </p:nvCxnSpPr>
        <p:spPr>
          <a:xfrm>
            <a:off x="5923520" y="3579250"/>
            <a:ext cx="0" cy="457200"/>
          </a:xfrm>
          <a:prstGeom prst="straightConnector1">
            <a:avLst/>
          </a:prstGeom>
          <a:noFill/>
          <a:ln cap="flat" cmpd="sng" w="50800">
            <a:solidFill>
              <a:srgbClr val="F9616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2" name="Google Shape;472;g3f3e410b300_0_555"/>
          <p:cNvCxnSpPr/>
          <p:nvPr/>
        </p:nvCxnSpPr>
        <p:spPr>
          <a:xfrm>
            <a:off x="8188005" y="3556400"/>
            <a:ext cx="0" cy="457200"/>
          </a:xfrm>
          <a:prstGeom prst="straightConnector1">
            <a:avLst/>
          </a:prstGeom>
          <a:noFill/>
          <a:ln cap="flat" cmpd="sng" w="50800">
            <a:solidFill>
              <a:srgbClr val="F9616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3" name="Google Shape;473;g3f3e410b300_0_555"/>
          <p:cNvSpPr/>
          <p:nvPr/>
        </p:nvSpPr>
        <p:spPr>
          <a:xfrm>
            <a:off x="2332175" y="4013600"/>
            <a:ext cx="6636600" cy="10059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f3e410b300_0_555"/>
          <p:cNvSpPr/>
          <p:nvPr/>
        </p:nvSpPr>
        <p:spPr>
          <a:xfrm>
            <a:off x="3108950" y="419648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 com ≥2 votos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3e410b300_0_555"/>
          <p:cNvSpPr/>
          <p:nvPr/>
        </p:nvSpPr>
        <p:spPr>
          <a:xfrm>
            <a:off x="3108950" y="460796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Consenso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3e410b300_0_555"/>
          <p:cNvSpPr/>
          <p:nvPr/>
        </p:nvSpPr>
        <p:spPr>
          <a:xfrm>
            <a:off x="1737350" y="2596275"/>
            <a:ext cx="305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</a:t>
            </a: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-Quadrado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3e410b300_0_555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" name="Google Shape;478;g3f3e410b300_0_555"/>
          <p:cNvSpPr/>
          <p:nvPr/>
        </p:nvSpPr>
        <p:spPr>
          <a:xfrm>
            <a:off x="1907900" y="3112937"/>
            <a:ext cx="788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Top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colunas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0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0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Como validamos 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0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3e410b300_0_64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3e410b300_0_64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3e410b300_0_64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Configuração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f3e410b300_0_64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3e410b300_0_64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g3f3e410b300_0_64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4" name="Google Shape;504;g3f3e410b300_0_648"/>
          <p:cNvGraphicFramePr/>
          <p:nvPr/>
        </p:nvGraphicFramePr>
        <p:xfrm>
          <a:off x="725868" y="15552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{49B9B429-B1F6-4CD1-8578-C455484DF673}</a:tableStyleId>
              </a:tblPr>
              <a:tblGrid>
                <a:gridCol w="3935325"/>
                <a:gridCol w="7113800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extLst>
                            <a:ext uri="http://customooxmlschemas.google.com/">
                              <go:slidesCustomData xmlns:go="http://customooxmlschemas.google.com/" textRoundtripDataId="4"/>
                            </a:ext>
                          </a:extLst>
                        </a:rPr>
                        <a:t>Configuração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Conjunto de dados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11 datasets públicos de malware Android, abrangendo permissões, chamadas de API e centralidades de grafos (ex.: AndroCrawl, Drebin, MH100K)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Lasso, RFE (Recursive Feature Elimination) e SemiDroid. Comparação também com variações do próprio método (ablação).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Métricas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Precisão, Recall, F1-score, Acurácia, redução dimensional (%) e tempo de treinamento.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6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19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Ambiente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rgbClr val="1F2937"/>
                          </a:solidFill>
                        </a:rPr>
                        <a:t>Intel Core i7-1165G7, 8 núcleos lógicos, 23,2 GB RAM, Ubuntu 24.04.4, Python 3.12.3, scikit-learn 1.8.0, NumPy 2.4.4, SciPy 1.17.1, pandas 3.0.2. Semente aleatória fixa (random_state=42).</a:t>
                      </a:r>
                      <a:endParaRPr sz="14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05" name="Google Shape;505;g3f3e410b300_0_64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06" name="Google Shape;506;g3f3e410b300_0_6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f3e410b300_0_64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08" name="Google Shape;508;g3f3e410b300_0_6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f3e410b300_0_64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10" name="Google Shape;510;g3f3e410b300_0_6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f3e410b300_0_64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12" name="Google Shape;512;g3f3e410b300_0_6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f3e410b300_0_64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f3e410b300_0_648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835741b06_0_23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f835741b06_0_239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f835741b06_0_23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Datasets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835741b06_0_23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f835741b06_0_23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835741b06_0_23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835741b06_0_23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27" name="Google Shape;527;g3f835741b06_0_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g3f835741b06_0_23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29" name="Google Shape;529;g3f835741b06_0_2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f835741b06_0_23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31" name="Google Shape;531;g3f835741b06_0_2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f835741b06_0_23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33" name="Google Shape;533;g3f835741b06_0_2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f835741b06_0_23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5" name="Google Shape;535;g3f835741b06_0_239"/>
          <p:cNvGraphicFramePr/>
          <p:nvPr/>
        </p:nvGraphicFramePr>
        <p:xfrm>
          <a:off x="1150450" y="111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{D2203CD0-0E3B-4778-B3A6-0B23DC09DCF3}</a:tableStyleId>
              </a:tblPr>
              <a:tblGrid>
                <a:gridCol w="3393275"/>
                <a:gridCol w="1396725"/>
                <a:gridCol w="1406450"/>
                <a:gridCol w="2265925"/>
                <a:gridCol w="2224475"/>
              </a:tblGrid>
              <a:tr h="684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2328"/>
                          </a:solidFill>
                        </a:rPr>
                        <a:t>Name</a:t>
                      </a:r>
                      <a:endParaRPr b="1"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2328"/>
                          </a:solidFill>
                        </a:rPr>
                        <a:t>Samples</a:t>
                      </a:r>
                      <a:endParaRPr b="1"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2328"/>
                          </a:solidFill>
                        </a:rPr>
                        <a:t>Features</a:t>
                      </a:r>
                      <a:endParaRPr b="1"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2328"/>
                          </a:solidFill>
                        </a:rPr>
                        <a:t>Benigns(</a:t>
                      </a:r>
                      <a:r>
                        <a:rPr b="1" lang="en-US" sz="1600">
                          <a:solidFill>
                            <a:srgbClr val="1F2328"/>
                          </a:solidFill>
                          <a:extLst>
                            <a:ext uri="http://customooxmlschemas.google.com/">
                              <go:slidesCustomData xmlns:go="http://customooxmlschemas.google.com/" textRoundtripDataId="5"/>
                            </a:ext>
                          </a:extLst>
                        </a:rPr>
                        <a:t>original</a:t>
                      </a:r>
                      <a:r>
                        <a:rPr b="1" lang="en-US" sz="1600">
                          <a:solidFill>
                            <a:srgbClr val="1F2328"/>
                          </a:solidFill>
                        </a:rPr>
                        <a:t>)</a:t>
                      </a:r>
                      <a:endParaRPr b="1"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F2328"/>
                          </a:solidFill>
                        </a:rPr>
                        <a:t>Malwares(original)</a:t>
                      </a:r>
                      <a:endParaRPr b="1"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0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adroit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11476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166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8058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3418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535:1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android_permissions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26864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151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9077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17787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2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androcrawl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96744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141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86574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10170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3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defensedroid_prs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11975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2877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5975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6000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4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drebin215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15031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215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9476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5555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5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kronodroid_real_device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78137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286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36755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41382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6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kronodroid_emulator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63991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286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35246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28745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7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defensedroid_a_c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10476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4274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5222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5254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8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defensedroid_a_d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10476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6002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5222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5254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9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defensedroid_a_k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10476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6002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5222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5254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0:4"/>
                      </a:ext>
                    </a:extLst>
                  </a:tcPr>
                </a:tc>
              </a:tr>
              <a:tr h="396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extLst>
                            <a:ext uri="http://customooxmlschemas.google.com/">
                              <go:slidesCustomData xmlns:go="http://customooxmlschemas.google.com/" textRoundtripDataId="6"/>
                            </a:ext>
                          </a:extLst>
                        </a:rPr>
                        <a:t>mh100k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101975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24833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2328"/>
                          </a:solidFill>
                        </a:rPr>
                        <a:t>92175</a:t>
                      </a:r>
                      <a:endParaRPr sz="1600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9800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535:11:4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536" name="Google Shape;536;g3f835741b06_0_239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g3f835741b06_0_239"/>
          <p:cNvSpPr/>
          <p:nvPr/>
        </p:nvSpPr>
        <p:spPr>
          <a:xfrm>
            <a:off x="1150450" y="2590725"/>
            <a:ext cx="10686900" cy="365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f835741b06_0_239"/>
          <p:cNvSpPr/>
          <p:nvPr/>
        </p:nvSpPr>
        <p:spPr>
          <a:xfrm>
            <a:off x="1150400" y="5781600"/>
            <a:ext cx="10686900" cy="365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3e410b300_0_69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3e410b300_0_69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g3f3e410b300_0_69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Baselines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f3e410b300_0_69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3f3e410b300_0_69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3f3e410b300_0_69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f3e410b300_0_69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51" name="Google Shape;551;g3f3e410b300_0_6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g3f3e410b300_0_69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53" name="Google Shape;553;g3f3e410b300_0_6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f3e410b300_0_69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55" name="Google Shape;555;g3f3e410b300_0_6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f3e410b300_0_69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57" name="Google Shape;557;g3f3e410b300_0_6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f3e410b300_0_69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3e410b300_0_698"/>
          <p:cNvSpPr txBox="1"/>
          <p:nvPr/>
        </p:nvSpPr>
        <p:spPr>
          <a:xfrm>
            <a:off x="658375" y="1773925"/>
            <a:ext cx="10586700" cy="23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5445" lvl="0" marL="4572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470"/>
              <a:buChar char="▪"/>
            </a:pPr>
            <a:r>
              <a:rPr b="1" lang="en-US" sz="2800">
                <a:solidFill>
                  <a:srgbClr val="1F2937"/>
                </a:solidFill>
              </a:rPr>
              <a:t>RFE (Recursive Feature Elimination)</a:t>
            </a:r>
            <a:endParaRPr b="1" sz="2800">
              <a:solidFill>
                <a:srgbClr val="1F2937"/>
              </a:solidFill>
            </a:endParaRPr>
          </a:p>
          <a:p>
            <a:pPr indent="-385445" lvl="0" marL="4572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470"/>
              <a:buChar char="▪"/>
            </a:pPr>
            <a:r>
              <a:rPr b="1" lang="en-US" sz="2800">
                <a:solidFill>
                  <a:srgbClr val="1F2937"/>
                </a:solidFill>
              </a:rPr>
              <a:t>Semidroid</a:t>
            </a:r>
            <a:endParaRPr b="1" sz="2800">
              <a:solidFill>
                <a:srgbClr val="1F2937"/>
              </a:solidFill>
            </a:endParaRPr>
          </a:p>
          <a:p>
            <a:pPr indent="-385445" lvl="0" marL="4572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A866E"/>
              </a:buClr>
              <a:buSzPts val="2470"/>
              <a:buChar char="▪"/>
            </a:pPr>
            <a:r>
              <a:rPr b="1" lang="en-US" sz="2800">
                <a:solidFill>
                  <a:srgbClr val="1F2937"/>
                </a:solidFill>
              </a:rPr>
              <a:t>Lasso</a:t>
            </a:r>
            <a:endParaRPr b="1" sz="2800">
              <a:solidFill>
                <a:srgbClr val="1F2937"/>
              </a:solidFill>
            </a:endParaRPr>
          </a:p>
          <a:p>
            <a:pPr indent="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1F2937"/>
              </a:solidFill>
            </a:endParaRPr>
          </a:p>
          <a:p>
            <a:pPr indent="0" lvl="0" marL="457200" marR="0" rtl="0" algn="l">
              <a:lnSpc>
                <a:spcPct val="116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Google Shape;560;g3f3e410b300_0_698" title="url_qrcodecreator.com_14_34_1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14133" y="3974507"/>
            <a:ext cx="2253117" cy="2253117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f3e410b300_0_698"/>
          <p:cNvSpPr/>
          <p:nvPr/>
        </p:nvSpPr>
        <p:spPr>
          <a:xfrm>
            <a:off x="3296850" y="3892675"/>
            <a:ext cx="4950300" cy="1461300"/>
          </a:xfrm>
          <a:prstGeom prst="wedgeRoundRectCallout">
            <a:avLst>
              <a:gd fmla="val 84665" name="adj1"/>
              <a:gd fmla="val 4663" name="adj2"/>
              <a:gd fmla="val 0" name="adj3"/>
            </a:avLst>
          </a:prstGeom>
          <a:solidFill>
            <a:srgbClr val="4472C4"/>
          </a:solidFill>
          <a:ln cap="flat" cmpd="sng" w="13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750" lIns="130750" spcFirstLastPara="1" rIns="130750" wrap="square" tIns="13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18">
                <a:solidFill>
                  <a:srgbClr val="FFFFFF"/>
                </a:solidFill>
              </a:rPr>
              <a:t>3 melhores métodos MH-FSF</a:t>
            </a:r>
            <a:endParaRPr sz="3718">
              <a:solidFill>
                <a:srgbClr val="FFFFFF"/>
              </a:solidFill>
            </a:endParaRPr>
          </a:p>
        </p:txBody>
      </p:sp>
      <p:sp>
        <p:nvSpPr>
          <p:cNvPr id="562" name="Google Shape;562;g3f3e410b300_0_698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3e410b300_0_77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f3e410b300_0_775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f3e410b300_0_775"/>
          <p:cNvSpPr txBox="1"/>
          <p:nvPr/>
        </p:nvSpPr>
        <p:spPr>
          <a:xfrm>
            <a:off x="658368" y="621792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Métricas usadas na avaliação dos resultados</a:t>
            </a:r>
            <a:endParaRPr b="1" sz="3200">
              <a:solidFill>
                <a:srgbClr val="0F236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571" name="Google Shape;571;g3f3e410b300_0_77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f3e410b300_0_77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f3e410b300_0_77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f3e410b300_0_77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75" name="Google Shape;575;g3f3e410b300_0_7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g3f3e410b300_0_77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577" name="Google Shape;577;g3f3e410b300_0_7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f3e410b300_0_77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579" name="Google Shape;579;g3f3e410b300_0_7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g3f3e410b300_0_77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581" name="Google Shape;581;g3f3e410b300_0_7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f3e410b300_0_77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f3e410b300_0_775"/>
          <p:cNvSpPr/>
          <p:nvPr/>
        </p:nvSpPr>
        <p:spPr>
          <a:xfrm>
            <a:off x="7680525" y="1155050"/>
            <a:ext cx="3971700" cy="2976000"/>
          </a:xfrm>
          <a:prstGeom prst="wedgeRoundRectCallout">
            <a:avLst>
              <a:gd fmla="val -84126" name="adj1"/>
              <a:gd fmla="val 58234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</a:rPr>
              <a:t>O tempo de execução é diretamente influenciado pelo % de redução de features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584" name="Google Shape;584;g3f3e410b300_0_775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5" name="Google Shape;585;g3f3e410b300_0_775"/>
          <p:cNvSpPr txBox="1"/>
          <p:nvPr/>
        </p:nvSpPr>
        <p:spPr>
          <a:xfrm>
            <a:off x="1064800" y="2015825"/>
            <a:ext cx="60525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Recall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F1 Score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Precisão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AUC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Acurácia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solidFill>
                  <a:schemeClr val="dk1"/>
                </a:solidFill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Percentual de redução de features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3e410b300_0_84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3e410b300_0_842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f3e410b300_0_842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f3e410b300_0_84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3e410b300_0_84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3e410b300_0_84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3e410b300_0_84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598" name="Google Shape;598;g3f3e410b300_0_8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g3f3e410b300_0_84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00" name="Google Shape;600;g3f3e410b300_0_8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g3f3e410b300_0_84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02" name="Google Shape;602;g3f3e410b300_0_8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g3f3e410b300_0_84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04" name="Google Shape;604;g3f3e410b300_0_8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g3f3e410b300_0_84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f3e410b300_0_842"/>
          <p:cNvSpPr/>
          <p:nvPr/>
        </p:nvSpPr>
        <p:spPr>
          <a:xfrm>
            <a:off x="1420400" y="2863338"/>
            <a:ext cx="790200" cy="8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f3e410b300_0_842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8" name="Google Shape;608;g3f3e410b300_0_8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36675" y="1109538"/>
            <a:ext cx="9765974" cy="503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g3f3e410b300_0_8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19100" y="5854680"/>
            <a:ext cx="494550" cy="429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f3e410b300_0_86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f3e410b300_0_865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3e410b300_0_865"/>
          <p:cNvSpPr txBox="1"/>
          <p:nvPr/>
        </p:nvSpPr>
        <p:spPr>
          <a:xfrm>
            <a:off x="658368" y="621792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- Métodos de redução selecionados</a:t>
            </a:r>
            <a:endParaRPr b="1" i="0" sz="32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618" name="Google Shape;618;g3f3e410b300_0_86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3e410b300_0_86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g3f3e410b300_0_86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f3e410b300_0_86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22" name="Google Shape;622;g3f3e410b300_0_8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3f3e410b300_0_86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24" name="Google Shape;624;g3f3e410b300_0_8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g3f3e410b300_0_86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26" name="Google Shape;626;g3f3e410b300_0_8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f3e410b300_0_86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28" name="Google Shape;628;g3f3e410b300_0_8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f3e410b300_0_86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0" name="Google Shape;630;g3f3e410b300_0_865"/>
          <p:cNvGraphicFramePr/>
          <p:nvPr/>
        </p:nvGraphicFramePr>
        <p:xfrm>
          <a:off x="2630500" y="139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{D2203CD0-0E3B-4778-B3A6-0B23DC09DCF3}</a:tableStyleId>
              </a:tblPr>
              <a:tblGrid>
                <a:gridCol w="4552775"/>
                <a:gridCol w="4289725"/>
              </a:tblGrid>
              <a:tr h="322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F2328"/>
                          </a:solidFill>
                        </a:rPr>
                        <a:t>Dataset</a:t>
                      </a:r>
                      <a:endParaRPr b="1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F2328"/>
                          </a:solidFill>
                        </a:rPr>
                        <a:t>Método</a:t>
                      </a:r>
                      <a:endParaRPr b="1">
                        <a:solidFill>
                          <a:srgbClr val="1F2328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mh100k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statistical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kronodroid_real_device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statistical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kronodroid_emulator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statistical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drebin215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rfe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defensedroid_prs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semidroid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defensedroid_a_k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rfe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defensedroid_a_d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rfe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defensedroid_a_c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rfe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android_permissions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statistical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androcrawl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statistical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adroit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rfe</a:t>
                      </a:r>
                      <a:endParaRPr sz="1800"/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1" name="Google Shape;631;g3f3e410b300_0_865"/>
          <p:cNvSpPr/>
          <p:nvPr/>
        </p:nvSpPr>
        <p:spPr>
          <a:xfrm>
            <a:off x="3175975" y="1654125"/>
            <a:ext cx="7067100" cy="1296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f3e410b300_0_865"/>
          <p:cNvSpPr/>
          <p:nvPr/>
        </p:nvSpPr>
        <p:spPr>
          <a:xfrm>
            <a:off x="3071875" y="4859850"/>
            <a:ext cx="7067100" cy="837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g3f3e410b300_0_865"/>
          <p:cNvSpPr txBox="1"/>
          <p:nvPr/>
        </p:nvSpPr>
        <p:spPr>
          <a:xfrm>
            <a:off x="826975" y="2099625"/>
            <a:ext cx="1294500" cy="1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5/11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634" name="Google Shape;634;g3f3e410b300_0_865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3e410b300_0_89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3e410b300_0_89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g3f3e410b300_0_89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3e410b300_0_89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f3e410b300_0_89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45" name="Google Shape;645;g3f3e410b300_0_8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g3f3e410b300_0_89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47" name="Google Shape;647;g3f3e410b300_0_8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f3e410b300_0_89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49" name="Google Shape;649;g3f3e410b300_0_8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g3f3e410b300_0_89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51" name="Google Shape;651;g3f3e410b300_0_8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g3f3e410b300_0_89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f3e410b300_0_892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4" name="Google Shape;654;g3f3e410b300_0_8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6275" y="433821"/>
            <a:ext cx="10785402" cy="59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g3f3e410b300_0_892"/>
          <p:cNvSpPr txBox="1"/>
          <p:nvPr/>
        </p:nvSpPr>
        <p:spPr>
          <a:xfrm>
            <a:off x="658368" y="621792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 b="1" i="0" sz="32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656" name="Google Shape;656;g3f3e410b300_0_892"/>
          <p:cNvSpPr txBox="1"/>
          <p:nvPr/>
        </p:nvSpPr>
        <p:spPr>
          <a:xfrm>
            <a:off x="658368" y="218435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835741b06_0_50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835741b06_0_50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g3f835741b06_0_50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835741b06_0_50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g3f835741b06_0_50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67" name="Google Shape;667;g3f835741b06_0_5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3f835741b06_0_50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69" name="Google Shape;669;g3f835741b06_0_5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g3f835741b06_0_50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71" name="Google Shape;671;g3f835741b06_0_5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g3f835741b06_0_50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73" name="Google Shape;673;g3f835741b06_0_5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g3f835741b06_0_502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3f835741b06_0_502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6" name="Google Shape;676;g3f835741b06_0_5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6275" y="433821"/>
            <a:ext cx="10785402" cy="59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g3f835741b06_0_502"/>
          <p:cNvSpPr txBox="1"/>
          <p:nvPr/>
        </p:nvSpPr>
        <p:spPr>
          <a:xfrm>
            <a:off x="658368" y="621792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 b="1" i="0" sz="32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678" name="Google Shape;678;g3f835741b06_0_502"/>
          <p:cNvSpPr/>
          <p:nvPr/>
        </p:nvSpPr>
        <p:spPr>
          <a:xfrm>
            <a:off x="2329475" y="1796288"/>
            <a:ext cx="820500" cy="30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f835741b06_0_502"/>
          <p:cNvSpPr/>
          <p:nvPr/>
        </p:nvSpPr>
        <p:spPr>
          <a:xfrm>
            <a:off x="3797756" y="3888787"/>
            <a:ext cx="3242100" cy="2298600"/>
          </a:xfrm>
          <a:prstGeom prst="wedgeRoundRectCallout">
            <a:avLst>
              <a:gd fmla="val -74993" name="adj1"/>
              <a:gd fmla="val -49531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MH100K:</a:t>
            </a:r>
            <a:r>
              <a:rPr lang="en-US" sz="2700">
                <a:solidFill>
                  <a:schemeClr val="lt1"/>
                </a:solidFill>
              </a:rPr>
              <a:t> Recall subiu de ~</a:t>
            </a:r>
            <a:r>
              <a:rPr b="1" lang="en-US" sz="2700">
                <a:solidFill>
                  <a:schemeClr val="lt1"/>
                </a:solidFill>
              </a:rPr>
              <a:t>0,30 → 0,87</a:t>
            </a:r>
            <a:r>
              <a:rPr lang="en-US" sz="2700">
                <a:solidFill>
                  <a:schemeClr val="lt1"/>
                </a:solidFill>
              </a:rPr>
              <a:t> com </a:t>
            </a:r>
            <a:r>
              <a:rPr b="1" lang="en-US" sz="2700">
                <a:solidFill>
                  <a:schemeClr val="lt1"/>
                </a:solidFill>
              </a:rPr>
              <a:t>99,63%</a:t>
            </a:r>
            <a:r>
              <a:rPr lang="en-US" sz="2700">
                <a:solidFill>
                  <a:schemeClr val="lt1"/>
                </a:solidFill>
              </a:rPr>
              <a:t> de redução</a:t>
            </a:r>
            <a:endParaRPr b="1" sz="2700">
              <a:solidFill>
                <a:schemeClr val="lt1"/>
              </a:solidFill>
            </a:endParaRPr>
          </a:p>
        </p:txBody>
      </p:sp>
      <p:sp>
        <p:nvSpPr>
          <p:cNvPr id="680" name="Google Shape;680;g3f835741b06_0_502"/>
          <p:cNvSpPr txBox="1"/>
          <p:nvPr/>
        </p:nvSpPr>
        <p:spPr>
          <a:xfrm>
            <a:off x="658368" y="218435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f835741b06_0_52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3f835741b06_0_52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3f835741b06_0_52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g3f835741b06_0_52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g3f835741b06_0_52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691" name="Google Shape;691;g3f835741b06_0_5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g3f835741b06_0_52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693" name="Google Shape;693;g3f835741b06_0_5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f835741b06_0_52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695" name="Google Shape;695;g3f835741b06_0_5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3f835741b06_0_52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697" name="Google Shape;697;g3f835741b06_0_5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3f835741b06_0_52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g3f835741b06_0_525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0" name="Google Shape;700;g3f835741b06_0_5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7525" y="433821"/>
            <a:ext cx="10785402" cy="59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g3f835741b06_0_525"/>
          <p:cNvSpPr txBox="1"/>
          <p:nvPr/>
        </p:nvSpPr>
        <p:spPr>
          <a:xfrm>
            <a:off x="658368" y="644167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 b="1" i="0" sz="32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702" name="Google Shape;702;g3f835741b06_0_525"/>
          <p:cNvSpPr/>
          <p:nvPr/>
        </p:nvSpPr>
        <p:spPr>
          <a:xfrm>
            <a:off x="9684363" y="1761663"/>
            <a:ext cx="820500" cy="30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f835741b06_0_525"/>
          <p:cNvSpPr/>
          <p:nvPr/>
        </p:nvSpPr>
        <p:spPr>
          <a:xfrm>
            <a:off x="4787093" y="3888787"/>
            <a:ext cx="3242100" cy="2298600"/>
          </a:xfrm>
          <a:prstGeom prst="wedgeRoundRectCallout">
            <a:avLst>
              <a:gd fmla="val 98583" name="adj1"/>
              <a:gd fmla="val -55569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DREBIN-215: Único caso com leve queda (~0,89 → 0,88)</a:t>
            </a:r>
            <a:endParaRPr b="1" sz="2700">
              <a:solidFill>
                <a:schemeClr val="lt1"/>
              </a:solidFill>
            </a:endParaRPr>
          </a:p>
        </p:txBody>
      </p:sp>
      <p:sp>
        <p:nvSpPr>
          <p:cNvPr id="704" name="Google Shape;704;g3f835741b06_0_525"/>
          <p:cNvSpPr txBox="1"/>
          <p:nvPr/>
        </p:nvSpPr>
        <p:spPr>
          <a:xfrm>
            <a:off x="658368" y="218435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3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3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em três números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3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3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3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658368" y="1993392"/>
            <a:ext cx="3442106" cy="3346704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3"/>
          <p:cNvSpPr/>
          <p:nvPr/>
        </p:nvSpPr>
        <p:spPr>
          <a:xfrm>
            <a:off x="658368" y="1993392"/>
            <a:ext cx="3442106" cy="6858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3"/>
          <p:cNvSpPr txBox="1"/>
          <p:nvPr/>
        </p:nvSpPr>
        <p:spPr>
          <a:xfrm>
            <a:off x="950976" y="2505456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F2369"/>
                </a:solidFill>
              </a:rPr>
              <a:t>89,8%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3"/>
          <p:cNvSpPr txBox="1"/>
          <p:nvPr/>
        </p:nvSpPr>
        <p:spPr>
          <a:xfrm>
            <a:off x="896114" y="3566160"/>
            <a:ext cx="285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F2369"/>
                </a:solidFill>
              </a:rPr>
              <a:t>Redução de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3"/>
          <p:cNvSpPr/>
          <p:nvPr/>
        </p:nvSpPr>
        <p:spPr>
          <a:xfrm>
            <a:off x="4374794" y="1993392"/>
            <a:ext cx="3442106" cy="3346704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3"/>
          <p:cNvSpPr/>
          <p:nvPr/>
        </p:nvSpPr>
        <p:spPr>
          <a:xfrm>
            <a:off x="4374794" y="1993392"/>
            <a:ext cx="3442106" cy="6858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3"/>
          <p:cNvSpPr txBox="1"/>
          <p:nvPr/>
        </p:nvSpPr>
        <p:spPr>
          <a:xfrm>
            <a:off x="4667402" y="2505456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1279BD"/>
                </a:solidFill>
              </a:rPr>
              <a:t>0.04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3"/>
          <p:cNvSpPr txBox="1"/>
          <p:nvPr/>
        </p:nvSpPr>
        <p:spPr>
          <a:xfrm>
            <a:off x="4526700" y="3433565"/>
            <a:ext cx="3138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F2369"/>
                </a:solidFill>
              </a:rPr>
              <a:t>Queda Mediana de Recall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8091220" y="1993392"/>
            <a:ext cx="3442106" cy="3346704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8091220" y="1993392"/>
            <a:ext cx="3442106" cy="6858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3"/>
          <p:cNvSpPr txBox="1"/>
          <p:nvPr/>
        </p:nvSpPr>
        <p:spPr>
          <a:xfrm>
            <a:off x="8383828" y="2505456"/>
            <a:ext cx="285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0A866E"/>
                </a:solidFill>
              </a:rPr>
              <a:t>8.1x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3"/>
          <p:cNvSpPr txBox="1"/>
          <p:nvPr/>
        </p:nvSpPr>
        <p:spPr>
          <a:xfrm>
            <a:off x="8240325" y="3474338"/>
            <a:ext cx="2880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F2369"/>
                </a:solidFill>
              </a:rPr>
              <a:t>Treinamento Mais Rápido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29" name="Google Shape;7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13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31" name="Google Shape;73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13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33" name="Google Shape;73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13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35" name="Google Shape;73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13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3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3e410b300_0_104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f3e410b300_0_104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f3e410b300_0_104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Discussão e ameaças à validade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f3e410b300_0_104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g3f3e410b300_0_104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f3e410b300_0_104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g3f3e410b300_0_1048"/>
          <p:cNvSpPr txBox="1"/>
          <p:nvPr/>
        </p:nvSpPr>
        <p:spPr>
          <a:xfrm>
            <a:off x="658368" y="1682496"/>
            <a:ext cx="523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os resultados sustentam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f3e410b300_0_104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51" name="Google Shape;751;g3f3e410b300_0_10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g3f3e410b300_0_104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53" name="Google Shape;753;g3f3e410b300_0_10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g3f3e410b300_0_104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55" name="Google Shape;755;g3f3e410b300_0_10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g3f3e410b300_0_104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57" name="Google Shape;757;g3f3e410b300_0_10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g3f3e410b300_0_104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g3f3e410b300_0_1048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60" name="Google Shape;760;g3f3e410b300_0_1048"/>
          <p:cNvGraphicFramePr/>
          <p:nvPr/>
        </p:nvGraphicFramePr>
        <p:xfrm>
          <a:off x="5557375" y="111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{D2203CD0-0E3B-4778-B3A6-0B23DC09DCF3}</a:tableStyleId>
              </a:tblPr>
              <a:tblGrid>
                <a:gridCol w="1874500"/>
                <a:gridCol w="1566750"/>
                <a:gridCol w="1434875"/>
                <a:gridCol w="1625375"/>
              </a:tblGrid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Configuração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Critérios Utilizados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Trade-off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Estabilidade (KI)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C6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MI + RF (sem χ²)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85,05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85,1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C3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RF only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84,89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86,0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C5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+ RF (sem MI)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84,70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89,3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C7 (Este trabalho)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+ MI + RF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84,34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88,5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C2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MI only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83,56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86,2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+ MI (sem RF)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83,44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91,4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C1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only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83,32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98,1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1" name="Google Shape;761;g3f3e410b300_0_1048"/>
          <p:cNvSpPr/>
          <p:nvPr/>
        </p:nvSpPr>
        <p:spPr>
          <a:xfrm>
            <a:off x="5645450" y="3847025"/>
            <a:ext cx="6501600" cy="88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g3f3e410b300_0_1048"/>
          <p:cNvSpPr/>
          <p:nvPr/>
        </p:nvSpPr>
        <p:spPr>
          <a:xfrm>
            <a:off x="5645450" y="2715200"/>
            <a:ext cx="65016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f3e410b300_0_1048"/>
          <p:cNvSpPr/>
          <p:nvPr/>
        </p:nvSpPr>
        <p:spPr>
          <a:xfrm>
            <a:off x="2950956" y="3207800"/>
            <a:ext cx="3242100" cy="2298600"/>
          </a:xfrm>
          <a:prstGeom prst="wedgeRoundRectCallout">
            <a:avLst>
              <a:gd fmla="val 98583" name="adj1"/>
              <a:gd fmla="val -55569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é o avaliador multivariado indispensável</a:t>
            </a:r>
            <a:endParaRPr b="1"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835741b06_0_26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f835741b06_0_268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f835741b06_0_268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Discussão e ameaças à validade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3f835741b06_0_26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f835741b06_0_26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f835741b06_0_26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3f835741b06_0_268"/>
          <p:cNvSpPr txBox="1"/>
          <p:nvPr/>
        </p:nvSpPr>
        <p:spPr>
          <a:xfrm>
            <a:off x="658368" y="1682496"/>
            <a:ext cx="523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os resultados sustentam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f835741b06_0_26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777" name="Google Shape;777;g3f835741b06_0_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g3f835741b06_0_26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779" name="Google Shape;779;g3f835741b06_0_2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g3f835741b06_0_26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781" name="Google Shape;781;g3f835741b06_0_2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g3f835741b06_0_26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783" name="Google Shape;783;g3f835741b06_0_2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g3f835741b06_0_268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f835741b06_0_268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786" name="Google Shape;786;g3f835741b06_0_268"/>
          <p:cNvGraphicFramePr/>
          <p:nvPr/>
        </p:nvGraphicFramePr>
        <p:xfrm>
          <a:off x="5557375" y="111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{D2203CD0-0E3B-4778-B3A6-0B23DC09DCF3}</a:tableStyleId>
              </a:tblPr>
              <a:tblGrid>
                <a:gridCol w="1874500"/>
                <a:gridCol w="1566750"/>
                <a:gridCol w="1434875"/>
                <a:gridCol w="1625375"/>
              </a:tblGrid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Configuração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Critérios Utilizados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Trade-off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chemeClr val="lt1"/>
                          </a:solidFill>
                        </a:rPr>
                        <a:t>Estabilidade (KI)</a:t>
                      </a:r>
                      <a:endParaRPr sz="2200">
                        <a:solidFill>
                          <a:schemeClr val="lt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C6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MI + RF (sem χ²)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85,05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85,1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C3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RF only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84,89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86,0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C5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+ RF (sem MI)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84,70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89,3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C7 (Este trabalho)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+ MI + RF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84,34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88,5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C2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MI only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83,56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86,2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+ MI (sem RF)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83,44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91,4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C1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χ² only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83,32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98,1</a:t>
                      </a:r>
                      <a:endParaRPr sz="2200"/>
                    </a:p>
                  </a:txBody>
                  <a:tcPr marT="19050" marB="19050" marR="28575" marL="28575" anchor="b">
                    <a:lnL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7" name="Google Shape;787;g3f835741b06_0_268"/>
          <p:cNvSpPr/>
          <p:nvPr/>
        </p:nvSpPr>
        <p:spPr>
          <a:xfrm>
            <a:off x="5645450" y="3847025"/>
            <a:ext cx="6501600" cy="88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f835741b06_0_268"/>
          <p:cNvSpPr/>
          <p:nvPr/>
        </p:nvSpPr>
        <p:spPr>
          <a:xfrm>
            <a:off x="5645450" y="2715200"/>
            <a:ext cx="6501600" cy="49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g3f835741b06_0_268"/>
          <p:cNvSpPr/>
          <p:nvPr/>
        </p:nvSpPr>
        <p:spPr>
          <a:xfrm>
            <a:off x="973625" y="3638625"/>
            <a:ext cx="3242100" cy="2214000"/>
          </a:xfrm>
          <a:prstGeom prst="wedgeRoundRectCallout">
            <a:avLst>
              <a:gd fmla="val 92880" name="adj1"/>
              <a:gd fmla="val -18902" name="adj2"/>
              <a:gd fmla="val 0" name="adj3"/>
            </a:avLst>
          </a:prstGeom>
          <a:solidFill>
            <a:srgbClr val="4472C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ponto ideal que maximiza o trade-off </a:t>
            </a:r>
            <a:endParaRPr b="1"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f86b84b4b0_0_4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g3f86b84b4b0_0_49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g3f86b84b4b0_0_4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Limitações do estudo</a:t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798" name="Google Shape;798;g3f86b84b4b0_0_4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g3f86b84b4b0_0_4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f86b84b4b0_0_4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g3f86b84b4b0_0_4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02" name="Google Shape;802;g3f86b84b4b0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g3f86b84b4b0_0_4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04" name="Google Shape;804;g3f86b84b4b0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g3f86b84b4b0_0_4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06" name="Google Shape;806;g3f86b84b4b0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f86b84b4b0_0_4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08" name="Google Shape;808;g3f86b84b4b0_0_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g3f86b84b4b0_0_4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3f86b84b4b0_0_49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1" name="Google Shape;811;g3f86b84b4b0_0_49"/>
          <p:cNvSpPr/>
          <p:nvPr/>
        </p:nvSpPr>
        <p:spPr>
          <a:xfrm>
            <a:off x="634983" y="2146300"/>
            <a:ext cx="5346600" cy="1403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f86b84b4b0_0_49"/>
          <p:cNvSpPr/>
          <p:nvPr/>
        </p:nvSpPr>
        <p:spPr>
          <a:xfrm>
            <a:off x="634983" y="2146300"/>
            <a:ext cx="5346600" cy="507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f86b84b4b0_0_49"/>
          <p:cNvSpPr/>
          <p:nvPr/>
        </p:nvSpPr>
        <p:spPr>
          <a:xfrm>
            <a:off x="1222343" y="2349500"/>
            <a:ext cx="43323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0F2369"/>
                </a:solidFill>
              </a:rPr>
              <a:t>Random Forest em papel duplo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g3f86b84b4b0_0_49"/>
          <p:cNvSpPr/>
          <p:nvPr/>
        </p:nvSpPr>
        <p:spPr>
          <a:xfrm>
            <a:off x="6210134" y="2146300"/>
            <a:ext cx="5346600" cy="1403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f86b84b4b0_0_49"/>
          <p:cNvSpPr/>
          <p:nvPr/>
        </p:nvSpPr>
        <p:spPr>
          <a:xfrm>
            <a:off x="6210134" y="2146300"/>
            <a:ext cx="5346600" cy="50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g3f86b84b4b0_0_49"/>
          <p:cNvSpPr/>
          <p:nvPr/>
        </p:nvSpPr>
        <p:spPr>
          <a:xfrm>
            <a:off x="6797494" y="2349500"/>
            <a:ext cx="49383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0F2369"/>
                </a:solidFill>
              </a:rPr>
              <a:t>Teste Wilcoxon com n=5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g3f86b84b4b0_0_49"/>
          <p:cNvSpPr/>
          <p:nvPr/>
        </p:nvSpPr>
        <p:spPr>
          <a:xfrm>
            <a:off x="634983" y="3778250"/>
            <a:ext cx="5346600" cy="1403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g3f86b84b4b0_0_49"/>
          <p:cNvSpPr/>
          <p:nvPr/>
        </p:nvSpPr>
        <p:spPr>
          <a:xfrm>
            <a:off x="634983" y="3778250"/>
            <a:ext cx="5346600" cy="50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f86b84b4b0_0_49"/>
          <p:cNvSpPr/>
          <p:nvPr/>
        </p:nvSpPr>
        <p:spPr>
          <a:xfrm>
            <a:off x="1222343" y="3981450"/>
            <a:ext cx="47046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0F2369"/>
                </a:solidFill>
              </a:rPr>
              <a:t>Concept drift não foi avaliado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g3f86b84b4b0_0_49"/>
          <p:cNvSpPr/>
          <p:nvPr/>
        </p:nvSpPr>
        <p:spPr>
          <a:xfrm>
            <a:off x="6210134" y="3778250"/>
            <a:ext cx="5346600" cy="1403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g3f86b84b4b0_0_49"/>
          <p:cNvSpPr/>
          <p:nvPr/>
        </p:nvSpPr>
        <p:spPr>
          <a:xfrm>
            <a:off x="6210134" y="3778250"/>
            <a:ext cx="5346600" cy="507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60950" lIns="60950" spcFirstLastPara="1" rIns="60950" wrap="square" tIns="6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f86b84b4b0_0_49"/>
          <p:cNvSpPr/>
          <p:nvPr/>
        </p:nvSpPr>
        <p:spPr>
          <a:xfrm>
            <a:off x="6797501" y="3981450"/>
            <a:ext cx="4332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925" lIns="16925" spcFirstLastPara="1" rIns="16925" wrap="square" tIns="1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369"/>
              </a:buClr>
              <a:buSzPts val="2000"/>
              <a:buFont typeface="Arial"/>
              <a:buNone/>
            </a:pPr>
            <a:r>
              <a:rPr b="1" lang="en-US" sz="3000">
                <a:solidFill>
                  <a:srgbClr val="0F2369"/>
                </a:solidFill>
              </a:rPr>
              <a:t>Apenas classificadores tabulares testados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5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5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5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5"/>
          <p:cNvSpPr txBox="1"/>
          <p:nvPr/>
        </p:nvSpPr>
        <p:spPr>
          <a:xfrm>
            <a:off x="658368" y="2304288"/>
            <a:ext cx="2011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5"/>
          <p:cNvSpPr txBox="1"/>
          <p:nvPr/>
        </p:nvSpPr>
        <p:spPr>
          <a:xfrm>
            <a:off x="2395728" y="2487168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5"/>
          <p:cNvSpPr/>
          <p:nvPr/>
        </p:nvSpPr>
        <p:spPr>
          <a:xfrm>
            <a:off x="2414015" y="3383280"/>
            <a:ext cx="1188720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5"/>
          <p:cNvSpPr txBox="1"/>
          <p:nvPr/>
        </p:nvSpPr>
        <p:spPr>
          <a:xfrm>
            <a:off x="2395728" y="358444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O que fica e para onde vamos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5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6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16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Considerações finais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6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6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6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16"/>
          <p:cNvSpPr/>
          <p:nvPr/>
        </p:nvSpPr>
        <p:spPr>
          <a:xfrm>
            <a:off x="658368" y="2066544"/>
            <a:ext cx="3442106" cy="3145536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6"/>
          <p:cNvSpPr/>
          <p:nvPr/>
        </p:nvSpPr>
        <p:spPr>
          <a:xfrm>
            <a:off x="658368" y="2066544"/>
            <a:ext cx="68580" cy="3145536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6"/>
          <p:cNvSpPr txBox="1"/>
          <p:nvPr/>
        </p:nvSpPr>
        <p:spPr>
          <a:xfrm>
            <a:off x="969264" y="2304288"/>
            <a:ext cx="28203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2700">
                <a:solidFill>
                  <a:srgbClr val="6B7280"/>
                </a:solidFill>
              </a:rPr>
              <a:t>Consenso multi-perspectiva com orçamento adaptativo.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6"/>
          <p:cNvSpPr/>
          <p:nvPr/>
        </p:nvSpPr>
        <p:spPr>
          <a:xfrm>
            <a:off x="4374794" y="2066544"/>
            <a:ext cx="3442106" cy="3145536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6"/>
          <p:cNvSpPr/>
          <p:nvPr/>
        </p:nvSpPr>
        <p:spPr>
          <a:xfrm>
            <a:off x="4374794" y="2066544"/>
            <a:ext cx="68580" cy="3145536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6"/>
          <p:cNvSpPr txBox="1"/>
          <p:nvPr/>
        </p:nvSpPr>
        <p:spPr>
          <a:xfrm>
            <a:off x="4685690" y="2304288"/>
            <a:ext cx="28203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Evidência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2700">
                <a:solidFill>
                  <a:srgbClr val="6B7280"/>
                </a:solidFill>
              </a:rPr>
              <a:t>Validação em larga escala cruzando </a:t>
            </a:r>
            <a:r>
              <a:rPr b="1" lang="en-US" sz="2700">
                <a:solidFill>
                  <a:srgbClr val="6B7280"/>
                </a:solidFill>
              </a:rPr>
              <a:t>11</a:t>
            </a:r>
            <a:r>
              <a:rPr lang="en-US" sz="2700">
                <a:solidFill>
                  <a:srgbClr val="6B7280"/>
                </a:solidFill>
              </a:rPr>
              <a:t> datasets.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6"/>
          <p:cNvSpPr/>
          <p:nvPr/>
        </p:nvSpPr>
        <p:spPr>
          <a:xfrm>
            <a:off x="8091220" y="2066544"/>
            <a:ext cx="3442106" cy="3145536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6"/>
          <p:cNvSpPr/>
          <p:nvPr/>
        </p:nvSpPr>
        <p:spPr>
          <a:xfrm>
            <a:off x="8091220" y="2066544"/>
            <a:ext cx="68580" cy="3145536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6"/>
          <p:cNvSpPr txBox="1"/>
          <p:nvPr/>
        </p:nvSpPr>
        <p:spPr>
          <a:xfrm>
            <a:off x="8402116" y="2135250"/>
            <a:ext cx="2820300" cy="30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7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2700">
                <a:solidFill>
                  <a:srgbClr val="6B7280"/>
                </a:solidFill>
              </a:rPr>
              <a:t>O pipeline devolve viabilidade operacional de longo prazo.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6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58" name="Google Shape;8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16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60" name="Google Shape;8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16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62" name="Google Shape;86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16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64" name="Google Shape;86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16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6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7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7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17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Trabalhos futuros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17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7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7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7"/>
          <p:cNvSpPr txBox="1"/>
          <p:nvPr/>
        </p:nvSpPr>
        <p:spPr>
          <a:xfrm>
            <a:off x="658380" y="1773925"/>
            <a:ext cx="11351400" cy="3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1" lang="en-US" sz="2400">
                <a:solidFill>
                  <a:srgbClr val="1F2937"/>
                </a:solidFill>
              </a:rPr>
              <a:t>Estabilidade Temporal</a:t>
            </a:r>
            <a:r>
              <a:rPr lang="en-US" sz="2400">
                <a:solidFill>
                  <a:srgbClr val="1F2937"/>
                </a:solidFill>
              </a:rPr>
              <a:t>: Avaliar o modelo sob concept drift contínuo utilizando dados longitudinais.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1" lang="en-US" sz="2400">
                <a:solidFill>
                  <a:srgbClr val="1F2937"/>
                </a:solidFill>
              </a:rPr>
              <a:t>Limiares Adaptativos:</a:t>
            </a:r>
            <a:r>
              <a:rPr lang="en-US" sz="2400">
                <a:solidFill>
                  <a:srgbClr val="1F2937"/>
                </a:solidFill>
              </a:rPr>
              <a:t> Substituir o limiar fixo de votação por regras aprendidas por base de dados usando meta-learning.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551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0A866E"/>
              </a:buClr>
              <a:buSzPts val="2400"/>
              <a:buFont typeface="Arial"/>
              <a:buChar char="▪"/>
            </a:pPr>
            <a:r>
              <a:rPr b="1" lang="en-US" sz="2400">
                <a:solidFill>
                  <a:srgbClr val="1F2937"/>
                </a:solidFill>
              </a:rPr>
              <a:t>Novas Arquiteturas:</a:t>
            </a:r>
            <a:r>
              <a:rPr lang="en-US" sz="2400">
                <a:solidFill>
                  <a:srgbClr val="1F2937"/>
                </a:solidFill>
              </a:rPr>
              <a:t> Estender e avaliar a generalização em modelos puramente baseados em grafos ou sequências complexas.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7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880" name="Google Shape;8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7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882" name="Google Shape;8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17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884" name="Google Shape;88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17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886" name="Google Shape;88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17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7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8"/>
          <p:cNvSpPr/>
          <p:nvPr/>
        </p:nvSpPr>
        <p:spPr>
          <a:xfrm>
            <a:off x="9174175" y="384048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8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8"/>
          <p:cNvSpPr/>
          <p:nvPr/>
        </p:nvSpPr>
        <p:spPr>
          <a:xfrm>
            <a:off x="10637215" y="5303520"/>
            <a:ext cx="3108960" cy="310896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8"/>
          <p:cNvSpPr txBox="1"/>
          <p:nvPr/>
        </p:nvSpPr>
        <p:spPr>
          <a:xfrm>
            <a:off x="658368" y="1234440"/>
            <a:ext cx="731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</a:t>
            </a:r>
            <a:r>
              <a:rPr b="1" lang="en-US" sz="6000">
                <a:solidFill>
                  <a:srgbClr val="FFFFFF"/>
                </a:solidFill>
              </a:rPr>
              <a:t>a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8"/>
          <p:cNvSpPr/>
          <p:nvPr/>
        </p:nvSpPr>
        <p:spPr>
          <a:xfrm>
            <a:off x="658368" y="2395728"/>
            <a:ext cx="1463040" cy="54864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8"/>
          <p:cNvSpPr txBox="1"/>
          <p:nvPr/>
        </p:nvSpPr>
        <p:spPr>
          <a:xfrm>
            <a:off x="658368" y="2670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18"/>
          <p:cNvSpPr txBox="1"/>
          <p:nvPr/>
        </p:nvSpPr>
        <p:spPr>
          <a:xfrm>
            <a:off x="658368" y="3310128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FA3D0"/>
                </a:solidFill>
                <a:latin typeface="Arial"/>
                <a:ea typeface="Arial"/>
                <a:cs typeface="Arial"/>
                <a:sym typeface="Arial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8"/>
          <p:cNvSpPr txBox="1"/>
          <p:nvPr/>
        </p:nvSpPr>
        <p:spPr>
          <a:xfrm>
            <a:off x="658368" y="3602736"/>
            <a:ext cx="5120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Anna Luiza Gomes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annaluiza.aluno@unipampa.edu.br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Horizon Labs · UNIPAMPA · PPGES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8"/>
          <p:cNvSpPr/>
          <p:nvPr/>
        </p:nvSpPr>
        <p:spPr>
          <a:xfrm>
            <a:off x="6492240" y="3246120"/>
            <a:ext cx="1572768" cy="15727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8"/>
          <p:cNvSpPr txBox="1"/>
          <p:nvPr/>
        </p:nvSpPr>
        <p:spPr>
          <a:xfrm>
            <a:off x="6492240" y="38404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 artigo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8"/>
          <p:cNvSpPr/>
          <p:nvPr/>
        </p:nvSpPr>
        <p:spPr>
          <a:xfrm>
            <a:off x="8412480" y="3246120"/>
            <a:ext cx="1572768" cy="15727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8"/>
          <p:cNvSpPr txBox="1"/>
          <p:nvPr/>
        </p:nvSpPr>
        <p:spPr>
          <a:xfrm>
            <a:off x="8412480" y="384048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QR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 repositório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09" name="Google Shape;9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172199"/>
            <a:ext cx="1122426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910" name="Google Shape;91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6554" y="6108192"/>
            <a:ext cx="610954" cy="402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911" name="Google Shape;91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3268" y="6099048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912" name="Google Shape;91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9875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913" name="Google Shape;91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3180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914" name="Google Shape;91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568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67347" y="3280099"/>
            <a:ext cx="1463025" cy="1504826"/>
          </a:xfrm>
          <a:prstGeom prst="rect">
            <a:avLst/>
          </a:prstGeom>
          <a:solidFill>
            <a:srgbClr val="0F2369"/>
          </a:solidFill>
          <a:ln>
            <a:noFill/>
          </a:ln>
        </p:spPr>
      </p:pic>
      <p:sp>
        <p:nvSpPr>
          <p:cNvPr id="916" name="Google Shape;916;p18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7" name="Google Shape;917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92250" y="3300854"/>
            <a:ext cx="1572750" cy="1557921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18"/>
          <p:cNvSpPr txBox="1"/>
          <p:nvPr/>
        </p:nvSpPr>
        <p:spPr>
          <a:xfrm>
            <a:off x="6771844" y="2845263"/>
            <a:ext cx="7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Artigo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8"/>
          <p:cNvSpPr txBox="1"/>
          <p:nvPr/>
        </p:nvSpPr>
        <p:spPr>
          <a:xfrm>
            <a:off x="8625421" y="2845275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Artefato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f86b84b4b0_0_9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g3f86b84b4b0_0_96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3f86b84b4b0_0_96"/>
          <p:cNvSpPr txBox="1"/>
          <p:nvPr/>
        </p:nvSpPr>
        <p:spPr>
          <a:xfrm>
            <a:off x="658368" y="2788920"/>
            <a:ext cx="9144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Slides 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f86b84b4b0_0_96"/>
          <p:cNvSpPr/>
          <p:nvPr/>
        </p:nvSpPr>
        <p:spPr>
          <a:xfrm>
            <a:off x="658368" y="3401568"/>
            <a:ext cx="1188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3f86b84b4b0_0_96"/>
          <p:cNvSpPr txBox="1"/>
          <p:nvPr/>
        </p:nvSpPr>
        <p:spPr>
          <a:xfrm>
            <a:off x="658368" y="361188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Material de apoio para responder perguntas: detalhes de método, tabelas completas e provas.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f9ba362237_0_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f9ba362237_0_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g3f9ba362237_0_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g3f9ba362237_0_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g3f9ba362237_0_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40" name="Google Shape;940;g3f9ba36223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g3f9ba362237_0_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42" name="Google Shape;942;g3f9ba36223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3f9ba362237_0_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44" name="Google Shape;944;g3f9ba362237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g3f9ba362237_0_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46" name="Google Shape;946;g3f9ba362237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g3f9ba362237_0_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g3f9ba362237_0_0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9" name="Google Shape;949;g3f9ba362237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6275" y="433821"/>
            <a:ext cx="10785402" cy="599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g3f9ba362237_0_0"/>
          <p:cNvSpPr txBox="1"/>
          <p:nvPr/>
        </p:nvSpPr>
        <p:spPr>
          <a:xfrm>
            <a:off x="658368" y="621792"/>
            <a:ext cx="1087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Resultados </a:t>
            </a:r>
            <a:endParaRPr b="1" i="0" sz="32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rgbClr val="0F2369"/>
              </a:solidFill>
            </a:endParaRPr>
          </a:p>
        </p:txBody>
      </p:sp>
      <p:sp>
        <p:nvSpPr>
          <p:cNvPr id="951" name="Google Shape;951;g3f9ba362237_0_0"/>
          <p:cNvSpPr txBox="1"/>
          <p:nvPr/>
        </p:nvSpPr>
        <p:spPr>
          <a:xfrm>
            <a:off x="658368" y="218435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g3f9ba362237_0_0"/>
          <p:cNvSpPr/>
          <p:nvPr/>
        </p:nvSpPr>
        <p:spPr>
          <a:xfrm>
            <a:off x="2329475" y="1796300"/>
            <a:ext cx="3291600" cy="30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f9ba362237_0_0"/>
          <p:cNvSpPr/>
          <p:nvPr/>
        </p:nvSpPr>
        <p:spPr>
          <a:xfrm>
            <a:off x="6078125" y="1564975"/>
            <a:ext cx="5748000" cy="3576600"/>
          </a:xfrm>
          <a:prstGeom prst="wedgeRoundRectCallout">
            <a:avLst>
              <a:gd fmla="val -60419" name="adj1"/>
              <a:gd fmla="val -20800" name="adj2"/>
              <a:gd fmla="val 0" name="adj3"/>
            </a:avLst>
          </a:prstGeom>
          <a:solidFill>
            <a:srgbClr val="4472C4"/>
          </a:solidFill>
          <a:ln cap="flat" cmpd="sng" w="13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750" lIns="130750" spcFirstLastPara="1" rIns="130750" wrap="square" tIns="13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18">
                <a:solidFill>
                  <a:srgbClr val="FFFFFF"/>
                </a:solidFill>
              </a:rPr>
              <a:t>mh100k: 24833</a:t>
            </a:r>
            <a:endParaRPr sz="3718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18">
                <a:solidFill>
                  <a:srgbClr val="FFFFFF"/>
                </a:solidFill>
              </a:rPr>
              <a:t>defensedroid_a_c: 4274</a:t>
            </a:r>
            <a:endParaRPr sz="3718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18">
                <a:solidFill>
                  <a:schemeClr val="lt1"/>
                </a:solidFill>
              </a:rPr>
              <a:t>defensedroid_a_k: 6002</a:t>
            </a:r>
            <a:endParaRPr sz="3718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18">
                <a:solidFill>
                  <a:schemeClr val="lt1"/>
                </a:solidFill>
              </a:rPr>
              <a:t>defensedroid_a_d: 6002</a:t>
            </a:r>
            <a:endParaRPr sz="3718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18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3e410b300_0_429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g3f3e410b300_0_429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3f3e410b300_0_429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Métodos Estatísticos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f3e410b300_0_429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3f3e410b300_0_429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g3f3e410b300_0_429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g3f3e410b300_0_429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66" name="Google Shape;966;g3f3e410b300_0_4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g3f3e410b300_0_429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68" name="Google Shape;968;g3f3e410b300_0_4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g3f3e410b300_0_429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70" name="Google Shape;970;g3f3e410b300_0_4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g3f3e410b300_0_429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72" name="Google Shape;972;g3f3e410b300_0_4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g3f3e410b300_0_429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f3e410b300_0_429"/>
          <p:cNvSpPr txBox="1"/>
          <p:nvPr/>
        </p:nvSpPr>
        <p:spPr>
          <a:xfrm>
            <a:off x="658338" y="1700163"/>
            <a:ext cx="10875000" cy="3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00"/>
              <a:buChar char="●"/>
            </a:pPr>
            <a:r>
              <a:rPr b="1" lang="en-US" sz="2400">
                <a:solidFill>
                  <a:srgbClr val="1F2937"/>
                </a:solidFill>
              </a:rPr>
              <a:t>Chi-Quadrado</a:t>
            </a:r>
            <a:r>
              <a:rPr lang="en-US" sz="2400">
                <a:solidFill>
                  <a:srgbClr val="1F2937"/>
                </a:solidFill>
              </a:rPr>
              <a:t>: Mede dependência entre feature e a classe.</a:t>
            </a:r>
            <a:endParaRPr sz="2400">
              <a:solidFill>
                <a:srgbClr val="1F293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636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75" name="Google Shape;975;g3f3e410b300_0_429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76" name="Google Shape;976;g3f3e410b300_0_4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2171969"/>
            <a:ext cx="12191676" cy="3713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3e410b300_0_32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g3f3e410b300_0_324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g3f3e410b300_0_32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Métodos Estatísticos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g3f3e410b300_0_32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g3f3e410b300_0_32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g3f3e410b300_0_32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g3f3e410b300_0_32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89" name="Google Shape;989;g3f3e410b300_0_3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g3f3e410b300_0_32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991" name="Google Shape;991;g3f3e410b300_0_3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g3f3e410b300_0_32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993" name="Google Shape;993;g3f3e410b300_0_3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g3f3e410b300_0_32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95" name="Google Shape;995;g3f3e410b300_0_3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g3f3e410b300_0_32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f3e410b300_0_324"/>
          <p:cNvSpPr txBox="1"/>
          <p:nvPr/>
        </p:nvSpPr>
        <p:spPr>
          <a:xfrm>
            <a:off x="727675" y="1768750"/>
            <a:ext cx="10875000" cy="3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00"/>
              <a:buChar char="●"/>
            </a:pPr>
            <a:r>
              <a:rPr b="1" lang="en-US" sz="2400">
                <a:solidFill>
                  <a:srgbClr val="1F2937"/>
                </a:solidFill>
              </a:rPr>
              <a:t>Informação Mútua</a:t>
            </a:r>
            <a:r>
              <a:rPr lang="en-US" sz="2400">
                <a:solidFill>
                  <a:srgbClr val="1F2937"/>
                </a:solidFill>
              </a:rPr>
              <a:t>: </a:t>
            </a:r>
            <a:r>
              <a:rPr lang="en-US" sz="2400">
                <a:solidFill>
                  <a:srgbClr val="1F2937"/>
                </a:solidFill>
              </a:rPr>
              <a:t>Mede quanto uma feature reduz a incerteza da classe</a:t>
            </a:r>
            <a:endParaRPr sz="2400">
              <a:solidFill>
                <a:srgbClr val="1F2937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636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998" name="Google Shape;998;g3f3e410b300_0_3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52913" y="2244125"/>
            <a:ext cx="5726326" cy="403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g3f3e410b300_0_3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71896" y="4838275"/>
            <a:ext cx="1320550" cy="13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g3f3e410b300_0_324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3e410b300_0_45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g3f3e410b300_0_450"/>
          <p:cNvSpPr txBox="1"/>
          <p:nvPr/>
        </p:nvSpPr>
        <p:spPr>
          <a:xfrm>
            <a:off x="658368" y="365760"/>
            <a:ext cx="1087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 · 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g3f3e410b300_0_450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F2369"/>
                </a:solidFill>
              </a:rPr>
              <a:t>Métodos Estatísticos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3f3e410b300_0_45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g3f3e410b300_0_45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g3f3e410b300_0_45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g3f3e410b300_0_45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013" name="Google Shape;1013;g3f3e410b300_0_4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g3f3e410b300_0_45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015" name="Google Shape;1015;g3f3e410b300_0_4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g3f3e410b300_0_45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017" name="Google Shape;1017;g3f3e410b300_0_4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g3f3e410b300_0_45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019" name="Google Shape;1019;g3f3e410b300_0_4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g3f3e410b300_0_450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g3f3e410b300_0_450"/>
          <p:cNvSpPr txBox="1"/>
          <p:nvPr/>
        </p:nvSpPr>
        <p:spPr>
          <a:xfrm>
            <a:off x="727675" y="1768750"/>
            <a:ext cx="3917700" cy="3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400"/>
              <a:buChar char="●"/>
            </a:pPr>
            <a:r>
              <a:rPr b="1" lang="en-US" sz="2400">
                <a:solidFill>
                  <a:srgbClr val="1F2937"/>
                </a:solidFill>
              </a:rPr>
              <a:t>Random Forest Importance</a:t>
            </a:r>
            <a:r>
              <a:rPr lang="en-US" sz="2400">
                <a:solidFill>
                  <a:srgbClr val="1F2937"/>
                </a:solidFill>
              </a:rPr>
              <a:t>:Usa um modelo real para ver importância das features</a:t>
            </a:r>
            <a:endParaRPr sz="24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636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022" name="Google Shape;1022;g3f3e410b300_0_450"/>
          <p:cNvSpPr txBox="1"/>
          <p:nvPr>
            <p:ph idx="12" type="sldNum"/>
          </p:nvPr>
        </p:nvSpPr>
        <p:spPr>
          <a:xfrm>
            <a:off x="9989325" y="6867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3" name="Google Shape;1023;g3f3e410b300_0_4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725" y="4692298"/>
            <a:ext cx="1490975" cy="14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g3f3e410b300_0_4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8850" y="581150"/>
            <a:ext cx="6527907" cy="57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
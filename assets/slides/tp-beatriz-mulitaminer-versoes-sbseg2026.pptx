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10287000" cx="18288000"/>
  <p:notesSz cx="10287000" cy="18288000"/>
  <p:embeddedFontLst>
    <p:embeddedFont>
      <p:font typeface="Helvetica Neue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3" roundtripDataSignature="AMtx7mhtSJftkGhbyDmOxtY7JrCOhBpx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HelveticaNeu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HelveticaNeue-italic.fntdata"/><Relationship Id="rId50" Type="http://schemas.openxmlformats.org/officeDocument/2006/relationships/font" Target="fonts/HelveticaNeue-bold.fntdata"/><Relationship Id="rId53" Type="http://customschemas.google.com/relationships/presentationmetadata" Target="metadata"/><Relationship Id="rId52" Type="http://schemas.openxmlformats.org/officeDocument/2006/relationships/font" Target="fonts/HelveticaNeue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Bom dia. Vou apresentar o MulitaMiner, um pipeline baseado em LLMs para extração estruturada de vulnerabilidades a partir de relatórios PDF de scanners, avaliado em três versões sucessivas.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Times de resposta a incidentes, os CSIRTs, varrem as aplicações da organização, e cada varredura vira um relatório em PDF. Sem dado estruturado, cada análise exige que alguém abra o relatório e leia. E sem consulta e priorização automáticas, a resposta a incidentes demora.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domínio de cibersegurança, a extração estruturada já foi tratada com NLP clássico, com aprendizado supervisionado e, mais recentemente, com RAG e LLMs. Nenhum desses trabalhos combina segmentação adaptativa ciente do scanner, avaliação quantitativa sobre vários LLMs e dataset público: são as quatro lacunas que o MulitaMiner fecha.</a:t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trabalho mais próximo é o de Dabholkar, de 2023: mesma entrada, saídas de scanners de código aberto, integradas via API da OpenAI para gerar relatórios. Mas usa GPT-3 e 3.5, avaliação apenas qualitativa, sem segmentação adaptativa e sem dataset público. A avaliação qualitativa consegue apontar uma falha de forma anecdótica, mas não mede omissão nem exatidão de campos.</a:t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Nosso pipeline anterior, de 2025, já processava OpenVAS e Tenable WAS com quatro LLMs e dataset público, mas era avaliado só por ROUGE-L e omitia 20,5% das vulnerabilidades. É esse o ponto de partida do MulitaMiner: mulita é o tatu pequeno do pampa, que escava; aqui, escava PDFs.</a:t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pipeline tem seis estágios: entrada de PDFs, extração de texto com normalização, pré-processamento com segmentação por blocos e chunking controlado por tokens, despacho para múltiplos LLMs com schema JSON validado e retry adaptativo, saída consolidada com deduplicação, e um módulo de análise com a bateria de métricas. Vou passar por cada um deles.</a:t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Começamos pela entrada: relatórios PDF de scanners, no caso das baselines o OpenVAS, com Tenable WAS também suportado.</a:t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extração de texto normaliza Unicode e valida a estrutura do documento. Nada chega ao LLM sem passar por essa checagem.</a:t>
            </a:r>
            <a:endParaRPr/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aqui que está o coração da contribuição: segmentação por blocos de vulnerabilidade, chunking controlado por contagem real de tokens e um prompt específico para cada scanner.</a:t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chunks vão para os cinco LLMs avaliados. A resposta precisa casar com o schema JSON; se falhar, o pipeline repara o JSON e, se persistir, faz retry com subdivisão adaptativa.</a:t>
            </a:r>
            <a:endParaRPr/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saída consolida os registros com deduplicação configurável e exporta em JSON, CSV, XLSX e TSV.</a:t>
            </a:r>
            <a:endParaRPr/>
          </a:p>
        </p:txBody>
      </p:sp>
      <p:sp>
        <p:nvSpPr>
          <p:cNvPr id="246" name="Google Shape;2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último, o módulo de análise aplica a bateria completa de métricas contra a baseline curada, o que torna cada versão comparável de forma quantitativa.</a:t>
            </a:r>
            <a:endParaRPr/>
          </a:p>
        </p:txBody>
      </p:sp>
      <p:sp>
        <p:nvSpPr>
          <p:cNvPr id="259" name="Google Shape;2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antes e depois, com saída real do DeepSeek. À esquerda, o bloco do relatório OpenVAS como sai do PDF: rótulos, valores e seções narrativas em sequência, sem estrutura de campo. À direita, o registro JSON validado contra o schema, mostrando apenas os campos que este relatório traz. Os cinco determinísticos ficam à direita no fim, cvss, port, protocol e severity.</a:t>
            </a:r>
            <a:endParaRPr/>
          </a:p>
        </p:txBody>
      </p:sp>
      <p:sp>
        <p:nvSpPr>
          <p:cNvPr id="272" name="Google Shape;2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Começamos com a V1, o baseline funcional: chunking de tamanho fixo igual para todos os modelos, marcador de scanner como dica fraca, retry cego em quebras de linha e nenhuma métrica integrada.</a:t>
            </a:r>
            <a:endParaRPr/>
          </a:p>
        </p:txBody>
      </p:sp>
      <p:sp>
        <p:nvSpPr>
          <p:cNvPr id="288" name="Google Shape;28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 V2, a fronteira de marcador vira regra estrita, o retry passa a respeitar os blocos de vulnerabilidade e o prompt fica mais diretivo. BERTScore e ROUGE-L entram no pipeline.</a:t>
            </a:r>
            <a:endParaRPr/>
          </a:p>
        </p:txBody>
      </p:sp>
      <p:sp>
        <p:nvSpPr>
          <p:cNvPr id="324" name="Google Shape;32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V3 fecha o ciclo: chunk e tokenizer configuráveis por modelo, prompt 40% menor com schema e few-shot, reparo de JSON antes do retry e a bateria completa de métricas, com execução local suportada.</a:t>
            </a:r>
            <a:endParaRPr/>
          </a:p>
        </p:txBody>
      </p:sp>
      <p:sp>
        <p:nvSpPr>
          <p:cNvPr id="360" name="Google Shape;36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validamos: 450 execuções independentes.</a:t>
            </a:r>
            <a:endParaRPr/>
          </a:p>
        </p:txBody>
      </p:sp>
      <p:sp>
        <p:nvSpPr>
          <p:cNvPr id="396" name="Google Shape;39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baselines curadas manualmente a partir de relatórios OpenVAS: Juice Shop com 34 vulnerabilidades, bBWA com 58 e Artifactory com 116, três pontos de densidade. Cinco LLMs via APIs oficiais. Cada célula versão-modelo-baseline com 10 execuções independentes: 450 no total. ICs bootstrap de 95%.</a:t>
            </a:r>
            <a:endParaRPr/>
          </a:p>
        </p:txBody>
      </p:sp>
      <p:sp>
        <p:nvSpPr>
          <p:cNvPr id="407" name="Google Shape;40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bateria cobre quatro dimensões. Cobertura: cada registro extraído é pareado com a baseline, e daí saem alucinação e omissão. Exatidão: o ERM exige todos os campos determinísticos corretos, o Field-F1 mede campo a campo. Similaridade: BERTScore e ROUGE-L nos campos narrativos. E a classificação de severidade, com macro-F1 ponderado pela cobertura, que penaliza quem só classifica o que conseguiu extrair.</a:t>
            </a:r>
            <a:endParaRPr/>
          </a:p>
        </p:txBody>
      </p:sp>
      <p:sp>
        <p:nvSpPr>
          <p:cNvPr id="442" name="Google Shape;44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é a maior baseline, a Artifactory, com 116 vulnerabilidades. Cada barra é um par de modelo e versão, e cada cor é uma faixa de similaridade: verde é altamente similar, cinza é ausente, ou seja, o registro nunca chegou à base.</a:t>
            </a:r>
            <a:endParaRPr/>
          </a:p>
        </p:txBody>
      </p:sp>
      <p:sp>
        <p:nvSpPr>
          <p:cNvPr id="477" name="Google Shape;47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V1 a ausência não é uniforme: o deepseek não perde nenhuma vulnerabilidade e o llama3 quase nenhuma, enquanto o gpt5 deixa de extrair dois terços da baseline. O V1 funciona com alguns modelos e falha com outros, e é isso que torna o resultado imprevisível.</a:t>
            </a:r>
            <a:endParaRPr/>
          </a:p>
        </p:txBody>
      </p:sp>
      <p:sp>
        <p:nvSpPr>
          <p:cNvPr id="489" name="Google Shape;48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V2 o comportamento se generaliza: a ausência encolhe em todos os modelos, inclusive no gpt5, que sai de 66% para 3%. A cobertura deixa de depender do modelo, mas a qualidade ainda não chegou: uma fatia considerável fica em Moderadamente ou Levemente Similar, os blocos azul e amarelo.</a:t>
            </a:r>
            <a:endParaRPr/>
          </a:p>
        </p:txBody>
      </p:sp>
      <p:sp>
        <p:nvSpPr>
          <p:cNvPr id="504" name="Google Shape;50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V3 as barras dos cinco modelos ficam quase inteiramente verdes: 92,2% de Altamente Similar na Artifactory, um ganho de 30 pontos sobre o V2, com no máximo 3% de ausência.</a:t>
            </a:r>
            <a:endParaRPr/>
          </a:p>
        </p:txBody>
      </p:sp>
      <p:sp>
        <p:nvSpPr>
          <p:cNvPr id="519" name="Google Shape;51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Nos campos de texto livre, medidos por BERTScore: em V1 o Artifactory, a maior baseline, tinha só 59% de registros altamente similares e 26% ausentes. Em V3, todas as baselines chegam a 92% ou mais de altamente similar, com no máximo 3% de ausência. V3 não só recupera mais vulnerabilidades: recupera com mais qualidade.</a:t>
            </a:r>
            <a:endParaRPr/>
          </a:p>
        </p:txBody>
      </p:sp>
      <p:sp>
        <p:nvSpPr>
          <p:cNvPr id="534" name="Google Shape;53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plano alucinação contra omissão. No eixo horizontal, a fração de registros extraídos sem correspondência na baseline; no vertical, a fração da baseline que ficou sem extração. Cada ponto é uma configuração de modelo e baseline, colorida pela versão. O canto inferior esquerdo é o objetivo: não inventar e não omitir.</a:t>
            </a:r>
            <a:endParaRPr/>
          </a:p>
        </p:txBody>
      </p:sp>
      <p:sp>
        <p:nvSpPr>
          <p:cNvPr id="581" name="Google Shape;58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9bc96bb8a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f9bc96bb8a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V1 os pontos se espalham pelos dois eixos. Há configurações acima de 80% de omissão, no alto à esquerda, e outras passando de 30% de alucinação, à direita. Nenhuma região do plano é segura.</a:t>
            </a:r>
            <a:endParaRPr/>
          </a:p>
        </p:txBody>
      </p:sp>
      <p:sp>
        <p:nvSpPr>
          <p:cNvPr id="591" name="Google Shape;591;g3f9bc96bb8a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f9bc96bb8a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f9bc96bb8a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V2 a segmentação ciente do scanner elimina os casos extremos: todas as configurações caem abaixo de 8% de alucinação. Mas a omissão continua moderada, chegando a 24% em alguns pares modelo e baseline.</a:t>
            </a:r>
            <a:endParaRPr/>
          </a:p>
        </p:txBody>
      </p:sp>
      <p:sp>
        <p:nvSpPr>
          <p:cNvPr id="604" name="Google Shape;604;g3f9bc96bb8a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9bc96bb8a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g3f9bc96bb8a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V3 o conjunto colapsa no canto inferior esquerdo: omissão abaixo de 6% e alucinação abaixo de 10% em toda configuração. As três versões ocupam regiões que não se sobrepõem.</a:t>
            </a:r>
            <a:endParaRPr/>
          </a:p>
        </p:txBody>
      </p:sp>
      <p:sp>
        <p:nvSpPr>
          <p:cNvPr id="617" name="Google Shape;617;g3f9bc96bb8a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4138a3f1b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f4138a3f1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célula é a omissão de um campo, para um modelo numa versão. As linhas estão agrupadas por modelo, três linhas cada, uma por versão. Verde é omissão baixa, vermelho é omissão alta. As colunas são os dezoito campos extraídos.</a:t>
            </a:r>
            <a:endParaRPr/>
          </a:p>
        </p:txBody>
      </p:sp>
      <p:sp>
        <p:nvSpPr>
          <p:cNvPr id="630" name="Google Shape;630;g3f4138a3f1b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4138a3f1b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g3f4138a3f1b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V1 a omissão por campo depende fortemente do modelo: vai de 12,1% no melhor caso a 53,9% no pior, uma dispersão de 41,8 pontos percentuais. As linhas do gpt5 concentram os valores mais altos, enquanto deepseek e llama3 já operam em patamar baixo.</a:t>
            </a:r>
            <a:endParaRPr/>
          </a:p>
        </p:txBody>
      </p:sp>
      <p:sp>
        <p:nvSpPr>
          <p:cNvPr id="641" name="Google Shape;641;g3f4138a3f1b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V2 as linhas clareiam em todos os modelos, mas de forma desigual: o gpt5 melhora muito e o llama4 ainda mostra faixas amarelas. A dispersão cai para 14,7 pontos, 2,8 vezes menor que em V1, mas ainda alta o bastante para a escolha do modelo importar.</a:t>
            </a:r>
            <a:endParaRPr/>
          </a:p>
        </p:txBody>
      </p:sp>
      <p:sp>
        <p:nvSpPr>
          <p:cNvPr id="654" name="Google Shape;65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f4138a3f1b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g3f4138a3f1b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V3 as linhas ficam uniformes entre os modelos, e o que resta é uma limitação de coluna, não de modelo: log_method, product_detection_result e references seguem em laranja em todas as versões. A dispersão cai para 2,9 pontos, catorze vezes menor que em V1, e a escolha do LLM deixa de diferenciar a qualidade.</a:t>
            </a:r>
            <a:endParaRPr/>
          </a:p>
        </p:txBody>
      </p:sp>
      <p:sp>
        <p:nvSpPr>
          <p:cNvPr id="667" name="Google Shape;667;g3f4138a3f1b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f4138a3f1b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f4138a3f1b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 olhar o heatmap por coluna, e não por linha. Três colunas permanecem laranja em todas as versões e em todos os modelos: log_method, product_detection_result e references. A omissão em nível de campo cai de 25,1% em V1 para 8,3% em V3, mas não chega a zero, e o que sobra está concentrado nessas colunas. São campos ausentes ou inconsistentes no próprio relatório, então é limite da tarefa, não do modelo nem do pipeline. É o alvo declarado da iteração V4.</a:t>
            </a:r>
            <a:endParaRPr/>
          </a:p>
        </p:txBody>
      </p:sp>
      <p:sp>
        <p:nvSpPr>
          <p:cNvPr id="680" name="Google Shape;680;g3f4138a3f1b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Chegando às conclusões.</a:t>
            </a:r>
            <a:endParaRPr/>
          </a:p>
        </p:txBody>
      </p:sp>
      <p:sp>
        <p:nvSpPr>
          <p:cNvPr id="693" name="Google Shape;69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conclusão central: engenharia de pipeline, e não substituição de modelo, é a alavanca primária da qualidade de extração. Os campos determinísticos saem de 37,5% para 90,4% de exatidão total, a omissão cai doze vezes e a dispersão entre os cinco modelos colapsa para 2,9 pontos. Sob um pipeline bem projetado, a escolha do LLM passa a ser custo e latência, não acurácia.</a:t>
            </a:r>
            <a:endParaRPr/>
          </a:p>
        </p:txBody>
      </p:sp>
      <p:sp>
        <p:nvSpPr>
          <p:cNvPr id="704" name="Google Shape;704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Quatro frentes: estender a avaliação ao Tenable WAS em escala e a outros scanners; ampliar o conjunto de baselines curadas em número e em categoria de aplicação; completar o protocolo de execuções com modelos locais, pré-requisito para ambientes isolados e para dados sob a LGPD; e uma iteração V4 atacando a omissão crônica com re-extração ciente do campo.</a:t>
            </a:r>
            <a:endParaRPr/>
          </a:p>
        </p:txBody>
      </p:sp>
      <p:sp>
        <p:nvSpPr>
          <p:cNvPr id="731" name="Google Shape;73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Obrigada! Perguntas são bem-vindas.</a:t>
            </a:r>
            <a:endParaRPr/>
          </a:p>
        </p:txBody>
      </p:sp>
      <p:sp>
        <p:nvSpPr>
          <p:cNvPr id="762" name="Google Shape;76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partir daqui, slides de reserva para perguntas.</a:t>
            </a:r>
            <a:endParaRPr/>
          </a:p>
        </p:txBody>
      </p:sp>
      <p:sp>
        <p:nvSpPr>
          <p:cNvPr id="789" name="Google Shape;789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Tabela 3 completa do artigo: as oito métricas agregadas por versão, com N igual a 150 observações e intervalos bootstrap de 95%. O melhor valor de cada linha está em negrito, e não é sempre o V3: em alucinação de vulnerabilidade e em Macro F1 de severidade o V2 é ligeiramente melhor. A severidade é a dimensão menos sensível ao pipeline, mas o Macro F1 ciente da cobertura sobe de 79,6 para 91,3%, porque deixa de haver registro não classificado por nunca ter sido extraído.</a:t>
            </a:r>
            <a:endParaRPr/>
          </a:p>
        </p:txBody>
      </p:sp>
      <p:sp>
        <p:nvSpPr>
          <p:cNvPr id="799" name="Google Shape;799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Tabela 4: a distribuição de similaridade BERTScore nas três baselines, nas categorias Altamente Similar e Ausente, média sobre os cinco LLMs. O padrão é o mesmo nas três, e a maior baseline é a que mais ganha: sai de 59,1% para 92,2% de Altamente Similar, com a ausência caindo de 25,9% para 3,1%.</a:t>
            </a:r>
            <a:endParaRPr/>
          </a:p>
        </p:txBody>
      </p:sp>
      <p:sp>
        <p:nvSpPr>
          <p:cNvPr id="868" name="Google Shape;86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São dezenove campos no schema canônico. Cinco são determinísticos: cvss, port, protocol, severity e source. Neles a comparação é exata, e é deles que sai o Exact Record Match. Os demais são narrativos, avaliados por similaridade semântica com BERTScore e lexical com ROUGE-L. Os três campos crônicos, log_method, product_detection_result e references, estão entre os narrativos e são justamente os que o relatório frequentemente não traz.</a:t>
            </a:r>
            <a:endParaRPr/>
          </a:p>
        </p:txBody>
      </p:sp>
      <p:sp>
        <p:nvSpPr>
          <p:cNvPr id="924" name="Google Shape;92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menor baseline, o Juice Shop, com 34 vulnerabilidades. O padrão é o mesmo das outras duas: em V1 a ausência pesa, em V2 a cobertura volta com qualidade média e em V3 as barras ficam quase inteiramente verdes, 98,6% de Altamente Similar. Serve para responder se o resultado depende da densidade do relatório: não depende, o padrão se repete nas três baselines.</a:t>
            </a:r>
            <a:endParaRPr/>
          </a:p>
        </p:txBody>
      </p:sp>
      <p:sp>
        <p:nvSpPr>
          <p:cNvPr id="985" name="Google Shape;985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" name="Google Shape;99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de apoio para perguntas sobre método e escopo.</a:t>
            </a:r>
            <a:endParaRPr/>
          </a:p>
        </p:txBody>
      </p:sp>
      <p:sp>
        <p:nvSpPr>
          <p:cNvPr id="999" name="Google Shape;999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9" name="Google Shape;102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de apoio para perguntas sobre resultados e uso prático.</a:t>
            </a:r>
            <a:endParaRPr/>
          </a:p>
        </p:txBody>
      </p:sp>
      <p:sp>
        <p:nvSpPr>
          <p:cNvPr id="1030" name="Google Shape;1030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Relationship Id="rId5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10" Type="http://schemas.openxmlformats.org/officeDocument/2006/relationships/image" Target="../media/image46.png"/><Relationship Id="rId9" Type="http://schemas.openxmlformats.org/officeDocument/2006/relationships/image" Target="../media/image49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10" Type="http://schemas.openxmlformats.org/officeDocument/2006/relationships/image" Target="../media/image46.png"/><Relationship Id="rId9" Type="http://schemas.openxmlformats.org/officeDocument/2006/relationships/image" Target="../media/image49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10" Type="http://schemas.openxmlformats.org/officeDocument/2006/relationships/image" Target="../media/image46.png"/><Relationship Id="rId9" Type="http://schemas.openxmlformats.org/officeDocument/2006/relationships/image" Target="../media/image49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1.png"/><Relationship Id="rId4" Type="http://schemas.openxmlformats.org/officeDocument/2006/relationships/image" Target="../media/image6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1.png"/><Relationship Id="rId4" Type="http://schemas.openxmlformats.org/officeDocument/2006/relationships/image" Target="../media/image6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9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2.png"/><Relationship Id="rId4" Type="http://schemas.openxmlformats.org/officeDocument/2006/relationships/image" Target="../media/image7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2.png"/><Relationship Id="rId4" Type="http://schemas.openxmlformats.org/officeDocument/2006/relationships/image" Target="../media/image7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3.png"/><Relationship Id="rId4" Type="http://schemas.openxmlformats.org/officeDocument/2006/relationships/image" Target="../media/image8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3.png"/><Relationship Id="rId4" Type="http://schemas.openxmlformats.org/officeDocument/2006/relationships/image" Target="../media/image9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3.png"/><Relationship Id="rId4" Type="http://schemas.openxmlformats.org/officeDocument/2006/relationships/image" Target="../media/image8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3.png"/><Relationship Id="rId4" Type="http://schemas.openxmlformats.org/officeDocument/2006/relationships/image" Target="../media/image8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3.png"/><Relationship Id="rId4" Type="http://schemas.openxmlformats.org/officeDocument/2006/relationships/image" Target="../media/image8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Relationship Id="rId4" Type="http://schemas.openxmlformats.org/officeDocument/2006/relationships/image" Target="../media/image97.png"/><Relationship Id="rId11" Type="http://schemas.openxmlformats.org/officeDocument/2006/relationships/image" Target="../media/image15.png"/><Relationship Id="rId10" Type="http://schemas.openxmlformats.org/officeDocument/2006/relationships/image" Target="../media/image5.png"/><Relationship Id="rId9" Type="http://schemas.openxmlformats.org/officeDocument/2006/relationships/image" Target="../media/image12.png"/><Relationship Id="rId5" Type="http://schemas.openxmlformats.org/officeDocument/2006/relationships/image" Target="../media/image10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6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1047750" y="1376363"/>
            <a:ext cx="1781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XXVI SIMPÓSIO BRASILEIRO DE CIBERSEGURANÇA · SBSEG 2026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47750" y="1814513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1 a 4 de setembro de 2026 · Armação dos Búzios, RJ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47750" y="2959298"/>
            <a:ext cx="12459653" cy="22633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4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MulitaMiner: Avaliação Multi-Versão de Extração de Relatórios de Vulnerabilidade com LLMs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4001750" y="2452688"/>
            <a:ext cx="3238500" cy="323850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82750" y="3385096"/>
            <a:ext cx="2476500" cy="13736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1047750" y="6034088"/>
            <a:ext cx="1143000" cy="5715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047750" y="6434138"/>
            <a:ext cx="1667827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Beatriz Machado, Douglas Lautert, Cristhian Kapelinski, Diego Kreutz, Isadora Garcia Ferrão e Alessandro Bof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47750" y="7253288"/>
            <a:ext cx="17811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1950"/>
              <a:buFont typeface="Arial"/>
              <a:buNone/>
            </a:pPr>
            <a:r>
              <a:rPr b="0" i="0" lang="en-US" sz="255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AI Horizon Labs | PPGES </a:t>
            </a:r>
            <a:r>
              <a:rPr lang="en-US" sz="2550">
                <a:solidFill>
                  <a:srgbClr val="DDE3EC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Universidade Federal do Pampa (UNIPAMPA)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047750" y="7744376"/>
            <a:ext cx="17811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1950"/>
              <a:buFont typeface="Arial"/>
              <a:buNone/>
            </a:pPr>
            <a:r>
              <a:rPr b="0" i="0" lang="en-US" sz="255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Université de Bretagne Occidentale (UBO)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0" y="9201150"/>
            <a:ext cx="18288000" cy="1085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9085" y="9385188"/>
            <a:ext cx="2815268" cy="688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8449" y="9201150"/>
            <a:ext cx="1547970" cy="10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12553" y="9276947"/>
            <a:ext cx="892825" cy="89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" name="Google Shape;3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79352" y="9496425"/>
            <a:ext cx="89282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" name="Google Shape;3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891272" y="9467850"/>
            <a:ext cx="538014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848386" y="9448800"/>
            <a:ext cx="391864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-1" r="-1" t="0"/>
          <a:stretch/>
        </p:blipFill>
        <p:spPr>
          <a:xfrm>
            <a:off x="3524250" y="1877318"/>
            <a:ext cx="11239500" cy="371296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952500" y="7620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ABERTURA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952500" y="1219200"/>
            <a:ext cx="1802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acervo cresce, a triagem não acompanha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52500" y="5876032"/>
            <a:ext cx="5232350" cy="3238500"/>
          </a:xfrm>
          <a:prstGeom prst="roundRect">
            <a:avLst>
              <a:gd fmla="val 2941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276350" y="6161782"/>
            <a:ext cx="472219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Scanners geram PDFs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276350" y="7342882"/>
            <a:ext cx="472219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CSIRTs varrem as aplicações, e cada varredura vira um relatório.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527750" y="5876032"/>
            <a:ext cx="5232350" cy="3238500"/>
          </a:xfrm>
          <a:prstGeom prst="roundRect">
            <a:avLst>
              <a:gd fmla="val 2941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851600" y="6161782"/>
            <a:ext cx="504311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Leitura manual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851600" y="6819007"/>
            <a:ext cx="472219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Sem dado estruturado, a análise exige leitura de cada relatório.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2103001" y="5876032"/>
            <a:ext cx="5232350" cy="3238500"/>
          </a:xfrm>
          <a:prstGeom prst="roundRect">
            <a:avLst>
              <a:gd fmla="val 2941" name="adj"/>
            </a:avLst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2426851" y="6161782"/>
            <a:ext cx="504311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Triagem atrasada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2426851" y="6819007"/>
            <a:ext cx="472219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 consulta e priorização, a resposta demora.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" name="Google Shape;5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12394555" y="9677400"/>
            <a:ext cx="5854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Búzios, 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7405152" y="285750"/>
            <a:ext cx="501848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7576602" y="323850"/>
            <a:ext cx="20913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952500" y="5334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ABERTURA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52500" y="952500"/>
            <a:ext cx="1802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já existe e o que falta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52500" y="2100560"/>
            <a:ext cx="16383000" cy="676275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162050" y="2224385"/>
            <a:ext cx="379952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Trabalho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257800" y="2224385"/>
            <a:ext cx="379952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292114" y="2224385"/>
            <a:ext cx="379952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3387864" y="2224385"/>
            <a:ext cx="379952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52500" y="2776835"/>
            <a:ext cx="16383000" cy="6438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162050" y="2881610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Gao et al. 2022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257800" y="2881610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Threat intelligence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292114" y="2881610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3387864" y="2881610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Precisão e recall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52500" y="3420666"/>
            <a:ext cx="16383000" cy="64383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1162050" y="3525441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Park e Lee 2022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257800" y="3525441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Relatórios técnicos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292114" y="3525441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ML supervisionado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387864" y="3525441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F1, precisão, recall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52500" y="4064496"/>
            <a:ext cx="16383000" cy="10781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162050" y="4169271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Sharmila 2026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257800" y="4169271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Documentos de projeto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292114" y="4169271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LLaMA 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3387864" y="4169271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Qualitativa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52500" y="5142607"/>
            <a:ext cx="16383000" cy="64383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1162050" y="5247382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Dabholkar 2023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257800" y="5247382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Saídas de scanner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292114" y="5247382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GPT-3 e 3.5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3387864" y="5247382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Qualitativa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52500" y="5786438"/>
            <a:ext cx="16383000" cy="6438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162050" y="589121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Dong et al. 2025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257800" y="589121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Threat intelligence IoT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9292114" y="589121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GPT-4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3387864" y="589121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Qualidade da resposta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52500" y="6430268"/>
            <a:ext cx="16383000" cy="1078111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1162050" y="6535043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Machado et al. 2025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257800" y="6535043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OpenVAS e Tenable WAS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9292114" y="6535043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 LLMs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3387864" y="6535043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ROUGE-L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52500" y="7508379"/>
            <a:ext cx="16383000" cy="1116211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1162050" y="7632204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MulitaMiner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257800" y="7632204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Relatórios heterogêneos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9292114" y="7632204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LLMs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3387864" y="7632204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métricas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12394555" y="9677400"/>
            <a:ext cx="5854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Búzios, 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7405152" y="285750"/>
            <a:ext cx="501848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17576602" y="323850"/>
            <a:ext cx="20913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1524000" y="800398"/>
            <a:ext cx="15240000" cy="1238250"/>
          </a:xfrm>
          <a:prstGeom prst="roundRect">
            <a:avLst>
              <a:gd fmla="val 7692" name="adj"/>
            </a:avLst>
          </a:prstGeom>
          <a:solidFill>
            <a:srgbClr val="1279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828800" y="990898"/>
            <a:ext cx="150876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71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highlight>
                  <a:srgbClr val="1279BD"/>
                </a:highlight>
                <a:latin typeface="Arial"/>
                <a:ea typeface="Arial"/>
                <a:cs typeface="Arial"/>
                <a:sym typeface="Arial"/>
              </a:rPr>
              <a:t>Mesma entrada, mas com </a:t>
            </a:r>
            <a:r>
              <a:rPr b="1" i="0" lang="en-US" sz="2700" u="none" cap="none" strike="noStrike">
                <a:solidFill>
                  <a:srgbClr val="FFFFFF"/>
                </a:solidFill>
                <a:highlight>
                  <a:srgbClr val="1279BD"/>
                </a:highlight>
              </a:rPr>
              <a:t>GPT-3 </a:t>
            </a:r>
            <a:r>
              <a:rPr b="0" i="0" lang="en-US" sz="2700" u="none" cap="none" strike="noStrike">
                <a:solidFill>
                  <a:srgbClr val="FFFFFF"/>
                </a:solidFill>
                <a:highlight>
                  <a:srgbClr val="1279BD"/>
                </a:highlight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1" i="0" lang="en-US" sz="2700" u="none" cap="none" strike="noStrike">
                <a:solidFill>
                  <a:srgbClr val="FFFFFF"/>
                </a:solidFill>
                <a:highlight>
                  <a:srgbClr val="1279BD"/>
                </a:highlight>
              </a:rPr>
              <a:t>3.5 </a:t>
            </a:r>
            <a:r>
              <a:rPr b="0" i="0" lang="en-US" sz="2700" u="none" cap="none" strike="noStrike">
                <a:solidFill>
                  <a:srgbClr val="FFFFFF"/>
                </a:solidFill>
                <a:highlight>
                  <a:srgbClr val="1279BD"/>
                </a:highlight>
                <a:latin typeface="Arial"/>
                <a:ea typeface="Arial"/>
                <a:cs typeface="Arial"/>
                <a:sym typeface="Arial"/>
              </a:rPr>
              <a:t>e avaliação só qualitativa: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não mede omissão nem exatidão de campos </a:t>
            </a:r>
            <a:r>
              <a:rPr b="0" i="0" lang="en-US" sz="2700" u="none" cap="none" strike="noStrike">
                <a:solidFill>
                  <a:srgbClr val="FFFFFF"/>
                </a:solidFill>
                <a:highlight>
                  <a:srgbClr val="1279BD"/>
                </a:highlight>
                <a:latin typeface="Arial"/>
                <a:ea typeface="Arial"/>
                <a:cs typeface="Arial"/>
                <a:sym typeface="Arial"/>
              </a:rPr>
              <a:t>, e não publica dataset.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3500" y="2029123"/>
            <a:ext cx="3810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952500" y="2295823"/>
            <a:ext cx="16383000" cy="676275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162050" y="2419648"/>
            <a:ext cx="379952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Trabalho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257800" y="2419648"/>
            <a:ext cx="379952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292114" y="2419648"/>
            <a:ext cx="379952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3387864" y="2419648"/>
            <a:ext cx="3799523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952500" y="2972098"/>
            <a:ext cx="16383000" cy="6438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1162050" y="307687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Gao et al. 2022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257800" y="307687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Threat intelligence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9292114" y="307687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3387864" y="307687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Precisão e recall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52500" y="3615928"/>
            <a:ext cx="16383000" cy="64383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1162050" y="372070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Park e Lee 2022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257800" y="372070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Relatórios técnicos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9292114" y="372070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ML supervisionado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3387864" y="3720703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F1, precisão, recall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52500" y="4259759"/>
            <a:ext cx="16383000" cy="10781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1162050" y="4364534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Sharmila 2026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257800" y="4364534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Documentos de projeto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9292114" y="4364534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LLaMA 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13387864" y="4364534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Qualitativa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952500" y="5337870"/>
            <a:ext cx="16383000" cy="64383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1162050" y="5442645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Dabholkar 2023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257800" y="5442645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Saídas de scanner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9292114" y="5442645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GPT-3 e 3.5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3387864" y="5442645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Qualitativa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952500" y="5981700"/>
            <a:ext cx="16383000" cy="6438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1162050" y="6086475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Dong et al. 2025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257800" y="6086475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Threat intelligence IoT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9292114" y="6086475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GPT-4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3387864" y="6086475"/>
            <a:ext cx="3799523" cy="47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Qualidade da resposta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52500" y="6625530"/>
            <a:ext cx="16383000" cy="1078111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1162050" y="6730305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Machado et al. 2025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257800" y="6730305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OpenVAS e Tenable WAS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9292114" y="6730305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4 LLMs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13387864" y="6730305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C9CFDA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C9CFDA"/>
                </a:solidFill>
                <a:latin typeface="Arial"/>
                <a:ea typeface="Arial"/>
                <a:cs typeface="Arial"/>
                <a:sym typeface="Arial"/>
              </a:rPr>
              <a:t>ROUGE-L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952500" y="7703641"/>
            <a:ext cx="16383000" cy="1116211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1162050" y="7827466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MulitaMiner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257800" y="7827466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Relatórios heterogêneos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9292114" y="7827466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LLMs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13387864" y="7827466"/>
            <a:ext cx="3799523" cy="90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métricas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6" name="Google Shape;16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"/>
          <p:cNvSpPr/>
          <p:nvPr/>
        </p:nvSpPr>
        <p:spPr>
          <a:xfrm>
            <a:off x="12394555" y="9677400"/>
            <a:ext cx="5854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Búzios, 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17405152" y="285750"/>
            <a:ext cx="501848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17576602" y="323850"/>
            <a:ext cx="20913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69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5" name="Google Shape;1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1524000" y="4095750"/>
            <a:ext cx="2564041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16500"/>
              <a:buFont typeface="Arial"/>
              <a:buNone/>
            </a:pPr>
            <a:r>
              <a:rPr b="1" i="0" lang="en-US" sz="165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712196" y="4381500"/>
            <a:ext cx="132569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712196" y="5448300"/>
            <a:ext cx="13256984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Um pipeline endurecido em três versões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7405152" y="285750"/>
            <a:ext cx="501848" cy="400050"/>
          </a:xfrm>
          <a:prstGeom prst="roundRect">
            <a:avLst>
              <a:gd fmla="val 19048" name="adj"/>
            </a:avLst>
          </a:prstGeom>
          <a:solidFill>
            <a:srgbClr val="FFFFFF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17576602" y="323850"/>
            <a:ext cx="20913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DDE3EC"/>
                </a:solidFill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7"/>
          <p:cNvPicPr preferRelativeResize="0"/>
          <p:nvPr/>
        </p:nvPicPr>
        <p:blipFill rotWithShape="1">
          <a:blip r:embed="rId3">
            <a:alphaModFix/>
          </a:blip>
          <a:srcRect b="0" l="-3545" r="-3545" t="0"/>
          <a:stretch/>
        </p:blipFill>
        <p:spPr>
          <a:xfrm>
            <a:off x="1117700" y="1799372"/>
            <a:ext cx="16052598" cy="842761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952500" y="533400"/>
            <a:ext cx="180213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952500" y="999556"/>
            <a:ext cx="1802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Pipeline em seis estágios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7405152" y="285750"/>
            <a:ext cx="501848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17576602" y="323850"/>
            <a:ext cx="20913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1143000" y="523875"/>
            <a:ext cx="590550" cy="590550"/>
          </a:xfrm>
          <a:prstGeom prst="ellipse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104900" y="523875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981200" y="590550"/>
            <a:ext cx="3692336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Entrada de dados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585520" y="571500"/>
            <a:ext cx="847171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Relatórios PDF de OpenVAS e Tenable WAS.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" name="Google Shape;200;p8"/>
          <p:cNvPicPr preferRelativeResize="0"/>
          <p:nvPr/>
        </p:nvPicPr>
        <p:blipFill rotWithShape="1">
          <a:blip r:embed="rId3">
            <a:alphaModFix/>
          </a:blip>
          <a:srcRect b="0" l="-3545" r="-3545" t="0"/>
          <a:stretch/>
        </p:blipFill>
        <p:spPr>
          <a:xfrm>
            <a:off x="1117700" y="1314450"/>
            <a:ext cx="16052598" cy="8427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0126" y="1333665"/>
            <a:ext cx="16052599" cy="842758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17405152" y="285750"/>
            <a:ext cx="501848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17576602" y="323850"/>
            <a:ext cx="20913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1143000" y="523875"/>
            <a:ext cx="590550" cy="590550"/>
          </a:xfrm>
          <a:prstGeom prst="ellipse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104900" y="523875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981200" y="590550"/>
            <a:ext cx="366859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Extração de texto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563939" y="571500"/>
            <a:ext cx="1108879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Normalização Unicode e validação estrutural antes do LLM.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7405152" y="285750"/>
            <a:ext cx="501848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17576602" y="323850"/>
            <a:ext cx="20913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9"/>
          <p:cNvPicPr preferRelativeResize="0"/>
          <p:nvPr/>
        </p:nvPicPr>
        <p:blipFill rotWithShape="1">
          <a:blip r:embed="rId3">
            <a:alphaModFix/>
          </a:blip>
          <a:srcRect b="0" l="-3545" r="-3545" t="0"/>
          <a:stretch/>
        </p:blipFill>
        <p:spPr>
          <a:xfrm>
            <a:off x="1117700" y="1314450"/>
            <a:ext cx="16052598" cy="8427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6" name="Google Shape;21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4625" y="1232275"/>
            <a:ext cx="15063199" cy="861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1143000" y="523875"/>
            <a:ext cx="590550" cy="590550"/>
          </a:xfrm>
          <a:prstGeom prst="ellipse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1104900" y="523875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981200" y="590550"/>
            <a:ext cx="410881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Pré-processamento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964138" y="323850"/>
            <a:ext cx="1151628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Segmentação por blocos, chunking por tokens e prompt por scanner.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10"/>
          <p:cNvPicPr preferRelativeResize="0"/>
          <p:nvPr/>
        </p:nvPicPr>
        <p:blipFill rotWithShape="1">
          <a:blip r:embed="rId3">
            <a:alphaModFix/>
          </a:blip>
          <a:srcRect b="0" l="-3545" r="-3545" t="0"/>
          <a:stretch/>
        </p:blipFill>
        <p:spPr>
          <a:xfrm>
            <a:off x="1117700" y="1314450"/>
            <a:ext cx="16052598" cy="8427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0842" y="1276066"/>
            <a:ext cx="14696976" cy="853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1143000" y="523875"/>
            <a:ext cx="590550" cy="590550"/>
          </a:xfrm>
          <a:prstGeom prst="ellipse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1104900" y="523875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981200" y="590550"/>
            <a:ext cx="1120676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3273326" y="571500"/>
            <a:ext cx="1029610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Cinco LLMs, schema JSON validado e retry adaptativo.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17267337" y="285750"/>
            <a:ext cx="639663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17410926" y="323850"/>
            <a:ext cx="388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11"/>
          <p:cNvPicPr preferRelativeResize="0"/>
          <p:nvPr/>
        </p:nvPicPr>
        <p:blipFill rotWithShape="1">
          <a:blip r:embed="rId3">
            <a:alphaModFix/>
          </a:blip>
          <a:srcRect b="0" l="-3545" r="-3545" t="0"/>
          <a:stretch/>
        </p:blipFill>
        <p:spPr>
          <a:xfrm>
            <a:off x="1117700" y="1314450"/>
            <a:ext cx="16052598" cy="8427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3550" y="1333642"/>
            <a:ext cx="14831024" cy="842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1143000" y="523875"/>
            <a:ext cx="590550" cy="590550"/>
          </a:xfrm>
          <a:prstGeom prst="ellipse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1104900" y="523875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1981200" y="590550"/>
            <a:ext cx="114359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3296245" y="571500"/>
            <a:ext cx="1000159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Registros deduplicados em JSON, CSV, XLSX e TSV.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11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-3545" r="-3545" t="0"/>
          <a:stretch/>
        </p:blipFill>
        <p:spPr>
          <a:xfrm>
            <a:off x="1117700" y="1314450"/>
            <a:ext cx="16052598" cy="8427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5" name="Google Shape;25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8742" y="1314450"/>
            <a:ext cx="15315348" cy="851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/>
          <p:nvPr/>
        </p:nvSpPr>
        <p:spPr>
          <a:xfrm>
            <a:off x="1143000" y="523875"/>
            <a:ext cx="590550" cy="590550"/>
          </a:xfrm>
          <a:prstGeom prst="ellipse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1104900" y="523875"/>
            <a:ext cx="66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1981200" y="590550"/>
            <a:ext cx="1565404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Análise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3651945" y="571500"/>
            <a:ext cx="1075335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BERTScore, ROUGE-L, Field-F1, severidade e cobertura.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12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13"/>
          <p:cNvPicPr preferRelativeResize="0"/>
          <p:nvPr/>
        </p:nvPicPr>
        <p:blipFill rotWithShape="1">
          <a:blip r:embed="rId3">
            <a:alphaModFix/>
          </a:blip>
          <a:srcRect b="0" l="-3545" r="-3545" t="0"/>
          <a:stretch/>
        </p:blipFill>
        <p:spPr>
          <a:xfrm>
            <a:off x="1117700" y="1314450"/>
            <a:ext cx="16052598" cy="8427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900" y="1205000"/>
            <a:ext cx="16299950" cy="864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575" y="1350963"/>
            <a:ext cx="2539000" cy="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4"/>
          <p:cNvSpPr/>
          <p:nvPr/>
        </p:nvSpPr>
        <p:spPr>
          <a:xfrm>
            <a:off x="571500" y="285750"/>
            <a:ext cx="174974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571500" y="838200"/>
            <a:ext cx="9429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TEXTO EXTRAÍDO DO PDF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7" name="Google Shape;27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2150" y="5238750"/>
            <a:ext cx="4953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4"/>
          <p:cNvSpPr/>
          <p:nvPr/>
        </p:nvSpPr>
        <p:spPr>
          <a:xfrm>
            <a:off x="10515600" y="838200"/>
            <a:ext cx="79209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REGISTRO JSON VALIDADO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10515600" y="1352550"/>
            <a:ext cx="7391400" cy="8553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10515600" y="1352550"/>
            <a:ext cx="76200" cy="855345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10839450" y="1543050"/>
            <a:ext cx="6881100" cy="82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i="0" lang="en-US" sz="1950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"Name" </a:t>
            </a: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: "SSL/TLS: Certificate Expired",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"description" </a:t>
            </a: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: ["The remote server's SSL/TLS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certificate has already expired."],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"detection_result" </a:t>
            </a: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: ["The certificate of the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remote service expired on 2020-08-20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19:18:24.", "Certificate details: ",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"subject ...: C=DE,L=Osnabrueck,[...]",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"serial ....: 5B7C65801F84[...]",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"valid until: 2020-08-20 19:18:24 UTC",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"fingerprint (SHA-1): 6B34D170BC2D0E[...]"],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"detection_method" </a:t>
            </a: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: ["Details: SSL/TLS: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Certificate Expired",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"OID:1.3.6.1.4.1.25623.1.0.103955",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"Version used: $Revision: 11103 $"],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"solution" </a:t>
            </a: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: ["Solution type: Mitigation",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"Replace the SSL/TLS certificate by 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new one."],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"insight" </a:t>
            </a: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: ["This script checks expiry dates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of certificates associated with SSL/TLS-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 enabled services on the target [...]"],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n-US" sz="1950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"cvss"</a:t>
            </a: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: 5.0, </a:t>
            </a:r>
            <a:r>
              <a:rPr b="1" i="0" lang="en-US" sz="1950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"port" </a:t>
            </a: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: 9390,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"protocol"</a:t>
            </a: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: "tcp", </a:t>
            </a:r>
            <a:r>
              <a:rPr b="1" i="0" lang="en-US" sz="1950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"severity" </a:t>
            </a:r>
            <a:r>
              <a:rPr b="0" i="0" lang="en-US" sz="1950" u="none" cap="none" strike="noStrike">
                <a:solidFill>
                  <a:srgbClr val="1F2937"/>
                </a:solidFill>
                <a:highlight>
                  <a:srgbClr val="F4F6FA"/>
                </a:highlight>
                <a:latin typeface="Courier New"/>
                <a:ea typeface="Courier New"/>
                <a:cs typeface="Courier New"/>
                <a:sym typeface="Courier New"/>
              </a:rPr>
              <a:t>: "MEDIUM"}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13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575" y="1827950"/>
            <a:ext cx="8707426" cy="80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/>
          <p:nvPr/>
        </p:nvSpPr>
        <p:spPr>
          <a:xfrm>
            <a:off x="952500" y="7620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952500" y="1219200"/>
            <a:ext cx="1802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Três versões, cada uma fechando falhas da anterior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952500" y="2676525"/>
            <a:ext cx="5206901" cy="5638800"/>
          </a:xfrm>
          <a:prstGeom prst="rect">
            <a:avLst/>
          </a:prstGeom>
          <a:solidFill>
            <a:srgbClr val="F4F6FA"/>
          </a:solidFill>
          <a:ln cap="flat" cmpd="sng" w="47625">
            <a:solidFill>
              <a:srgbClr val="D9534F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114300">
              <a:srgbClr val="0F2369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1285875" y="2971800"/>
            <a:ext cx="4994166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1285875" y="3771900"/>
            <a:ext cx="4994166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Baseline funcional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285875" y="4429125"/>
            <a:ext cx="46763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Chunking fixo (~2600 tokens) para todos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1285875" y="5514975"/>
            <a:ext cx="46763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Marcador de scanner como dica fraca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1285875" y="6600825"/>
            <a:ext cx="46763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Retry cego, em quebras de linha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6540401" y="2676525"/>
            <a:ext cx="5207050" cy="5638800"/>
          </a:xfrm>
          <a:prstGeom prst="rect">
            <a:avLst/>
          </a:prstGeom>
          <a:solidFill>
            <a:srgbClr val="FFFFFF">
              <a:alpha val="41961"/>
            </a:srgbClr>
          </a:solidFill>
          <a:ln cap="flat" cmpd="sng" w="47625">
            <a:solidFill>
              <a:srgbClr val="DDE3EC">
                <a:alpha val="4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6873776" y="2971800"/>
            <a:ext cx="499433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21B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9A21B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6873776" y="3771900"/>
            <a:ext cx="467650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Segmentação ciente do scanner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6873776" y="485775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Fronteira de marcador é regra estrita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6873776" y="5943600"/>
            <a:ext cx="499433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Retry respeita os blocos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6873776" y="6534150"/>
            <a:ext cx="499433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Prompt mais diretivo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12128450" y="2676525"/>
            <a:ext cx="5207050" cy="5638800"/>
          </a:xfrm>
          <a:prstGeom prst="rect">
            <a:avLst/>
          </a:prstGeom>
          <a:solidFill>
            <a:srgbClr val="FFFFFF">
              <a:alpha val="41961"/>
            </a:srgbClr>
          </a:solidFill>
          <a:ln cap="flat" cmpd="sng" w="47625">
            <a:solidFill>
              <a:srgbClr val="DDE3EC">
                <a:alpha val="4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12461825" y="2971800"/>
            <a:ext cx="499433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9BD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12461825" y="3771900"/>
            <a:ext cx="467650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Ajuste por LLM + few-shot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12461825" y="485775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Chunk e tokenizer </a:t>
            </a:r>
            <a:r>
              <a:rPr lang="en-US" sz="3000">
                <a:solidFill>
                  <a:srgbClr val="666666"/>
                </a:solidFill>
              </a:rPr>
              <a:t>específico </a:t>
            </a: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 modelo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12461825" y="594360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Prompt 40% menor, com few-shot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12461825" y="702945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Reparo de JSON antes do retry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0" name="Google Shape;3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5"/>
          <p:cNvSpPr/>
          <p:nvPr/>
        </p:nvSpPr>
        <p:spPr>
          <a:xfrm>
            <a:off x="12468671" y="9677400"/>
            <a:ext cx="577261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Búzios/RJ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14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5" title="v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99800" y="2828925"/>
            <a:ext cx="862423" cy="89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5" title="v3.png"/>
          <p:cNvPicPr preferRelativeResize="0"/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>
            <a:off x="16220075" y="2705862"/>
            <a:ext cx="10287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5" title="v2.png"/>
          <p:cNvPicPr preferRelativeResize="0"/>
          <p:nvPr/>
        </p:nvPicPr>
        <p:blipFill rotWithShape="1">
          <a:blip r:embed="rId10">
            <a:alphaModFix amt="30000"/>
          </a:blip>
          <a:srcRect b="28972" l="28087" r="27729" t="26763"/>
          <a:stretch/>
        </p:blipFill>
        <p:spPr>
          <a:xfrm>
            <a:off x="10829200" y="2859025"/>
            <a:ext cx="721075" cy="72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/>
          <p:nvPr/>
        </p:nvSpPr>
        <p:spPr>
          <a:xfrm>
            <a:off x="952500" y="7620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952500" y="1219200"/>
            <a:ext cx="1802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Três versões, cada uma fechando falhas da anterior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952500" y="2676525"/>
            <a:ext cx="5206901" cy="5638800"/>
          </a:xfrm>
          <a:prstGeom prst="rect">
            <a:avLst/>
          </a:prstGeom>
          <a:solidFill>
            <a:srgbClr val="FFFFFF">
              <a:alpha val="41961"/>
            </a:srgbClr>
          </a:solidFill>
          <a:ln cap="flat" cmpd="sng" w="47625">
            <a:solidFill>
              <a:srgbClr val="DDE3EC">
                <a:alpha val="4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1285875" y="2971800"/>
            <a:ext cx="4994166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1285875" y="3771900"/>
            <a:ext cx="4994166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Baseline funcional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1285875" y="4429125"/>
            <a:ext cx="46763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Chunking fixo (~2600 tokens) para todos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1285875" y="5514975"/>
            <a:ext cx="46763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Marcador de scanner como dica fraca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1285875" y="6600825"/>
            <a:ext cx="46763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Retry cego, em quebras de linha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6540401" y="2676525"/>
            <a:ext cx="5207050" cy="5638800"/>
          </a:xfrm>
          <a:prstGeom prst="rect">
            <a:avLst/>
          </a:prstGeom>
          <a:solidFill>
            <a:srgbClr val="F4F6FA"/>
          </a:solidFill>
          <a:ln cap="flat" cmpd="sng" w="47625">
            <a:solidFill>
              <a:srgbClr val="D9A21B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114300">
              <a:srgbClr val="0F2369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6873776" y="2971800"/>
            <a:ext cx="499433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21B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9A21B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6873776" y="3771900"/>
            <a:ext cx="467650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Segmentação ciente do scanner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6873776" y="485775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Fronteira de marcador é regra estrita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6873776" y="5943600"/>
            <a:ext cx="499433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Retry respeita os blocos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6873776" y="6534150"/>
            <a:ext cx="499433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Prompt mais diretivo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12128450" y="2676525"/>
            <a:ext cx="5207050" cy="5638800"/>
          </a:xfrm>
          <a:prstGeom prst="rect">
            <a:avLst/>
          </a:prstGeom>
          <a:solidFill>
            <a:srgbClr val="FFFFFF">
              <a:alpha val="41961"/>
            </a:srgbClr>
          </a:solidFill>
          <a:ln cap="flat" cmpd="sng" w="47625">
            <a:solidFill>
              <a:srgbClr val="DDE3EC">
                <a:alpha val="4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12461825" y="2971800"/>
            <a:ext cx="499433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9BD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12461825" y="3771900"/>
            <a:ext cx="467650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Ajuste por LLM + few-shot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12461825" y="485775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Chunk e tokenizer </a:t>
            </a:r>
            <a:r>
              <a:rPr lang="en-US" sz="3000">
                <a:solidFill>
                  <a:srgbClr val="666666"/>
                </a:solidFill>
              </a:rPr>
              <a:t>específico</a:t>
            </a:r>
            <a:r>
              <a:rPr b="0" i="0" lang="en-US" sz="3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 modelo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12461825" y="594360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Prompt 40% menor, com few-shot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12461825" y="702945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Reparo de JSON antes do retry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9" name="Google Shape;3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0" name="Google Shape;3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6"/>
          <p:cNvSpPr/>
          <p:nvPr/>
        </p:nvSpPr>
        <p:spPr>
          <a:xfrm>
            <a:off x="12468671" y="9677400"/>
            <a:ext cx="577261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Búzios/RJ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15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16" title="v1.png"/>
          <p:cNvPicPr preferRelativeResize="0"/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5099800" y="2828925"/>
            <a:ext cx="862423" cy="89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6" title="v3.png"/>
          <p:cNvPicPr preferRelativeResize="0"/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>
            <a:off x="16220075" y="2705862"/>
            <a:ext cx="10287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6" title="v2.png"/>
          <p:cNvPicPr preferRelativeResize="0"/>
          <p:nvPr/>
        </p:nvPicPr>
        <p:blipFill rotWithShape="1">
          <a:blip r:embed="rId10">
            <a:alphaModFix/>
          </a:blip>
          <a:srcRect b="28972" l="28087" r="27729" t="26763"/>
          <a:stretch/>
        </p:blipFill>
        <p:spPr>
          <a:xfrm>
            <a:off x="10829200" y="2859025"/>
            <a:ext cx="721075" cy="72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7"/>
          <p:cNvSpPr/>
          <p:nvPr/>
        </p:nvSpPr>
        <p:spPr>
          <a:xfrm>
            <a:off x="952500" y="7620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952500" y="1219200"/>
            <a:ext cx="1802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Três versões, cada uma fechando falhas da anterior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952500" y="2676525"/>
            <a:ext cx="5206901" cy="5638800"/>
          </a:xfrm>
          <a:prstGeom prst="rect">
            <a:avLst/>
          </a:prstGeom>
          <a:solidFill>
            <a:srgbClr val="FFFFFF">
              <a:alpha val="41961"/>
            </a:srgbClr>
          </a:solidFill>
          <a:ln cap="flat" cmpd="sng" w="47625">
            <a:solidFill>
              <a:srgbClr val="DDE3EC">
                <a:alpha val="4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1285875" y="2971800"/>
            <a:ext cx="4994166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9534F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1285875" y="3771900"/>
            <a:ext cx="4994166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Baseline funcional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1285875" y="4429125"/>
            <a:ext cx="46763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Chunking fixo (~2600 tokens) para todos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1285875" y="5514975"/>
            <a:ext cx="46763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Marcador de scanner como dica fraca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1285875" y="6600825"/>
            <a:ext cx="467635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Retry cego, em quebras de linha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6540401" y="2676525"/>
            <a:ext cx="5207050" cy="5638800"/>
          </a:xfrm>
          <a:prstGeom prst="rect">
            <a:avLst/>
          </a:prstGeom>
          <a:solidFill>
            <a:srgbClr val="FFFFFF">
              <a:alpha val="41961"/>
            </a:srgbClr>
          </a:solidFill>
          <a:ln cap="flat" cmpd="sng" w="47625">
            <a:solidFill>
              <a:srgbClr val="DDE3EC">
                <a:alpha val="4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6873776" y="2971800"/>
            <a:ext cx="499433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21B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9A21B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6873776" y="3771900"/>
            <a:ext cx="467650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Segmentação ciente do scanner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6873776" y="485775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Fronteira de marcador é regra estrita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6873776" y="5943600"/>
            <a:ext cx="499433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Retry respeita os blocos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6873776" y="6534150"/>
            <a:ext cx="499433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Prompt mais diretivo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12128450" y="2676525"/>
            <a:ext cx="5207050" cy="5638800"/>
          </a:xfrm>
          <a:prstGeom prst="rect">
            <a:avLst/>
          </a:prstGeom>
          <a:solidFill>
            <a:srgbClr val="F4F6FA"/>
          </a:solidFill>
          <a:ln cap="flat" cmpd="sng" w="47625">
            <a:solidFill>
              <a:srgbClr val="1279BD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114300">
              <a:srgbClr val="0F2369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7"/>
          <p:cNvSpPr/>
          <p:nvPr/>
        </p:nvSpPr>
        <p:spPr>
          <a:xfrm>
            <a:off x="12461825" y="2971800"/>
            <a:ext cx="499433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9BD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12461825" y="3771900"/>
            <a:ext cx="4676509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Ajuste por LLM + few-shot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12461825" y="485775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Chunk e tokenizer específico por modelo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12461825" y="594360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Prompt 40% menor, com few-shot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12461825" y="7029450"/>
            <a:ext cx="467650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Reparo de JSON antes do retry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2" name="Google Shape;3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3" name="Google Shape;3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4" name="Google Shape;38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5" name="Google Shape;38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6" name="Google Shape;38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7"/>
          <p:cNvSpPr/>
          <p:nvPr/>
        </p:nvSpPr>
        <p:spPr>
          <a:xfrm>
            <a:off x="12468671" y="9677400"/>
            <a:ext cx="577261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Búzios/RJ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16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17" title="v1.png"/>
          <p:cNvPicPr preferRelativeResize="0"/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5099800" y="2828925"/>
            <a:ext cx="862423" cy="89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17" title="v3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220075" y="2705862"/>
            <a:ext cx="10287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7" title="v2.png"/>
          <p:cNvPicPr preferRelativeResize="0"/>
          <p:nvPr/>
        </p:nvPicPr>
        <p:blipFill rotWithShape="1">
          <a:blip r:embed="rId10">
            <a:alphaModFix amt="30000"/>
          </a:blip>
          <a:srcRect b="28972" l="28087" r="27729" t="26763"/>
          <a:stretch/>
        </p:blipFill>
        <p:spPr>
          <a:xfrm>
            <a:off x="10829200" y="2859025"/>
            <a:ext cx="721075" cy="72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69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8" name="Google Shape;3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8"/>
          <p:cNvSpPr/>
          <p:nvPr/>
        </p:nvSpPr>
        <p:spPr>
          <a:xfrm>
            <a:off x="1524000" y="4095750"/>
            <a:ext cx="2564041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16500"/>
              <a:buFont typeface="Arial"/>
              <a:buNone/>
            </a:pPr>
            <a:r>
              <a:rPr b="1" i="0" lang="en-US" sz="165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4712196" y="4381500"/>
            <a:ext cx="132569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Avaliação experimental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4712196" y="5448300"/>
            <a:ext cx="13256984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450 execuções, 5 LLMs, 3 baselines curadas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FFFFFF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DDE3EC"/>
                </a:solidFill>
              </a:rPr>
              <a:t>17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"/>
          <p:cNvSpPr/>
          <p:nvPr/>
        </p:nvSpPr>
        <p:spPr>
          <a:xfrm>
            <a:off x="952500" y="7620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952500" y="1219200"/>
            <a:ext cx="1802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450 execuções sustentam cada número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952500" y="4362450"/>
            <a:ext cx="3262759" cy="1905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9"/>
          <p:cNvSpPr/>
          <p:nvPr/>
        </p:nvSpPr>
        <p:spPr>
          <a:xfrm>
            <a:off x="1143000" y="3400425"/>
            <a:ext cx="2979642" cy="885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Baselines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4215259" y="4362450"/>
            <a:ext cx="6333679" cy="1905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9"/>
          <p:cNvSpPr/>
          <p:nvPr/>
        </p:nvSpPr>
        <p:spPr>
          <a:xfrm>
            <a:off x="4405759" y="3400425"/>
            <a:ext cx="6142689" cy="885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Juice Shop (34) · bBWA (58) · Artifactory (116), OpenVAS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952500" y="5467350"/>
            <a:ext cx="3262759" cy="1905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9"/>
          <p:cNvSpPr/>
          <p:nvPr/>
        </p:nvSpPr>
        <p:spPr>
          <a:xfrm>
            <a:off x="1143000" y="4495800"/>
            <a:ext cx="2979642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4215259" y="5467350"/>
            <a:ext cx="6333679" cy="1905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9"/>
          <p:cNvSpPr/>
          <p:nvPr/>
        </p:nvSpPr>
        <p:spPr>
          <a:xfrm>
            <a:off x="4405759" y="4495800"/>
            <a:ext cx="6142689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DeepSeek, GPT-4, GPT-5, LLaMA 3, LLaMA 4 (APIs oficiais)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952500" y="6572250"/>
            <a:ext cx="3262759" cy="1905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9"/>
          <p:cNvSpPr/>
          <p:nvPr/>
        </p:nvSpPr>
        <p:spPr>
          <a:xfrm>
            <a:off x="1143000" y="5600700"/>
            <a:ext cx="2979642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Curadoria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4215259" y="6572250"/>
            <a:ext cx="6333679" cy="1905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9"/>
          <p:cNvSpPr/>
          <p:nvPr/>
        </p:nvSpPr>
        <p:spPr>
          <a:xfrm>
            <a:off x="4405759" y="5600700"/>
            <a:ext cx="6142689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Revisão independente por segundo especialista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952500" y="7677150"/>
            <a:ext cx="3262759" cy="1905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"/>
          <p:cNvSpPr/>
          <p:nvPr/>
        </p:nvSpPr>
        <p:spPr>
          <a:xfrm>
            <a:off x="1143000" y="6705600"/>
            <a:ext cx="2979642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Estatística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4215259" y="7677150"/>
            <a:ext cx="6333679" cy="1905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9"/>
          <p:cNvSpPr/>
          <p:nvPr/>
        </p:nvSpPr>
        <p:spPr>
          <a:xfrm>
            <a:off x="4405759" y="6705600"/>
            <a:ext cx="6142689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IC bootstrap 95%, N=150 por versão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11215688" y="3443288"/>
            <a:ext cx="6119813" cy="4105275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9"/>
          <p:cNvSpPr/>
          <p:nvPr/>
        </p:nvSpPr>
        <p:spPr>
          <a:xfrm>
            <a:off x="13242578" y="4014788"/>
            <a:ext cx="227263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667"/>
              </a:lnSpc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9750"/>
              <a:buFont typeface="Arial"/>
              <a:buNone/>
            </a:pPr>
            <a:r>
              <a:rPr b="1" i="0" lang="en-US" sz="975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450</a:t>
            </a:r>
            <a:endParaRPr b="0" i="0" sz="9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11904018" y="5405438"/>
            <a:ext cx="5217468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execuções independentes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11614428" y="5986463"/>
            <a:ext cx="5322332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3 versões × 5 modelos × 3 baselines × 10 execuções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2" name="Google Shape;4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3" name="Google Shape;43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4" name="Google Shape;43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5" name="Google Shape;43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9"/>
          <p:cNvSpPr/>
          <p:nvPr/>
        </p:nvSpPr>
        <p:spPr>
          <a:xfrm>
            <a:off x="12468671" y="9677400"/>
            <a:ext cx="577261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Búzios/RJ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18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"/>
          <p:cNvSpPr/>
          <p:nvPr/>
        </p:nvSpPr>
        <p:spPr>
          <a:xfrm>
            <a:off x="952500" y="7620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952500" y="1219200"/>
            <a:ext cx="1802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Quatro dimensões, oito métricas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990600" y="2914650"/>
            <a:ext cx="16344900" cy="933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0"/>
          <p:cNvSpPr/>
          <p:nvPr/>
        </p:nvSpPr>
        <p:spPr>
          <a:xfrm>
            <a:off x="990600" y="2914650"/>
            <a:ext cx="76200" cy="93345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0"/>
          <p:cNvSpPr/>
          <p:nvPr/>
        </p:nvSpPr>
        <p:spPr>
          <a:xfrm>
            <a:off x="1314450" y="3143250"/>
            <a:ext cx="50402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Cobertura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6686550" y="3143250"/>
            <a:ext cx="51164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registro omitido ou inventado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12134850" y="3143250"/>
            <a:ext cx="51164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700"/>
              <a:buFont typeface="Courier New"/>
              <a:buNone/>
            </a:pPr>
            <a:r>
              <a:rPr b="0" i="0" lang="en-US" sz="27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omissão = 1 − recall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990600" y="3848100"/>
            <a:ext cx="16344900" cy="14097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0"/>
          <p:cNvSpPr/>
          <p:nvPr/>
        </p:nvSpPr>
        <p:spPr>
          <a:xfrm>
            <a:off x="990600" y="3848100"/>
            <a:ext cx="76200" cy="14097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0"/>
          <p:cNvSpPr/>
          <p:nvPr/>
        </p:nvSpPr>
        <p:spPr>
          <a:xfrm>
            <a:off x="1314450" y="4076700"/>
            <a:ext cx="5040249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ERM e Field-F1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6686550" y="4076700"/>
            <a:ext cx="5116449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acerto exato dos campos determinísticos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12134850" y="4076700"/>
            <a:ext cx="5116449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700"/>
              <a:buFont typeface="Courier New"/>
              <a:buNone/>
            </a:pPr>
            <a:r>
              <a:rPr b="0" i="0" lang="en-US" sz="27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cvss: 7.5 · port: 443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990600" y="5257800"/>
            <a:ext cx="16344900" cy="140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0"/>
          <p:cNvSpPr/>
          <p:nvPr/>
        </p:nvSpPr>
        <p:spPr>
          <a:xfrm>
            <a:off x="990600" y="5257800"/>
            <a:ext cx="76200" cy="14097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0"/>
          <p:cNvSpPr/>
          <p:nvPr/>
        </p:nvSpPr>
        <p:spPr>
          <a:xfrm>
            <a:off x="1314450" y="5486400"/>
            <a:ext cx="5040249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279B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BERTScore e ROUGE-L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6686550" y="5486400"/>
            <a:ext cx="5116449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fidelidade dos campos narrativos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12134850" y="5486400"/>
            <a:ext cx="5116449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700"/>
              <a:buFont typeface="Courier New"/>
              <a:buNone/>
            </a:pPr>
            <a:r>
              <a:rPr b="0" i="0" lang="en-US" sz="27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insight · log_method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990600" y="6667500"/>
            <a:ext cx="16344900" cy="14097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"/>
          <p:cNvSpPr/>
          <p:nvPr/>
        </p:nvSpPr>
        <p:spPr>
          <a:xfrm>
            <a:off x="990600" y="6667500"/>
            <a:ext cx="76200" cy="14097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0"/>
          <p:cNvSpPr/>
          <p:nvPr/>
        </p:nvSpPr>
        <p:spPr>
          <a:xfrm>
            <a:off x="1314450" y="6896100"/>
            <a:ext cx="5040249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Severidade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6686550" y="6896100"/>
            <a:ext cx="5116449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macro-F1 por classe, ponderado pela cobertura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12134850" y="6896100"/>
            <a:ext cx="5116449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700"/>
              <a:buFont typeface="Courier New"/>
              <a:buNone/>
            </a:pPr>
            <a:r>
              <a:rPr b="0" i="0" lang="en-US" sz="27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log … critical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6" name="Google Shape;4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7" name="Google Shape;4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8" name="Google Shape;4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9" name="Google Shape;46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0" name="Google Shape;47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0"/>
          <p:cNvSpPr/>
          <p:nvPr/>
        </p:nvSpPr>
        <p:spPr>
          <a:xfrm>
            <a:off x="12394555" y="9677400"/>
            <a:ext cx="5854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Búzios, 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19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"/>
          <p:cNvSpPr/>
          <p:nvPr/>
        </p:nvSpPr>
        <p:spPr>
          <a:xfrm>
            <a:off x="571500" y="285750"/>
            <a:ext cx="17497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5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571500" y="1095375"/>
            <a:ext cx="17497425" cy="4981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Similaridade por modelo na maior baseline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1" name="Google Shape;4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8950" y="1763464"/>
            <a:ext cx="12230100" cy="80867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2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2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20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/>
          <p:nvPr/>
        </p:nvSpPr>
        <p:spPr>
          <a:xfrm>
            <a:off x="571500" y="706438"/>
            <a:ext cx="7346100" cy="371400"/>
          </a:xfrm>
          <a:prstGeom prst="roundRect">
            <a:avLst>
              <a:gd fmla="val 15385" name="adj"/>
            </a:avLst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85" name="Google Shape;485;p22"/>
          <p:cNvSpPr/>
          <p:nvPr/>
        </p:nvSpPr>
        <p:spPr>
          <a:xfrm>
            <a:off x="723900" y="704850"/>
            <a:ext cx="7484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2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BASELINE: ARTIFACTORY · 116 VULNERABILIDADES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3"/>
          <p:cNvSpPr/>
          <p:nvPr/>
        </p:nvSpPr>
        <p:spPr>
          <a:xfrm>
            <a:off x="571500" y="285750"/>
            <a:ext cx="17497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3"/>
          <p:cNvSpPr/>
          <p:nvPr/>
        </p:nvSpPr>
        <p:spPr>
          <a:xfrm>
            <a:off x="571500" y="1095375"/>
            <a:ext cx="17497425" cy="4981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Em V1 o resultado depende de qual modelo se usa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3" name="Google Shape;4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63464"/>
            <a:ext cx="12230100" cy="808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4" name="Google Shape;4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3464"/>
            <a:ext cx="12230098" cy="808672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3"/>
          <p:cNvSpPr/>
          <p:nvPr/>
        </p:nvSpPr>
        <p:spPr>
          <a:xfrm>
            <a:off x="13144500" y="4558258"/>
            <a:ext cx="114300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13449300" y="4558246"/>
            <a:ext cx="43953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b="1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V1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resultado depende do modelo:</a:t>
            </a:r>
            <a:r>
              <a:rPr lang="en-US" sz="3400">
                <a:solidFill>
                  <a:srgbClr val="1F2937"/>
                </a:solidFill>
              </a:rPr>
              <a:t>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ausência </a:t>
            </a:r>
            <a:r>
              <a:rPr lang="en-US" sz="3400">
                <a:solidFill>
                  <a:srgbClr val="1F2937"/>
                </a:solidFill>
              </a:rPr>
              <a:t>de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66% no gpt5.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250">
                <a:solidFill>
                  <a:srgbClr val="6B7280"/>
                </a:solidFill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/>
          <p:cNvSpPr/>
          <p:nvPr/>
        </p:nvSpPr>
        <p:spPr>
          <a:xfrm>
            <a:off x="571500" y="706438"/>
            <a:ext cx="7346100" cy="371400"/>
          </a:xfrm>
          <a:prstGeom prst="roundRect">
            <a:avLst>
              <a:gd fmla="val 15385" name="adj"/>
            </a:avLst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0" name="Google Shape;500;p23"/>
          <p:cNvSpPr/>
          <p:nvPr/>
        </p:nvSpPr>
        <p:spPr>
          <a:xfrm>
            <a:off x="723900" y="704850"/>
            <a:ext cx="7484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2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BASELINE: ARTIFACTORY · 116 VULNERABILIDADES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4"/>
          <p:cNvSpPr/>
          <p:nvPr/>
        </p:nvSpPr>
        <p:spPr>
          <a:xfrm>
            <a:off x="571500" y="285750"/>
            <a:ext cx="17497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571500" y="1095375"/>
            <a:ext cx="17497425" cy="4981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V2 generaliza a cobertura, mas não a qualidade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8" name="Google Shape;5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63464"/>
            <a:ext cx="12230100" cy="808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9" name="Google Shape;5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12" y="1763464"/>
            <a:ext cx="12230098" cy="808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4"/>
          <p:cNvSpPr/>
          <p:nvPr/>
        </p:nvSpPr>
        <p:spPr>
          <a:xfrm>
            <a:off x="13144500" y="4568577"/>
            <a:ext cx="114300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4"/>
          <p:cNvSpPr/>
          <p:nvPr/>
        </p:nvSpPr>
        <p:spPr>
          <a:xfrm>
            <a:off x="13449300" y="4568577"/>
            <a:ext cx="4395216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b="1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V2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quase todos os modelos passam a cobrir a baseline, mas parte do que volta fica em similaridade média.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4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250">
                <a:solidFill>
                  <a:srgbClr val="6B7280"/>
                </a:solidFill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4"/>
          <p:cNvSpPr/>
          <p:nvPr/>
        </p:nvSpPr>
        <p:spPr>
          <a:xfrm>
            <a:off x="571500" y="706438"/>
            <a:ext cx="7346100" cy="371400"/>
          </a:xfrm>
          <a:prstGeom prst="roundRect">
            <a:avLst>
              <a:gd fmla="val 15385" name="adj"/>
            </a:avLst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5" name="Google Shape;515;p24"/>
          <p:cNvSpPr/>
          <p:nvPr/>
        </p:nvSpPr>
        <p:spPr>
          <a:xfrm>
            <a:off x="723900" y="704850"/>
            <a:ext cx="7484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2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BASELINE: ARTIFACTORY · 116 VULNERABILIDADES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5"/>
          <p:cNvSpPr/>
          <p:nvPr/>
        </p:nvSpPr>
        <p:spPr>
          <a:xfrm>
            <a:off x="571500" y="285750"/>
            <a:ext cx="17497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571500" y="706438"/>
            <a:ext cx="7346100" cy="371400"/>
          </a:xfrm>
          <a:prstGeom prst="roundRect">
            <a:avLst>
              <a:gd fmla="val 15385" name="adj"/>
            </a:avLst>
          </a:prstGeom>
          <a:solidFill>
            <a:srgbClr val="0F2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3" name="Google Shape;523;p25"/>
          <p:cNvSpPr/>
          <p:nvPr/>
        </p:nvSpPr>
        <p:spPr>
          <a:xfrm>
            <a:off x="723900" y="704850"/>
            <a:ext cx="7484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2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BASELINE: ARTIFACTORY · 116 VULNERABILIDADES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571500" y="1095375"/>
            <a:ext cx="17497425" cy="4981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Em V3 as barras ficam quase todas em Altamente Similar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5" name="Google Shape;5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63464"/>
            <a:ext cx="12230100" cy="808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6" name="Google Shape;52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969" y="1763464"/>
            <a:ext cx="12230098" cy="808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5"/>
          <p:cNvSpPr/>
          <p:nvPr/>
        </p:nvSpPr>
        <p:spPr>
          <a:xfrm>
            <a:off x="13144500" y="4686846"/>
            <a:ext cx="114300" cy="11430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5"/>
          <p:cNvSpPr/>
          <p:nvPr/>
        </p:nvSpPr>
        <p:spPr>
          <a:xfrm>
            <a:off x="13449300" y="4686846"/>
            <a:ext cx="43953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salto real vem do V2: </a:t>
            </a:r>
            <a:r>
              <a:rPr b="1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+30 pontos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 Altamente Similar.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5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5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250">
                <a:solidFill>
                  <a:srgbClr val="6B7280"/>
                </a:solidFill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6"/>
          <p:cNvSpPr/>
          <p:nvPr/>
        </p:nvSpPr>
        <p:spPr>
          <a:xfrm>
            <a:off x="952500" y="7620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6"/>
          <p:cNvSpPr/>
          <p:nvPr/>
        </p:nvSpPr>
        <p:spPr>
          <a:xfrm>
            <a:off x="952500" y="1219200"/>
            <a:ext cx="1802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950"/>
              <a:buFont typeface="Arial"/>
              <a:buNone/>
            </a:pPr>
            <a:r>
              <a:rPr b="1" i="0" lang="en-US" sz="43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Em V3, toda baseline passa de 92% de similaridade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6"/>
          <p:cNvSpPr/>
          <p:nvPr/>
        </p:nvSpPr>
        <p:spPr>
          <a:xfrm>
            <a:off x="933840" y="2804100"/>
            <a:ext cx="16400100" cy="7575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39" name="Google Shape;539;p26"/>
          <p:cNvSpPr/>
          <p:nvPr/>
        </p:nvSpPr>
        <p:spPr>
          <a:xfrm>
            <a:off x="1202138" y="2949374"/>
            <a:ext cx="105630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68"/>
              <a:buFont typeface="Arial"/>
              <a:buNone/>
            </a:pPr>
            <a:r>
              <a:rPr b="1" i="0" lang="en-US" sz="348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BERTSCORE F1 · ALTAMENTE SIMILAR (≥ 0,7)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6"/>
          <p:cNvSpPr/>
          <p:nvPr/>
        </p:nvSpPr>
        <p:spPr>
          <a:xfrm>
            <a:off x="12111081" y="2949373"/>
            <a:ext cx="13917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68"/>
              <a:buFont typeface="Arial"/>
              <a:buNone/>
            </a:pPr>
            <a:r>
              <a:rPr b="1" i="0" lang="en-US" sz="348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6"/>
          <p:cNvSpPr/>
          <p:nvPr/>
        </p:nvSpPr>
        <p:spPr>
          <a:xfrm>
            <a:off x="13921811" y="2949373"/>
            <a:ext cx="13917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68"/>
              <a:buFont typeface="Arial"/>
              <a:buNone/>
            </a:pPr>
            <a:r>
              <a:rPr b="1" i="0" lang="en-US" sz="348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6"/>
          <p:cNvSpPr/>
          <p:nvPr/>
        </p:nvSpPr>
        <p:spPr>
          <a:xfrm>
            <a:off x="15732541" y="2949373"/>
            <a:ext cx="13920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3268"/>
              <a:buFont typeface="Arial"/>
              <a:buNone/>
            </a:pPr>
            <a:r>
              <a:rPr b="1" i="0" lang="en-US" sz="3486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6"/>
          <p:cNvSpPr/>
          <p:nvPr/>
        </p:nvSpPr>
        <p:spPr>
          <a:xfrm>
            <a:off x="933826" y="4267218"/>
            <a:ext cx="118707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44" name="Google Shape;544;p26"/>
          <p:cNvSpPr/>
          <p:nvPr/>
        </p:nvSpPr>
        <p:spPr>
          <a:xfrm>
            <a:off x="1181508" y="3686122"/>
            <a:ext cx="117315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68"/>
              <a:buFont typeface="Arial"/>
              <a:buNone/>
            </a:pPr>
            <a:r>
              <a:rPr b="0" i="0" lang="en-US" sz="3486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Juice Shop (34 vulnerabilidades)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6"/>
          <p:cNvSpPr/>
          <p:nvPr/>
        </p:nvSpPr>
        <p:spPr>
          <a:xfrm>
            <a:off x="11901314" y="4267218"/>
            <a:ext cx="18108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46" name="Google Shape;546;p26"/>
          <p:cNvSpPr/>
          <p:nvPr/>
        </p:nvSpPr>
        <p:spPr>
          <a:xfrm>
            <a:off x="12092012" y="3686122"/>
            <a:ext cx="14295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268"/>
              <a:buFont typeface="Arial"/>
              <a:buNone/>
            </a:pPr>
            <a:r>
              <a:rPr b="0" i="0" lang="en-US" sz="348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65,1%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6"/>
          <p:cNvSpPr/>
          <p:nvPr/>
        </p:nvSpPr>
        <p:spPr>
          <a:xfrm>
            <a:off x="13712044" y="4267218"/>
            <a:ext cx="18108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48" name="Google Shape;548;p26"/>
          <p:cNvSpPr/>
          <p:nvPr/>
        </p:nvSpPr>
        <p:spPr>
          <a:xfrm>
            <a:off x="13902741" y="3686122"/>
            <a:ext cx="14295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268"/>
              <a:buFont typeface="Arial"/>
              <a:buNone/>
            </a:pPr>
            <a:r>
              <a:rPr b="0" i="0" lang="en-US" sz="348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90,3%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"/>
          <p:cNvSpPr/>
          <p:nvPr/>
        </p:nvSpPr>
        <p:spPr>
          <a:xfrm>
            <a:off x="15522774" y="4267218"/>
            <a:ext cx="18114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50" name="Google Shape;550;p26"/>
          <p:cNvSpPr/>
          <p:nvPr/>
        </p:nvSpPr>
        <p:spPr>
          <a:xfrm>
            <a:off x="15713471" y="3686122"/>
            <a:ext cx="1429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3268"/>
              <a:buFont typeface="Arial"/>
              <a:buNone/>
            </a:pPr>
            <a:r>
              <a:rPr b="1" i="0" lang="en-US" sz="3486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98,6%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933826" y="5003966"/>
            <a:ext cx="118707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52" name="Google Shape;552;p26"/>
          <p:cNvSpPr/>
          <p:nvPr/>
        </p:nvSpPr>
        <p:spPr>
          <a:xfrm>
            <a:off x="1181508" y="4412493"/>
            <a:ext cx="117315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68"/>
              <a:buFont typeface="Arial"/>
              <a:buNone/>
            </a:pPr>
            <a:r>
              <a:rPr b="0" i="0" lang="en-US" sz="3486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bBWA (58 vulnerabilidades)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6"/>
          <p:cNvSpPr/>
          <p:nvPr/>
        </p:nvSpPr>
        <p:spPr>
          <a:xfrm>
            <a:off x="11901314" y="5003966"/>
            <a:ext cx="18108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54" name="Google Shape;554;p26"/>
          <p:cNvSpPr/>
          <p:nvPr/>
        </p:nvSpPr>
        <p:spPr>
          <a:xfrm>
            <a:off x="12092012" y="4412493"/>
            <a:ext cx="14295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268"/>
              <a:buFont typeface="Arial"/>
              <a:buNone/>
            </a:pPr>
            <a:r>
              <a:rPr b="0" i="0" lang="en-US" sz="348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79,5%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13712044" y="5003966"/>
            <a:ext cx="18108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56" name="Google Shape;556;p26"/>
          <p:cNvSpPr/>
          <p:nvPr/>
        </p:nvSpPr>
        <p:spPr>
          <a:xfrm>
            <a:off x="13902741" y="4412493"/>
            <a:ext cx="14295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268"/>
              <a:buFont typeface="Arial"/>
              <a:buNone/>
            </a:pPr>
            <a:r>
              <a:rPr b="0" i="0" lang="en-US" sz="348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84,1%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/>
          <p:nvPr/>
        </p:nvSpPr>
        <p:spPr>
          <a:xfrm>
            <a:off x="15522774" y="5003966"/>
            <a:ext cx="18114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58" name="Google Shape;558;p26"/>
          <p:cNvSpPr/>
          <p:nvPr/>
        </p:nvSpPr>
        <p:spPr>
          <a:xfrm>
            <a:off x="15713471" y="4412493"/>
            <a:ext cx="1429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3268"/>
              <a:buFont typeface="Arial"/>
              <a:buNone/>
            </a:pPr>
            <a:r>
              <a:rPr b="1" i="0" lang="en-US" sz="3486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96,5%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6"/>
          <p:cNvSpPr/>
          <p:nvPr/>
        </p:nvSpPr>
        <p:spPr>
          <a:xfrm>
            <a:off x="933826" y="5740714"/>
            <a:ext cx="118707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60" name="Google Shape;560;p26"/>
          <p:cNvSpPr/>
          <p:nvPr/>
        </p:nvSpPr>
        <p:spPr>
          <a:xfrm>
            <a:off x="1181508" y="5149240"/>
            <a:ext cx="117315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68"/>
              <a:buFont typeface="Arial"/>
              <a:buNone/>
            </a:pPr>
            <a:r>
              <a:rPr b="0" i="0" lang="en-US" sz="3486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Artifactory (116 vulnerabilidades)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6"/>
          <p:cNvSpPr/>
          <p:nvPr/>
        </p:nvSpPr>
        <p:spPr>
          <a:xfrm>
            <a:off x="12804481" y="5740714"/>
            <a:ext cx="19599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62" name="Google Shape;562;p26"/>
          <p:cNvSpPr/>
          <p:nvPr/>
        </p:nvSpPr>
        <p:spPr>
          <a:xfrm>
            <a:off x="12092012" y="5149240"/>
            <a:ext cx="14295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268"/>
              <a:buFont typeface="Arial"/>
              <a:buNone/>
            </a:pPr>
            <a:r>
              <a:rPr b="0" i="0" lang="en-US" sz="348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59,1%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14764326" y="5740714"/>
            <a:ext cx="19599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64" name="Google Shape;564;p26"/>
          <p:cNvSpPr/>
          <p:nvPr/>
        </p:nvSpPr>
        <p:spPr>
          <a:xfrm>
            <a:off x="13902741" y="5149240"/>
            <a:ext cx="14295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268"/>
              <a:buFont typeface="Arial"/>
              <a:buNone/>
            </a:pPr>
            <a:r>
              <a:rPr b="0" i="0" lang="en-US" sz="348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61,9%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16724181" y="5740714"/>
            <a:ext cx="630000" cy="210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66" name="Google Shape;566;p26"/>
          <p:cNvSpPr/>
          <p:nvPr/>
        </p:nvSpPr>
        <p:spPr>
          <a:xfrm>
            <a:off x="15713471" y="5149240"/>
            <a:ext cx="14298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675" lIns="27675" spcFirstLastPara="1" rIns="27675" wrap="square" tIns="276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3268"/>
              <a:buFont typeface="Arial"/>
              <a:buNone/>
            </a:pPr>
            <a:r>
              <a:rPr b="1" i="0" lang="en-US" sz="3486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92,2%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933826" y="6347752"/>
            <a:ext cx="144900" cy="1455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99600" lIns="99600" spcFirstLastPara="1" rIns="99600" wrap="square" tIns="9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3"/>
          </a:p>
        </p:txBody>
      </p:sp>
      <p:sp>
        <p:nvSpPr>
          <p:cNvPr id="568" name="Google Shape;568;p26"/>
          <p:cNvSpPr/>
          <p:nvPr/>
        </p:nvSpPr>
        <p:spPr>
          <a:xfrm>
            <a:off x="1325989" y="6186913"/>
            <a:ext cx="120870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675" lIns="27675" spcFirstLastPara="1" rIns="27675" wrap="square" tIns="276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68"/>
              <a:buFont typeface="Arial"/>
              <a:buNone/>
            </a:pPr>
            <a:r>
              <a:rPr b="0" i="0" lang="en-US" sz="3486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Registros ausentes caem para ≤ 3% em todas as baselines.</a:t>
            </a:r>
            <a:endParaRPr b="0" i="0" sz="3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9" name="Google Shape;5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0" name="Google Shape;5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1" name="Google Shape;57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2" name="Google Shape;57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3" name="Google Shape;57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6"/>
          <p:cNvSpPr/>
          <p:nvPr/>
        </p:nvSpPr>
        <p:spPr>
          <a:xfrm>
            <a:off x="12468671" y="9677400"/>
            <a:ext cx="577261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Búzios/RJ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250">
                <a:solidFill>
                  <a:srgbClr val="6B7280"/>
                </a:solidFill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7" name="Google Shape;577;p26" title="Gemini_Generated_Image_10t5ye10t5ye10t5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09424" y="7007762"/>
            <a:ext cx="10048963" cy="2492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7"/>
          <p:cNvSpPr/>
          <p:nvPr/>
        </p:nvSpPr>
        <p:spPr>
          <a:xfrm>
            <a:off x="571500" y="285750"/>
            <a:ext cx="17497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571500" y="666750"/>
            <a:ext cx="17497425" cy="4981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Alucinação no eixo horizontal, omissão no vertical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5" name="Google Shape;5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7250" y="1705500"/>
            <a:ext cx="13573475" cy="83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27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250">
                <a:solidFill>
                  <a:srgbClr val="6B7280"/>
                </a:solidFill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f9bc96bb8a_0_27"/>
          <p:cNvSpPr/>
          <p:nvPr/>
        </p:nvSpPr>
        <p:spPr>
          <a:xfrm>
            <a:off x="571500" y="285750"/>
            <a:ext cx="17497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9bc96bb8a_0_27"/>
          <p:cNvSpPr/>
          <p:nvPr/>
        </p:nvSpPr>
        <p:spPr>
          <a:xfrm>
            <a:off x="571500" y="666750"/>
            <a:ext cx="174975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V1 falha nos dois eixos ao mesmo tempo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5" name="Google Shape;595;g3f9bc96bb8a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00" y="1844425"/>
            <a:ext cx="13165474" cy="8069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6" name="Google Shape;596;g3f9bc96bb8a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00" y="1844424"/>
            <a:ext cx="13295997" cy="8149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g3f9bc96bb8a_0_27"/>
          <p:cNvSpPr/>
          <p:nvPr/>
        </p:nvSpPr>
        <p:spPr>
          <a:xfrm>
            <a:off x="14068125" y="3367725"/>
            <a:ext cx="81600" cy="22833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8" name="Google Shape;598;g3f9bc96bb8a_0_27"/>
          <p:cNvSpPr/>
          <p:nvPr/>
        </p:nvSpPr>
        <p:spPr>
          <a:xfrm>
            <a:off x="14285344" y="3367725"/>
            <a:ext cx="3132300" cy="50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b="1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V1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há configuração acima de 80% de omissão e outras passando de 30% de alucinação.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f9bc96bb8a_0_27"/>
          <p:cNvSpPr/>
          <p:nvPr/>
        </p:nvSpPr>
        <p:spPr>
          <a:xfrm>
            <a:off x="17246203" y="285750"/>
            <a:ext cx="660900" cy="40020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f9bc96bb8a_0_27"/>
          <p:cNvSpPr/>
          <p:nvPr/>
        </p:nvSpPr>
        <p:spPr>
          <a:xfrm>
            <a:off x="17417653" y="323850"/>
            <a:ext cx="384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26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f9bc96bb8a_0_39"/>
          <p:cNvSpPr/>
          <p:nvPr/>
        </p:nvSpPr>
        <p:spPr>
          <a:xfrm>
            <a:off x="571500" y="285750"/>
            <a:ext cx="17497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f9bc96bb8a_0_39"/>
          <p:cNvSpPr/>
          <p:nvPr/>
        </p:nvSpPr>
        <p:spPr>
          <a:xfrm>
            <a:off x="571500" y="666750"/>
            <a:ext cx="174975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V2 elimina os extremos, mas ainda omite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f9bc96bb8a_0_39"/>
          <p:cNvSpPr/>
          <p:nvPr/>
        </p:nvSpPr>
        <p:spPr>
          <a:xfrm>
            <a:off x="17246203" y="285750"/>
            <a:ext cx="660900" cy="40020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f9bc96bb8a_0_39"/>
          <p:cNvSpPr/>
          <p:nvPr/>
        </p:nvSpPr>
        <p:spPr>
          <a:xfrm>
            <a:off x="17417653" y="323850"/>
            <a:ext cx="384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27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0" name="Google Shape;610;g3f9bc96bb8a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00" y="1844425"/>
            <a:ext cx="13165474" cy="8069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1" name="Google Shape;611;g3f9bc96bb8a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462" y="1844425"/>
            <a:ext cx="13286688" cy="8069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g3f9bc96bb8a_0_39"/>
          <p:cNvSpPr/>
          <p:nvPr/>
        </p:nvSpPr>
        <p:spPr>
          <a:xfrm>
            <a:off x="14019355" y="3361905"/>
            <a:ext cx="72000" cy="24306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f9bc96bb8a_0_39"/>
          <p:cNvSpPr/>
          <p:nvPr/>
        </p:nvSpPr>
        <p:spPr>
          <a:xfrm>
            <a:off x="14211153" y="3361905"/>
            <a:ext cx="2766000" cy="4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b="1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V2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alucinação fica abaixo de 8%, mas a omissão ainda chega a 24%.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f9bc96bb8a_0_55"/>
          <p:cNvSpPr/>
          <p:nvPr/>
        </p:nvSpPr>
        <p:spPr>
          <a:xfrm>
            <a:off x="571500" y="285750"/>
            <a:ext cx="17497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f9bc96bb8a_0_55"/>
          <p:cNvSpPr/>
          <p:nvPr/>
        </p:nvSpPr>
        <p:spPr>
          <a:xfrm>
            <a:off x="571500" y="666750"/>
            <a:ext cx="174975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V3 colapsa no canto seguro do plano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f9bc96bb8a_0_55"/>
          <p:cNvSpPr/>
          <p:nvPr/>
        </p:nvSpPr>
        <p:spPr>
          <a:xfrm>
            <a:off x="17246203" y="285750"/>
            <a:ext cx="660900" cy="40020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f9bc96bb8a_0_55"/>
          <p:cNvSpPr/>
          <p:nvPr/>
        </p:nvSpPr>
        <p:spPr>
          <a:xfrm>
            <a:off x="17417653" y="323850"/>
            <a:ext cx="384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28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3" name="Google Shape;623;g3f9bc96bb8a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00" y="1844425"/>
            <a:ext cx="13165474" cy="8069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4" name="Google Shape;624;g3f9bc96bb8a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00" y="1802425"/>
            <a:ext cx="13165473" cy="81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g3f9bc96bb8a_0_55"/>
          <p:cNvSpPr/>
          <p:nvPr/>
        </p:nvSpPr>
        <p:spPr>
          <a:xfrm>
            <a:off x="14012074" y="3402669"/>
            <a:ext cx="80700" cy="19587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f9bc96bb8a_0_55"/>
          <p:cNvSpPr/>
          <p:nvPr/>
        </p:nvSpPr>
        <p:spPr>
          <a:xfrm>
            <a:off x="14227479" y="3402669"/>
            <a:ext cx="3106200" cy="43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b="1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V3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toda configuração fica com omissão abaixo de 6% e alucinação abaixo de 10%.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2" name="Google Shape;632;g3f4138a3f1b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2645" y="290850"/>
            <a:ext cx="11986356" cy="97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g3f4138a3f1b_0_6"/>
          <p:cNvSpPr/>
          <p:nvPr/>
        </p:nvSpPr>
        <p:spPr>
          <a:xfrm>
            <a:off x="571500" y="285750"/>
            <a:ext cx="17497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f4138a3f1b_0_6"/>
          <p:cNvSpPr/>
          <p:nvPr/>
        </p:nvSpPr>
        <p:spPr>
          <a:xfrm>
            <a:off x="571500" y="897075"/>
            <a:ext cx="4957500" cy="15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Omissão campo a campo, por modelo e versão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g3f4138a3f1b_0_6"/>
          <p:cNvSpPr/>
          <p:nvPr/>
        </p:nvSpPr>
        <p:spPr>
          <a:xfrm>
            <a:off x="17246203" y="285750"/>
            <a:ext cx="660900" cy="40020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f4138a3f1b_0_6"/>
          <p:cNvSpPr/>
          <p:nvPr/>
        </p:nvSpPr>
        <p:spPr>
          <a:xfrm>
            <a:off x="17417653" y="323850"/>
            <a:ext cx="384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29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7" name="Google Shape;637;g3f4138a3f1b_0_6" title="ChatGPT Image 30 de ago. de 2026, 15_14_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4706052"/>
            <a:ext cx="4725874" cy="35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3" name="Google Shape;643;g3f4138a3f1b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2645" y="290850"/>
            <a:ext cx="11986356" cy="970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4" name="Google Shape;644;g3f4138a3f1b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1050" y="323850"/>
            <a:ext cx="11986348" cy="9450675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3f4138a3f1b_0_15"/>
          <p:cNvSpPr/>
          <p:nvPr/>
        </p:nvSpPr>
        <p:spPr>
          <a:xfrm>
            <a:off x="571500" y="285750"/>
            <a:ext cx="16492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f4138a3f1b_0_15"/>
          <p:cNvSpPr/>
          <p:nvPr/>
        </p:nvSpPr>
        <p:spPr>
          <a:xfrm>
            <a:off x="571500" y="724326"/>
            <a:ext cx="5245500" cy="17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Em V1 a omissão depende do modelo escolhido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f4138a3f1b_0_15"/>
          <p:cNvSpPr/>
          <p:nvPr/>
        </p:nvSpPr>
        <p:spPr>
          <a:xfrm>
            <a:off x="571500" y="3651301"/>
            <a:ext cx="127500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f4138a3f1b_0_15"/>
          <p:cNvSpPr/>
          <p:nvPr/>
        </p:nvSpPr>
        <p:spPr>
          <a:xfrm>
            <a:off x="911669" y="3651313"/>
            <a:ext cx="4905300" cy="5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lang="en-US" sz="3400">
                <a:solidFill>
                  <a:srgbClr val="1F2937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Nas linhas </a:t>
            </a:r>
            <a:r>
              <a:rPr b="1" lang="en-US" sz="3400">
                <a:solidFill>
                  <a:srgbClr val="1F2937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V1</a:t>
            </a:r>
            <a:r>
              <a:rPr lang="en-US" sz="3400">
                <a:solidFill>
                  <a:srgbClr val="1F2937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a omissão por campo vai de 12,1% no melhor modelo a 53,9% no pior: </a:t>
            </a:r>
            <a:r>
              <a:rPr b="1" lang="en-US" sz="3400">
                <a:solidFill>
                  <a:srgbClr val="1F2937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41,8 pp</a:t>
            </a:r>
            <a:r>
              <a:rPr lang="en-US" sz="3400">
                <a:solidFill>
                  <a:srgbClr val="1F2937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de dispersão. O pior caso é o </a:t>
            </a:r>
            <a:r>
              <a:rPr b="1" lang="en-US" sz="3400">
                <a:solidFill>
                  <a:srgbClr val="1F2937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gpt5</a:t>
            </a:r>
            <a:r>
              <a:rPr lang="en-US" sz="3400">
                <a:solidFill>
                  <a:srgbClr val="1F2937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, que omite de 66 a 81% dos campos.</a:t>
            </a:r>
            <a:r>
              <a:rPr lang="en-US" sz="1500">
                <a:solidFill>
                  <a:schemeClr val="dk1"/>
                </a:solidFill>
              </a:rPr>
              <a:t> 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f4138a3f1b_0_15"/>
          <p:cNvSpPr/>
          <p:nvPr/>
        </p:nvSpPr>
        <p:spPr>
          <a:xfrm>
            <a:off x="17246203" y="285750"/>
            <a:ext cx="660900" cy="40020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f4138a3f1b_0_15"/>
          <p:cNvSpPr/>
          <p:nvPr/>
        </p:nvSpPr>
        <p:spPr>
          <a:xfrm>
            <a:off x="17417653" y="323850"/>
            <a:ext cx="384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30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6" name="Google Shape;65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2645" y="290850"/>
            <a:ext cx="11986356" cy="97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33"/>
          <p:cNvSpPr/>
          <p:nvPr/>
        </p:nvSpPr>
        <p:spPr>
          <a:xfrm>
            <a:off x="571500" y="285750"/>
            <a:ext cx="17497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3"/>
          <p:cNvSpPr/>
          <p:nvPr/>
        </p:nvSpPr>
        <p:spPr>
          <a:xfrm>
            <a:off x="571500" y="781903"/>
            <a:ext cx="5226300" cy="19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Em V2 todos melhoram, mas de forma desigual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9" name="Google Shape;65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1400" y="285466"/>
            <a:ext cx="11897526" cy="9635484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3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3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250">
                <a:solidFill>
                  <a:srgbClr val="6B7280"/>
                </a:solidFill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3"/>
          <p:cNvSpPr/>
          <p:nvPr/>
        </p:nvSpPr>
        <p:spPr>
          <a:xfrm>
            <a:off x="571500" y="3636700"/>
            <a:ext cx="114300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3"/>
          <p:cNvSpPr/>
          <p:nvPr/>
        </p:nvSpPr>
        <p:spPr>
          <a:xfrm>
            <a:off x="876300" y="3636711"/>
            <a:ext cx="4441800" cy="29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Nas linhas </a:t>
            </a:r>
            <a:r>
              <a:rPr b="1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V2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dispersão cai para </a:t>
            </a:r>
            <a:r>
              <a:rPr b="1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14,7 pp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(2,8× menor), mas a escolha do modelo ainda importa.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9" name="Google Shape;669;g3f4138a3f1b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2645" y="290850"/>
            <a:ext cx="11986356" cy="97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g3f4138a3f1b_0_47"/>
          <p:cNvSpPr/>
          <p:nvPr/>
        </p:nvSpPr>
        <p:spPr>
          <a:xfrm>
            <a:off x="571500" y="285750"/>
            <a:ext cx="17497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3f4138a3f1b_0_47"/>
          <p:cNvSpPr/>
          <p:nvPr/>
        </p:nvSpPr>
        <p:spPr>
          <a:xfrm>
            <a:off x="571500" y="781903"/>
            <a:ext cx="54951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Em V3 as linhas ficam uniformes: 2,9 pp de dispersão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2" name="Google Shape;672;g3f4138a3f1b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1850" y="112731"/>
            <a:ext cx="11942973" cy="9806648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g3f4138a3f1b_0_47"/>
          <p:cNvSpPr/>
          <p:nvPr/>
        </p:nvSpPr>
        <p:spPr>
          <a:xfrm>
            <a:off x="17246203" y="285750"/>
            <a:ext cx="660900" cy="40020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f4138a3f1b_0_47"/>
          <p:cNvSpPr/>
          <p:nvPr/>
        </p:nvSpPr>
        <p:spPr>
          <a:xfrm>
            <a:off x="17417653" y="323850"/>
            <a:ext cx="384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250">
                <a:solidFill>
                  <a:srgbClr val="6B7280"/>
                </a:solidFill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g3f4138a3f1b_0_47"/>
          <p:cNvSpPr/>
          <p:nvPr/>
        </p:nvSpPr>
        <p:spPr>
          <a:xfrm>
            <a:off x="571500" y="3646222"/>
            <a:ext cx="114600" cy="11430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g3f4138a3f1b_0_47"/>
          <p:cNvSpPr/>
          <p:nvPr/>
        </p:nvSpPr>
        <p:spPr>
          <a:xfrm>
            <a:off x="876819" y="3646221"/>
            <a:ext cx="4402800" cy="3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Nas linhas </a:t>
            </a:r>
            <a:r>
              <a:rPr b="1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V3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os modelos ficam equivalentes: </a:t>
            </a:r>
            <a:r>
              <a:rPr b="1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2,9 pp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separam o melhor do pior (14× menor que em V1).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2" name="Google Shape;682;g3f4138a3f1b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2645" y="290850"/>
            <a:ext cx="11986356" cy="97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g3f4138a3f1b_0_67"/>
          <p:cNvSpPr/>
          <p:nvPr/>
        </p:nvSpPr>
        <p:spPr>
          <a:xfrm>
            <a:off x="571500" y="285750"/>
            <a:ext cx="17497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g3f4138a3f1b_0_67"/>
          <p:cNvSpPr/>
          <p:nvPr/>
        </p:nvSpPr>
        <p:spPr>
          <a:xfrm>
            <a:off x="571500" y="781903"/>
            <a:ext cx="5360700" cy="18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150"/>
              <a:buFont typeface="Arial"/>
              <a:buNone/>
            </a:pPr>
            <a:r>
              <a:rPr b="1" i="0" lang="en-US" sz="41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Três colunas resistem em todas as versões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5" name="Google Shape;685;g3f4138a3f1b_0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1425" y="271658"/>
            <a:ext cx="11832601" cy="9705302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g3f4138a3f1b_0_67"/>
          <p:cNvSpPr/>
          <p:nvPr/>
        </p:nvSpPr>
        <p:spPr>
          <a:xfrm>
            <a:off x="17246203" y="285750"/>
            <a:ext cx="660900" cy="40020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f4138a3f1b_0_67"/>
          <p:cNvSpPr/>
          <p:nvPr/>
        </p:nvSpPr>
        <p:spPr>
          <a:xfrm>
            <a:off x="17417653" y="323850"/>
            <a:ext cx="384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250">
                <a:solidFill>
                  <a:srgbClr val="6B7280"/>
                </a:solidFill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f4138a3f1b_0_67"/>
          <p:cNvSpPr/>
          <p:nvPr/>
        </p:nvSpPr>
        <p:spPr>
          <a:xfrm>
            <a:off x="571500" y="3618403"/>
            <a:ext cx="126900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3f4138a3f1b_0_67"/>
          <p:cNvSpPr/>
          <p:nvPr/>
        </p:nvSpPr>
        <p:spPr>
          <a:xfrm>
            <a:off x="909862" y="3618429"/>
            <a:ext cx="45234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Arial"/>
              <a:buNone/>
            </a:pPr>
            <a:r>
              <a:rPr lang="en-US" sz="3400">
                <a:solidFill>
                  <a:srgbClr val="1F2937"/>
                </a:solidFill>
              </a:rPr>
              <a:t>Alguns campos ainda 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seguem laranja em toda versão: limite d</a:t>
            </a:r>
            <a:r>
              <a:rPr lang="en-US" sz="3400">
                <a:solidFill>
                  <a:srgbClr val="1F2937"/>
                </a:solidFill>
              </a:rPr>
              <a:t>a extração</a:t>
            </a:r>
            <a:r>
              <a:rPr b="0" i="0" lang="en-US" sz="3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, não do modelo.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69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5" name="Google Shape;6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37"/>
          <p:cNvSpPr/>
          <p:nvPr/>
        </p:nvSpPr>
        <p:spPr>
          <a:xfrm>
            <a:off x="1524000" y="4095750"/>
            <a:ext cx="2564041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6957"/>
              </a:lnSpc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16500"/>
              <a:buFont typeface="Arial"/>
              <a:buNone/>
            </a:pPr>
            <a:r>
              <a:rPr b="1" i="0" lang="en-US" sz="165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7"/>
          <p:cNvSpPr/>
          <p:nvPr/>
        </p:nvSpPr>
        <p:spPr>
          <a:xfrm>
            <a:off x="4712196" y="4381500"/>
            <a:ext cx="132569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7"/>
          <p:cNvSpPr/>
          <p:nvPr/>
        </p:nvSpPr>
        <p:spPr>
          <a:xfrm>
            <a:off x="4712196" y="5448300"/>
            <a:ext cx="13256984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O que fica e para onde vamos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7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FFFFFF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7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250">
                <a:solidFill>
                  <a:srgbClr val="DDE3EC"/>
                </a:solidFill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8"/>
          <p:cNvSpPr/>
          <p:nvPr/>
        </p:nvSpPr>
        <p:spPr>
          <a:xfrm>
            <a:off x="952500" y="7620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8"/>
          <p:cNvSpPr/>
          <p:nvPr/>
        </p:nvSpPr>
        <p:spPr>
          <a:xfrm>
            <a:off x="952500" y="1219200"/>
            <a:ext cx="1802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Engenharia de pipeline, não troca de modelo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8"/>
          <p:cNvSpPr/>
          <p:nvPr/>
        </p:nvSpPr>
        <p:spPr>
          <a:xfrm>
            <a:off x="491877" y="3494550"/>
            <a:ext cx="51231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75" lIns="26275" spcFirstLastPara="1" rIns="26275" wrap="square" tIns="26275">
            <a:normAutofit/>
          </a:bodyPr>
          <a:lstStyle/>
          <a:p>
            <a:pPr indent="0" lvl="0" marL="0" marR="0" rtl="0" algn="l">
              <a:lnSpc>
                <a:spcPct val="8739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8072"/>
              <a:buFont typeface="Arial"/>
              <a:buNone/>
            </a:pPr>
            <a:r>
              <a:rPr b="1" i="0" lang="en-US" sz="827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90,4%</a:t>
            </a:r>
            <a:endParaRPr b="0" i="0" sz="82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8"/>
          <p:cNvSpPr/>
          <p:nvPr/>
        </p:nvSpPr>
        <p:spPr>
          <a:xfrm>
            <a:off x="491877" y="4657700"/>
            <a:ext cx="51231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75" lIns="26275" spcFirstLastPara="1" rIns="26275" wrap="square" tIns="26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3415"/>
              <a:buFont typeface="Arial"/>
              <a:buNone/>
            </a:pPr>
            <a:r>
              <a:rPr b="1" i="0" lang="en-US" sz="3622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O pipeline é a alavanca</a:t>
            </a:r>
            <a:endParaRPr b="0" i="0" sz="36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8"/>
          <p:cNvSpPr/>
          <p:nvPr/>
        </p:nvSpPr>
        <p:spPr>
          <a:xfrm>
            <a:off x="491866" y="5288558"/>
            <a:ext cx="5388600" cy="591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625" lIns="94625" spcFirstLastPara="1" rIns="94625" wrap="square" tIns="9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6"/>
          </a:p>
        </p:txBody>
      </p:sp>
      <p:sp>
        <p:nvSpPr>
          <p:cNvPr id="711" name="Google Shape;711;p38"/>
          <p:cNvSpPr/>
          <p:nvPr/>
        </p:nvSpPr>
        <p:spPr>
          <a:xfrm>
            <a:off x="491878" y="5485700"/>
            <a:ext cx="5475300" cy="15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75" lIns="26275" spcFirstLastPara="1" rIns="26275" wrap="square" tIns="26275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105"/>
              <a:buFont typeface="Arial"/>
              <a:buNone/>
            </a:pPr>
            <a:r>
              <a:rPr b="0" i="0" lang="en-US" sz="3312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Campos determinísticos exatos, contra 37,5% em V1, sem trocar de modelo.</a:t>
            </a:r>
            <a:endParaRPr b="0" i="0" sz="33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8"/>
          <p:cNvSpPr/>
          <p:nvPr/>
        </p:nvSpPr>
        <p:spPr>
          <a:xfrm>
            <a:off x="6521678" y="3494550"/>
            <a:ext cx="52920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75" lIns="26275" spcFirstLastPara="1" rIns="26275" wrap="square" tIns="26275">
            <a:normAutofit/>
          </a:bodyPr>
          <a:lstStyle/>
          <a:p>
            <a:pPr indent="0" lvl="0" marL="0" marR="0" rtl="0" algn="l">
              <a:lnSpc>
                <a:spcPct val="8739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8072"/>
              <a:buFont typeface="Arial"/>
              <a:buNone/>
            </a:pPr>
            <a:r>
              <a:rPr b="1" i="0" lang="en-US" sz="827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12×</a:t>
            </a:r>
            <a:endParaRPr b="0" i="0" sz="82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8"/>
          <p:cNvSpPr/>
          <p:nvPr/>
        </p:nvSpPr>
        <p:spPr>
          <a:xfrm>
            <a:off x="6521678" y="4657700"/>
            <a:ext cx="52920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75" lIns="26275" spcFirstLastPara="1" rIns="26275" wrap="square" tIns="26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3415"/>
              <a:buFont typeface="Arial"/>
              <a:buNone/>
            </a:pPr>
            <a:r>
              <a:rPr b="1" i="0" lang="en-US" sz="3622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Menos perda silenciosa</a:t>
            </a:r>
            <a:endParaRPr b="0" i="0" sz="36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8"/>
          <p:cNvSpPr/>
          <p:nvPr/>
        </p:nvSpPr>
        <p:spPr>
          <a:xfrm>
            <a:off x="6521671" y="5288558"/>
            <a:ext cx="5388600" cy="591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625" lIns="94625" spcFirstLastPara="1" rIns="94625" wrap="square" tIns="9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6"/>
          </a:p>
        </p:txBody>
      </p:sp>
      <p:sp>
        <p:nvSpPr>
          <p:cNvPr id="715" name="Google Shape;715;p38"/>
          <p:cNvSpPr/>
          <p:nvPr/>
        </p:nvSpPr>
        <p:spPr>
          <a:xfrm>
            <a:off x="6521678" y="5485700"/>
            <a:ext cx="54753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75" lIns="26275" spcFirstLastPara="1" rIns="26275" wrap="square" tIns="26275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105"/>
              <a:buFont typeface="Arial"/>
              <a:buNone/>
            </a:pPr>
            <a:r>
              <a:rPr b="0" i="0" lang="en-US" sz="3312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 omissão cai de 20,5% para 1,7%: o registro chega à base.</a:t>
            </a:r>
            <a:endParaRPr b="0" i="0" sz="33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8"/>
          <p:cNvSpPr/>
          <p:nvPr/>
        </p:nvSpPr>
        <p:spPr>
          <a:xfrm>
            <a:off x="12551478" y="3494550"/>
            <a:ext cx="51231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75" lIns="26275" spcFirstLastPara="1" rIns="26275" wrap="square" tIns="26275">
            <a:normAutofit/>
          </a:bodyPr>
          <a:lstStyle/>
          <a:p>
            <a:pPr indent="0" lvl="0" marL="0" marR="0" rtl="0" algn="l">
              <a:lnSpc>
                <a:spcPct val="87395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8072"/>
              <a:buFont typeface="Arial"/>
              <a:buNone/>
            </a:pPr>
            <a:r>
              <a:rPr b="1" i="0" lang="en-US" sz="827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2,9 pp</a:t>
            </a:r>
            <a:endParaRPr b="0" i="0" sz="82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8"/>
          <p:cNvSpPr/>
          <p:nvPr/>
        </p:nvSpPr>
        <p:spPr>
          <a:xfrm>
            <a:off x="12551478" y="4657700"/>
            <a:ext cx="51231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75" lIns="26275" spcFirstLastPara="1" rIns="26275" wrap="square" tIns="26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3415"/>
              <a:buFont typeface="Arial"/>
              <a:buNone/>
            </a:pPr>
            <a:r>
              <a:rPr b="1" i="0" lang="en-US" sz="3622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O LLM deixa de decidir</a:t>
            </a:r>
            <a:endParaRPr b="0" i="0" sz="36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8"/>
          <p:cNvSpPr/>
          <p:nvPr/>
        </p:nvSpPr>
        <p:spPr>
          <a:xfrm>
            <a:off x="12551479" y="5288558"/>
            <a:ext cx="5388600" cy="591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625" lIns="94625" spcFirstLastPara="1" rIns="94625" wrap="square" tIns="9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6"/>
          </a:p>
        </p:txBody>
      </p:sp>
      <p:sp>
        <p:nvSpPr>
          <p:cNvPr id="719" name="Google Shape;719;p38"/>
          <p:cNvSpPr/>
          <p:nvPr/>
        </p:nvSpPr>
        <p:spPr>
          <a:xfrm>
            <a:off x="12551478" y="5485700"/>
            <a:ext cx="5292000" cy="20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6275" lIns="26275" spcFirstLastPara="1" rIns="26275" wrap="square" tIns="26275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105"/>
              <a:buFont typeface="Arial"/>
              <a:buNone/>
            </a:pPr>
            <a:r>
              <a:rPr b="0" i="0" lang="en-US" sz="3312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Dispersão da omissão entre os cinco modelos, contra 41,8 pp em V1: a escolha vira custo e latência.</a:t>
            </a:r>
            <a:endParaRPr b="0" i="0" sz="33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0" name="Google Shape;72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1" name="Google Shape;72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2" name="Google Shape;72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3" name="Google Shape;723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4" name="Google Shape;724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8"/>
          <p:cNvSpPr/>
          <p:nvPr/>
        </p:nvSpPr>
        <p:spPr>
          <a:xfrm>
            <a:off x="12394555" y="9677400"/>
            <a:ext cx="5854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Búzios, 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8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8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250">
                <a:solidFill>
                  <a:srgbClr val="6B7280"/>
                </a:solidFill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9"/>
          <p:cNvSpPr/>
          <p:nvPr/>
        </p:nvSpPr>
        <p:spPr>
          <a:xfrm>
            <a:off x="952500" y="7620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9"/>
          <p:cNvSpPr/>
          <p:nvPr/>
        </p:nvSpPr>
        <p:spPr>
          <a:xfrm>
            <a:off x="952500" y="1219200"/>
            <a:ext cx="1802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Trabalhos futuros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9"/>
          <p:cNvSpPr/>
          <p:nvPr/>
        </p:nvSpPr>
        <p:spPr>
          <a:xfrm>
            <a:off x="683050" y="3299250"/>
            <a:ext cx="8232600" cy="21561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75" lIns="94075" spcFirstLastPara="1" rIns="94075" wrap="square" tIns="9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736" name="Google Shape;736;p39"/>
          <p:cNvSpPr/>
          <p:nvPr/>
        </p:nvSpPr>
        <p:spPr>
          <a:xfrm>
            <a:off x="683050" y="3222475"/>
            <a:ext cx="78300" cy="21561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4075" lIns="94075" spcFirstLastPara="1" rIns="94075" wrap="square" tIns="9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737" name="Google Shape;737;p39"/>
          <p:cNvSpPr/>
          <p:nvPr/>
        </p:nvSpPr>
        <p:spPr>
          <a:xfrm>
            <a:off x="1075076" y="3573668"/>
            <a:ext cx="827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3396"/>
              <a:buFont typeface="Arial"/>
              <a:buNone/>
            </a:pPr>
            <a:r>
              <a:rPr b="1" i="0" lang="en-US" sz="360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Mais scanners</a:t>
            </a:r>
            <a:endParaRPr b="0" i="0" sz="36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9"/>
          <p:cNvSpPr/>
          <p:nvPr/>
        </p:nvSpPr>
        <p:spPr>
          <a:xfrm>
            <a:off x="1075076" y="4161708"/>
            <a:ext cx="77526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87"/>
              <a:buFont typeface="Arial"/>
              <a:buNone/>
            </a:pPr>
            <a:r>
              <a:rPr b="0" i="0" lang="en-US" sz="3293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Tenable WAS em escala e outros formatos de relatório.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9"/>
          <p:cNvSpPr/>
          <p:nvPr/>
        </p:nvSpPr>
        <p:spPr>
          <a:xfrm>
            <a:off x="9307628" y="3299250"/>
            <a:ext cx="8232600" cy="21561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75" lIns="94075" spcFirstLastPara="1" rIns="94075" wrap="square" tIns="9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740" name="Google Shape;740;p39"/>
          <p:cNvSpPr/>
          <p:nvPr/>
        </p:nvSpPr>
        <p:spPr>
          <a:xfrm>
            <a:off x="9307628" y="3299250"/>
            <a:ext cx="78300" cy="21561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4075" lIns="94075" spcFirstLastPara="1" rIns="94075" wrap="square" tIns="9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741" name="Google Shape;741;p39"/>
          <p:cNvSpPr/>
          <p:nvPr/>
        </p:nvSpPr>
        <p:spPr>
          <a:xfrm>
            <a:off x="9699650" y="3573675"/>
            <a:ext cx="7752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3396"/>
              <a:buFont typeface="Arial"/>
              <a:buNone/>
            </a:pPr>
            <a:r>
              <a:rPr b="1" i="0" lang="en-US" sz="3601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Mais baselines</a:t>
            </a:r>
            <a:endParaRPr b="0" i="0" sz="36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9"/>
          <p:cNvSpPr/>
          <p:nvPr/>
        </p:nvSpPr>
        <p:spPr>
          <a:xfrm>
            <a:off x="9699655" y="4161708"/>
            <a:ext cx="77526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87"/>
              <a:buFont typeface="Arial"/>
              <a:buNone/>
            </a:pPr>
            <a:r>
              <a:rPr b="0" i="0" lang="en-US" sz="3293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Mais alvos curados, em outras categorias de aplicação.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9"/>
          <p:cNvSpPr/>
          <p:nvPr/>
        </p:nvSpPr>
        <p:spPr>
          <a:xfrm>
            <a:off x="683050" y="5847420"/>
            <a:ext cx="8232600" cy="21561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75" lIns="94075" spcFirstLastPara="1" rIns="94075" wrap="square" tIns="9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744" name="Google Shape;744;p39"/>
          <p:cNvSpPr/>
          <p:nvPr/>
        </p:nvSpPr>
        <p:spPr>
          <a:xfrm>
            <a:off x="683050" y="5770645"/>
            <a:ext cx="78300" cy="21561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94075" lIns="94075" spcFirstLastPara="1" rIns="94075" wrap="square" tIns="9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745" name="Google Shape;745;p39"/>
          <p:cNvSpPr/>
          <p:nvPr/>
        </p:nvSpPr>
        <p:spPr>
          <a:xfrm>
            <a:off x="1075076" y="6121838"/>
            <a:ext cx="827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79BD"/>
              </a:buClr>
              <a:buSzPts val="3396"/>
              <a:buFont typeface="Arial"/>
              <a:buNone/>
            </a:pPr>
            <a:r>
              <a:rPr b="1" i="0" lang="en-US" sz="3601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Modelos locais</a:t>
            </a:r>
            <a:endParaRPr b="0" i="0" sz="36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9"/>
          <p:cNvSpPr/>
          <p:nvPr/>
        </p:nvSpPr>
        <p:spPr>
          <a:xfrm>
            <a:off x="1075076" y="6709878"/>
            <a:ext cx="77526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87"/>
              <a:buFont typeface="Arial"/>
              <a:buNone/>
            </a:pPr>
            <a:r>
              <a:rPr b="0" i="0" lang="en-US" sz="3293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Pré-requisito para ambientes isolados e dados sob a LGPD.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9"/>
          <p:cNvSpPr/>
          <p:nvPr/>
        </p:nvSpPr>
        <p:spPr>
          <a:xfrm>
            <a:off x="9307628" y="5847420"/>
            <a:ext cx="8232600" cy="21561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75" lIns="94075" spcFirstLastPara="1" rIns="94075" wrap="square" tIns="9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748" name="Google Shape;748;p39"/>
          <p:cNvSpPr/>
          <p:nvPr/>
        </p:nvSpPr>
        <p:spPr>
          <a:xfrm>
            <a:off x="9307628" y="5847420"/>
            <a:ext cx="78300" cy="21561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94075" lIns="94075" spcFirstLastPara="1" rIns="94075" wrap="square" tIns="94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749" name="Google Shape;749;p39"/>
          <p:cNvSpPr/>
          <p:nvPr/>
        </p:nvSpPr>
        <p:spPr>
          <a:xfrm>
            <a:off x="9699650" y="6121850"/>
            <a:ext cx="79053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3396"/>
              <a:buFont typeface="Arial"/>
              <a:buNone/>
            </a:pPr>
            <a:r>
              <a:rPr b="1" i="0" lang="en-US" sz="3601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Iteração V4</a:t>
            </a:r>
            <a:endParaRPr b="0" i="0" sz="36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9"/>
          <p:cNvSpPr/>
          <p:nvPr/>
        </p:nvSpPr>
        <p:spPr>
          <a:xfrm>
            <a:off x="9699655" y="6709878"/>
            <a:ext cx="77526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087"/>
              <a:buFont typeface="Arial"/>
              <a:buNone/>
            </a:pPr>
            <a:r>
              <a:rPr b="0" i="0" lang="en-US" sz="3293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Re-extração ciente do campo para a omissão crônica.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1" name="Google Shape;75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2" name="Google Shape;75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3" name="Google Shape;75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4" name="Google Shape;754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5" name="Google Shape;755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39"/>
          <p:cNvSpPr/>
          <p:nvPr/>
        </p:nvSpPr>
        <p:spPr>
          <a:xfrm>
            <a:off x="12394555" y="9677400"/>
            <a:ext cx="5854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Búzios, 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9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9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36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69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0"/>
          <p:cNvSpPr/>
          <p:nvPr/>
        </p:nvSpPr>
        <p:spPr>
          <a:xfrm>
            <a:off x="0" y="0"/>
            <a:ext cx="18288000" cy="13335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5" name="Google Shape;76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40"/>
          <p:cNvSpPr/>
          <p:nvPr/>
        </p:nvSpPr>
        <p:spPr>
          <a:xfrm>
            <a:off x="1047750" y="2247900"/>
            <a:ext cx="9010650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0"/>
              <a:buFont typeface="Arial"/>
              <a:buNone/>
            </a:pPr>
            <a:r>
              <a:rPr b="1" i="0" lang="en-US" sz="8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Obrigada!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0"/>
          <p:cNvSpPr/>
          <p:nvPr/>
        </p:nvSpPr>
        <p:spPr>
          <a:xfrm>
            <a:off x="1047750" y="3800475"/>
            <a:ext cx="1143000" cy="5715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40"/>
          <p:cNvSpPr/>
          <p:nvPr/>
        </p:nvSpPr>
        <p:spPr>
          <a:xfrm>
            <a:off x="1047750" y="4200525"/>
            <a:ext cx="901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Perguntas são bem-vindas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0"/>
          <p:cNvSpPr/>
          <p:nvPr/>
        </p:nvSpPr>
        <p:spPr>
          <a:xfrm>
            <a:off x="1047750" y="5057775"/>
            <a:ext cx="90106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AUTORA DE CONTATO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0"/>
          <p:cNvSpPr/>
          <p:nvPr/>
        </p:nvSpPr>
        <p:spPr>
          <a:xfrm>
            <a:off x="1047750" y="5581650"/>
            <a:ext cx="9010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Beatriz Machado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0"/>
          <p:cNvSpPr/>
          <p:nvPr/>
        </p:nvSpPr>
        <p:spPr>
          <a:xfrm>
            <a:off x="1047750" y="6134100"/>
            <a:ext cx="90106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beatrizmachado.aluno@unipampa.edu.br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0"/>
          <p:cNvSpPr/>
          <p:nvPr/>
        </p:nvSpPr>
        <p:spPr>
          <a:xfrm>
            <a:off x="1047750" y="6657975"/>
            <a:ext cx="90106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AI Horizon Labs · UNIPAMPA · PPGES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0"/>
          <p:cNvSpPr/>
          <p:nvPr/>
        </p:nvSpPr>
        <p:spPr>
          <a:xfrm>
            <a:off x="10191750" y="2805113"/>
            <a:ext cx="3143250" cy="31432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4" name="Google Shape;77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1300" y="3014663"/>
            <a:ext cx="272415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40"/>
          <p:cNvSpPr/>
          <p:nvPr/>
        </p:nvSpPr>
        <p:spPr>
          <a:xfrm>
            <a:off x="10272459" y="6100763"/>
            <a:ext cx="2981831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AI Horizon Labs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0"/>
          <p:cNvSpPr/>
          <p:nvPr/>
        </p:nvSpPr>
        <p:spPr>
          <a:xfrm>
            <a:off x="14097000" y="2805113"/>
            <a:ext cx="3143250" cy="31432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7" name="Google Shape;777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306550" y="3014663"/>
            <a:ext cx="272415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0"/>
          <p:cNvSpPr/>
          <p:nvPr/>
        </p:nvSpPr>
        <p:spPr>
          <a:xfrm>
            <a:off x="14608604" y="6100763"/>
            <a:ext cx="211989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Repositório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0"/>
          <p:cNvSpPr/>
          <p:nvPr/>
        </p:nvSpPr>
        <p:spPr>
          <a:xfrm>
            <a:off x="0" y="9201150"/>
            <a:ext cx="18288000" cy="1085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0" name="Google Shape;780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9496425"/>
            <a:ext cx="2026593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1" name="Google Shape;781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07743" y="9467850"/>
            <a:ext cx="83879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2" name="Google Shape;782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79938" y="9448800"/>
            <a:ext cx="5905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3" name="Google Shape;783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579352" y="9496425"/>
            <a:ext cx="89282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4" name="Google Shape;784;p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891272" y="9467850"/>
            <a:ext cx="538014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5" name="Google Shape;785;p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848386" y="9448800"/>
            <a:ext cx="391864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69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1" name="Google Shape;79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41"/>
          <p:cNvSpPr/>
          <p:nvPr/>
        </p:nvSpPr>
        <p:spPr>
          <a:xfrm>
            <a:off x="1524000" y="4410075"/>
            <a:ext cx="1676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Slides de reserva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1"/>
          <p:cNvSpPr/>
          <p:nvPr/>
        </p:nvSpPr>
        <p:spPr>
          <a:xfrm>
            <a:off x="1524000" y="5476875"/>
            <a:ext cx="16764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Tabelas completas e perguntas prováveis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1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FFFFFF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41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DDE3EC"/>
                </a:solidFill>
              </a:rPr>
              <a:t>38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2"/>
          <p:cNvSpPr/>
          <p:nvPr/>
        </p:nvSpPr>
        <p:spPr>
          <a:xfrm>
            <a:off x="952500" y="4191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SLIDE RESERVA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2"/>
          <p:cNvSpPr/>
          <p:nvPr/>
        </p:nvSpPr>
        <p:spPr>
          <a:xfrm>
            <a:off x="952500" y="838200"/>
            <a:ext cx="18021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Métricas agregadas por versão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42"/>
          <p:cNvSpPr/>
          <p:nvPr/>
        </p:nvSpPr>
        <p:spPr>
          <a:xfrm>
            <a:off x="523950" y="1662071"/>
            <a:ext cx="17240100" cy="611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6225" lIns="96225" spcFirstLastPara="1" rIns="96225" wrap="square" tIns="9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8"/>
          </a:p>
        </p:txBody>
      </p:sp>
      <p:sp>
        <p:nvSpPr>
          <p:cNvPr id="804" name="Google Shape;804;p42"/>
          <p:cNvSpPr/>
          <p:nvPr/>
        </p:nvSpPr>
        <p:spPr>
          <a:xfrm>
            <a:off x="744465" y="1782351"/>
            <a:ext cx="3110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26"/>
              <a:buFont typeface="Arial"/>
              <a:buNone/>
            </a:pPr>
            <a:r>
              <a:rPr b="1" i="0" lang="en-US" sz="26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Métrica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2"/>
          <p:cNvSpPr/>
          <p:nvPr/>
        </p:nvSpPr>
        <p:spPr>
          <a:xfrm>
            <a:off x="4140794" y="1782351"/>
            <a:ext cx="3110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26"/>
              <a:buFont typeface="Arial"/>
              <a:buNone/>
            </a:pPr>
            <a:r>
              <a:rPr b="1" i="0" lang="en-US" sz="26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42"/>
          <p:cNvSpPr/>
          <p:nvPr/>
        </p:nvSpPr>
        <p:spPr>
          <a:xfrm>
            <a:off x="7588844" y="1782351"/>
            <a:ext cx="3110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26"/>
              <a:buFont typeface="Arial"/>
              <a:buNone/>
            </a:pPr>
            <a:r>
              <a:rPr b="1" i="0" lang="en-US" sz="26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2"/>
          <p:cNvSpPr/>
          <p:nvPr/>
        </p:nvSpPr>
        <p:spPr>
          <a:xfrm>
            <a:off x="11036894" y="1782351"/>
            <a:ext cx="3110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26"/>
              <a:buFont typeface="Arial"/>
              <a:buNone/>
            </a:pPr>
            <a:r>
              <a:rPr b="1" i="0" lang="en-US" sz="26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2"/>
          <p:cNvSpPr/>
          <p:nvPr/>
        </p:nvSpPr>
        <p:spPr>
          <a:xfrm>
            <a:off x="14484944" y="1782351"/>
            <a:ext cx="31104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26"/>
              <a:buFont typeface="Arial"/>
              <a:buNone/>
            </a:pPr>
            <a:r>
              <a:rPr b="1" i="0" lang="en-US" sz="263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IC 95% (V3)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2"/>
          <p:cNvSpPr/>
          <p:nvPr/>
        </p:nvSpPr>
        <p:spPr>
          <a:xfrm>
            <a:off x="523950" y="2273496"/>
            <a:ext cx="17240100" cy="99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6225" lIns="96225" spcFirstLastPara="1" rIns="96225" wrap="square" tIns="9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99"/>
          </a:p>
        </p:txBody>
      </p:sp>
      <p:sp>
        <p:nvSpPr>
          <p:cNvPr id="810" name="Google Shape;810;p42"/>
          <p:cNvSpPr/>
          <p:nvPr/>
        </p:nvSpPr>
        <p:spPr>
          <a:xfrm>
            <a:off x="744465" y="2383753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l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263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Pares casados por execução ↑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2"/>
          <p:cNvSpPr/>
          <p:nvPr/>
        </p:nvSpPr>
        <p:spPr>
          <a:xfrm>
            <a:off x="4140794" y="2383753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54,0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2"/>
          <p:cNvSpPr/>
          <p:nvPr/>
        </p:nvSpPr>
        <p:spPr>
          <a:xfrm>
            <a:off x="7588844" y="2383753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63,7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2"/>
          <p:cNvSpPr/>
          <p:nvPr/>
        </p:nvSpPr>
        <p:spPr>
          <a:xfrm>
            <a:off x="11036894" y="2383753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526"/>
              <a:buFont typeface="Arial"/>
              <a:buNone/>
            </a:pPr>
            <a:r>
              <a:rPr b="1" i="0" lang="en-US" sz="305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67,8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42"/>
          <p:cNvSpPr/>
          <p:nvPr/>
        </p:nvSpPr>
        <p:spPr>
          <a:xfrm>
            <a:off x="14484944" y="2383753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52"/>
              <a:buFont typeface="Arial"/>
              <a:buNone/>
            </a:pPr>
            <a:r>
              <a:rPr b="0" i="0" lang="en-US" sz="2578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[62,8 – 73,2]</a:t>
            </a:r>
            <a:endParaRPr b="0" i="0" sz="25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2"/>
          <p:cNvSpPr/>
          <p:nvPr/>
        </p:nvSpPr>
        <p:spPr>
          <a:xfrm>
            <a:off x="523950" y="3263615"/>
            <a:ext cx="17240100" cy="9903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6225" lIns="96225" spcFirstLastPara="1" rIns="96225" wrap="square" tIns="9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99"/>
          </a:p>
        </p:txBody>
      </p:sp>
      <p:sp>
        <p:nvSpPr>
          <p:cNvPr id="816" name="Google Shape;816;p42"/>
          <p:cNvSpPr/>
          <p:nvPr/>
        </p:nvSpPr>
        <p:spPr>
          <a:xfrm>
            <a:off x="744465" y="3373872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l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263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Alucinação, vulnerabilidade ↓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2"/>
          <p:cNvSpPr/>
          <p:nvPr/>
        </p:nvSpPr>
        <p:spPr>
          <a:xfrm>
            <a:off x="4140794" y="3373872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7,1%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2"/>
          <p:cNvSpPr/>
          <p:nvPr/>
        </p:nvSpPr>
        <p:spPr>
          <a:xfrm>
            <a:off x="7588844" y="3373872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526"/>
              <a:buFont typeface="Arial"/>
              <a:buNone/>
            </a:pPr>
            <a:r>
              <a:rPr b="1" i="0" lang="en-US" sz="305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5,7%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2"/>
          <p:cNvSpPr/>
          <p:nvPr/>
        </p:nvSpPr>
        <p:spPr>
          <a:xfrm>
            <a:off x="11036894" y="3373872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6,8%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2"/>
          <p:cNvSpPr/>
          <p:nvPr/>
        </p:nvSpPr>
        <p:spPr>
          <a:xfrm>
            <a:off x="14484944" y="3373872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52"/>
              <a:buFont typeface="Arial"/>
              <a:buNone/>
            </a:pPr>
            <a:r>
              <a:rPr b="0" i="0" lang="en-US" sz="2578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[6,3 – 7,4]</a:t>
            </a:r>
            <a:endParaRPr b="0" i="0" sz="25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2"/>
          <p:cNvSpPr/>
          <p:nvPr/>
        </p:nvSpPr>
        <p:spPr>
          <a:xfrm>
            <a:off x="523950" y="4253734"/>
            <a:ext cx="17240100" cy="99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6225" lIns="96225" spcFirstLastPara="1" rIns="96225" wrap="square" tIns="9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99"/>
          </a:p>
        </p:txBody>
      </p:sp>
      <p:sp>
        <p:nvSpPr>
          <p:cNvPr id="822" name="Google Shape;822;p42"/>
          <p:cNvSpPr/>
          <p:nvPr/>
        </p:nvSpPr>
        <p:spPr>
          <a:xfrm>
            <a:off x="744465" y="4363991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l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263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Omissão, vulnerabilidade ↓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2"/>
          <p:cNvSpPr/>
          <p:nvPr/>
        </p:nvSpPr>
        <p:spPr>
          <a:xfrm>
            <a:off x="4140794" y="4363991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20,5%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2"/>
          <p:cNvSpPr/>
          <p:nvPr/>
        </p:nvSpPr>
        <p:spPr>
          <a:xfrm>
            <a:off x="7588844" y="4363991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8,1%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2"/>
          <p:cNvSpPr/>
          <p:nvPr/>
        </p:nvSpPr>
        <p:spPr>
          <a:xfrm>
            <a:off x="11036894" y="4363991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526"/>
              <a:buFont typeface="Arial"/>
              <a:buNone/>
            </a:pPr>
            <a:r>
              <a:rPr b="1" i="0" lang="en-US" sz="305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1,7%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2"/>
          <p:cNvSpPr/>
          <p:nvPr/>
        </p:nvSpPr>
        <p:spPr>
          <a:xfrm>
            <a:off x="14484944" y="4363991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52"/>
              <a:buFont typeface="Arial"/>
              <a:buNone/>
            </a:pPr>
            <a:r>
              <a:rPr b="0" i="0" lang="en-US" sz="2578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[1,4 – 2,0]</a:t>
            </a:r>
            <a:endParaRPr b="0" i="0" sz="25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2"/>
          <p:cNvSpPr/>
          <p:nvPr/>
        </p:nvSpPr>
        <p:spPr>
          <a:xfrm>
            <a:off x="523950" y="5243855"/>
            <a:ext cx="17240100" cy="9903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6225" lIns="96225" spcFirstLastPara="1" rIns="96225" wrap="square" tIns="9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99"/>
          </a:p>
        </p:txBody>
      </p:sp>
      <p:sp>
        <p:nvSpPr>
          <p:cNvPr id="828" name="Google Shape;828;p42"/>
          <p:cNvSpPr/>
          <p:nvPr/>
        </p:nvSpPr>
        <p:spPr>
          <a:xfrm>
            <a:off x="744465" y="5354112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l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263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Exact Record Match ↑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2"/>
          <p:cNvSpPr/>
          <p:nvPr/>
        </p:nvSpPr>
        <p:spPr>
          <a:xfrm>
            <a:off x="4140794" y="5354112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37,5%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2"/>
          <p:cNvSpPr/>
          <p:nvPr/>
        </p:nvSpPr>
        <p:spPr>
          <a:xfrm>
            <a:off x="7588844" y="5354112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88,0%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2"/>
          <p:cNvSpPr/>
          <p:nvPr/>
        </p:nvSpPr>
        <p:spPr>
          <a:xfrm>
            <a:off x="11036894" y="5354112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526"/>
              <a:buFont typeface="Arial"/>
              <a:buNone/>
            </a:pPr>
            <a:r>
              <a:rPr b="1" i="0" lang="en-US" sz="305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90,4%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2"/>
          <p:cNvSpPr/>
          <p:nvPr/>
        </p:nvSpPr>
        <p:spPr>
          <a:xfrm>
            <a:off x="14484944" y="5354112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52"/>
              <a:buFont typeface="Arial"/>
              <a:buNone/>
            </a:pPr>
            <a:r>
              <a:rPr b="0" i="0" lang="en-US" sz="2578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[89,3 – 91,5]</a:t>
            </a:r>
            <a:endParaRPr b="0" i="0" sz="25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2"/>
          <p:cNvSpPr/>
          <p:nvPr/>
        </p:nvSpPr>
        <p:spPr>
          <a:xfrm>
            <a:off x="523950" y="6233974"/>
            <a:ext cx="17240100" cy="60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6225" lIns="96225" spcFirstLastPara="1" rIns="96225" wrap="square" tIns="9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99"/>
          </a:p>
        </p:txBody>
      </p:sp>
      <p:sp>
        <p:nvSpPr>
          <p:cNvPr id="834" name="Google Shape;834;p42"/>
          <p:cNvSpPr/>
          <p:nvPr/>
        </p:nvSpPr>
        <p:spPr>
          <a:xfrm>
            <a:off x="744465" y="6344231"/>
            <a:ext cx="3110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l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263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Alucinação, campo ↓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2"/>
          <p:cNvSpPr/>
          <p:nvPr/>
        </p:nvSpPr>
        <p:spPr>
          <a:xfrm>
            <a:off x="4140794" y="6344231"/>
            <a:ext cx="3110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6,8%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2"/>
          <p:cNvSpPr/>
          <p:nvPr/>
        </p:nvSpPr>
        <p:spPr>
          <a:xfrm>
            <a:off x="7588844" y="6344231"/>
            <a:ext cx="3110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4,9%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2"/>
          <p:cNvSpPr/>
          <p:nvPr/>
        </p:nvSpPr>
        <p:spPr>
          <a:xfrm>
            <a:off x="11036894" y="6344231"/>
            <a:ext cx="3110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526"/>
              <a:buFont typeface="Arial"/>
              <a:buNone/>
            </a:pPr>
            <a:r>
              <a:rPr b="1" i="0" lang="en-US" sz="305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4,5%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2"/>
          <p:cNvSpPr/>
          <p:nvPr/>
        </p:nvSpPr>
        <p:spPr>
          <a:xfrm>
            <a:off x="14484944" y="6344231"/>
            <a:ext cx="3110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52"/>
              <a:buFont typeface="Arial"/>
              <a:buNone/>
            </a:pPr>
            <a:r>
              <a:rPr b="0" i="0" lang="en-US" sz="2578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[4,3 – 4,8]</a:t>
            </a:r>
            <a:endParaRPr b="0" i="0" sz="25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2"/>
          <p:cNvSpPr/>
          <p:nvPr/>
        </p:nvSpPr>
        <p:spPr>
          <a:xfrm>
            <a:off x="523950" y="6839291"/>
            <a:ext cx="17240100" cy="6051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6225" lIns="96225" spcFirstLastPara="1" rIns="96225" wrap="square" tIns="9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99"/>
          </a:p>
        </p:txBody>
      </p:sp>
      <p:sp>
        <p:nvSpPr>
          <p:cNvPr id="840" name="Google Shape;840;p42"/>
          <p:cNvSpPr/>
          <p:nvPr/>
        </p:nvSpPr>
        <p:spPr>
          <a:xfrm>
            <a:off x="744465" y="6949548"/>
            <a:ext cx="3110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l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263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Omissão, campo ↓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2"/>
          <p:cNvSpPr/>
          <p:nvPr/>
        </p:nvSpPr>
        <p:spPr>
          <a:xfrm>
            <a:off x="4140794" y="6949548"/>
            <a:ext cx="3110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25,1%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2"/>
          <p:cNvSpPr/>
          <p:nvPr/>
        </p:nvSpPr>
        <p:spPr>
          <a:xfrm>
            <a:off x="7588844" y="6949548"/>
            <a:ext cx="3110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12,5%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2"/>
          <p:cNvSpPr/>
          <p:nvPr/>
        </p:nvSpPr>
        <p:spPr>
          <a:xfrm>
            <a:off x="11036894" y="6949548"/>
            <a:ext cx="3110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526"/>
              <a:buFont typeface="Arial"/>
              <a:buNone/>
            </a:pPr>
            <a:r>
              <a:rPr b="1" i="0" lang="en-US" sz="305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8,3%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2"/>
          <p:cNvSpPr/>
          <p:nvPr/>
        </p:nvSpPr>
        <p:spPr>
          <a:xfrm>
            <a:off x="14484944" y="6949548"/>
            <a:ext cx="3110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52"/>
              <a:buFont typeface="Arial"/>
              <a:buNone/>
            </a:pPr>
            <a:r>
              <a:rPr b="0" i="0" lang="en-US" sz="2578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[7,4 – 9,2]</a:t>
            </a:r>
            <a:endParaRPr b="0" i="0" sz="25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2"/>
          <p:cNvSpPr/>
          <p:nvPr/>
        </p:nvSpPr>
        <p:spPr>
          <a:xfrm>
            <a:off x="523950" y="7444608"/>
            <a:ext cx="17240100" cy="99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6225" lIns="96225" spcFirstLastPara="1" rIns="96225" wrap="square" tIns="9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99"/>
          </a:p>
        </p:txBody>
      </p:sp>
      <p:sp>
        <p:nvSpPr>
          <p:cNvPr id="846" name="Google Shape;846;p42"/>
          <p:cNvSpPr/>
          <p:nvPr/>
        </p:nvSpPr>
        <p:spPr>
          <a:xfrm>
            <a:off x="744465" y="7554865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l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263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Macro F1 de severidade ↑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4140794" y="7554865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94,8%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7588844" y="7554865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526"/>
              <a:buFont typeface="Arial"/>
              <a:buNone/>
            </a:pPr>
            <a:r>
              <a:rPr b="1" i="0" lang="en-US" sz="305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97,7%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2"/>
          <p:cNvSpPr/>
          <p:nvPr/>
        </p:nvSpPr>
        <p:spPr>
          <a:xfrm>
            <a:off x="11036894" y="7554865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97,0%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2"/>
          <p:cNvSpPr/>
          <p:nvPr/>
        </p:nvSpPr>
        <p:spPr>
          <a:xfrm>
            <a:off x="14484944" y="7554865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52"/>
              <a:buFont typeface="Arial"/>
              <a:buNone/>
            </a:pPr>
            <a:r>
              <a:rPr b="0" i="0" lang="en-US" sz="2578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[96,5 – 97,5]</a:t>
            </a:r>
            <a:endParaRPr b="0" i="0" sz="25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2"/>
          <p:cNvSpPr/>
          <p:nvPr/>
        </p:nvSpPr>
        <p:spPr>
          <a:xfrm>
            <a:off x="523950" y="8434728"/>
            <a:ext cx="17240100" cy="9903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6225" lIns="96225" spcFirstLastPara="1" rIns="96225" wrap="square" tIns="9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99"/>
          </a:p>
        </p:txBody>
      </p:sp>
      <p:sp>
        <p:nvSpPr>
          <p:cNvPr id="852" name="Google Shape;852;p42"/>
          <p:cNvSpPr/>
          <p:nvPr/>
        </p:nvSpPr>
        <p:spPr>
          <a:xfrm>
            <a:off x="744465" y="8544984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l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2631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Macro F1 ciente da cobertura ↑</a:t>
            </a:r>
            <a:endParaRPr b="0" i="0" sz="26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2"/>
          <p:cNvSpPr/>
          <p:nvPr/>
        </p:nvSpPr>
        <p:spPr>
          <a:xfrm>
            <a:off x="4140794" y="8544984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79,6%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42"/>
          <p:cNvSpPr/>
          <p:nvPr/>
        </p:nvSpPr>
        <p:spPr>
          <a:xfrm>
            <a:off x="7588844" y="8544984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526"/>
              <a:buFont typeface="Arial"/>
              <a:buNone/>
            </a:pPr>
            <a:r>
              <a:rPr b="0" i="0" lang="en-US" sz="3052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90,4%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2"/>
          <p:cNvSpPr/>
          <p:nvPr/>
        </p:nvSpPr>
        <p:spPr>
          <a:xfrm>
            <a:off x="11036894" y="8544984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526"/>
              <a:buFont typeface="Arial"/>
              <a:buNone/>
            </a:pPr>
            <a:r>
              <a:rPr b="1" i="0" lang="en-US" sz="305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91,3%</a:t>
            </a:r>
            <a:endParaRPr b="0" i="0" sz="305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2"/>
          <p:cNvSpPr/>
          <p:nvPr/>
        </p:nvSpPr>
        <p:spPr>
          <a:xfrm>
            <a:off x="14484944" y="8544984"/>
            <a:ext cx="3110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25" lIns="26725" spcFirstLastPara="1" rIns="26725" wrap="square" tIns="26725">
            <a:normAutofit/>
          </a:bodyPr>
          <a:lstStyle/>
          <a:p>
            <a:pPr indent="0" lvl="0" marL="0" marR="0" rtl="0" algn="ctr">
              <a:lnSpc>
                <a:spcPct val="100645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52"/>
              <a:buFont typeface="Arial"/>
              <a:buNone/>
            </a:pPr>
            <a:r>
              <a:rPr b="0" i="0" lang="en-US" sz="2578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[90,5 – 92,1]</a:t>
            </a:r>
            <a:endParaRPr b="0" i="0" sz="25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7" name="Google Shape;85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58" name="Google Shape;85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59" name="Google Shape;859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0" name="Google Shape;860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1" name="Google Shape;861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42"/>
          <p:cNvSpPr/>
          <p:nvPr/>
        </p:nvSpPr>
        <p:spPr>
          <a:xfrm>
            <a:off x="12394555" y="9677400"/>
            <a:ext cx="5854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Búzios, 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2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2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6B7280"/>
                </a:solidFill>
              </a:rPr>
              <a:t>39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3"/>
          <p:cNvSpPr/>
          <p:nvPr/>
        </p:nvSpPr>
        <p:spPr>
          <a:xfrm>
            <a:off x="952500" y="4191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SLIDE RESERVA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3"/>
          <p:cNvSpPr/>
          <p:nvPr/>
        </p:nvSpPr>
        <p:spPr>
          <a:xfrm>
            <a:off x="952500" y="838200"/>
            <a:ext cx="18021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Similaridade e ausência por baseline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3"/>
          <p:cNvSpPr/>
          <p:nvPr/>
        </p:nvSpPr>
        <p:spPr>
          <a:xfrm>
            <a:off x="179475" y="3108975"/>
            <a:ext cx="17896500" cy="6348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/>
          </a:p>
        </p:txBody>
      </p:sp>
      <p:sp>
        <p:nvSpPr>
          <p:cNvPr id="873" name="Google Shape;873;p43"/>
          <p:cNvSpPr/>
          <p:nvPr/>
        </p:nvSpPr>
        <p:spPr>
          <a:xfrm>
            <a:off x="408383" y="3233834"/>
            <a:ext cx="21822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3"/>
          <p:cNvSpPr/>
          <p:nvPr/>
        </p:nvSpPr>
        <p:spPr>
          <a:xfrm>
            <a:off x="2849858" y="3233834"/>
            <a:ext cx="74418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Altamente Similar ↑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3"/>
          <p:cNvSpPr/>
          <p:nvPr/>
        </p:nvSpPr>
        <p:spPr>
          <a:xfrm>
            <a:off x="10405548" y="3108975"/>
            <a:ext cx="41400" cy="6348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/>
          </a:p>
        </p:txBody>
      </p:sp>
      <p:sp>
        <p:nvSpPr>
          <p:cNvPr id="876" name="Google Shape;876;p43"/>
          <p:cNvSpPr/>
          <p:nvPr/>
        </p:nvSpPr>
        <p:spPr>
          <a:xfrm>
            <a:off x="10561020" y="3233834"/>
            <a:ext cx="7401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Ausente ↓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3"/>
          <p:cNvSpPr/>
          <p:nvPr/>
        </p:nvSpPr>
        <p:spPr>
          <a:xfrm>
            <a:off x="179475" y="3743674"/>
            <a:ext cx="17896500" cy="6348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/>
          </a:p>
        </p:txBody>
      </p:sp>
      <p:sp>
        <p:nvSpPr>
          <p:cNvPr id="878" name="Google Shape;878;p43"/>
          <p:cNvSpPr/>
          <p:nvPr/>
        </p:nvSpPr>
        <p:spPr>
          <a:xfrm>
            <a:off x="2923281" y="3868532"/>
            <a:ext cx="21822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3"/>
          <p:cNvSpPr/>
          <p:nvPr/>
        </p:nvSpPr>
        <p:spPr>
          <a:xfrm>
            <a:off x="5479801" y="3868532"/>
            <a:ext cx="21822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3"/>
          <p:cNvSpPr/>
          <p:nvPr/>
        </p:nvSpPr>
        <p:spPr>
          <a:xfrm>
            <a:off x="8036319" y="3868532"/>
            <a:ext cx="21822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43"/>
          <p:cNvSpPr/>
          <p:nvPr/>
        </p:nvSpPr>
        <p:spPr>
          <a:xfrm>
            <a:off x="10405548" y="3743674"/>
            <a:ext cx="41400" cy="6348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/>
          </a:p>
        </p:txBody>
      </p:sp>
      <p:sp>
        <p:nvSpPr>
          <p:cNvPr id="882" name="Google Shape;882;p43"/>
          <p:cNvSpPr/>
          <p:nvPr/>
        </p:nvSpPr>
        <p:spPr>
          <a:xfrm>
            <a:off x="10634456" y="3868532"/>
            <a:ext cx="21402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3"/>
          <p:cNvSpPr/>
          <p:nvPr/>
        </p:nvSpPr>
        <p:spPr>
          <a:xfrm>
            <a:off x="13149355" y="3868532"/>
            <a:ext cx="21822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3"/>
          <p:cNvSpPr/>
          <p:nvPr/>
        </p:nvSpPr>
        <p:spPr>
          <a:xfrm>
            <a:off x="15705874" y="3868532"/>
            <a:ext cx="2183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3"/>
          <p:cNvSpPr/>
          <p:nvPr/>
        </p:nvSpPr>
        <p:spPr>
          <a:xfrm>
            <a:off x="179475" y="4378372"/>
            <a:ext cx="17896500" cy="102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/>
          </a:p>
        </p:txBody>
      </p:sp>
      <p:sp>
        <p:nvSpPr>
          <p:cNvPr id="886" name="Google Shape;886;p43"/>
          <p:cNvSpPr/>
          <p:nvPr/>
        </p:nvSpPr>
        <p:spPr>
          <a:xfrm>
            <a:off x="408383" y="4492826"/>
            <a:ext cx="2182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l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Juice Shop (34)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3"/>
          <p:cNvSpPr/>
          <p:nvPr/>
        </p:nvSpPr>
        <p:spPr>
          <a:xfrm>
            <a:off x="2923281" y="4492826"/>
            <a:ext cx="2182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65,1%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3"/>
          <p:cNvSpPr/>
          <p:nvPr/>
        </p:nvSpPr>
        <p:spPr>
          <a:xfrm>
            <a:off x="5479801" y="4492826"/>
            <a:ext cx="2182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90,3%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3"/>
          <p:cNvSpPr/>
          <p:nvPr/>
        </p:nvSpPr>
        <p:spPr>
          <a:xfrm>
            <a:off x="8036319" y="4492826"/>
            <a:ext cx="2182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98,6%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3"/>
          <p:cNvSpPr/>
          <p:nvPr/>
        </p:nvSpPr>
        <p:spPr>
          <a:xfrm>
            <a:off x="10405548" y="4378372"/>
            <a:ext cx="41400" cy="10278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/>
          </a:p>
        </p:txBody>
      </p:sp>
      <p:sp>
        <p:nvSpPr>
          <p:cNvPr id="891" name="Google Shape;891;p43"/>
          <p:cNvSpPr/>
          <p:nvPr/>
        </p:nvSpPr>
        <p:spPr>
          <a:xfrm>
            <a:off x="10634456" y="4492826"/>
            <a:ext cx="2140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18,9%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3"/>
          <p:cNvSpPr/>
          <p:nvPr/>
        </p:nvSpPr>
        <p:spPr>
          <a:xfrm>
            <a:off x="13149355" y="4492826"/>
            <a:ext cx="2182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4,2%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3"/>
          <p:cNvSpPr/>
          <p:nvPr/>
        </p:nvSpPr>
        <p:spPr>
          <a:xfrm>
            <a:off x="15705874" y="4492826"/>
            <a:ext cx="21831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0,4%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43"/>
          <p:cNvSpPr/>
          <p:nvPr/>
        </p:nvSpPr>
        <p:spPr>
          <a:xfrm>
            <a:off x="179475" y="5406180"/>
            <a:ext cx="17896500" cy="628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/>
          </a:p>
        </p:txBody>
      </p:sp>
      <p:sp>
        <p:nvSpPr>
          <p:cNvPr id="895" name="Google Shape;895;p43"/>
          <p:cNvSpPr/>
          <p:nvPr/>
        </p:nvSpPr>
        <p:spPr>
          <a:xfrm>
            <a:off x="408383" y="5520634"/>
            <a:ext cx="2182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l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bBWA (58)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3"/>
          <p:cNvSpPr/>
          <p:nvPr/>
        </p:nvSpPr>
        <p:spPr>
          <a:xfrm>
            <a:off x="2923281" y="5520634"/>
            <a:ext cx="2182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79,5%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43"/>
          <p:cNvSpPr/>
          <p:nvPr/>
        </p:nvSpPr>
        <p:spPr>
          <a:xfrm>
            <a:off x="5479801" y="5520634"/>
            <a:ext cx="2182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84,1%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3"/>
          <p:cNvSpPr/>
          <p:nvPr/>
        </p:nvSpPr>
        <p:spPr>
          <a:xfrm>
            <a:off x="8036319" y="5520634"/>
            <a:ext cx="2182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96,5%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3"/>
          <p:cNvSpPr/>
          <p:nvPr/>
        </p:nvSpPr>
        <p:spPr>
          <a:xfrm>
            <a:off x="10405548" y="5406180"/>
            <a:ext cx="41400" cy="6282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/>
          </a:p>
        </p:txBody>
      </p:sp>
      <p:sp>
        <p:nvSpPr>
          <p:cNvPr id="900" name="Google Shape;900;p43"/>
          <p:cNvSpPr/>
          <p:nvPr/>
        </p:nvSpPr>
        <p:spPr>
          <a:xfrm>
            <a:off x="10634456" y="5520634"/>
            <a:ext cx="2140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13,7%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3"/>
          <p:cNvSpPr/>
          <p:nvPr/>
        </p:nvSpPr>
        <p:spPr>
          <a:xfrm>
            <a:off x="13149355" y="5520634"/>
            <a:ext cx="2182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6,0%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3"/>
          <p:cNvSpPr/>
          <p:nvPr/>
        </p:nvSpPr>
        <p:spPr>
          <a:xfrm>
            <a:off x="15705874" y="5520634"/>
            <a:ext cx="21831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1,2%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3"/>
          <p:cNvSpPr/>
          <p:nvPr/>
        </p:nvSpPr>
        <p:spPr>
          <a:xfrm>
            <a:off x="179475" y="6034539"/>
            <a:ext cx="17896500" cy="102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/>
          </a:p>
        </p:txBody>
      </p:sp>
      <p:sp>
        <p:nvSpPr>
          <p:cNvPr id="904" name="Google Shape;904;p43"/>
          <p:cNvSpPr/>
          <p:nvPr/>
        </p:nvSpPr>
        <p:spPr>
          <a:xfrm>
            <a:off x="408383" y="6148993"/>
            <a:ext cx="2182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l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Artifactory (116)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3"/>
          <p:cNvSpPr/>
          <p:nvPr/>
        </p:nvSpPr>
        <p:spPr>
          <a:xfrm>
            <a:off x="2923281" y="6148993"/>
            <a:ext cx="2182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59,1%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43"/>
          <p:cNvSpPr/>
          <p:nvPr/>
        </p:nvSpPr>
        <p:spPr>
          <a:xfrm>
            <a:off x="5479801" y="6148993"/>
            <a:ext cx="2182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61,9%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43"/>
          <p:cNvSpPr/>
          <p:nvPr/>
        </p:nvSpPr>
        <p:spPr>
          <a:xfrm>
            <a:off x="8036319" y="6148993"/>
            <a:ext cx="2182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92,2%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3"/>
          <p:cNvSpPr/>
          <p:nvPr/>
        </p:nvSpPr>
        <p:spPr>
          <a:xfrm>
            <a:off x="10405548" y="6034539"/>
            <a:ext cx="41400" cy="10278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/>
          </a:p>
        </p:txBody>
      </p:sp>
      <p:sp>
        <p:nvSpPr>
          <p:cNvPr id="909" name="Google Shape;909;p43"/>
          <p:cNvSpPr/>
          <p:nvPr/>
        </p:nvSpPr>
        <p:spPr>
          <a:xfrm>
            <a:off x="10634456" y="6148993"/>
            <a:ext cx="2140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25,9%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3"/>
          <p:cNvSpPr/>
          <p:nvPr/>
        </p:nvSpPr>
        <p:spPr>
          <a:xfrm>
            <a:off x="13149355" y="6148993"/>
            <a:ext cx="2182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622"/>
              <a:buFont typeface="Arial"/>
              <a:buNone/>
            </a:pPr>
            <a:r>
              <a:rPr b="0" i="0" lang="en-US" sz="3059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8,6%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3"/>
          <p:cNvSpPr/>
          <p:nvPr/>
        </p:nvSpPr>
        <p:spPr>
          <a:xfrm>
            <a:off x="15705874" y="6148993"/>
            <a:ext cx="21831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775" lIns="27775" spcFirstLastPara="1" rIns="27775" wrap="square" tIns="27775">
            <a:normAutofit/>
          </a:bodyPr>
          <a:lstStyle/>
          <a:p>
            <a:pPr indent="0" lvl="0" marL="0" marR="0" rtl="0" algn="ctr">
              <a:lnSpc>
                <a:spcPct val="103784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622"/>
              <a:buFont typeface="Arial"/>
              <a:buNone/>
            </a:pPr>
            <a:r>
              <a:rPr b="1" i="0" lang="en-US" sz="3059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3,1%</a:t>
            </a:r>
            <a:endParaRPr b="0" i="0" sz="30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3"/>
          <p:cNvSpPr/>
          <p:nvPr/>
        </p:nvSpPr>
        <p:spPr>
          <a:xfrm>
            <a:off x="408375" y="7249625"/>
            <a:ext cx="19457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75" lIns="27775" spcFirstLastPara="1" rIns="27775" wrap="square" tIns="277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94"/>
              <a:buFont typeface="Arial"/>
              <a:buNone/>
            </a:pPr>
            <a:r>
              <a:rPr b="0" i="0" lang="en-US" sz="2731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Verde marca a coluna V3, melhor valor em todas as baselines. Média sobre os cinco LLMs.</a:t>
            </a:r>
            <a:endParaRPr b="0" i="0" sz="2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3" name="Google Shape;91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4" name="Google Shape;91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5" name="Google Shape;915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6" name="Google Shape;916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7" name="Google Shape;917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43"/>
          <p:cNvSpPr/>
          <p:nvPr/>
        </p:nvSpPr>
        <p:spPr>
          <a:xfrm>
            <a:off x="12394555" y="9677400"/>
            <a:ext cx="5854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Búzios, 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3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43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250">
                <a:solidFill>
                  <a:srgbClr val="6B7280"/>
                </a:solidFill>
              </a:rPr>
              <a:t>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4"/>
          <p:cNvSpPr/>
          <p:nvPr/>
        </p:nvSpPr>
        <p:spPr>
          <a:xfrm>
            <a:off x="952500" y="4191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SLIDE RESERVA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4"/>
          <p:cNvSpPr/>
          <p:nvPr/>
        </p:nvSpPr>
        <p:spPr>
          <a:xfrm>
            <a:off x="952500" y="838200"/>
            <a:ext cx="180213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Dezenove campos, duas formas de avaliar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4"/>
          <p:cNvSpPr/>
          <p:nvPr/>
        </p:nvSpPr>
        <p:spPr>
          <a:xfrm>
            <a:off x="394075" y="2686200"/>
            <a:ext cx="6748500" cy="41862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4"/>
          </a:p>
        </p:txBody>
      </p:sp>
      <p:sp>
        <p:nvSpPr>
          <p:cNvPr id="929" name="Google Shape;929;p44"/>
          <p:cNvSpPr/>
          <p:nvPr/>
        </p:nvSpPr>
        <p:spPr>
          <a:xfrm>
            <a:off x="701154" y="2952333"/>
            <a:ext cx="6747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2902"/>
              <a:buFont typeface="Arial"/>
              <a:buNone/>
            </a:pPr>
            <a:r>
              <a:rPr b="1" i="0" lang="en-US" sz="3202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5 determinísticos</a:t>
            </a:r>
            <a:endParaRPr b="0" i="0" sz="3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4"/>
          <p:cNvSpPr/>
          <p:nvPr/>
        </p:nvSpPr>
        <p:spPr>
          <a:xfrm>
            <a:off x="701154" y="3546013"/>
            <a:ext cx="63189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DDE3EC"/>
              </a:buClr>
              <a:buSzPts val="2418"/>
              <a:buFont typeface="Arial"/>
              <a:buNone/>
            </a:pPr>
            <a:r>
              <a:rPr b="0" i="0" lang="en-US" sz="2418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Comparação exata. Alimentam o Exact Record Match.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4"/>
          <p:cNvSpPr/>
          <p:nvPr/>
        </p:nvSpPr>
        <p:spPr>
          <a:xfrm>
            <a:off x="701154" y="4508185"/>
            <a:ext cx="10443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32" name="Google Shape;932;p44"/>
          <p:cNvSpPr/>
          <p:nvPr/>
        </p:nvSpPr>
        <p:spPr>
          <a:xfrm>
            <a:off x="784625" y="4590075"/>
            <a:ext cx="960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cvss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4"/>
          <p:cNvSpPr/>
          <p:nvPr/>
        </p:nvSpPr>
        <p:spPr>
          <a:xfrm>
            <a:off x="1867892" y="4508185"/>
            <a:ext cx="10443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34" name="Google Shape;934;p44"/>
          <p:cNvSpPr/>
          <p:nvPr/>
        </p:nvSpPr>
        <p:spPr>
          <a:xfrm>
            <a:off x="1959989" y="4569750"/>
            <a:ext cx="860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4"/>
          <p:cNvSpPr/>
          <p:nvPr/>
        </p:nvSpPr>
        <p:spPr>
          <a:xfrm>
            <a:off x="3034631" y="4508185"/>
            <a:ext cx="17193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36" name="Google Shape;936;p44"/>
          <p:cNvSpPr/>
          <p:nvPr/>
        </p:nvSpPr>
        <p:spPr>
          <a:xfrm>
            <a:off x="3148787" y="4590075"/>
            <a:ext cx="1675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protocol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4"/>
          <p:cNvSpPr/>
          <p:nvPr/>
        </p:nvSpPr>
        <p:spPr>
          <a:xfrm>
            <a:off x="4876624" y="4508185"/>
            <a:ext cx="17193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38" name="Google Shape;938;p44"/>
          <p:cNvSpPr/>
          <p:nvPr/>
        </p:nvSpPr>
        <p:spPr>
          <a:xfrm>
            <a:off x="4942063" y="4590075"/>
            <a:ext cx="1675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severity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4"/>
          <p:cNvSpPr/>
          <p:nvPr/>
        </p:nvSpPr>
        <p:spPr>
          <a:xfrm>
            <a:off x="701154" y="5163281"/>
            <a:ext cx="13815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40" name="Google Shape;940;p44"/>
          <p:cNvSpPr/>
          <p:nvPr/>
        </p:nvSpPr>
        <p:spPr>
          <a:xfrm>
            <a:off x="784637" y="5223769"/>
            <a:ext cx="1293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44"/>
          <p:cNvSpPr/>
          <p:nvPr/>
        </p:nvSpPr>
        <p:spPr>
          <a:xfrm>
            <a:off x="7490950" y="2686200"/>
            <a:ext cx="10416000" cy="4186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4"/>
          </a:p>
        </p:txBody>
      </p:sp>
      <p:sp>
        <p:nvSpPr>
          <p:cNvPr id="942" name="Google Shape;942;p44"/>
          <p:cNvSpPr/>
          <p:nvPr/>
        </p:nvSpPr>
        <p:spPr>
          <a:xfrm>
            <a:off x="7798029" y="2952333"/>
            <a:ext cx="108840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902"/>
              <a:buFont typeface="Arial"/>
              <a:buNone/>
            </a:pPr>
            <a:r>
              <a:rPr b="1" i="0" lang="en-US" sz="3202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14 narrativos</a:t>
            </a:r>
            <a:endParaRPr b="0" i="0" sz="3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4"/>
          <p:cNvSpPr/>
          <p:nvPr/>
        </p:nvSpPr>
        <p:spPr>
          <a:xfrm>
            <a:off x="7798029" y="3546013"/>
            <a:ext cx="10884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lnSpc>
                <a:spcPct val="11470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18"/>
              <a:buFont typeface="Arial"/>
              <a:buNone/>
            </a:pPr>
            <a:r>
              <a:rPr b="0" i="0" lang="en-US" sz="2418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Similaridade semântica (BERTScore) e lexical (ROUGE-L).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44"/>
          <p:cNvSpPr/>
          <p:nvPr/>
        </p:nvSpPr>
        <p:spPr>
          <a:xfrm>
            <a:off x="7822914" y="4108986"/>
            <a:ext cx="11289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45" name="Google Shape;945;p44"/>
          <p:cNvSpPr/>
          <p:nvPr/>
        </p:nvSpPr>
        <p:spPr>
          <a:xfrm>
            <a:off x="7982275" y="4190875"/>
            <a:ext cx="1044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4"/>
          <p:cNvSpPr/>
          <p:nvPr/>
        </p:nvSpPr>
        <p:spPr>
          <a:xfrm>
            <a:off x="9084203" y="4108986"/>
            <a:ext cx="16755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47" name="Google Shape;947;p44"/>
          <p:cNvSpPr/>
          <p:nvPr/>
        </p:nvSpPr>
        <p:spPr>
          <a:xfrm>
            <a:off x="9243414" y="4170350"/>
            <a:ext cx="1432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summary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4"/>
          <p:cNvSpPr/>
          <p:nvPr/>
        </p:nvSpPr>
        <p:spPr>
          <a:xfrm>
            <a:off x="10893058" y="4108986"/>
            <a:ext cx="24060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49" name="Google Shape;949;p44"/>
          <p:cNvSpPr/>
          <p:nvPr/>
        </p:nvSpPr>
        <p:spPr>
          <a:xfrm>
            <a:off x="11049688" y="4170350"/>
            <a:ext cx="2092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44"/>
          <p:cNvSpPr/>
          <p:nvPr/>
        </p:nvSpPr>
        <p:spPr>
          <a:xfrm>
            <a:off x="13431889" y="4108986"/>
            <a:ext cx="14934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51" name="Google Shape;951;p44"/>
          <p:cNvSpPr/>
          <p:nvPr/>
        </p:nvSpPr>
        <p:spPr>
          <a:xfrm>
            <a:off x="13487859" y="4170350"/>
            <a:ext cx="1381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impact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4"/>
          <p:cNvSpPr/>
          <p:nvPr/>
        </p:nvSpPr>
        <p:spPr>
          <a:xfrm>
            <a:off x="15058165" y="4108986"/>
            <a:ext cx="16755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53" name="Google Shape;953;p44"/>
          <p:cNvSpPr/>
          <p:nvPr/>
        </p:nvSpPr>
        <p:spPr>
          <a:xfrm>
            <a:off x="15165525" y="4170350"/>
            <a:ext cx="1493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insight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44"/>
          <p:cNvSpPr/>
          <p:nvPr/>
        </p:nvSpPr>
        <p:spPr>
          <a:xfrm>
            <a:off x="7822914" y="4764082"/>
            <a:ext cx="18588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55" name="Google Shape;955;p44"/>
          <p:cNvSpPr/>
          <p:nvPr/>
        </p:nvSpPr>
        <p:spPr>
          <a:xfrm>
            <a:off x="7982275" y="4845975"/>
            <a:ext cx="1675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solution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4"/>
          <p:cNvSpPr/>
          <p:nvPr/>
        </p:nvSpPr>
        <p:spPr>
          <a:xfrm>
            <a:off x="9814177" y="4764082"/>
            <a:ext cx="33186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57" name="Google Shape;957;p44"/>
          <p:cNvSpPr/>
          <p:nvPr/>
        </p:nvSpPr>
        <p:spPr>
          <a:xfrm>
            <a:off x="9966200" y="4825425"/>
            <a:ext cx="3116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detection_method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44"/>
          <p:cNvSpPr/>
          <p:nvPr/>
        </p:nvSpPr>
        <p:spPr>
          <a:xfrm>
            <a:off x="13265561" y="4764082"/>
            <a:ext cx="33186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59" name="Google Shape;959;p44"/>
          <p:cNvSpPr/>
          <p:nvPr/>
        </p:nvSpPr>
        <p:spPr>
          <a:xfrm>
            <a:off x="13366800" y="4825425"/>
            <a:ext cx="3116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detection_result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44"/>
          <p:cNvSpPr/>
          <p:nvPr/>
        </p:nvSpPr>
        <p:spPr>
          <a:xfrm>
            <a:off x="7822914" y="5419178"/>
            <a:ext cx="22239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61" name="Google Shape;961;p44"/>
          <p:cNvSpPr/>
          <p:nvPr/>
        </p:nvSpPr>
        <p:spPr>
          <a:xfrm>
            <a:off x="7982275" y="5501075"/>
            <a:ext cx="1914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log_method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44"/>
          <p:cNvSpPr/>
          <p:nvPr/>
        </p:nvSpPr>
        <p:spPr>
          <a:xfrm>
            <a:off x="10179337" y="5419178"/>
            <a:ext cx="22239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63" name="Google Shape;963;p44"/>
          <p:cNvSpPr/>
          <p:nvPr/>
        </p:nvSpPr>
        <p:spPr>
          <a:xfrm>
            <a:off x="10378515" y="5501065"/>
            <a:ext cx="1914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references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44"/>
          <p:cNvSpPr/>
          <p:nvPr/>
        </p:nvSpPr>
        <p:spPr>
          <a:xfrm>
            <a:off x="12535759" y="5419178"/>
            <a:ext cx="14934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65" name="Google Shape;965;p44"/>
          <p:cNvSpPr/>
          <p:nvPr/>
        </p:nvSpPr>
        <p:spPr>
          <a:xfrm>
            <a:off x="12735124" y="5480525"/>
            <a:ext cx="1293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plugin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4"/>
          <p:cNvSpPr/>
          <p:nvPr/>
        </p:nvSpPr>
        <p:spPr>
          <a:xfrm>
            <a:off x="14162036" y="5419178"/>
            <a:ext cx="29535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67" name="Google Shape;967;p44"/>
          <p:cNvSpPr/>
          <p:nvPr/>
        </p:nvSpPr>
        <p:spPr>
          <a:xfrm>
            <a:off x="14320425" y="5480525"/>
            <a:ext cx="2636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plugin_details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4"/>
          <p:cNvSpPr/>
          <p:nvPr/>
        </p:nvSpPr>
        <p:spPr>
          <a:xfrm>
            <a:off x="7798029" y="6074274"/>
            <a:ext cx="18882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69" name="Google Shape;969;p44"/>
          <p:cNvSpPr/>
          <p:nvPr/>
        </p:nvSpPr>
        <p:spPr>
          <a:xfrm>
            <a:off x="7886817" y="6115086"/>
            <a:ext cx="1731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instances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4"/>
          <p:cNvSpPr/>
          <p:nvPr/>
        </p:nvSpPr>
        <p:spPr>
          <a:xfrm>
            <a:off x="9996756" y="6074274"/>
            <a:ext cx="4778700" cy="532200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71" name="Google Shape;971;p44"/>
          <p:cNvSpPr/>
          <p:nvPr/>
        </p:nvSpPr>
        <p:spPr>
          <a:xfrm>
            <a:off x="10124260" y="6135636"/>
            <a:ext cx="4523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418"/>
              <a:buFont typeface="Courier New"/>
              <a:buNone/>
            </a:pPr>
            <a:r>
              <a:rPr b="0" i="0" lang="en-US" sz="2418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product_detection_result</a:t>
            </a:r>
            <a:endParaRPr b="0" i="0" sz="24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4"/>
          <p:cNvSpPr/>
          <p:nvPr/>
        </p:nvSpPr>
        <p:spPr>
          <a:xfrm>
            <a:off x="394075" y="7307696"/>
            <a:ext cx="143400" cy="143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8275" lIns="98275" spcFirstLastPara="1" rIns="98275" wrap="square" tIns="9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sp>
        <p:nvSpPr>
          <p:cNvPr id="973" name="Google Shape;973;p44"/>
          <p:cNvSpPr/>
          <p:nvPr/>
        </p:nvSpPr>
        <p:spPr>
          <a:xfrm>
            <a:off x="762569" y="7179748"/>
            <a:ext cx="9255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275" lIns="27275" spcFirstLastPara="1" rIns="27275" wrap="square" tIns="27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40"/>
              <a:buFont typeface="Arial"/>
              <a:buNone/>
            </a:pPr>
            <a:r>
              <a:rPr b="0" i="0" lang="en-US" sz="27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 laranja, os campos crônicos: alta taxa de omissão.</a:t>
            </a:r>
            <a:endParaRPr b="0" i="0" sz="27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4" name="Google Shape;97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5" name="Google Shape;97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6" name="Google Shape;976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7" name="Google Shape;977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8" name="Google Shape;978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44"/>
          <p:cNvSpPr/>
          <p:nvPr/>
        </p:nvSpPr>
        <p:spPr>
          <a:xfrm>
            <a:off x="12394555" y="9677400"/>
            <a:ext cx="5854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Búzios, 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4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44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250">
                <a:solidFill>
                  <a:srgbClr val="6B7280"/>
                </a:solidFill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45"/>
          <p:cNvSpPr/>
          <p:nvPr/>
        </p:nvSpPr>
        <p:spPr>
          <a:xfrm>
            <a:off x="571500" y="342900"/>
            <a:ext cx="17497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SLIDE RESERVA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5"/>
          <p:cNvSpPr/>
          <p:nvPr/>
        </p:nvSpPr>
        <p:spPr>
          <a:xfrm>
            <a:off x="571500" y="762000"/>
            <a:ext cx="7215300" cy="400200"/>
          </a:xfrm>
          <a:prstGeom prst="roundRect">
            <a:avLst>
              <a:gd fmla="val 15385" name="adj"/>
            </a:avLst>
          </a:prstGeom>
          <a:solidFill>
            <a:srgbClr val="0F2369"/>
          </a:solidFill>
          <a:ln>
            <a:noFill/>
          </a:ln>
        </p:spPr>
        <p:txBody>
          <a:bodyPr anchorCtr="0" anchor="ctr" bIns="98450" lIns="98450" spcFirstLastPara="1" rIns="98450" wrap="square" tIns="98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8"/>
          </a:p>
        </p:txBody>
      </p:sp>
      <p:sp>
        <p:nvSpPr>
          <p:cNvPr id="989" name="Google Shape;989;p45"/>
          <p:cNvSpPr/>
          <p:nvPr/>
        </p:nvSpPr>
        <p:spPr>
          <a:xfrm>
            <a:off x="735623" y="803031"/>
            <a:ext cx="76086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350" lIns="27350" spcFirstLastPara="1" rIns="27350" wrap="square" tIns="273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BASELINE: JUICE SHOP · 34 VULNERABILIDADES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45"/>
          <p:cNvSpPr/>
          <p:nvPr/>
        </p:nvSpPr>
        <p:spPr>
          <a:xfrm>
            <a:off x="571500" y="1228725"/>
            <a:ext cx="174974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padrão se repete na menor baseline (Figura 4)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1" name="Google Shape;99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952625"/>
            <a:ext cx="12092952" cy="8013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45"/>
          <p:cNvSpPr/>
          <p:nvPr/>
        </p:nvSpPr>
        <p:spPr>
          <a:xfrm>
            <a:off x="13906500" y="3940522"/>
            <a:ext cx="114300" cy="11430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3" name="Google Shape;993;p45"/>
          <p:cNvSpPr/>
          <p:nvPr/>
        </p:nvSpPr>
        <p:spPr>
          <a:xfrm>
            <a:off x="14211300" y="3940522"/>
            <a:ext cx="3610356" cy="31582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0" i="0" lang="en-US" sz="3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 Juice Shop, 34 vulnerabilidades, o V3 chega a </a:t>
            </a:r>
            <a:r>
              <a:rPr b="1" i="0" lang="en-US" sz="3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98,6% </a:t>
            </a:r>
            <a:r>
              <a:rPr b="0" i="0" lang="en-US" sz="3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 Altamente Similar: o ganho não depende da densidade do relatório.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5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45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250">
                <a:solidFill>
                  <a:srgbClr val="6B7280"/>
                </a:solidFill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6"/>
          <p:cNvSpPr/>
          <p:nvPr/>
        </p:nvSpPr>
        <p:spPr>
          <a:xfrm>
            <a:off x="952500" y="4191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SLIDE RESERVA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6"/>
          <p:cNvSpPr/>
          <p:nvPr/>
        </p:nvSpPr>
        <p:spPr>
          <a:xfrm>
            <a:off x="952500" y="838200"/>
            <a:ext cx="18021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Método e escopo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6"/>
          <p:cNvSpPr/>
          <p:nvPr/>
        </p:nvSpPr>
        <p:spPr>
          <a:xfrm>
            <a:off x="571500" y="3107375"/>
            <a:ext cx="8294100" cy="2154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04" name="Google Shape;1004;p46"/>
          <p:cNvSpPr/>
          <p:nvPr/>
        </p:nvSpPr>
        <p:spPr>
          <a:xfrm>
            <a:off x="571500" y="3107375"/>
            <a:ext cx="78300" cy="2154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05" name="Google Shape;1005;p46"/>
          <p:cNvSpPr/>
          <p:nvPr/>
        </p:nvSpPr>
        <p:spPr>
          <a:xfrm>
            <a:off x="924027" y="3322809"/>
            <a:ext cx="8434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776"/>
              <a:buFont typeface="Arial"/>
              <a:buNone/>
            </a:pPr>
            <a:r>
              <a:rPr b="1" i="0" lang="en-US" sz="287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Por que só OpenVAS nas baselines?</a:t>
            </a:r>
            <a:endParaRPr b="0" i="0" sz="28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46"/>
          <p:cNvSpPr/>
          <p:nvPr/>
        </p:nvSpPr>
        <p:spPr>
          <a:xfrm>
            <a:off x="924027" y="3824059"/>
            <a:ext cx="78975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67"/>
              <a:buFont typeface="Arial"/>
              <a:buNone/>
            </a:pPr>
            <a:r>
              <a:rPr b="0" i="0" lang="en-US" sz="257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 Tenable WAS é suportado e validado ponta a ponta, mas o acesso comercial limitou o volume de relatórios para curadoria manual.</a:t>
            </a:r>
            <a:endParaRPr b="0" i="0" sz="2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6"/>
          <p:cNvSpPr/>
          <p:nvPr/>
        </p:nvSpPr>
        <p:spPr>
          <a:xfrm>
            <a:off x="9120272" y="3107375"/>
            <a:ext cx="8294100" cy="2154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08" name="Google Shape;1008;p46"/>
          <p:cNvSpPr/>
          <p:nvPr/>
        </p:nvSpPr>
        <p:spPr>
          <a:xfrm>
            <a:off x="9120272" y="3107375"/>
            <a:ext cx="78300" cy="2154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09" name="Google Shape;1009;p46"/>
          <p:cNvSpPr/>
          <p:nvPr/>
        </p:nvSpPr>
        <p:spPr>
          <a:xfrm>
            <a:off x="9472799" y="3322809"/>
            <a:ext cx="8434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776"/>
              <a:buFont typeface="Arial"/>
              <a:buNone/>
            </a:pPr>
            <a:r>
              <a:rPr b="1" i="0" lang="en-US" sz="287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Por que 10 execuções por célula?</a:t>
            </a:r>
            <a:endParaRPr b="0" i="0" sz="28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6"/>
          <p:cNvSpPr/>
          <p:nvPr/>
        </p:nvSpPr>
        <p:spPr>
          <a:xfrm>
            <a:off x="9472799" y="3824059"/>
            <a:ext cx="78975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67"/>
              <a:buFont typeface="Arial"/>
              <a:buNone/>
            </a:pPr>
            <a:r>
              <a:rPr b="0" i="0" lang="en-US" sz="257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Amostra suficiente para IC bootstrap de 95% com 10.000 reamostragens, dentro do orçamento de 450 chamadas de API.</a:t>
            </a:r>
            <a:endParaRPr b="0" i="0" sz="2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6"/>
          <p:cNvSpPr/>
          <p:nvPr/>
        </p:nvSpPr>
        <p:spPr>
          <a:xfrm>
            <a:off x="571500" y="5516010"/>
            <a:ext cx="8294100" cy="2169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12" name="Google Shape;1012;p46"/>
          <p:cNvSpPr/>
          <p:nvPr/>
        </p:nvSpPr>
        <p:spPr>
          <a:xfrm>
            <a:off x="571500" y="5516010"/>
            <a:ext cx="78300" cy="21696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13" name="Google Shape;1013;p46"/>
          <p:cNvSpPr/>
          <p:nvPr/>
        </p:nvSpPr>
        <p:spPr>
          <a:xfrm>
            <a:off x="924027" y="5731444"/>
            <a:ext cx="78975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776"/>
              <a:buFont typeface="Arial"/>
              <a:buNone/>
            </a:pPr>
            <a:r>
              <a:rPr b="1" i="0" lang="en-US" sz="287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 melhora não vem só do modelo mais novo?</a:t>
            </a:r>
            <a:endParaRPr b="0" i="0" sz="28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6"/>
          <p:cNvSpPr/>
          <p:nvPr/>
        </p:nvSpPr>
        <p:spPr>
          <a:xfrm>
            <a:off x="924027" y="6655606"/>
            <a:ext cx="7897500" cy="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67"/>
              <a:buFont typeface="Arial"/>
              <a:buNone/>
            </a:pPr>
            <a:r>
              <a:rPr b="0" i="0" lang="en-US" sz="257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Não: os cinco modelos são os mesmos nas três versões. Só o pipeline muda entre V1, V2 e V3.</a:t>
            </a:r>
            <a:endParaRPr b="0" i="0" sz="2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46"/>
          <p:cNvSpPr/>
          <p:nvPr/>
        </p:nvSpPr>
        <p:spPr>
          <a:xfrm>
            <a:off x="9120272" y="5516010"/>
            <a:ext cx="8294100" cy="2169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16" name="Google Shape;1016;p46"/>
          <p:cNvSpPr/>
          <p:nvPr/>
        </p:nvSpPr>
        <p:spPr>
          <a:xfrm>
            <a:off x="9120272" y="5516010"/>
            <a:ext cx="78300" cy="21696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17" name="Google Shape;1017;p46"/>
          <p:cNvSpPr/>
          <p:nvPr/>
        </p:nvSpPr>
        <p:spPr>
          <a:xfrm>
            <a:off x="9472799" y="5731444"/>
            <a:ext cx="8434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776"/>
              <a:buFont typeface="Arial"/>
              <a:buNone/>
            </a:pPr>
            <a:r>
              <a:rPr b="1" i="0" lang="en-US" sz="287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Como as baselines foram validadas?</a:t>
            </a:r>
            <a:endParaRPr b="0" i="0" sz="28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6"/>
          <p:cNvSpPr/>
          <p:nvPr/>
        </p:nvSpPr>
        <p:spPr>
          <a:xfrm>
            <a:off x="9472799" y="6232695"/>
            <a:ext cx="78975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67"/>
              <a:buFont typeface="Arial"/>
              <a:buNone/>
            </a:pPr>
            <a:r>
              <a:rPr b="0" i="0" lang="en-US" sz="257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Extração manual campo a campo mais revisão independente por um segundo especialista, com o PDF como fonte de verdade.</a:t>
            </a:r>
            <a:endParaRPr b="0" i="0" sz="2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9" name="Google Shape;101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0" name="Google Shape;102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1" name="Google Shape;102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2" name="Google Shape;1022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3" name="Google Shape;1023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46"/>
          <p:cNvSpPr/>
          <p:nvPr/>
        </p:nvSpPr>
        <p:spPr>
          <a:xfrm>
            <a:off x="12394555" y="9677400"/>
            <a:ext cx="5854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Búzios, 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6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46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250">
                <a:solidFill>
                  <a:srgbClr val="6B7280"/>
                </a:solidFill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47"/>
          <p:cNvSpPr/>
          <p:nvPr/>
        </p:nvSpPr>
        <p:spPr>
          <a:xfrm>
            <a:off x="952500" y="419100"/>
            <a:ext cx="18021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SLIDE RESERVA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7"/>
          <p:cNvSpPr/>
          <p:nvPr/>
        </p:nvSpPr>
        <p:spPr>
          <a:xfrm>
            <a:off x="952500" y="838200"/>
            <a:ext cx="18021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 e uso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7"/>
          <p:cNvSpPr/>
          <p:nvPr/>
        </p:nvSpPr>
        <p:spPr>
          <a:xfrm>
            <a:off x="476250" y="3114975"/>
            <a:ext cx="8294100" cy="2154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35" name="Google Shape;1035;p47"/>
          <p:cNvSpPr/>
          <p:nvPr/>
        </p:nvSpPr>
        <p:spPr>
          <a:xfrm>
            <a:off x="476250" y="3114975"/>
            <a:ext cx="78300" cy="2154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36" name="Google Shape;1036;p47"/>
          <p:cNvSpPr/>
          <p:nvPr/>
        </p:nvSpPr>
        <p:spPr>
          <a:xfrm>
            <a:off x="828777" y="3330408"/>
            <a:ext cx="8434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776"/>
              <a:buFont typeface="Arial"/>
              <a:buNone/>
            </a:pPr>
            <a:r>
              <a:rPr b="1" i="0" lang="en-US" sz="287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Por que a alucinação sobe de V2 para V3?</a:t>
            </a:r>
            <a:endParaRPr b="0" i="0" sz="28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7"/>
          <p:cNvSpPr/>
          <p:nvPr/>
        </p:nvSpPr>
        <p:spPr>
          <a:xfrm>
            <a:off x="828777" y="3831657"/>
            <a:ext cx="78975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67"/>
              <a:buFont typeface="Arial"/>
              <a:buNone/>
            </a:pPr>
            <a:r>
              <a:rPr b="0" i="0" lang="en-US" sz="257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 5,7% para 6,8%: V3 extrai mais registros por execução (67,8 pares contra 63,7), e a base maior traz alguns pares sem correspondência.</a:t>
            </a:r>
            <a:endParaRPr b="0" i="0" sz="2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7"/>
          <p:cNvSpPr/>
          <p:nvPr/>
        </p:nvSpPr>
        <p:spPr>
          <a:xfrm>
            <a:off x="9025022" y="3114975"/>
            <a:ext cx="8294100" cy="2154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39" name="Google Shape;1039;p47"/>
          <p:cNvSpPr/>
          <p:nvPr/>
        </p:nvSpPr>
        <p:spPr>
          <a:xfrm>
            <a:off x="9025022" y="3114975"/>
            <a:ext cx="78300" cy="2154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40" name="Google Shape;1040;p47"/>
          <p:cNvSpPr/>
          <p:nvPr/>
        </p:nvSpPr>
        <p:spPr>
          <a:xfrm>
            <a:off x="9377549" y="3330408"/>
            <a:ext cx="8434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776"/>
              <a:buFont typeface="Arial"/>
              <a:buNone/>
            </a:pPr>
            <a:r>
              <a:rPr b="1" i="0" lang="en-US" sz="287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Por que a severidade quase não muda?</a:t>
            </a:r>
            <a:endParaRPr b="0" i="0" sz="28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7"/>
          <p:cNvSpPr/>
          <p:nvPr/>
        </p:nvSpPr>
        <p:spPr>
          <a:xfrm>
            <a:off x="9377549" y="3831657"/>
            <a:ext cx="78975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67"/>
              <a:buFont typeface="Arial"/>
              <a:buNone/>
            </a:pPr>
            <a:r>
              <a:rPr b="0" i="0" lang="en-US" sz="257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É a dimensão menos sensível ao pipeline: Macro F1 fica entre 94,8 e 97,7%. O ganho aparece no Macro F1 ciente da cobertura, de 79,6% para 91,3%.</a:t>
            </a:r>
            <a:endParaRPr b="0" i="0" sz="2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47"/>
          <p:cNvSpPr/>
          <p:nvPr/>
        </p:nvSpPr>
        <p:spPr>
          <a:xfrm>
            <a:off x="476250" y="5523600"/>
            <a:ext cx="8294100" cy="2154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43" name="Google Shape;1043;p47"/>
          <p:cNvSpPr/>
          <p:nvPr/>
        </p:nvSpPr>
        <p:spPr>
          <a:xfrm>
            <a:off x="476250" y="5523600"/>
            <a:ext cx="78300" cy="2154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44" name="Google Shape;1044;p47"/>
          <p:cNvSpPr/>
          <p:nvPr/>
        </p:nvSpPr>
        <p:spPr>
          <a:xfrm>
            <a:off x="828777" y="5739033"/>
            <a:ext cx="8434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776"/>
              <a:buFont typeface="Arial"/>
              <a:buNone/>
            </a:pPr>
            <a:r>
              <a:rPr b="1" i="0" lang="en-US" sz="287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Qual o custo e a latência?</a:t>
            </a:r>
            <a:endParaRPr b="0" i="0" sz="28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7"/>
          <p:cNvSpPr/>
          <p:nvPr/>
        </p:nvSpPr>
        <p:spPr>
          <a:xfrm>
            <a:off x="828777" y="6240282"/>
            <a:ext cx="78975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67"/>
              <a:buFont typeface="Arial"/>
              <a:buNone/>
            </a:pPr>
            <a:r>
              <a:rPr b="0" i="0" lang="en-US" sz="257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Não medimos neste estudo. É trabalho futuro declarado, e passa a ser o critério de escolha justamente porque a qualidade converge.</a:t>
            </a:r>
            <a:endParaRPr b="0" i="0" sz="2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47"/>
          <p:cNvSpPr/>
          <p:nvPr/>
        </p:nvSpPr>
        <p:spPr>
          <a:xfrm>
            <a:off x="9025022" y="5523600"/>
            <a:ext cx="8294100" cy="2154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47" name="Google Shape;1047;p47"/>
          <p:cNvSpPr/>
          <p:nvPr/>
        </p:nvSpPr>
        <p:spPr>
          <a:xfrm>
            <a:off x="9025022" y="5523600"/>
            <a:ext cx="78300" cy="2154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2"/>
          </a:p>
        </p:txBody>
      </p:sp>
      <p:sp>
        <p:nvSpPr>
          <p:cNvPr id="1048" name="Google Shape;1048;p47"/>
          <p:cNvSpPr/>
          <p:nvPr/>
        </p:nvSpPr>
        <p:spPr>
          <a:xfrm>
            <a:off x="9377549" y="5739033"/>
            <a:ext cx="8434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776"/>
              <a:buFont typeface="Arial"/>
              <a:buNone/>
            </a:pPr>
            <a:r>
              <a:rPr b="1" i="0" lang="en-US" sz="2879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Serve para dados sensíveis?</a:t>
            </a:r>
            <a:endParaRPr b="0" i="0" sz="28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7"/>
          <p:cNvSpPr/>
          <p:nvPr/>
        </p:nvSpPr>
        <p:spPr>
          <a:xfrm>
            <a:off x="9377549" y="6240282"/>
            <a:ext cx="78975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125" lIns="26125" spcFirstLastPara="1" rIns="26125" wrap="square" tIns="26125">
            <a:normAutofit/>
          </a:bodyPr>
          <a:lstStyle/>
          <a:p>
            <a:pPr indent="0" lvl="0" marL="0" marR="0" rtl="0" algn="l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67"/>
              <a:buFont typeface="Arial"/>
              <a:buNone/>
            </a:pPr>
            <a:r>
              <a:rPr b="0" i="0" lang="en-US" sz="257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Hoje só avaliamos modelos em nuvem. Para dados sob a LGPD ou ambiente isolado, é preciso avaliar modelos locais antes.</a:t>
            </a:r>
            <a:endParaRPr b="0" i="0" sz="25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0" name="Google Shape;10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658350"/>
            <a:ext cx="14030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1" name="Google Shape;105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5503" y="96202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2" name="Google Shape;105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03" y="9639300"/>
            <a:ext cx="57849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3" name="Google Shape;1053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5098" y="9629775"/>
            <a:ext cx="721072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4" name="Google Shape;1054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7170" y="9620250"/>
            <a:ext cx="27816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47"/>
          <p:cNvSpPr/>
          <p:nvPr/>
        </p:nvSpPr>
        <p:spPr>
          <a:xfrm>
            <a:off x="12394555" y="9677400"/>
            <a:ext cx="5854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· Armação dos Búzios, RJ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47"/>
          <p:cNvSpPr/>
          <p:nvPr/>
        </p:nvSpPr>
        <p:spPr>
          <a:xfrm>
            <a:off x="17246203" y="285750"/>
            <a:ext cx="660797" cy="400050"/>
          </a:xfrm>
          <a:prstGeom prst="roundRect">
            <a:avLst>
              <a:gd fmla="val 19048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47"/>
          <p:cNvSpPr/>
          <p:nvPr/>
        </p:nvSpPr>
        <p:spPr>
          <a:xfrm>
            <a:off x="17417653" y="323850"/>
            <a:ext cx="38397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250">
                <a:solidFill>
                  <a:srgbClr val="6B7280"/>
                </a:solidFill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2026-08-28T19:38:33Z</dcterms:created>
  <dc:creator>PptxGenJS</dc:creator>
</cp:coreProperties>
</file>
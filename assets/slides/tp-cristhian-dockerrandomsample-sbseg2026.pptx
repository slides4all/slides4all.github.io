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Lst>
  <p:sldSz cy="6858000" cx="12191675"/>
  <p:notesSz cx="6858000" cy="9144000"/>
  <p:embeddedFontLst>
    <p:embeddedFont>
      <p:font typeface="Inter"/>
      <p:regular r:id="rId55"/>
      <p:bold r:id="rId56"/>
      <p:italic r:id="rId57"/>
      <p:boldItalic r:id="rId58"/>
    </p:embeddedFont>
    <p:embeddedFont>
      <p:font typeface="JetBrains Mono"/>
      <p:regular r:id="rId59"/>
      <p:bold r:id="rId60"/>
      <p:italic r:id="rId61"/>
      <p:boldItalic r:id="rId62"/>
    </p:embeddedFont>
    <p:embeddedFont>
      <p:font typeface="Space Grotesk"/>
      <p:regular r:id="rId63"/>
      <p:bold r:id="rId6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65" roundtripDataSignature="AMtx7miESE1e4j5e4oc9UvX4NCDbfSst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62" Type="http://schemas.openxmlformats.org/officeDocument/2006/relationships/font" Target="fonts/JetBrainsMono-boldItalic.fntdata"/><Relationship Id="rId61" Type="http://schemas.openxmlformats.org/officeDocument/2006/relationships/font" Target="fonts/JetBrainsMono-italic.fntdata"/><Relationship Id="rId20" Type="http://schemas.openxmlformats.org/officeDocument/2006/relationships/slide" Target="slides/slide15.xml"/><Relationship Id="rId64" Type="http://schemas.openxmlformats.org/officeDocument/2006/relationships/font" Target="fonts/SpaceGrotesk-bold.fntdata"/><Relationship Id="rId63" Type="http://schemas.openxmlformats.org/officeDocument/2006/relationships/font" Target="fonts/SpaceGrotesk-regular.fntdata"/><Relationship Id="rId22" Type="http://schemas.openxmlformats.org/officeDocument/2006/relationships/slide" Target="slides/slide17.xml"/><Relationship Id="rId21" Type="http://schemas.openxmlformats.org/officeDocument/2006/relationships/slide" Target="slides/slide16.xml"/><Relationship Id="rId65" Type="http://customschemas.google.com/relationships/presentationmetadata" Target="metadata"/><Relationship Id="rId24" Type="http://schemas.openxmlformats.org/officeDocument/2006/relationships/slide" Target="slides/slide19.xml"/><Relationship Id="rId23" Type="http://schemas.openxmlformats.org/officeDocument/2006/relationships/slide" Target="slides/slide18.xml"/><Relationship Id="rId60" Type="http://schemas.openxmlformats.org/officeDocument/2006/relationships/font" Target="fonts/JetBrainsMono-bold.fntdata"/><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Inter-regular.fntdata"/><Relationship Id="rId10" Type="http://schemas.openxmlformats.org/officeDocument/2006/relationships/slide" Target="slides/slide5.xml"/><Relationship Id="rId54" Type="http://schemas.openxmlformats.org/officeDocument/2006/relationships/slide" Target="slides/slide49.xml"/><Relationship Id="rId13" Type="http://schemas.openxmlformats.org/officeDocument/2006/relationships/slide" Target="slides/slide8.xml"/><Relationship Id="rId57" Type="http://schemas.openxmlformats.org/officeDocument/2006/relationships/font" Target="fonts/Inter-italic.fntdata"/><Relationship Id="rId12" Type="http://schemas.openxmlformats.org/officeDocument/2006/relationships/slide" Target="slides/slide7.xml"/><Relationship Id="rId56" Type="http://schemas.openxmlformats.org/officeDocument/2006/relationships/font" Target="fonts/Inter-bold.fntdata"/><Relationship Id="rId15" Type="http://schemas.openxmlformats.org/officeDocument/2006/relationships/slide" Target="slides/slide10.xml"/><Relationship Id="rId59" Type="http://schemas.openxmlformats.org/officeDocument/2006/relationships/font" Target="fonts/JetBrainsMono-regular.fntdata"/><Relationship Id="rId14" Type="http://schemas.openxmlformats.org/officeDocument/2006/relationships/slide" Target="slides/slide9.xml"/><Relationship Id="rId58" Type="http://schemas.openxmlformats.org/officeDocument/2006/relationships/font" Target="fonts/Inter-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 name="Google Shape;8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[22 s] FALA Boa tarde. Cristhian Kapelinski, da UNIPAMPA, com Diego Kreutz, no AI Horizon Labs. O título é o do artigo, e a linha menor embaixo diz como o estudo escolhe o que mede. A pergunta do trabalho é uma só, e eu repito no fim: a imagem típica do Docker Hub é mais segura que a imagem popular? </a:t>
            </a:r>
            <a:endParaRPr/>
          </a:p>
          <a:p>
            <a:pPr indent="0" lvl="0" marL="0" rtl="0" algn="l">
              <a:lnSpc>
                <a:spcPct val="100000"/>
              </a:lnSpc>
              <a:spcBef>
                <a:spcPts val="0"/>
              </a:spcBef>
              <a:spcAft>
                <a:spcPts val="0"/>
              </a:spcAft>
              <a:buSzPts val="1100"/>
              <a:buNone/>
            </a:pPr>
            <a:r>
              <a:rPr lang="en-US"/>
              <a:t>TERMOS Docker Hub: o registro público de onde se baixa imagem de contêiner. Imagem: o pacote pronto que vira contêiner em execução. Amostra aleatória uniforme: sorteio em que cada repositório da lista tem exatamente a mesma chance de entrar. </a:t>
            </a:r>
            <a:endParaRPr/>
          </a:p>
          <a:p>
            <a:pPr indent="0" lvl="0" marL="0" rtl="0" algn="l">
              <a:lnSpc>
                <a:spcPct val="100000"/>
              </a:lnSpc>
              <a:spcBef>
                <a:spcPts val="0"/>
              </a:spcBef>
              <a:spcAft>
                <a:spcPts val="0"/>
              </a:spcAft>
              <a:buSzPts val="1100"/>
              <a:buNone/>
            </a:pPr>
            <a:r>
              <a:rPr lang="en-US"/>
              <a:t>POR QUE A ordem dos nomes é a do artigo, não a de quem apresenta. Enunciar a pergunta já na capa e repeti-la na conclusão fecha o arco. Os quatro selos no alto à direita são os do Comitê de Artefatos, e têm slide próprio no fim. Financiamento, se perguntarem: CAPES, CNPq e FAPERGS, no slide final.</a:t>
            </a:r>
            <a:endParaRPr/>
          </a:p>
        </p:txBody>
      </p:sp>
      <p:sp>
        <p:nvSpPr>
          <p:cNvPr id="83" name="Google Shape;8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0" name="Google Shape;110;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[26 s] FALA Antes dos números, o objeto. O Docker Hub é o registro público de onde se baixa imagem de contêiner: alguém publica, e qualquer um baixa com um comando. Dois números dimensionam esse registro: quinze milhões de repositórios publicados, e trezentos e dezoito bilhões de downloads, alta de cento e quarenta e cinco por cento em um ano. Cada número leva a sua manchete embaixo, com o QR que abre o link: a da esquerda é a da JFrog, de 2024; a da direita é o Docker Index, o relatório da própria Docker, de 2021.</a:t>
            </a:r>
            <a:endParaRPr/>
          </a:p>
          <a:p>
            <a:pPr indent="-298450" lvl="0" marL="457200" rtl="0" algn="l">
              <a:lnSpc>
                <a:spcPct val="100000"/>
              </a:lnSpc>
              <a:spcBef>
                <a:spcPts val="0"/>
              </a:spcBef>
              <a:spcAft>
                <a:spcPts val="0"/>
              </a:spcAft>
              <a:buSzPts val="1100"/>
              <a:buChar char="●"/>
            </a:pPr>
            <a:r>
              <a:rPr lang="en-US" sz="1100"/>
              <a:t>TERMOS Imagem de contêiner: o pacote pronto, com sistema de arquivos e metadados de execução, que vira contêiner sem instalar nada no hospedeiro. Registro: o serviço que hospeda e distribui essas imagens. Repositório: o nome sob o qual alguém publica, por exemplo biblioteca barra nginx, e que pode conter muitas versões da mesma imagem, cada uma com a sua tag. Download, ou pull: cada vez que alguém baixa uma imagem daquele repositório. É a medida de uso que o registro publica, acumulada desde o começo do registro, e não anual.</a:t>
            </a:r>
            <a:endParaRPr/>
          </a:p>
          <a:p>
            <a:pPr indent="-298450" lvl="0" marL="457200" rtl="0" algn="l">
              <a:lnSpc>
                <a:spcPct val="100000"/>
              </a:lnSpc>
              <a:spcBef>
                <a:spcPts val="0"/>
              </a:spcBef>
              <a:spcAft>
                <a:spcPts val="0"/>
              </a:spcAft>
              <a:buSzPts val="1100"/>
              <a:buChar char="●"/>
            </a:pPr>
            <a:r>
              <a:rPr lang="en-US" sz="1100"/>
              <a:t>POR QUE A definição e os dois números de escala são uma ideia só: de que tamanho é esse registro. Separados, a definição ficava como frase solta e cada número ocupava uma tela inteira para uma linha de fala. Juntos, as duas fontes ficam visíveis de uma vez, e a abertura sai em duas telas em vez de quatro. Repositórios e downloads não dizem nada para quem não usa contêiner no dia a dia, e por isso a definição vem antes, na mesma tela. Cada número mantém a SUA fonte no seu cartão: os quinze milhões estão na JFrog, de 2024; os 318 bilhões e os 145 por cento estão no Docker Index, de 2021. Se perguntarem por que um número de 2021 ao lado de um de 2024: é o dado publicado com essa quebra, e o ano está na tela. O vazamento de credencial fica na tela seguinte, sozinho, porque é ele que justifica o trabalho.</a:t>
            </a:r>
            <a:endParaRPr/>
          </a:p>
        </p:txBody>
      </p:sp>
      <p:sp>
        <p:nvSpPr>
          <p:cNvPr id="111" name="Google Shape;111;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5" name="Google Shape;125;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[13 s] FALA O terceiro número é o que muda a natureza do problema: em um scan de um mês em 2025, mais de dez mil imagens vazavam credencial viva. A fonte é o scan da Flare.</a:t>
            </a:r>
            <a:endParaRPr/>
          </a:p>
          <a:p>
            <a:pPr indent="0" lvl="0" marL="0" rtl="0" algn="l">
              <a:lnSpc>
                <a:spcPct val="100000"/>
              </a:lnSpc>
              <a:spcBef>
                <a:spcPts val="0"/>
              </a:spcBef>
              <a:spcAft>
                <a:spcPts val="0"/>
              </a:spcAft>
              <a:buSzPts val="1100"/>
              <a:buNone/>
            </a:pPr>
            <a:r>
              <a:rPr lang="en-US"/>
              <a:t>TERMOS Credencial viva: chave ou senha embutida na imagem que ainda autentica em algum serviço. O adjetivo importa, porque credencial revogada não vale nada para quem encontra.</a:t>
            </a:r>
            <a:endParaRPr/>
          </a:p>
          <a:p>
            <a:pPr indent="0" lvl="0" marL="0" rtl="0" algn="l">
              <a:lnSpc>
                <a:spcPct val="100000"/>
              </a:lnSpc>
              <a:spcBef>
                <a:spcPts val="0"/>
              </a:spcBef>
              <a:spcAft>
                <a:spcPts val="0"/>
              </a:spcAft>
              <a:buSzPts val="1100"/>
              <a:buNone/>
            </a:pPr>
            <a:r>
              <a:rPr lang="en-US"/>
              <a:t>POR QUE Este é o número que justifica o trabalho: escala e uso, sozinhos, não seriam problema de segurança. É o vazamento de credencial que transforma o registro em superfície de ataque, e é por isso que ele fecha a abertura, e não abre.</a:t>
            </a:r>
            <a:endParaRPr/>
          </a:p>
        </p:txBody>
      </p:sp>
      <p:sp>
        <p:nvSpPr>
          <p:cNvPr id="126" name="Google Shape;126;p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6" name="Google Shape;136;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[9 s] FALA Quinze milhões de repositórios: não dá para baixar e inspecionar todos, então todo estudo precisa escolher um subconjunto. A questão é como escolher.</a:t>
            </a:r>
            <a:endParaRPr/>
          </a:p>
          <a:p>
            <a:pPr indent="0" lvl="0" marL="0" rtl="0" algn="l">
              <a:lnSpc>
                <a:spcPct val="100000"/>
              </a:lnSpc>
              <a:spcBef>
                <a:spcPts val="0"/>
              </a:spcBef>
              <a:spcAft>
                <a:spcPts val="0"/>
              </a:spcAft>
              <a:buSzPts val="1100"/>
              <a:buNone/>
            </a:pPr>
            <a:r>
              <a:rPr lang="en-US"/>
              <a:t>TERMOS População: aqui, o conjunto de todos os repositórios públicos do registro. Subconjunto ou amostra: os poucos que o estudo de fato baixa e escaneia.</a:t>
            </a:r>
            <a:endParaRPr/>
          </a:p>
          <a:p>
            <a:pPr indent="0" lvl="0" marL="0" rtl="0" algn="l">
              <a:lnSpc>
                <a:spcPct val="100000"/>
              </a:lnSpc>
              <a:spcBef>
                <a:spcPts val="0"/>
              </a:spcBef>
              <a:spcAft>
                <a:spcPts val="0"/>
              </a:spcAft>
              <a:buSzPts val="1100"/>
              <a:buNone/>
            </a:pPr>
            <a:r>
              <a:rPr lang="en-US"/>
              <a:t>POR QUE Este slide é a ponte entre a escala e o desenho do estudo. Ele existe separado do seguinte porque estabelece o fato antes da consequência: primeiro fica claro que escolher é obrigatório, e só então entra o que a escolha custa.</a:t>
            </a:r>
            <a:endParaRPr/>
          </a:p>
        </p:txBody>
      </p:sp>
      <p:sp>
        <p:nvSpPr>
          <p:cNvPr id="137" name="Google Shape;137;p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6" name="Google Shape;146;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[38 s] FALA A tabela de posicionamento do artigo, agrupada por família de amostragem, porque o eixo é o critério de escolha e não o ano. Classe de repositório: Shu, de 2017, e Liu, de 2020, com até 2,2 milhões de imagens. Categoria ou palavra-chave: Wist, de 2021, e Dahlmanns, de 2023. Popularidade ou influência: o Dr. Docker, de 2025. Amostra longitudinal: Mills, de 2023, com 380 imagens e seis scanners. Bases de sistema operacional: o nosso censo das bases, com 5.606 imagens e catorze ferramentas. Exposição: o nosso trabalho anterior, com 52.895. Todos critérios legítimos, e todos escolhem quem entra. A última linha é este trabalho: sorteio uniforme, em que cada repositório da lista tem exatamente a mesma chance. É a única marca verde da coluna, e é o que autoriza falar da população em vez do subconjunto.</a:t>
            </a:r>
            <a:endParaRPr/>
          </a:p>
          <a:p>
            <a:pPr indent="0" lvl="0" marL="0" rtl="0" algn="l">
              <a:lnSpc>
                <a:spcPct val="100000"/>
              </a:lnSpc>
              <a:spcBef>
                <a:spcPts val="0"/>
              </a:spcBef>
              <a:spcAft>
                <a:spcPts val="0"/>
              </a:spcAft>
              <a:buSzPts val="1100"/>
              <a:buNone/>
            </a:pPr>
            <a:r>
              <a:rPr lang="en-US"/>
              <a:t>TERMOS Família de amostragem: a regra que decide quais repositórios entram no estudo. Classe de repositório: separar oficiais de comunidade. Influência: posição no grafo de dependências, quantas imagens herdam daquela. Exposição: downloads diretos mais os downloads de toda imagem que reusa uma camada dela. Sorteio uniforme: cada repositório da lista enumerada tem a mesma probabilidade de ser escolhido.</a:t>
            </a:r>
            <a:endParaRPr/>
          </a:p>
          <a:p>
            <a:pPr indent="0" lvl="0" marL="0" rtl="0" algn="l">
              <a:lnSpc>
                <a:spcPct val="100000"/>
              </a:lnSpc>
              <a:spcBef>
                <a:spcPts val="0"/>
              </a:spcBef>
              <a:spcAft>
                <a:spcPts val="0"/>
              </a:spcAft>
              <a:buSzPts val="1100"/>
              <a:buNone/>
            </a:pPr>
            <a:r>
              <a:rPr lang="en-US"/>
              <a:t>POR QUE Eram duas telas partidas por cronologia, e a plateia tinha de guardar a primeira para ler a segunda. Por família cabe tudo junto, e a comparação fica lado a lado. Se perguntarem por que 2.879 é tão menor que os outros: número de imagens não é qualidade de amostra. Dois milhões escolhidos por popularidade continuam descrevendo as populares. E na coluna de scanners, cinco dos oito trabalhos do artigo rodaram um só.</a:t>
            </a:r>
            <a:endParaRPr/>
          </a:p>
        </p:txBody>
      </p:sp>
      <p:sp>
        <p:nvSpPr>
          <p:cNvPr id="147" name="Google Shape;147;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9" name="Google Shape;189;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[22 s] FALA Contra o que eu comparo. É o nosso próprio estudo anterior, publicado, que saiu da MESMA enumeração de doze vírgula sete milhões de nomes e rodou o MESMO pipeline, com as mesmas seis ferramentas. A diferença é uma só: em vez de sortear, ele ranqueia por exposição e fica com as 52.895 do topo. Como só a regra de seleção muda, o que vem adiante é comparação controlada, e não comparação entre estudos de laboratórios diferentes.</a:t>
            </a:r>
            <a:endParaRPr/>
          </a:p>
          <a:p>
            <a:pPr indent="0" lvl="0" marL="0" rtl="0" algn="l">
              <a:lnSpc>
                <a:spcPct val="100000"/>
              </a:lnSpc>
              <a:spcBef>
                <a:spcPts val="0"/>
              </a:spcBef>
              <a:spcAft>
                <a:spcPts val="0"/>
              </a:spcAft>
              <a:buSzPts val="1100"/>
              <a:buNone/>
            </a:pPr>
            <a:r>
              <a:rPr lang="en-US"/>
              <a:t>TERMOS Exposição: os downloads diretos da imagem mais os downloads de toda imagem que reusa uma camada dela. É a medida de alcance daquele trabalho. Comparação controlada: as duas amostras só diferem no que se quer estudar, aqui a regra de seleção.</a:t>
            </a:r>
            <a:endParaRPr/>
          </a:p>
          <a:p>
            <a:pPr indent="0" lvl="0" marL="0" rtl="0" algn="l">
              <a:lnSpc>
                <a:spcPct val="100000"/>
              </a:lnSpc>
              <a:spcBef>
                <a:spcPts val="0"/>
              </a:spcBef>
              <a:spcAft>
                <a:spcPts val="0"/>
              </a:spcAft>
              <a:buSzPts val="1100"/>
              <a:buNone/>
            </a:pPr>
            <a:r>
              <a:rPr lang="en-US"/>
              <a:t>POR QUE Deixo claro quem é o CONTROLE: é o sorteio uniforme. O artigo diz que um sorteio uniforme serve de controle populacional para estudos que amostram por critério; a amostra por exposição é o que está sendo checado contra esse controle, e não o contrário.</a:t>
            </a:r>
            <a:endParaRPr/>
          </a:p>
        </p:txBody>
      </p:sp>
      <p:sp>
        <p:nvSpPr>
          <p:cNvPr id="190" name="Google Shape;190;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3" name="Google Shape;203;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[12 s] FALA O ponto de partida: 12.716.568 repositórios públicos, todos os nomes que o crawl conseguiu enumerar. É desta lista que o sorteio tira, e é ela que define a população sobre a qual eu posso falar.</a:t>
            </a:r>
            <a:endParaRPr/>
          </a:p>
          <a:p>
            <a:pPr indent="0" lvl="0" marL="0" rtl="0" algn="l">
              <a:lnSpc>
                <a:spcPct val="100000"/>
              </a:lnSpc>
              <a:spcBef>
                <a:spcPts val="0"/>
              </a:spcBef>
              <a:spcAft>
                <a:spcPts val="0"/>
              </a:spcAft>
              <a:buSzPts val="1100"/>
              <a:buNone/>
            </a:pPr>
            <a:r>
              <a:rPr lang="en-US"/>
              <a:t>TERMOS Enumerar: percorrer a API do registro listando os nomes públicos existentes. Quadro amostral: a lista de onde se sorteia.</a:t>
            </a:r>
            <a:endParaRPr/>
          </a:p>
          <a:p>
            <a:pPr indent="0" lvl="0" marL="0" rtl="0" algn="l">
              <a:lnSpc>
                <a:spcPct val="100000"/>
              </a:lnSpc>
              <a:spcBef>
                <a:spcPts val="0"/>
              </a:spcBef>
              <a:spcAft>
                <a:spcPts val="0"/>
              </a:spcAft>
              <a:buSzPts val="1100"/>
              <a:buNone/>
            </a:pPr>
            <a:r>
              <a:rPr lang="en-US"/>
              <a:t>POR QUE Se perguntarem por que 12,7 milhões aqui e 15 milhões na abertura: os 15 milhões são o número que a JFrog reporta; os 12.716.568 são os nomes que a nossa enumeração de fato alcançou. Eu uso o menor, que é o que posso sustentar.</a:t>
            </a:r>
            <a:endParaRPr/>
          </a:p>
        </p:txBody>
      </p:sp>
      <p:sp>
        <p:nvSpPr>
          <p:cNvPr id="204" name="Google Shape;204;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4" name="Google Shape;224;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[12 s] FALA Desses, 4.800 sorteados. O sorteio é uniforme: pull, estrela e idade não pesam nada. Sorteei 4.800 e não 2.879 porque boa parte dos repositórios não entrega imagem pela tag padrão, e isso vira resultado daqui a pouco.</a:t>
            </a:r>
            <a:endParaRPr/>
          </a:p>
          <a:p>
            <a:pPr indent="0" lvl="0" marL="0" rtl="0" algn="l">
              <a:lnSpc>
                <a:spcPct val="100000"/>
              </a:lnSpc>
              <a:spcBef>
                <a:spcPts val="0"/>
              </a:spcBef>
              <a:spcAft>
                <a:spcPts val="0"/>
              </a:spcAft>
              <a:buSzPts val="1100"/>
              <a:buNone/>
            </a:pPr>
            <a:r>
              <a:rPr lang="en-US"/>
              <a:t>TERMOS Sorteio uniforme: cada repositório da lista tem exatamente a mesma probabilidade de ser escolhido.</a:t>
            </a:r>
            <a:endParaRPr/>
          </a:p>
          <a:p>
            <a:pPr indent="0" lvl="0" marL="0" rtl="0" algn="l">
              <a:lnSpc>
                <a:spcPct val="100000"/>
              </a:lnSpc>
              <a:spcBef>
                <a:spcPts val="0"/>
              </a:spcBef>
              <a:spcAft>
                <a:spcPts val="0"/>
              </a:spcAft>
              <a:buSzPts val="1100"/>
              <a:buNone/>
            </a:pPr>
            <a:r>
              <a:rPr lang="en-US"/>
              <a:t>POR QUE O excesso de sorteio é decisão de desenho, não acidente: sem ele a amostra final ficaria pequena demais para a margem de erro que eu queria.</a:t>
            </a:r>
            <a:endParaRPr/>
          </a:p>
        </p:txBody>
      </p:sp>
      <p:sp>
        <p:nvSpPr>
          <p:cNvPr id="225" name="Google Shape;225;p1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5" name="Google Shape;245;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[14 s] FALA E 2.879 escanearam por completo. Com esse tamanho, uma prevalência estimada em 95% tem margem de erro abaixo de um ponto percentual, com 95% de confiança, pelo método de Wilson.</a:t>
            </a:r>
            <a:endParaRPr/>
          </a:p>
          <a:p>
            <a:pPr indent="0" lvl="0" marL="0" rtl="0" algn="l">
              <a:lnSpc>
                <a:spcPct val="100000"/>
              </a:lnSpc>
              <a:spcBef>
                <a:spcPts val="0"/>
              </a:spcBef>
              <a:spcAft>
                <a:spcPts val="0"/>
              </a:spcAft>
              <a:buSzPts val="1100"/>
              <a:buNone/>
            </a:pPr>
            <a:r>
              <a:rPr lang="en-US"/>
              <a:t>TERMOS Margem de erro: quanto a estimativa pode se afastar do valor real da população. Método de Wilson: a forma de calcular o intervalo que se comporta bem quando a proporção está perto de zero ou de um, que é o nosso caso.</a:t>
            </a:r>
            <a:endParaRPr/>
          </a:p>
          <a:p>
            <a:pPr indent="0" lvl="0" marL="0" rtl="0" algn="l">
              <a:lnSpc>
                <a:spcPct val="100000"/>
              </a:lnSpc>
              <a:spcBef>
                <a:spcPts val="0"/>
              </a:spcBef>
              <a:spcAft>
                <a:spcPts val="0"/>
              </a:spcAft>
              <a:buSzPts val="1100"/>
              <a:buNone/>
            </a:pPr>
            <a:r>
              <a:rPr lang="en-US"/>
              <a:t>POR QUE Este é o número que carrega o resto do deck: toda taxa que vem depois é sobre estas 2.879.</a:t>
            </a:r>
            <a:endParaRPr/>
          </a:p>
        </p:txBody>
      </p:sp>
      <p:sp>
        <p:nvSpPr>
          <p:cNvPr id="246" name="Google Shape;246;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6" name="Google Shape;266;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[25 s] FALA Deixo a definição explícita, porque ela é o objeto do trabalho: imagem típica é a tag latest de um repositório sorteado que é escaneado até o fim. Quando eu disser imagem típica, é isso. E reparem no que a definição não diz: ela não fala de nenhuma imagem em particular. É uma afirmação sobre a população, e quem autoriza essa afirmação é o sorteio ao acaso. </a:t>
            </a:r>
            <a:endParaRPr/>
          </a:p>
          <a:p>
            <a:pPr indent="0" lvl="0" marL="0" rtl="0" algn="l">
              <a:lnSpc>
                <a:spcPct val="100000"/>
              </a:lnSpc>
              <a:spcBef>
                <a:spcPts val="0"/>
              </a:spcBef>
              <a:spcAft>
                <a:spcPts val="0"/>
              </a:spcAft>
              <a:buSzPts val="1100"/>
              <a:buNone/>
            </a:pPr>
            <a:r>
              <a:rPr lang="en-US"/>
              <a:t>TERMOS Tag latest: a versão que vem quando ninguém pede versão nenhuma, ou seja, o que um docker pull sem dois-pontos entrega. Não quer dizer mais recente: é só o rótulo padrão, e pode estar parado há anos. Escanear até o fim: as seis ferramentas terminaram sem erro naquela imagem. </a:t>
            </a:r>
            <a:endParaRPr/>
          </a:p>
          <a:p>
            <a:pPr indent="0" lvl="0" marL="0" rtl="0" algn="l">
              <a:lnSpc>
                <a:spcPct val="100000"/>
              </a:lnSpc>
              <a:spcBef>
                <a:spcPts val="0"/>
              </a:spcBef>
              <a:spcAft>
                <a:spcPts val="0"/>
              </a:spcAft>
              <a:buSzPts val="1100"/>
              <a:buNone/>
            </a:pPr>
            <a:r>
              <a:rPr lang="en-US"/>
              <a:t>POR QUE Este slide era duas linhas no rodapé do slide anterior, em 20 pt. Virou slide porque é a definição que sustenta todo número que vem depois, e porque em 27 pt não cabia lá. Se alguém disser que a latest não representa o repositório, a resposta honesta é: representa o que o usuário recebe quando não escolhe versão, que é o caso mais comum, e está no slide de ameaças à validade.</a:t>
            </a:r>
            <a:endParaRPr/>
          </a:p>
        </p:txBody>
      </p:sp>
      <p:sp>
        <p:nvSpPr>
          <p:cNvPr id="267" name="Google Shape;267;p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p1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1" name="Google Shape;281;p1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[10 s] FALA O pipeline é o mesmo do estudo anterior, e isso é de propósito. Primeira etapa: entra uma imagem por repositório, sempre a tag latest, que é a que o usuário recebe por padrão. O que muda entre as duas amostras é só COMO o repositório entra: aqui ele é sorteado, e no estudo anterior foi ranqueado por exposição.</a:t>
            </a:r>
            <a:endParaRPr/>
          </a:p>
          <a:p>
            <a:pPr indent="0" lvl="0" marL="0" rtl="0" algn="l">
              <a:lnSpc>
                <a:spcPct val="100000"/>
              </a:lnSpc>
              <a:spcBef>
                <a:spcPts val="0"/>
              </a:spcBef>
              <a:spcAft>
                <a:spcPts val="0"/>
              </a:spcAft>
              <a:buSzPts val="1100"/>
              <a:buNone/>
            </a:pPr>
            <a:r>
              <a:rPr lang="en-US"/>
              <a:t>POR QUE Repetir o pipeline não é preguiça: é o que torna as duas amostras comparáveis. Qualquer diferença de ferramenta ou de configuração viraria explicação alternativa para a diferença de taxa.</a:t>
            </a:r>
            <a:endParaRPr/>
          </a:p>
        </p:txBody>
      </p:sp>
      <p:sp>
        <p:nvSpPr>
          <p:cNvPr id="282" name="Google Shape;282;p1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1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1" name="Google Shape;301;p1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[10 s] FALA Segunda etapa: passam as seis ferramentas, sempre na mesma configuração. Nada de rodar um scanner numa amostra e outro na outra.</a:t>
            </a:r>
            <a:endParaRPr/>
          </a:p>
          <a:p>
            <a:pPr indent="0" lvl="0" marL="0" rtl="0" algn="l">
              <a:lnSpc>
                <a:spcPct val="100000"/>
              </a:lnSpc>
              <a:spcBef>
                <a:spcPts val="0"/>
              </a:spcBef>
              <a:spcAft>
                <a:spcPts val="0"/>
              </a:spcAft>
              <a:buSzPts val="1100"/>
              <a:buNone/>
            </a:pPr>
            <a:r>
              <a:rPr lang="en-US"/>
              <a:t>TERMOS Mesma configuração: mesmas versões de ferramenta, mesmos parâmetros, mesma ordem.</a:t>
            </a:r>
            <a:endParaRPr/>
          </a:p>
        </p:txBody>
      </p:sp>
      <p:sp>
        <p:nvSpPr>
          <p:cNvPr id="302" name="Google Shape;302;p1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1" name="Google Shape;321;p1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[12 s] FALA Terceira etapa: saem os achados, em três eixos -- pacote, configuração e segredo. E a linha de baixo é o que sustenta a comparação inteira: as duas amostras mudam só na seleção.</a:t>
            </a:r>
            <a:endParaRPr/>
          </a:p>
          <a:p>
            <a:pPr indent="0" lvl="0" marL="0" rtl="0" algn="l">
              <a:lnSpc>
                <a:spcPct val="100000"/>
              </a:lnSpc>
              <a:spcBef>
                <a:spcPts val="0"/>
              </a:spcBef>
              <a:spcAft>
                <a:spcPts val="0"/>
              </a:spcAft>
              <a:buSzPts val="1100"/>
              <a:buNone/>
            </a:pPr>
            <a:r>
              <a:rPr lang="en-US"/>
              <a:t>TERMOS Achado de pacote: vulnerabilidade conhecida num pacote instalado. De configuração: escolha de construção da imagem que aumenta risco. De segredo: credencial embutida nos arquivos.</a:t>
            </a:r>
            <a:endParaRPr/>
          </a:p>
          <a:p>
            <a:pPr indent="0" lvl="0" marL="0" rtl="0" algn="l">
              <a:lnSpc>
                <a:spcPct val="100000"/>
              </a:lnSpc>
              <a:spcBef>
                <a:spcPts val="0"/>
              </a:spcBef>
              <a:spcAft>
                <a:spcPts val="0"/>
              </a:spcAft>
              <a:buSzPts val="1100"/>
              <a:buNone/>
            </a:pPr>
            <a:r>
              <a:rPr lang="en-US"/>
              <a:t>POR QUE Inventário, que o Syft levanta, não é família de achado: é insumo para as outras. Por isso a tela lista três, e não quatro.</a:t>
            </a:r>
            <a:endParaRPr/>
          </a:p>
        </p:txBody>
      </p:sp>
      <p:sp>
        <p:nvSpPr>
          <p:cNvPr id="322" name="Google Shape;322;p1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1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1" name="Google Shape;341;p1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[12 s] FALA Começo pelo inventário, porque ele vem antes de todo o resto. O Syft abre a imagem e levanta o SBOM: a lista de tudo o que está instalado ali dentro, pacote por pacote, com nome e versão. Nada nos outros eixos existe sem essa lista.</a:t>
            </a:r>
            <a:endParaRPr/>
          </a:p>
          <a:p>
            <a:pPr indent="0" lvl="0" marL="0" rtl="0" algn="l">
              <a:lnSpc>
                <a:spcPct val="100000"/>
              </a:lnSpc>
              <a:spcBef>
                <a:spcPts val="0"/>
              </a:spcBef>
              <a:spcAft>
                <a:spcPts val="0"/>
              </a:spcAft>
              <a:buSzPts val="1100"/>
              <a:buNone/>
            </a:pPr>
            <a:r>
              <a:rPr lang="en-US"/>
              <a:t>TERMOS SBOM (software bill of materials): o inventário do que compõe um artefato de software. Aqui, os pacotes de sistema e de linguagem presentes na imagem.</a:t>
            </a:r>
            <a:endParaRPr/>
          </a:p>
          <a:p>
            <a:pPr indent="0" lvl="0" marL="0" rtl="0" algn="l">
              <a:lnSpc>
                <a:spcPct val="100000"/>
              </a:lnSpc>
              <a:spcBef>
                <a:spcPts val="0"/>
              </a:spcBef>
              <a:spcAft>
                <a:spcPts val="0"/>
              </a:spcAft>
              <a:buSzPts val="1100"/>
              <a:buNone/>
            </a:pPr>
            <a:r>
              <a:rPr lang="en-US"/>
              <a:t>POR QUE O SBOM sustenta os outros eixos: é a lista do Syft que Trivy, Grype e OSV casam contra as bases de vulnerabilidade. Se o inventário erra, os três erram junto, e essa é uma das explicações candidatas para a divergência entre eles.</a:t>
            </a:r>
            <a:endParaRPr/>
          </a:p>
        </p:txBody>
      </p:sp>
      <p:sp>
        <p:nvSpPr>
          <p:cNvPr id="342" name="Google Shape;342;p1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p1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75" name="Google Shape;375;p1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[16 s] FALA Seis ferramentas, e eu vou por eixo de achado. O primeiro é vulnerabilidade, e nele rodam TRÊS: Trivy, Grype e OSV, cada um com a sua base. Três ferramentas para a mesma pergunta não é redundância -- é o que permite medir o quanto a resposta depende de qual delas se usa, e isso vira resultado adiante.</a:t>
            </a:r>
            <a:endParaRPr/>
          </a:p>
          <a:p>
            <a:pPr indent="0" lvl="0" marL="0" rtl="0" algn="l">
              <a:lnSpc>
                <a:spcPct val="100000"/>
              </a:lnSpc>
              <a:spcBef>
                <a:spcPts val="0"/>
              </a:spcBef>
              <a:spcAft>
                <a:spcPts val="0"/>
              </a:spcAft>
              <a:buSzPts val="1100"/>
              <a:buNone/>
            </a:pPr>
            <a:r>
              <a:rPr lang="en-US"/>
              <a:t>TERMOS Trivy, Grype e OSV casam a lista de pacotes contra bases públicas de vulnerabilidade; a do OSV é a Open Source Vulnerabilities, do Google. Syft, no primeiro cartão, é quem levanta essa lista de pacotes, o SBOM, e alimenta os três.</a:t>
            </a:r>
            <a:endParaRPr/>
          </a:p>
          <a:p>
            <a:pPr indent="0" lvl="0" marL="0" rtl="0" algn="l">
              <a:lnSpc>
                <a:spcPct val="100000"/>
              </a:lnSpc>
              <a:spcBef>
                <a:spcPts val="0"/>
              </a:spcBef>
              <a:spcAft>
                <a:spcPts val="0"/>
              </a:spcAft>
              <a:buSzPts val="1100"/>
              <a:buNone/>
            </a:pPr>
            <a:r>
              <a:rPr lang="en-US"/>
              <a:t>POR QUE A severidade é normalizada por CVSS em seis níveis, e os achados são juntados sem deduplicar entre scanners; por isso o artigo também reporta CVE distinto.</a:t>
            </a:r>
            <a:endParaRPr/>
          </a:p>
        </p:txBody>
      </p:sp>
      <p:sp>
        <p:nvSpPr>
          <p:cNvPr id="376" name="Google Shape;376;p1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9" name="Google Shape;409;p1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[10 s] FALA O segundo eixo é configuração, e nele roda o Dockle: ele não olha pacote, olha como a imagem foi montada. Falta de sonda de saúde, execução como root, content trust desligado.</a:t>
            </a:r>
            <a:endParaRPr/>
          </a:p>
          <a:p>
            <a:pPr indent="0" lvl="0" marL="0" rtl="0" algn="l">
              <a:lnSpc>
                <a:spcPct val="100000"/>
              </a:lnSpc>
              <a:spcBef>
                <a:spcPts val="0"/>
              </a:spcBef>
              <a:spcAft>
                <a:spcPts val="0"/>
              </a:spcAft>
              <a:buSzPts val="1100"/>
              <a:buNone/>
            </a:pPr>
            <a:r>
              <a:rPr lang="en-US"/>
              <a:t>TERMOS Endurecimento: as escolhas de construção que reduzem o dano quando algo dá errado. Achado de configuração aponta uma escolha de construção, não uma falha de software.</a:t>
            </a:r>
            <a:endParaRPr/>
          </a:p>
          <a:p>
            <a:pPr indent="0" lvl="0" marL="0" rtl="0" algn="l">
              <a:lnSpc>
                <a:spcPct val="100000"/>
              </a:lnSpc>
              <a:spcBef>
                <a:spcPts val="0"/>
              </a:spcBef>
              <a:spcAft>
                <a:spcPts val="0"/>
              </a:spcAft>
              <a:buSzPts val="1100"/>
              <a:buNone/>
            </a:pPr>
            <a:r>
              <a:rPr lang="en-US"/>
              <a:t>POR QUE Separar este eixo importa porque a taxa dele é quase universal, e uma taxa quase universal só significa alguma coisa quando se sabe o que está sendo contado.</a:t>
            </a:r>
            <a:endParaRPr/>
          </a:p>
        </p:txBody>
      </p:sp>
      <p:sp>
        <p:nvSpPr>
          <p:cNvPr id="410" name="Google Shape;410;p1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1" name="Shape 441"/>
        <p:cNvGrpSpPr/>
        <p:nvPr/>
      </p:nvGrpSpPr>
      <p:grpSpPr>
        <a:xfrm>
          <a:off x="0" y="0"/>
          <a:ext cx="0" cy="0"/>
          <a:chOff x="0" y="0"/>
          <a:chExt cx="0" cy="0"/>
        </a:xfrm>
      </p:grpSpPr>
      <p:sp>
        <p:nvSpPr>
          <p:cNvPr id="442" name="Google Shape;442;p2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3" name="Google Shape;443;p2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[10 s] FALA O terceiro eixo é segredo, e nele roda o TruffleHog: ele varre os arquivos da imagem procurando chave, senha ou token embutido. Guardem este, porque o resultado dele é o mais surpreendente do trabalho.</a:t>
            </a:r>
            <a:endParaRPr/>
          </a:p>
          <a:p>
            <a:pPr indent="0" lvl="0" marL="0" rtl="0" algn="l">
              <a:lnSpc>
                <a:spcPct val="100000"/>
              </a:lnSpc>
              <a:spcBef>
                <a:spcPts val="0"/>
              </a:spcBef>
              <a:spcAft>
                <a:spcPts val="0"/>
              </a:spcAft>
              <a:buSzPts val="1100"/>
              <a:buNone/>
            </a:pPr>
            <a:r>
              <a:rPr lang="en-US"/>
              <a:t>TERMOS Segredo: credencial embutida nos arquivos da imagem. O TruffleHog roda aqui SEM verificação ativa, então ele julga plausibilidade, não se a credencial ainda funciona.</a:t>
            </a:r>
            <a:endParaRPr/>
          </a:p>
          <a:p>
            <a:pPr indent="0" lvl="0" marL="0" rtl="0" algn="l">
              <a:lnSpc>
                <a:spcPct val="100000"/>
              </a:lnSpc>
              <a:spcBef>
                <a:spcPts val="0"/>
              </a:spcBef>
              <a:spcAft>
                <a:spcPts val="0"/>
              </a:spcAft>
              <a:buSzPts val="1100"/>
              <a:buNone/>
            </a:pPr>
            <a:r>
              <a:rPr lang="en-US"/>
              <a:t>POR QUE Anuncio aqui que este eixo dá resultado forte para a plateia não passar batido por ele: o achado é que 99,5% do que ele reporta não é credencial.</a:t>
            </a:r>
            <a:endParaRPr/>
          </a:p>
        </p:txBody>
      </p:sp>
      <p:sp>
        <p:nvSpPr>
          <p:cNvPr id="444" name="Google Shape;444;p2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5" name="Shape 475"/>
        <p:cNvGrpSpPr/>
        <p:nvPr/>
      </p:nvGrpSpPr>
      <p:grpSpPr>
        <a:xfrm>
          <a:off x="0" y="0"/>
          <a:ext cx="0" cy="0"/>
          <a:chOff x="0" y="0"/>
          <a:chExt cx="0" cy="0"/>
        </a:xfrm>
      </p:grpSpPr>
      <p:sp>
        <p:nvSpPr>
          <p:cNvPr id="476" name="Google Shape;476;p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7" name="Google Shape;477;p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[5 s] FALA Vamos aos resultados. </a:t>
            </a:r>
            <a:endParaRPr/>
          </a:p>
          <a:p>
            <a:pPr indent="0" lvl="0" marL="0" rtl="0" algn="l">
              <a:lnSpc>
                <a:spcPct val="100000"/>
              </a:lnSpc>
              <a:spcBef>
                <a:spcPts val="0"/>
              </a:spcBef>
              <a:spcAft>
                <a:spcPts val="0"/>
              </a:spcAft>
              <a:buSzPts val="1100"/>
              <a:buNone/>
            </a:pPr>
            <a:r>
              <a:rPr lang="en-US"/>
              <a:t>Agradeço à Capes, ao CNPq e à FAPERGS pelo apoio. </a:t>
            </a:r>
            <a:endParaRPr/>
          </a:p>
          <a:p>
            <a:pPr indent="0" lvl="0" marL="0" rtl="0" algn="l">
              <a:lnSpc>
                <a:spcPct val="100000"/>
              </a:lnSpc>
              <a:spcBef>
                <a:spcPts val="0"/>
              </a:spcBef>
              <a:spcAft>
                <a:spcPts val="0"/>
              </a:spcAft>
              <a:buSzPts val="1100"/>
              <a:buNone/>
            </a:pPr>
            <a:r>
              <a:rPr lang="en-US"/>
              <a:t>TERMOS Nenhum novo. </a:t>
            </a:r>
            <a:endParaRPr/>
          </a:p>
          <a:p>
            <a:pPr indent="0" lvl="0" marL="0" rtl="0" algn="l">
              <a:lnSpc>
                <a:spcPct val="100000"/>
              </a:lnSpc>
              <a:spcBef>
                <a:spcPts val="0"/>
              </a:spcBef>
              <a:spcAft>
                <a:spcPts val="0"/>
              </a:spcAft>
              <a:buSzPts val="1100"/>
              <a:buNone/>
            </a:pPr>
            <a:r>
              <a:rPr lang="en-US"/>
              <a:t>POR QUE Divisória.</a:t>
            </a:r>
            <a:endParaRPr/>
          </a:p>
        </p:txBody>
      </p:sp>
      <p:sp>
        <p:nvSpPr>
          <p:cNvPr id="478" name="Google Shape;478;p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p2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0" name="Google Shape;490;p2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[44 s] FALA Dos 4.800 sorteados, 248 não entregam imagem por erro, acesso negado ou outra arquitetura, e isso saiu da tela para caber no piso de fonte novo. Primeiro resultado, e ele só existe porque o desenho é aleatório. Das 4.800 sorteadas, 60% escanearam. Mas quase 35% não têm tag latest: você digita docker pull com o nome do repositório e não vem imagem nenhuma. São repositórios dormentes, com envio mediano lá em 2023. O resto se divide entre erro de download, acesso negado, outra arquitetura e scan que não terminou. Reparem no que isso significa: um terço do registro é uma população que desenho ranqueado nenhum enxerga, porque ela nunca chega ao topo de lista nenhuma. </a:t>
            </a:r>
            <a:endParaRPr/>
          </a:p>
          <a:p>
            <a:pPr indent="0" lvl="0" marL="0" rtl="0" algn="l">
              <a:lnSpc>
                <a:spcPct val="100000"/>
              </a:lnSpc>
              <a:spcBef>
                <a:spcPts val="0"/>
              </a:spcBef>
              <a:spcAft>
                <a:spcPts val="0"/>
              </a:spcAft>
              <a:buSzPts val="1100"/>
              <a:buNone/>
            </a:pPr>
            <a:r>
              <a:rPr lang="en-US"/>
              <a:t>TERMOS Repositório dormente: existe, tem nome, mas não recebe envio há muito tempo. Envio, ou push: a publicação de uma imagem no repositório. Acesso negado: o registro responde que o nome existe mas não libera o download. </a:t>
            </a:r>
            <a:endParaRPr/>
          </a:p>
          <a:p>
            <a:pPr indent="0" lvl="0" marL="0" rtl="0" algn="l">
              <a:lnSpc>
                <a:spcPct val="100000"/>
              </a:lnSpc>
              <a:spcBef>
                <a:spcPts val="0"/>
              </a:spcBef>
              <a:spcAft>
                <a:spcPts val="0"/>
              </a:spcAft>
              <a:buSzPts val="1100"/>
              <a:buNone/>
            </a:pPr>
            <a:r>
              <a:rPr lang="en-US"/>
              <a:t>POR QUE Este número não tem correspondente na amostra por exposição, e por isso ele aparece como não observável na tabela de comparação: um repositório sem imagem nunca acumula download, então nunca entra em um ranking de exposição. É o exemplo mais direto de resultado que só um sorteio produz.</a:t>
            </a:r>
            <a:endParaRPr/>
          </a:p>
        </p:txBody>
      </p:sp>
      <p:sp>
        <p:nvSpPr>
          <p:cNvPr id="491" name="Google Shape;491;p2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p2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1" name="Google Shape;501;p2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[20 s] FALA E os 248 que sobram da barra anterior, um por um, porque número sem exemplo é buraco. Cento e treze não baixam: quarenta e oito por esquema de manifesto antigo, que o Docker Engine atual recusa; vinte e oito são artefatos OCI que não são imagem executável; e trinta e sete são outros erros de pull. Cinquenta e sete começaram e o scan travou. Quarenta e dois dão acesso negado, que é o mesmo erro para repositório privado e para repositório apagado, então não dá para separar os dois. E trinta e seis existem só para outra arquitetura, não para linux/amd64.</a:t>
            </a:r>
            <a:endParaRPr/>
          </a:p>
          <a:p>
            <a:pPr indent="0" lvl="0" marL="0" rtl="0" algn="l">
              <a:lnSpc>
                <a:spcPct val="100000"/>
              </a:lnSpc>
              <a:spcBef>
                <a:spcPts val="0"/>
              </a:spcBef>
              <a:spcAft>
                <a:spcPts val="0"/>
              </a:spcAft>
              <a:buSzPts val="1100"/>
              <a:buNone/>
            </a:pPr>
            <a:r>
              <a:rPr lang="en-US"/>
              <a:t>TERMOS Manifesto: o documento que descreve as camadas da imagem; o esquema versão 1 foi aposentado e o Engine atual recusa. Artefato OCI: pacote que usa o mesmo formato de distribuição mas não é imagem executável, por exemplo um gráfico Helm.</a:t>
            </a:r>
            <a:endParaRPr/>
          </a:p>
          <a:p>
            <a:pPr indent="0" lvl="0" marL="0" rtl="0" algn="l">
              <a:lnSpc>
                <a:spcPct val="100000"/>
              </a:lnSpc>
              <a:spcBef>
                <a:spcPts val="0"/>
              </a:spcBef>
              <a:spcAft>
                <a:spcPts val="0"/>
              </a:spcAft>
              <a:buSzPts val="1100"/>
              <a:buNone/>
            </a:pPr>
            <a:r>
              <a:rPr lang="en-US"/>
              <a:t>TERMOS Travou: a tarefa começou o scan e nunca produziu relatório -- scanner preso, tempo esgotado ou erro de disco ao gravar. A disputa pelo cache do Trivy, que aparece na reserva, é outra coisa: ela acontece DENTRO das 2.879 que escanearam.</a:t>
            </a:r>
            <a:endParaRPr/>
          </a:p>
          <a:p>
            <a:pPr indent="0" lvl="0" marL="0" rtl="0" algn="l">
              <a:lnSpc>
                <a:spcPct val="100000"/>
              </a:lnSpc>
              <a:spcBef>
                <a:spcPts val="0"/>
              </a:spcBef>
              <a:spcAft>
                <a:spcPts val="0"/>
              </a:spcAft>
              <a:buSzPts val="1100"/>
              <a:buNone/>
            </a:pPr>
            <a:r>
              <a:rPr lang="en-US"/>
              <a:t>POR QUE O acesso negado ser ambíguo entre privado e apagado é limitação do registro, não do nosso desenho, e vale dizer se perguntarem. Nenhum desses 248 entra nas taxas que vêm a seguir: elas são todas sobre as 2.879.</a:t>
            </a:r>
            <a:endParaRPr/>
          </a:p>
        </p:txBody>
      </p:sp>
      <p:sp>
        <p:nvSpPr>
          <p:cNvPr id="502" name="Google Shape;502;p2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2" name="Google Shape;522;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[25 s] FALA A imagem típica carrega vulnerabilidades: 94,4% têm ao menos uma crítica e 96,8% têm ao menos uma de qualquer severidade. Alguém vai perguntar se isso é inflado por contar o mesmo CVE em vários scanners. É em parte: deduplicando, a mediana cai de 947 para 260 CVEs distintos. Mas a fração de imagens afetadas não muda, e é ela o número que eu estou reportando. </a:t>
            </a:r>
            <a:endParaRPr/>
          </a:p>
          <a:p>
            <a:pPr indent="0" lvl="0" marL="0" rtl="0" algn="l">
              <a:lnSpc>
                <a:spcPct val="100000"/>
              </a:lnSpc>
              <a:spcBef>
                <a:spcPts val="0"/>
              </a:spcBef>
              <a:spcAft>
                <a:spcPts val="0"/>
              </a:spcAft>
              <a:buSzPts val="1100"/>
              <a:buNone/>
            </a:pPr>
            <a:r>
              <a:rPr lang="en-US"/>
              <a:t>TERMOS CVE: o identificador público de uma vulnerabilidade, do tipo CVE hífen 2021 hífen 44228. Crítica: o nível mais alto da escala CVSS, de 9,0 a 10,0. Mediana: metade das imagens está abaixo, metade acima; é mais honesta que a média aqui porque a cauda é longa. Deduplicar: contar uma vez o CVE que apareceu em mais de um scanner. </a:t>
            </a:r>
            <a:endParaRPr/>
          </a:p>
          <a:p>
            <a:pPr indent="0" lvl="0" marL="0" rtl="0" algn="l">
              <a:lnSpc>
                <a:spcPct val="100000"/>
              </a:lnSpc>
              <a:spcBef>
                <a:spcPts val="0"/>
              </a:spcBef>
              <a:spcAft>
                <a:spcPts val="0"/>
              </a:spcAft>
              <a:buSzPts val="1100"/>
              <a:buNone/>
            </a:pPr>
            <a:r>
              <a:rPr lang="en-US"/>
              <a:t>POR QUE Os 94,4% são a taxa que entra no teste contra a amostra por exposição, daqui a dois slides. Se perguntarem se 947 vulnerabilidades por imagem é crível: é contagem bruta de pacote, somada entre scanners, e o próprio artigo diz que taxa de scanner não é risco explorável. A frase final da apresentação volta nisso.</a:t>
            </a:r>
            <a:endParaRPr/>
          </a:p>
        </p:txBody>
      </p:sp>
      <p:sp>
        <p:nvSpPr>
          <p:cNvPr id="523" name="Google Shape;523;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37" name="Google Shape;537;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[25 s] FALA Esta é a distribuição acumulada da contagem por imagem, em escala logarítmica. A leitura é a linha de baixo: metade das imagens passa de 947 vulnerabilidades de pacote, e a cauda vai até 26.511 em uma única imagem. O degrau no meio da curva mostra que não é um punhado de imagens ruins puxando a média: o grosso da população está na faixa alta. </a:t>
            </a:r>
            <a:endParaRPr/>
          </a:p>
          <a:p>
            <a:pPr indent="0" lvl="0" marL="0" rtl="0" algn="l">
              <a:lnSpc>
                <a:spcPct val="100000"/>
              </a:lnSpc>
              <a:spcBef>
                <a:spcPts val="0"/>
              </a:spcBef>
              <a:spcAft>
                <a:spcPts val="0"/>
              </a:spcAft>
              <a:buSzPts val="1100"/>
              <a:buNone/>
            </a:pPr>
            <a:r>
              <a:rPr lang="en-US"/>
              <a:t>TERMOS Distribuição acumulada: para cada valor do eixo horizontal, a porcentagem de imagens com contagem até ali. Escala logarítmica: cada passo do eixo multiplica, em vez de somar; sem ela, a cauda até 26 mil esmagaria o resto do gráfico. </a:t>
            </a:r>
            <a:endParaRPr/>
          </a:p>
          <a:p>
            <a:pPr indent="0" lvl="0" marL="0" rtl="0" algn="l">
              <a:lnSpc>
                <a:spcPct val="100000"/>
              </a:lnSpc>
              <a:spcBef>
                <a:spcPts val="0"/>
              </a:spcBef>
              <a:spcAft>
                <a:spcPts val="0"/>
              </a:spcAft>
              <a:buSzPts val="1100"/>
              <a:buNone/>
            </a:pPr>
            <a:r>
              <a:rPr lang="en-US"/>
              <a:t>POR QUE O gráfico ficou sozinho no slide de propósito: no arquivo anterior ele dividia espaço com uma coluna de texto e ficava pequeno demais para ser lido de uma sala grande. Os números que importam viraram a linha de baixo.</a:t>
            </a:r>
            <a:endParaRPr/>
          </a:p>
        </p:txBody>
      </p:sp>
      <p:sp>
        <p:nvSpPr>
          <p:cNvPr id="538" name="Google Shape;538;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5" name="Shape 545"/>
        <p:cNvGrpSpPr/>
        <p:nvPr/>
      </p:nvGrpSpPr>
      <p:grpSpPr>
        <a:xfrm>
          <a:off x="0" y="0"/>
          <a:ext cx="0" cy="0"/>
          <a:chOff x="0" y="0"/>
          <a:chExt cx="0" cy="0"/>
        </a:xfrm>
      </p:grpSpPr>
      <p:sp>
        <p:nvSpPr>
          <p:cNvPr id="546" name="Google Shape;54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47" name="Google Shape;54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[8 s] FALA A comparação central do trabalho, nas duas amostras lado a lado. Vou linha a linha, e cada uma vem destacada na tela seguinte.</a:t>
            </a:r>
            <a:endParaRPr/>
          </a:p>
          <a:p>
            <a:pPr indent="0" lvl="0" marL="0" rtl="0" algn="l">
              <a:lnSpc>
                <a:spcPct val="100000"/>
              </a:lnSpc>
              <a:spcBef>
                <a:spcPts val="0"/>
              </a:spcBef>
              <a:spcAft>
                <a:spcPts val="0"/>
              </a:spcAft>
              <a:buSzPts val="1100"/>
              <a:buNone/>
            </a:pPr>
            <a:r>
              <a:rPr lang="en-US"/>
              <a:t>POR QUE A tabela inteira antes de qualquer anel: a plateia precisa ver a forma do todo antes de olhar uma fila. Nas telas seguintes é a MESMA tabela, com o anel andando.</a:t>
            </a:r>
            <a:endParaRPr/>
          </a:p>
        </p:txBody>
      </p:sp>
      <p:sp>
        <p:nvSpPr>
          <p:cNvPr id="548" name="Google Shape;54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9" name="Shape 579"/>
        <p:cNvGrpSpPr/>
        <p:nvPr/>
      </p:nvGrpSpPr>
      <p:grpSpPr>
        <a:xfrm>
          <a:off x="0" y="0"/>
          <a:ext cx="0" cy="0"/>
          <a:chOff x="0" y="0"/>
          <a:chExt cx="0" cy="0"/>
        </a:xfrm>
      </p:grpSpPr>
      <p:sp>
        <p:nvSpPr>
          <p:cNvPr id="580" name="Google Shape;580;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1" name="Google Shape;581;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[16 s] FALA A comparação central do trabalho, e eu vou linha a linha. Antes de olhar os números, a expectativa razoável: imagem mais baixada tem mais gente olhando, mais issue aberta, mais pressão para atualizar. Deveria ser MELHOR mantida, e portanto menos vulnerável. É isso que a tabela testa. Primeira linha, o tamanho de cada amostra: 2.879 sorteadas contra 52.895 ranqueadas por exposição, mesmo pipeline.</a:t>
            </a:r>
            <a:endParaRPr/>
          </a:p>
          <a:p>
            <a:pPr indent="0" lvl="0" marL="0" rtl="0" algn="l">
              <a:lnSpc>
                <a:spcPct val="100000"/>
              </a:lnSpc>
              <a:spcBef>
                <a:spcPts val="0"/>
              </a:spcBef>
              <a:spcAft>
                <a:spcPts val="0"/>
              </a:spcAft>
              <a:buSzPts val="1100"/>
              <a:buNone/>
            </a:pPr>
            <a:r>
              <a:rPr lang="en-US"/>
              <a:t>TERMOS Exposição: downloads diretos mais os downloads de toda imagem que reusa uma camada daquela. É a medida de alcance do trabalho anterior.</a:t>
            </a:r>
            <a:endParaRPr/>
          </a:p>
          <a:p>
            <a:pPr indent="0" lvl="0" marL="0" rtl="0" algn="l">
              <a:lnSpc>
                <a:spcPct val="100000"/>
              </a:lnSpc>
              <a:spcBef>
                <a:spcPts val="0"/>
              </a:spcBef>
              <a:spcAft>
                <a:spcPts val="0"/>
              </a:spcAft>
              <a:buSzPts val="1100"/>
              <a:buNone/>
            </a:pPr>
            <a:r>
              <a:rPr lang="en-US"/>
              <a:t>POR QUE Enuncio a expectativa em voz alta antes do resultado. Sem isso o número não surpreende ninguém, e a contribuição do sorteio se perde.</a:t>
            </a:r>
            <a:endParaRPr/>
          </a:p>
        </p:txBody>
      </p:sp>
      <p:sp>
        <p:nvSpPr>
          <p:cNvPr id="582" name="Google Shape;582;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1" name="Shape 611"/>
        <p:cNvGrpSpPr/>
        <p:nvPr/>
      </p:nvGrpSpPr>
      <p:grpSpPr>
        <a:xfrm>
          <a:off x="0" y="0"/>
          <a:ext cx="0" cy="0"/>
          <a:chOff x="0" y="0"/>
          <a:chExt cx="0" cy="0"/>
        </a:xfrm>
      </p:grpSpPr>
      <p:sp>
        <p:nvSpPr>
          <p:cNvPr id="612" name="Google Shape;612;p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3" name="Google Shape;613;p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[15 s] FALA Vulnerabilidade crítica: 94,4% na aleatória contra 93,4% na mais exposta. Um ponto percentual, e ele pende para a ALEATÓRIA. O teste z distingue as duas, com p igual a 0,03, mas a diferença é de um ponto e o sinal é o oposto do esperado.</a:t>
            </a:r>
            <a:endParaRPr/>
          </a:p>
          <a:p>
            <a:pPr indent="0" lvl="0" marL="0" rtl="0" algn="l">
              <a:lnSpc>
                <a:spcPct val="100000"/>
              </a:lnSpc>
              <a:spcBef>
                <a:spcPts val="0"/>
              </a:spcBef>
              <a:spcAft>
                <a:spcPts val="0"/>
              </a:spcAft>
              <a:buSzPts val="1100"/>
              <a:buNone/>
            </a:pPr>
            <a:r>
              <a:rPr lang="en-US"/>
              <a:t>TERMOS Teste z de duas proporções: responde se a diferença entre duas taxas é maior do que o acaso da amostragem costuma produzir. p abaixo de 0,05 indica taxas distinguíveis.</a:t>
            </a:r>
            <a:endParaRPr/>
          </a:p>
          <a:p>
            <a:pPr indent="0" lvl="0" marL="0" rtl="0" algn="l">
              <a:lnSpc>
                <a:spcPct val="100000"/>
              </a:lnSpc>
              <a:spcBef>
                <a:spcPts val="0"/>
              </a:spcBef>
              <a:spcAft>
                <a:spcPts val="0"/>
              </a:spcAft>
              <a:buSzPts val="1100"/>
              <a:buNone/>
            </a:pPr>
            <a:r>
              <a:rPr lang="en-US"/>
              <a:t>POR QUE Distinguível e relevante são coisas diferentes, e com 52.895 de um lado quase tudo fica distinguível. O que importa é o tamanho: um ponto.</a:t>
            </a:r>
            <a:endParaRPr/>
          </a:p>
        </p:txBody>
      </p:sp>
      <p:sp>
        <p:nvSpPr>
          <p:cNvPr id="614" name="Google Shape;614;p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5" name="Google Shape;645;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[10 s] FALA Alta severidade: 96,1% contra 95,5%. Aqui o teste NÃO distingue as duas, com p igual a 0,15. E em qualquer severidade, que não está na tela, 96,8% contra 96,3%, com p igual a 0,23: também não distingue.</a:t>
            </a:r>
            <a:endParaRPr/>
          </a:p>
          <a:p>
            <a:pPr indent="0" lvl="0" marL="0" rtl="0" algn="l">
              <a:lnSpc>
                <a:spcPct val="100000"/>
              </a:lnSpc>
              <a:spcBef>
                <a:spcPts val="0"/>
              </a:spcBef>
              <a:spcAft>
                <a:spcPts val="0"/>
              </a:spcAft>
              <a:buSzPts val="1100"/>
              <a:buNone/>
            </a:pPr>
            <a:r>
              <a:rPr lang="en-US"/>
              <a:t>POR QUE Duas das três comparações de vulnerabilidade não separam as amostras. É o núcleo do achado.</a:t>
            </a:r>
            <a:endParaRPr/>
          </a:p>
        </p:txBody>
      </p:sp>
      <p:sp>
        <p:nvSpPr>
          <p:cNvPr id="646" name="Google Shape;646;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5" name="Shape 675"/>
        <p:cNvGrpSpPr/>
        <p:nvPr/>
      </p:nvGrpSpPr>
      <p:grpSpPr>
        <a:xfrm>
          <a:off x="0" y="0"/>
          <a:ext cx="0" cy="0"/>
          <a:chOff x="0" y="0"/>
          <a:chExt cx="0" cy="0"/>
        </a:xfrm>
      </p:grpSpPr>
      <p:sp>
        <p:nvSpPr>
          <p:cNvPr id="676" name="Google Shape;676;p3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77" name="Google Shape;677;p3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[12 s] FALA Segredo em bruto: 82,4% contra 76,9%, e essa diferença é bem distinguível, com p abaixo de 0,001. Mas guardem o "em bruto": o próximo slide mostra o que sobra quando alguém olha as detecções uma por uma.</a:t>
            </a:r>
            <a:endParaRPr/>
          </a:p>
          <a:p>
            <a:pPr indent="0" lvl="0" marL="0" rtl="0" algn="l">
              <a:lnSpc>
                <a:spcPct val="100000"/>
              </a:lnSpc>
              <a:spcBef>
                <a:spcPts val="0"/>
              </a:spcBef>
              <a:spcAft>
                <a:spcPts val="0"/>
              </a:spcAft>
              <a:buSzPts val="1100"/>
              <a:buNone/>
            </a:pPr>
            <a:r>
              <a:rPr lang="en-US"/>
              <a:t>POR QUE Deixo a armadilha montada de propósito: a taxa bruta é a que todo mundo reporta, e ela é a que menos vale.</a:t>
            </a:r>
            <a:endParaRPr/>
          </a:p>
        </p:txBody>
      </p:sp>
      <p:sp>
        <p:nvSpPr>
          <p:cNvPr id="678" name="Google Shape;678;p3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7" name="Shape 707"/>
        <p:cNvGrpSpPr/>
        <p:nvPr/>
      </p:nvGrpSpPr>
      <p:grpSpPr>
        <a:xfrm>
          <a:off x="0" y="0"/>
          <a:ext cx="0" cy="0"/>
          <a:chOff x="0" y="0"/>
          <a:chExt cx="0" cy="0"/>
        </a:xfrm>
      </p:grpSpPr>
      <p:sp>
        <p:nvSpPr>
          <p:cNvPr id="708" name="Google Shape;70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09" name="Google Shape;70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[15 s] FALA O detector de segredos sinaliza 82,4% das imagens. Mas quando nós rotulamos 1.100 dessas detecções à mão, 99,5% eram falso positivo: só cinco eram credencial plausível. O intervalo de confiança de 95% vai de 98,9% a 99,8%. </a:t>
            </a:r>
            <a:endParaRPr/>
          </a:p>
          <a:p>
            <a:pPr indent="0" lvl="0" marL="0" rtl="0" algn="l">
              <a:lnSpc>
                <a:spcPct val="100000"/>
              </a:lnSpc>
              <a:spcBef>
                <a:spcPts val="0"/>
              </a:spcBef>
              <a:spcAft>
                <a:spcPts val="0"/>
              </a:spcAft>
              <a:buSzPts val="1100"/>
              <a:buNone/>
            </a:pPr>
            <a:r>
              <a:rPr lang="en-US"/>
              <a:t>TERMOS Falso positivo: o detector aponta segredo onde não há. Aqui a causa comum é string com aparência de chave, como hash de build ou exemplo de documentação. Rotulagem à mão: um revisor inspecionou detector, valor bruto e caminho do arquivo, com semente 20260522. </a:t>
            </a:r>
            <a:endParaRPr/>
          </a:p>
          <a:p>
            <a:pPr indent="0" lvl="0" marL="0" rtl="0" algn="l">
              <a:lnSpc>
                <a:spcPct val="100000"/>
              </a:lnSpc>
              <a:spcBef>
                <a:spcPts val="0"/>
              </a:spcBef>
              <a:spcAft>
                <a:spcPts val="0"/>
              </a:spcAft>
              <a:buSzPts val="1100"/>
              <a:buNone/>
            </a:pPr>
            <a:r>
              <a:rPr lang="en-US"/>
              <a:t>POR QUE Este é o número que muda a decisão de quem opera: uma taxa de 82,4% sugere crise de credenciais vazadas, e a validação mostra que quase tudo é ruído. Rodamos o TruffleHog SEM verificação ativa, então o rótulo julga plausibilidade, não validade. A tabela completa da validação está na reserva.</a:t>
            </a:r>
            <a:endParaRPr/>
          </a:p>
        </p:txBody>
      </p:sp>
      <p:sp>
        <p:nvSpPr>
          <p:cNvPr id="710" name="Google Shape;71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6" name="Shape 726"/>
        <p:cNvGrpSpPr/>
        <p:nvPr/>
      </p:nvGrpSpPr>
      <p:grpSpPr>
        <a:xfrm>
          <a:off x="0" y="0"/>
          <a:ext cx="0" cy="0"/>
          <a:chOff x="0" y="0"/>
          <a:chExt cx="0" cy="0"/>
        </a:xfrm>
      </p:grpSpPr>
      <p:sp>
        <p:nvSpPr>
          <p:cNvPr id="727" name="Google Shape;727;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28" name="Google Shape;728;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[14 s] FALA Praticamente toda imagem tem algum achado de configuração: noventa e nove vírgula quatro por cento. E a faixa de baixo é a ressalva honesta: achado de configuração aponta uma escolha de construção, e não uma falha de software.</a:t>
            </a:r>
            <a:endParaRPr/>
          </a:p>
          <a:p>
            <a:pPr indent="0" lvl="0" marL="0" rtl="0" algn="l">
              <a:lnSpc>
                <a:spcPct val="100000"/>
              </a:lnSpc>
              <a:spcBef>
                <a:spcPts val="0"/>
              </a:spcBef>
              <a:spcAft>
                <a:spcPts val="0"/>
              </a:spcAft>
              <a:buSzPts val="1100"/>
              <a:buNone/>
            </a:pPr>
            <a:r>
              <a:rPr lang="en-US"/>
              <a:t>TERMOS Achado de configuração: aponta uma escolha de construção da imagem que aumenta risco, e não uma falha de software. Imagem-base: a imagem sobre a qual outras são construídas; ela não sabe como vai ser usada, então deixa decisões operacionais para quem herda dela.</a:t>
            </a:r>
            <a:endParaRPr/>
          </a:p>
          <a:p>
            <a:pPr indent="0" lvl="0" marL="0" rtl="0" algn="l">
              <a:lnSpc>
                <a:spcPct val="100000"/>
              </a:lnSpc>
              <a:spcBef>
                <a:spcPts val="0"/>
              </a:spcBef>
              <a:spcAft>
                <a:spcPts val="0"/>
              </a:spcAft>
              <a:buSzPts val="1100"/>
              <a:buNone/>
            </a:pPr>
            <a:r>
              <a:rPr lang="en-US"/>
              <a:t>POR QUE Este número está separado dos dois achados que pesam, no slide seguinte, porque a taxa agregada e a leitura operacional dela são duas ideias, e juntas não cabiam com dignidade no piso de fonte novo.</a:t>
            </a:r>
            <a:endParaRPr/>
          </a:p>
        </p:txBody>
      </p:sp>
      <p:sp>
        <p:nvSpPr>
          <p:cNvPr id="729" name="Google Shape;729;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8" name="Shape 738"/>
        <p:cNvGrpSpPr/>
        <p:nvPr/>
      </p:nvGrpSpPr>
      <p:grpSpPr>
        <a:xfrm>
          <a:off x="0" y="0"/>
          <a:ext cx="0" cy="0"/>
          <a:chOff x="0" y="0"/>
          <a:chExt cx="0" cy="0"/>
        </a:xfrm>
      </p:grpSpPr>
      <p:sp>
        <p:nvSpPr>
          <p:cNvPr id="739" name="Google Shape;7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40" name="Google Shape;7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[17 s] FALA Dois achados pesam mais que os outros. Sem sonda de saúde, o orquestrador não detecta um contêiner doente e segue mandando tráfego para ele. E rodando como root, qualquer comprometimento vira estrago maior, porque o processo já entra com o privilégio máximo do contêiner.</a:t>
            </a:r>
            <a:endParaRPr/>
          </a:p>
          <a:p>
            <a:pPr indent="0" lvl="0" marL="0" rtl="0" algn="l">
              <a:lnSpc>
                <a:spcPct val="100000"/>
              </a:lnSpc>
              <a:spcBef>
                <a:spcPts val="0"/>
              </a:spcBef>
              <a:spcAft>
                <a:spcPts val="0"/>
              </a:spcAft>
              <a:buSzPts val="1100"/>
              <a:buNone/>
            </a:pPr>
            <a:r>
              <a:rPr lang="en-US"/>
              <a:t>TERMOS Sonda de saúde, health check: a instrução que diz ao orquestrador como perguntar se o processo ainda está bem. Sem ela, o orquestrador só sabe que o contêiner está de pé, e não se ele está funcionando. Root: o usuário de privilégio máximo dentro do contêiner. Rodar como root é o padrão quando a imagem não declara outro usuário.</a:t>
            </a:r>
            <a:endParaRPr/>
          </a:p>
          <a:p>
            <a:pPr indent="0" lvl="0" marL="0" rtl="0" algn="l">
              <a:lnSpc>
                <a:spcPct val="100000"/>
              </a:lnSpc>
              <a:spcBef>
                <a:spcPts val="0"/>
              </a:spcBef>
              <a:spcAft>
                <a:spcPts val="0"/>
              </a:spcAft>
              <a:buSzPts val="1100"/>
              <a:buNone/>
            </a:pPr>
            <a:r>
              <a:rPr lang="en-US"/>
              <a:t>POR QUE Estes dois foram escolhidos entre os achados de configuração porque são os que mudam a consequência de um incidente, e não só a superfície. Os números por categoria, se perguntarem: 97,4% sem HEALTHCHECK e 89,0% rodando como root; e 31,7% expõem valor sensível em variável de ambiente ou arquivo. Content trust, a verificação de assinatura da imagem, vem desligada por padrão, e mesmo excluindo essa checagem o achado continua quase universal. A lista completa está no artigo, e aqui o objetivo é a leitura operacional.</a:t>
            </a:r>
            <a:endParaRPr/>
          </a:p>
        </p:txBody>
      </p:sp>
      <p:sp>
        <p:nvSpPr>
          <p:cNvPr id="741" name="Google Shape;7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3" name="Shape 753"/>
        <p:cNvGrpSpPr/>
        <p:nvPr/>
      </p:nvGrpSpPr>
      <p:grpSpPr>
        <a:xfrm>
          <a:off x="0" y="0"/>
          <a:ext cx="0" cy="0"/>
          <a:chOff x="0" y="0"/>
          <a:chExt cx="0" cy="0"/>
        </a:xfrm>
      </p:grpSpPr>
      <p:sp>
        <p:nvSpPr>
          <p:cNvPr id="754" name="Google Shape;754;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5" name="Google Shape;755;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[22 s] FALA Rodamos três scanners de vulnerabilidade, e a taxa reportada depende muito de qual deles fala. Setenta vírgula cinco por cento dos achados aparecem em um só scanner. Só onze vírgula um por cento aparecem nos três ao mesmo tempo. Mesmo o par de scanners mais parecido só compartilha quarenta e três por cento dos achados entre si. </a:t>
            </a:r>
            <a:endParaRPr/>
          </a:p>
          <a:p>
            <a:pPr indent="0" lvl="0" marL="0" rtl="0" algn="l">
              <a:lnSpc>
                <a:spcPct val="100000"/>
              </a:lnSpc>
              <a:spcBef>
                <a:spcPts val="0"/>
              </a:spcBef>
              <a:spcAft>
                <a:spcPts val="0"/>
              </a:spcAft>
              <a:buSzPts val="1100"/>
              <a:buNone/>
            </a:pPr>
            <a:r>
              <a:rPr lang="en-US"/>
              <a:t>TERMOS Achado pareado: o mesmo CVE encontrado na mesma imagem, contado por par de scanners. Índice de Jaccard: fração de achados que dois conjuntos têm em comum, de zero a um, onde um é idêntico. </a:t>
            </a:r>
            <a:endParaRPr/>
          </a:p>
          <a:p>
            <a:pPr indent="0" lvl="0" marL="0" rtl="0" algn="l">
              <a:lnSpc>
                <a:spcPct val="100000"/>
              </a:lnSpc>
              <a:spcBef>
                <a:spcPts val="0"/>
              </a:spcBef>
              <a:spcAft>
                <a:spcPts val="0"/>
              </a:spcAft>
              <a:buSzPts val="1100"/>
              <a:buNone/>
            </a:pPr>
            <a:r>
              <a:rPr lang="en-US"/>
              <a:t>POR QUE O número comparável na literatura é de 0,59 a 0,80 de concordância entre pares de scanners; aqui o melhor par fica em 0,43, abaixo dessa faixa. Rodar um scanner só mede o scanner, não o risco real da imagem, e isso vale tanto na amostra aleatória quanto na mais exposta.</a:t>
            </a:r>
            <a:endParaRPr/>
          </a:p>
        </p:txBody>
      </p:sp>
      <p:sp>
        <p:nvSpPr>
          <p:cNvPr id="756" name="Google Shape;756;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0" name="Shape 770"/>
        <p:cNvGrpSpPr/>
        <p:nvPr/>
      </p:nvGrpSpPr>
      <p:grpSpPr>
        <a:xfrm>
          <a:off x="0" y="0"/>
          <a:ext cx="0" cy="0"/>
          <a:chOff x="0" y="0"/>
          <a:chExt cx="0" cy="0"/>
        </a:xfrm>
      </p:grpSpPr>
      <p:sp>
        <p:nvSpPr>
          <p:cNvPr id="771" name="Google Shape;771;p3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72" name="Google Shape;772;p3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[5 s] FALA Fechando: o que muda quando se sorteia em vez de olhar as populares. </a:t>
            </a:r>
            <a:endParaRPr/>
          </a:p>
          <a:p>
            <a:pPr indent="0" lvl="0" marL="0" rtl="0" algn="l">
              <a:lnSpc>
                <a:spcPct val="100000"/>
              </a:lnSpc>
              <a:spcBef>
                <a:spcPts val="0"/>
              </a:spcBef>
              <a:spcAft>
                <a:spcPts val="0"/>
              </a:spcAft>
              <a:buSzPts val="1100"/>
              <a:buNone/>
            </a:pPr>
            <a:r>
              <a:rPr lang="en-US"/>
              <a:t>TERMOS Nenhum novo. </a:t>
            </a:r>
            <a:endParaRPr/>
          </a:p>
          <a:p>
            <a:pPr indent="0" lvl="0" marL="0" rtl="0" algn="l">
              <a:lnSpc>
                <a:spcPct val="100000"/>
              </a:lnSpc>
              <a:spcBef>
                <a:spcPts val="0"/>
              </a:spcBef>
              <a:spcAft>
                <a:spcPts val="0"/>
              </a:spcAft>
              <a:buSzPts val="1100"/>
              <a:buNone/>
            </a:pPr>
            <a:r>
              <a:rPr lang="en-US"/>
              <a:t>POR QUE Divisória.</a:t>
            </a:r>
            <a:endParaRPr/>
          </a:p>
        </p:txBody>
      </p:sp>
      <p:sp>
        <p:nvSpPr>
          <p:cNvPr id="773" name="Google Shape;773;p3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3" name="Shape 783"/>
        <p:cNvGrpSpPr/>
        <p:nvPr/>
      </p:nvGrpSpPr>
      <p:grpSpPr>
        <a:xfrm>
          <a:off x="0" y="0"/>
          <a:ext cx="0" cy="0"/>
          <a:chOff x="0" y="0"/>
          <a:chExt cx="0" cy="0"/>
        </a:xfrm>
      </p:grpSpPr>
      <p:sp>
        <p:nvSpPr>
          <p:cNvPr id="784" name="Google Shape;784;p3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5" name="Google Shape;785;p3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[11 s] FALA A contribuição é uma medição multi-scanner do Docker Hub por sorteio uniforme, com duas mil oitocentas e setenta e nove imagens tiradas de doze vírgula sete milhões de repositórios.</a:t>
            </a:r>
            <a:endParaRPr/>
          </a:p>
          <a:p>
            <a:pPr indent="0" lvl="0" marL="0" rtl="0" algn="l">
              <a:lnSpc>
                <a:spcPct val="100000"/>
              </a:lnSpc>
              <a:spcBef>
                <a:spcPts val="0"/>
              </a:spcBef>
              <a:spcAft>
                <a:spcPts val="0"/>
              </a:spcAft>
              <a:buSzPts val="1100"/>
              <a:buNone/>
            </a:pPr>
            <a:r>
              <a:rPr lang="en-US"/>
              <a:t>TERMOS Sorteio uniforme: cada repositório tem a mesma chance de entrar na amostra, independente de downloads. É o que separa prevalência de alcance. Multi-scanner: seis ferramentas independentes sobre a mesma imagem, em vez de uma só.</a:t>
            </a:r>
            <a:endParaRPr/>
          </a:p>
          <a:p>
            <a:pPr indent="0" lvl="0" marL="0" rtl="0" algn="l">
              <a:lnSpc>
                <a:spcPct val="100000"/>
              </a:lnSpc>
              <a:spcBef>
                <a:spcPts val="0"/>
              </a:spcBef>
              <a:spcAft>
                <a:spcPts val="0"/>
              </a:spcAft>
              <a:buSzPts val="1100"/>
              <a:buNone/>
            </a:pPr>
            <a:r>
              <a:rPr lang="en-US"/>
              <a:t>POR QUE Os três blocos da conclusão ganharam um slide cada porque, no piso de fonte novo, três colunas de 3,5 pol comportam 14 caracteres por linha, e o texto vazava do cartão.</a:t>
            </a:r>
            <a:endParaRPr/>
          </a:p>
        </p:txBody>
      </p:sp>
      <p:sp>
        <p:nvSpPr>
          <p:cNvPr id="786" name="Google Shape;786;p3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6" name="Shape 796"/>
        <p:cNvGrpSpPr/>
        <p:nvPr/>
      </p:nvGrpSpPr>
      <p:grpSpPr>
        <a:xfrm>
          <a:off x="0" y="0"/>
          <a:ext cx="0" cy="0"/>
          <a:chOff x="0" y="0"/>
          <a:chExt cx="0" cy="0"/>
        </a:xfrm>
      </p:grpSpPr>
      <p:sp>
        <p:nvSpPr>
          <p:cNvPr id="797" name="Google Shape;797;p3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98" name="Google Shape;798;p3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[13 s] FALA O resultado: noventa e quatro vírgula quatro por cento das imagens típicas têm vulnerabilidade crítica, contra noventa e três vírgula quatro por cento das mais expostas. Ou seja, exposição explica alcance, e não fragilidade.</a:t>
            </a:r>
            <a:endParaRPr/>
          </a:p>
          <a:p>
            <a:pPr indent="0" lvl="0" marL="0" rtl="0" algn="l">
              <a:lnSpc>
                <a:spcPct val="100000"/>
              </a:lnSpc>
              <a:spcBef>
                <a:spcPts val="0"/>
              </a:spcBef>
              <a:spcAft>
                <a:spcPts val="0"/>
              </a:spcAft>
              <a:buSzPts val="1100"/>
              <a:buNone/>
            </a:pPr>
            <a:r>
              <a:rPr lang="en-US"/>
              <a:t>TERMOS Alcance: quantas pessoas o problema atinge, que é o que a popularidade mede. Fragilidade: quão vulnerável o artefato é em si, que é o que a taxa mede. Confundir os dois é o erro que o desenho aleatório evita.</a:t>
            </a:r>
            <a:endParaRPr/>
          </a:p>
          <a:p>
            <a:pPr indent="0" lvl="0" marL="0" rtl="0" algn="l">
              <a:lnSpc>
                <a:spcPct val="100000"/>
              </a:lnSpc>
              <a:spcBef>
                <a:spcPts val="0"/>
              </a:spcBef>
              <a:spcAft>
                <a:spcPts val="0"/>
              </a:spcAft>
              <a:buSzPts val="1100"/>
              <a:buNone/>
            </a:pPr>
            <a:r>
              <a:rPr lang="en-US"/>
              <a:t>POR QUE A diferença de um ponto entre as duas amostras é o achado central, e ele só existe porque as duas rodaram o mesmo pipeline. Se perguntarem se um ponto é significativo: o teste z de duas proporções está na configuração do experimento.</a:t>
            </a:r>
            <a:endParaRPr/>
          </a:p>
        </p:txBody>
      </p:sp>
      <p:sp>
        <p:nvSpPr>
          <p:cNvPr id="799" name="Google Shape;799;p3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9" name="Shape 809"/>
        <p:cNvGrpSpPr/>
        <p:nvPr/>
      </p:nvGrpSpPr>
      <p:grpSpPr>
        <a:xfrm>
          <a:off x="0" y="0"/>
          <a:ext cx="0" cy="0"/>
          <a:chOff x="0" y="0"/>
          <a:chExt cx="0" cy="0"/>
        </a:xfrm>
      </p:grpSpPr>
      <p:sp>
        <p:nvSpPr>
          <p:cNvPr id="810" name="Google Shape;810;p3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11" name="Google Shape;811;p3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US" sz="1100"/>
              <a:t>[45 s] FALA E, para fechar honesto, os limites do que este trabalho mede. Primeiro, só a arquitetura linux barra amd64: outras arquiteturas ficam de fora. Segundo, a unidade medida é a tag latest de cada repositório, não todas as versões publicadas. E terceiro, o oitenta e dois vírgula quatro por cento de segredo é taxa bruta POR IMAGEM, e a validação é por DETECÇÃO: das mil e cem detecções revisadas à mão, noventa e nove vírgula cinco por cento eram falso positivo. As duas taxas não medem a mesma coisa, e por isso eu não digo que a taxa validada é de zero vírgula quatro cinco por cento de imagens: esse número é a fração de DETECÇÕES que se sustentou.</a:t>
            </a:r>
            <a:endParaRPr/>
          </a:p>
          <a:p>
            <a:pPr indent="-298450" lvl="0" marL="457200" rtl="0" algn="l">
              <a:lnSpc>
                <a:spcPct val="100000"/>
              </a:lnSpc>
              <a:spcBef>
                <a:spcPts val="0"/>
              </a:spcBef>
              <a:spcAft>
                <a:spcPts val="0"/>
              </a:spcAft>
              <a:buSzPts val="1100"/>
              <a:buChar char="●"/>
            </a:pPr>
            <a:r>
              <a:rPr lang="en-US" sz="1100"/>
              <a:t>TERMOS Taxa bruta: o que o detector aponta antes de qualquer revisão humana.</a:t>
            </a:r>
            <a:endParaRPr/>
          </a:p>
          <a:p>
            <a:pPr indent="-298450" lvl="0" marL="457200" rtl="0" algn="l">
              <a:lnSpc>
                <a:spcPct val="100000"/>
              </a:lnSpc>
              <a:spcBef>
                <a:spcPts val="0"/>
              </a:spcBef>
              <a:spcAft>
                <a:spcPts val="0"/>
              </a:spcAft>
              <a:buSzPts val="1100"/>
              <a:buChar char="●"/>
            </a:pPr>
            <a:r>
              <a:rPr lang="en-US" sz="1100"/>
              <a:t>POR QUE Os achados de scanner também superestimam risco prático de um jeito que atinge as duas amostras igualmente: CVE antigo, código inalcançável em tempo de execução, e herança de vulnerabilidade só por causa da base. Como o efeito é parelho nos dois lados, a comparação relativa entre aleatória e mais exposta continua de pé mesmo com essa distorção.</a:t>
            </a:r>
            <a:endParaRPr/>
          </a:p>
        </p:txBody>
      </p:sp>
      <p:sp>
        <p:nvSpPr>
          <p:cNvPr id="812" name="Google Shape;812;p3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2" name="Shape 822"/>
        <p:cNvGrpSpPr/>
        <p:nvPr/>
      </p:nvGrpSpPr>
      <p:grpSpPr>
        <a:xfrm>
          <a:off x="0" y="0"/>
          <a:ext cx="0" cy="0"/>
          <a:chOff x="0" y="0"/>
          <a:chExt cx="0" cy="0"/>
        </a:xfrm>
      </p:grpSpPr>
      <p:sp>
        <p:nvSpPr>
          <p:cNvPr id="823" name="Google Shape;823;p4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24" name="Google Shape;824;p4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[10 s] FALA O artefato deste trabalho recebeu os quatro selos do CTA do SBSeg 2026. Na prática, outra pessoa instalou, rodou e recomputou do zero os números destes slides. </a:t>
            </a:r>
            <a:endParaRPr/>
          </a:p>
          <a:p>
            <a:pPr indent="0" lvl="0" marL="0" rtl="0" algn="l">
              <a:lnSpc>
                <a:spcPct val="100000"/>
              </a:lnSpc>
              <a:spcBef>
                <a:spcPts val="0"/>
              </a:spcBef>
              <a:spcAft>
                <a:spcPts val="0"/>
              </a:spcAft>
              <a:buSzPts val="1100"/>
              <a:buNone/>
            </a:pPr>
            <a:r>
              <a:rPr lang="en-US"/>
              <a:t>TERMOS Disponíveis: repositório público e estável. Funcionais: o avaliador instala e executa. Sustentáveis: código legível e documentado, a ponto de achar no código as reivindicações do artigo. Reprodutíveis: o avaliador recomputa os números. </a:t>
            </a:r>
            <a:endParaRPr/>
          </a:p>
          <a:p>
            <a:pPr indent="0" lvl="0" marL="0" rtl="0" algn="l">
              <a:lnSpc>
                <a:spcPct val="100000"/>
              </a:lnSpc>
              <a:spcBef>
                <a:spcPts val="0"/>
              </a:spcBef>
              <a:spcAft>
                <a:spcPts val="0"/>
              </a:spcAft>
              <a:buSzPts val="1100"/>
              <a:buNone/>
            </a:pPr>
            <a:r>
              <a:rPr lang="en-US"/>
              <a:t>POR QUE O quarto selo é o que dá peso aos gráficos: não sou eu dizendo que os números fecham, é um avaliador que os refez sozinho.</a:t>
            </a:r>
            <a:endParaRPr/>
          </a:p>
        </p:txBody>
      </p:sp>
      <p:sp>
        <p:nvSpPr>
          <p:cNvPr id="825" name="Google Shape;825;p4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3" name="Shape 833"/>
        <p:cNvGrpSpPr/>
        <p:nvPr/>
      </p:nvGrpSpPr>
      <p:grpSpPr>
        <a:xfrm>
          <a:off x="0" y="0"/>
          <a:ext cx="0" cy="0"/>
          <a:chOff x="0" y="0"/>
          <a:chExt cx="0" cy="0"/>
        </a:xfrm>
      </p:grpSpPr>
      <p:sp>
        <p:nvSpPr>
          <p:cNvPr id="834" name="Google Shape;834;p4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35" name="Google Shape;835;p4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[13 s] FALA Obrigado. O QR da esquerda leva ao repositório do artefato, com o código, os dados e o script que recomputa cada número. O da direita, ao site do laboratório. Fico à disposição para as perguntas. </a:t>
            </a:r>
            <a:endParaRPr/>
          </a:p>
          <a:p>
            <a:pPr indent="0" lvl="0" marL="0" rtl="0" algn="l">
              <a:lnSpc>
                <a:spcPct val="100000"/>
              </a:lnSpc>
              <a:spcBef>
                <a:spcPts val="0"/>
              </a:spcBef>
              <a:spcAft>
                <a:spcPts val="0"/>
              </a:spcAft>
              <a:buSzPts val="1100"/>
              <a:buNone/>
            </a:pPr>
            <a:r>
              <a:rPr lang="en-US"/>
              <a:t>TERMOS Nenhum novo. </a:t>
            </a:r>
            <a:endParaRPr/>
          </a:p>
          <a:p>
            <a:pPr indent="0" lvl="0" marL="0" rtl="0" algn="l">
              <a:lnSpc>
                <a:spcPct val="100000"/>
              </a:lnSpc>
              <a:spcBef>
                <a:spcPts val="0"/>
              </a:spcBef>
              <a:spcAft>
                <a:spcPts val="0"/>
              </a:spcAft>
              <a:buSzPts val="1100"/>
              <a:buNone/>
            </a:pPr>
            <a:r>
              <a:rPr lang="en-US"/>
              <a:t>POR QUE Tenho doze slides de reserva, e eles respondem as perguntas que este desenho convida: tamanho e quadro da amostra, quem ficou fora do escaneamento, o um ponto com p igual a 0,03, as falhas de scanner, a divergência entre ferramentas, o falso positivo de segredo, qual contagem por imagem vale, prevalência contra explorabilidade, o escopo do desenho, a tabela das análises anteriores e as direções futuras.</a:t>
            </a:r>
            <a:endParaRPr/>
          </a:p>
        </p:txBody>
      </p:sp>
      <p:sp>
        <p:nvSpPr>
          <p:cNvPr id="836" name="Google Shape;836;p4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9" name="Shape 859"/>
        <p:cNvGrpSpPr/>
        <p:nvPr/>
      </p:nvGrpSpPr>
      <p:grpSpPr>
        <a:xfrm>
          <a:off x="0" y="0"/>
          <a:ext cx="0" cy="0"/>
          <a:chOff x="0" y="0"/>
          <a:chExt cx="0" cy="0"/>
        </a:xfrm>
      </p:grpSpPr>
      <p:sp>
        <p:nvSpPr>
          <p:cNvPr id="860" name="Google Shape;860;p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61" name="Google Shape;861;p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A pergunta é de precisão, e a precisão é boa. Com 2.879 imagens, uma prevalência estimada em 95% tem margem de erro abaixo de um ponto percentual a 95% de confiança, pelo método de Wilson, que é o intervalo indicado quando a proporção está perto de zero ou de um. É a Seção de Metodologia do artigo. E o sorteio é uniforme simples: não há estrato, não há peso e não há efeito de desenho para corrigir, então a margem é a de manual, sem inflação. O que 2.879 NÃO dá é a cauda: a imagem com 26.511 vulnerabilidades aparece uma vez, e sobre ela a amostra não estima nada. Também não dá imagem oficial, porque elas são raras demais, nem evolução no tempo, porque é um instantâneo.</a:t>
            </a:r>
            <a:endParaRPr/>
          </a:p>
          <a:p>
            <a:pPr indent="0" lvl="0" marL="0" rtl="0" algn="l">
              <a:lnSpc>
                <a:spcPct val="100000"/>
              </a:lnSpc>
              <a:spcBef>
                <a:spcPts val="0"/>
              </a:spcBef>
              <a:spcAft>
                <a:spcPts val="0"/>
              </a:spcAft>
              <a:buSzPts val="1100"/>
              <a:buNone/>
            </a:pPr>
            <a:r>
              <a:rPr lang="en-US"/>
              <a:t>TERMOS Método de Wilson: intervalo de confiança para proporção que não fura o zero nem o um, ao contrário do intervalo normal simples. Efeito de desenho: fator que infla a variância quando a amostra é por conglomerado ou estratificada.</a:t>
            </a:r>
            <a:endParaRPr/>
          </a:p>
          <a:p>
            <a:pPr indent="0" lvl="0" marL="0" rtl="0" algn="l">
              <a:lnSpc>
                <a:spcPct val="100000"/>
              </a:lnSpc>
              <a:spcBef>
                <a:spcPts val="0"/>
              </a:spcBef>
              <a:spcAft>
                <a:spcPts val="0"/>
              </a:spcAft>
              <a:buSzPts val="1100"/>
              <a:buNone/>
            </a:pPr>
            <a:r>
              <a:rPr lang="en-US"/>
              <a:t>POR QUE A margem vale para a POPULAÇÃO declarada, que é repositório com latest escaneável dentro do quadro do crawl. Não é margem sobre o Docker Hub inteiro, e a próxima tela de reserva diz por quê.</a:t>
            </a:r>
            <a:endParaRPr/>
          </a:p>
        </p:txBody>
      </p:sp>
      <p:sp>
        <p:nvSpPr>
          <p:cNvPr id="862" name="Google Shape;862;p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8" name="Shape 878"/>
        <p:cNvGrpSpPr/>
        <p:nvPr/>
      </p:nvGrpSpPr>
      <p:grpSpPr>
        <a:xfrm>
          <a:off x="0" y="0"/>
          <a:ext cx="0" cy="0"/>
          <a:chOff x="0" y="0"/>
          <a:chExt cx="0" cy="0"/>
        </a:xfrm>
      </p:grpSpPr>
      <p:sp>
        <p:nvSpPr>
          <p:cNvPr id="879" name="Google Shape;879;p4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80" name="Google Shape;880;p4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Os dois números da abertura e da metodologia são diferentes de propósito. Quinze milhões é o total do Docker Hub citado pela JFrog em 2024, e inclui repositório privado e repositório que a enumeração pública não alcança. Doze milhões setecentos e dezesseis mil quinhentos e sessenta e oito é o quadro amostral: os nomes de repositório público que o crawl do ChimangoScan conseguiu enumerar. A diferença é da ordem de dois milhões e trezentos mil, ou cerca de quinze por cento. O sorteio é uniforme DENTRO desse quadro. Fora dele, o trabalho não estima nada, e o artigo escreve isso: a estimativa cobre repositórios do quadro enumerado.</a:t>
            </a:r>
            <a:endParaRPr/>
          </a:p>
          <a:p>
            <a:pPr indent="0" lvl="0" marL="0" rtl="0" algn="l">
              <a:lnSpc>
                <a:spcPct val="100000"/>
              </a:lnSpc>
              <a:spcBef>
                <a:spcPts val="0"/>
              </a:spcBef>
              <a:spcAft>
                <a:spcPts val="0"/>
              </a:spcAft>
              <a:buSzPts val="1100"/>
              <a:buNone/>
            </a:pPr>
            <a:r>
              <a:rPr lang="en-US"/>
              <a:t>TERMOS Quadro amostral: a lista de onde se sorteia. Sub-cobertura: a parte da população que não está na lista e por isso tem probabilidade zero de ser sorteada.</a:t>
            </a:r>
            <a:endParaRPr/>
          </a:p>
          <a:p>
            <a:pPr indent="0" lvl="0" marL="0" rtl="0" algn="l">
              <a:lnSpc>
                <a:spcPct val="100000"/>
              </a:lnSpc>
              <a:spcBef>
                <a:spcPts val="0"/>
              </a:spcBef>
              <a:spcAft>
                <a:spcPts val="0"/>
              </a:spcAft>
              <a:buSzPts val="1100"/>
              <a:buNone/>
            </a:pPr>
            <a:r>
              <a:rPr lang="en-US"/>
              <a:t>POR QUE Se a sub-cobertura for enviesada — por exemplo, se o repositório não enumerável for sistematicamente mais novo ou mais bem mantido — a estimativa desloca. Não medimos esse viés, e essa é a resposta honesta: não sabemos o tamanho dele.</a:t>
            </a:r>
            <a:endParaRPr/>
          </a:p>
        </p:txBody>
      </p:sp>
      <p:sp>
        <p:nvSpPr>
          <p:cNvPr id="881" name="Google Shape;881;p4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7" name="Shape 897"/>
        <p:cNvGrpSpPr/>
        <p:nvPr/>
      </p:nvGrpSpPr>
      <p:grpSpPr>
        <a:xfrm>
          <a:off x="0" y="0"/>
          <a:ext cx="0" cy="0"/>
          <a:chOff x="0" y="0"/>
          <a:chExt cx="0" cy="0"/>
        </a:xfrm>
      </p:grpSpPr>
      <p:sp>
        <p:nvSpPr>
          <p:cNvPr id="898" name="Google Shape;898;p4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99" name="Google Shape;899;p4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Esta é a pergunta mais dura do trabalho e ela tem resposta em três camadas. Primeira: os 34,9% sem tag latest não são falha do nosso pipeline. Em 21 de julho de 2026 refizemos 200 desses repositórios sorteados com semente 20260721; 199 continuavam existindo e continuavam sem latest, e apenas um tinha passado a ter. A mediana do último envio deles é abril de 2023: são repositórios parados. Segunda: os 248 restantes se decompõem em 113 que não baixam, 57 cujo scan travou, 42 com acesso negado e 36 que só existem para outra arquitetura. Terceira, e é a honesta: se alguém insistir em uma taxa sobre os 4.800 sorteados, ela não é identificável, só limitada. Se todos os 1.921 não escaneados estivessem limpos, a taxa de crítica sobre os 4.800 seria 56,6%; se todos estivessem afetados, 96,6%. É por isso que o artigo declara a população como repositório com latest escaneável, e não como o registro inteiro.</a:t>
            </a:r>
            <a:endParaRPr/>
          </a:p>
          <a:p>
            <a:pPr indent="0" lvl="0" marL="0" rtl="0" algn="l">
              <a:lnSpc>
                <a:spcPct val="100000"/>
              </a:lnSpc>
              <a:spcBef>
                <a:spcPts val="0"/>
              </a:spcBef>
              <a:spcAft>
                <a:spcPts val="0"/>
              </a:spcAft>
              <a:buSzPts val="1100"/>
              <a:buNone/>
            </a:pPr>
            <a:r>
              <a:rPr lang="en-US"/>
              <a:t>TERMOS Não-resposta: unidade sorteada que não produz medida. O limite de Manski é o par de valores extremos que a taxa assume quando não se supõe nada sobre quem faltou.</a:t>
            </a:r>
            <a:endParaRPr/>
          </a:p>
          <a:p>
            <a:pPr indent="0" lvl="0" marL="0" rtl="0" algn="l">
              <a:lnSpc>
                <a:spcPct val="100000"/>
              </a:lnSpc>
              <a:spcBef>
                <a:spcPts val="0"/>
              </a:spcBef>
              <a:spcAft>
                <a:spcPts val="0"/>
              </a:spcAft>
              <a:buSzPts val="1100"/>
              <a:buNone/>
            </a:pPr>
            <a:r>
              <a:rPr lang="en-US"/>
              <a:t>POR QUE 2.718 das 2.879 têm crítica. Sobre 4.800: 2.718 dividido por 4.800 dá 56,6%, e 2.718 mais 1.921 dividido por 4.800 dá 96,6%. As contas estão no artefato.</a:t>
            </a:r>
            <a:endParaRPr/>
          </a:p>
        </p:txBody>
      </p:sp>
      <p:sp>
        <p:nvSpPr>
          <p:cNvPr id="900" name="Google Shape;900;p4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6" name="Shape 916"/>
        <p:cNvGrpSpPr/>
        <p:nvPr/>
      </p:nvGrpSpPr>
      <p:grpSpPr>
        <a:xfrm>
          <a:off x="0" y="0"/>
          <a:ext cx="0" cy="0"/>
          <a:chOff x="0" y="0"/>
          <a:chExt cx="0" cy="0"/>
        </a:xfrm>
      </p:grpSpPr>
      <p:sp>
        <p:nvSpPr>
          <p:cNvPr id="917" name="Google Shape;917;p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18" name="Google Shape;918;p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Distinguível e relevante são coisas diferentes, e aqui a diferença aparece nas duas direções. O teste z de duas proporções dá z igual a 2,17 e p igual a 0,03 para a vulnerabilidade crítica: as taxas são estatisticamente distinguíveis. Mas o tamanho da diferença é UM ponto percentual, e a amostra por exposição tem 52.895 imagens, o que dá poder para separar diferenças que não mudam decisão nenhuma. As outras duas comparações, alta severidade e qualquer severidade, dão p igual a 0,15 e 0,23 e não separam as amostras. E o detalhe que costuma escapar: o ponto pende para a amostra ALEATÓRIA. Se a hipótese fosse que a imagem popular é pior, o sinal do resultado é o contrário dela.</a:t>
            </a:r>
            <a:endParaRPr/>
          </a:p>
          <a:p>
            <a:pPr indent="0" lvl="0" marL="0" rtl="0" algn="l">
              <a:lnSpc>
                <a:spcPct val="100000"/>
              </a:lnSpc>
              <a:spcBef>
                <a:spcPts val="0"/>
              </a:spcBef>
              <a:spcAft>
                <a:spcPts val="0"/>
              </a:spcAft>
              <a:buSzPts val="1100"/>
              <a:buNone/>
            </a:pPr>
            <a:r>
              <a:rPr lang="en-US"/>
              <a:t>TERMOS Teste z de duas proporções: compara duas taxas e devolve a probabilidade de observar uma diferença ao menos tão grande se as taxas populacionais fossem iguais. Poder: a chance de o teste apontar uma diferença que existe; cresce com o n.</a:t>
            </a:r>
            <a:endParaRPr/>
          </a:p>
          <a:p>
            <a:pPr indent="0" lvl="0" marL="0" rtl="0" algn="l">
              <a:lnSpc>
                <a:spcPct val="100000"/>
              </a:lnSpc>
              <a:spcBef>
                <a:spcPts val="0"/>
              </a:spcBef>
              <a:spcAft>
                <a:spcPts val="0"/>
              </a:spcAft>
              <a:buSzPts val="1100"/>
              <a:buNone/>
            </a:pPr>
            <a:r>
              <a:rPr lang="en-US"/>
              <a:t>POR QUE A conclusão do artigo é 'about as likely', e ela sobrevive ao p igual a 0,03 justamente porque o tamanho do efeito é que decide. Se um revisor cobrar o intervalo, a diferença é de 1,0 ponto com as duas taxas acima de 93%.</a:t>
            </a:r>
            <a:endParaRPr/>
          </a:p>
        </p:txBody>
      </p:sp>
      <p:sp>
        <p:nvSpPr>
          <p:cNvPr id="919" name="Google Shape;919;p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5" name="Shape 935"/>
        <p:cNvGrpSpPr/>
        <p:nvPr/>
      </p:nvGrpSpPr>
      <p:grpSpPr>
        <a:xfrm>
          <a:off x="0" y="0"/>
          <a:ext cx="0" cy="0"/>
          <a:chOff x="0" y="0"/>
          <a:chExt cx="0" cy="0"/>
        </a:xfrm>
      </p:grpSpPr>
      <p:sp>
        <p:nvSpPr>
          <p:cNvPr id="936" name="Google Shape;936;p4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37" name="Google Shape;937;p4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 apêndice do artigo declara isso e é a falha mais séria do pipeline. O Trivy não devolveu resultado em 971 imagens, ou 33,7% do corpus, e 915 dessas 971 são disputa pelo mesmo diretório de cache entre execuções paralelas. É defeito do NOSSO ambiente de execução, não da imagem. OSV falha em 5,1%, Grype em 2,5%, Syft em 2,2%, e Dockle e TruffleHog em menos de 0,3% cada. O efeito sobre os números é conservador, não inflacionário: onde um scanner não devolveu, o achado dele não entra na contagem mesclada, então a contagem real é maior, não menor. E a cobertura por imagem continua alta: 96,1% das imagens tiveram ao menos cinco dos seis scanners, e 62,7% tiveram os seis; só 3,9% ficaram com quatro ou menos.</a:t>
            </a:r>
            <a:endParaRPr/>
          </a:p>
          <a:p>
            <a:pPr indent="0" lvl="0" marL="0" rtl="0" algn="l">
              <a:lnSpc>
                <a:spcPct val="100000"/>
              </a:lnSpc>
              <a:spcBef>
                <a:spcPts val="0"/>
              </a:spcBef>
              <a:spcAft>
                <a:spcPts val="0"/>
              </a:spcAft>
              <a:buSzPts val="1100"/>
              <a:buNone/>
            </a:pPr>
            <a:r>
              <a:rPr lang="en-US"/>
              <a:t>TERMOS Disputa de cache: duas execuções do Trivy escrevendo no mesmo diretório de banco de vulnerabilidades ao mesmo tempo, o que aborta uma delas.</a:t>
            </a:r>
            <a:endParaRPr/>
          </a:p>
          <a:p>
            <a:pPr indent="0" lvl="0" marL="0" rtl="0" algn="l">
              <a:lnSpc>
                <a:spcPct val="100000"/>
              </a:lnSpc>
              <a:spcBef>
                <a:spcPts val="0"/>
              </a:spcBef>
              <a:spcAft>
                <a:spcPts val="0"/>
              </a:spcAft>
              <a:buSzPts val="1100"/>
              <a:buNone/>
            </a:pPr>
            <a:r>
              <a:rPr lang="en-US"/>
              <a:t>POR QUE O que NÃO sabemos: se a falha se correlaciona com o tipo de imagem. Imagem muito grande demora mais e tem mais chance de esbarrar em tempo esgotado, e se for esse o caso as imagens mais pesadas — que tendem a ter mais pacote — estão sub-representadas na contagem. Não medimos isso e não vou afirmar que não acontece.</a:t>
            </a:r>
            <a:endParaRPr/>
          </a:p>
        </p:txBody>
      </p:sp>
      <p:sp>
        <p:nvSpPr>
          <p:cNvPr id="938" name="Google Shape;938;p4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4" name="Shape 954"/>
        <p:cNvGrpSpPr/>
        <p:nvPr/>
      </p:nvGrpSpPr>
      <p:grpSpPr>
        <a:xfrm>
          <a:off x="0" y="0"/>
          <a:ext cx="0" cy="0"/>
          <a:chOff x="0" y="0"/>
          <a:chExt cx="0" cy="0"/>
        </a:xfrm>
      </p:grpSpPr>
      <p:sp>
        <p:nvSpPr>
          <p:cNvPr id="955" name="Google Shape;955;p4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56" name="Google Shape;956;p4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Não adjudicamos, e é de propósito: não existe verdade de referência sobre quais CVE uma imagem tem. O que medimos é dependência de ferramenta. Par a par, o Jaccard é 0,43 entre Grype e OSV, 0,23 entre Trivy e Grype e 0,18 entre Trivy e OSV — o 0,43 do artigo é o MELHOR par, não a média. Boa parte da divergência é volume: o Trivy reporta 1,68 milhão de pares imagem-CVE contra 680 mil do Grype e 435 mil do OSV. E a objeção óbvia é que a divergência viria das falhas do slide anterior. Não vem: restringindo às 1.817 imagens em que os TRÊS scanners rodaram, 72,7% dos pares aparecem em um scanner só e 13,8% nos três. Restringir PIORA o número, em vez de melhorar.</a:t>
            </a:r>
            <a:endParaRPr/>
          </a:p>
          <a:p>
            <a:pPr indent="0" lvl="0" marL="0" rtl="0" algn="l">
              <a:lnSpc>
                <a:spcPct val="100000"/>
              </a:lnSpc>
              <a:spcBef>
                <a:spcPts val="0"/>
              </a:spcBef>
              <a:spcAft>
                <a:spcPts val="0"/>
              </a:spcAft>
              <a:buSzPts val="1100"/>
              <a:buNone/>
            </a:pPr>
            <a:r>
              <a:rPr lang="en-US"/>
              <a:t>TERMOS Jaccard: interseção sobre união de dois conjuntos, de 0 a 1. Par imagem-CVE: a unidade da comparação, ou seja, um identificador CVE encontrado numa imagem específica.</a:t>
            </a:r>
            <a:endParaRPr/>
          </a:p>
          <a:p>
            <a:pPr indent="0" lvl="0" marL="0" rtl="0" algn="l">
              <a:lnSpc>
                <a:spcPct val="100000"/>
              </a:lnSpc>
              <a:spcBef>
                <a:spcPts val="0"/>
              </a:spcBef>
              <a:spcAft>
                <a:spcPts val="0"/>
              </a:spcAft>
              <a:buSzPts val="1100"/>
              <a:buNone/>
            </a:pPr>
            <a:r>
              <a:rPr lang="en-US"/>
              <a:t>POR QUE A comparação com o 0,694 de Churakova et al. é indicativa: são 48 imagens lá contra 2.879 aqui, e o trio de ferramentas não é o mesmo. O ponto que sobrevive à diferença de protocolo é que um estudo de um scanner só reporta uma propriedade da ferramenta tanto quanto do registro.</a:t>
            </a:r>
            <a:endParaRPr/>
          </a:p>
        </p:txBody>
      </p:sp>
      <p:sp>
        <p:nvSpPr>
          <p:cNvPr id="957" name="Google Shape;957;p4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p4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75" name="Google Shape;975;p4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Duas perguntas de uma vez. Por que mostrar os 82,4%, se quase tudo é falso? Porque 82,4% é a taxa BRUTA do detector, e é exatamente o que aparece na tela de quem roda o TruffleHog sem filtro. O achado do trabalho é a distância entre esse número e o que sobra depois da revisão. E como a revisão foi feita? Sorteamos 1.100 detecções das 169.528 disponíveis quando a rotulagem começou, com semente 20260522, e um revisor leu o detector, o valor bruto e o caminho do arquivo de cada uma. Cinco eram credencial: uma chave SSH de host em /etc/ssh, duas chaves de acesso em log de provisionamento, uma chave de API do Google embutida em pacote de front-end e uma chave privada em arquivo de configuração da aplicação. A taxa de falso positivo é 99,5%, com intervalo de 95% entre 98,9% e 99,8%. Sessenta por cento são hash de pacote e dezoito por cento são valor de exemplo.</a:t>
            </a:r>
            <a:endParaRPr/>
          </a:p>
          <a:p>
            <a:pPr indent="0" lvl="0" marL="0" rtl="0" algn="l">
              <a:lnSpc>
                <a:spcPct val="100000"/>
              </a:lnSpc>
              <a:spcBef>
                <a:spcPts val="0"/>
              </a:spcBef>
              <a:spcAft>
                <a:spcPts val="0"/>
              </a:spcAft>
              <a:buSzPts val="1100"/>
              <a:buNone/>
            </a:pPr>
            <a:r>
              <a:rPr lang="en-US"/>
              <a:t>TERMOS Verificação ativa: o TruffleHog pode tentar autenticar com a credencial achada para dizer se ela está viva. Rodamos SEM isso, então os rótulos julgam plausibilidade.</a:t>
            </a:r>
            <a:endParaRPr/>
          </a:p>
          <a:p>
            <a:pPr indent="0" lvl="0" marL="0" rtl="0" algn="l">
              <a:lnSpc>
                <a:spcPct val="100000"/>
              </a:lnSpc>
              <a:spcBef>
                <a:spcPts val="0"/>
              </a:spcBef>
              <a:spcAft>
                <a:spcPts val="0"/>
              </a:spcAft>
              <a:buSzPts val="1100"/>
              <a:buNone/>
            </a:pPr>
            <a:r>
              <a:rPr lang="en-US"/>
              <a:t>POR QUE As duas fraquezas, ditas antes que perguntem: foi UM revisor, sem segundo rotulador e sem medida de concordância; e um caso duvidoso, uma chave TLS de cliente na raiz da aplicação, foi contado como FALSO positivo, o que empurra a taxa de falso para cima e trabalha contra o nosso próprio número. Vale acrescentar que um único detector, o Box, responde por 92.393 das detecções: o problema segue o detector, não a amostra. O estudo por exposição achou 99,7% no mesmo protocolo, e p igual a 0,48 não distingue os dois.</a:t>
            </a:r>
            <a:endParaRPr/>
          </a:p>
        </p:txBody>
      </p:sp>
      <p:sp>
        <p:nvSpPr>
          <p:cNvPr id="976" name="Google Shape;976;p4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2" name="Shape 992"/>
        <p:cNvGrpSpPr/>
        <p:nvPr/>
      </p:nvGrpSpPr>
      <p:grpSpPr>
        <a:xfrm>
          <a:off x="0" y="0"/>
          <a:ext cx="0" cy="0"/>
          <a:chOff x="0" y="0"/>
          <a:chExt cx="0" cy="0"/>
        </a:xfrm>
      </p:grpSpPr>
      <p:sp>
        <p:nvSpPr>
          <p:cNvPr id="993" name="Google Shape;993;p4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94" name="Google Shape;994;p4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Os dois números são reais e medem coisas diferentes. 947 é a mediana da contagem MESCLADA dos três scanners de vulnerabilidade, sem deduplicar: se Trivy e Grype acham o mesmo CVE no mesmo pacote, ele conta duas vezes. A média mesclada é 2.939 e o máximo é 26.511. 260 é a mediana de identificador CVE DISTINTO por imagem, com média 857 e máximo 8.265. O artigo reporta os dois e diz qual é qual. O que não muda entre as duas definições é a FRAÇÃO de imagens afetadas: 94,4% com crítica nas duas, porque a fração é um binário por imagem e não depende de quantas vezes o mesmo CVE foi contado.</a:t>
            </a:r>
            <a:endParaRPr/>
          </a:p>
          <a:p>
            <a:pPr indent="0" lvl="0" marL="0" rtl="0" algn="l">
              <a:lnSpc>
                <a:spcPct val="100000"/>
              </a:lnSpc>
              <a:spcBef>
                <a:spcPts val="0"/>
              </a:spcBef>
              <a:spcAft>
                <a:spcPts val="0"/>
              </a:spcAft>
              <a:buSzPts val="1100"/>
              <a:buNone/>
            </a:pPr>
            <a:r>
              <a:rPr lang="en-US"/>
              <a:t>TERMOS Deduplicar: reduzir várias ocorrências do mesmo identificador CVE numa imagem a uma só. O artigo não deduplica na contagem principal e diz isso na metodologia.</a:t>
            </a:r>
            <a:endParaRPr/>
          </a:p>
          <a:p>
            <a:pPr indent="0" lvl="0" marL="0" rtl="0" algn="l">
              <a:lnSpc>
                <a:spcPct val="100000"/>
              </a:lnSpc>
              <a:spcBef>
                <a:spcPts val="0"/>
              </a:spcBef>
              <a:spcAft>
                <a:spcPts val="0"/>
              </a:spcAft>
              <a:buSzPts val="1100"/>
              <a:buNone/>
            </a:pPr>
            <a:r>
              <a:rPr lang="en-US"/>
              <a:t>POR QUE A comparação com os 601 de Zerouali et al. em corpus Debian de 2018 é indicativa, não igual: lá é um rastreador do Debian, aqui são três scanners mesclados, e os corpora são outros. O que a comparação sustenta é a ordem de grandeza e o formato da distribuição, que é fortemente assimétrica à direita nos dois.</a:t>
            </a:r>
            <a:endParaRPr/>
          </a:p>
        </p:txBody>
      </p:sp>
      <p:sp>
        <p:nvSpPr>
          <p:cNvPr id="995" name="Google Shape;995;p4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p5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13" name="Google Shape;1013;p5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Não. É a primeira limitação que o artigo lista, e vale dizer sem rodeio: a falha pode não ser alcançável na configuração em que a imagem roda, e nós não medimos alcançabilidade. Duas coisas empurram a taxa para cima sem que exista decisão do autor da imagem por trás. Uma é a herança: a imagem base propaga o mesmo CVE para toda imagem derivada dela. A outra é a concentração em biblioteca de sistema: zlib aparece vulnerável em 90,5% das imagens do corpus e openssl em 86,1%, e nenhum dos dois foi escolhido pelo autor da imagem — vêm da base. O que a taxa mede, e mede bem, é a superfície publicada: o que o usuário recebe quando dá pull sem pedir versão.</a:t>
            </a:r>
            <a:endParaRPr/>
          </a:p>
          <a:p>
            <a:pPr indent="0" lvl="0" marL="0" rtl="0" algn="l">
              <a:lnSpc>
                <a:spcPct val="100000"/>
              </a:lnSpc>
              <a:spcBef>
                <a:spcPts val="0"/>
              </a:spcBef>
              <a:spcAft>
                <a:spcPts val="0"/>
              </a:spcAft>
              <a:buSzPts val="1100"/>
              <a:buNone/>
            </a:pPr>
            <a:r>
              <a:rPr lang="en-US"/>
              <a:t>TERMOS Alcançabilidade: se o código vulnerável é de fato chamado no caminho de execução da aplicação. Ferramenta de análise de alcançabilidade existe, mas não estava no pipeline dos dois estudos e incluí-la quebraria a comparação entre as amostras.</a:t>
            </a:r>
            <a:endParaRPr/>
          </a:p>
          <a:p>
            <a:pPr indent="0" lvl="0" marL="0" rtl="0" algn="l">
              <a:lnSpc>
                <a:spcPct val="100000"/>
              </a:lnSpc>
              <a:spcBef>
                <a:spcPts val="0"/>
              </a:spcBef>
              <a:spcAft>
                <a:spcPts val="0"/>
              </a:spcAft>
              <a:buSzPts val="1100"/>
              <a:buNone/>
            </a:pPr>
            <a:r>
              <a:rPr lang="en-US"/>
              <a:t>POR QUE É por isso que a recomendação do artigo para o consumidor é priorizar achado alcançável na configuração implantada, e não tratar a contagem bruta como fila de trabalho.</a:t>
            </a:r>
            <a:endParaRPr/>
          </a:p>
        </p:txBody>
      </p:sp>
      <p:sp>
        <p:nvSpPr>
          <p:cNvPr id="1014" name="Google Shape;1014;p5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0" name="Shape 1030"/>
        <p:cNvGrpSpPr/>
        <p:nvPr/>
      </p:nvGrpSpPr>
      <p:grpSpPr>
        <a:xfrm>
          <a:off x="0" y="0"/>
          <a:ext cx="0" cy="0"/>
          <a:chOff x="0" y="0"/>
          <a:chExt cx="0" cy="0"/>
        </a:xfrm>
      </p:grpSpPr>
      <p:sp>
        <p:nvSpPr>
          <p:cNvPr id="1031" name="Google Shape;1031;p5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32" name="Google Shape;1032;p5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Quatro escolhas de projeto, e a razão de cada uma. Sorteamos 4.800 e não 2.879 porque boa parte dos repositórios não resolve pela tag padrão: o sobressorteio é o que garante um corpo escaneado grande o bastante para a margem abaixo de um ponto. Analisamos só linux/amd64, e isso exclui 36 dos 4.800 sorteados, ou 0,75% — é uma limitação pequena e mensurada, não uma suposição. A unidade é a tag latest porque é o que o usuário recebe sem pedir versão; medir todas as tags mudaria a população estimada, e não é a pergunta deste trabalho. E o zero repositório oficial não é defeito do sorteio: são da ordem de 160 repositórios oficiais em 12,7 milhões, então o número esperado em 4.800 sorteios é 0,06. Observar zero é o que um sorteio uniforme tem de produzir; é resultado, não falha.</a:t>
            </a:r>
            <a:endParaRPr/>
          </a:p>
          <a:p>
            <a:pPr indent="0" lvl="0" marL="0" rtl="0" algn="l">
              <a:lnSpc>
                <a:spcPct val="100000"/>
              </a:lnSpc>
              <a:spcBef>
                <a:spcPts val="0"/>
              </a:spcBef>
              <a:spcAft>
                <a:spcPts val="0"/>
              </a:spcAft>
              <a:buSzPts val="1100"/>
              <a:buNone/>
            </a:pPr>
            <a:r>
              <a:rPr lang="en-US"/>
              <a:t>TERMOS Sobressorteio: sortear mais unidades do que o tamanho de amostra desejado, contando com a não-resposta. Repositório oficial: imagem do namespace library, curada pela Docker.</a:t>
            </a:r>
            <a:endParaRPr/>
          </a:p>
          <a:p>
            <a:pPr indent="0" lvl="0" marL="0" rtl="0" algn="l">
              <a:lnSpc>
                <a:spcPct val="100000"/>
              </a:lnSpc>
              <a:spcBef>
                <a:spcPts val="0"/>
              </a:spcBef>
              <a:spcAft>
                <a:spcPts val="0"/>
              </a:spcAft>
              <a:buSzPts val="1100"/>
              <a:buNone/>
            </a:pPr>
            <a:r>
              <a:rPr lang="en-US"/>
              <a:t>POR QUE Reprodutibilidade, que costuma vir junto: várias tags de ferramenta flutuam e a base de vulnerabilidades é buscada na hora da execução, então os resultados descrevem as construções e os dados resolvidos DURANTE a campanha, não um ambiente imutável. O artigo diz isso na metodologia. O artefato publica os relatórios brutos, que é o que permite recomputar os números mesmo depois que a base mudou.</a:t>
            </a:r>
            <a:endParaRPr/>
          </a:p>
        </p:txBody>
      </p:sp>
      <p:sp>
        <p:nvSpPr>
          <p:cNvPr id="1033" name="Google Shape;1033;p5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9" name="Shape 1049"/>
        <p:cNvGrpSpPr/>
        <p:nvPr/>
      </p:nvGrpSpPr>
      <p:grpSpPr>
        <a:xfrm>
          <a:off x="0" y="0"/>
          <a:ext cx="0" cy="0"/>
          <a:chOff x="0" y="0"/>
          <a:chExt cx="0" cy="0"/>
        </a:xfrm>
      </p:grpSpPr>
      <p:sp>
        <p:nvSpPr>
          <p:cNvPr id="1050" name="Google Shape;1050;p5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51" name="Google Shape;1051;p5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Cada fila repete, na nossa amostra aleatória, uma análise já publicada. Shu et al. em 2017 reportaram a severidade máxima modal como ALTA; na amostra aleatória ela é CRÍTICA, em 94,4% das imagens. Liu et al. em 2020 reportaram mais de 64% das imagens de comunidade com falha severa; medimos 96,4%. Zerouali et al. reportaram mediana de 601 vulnerabilidades por imagem num corpus Debian de 2018; a nossa mediana mesclada é 947. Dahlmanns et al. em 2023 reportaram 8,5% de imagens com segredo, mas aquele é um número FILTRADO e validado, e o nosso 82,4% é bruto do detector: os dois não são comparáveis de frente. E Churakova et al. em 2025 reportaram Jaccard de 0,69 entre scanners num conjunto de 48 imagens; o nosso melhor par dá 0,43 em 2.879.</a:t>
            </a:r>
            <a:endParaRPr/>
          </a:p>
          <a:p>
            <a:pPr indent="0" lvl="0" marL="0" rtl="0" algn="l">
              <a:lnSpc>
                <a:spcPct val="100000"/>
              </a:lnSpc>
              <a:spcBef>
                <a:spcPts val="0"/>
              </a:spcBef>
              <a:spcAft>
                <a:spcPts val="0"/>
              </a:spcAft>
              <a:buSzPts val="1100"/>
              <a:buNone/>
            </a:pPr>
            <a:r>
              <a:rPr lang="en-US"/>
              <a:t>TERMOS Jaccard: interseção sobre união, de 0 a 1. Severidade modal: a categoria de severidade máxima mais frequente entre as imagens.</a:t>
            </a:r>
            <a:endParaRPr/>
          </a:p>
          <a:p>
            <a:pPr indent="0" lvl="0" marL="0" rtl="0" algn="l">
              <a:lnSpc>
                <a:spcPct val="100000"/>
              </a:lnSpc>
              <a:spcBef>
                <a:spcPts val="0"/>
              </a:spcBef>
              <a:spcAft>
                <a:spcPts val="0"/>
              </a:spcAft>
              <a:buSzPts val="1100"/>
              <a:buNone/>
            </a:pPr>
            <a:r>
              <a:rPr lang="en-US"/>
              <a:t>POR QUE A coluna da amostra por exposição não cabe na tela sem cortar cabeçalho, então vai dita: crítica em Shu, 95,6% em Liu comunidade, mediana 885 em Zerouali e 76,9% em Dahlmanns. Duas análises NÃO são computáveis num sorteio uniforme: a divisão oficial contra comunidade, porque a amostra não tem nenhuma imagem oficial, e a evolução da defasagem no tempo, porque o instantâneo não guarda carimbo de data do registro.</a:t>
            </a:r>
            <a:endParaRPr/>
          </a:p>
        </p:txBody>
      </p:sp>
      <p:sp>
        <p:nvSpPr>
          <p:cNvPr id="1052" name="Google Shape;1052;p5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2" name="Shape 1082"/>
        <p:cNvGrpSpPr/>
        <p:nvPr/>
      </p:nvGrpSpPr>
      <p:grpSpPr>
        <a:xfrm>
          <a:off x="0" y="0"/>
          <a:ext cx="0" cy="0"/>
          <a:chOff x="0" y="0"/>
          <a:chExt cx="0" cy="0"/>
        </a:xfrm>
      </p:grpSpPr>
      <p:sp>
        <p:nvSpPr>
          <p:cNvPr id="1083" name="Google Shape;1083;p5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4" name="Google Shape;1084;p5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100"/>
              <a:buNone/>
            </a:pPr>
            <a:r>
              <a:rPr lang="en-US"/>
              <a:t>[reserva] FALA Três direções que este desenho abre. A primeira é repetir o sorteio ao longo do tempo, sobre os mesmos repositórios: é o que separa a imagem que se DEGRADA da imagem que foi ABANDONADA, e os 34,9% sem tag latest são exatamente onde essa distinção importa. A segunda é registrar, por imagem, qual é a base e quando ela foi reconstruída: testaria diretamente o mecanismo da herança, que hoje afirmamos por inferência a partir da distribuição de pacotes. A terceira é sortear com probabilidade proporcional à exposição.</a:t>
            </a:r>
            <a:endParaRPr/>
          </a:p>
          <a:p>
            <a:pPr indent="0" lvl="0" marL="0" rtl="0" algn="l">
              <a:lnSpc>
                <a:spcPct val="100000"/>
              </a:lnSpc>
              <a:spcBef>
                <a:spcPts val="0"/>
              </a:spcBef>
              <a:spcAft>
                <a:spcPts val="0"/>
              </a:spcAft>
              <a:buSzPts val="1100"/>
              <a:buNone/>
            </a:pPr>
            <a:r>
              <a:rPr lang="en-US"/>
              <a:t>TERMOS Longitudinal: medir os mesmos repositórios em instantes diferentes, em vez de um instantâneo só. Sorteio com probabilidade proporcional ao tamanho: cada unidade entra com chance proporcional a uma medida conhecida, aqui a exposição.</a:t>
            </a:r>
            <a:endParaRPr/>
          </a:p>
          <a:p>
            <a:pPr indent="0" lvl="0" marL="0" rtl="0" algn="l">
              <a:lnSpc>
                <a:spcPct val="100000"/>
              </a:lnSpc>
              <a:spcBef>
                <a:spcPts val="0"/>
              </a:spcBef>
              <a:spcAft>
                <a:spcPts val="0"/>
              </a:spcAft>
              <a:buSzPts val="1100"/>
              <a:buNone/>
            </a:pPr>
            <a:r>
              <a:rPr lang="en-US"/>
              <a:t>POR QUE A terceira é a mais interessante e é a que fecha a lacuna deste trabalho: a amostra aleatória dá prevalência e não dá alcance; a amostra por exposição dá alcance e não dá prevalência. Um sorteio ponderado por exposição daria as duas coisas no MESMO estimador, com peso de desenho conhecido, e nenhuma das duas amostras entrega isso sozinha.</a:t>
            </a:r>
            <a:endParaRPr/>
          </a:p>
        </p:txBody>
      </p:sp>
      <p:sp>
        <p:nvSpPr>
          <p:cNvPr id="1085" name="Google Shape;1085;p5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5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 name="Google Shape;13;p5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18" name="Google Shape;18;p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5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24" name="Google Shape;24;p5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5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5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5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30" name="Google Shape;30;p5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5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5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6" name="Google Shape;36;p5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37" name="Google Shape;37;p5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5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5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6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3" name="Google Shape;43;p6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4" name="Google Shape;44;p6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45" name="Google Shape;45;p6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46" name="Google Shape;46;p6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6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6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6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6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6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6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6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6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57" name="Google Shape;57;p6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58" name="Google Shape;58;p6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6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6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6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63"/>
          <p:cNvSpPr/>
          <p:nvPr>
            <p:ph idx="2" type="pic"/>
          </p:nvPr>
        </p:nvSpPr>
        <p:spPr>
          <a:xfrm>
            <a:off x="1792288" y="612775"/>
            <a:ext cx="5486400" cy="4114800"/>
          </a:xfrm>
          <a:prstGeom prst="rect">
            <a:avLst/>
          </a:prstGeom>
          <a:noFill/>
          <a:ln>
            <a:noFill/>
          </a:ln>
        </p:spPr>
      </p:sp>
      <p:sp>
        <p:nvSpPr>
          <p:cNvPr id="64" name="Google Shape;64;p6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65" name="Google Shape;65;p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6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6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1" name="Google Shape;71;p6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6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6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6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6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77" name="Google Shape;77;p6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6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6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5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p5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5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 name="Google Shape;9;p5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 name="Google Shape;10;p5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1.png"/><Relationship Id="rId4" Type="http://schemas.openxmlformats.org/officeDocument/2006/relationships/image" Target="../media/image10.png"/><Relationship Id="rId11" Type="http://schemas.openxmlformats.org/officeDocument/2006/relationships/image" Target="../media/image1.png"/><Relationship Id="rId10" Type="http://schemas.openxmlformats.org/officeDocument/2006/relationships/image" Target="../media/image8.png"/><Relationship Id="rId9" Type="http://schemas.openxmlformats.org/officeDocument/2006/relationships/image" Target="../media/image3.png"/><Relationship Id="rId5" Type="http://schemas.openxmlformats.org/officeDocument/2006/relationships/image" Target="../media/image9.png"/><Relationship Id="rId6" Type="http://schemas.openxmlformats.org/officeDocument/2006/relationships/image" Target="../media/image6.png"/><Relationship Id="rId7" Type="http://schemas.openxmlformats.org/officeDocument/2006/relationships/image" Target="../media/image5.png"/><Relationship Id="rId8"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2.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jpg"/><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1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1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17.png"/><Relationship Id="rId9" Type="http://schemas.openxmlformats.org/officeDocument/2006/relationships/image" Target="../media/image19.png"/><Relationship Id="rId5" Type="http://schemas.openxmlformats.org/officeDocument/2006/relationships/image" Target="../media/image15.png"/><Relationship Id="rId6" Type="http://schemas.openxmlformats.org/officeDocument/2006/relationships/image" Target="../media/image18.png"/><Relationship Id="rId7" Type="http://schemas.openxmlformats.org/officeDocument/2006/relationships/image" Target="../media/image20.png"/><Relationship Id="rId8"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6.png"/><Relationship Id="rId4" Type="http://schemas.openxmlformats.org/officeDocument/2006/relationships/image" Target="../media/image31.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2.png"/><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1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image12.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image26.png"/><Relationship Id="rId4" Type="http://schemas.openxmlformats.org/officeDocument/2006/relationships/image" Target="../media/image28.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2.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2.png"/><Relationship Id="rId4" Type="http://schemas.openxmlformats.org/officeDocument/2006/relationships/image" Target="../media/image11.png"/><Relationship Id="rId5" Type="http://schemas.openxmlformats.org/officeDocument/2006/relationships/image" Target="../media/image10.png"/><Relationship Id="rId6" Type="http://schemas.openxmlformats.org/officeDocument/2006/relationships/image" Target="../media/image9.png"/><Relationship Id="rId7" Type="http://schemas.openxmlformats.org/officeDocument/2006/relationships/image" Target="../media/image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4.jpg"/><Relationship Id="rId4" Type="http://schemas.openxmlformats.org/officeDocument/2006/relationships/image" Target="../media/image12.png"/><Relationship Id="rId11" Type="http://schemas.openxmlformats.org/officeDocument/2006/relationships/image" Target="../media/image32.png"/><Relationship Id="rId10" Type="http://schemas.openxmlformats.org/officeDocument/2006/relationships/image" Target="../media/image30.png"/><Relationship Id="rId12" Type="http://schemas.openxmlformats.org/officeDocument/2006/relationships/image" Target="../media/image25.png"/><Relationship Id="rId9" Type="http://schemas.openxmlformats.org/officeDocument/2006/relationships/image" Target="../media/image22.png"/><Relationship Id="rId5" Type="http://schemas.openxmlformats.org/officeDocument/2006/relationships/image" Target="../media/image2.png"/><Relationship Id="rId6" Type="http://schemas.openxmlformats.org/officeDocument/2006/relationships/image" Target="../media/image3.png"/><Relationship Id="rId7" Type="http://schemas.openxmlformats.org/officeDocument/2006/relationships/image" Target="../media/image27.png"/><Relationship Id="rId8" Type="http://schemas.openxmlformats.org/officeDocument/2006/relationships/image" Target="../media/image2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1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1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12.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1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1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12.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2.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2.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 Id="rId3" Type="http://schemas.openxmlformats.org/officeDocument/2006/relationships/image" Target="../media/image1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 Id="rId3"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
          <p:cNvSpPr/>
          <p:nvPr/>
        </p:nvSpPr>
        <p:spPr>
          <a:xfrm>
            <a:off x="0" y="0"/>
            <a:ext cx="12191695" cy="6858000"/>
          </a:xfrm>
          <a:prstGeom prst="rect">
            <a:avLst/>
          </a:prstGeom>
          <a:solidFill>
            <a:srgbClr val="00153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 name="Google Shape;86;p1"/>
          <p:cNvSpPr/>
          <p:nvPr/>
        </p:nvSpPr>
        <p:spPr>
          <a:xfrm>
            <a:off x="0" y="0"/>
            <a:ext cx="12191695" cy="91440"/>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 name="Google Shape;87;p1"/>
          <p:cNvSpPr/>
          <p:nvPr/>
        </p:nvSpPr>
        <p:spPr>
          <a:xfrm>
            <a:off x="9171432" y="3840480"/>
            <a:ext cx="6035040" cy="6035040"/>
          </a:xfrm>
          <a:prstGeom prst="ellipse">
            <a:avLst/>
          </a:prstGeom>
          <a:noFill/>
          <a:ln cap="flat" cmpd="sng" w="19050">
            <a:solidFill>
              <a:srgbClr val="142E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 name="Google Shape;88;p1"/>
          <p:cNvSpPr/>
          <p:nvPr/>
        </p:nvSpPr>
        <p:spPr>
          <a:xfrm>
            <a:off x="9902952" y="4572000"/>
            <a:ext cx="4572000" cy="4572000"/>
          </a:xfrm>
          <a:prstGeom prst="ellipse">
            <a:avLst/>
          </a:prstGeom>
          <a:noFill/>
          <a:ln cap="flat" cmpd="sng" w="19050">
            <a:solidFill>
              <a:srgbClr val="142E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 name="Google Shape;89;p1"/>
          <p:cNvSpPr/>
          <p:nvPr/>
        </p:nvSpPr>
        <p:spPr>
          <a:xfrm>
            <a:off x="10634472" y="5303520"/>
            <a:ext cx="3108960" cy="3108960"/>
          </a:xfrm>
          <a:prstGeom prst="ellipse">
            <a:avLst/>
          </a:prstGeom>
          <a:noFill/>
          <a:ln cap="flat" cmpd="sng" w="19050">
            <a:solidFill>
              <a:srgbClr val="142E6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 name="Google Shape;90;p1"/>
          <p:cNvSpPr txBox="1"/>
          <p:nvPr/>
        </p:nvSpPr>
        <p:spPr>
          <a:xfrm>
            <a:off x="658368" y="438912"/>
            <a:ext cx="8366760" cy="29260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9BC0FF"/>
                </a:solidFill>
                <a:latin typeface="Inter"/>
                <a:ea typeface="Inter"/>
                <a:cs typeface="Inter"/>
                <a:sym typeface="Inter"/>
              </a:rPr>
              <a:t>SBSEG 2026  ·  BÚZIOS, RJ  ·  1 A 4 DE SETEMBRO</a:t>
            </a:r>
            <a:endParaRPr b="0" i="0" sz="1400" u="none" cap="none" strike="noStrike">
              <a:solidFill>
                <a:srgbClr val="000000"/>
              </a:solidFill>
              <a:latin typeface="Arial"/>
              <a:ea typeface="Arial"/>
              <a:cs typeface="Arial"/>
              <a:sym typeface="Arial"/>
            </a:endParaRPr>
          </a:p>
        </p:txBody>
      </p:sp>
      <p:sp>
        <p:nvSpPr>
          <p:cNvPr id="91" name="Google Shape;91;p1"/>
          <p:cNvSpPr txBox="1"/>
          <p:nvPr/>
        </p:nvSpPr>
        <p:spPr>
          <a:xfrm>
            <a:off x="658368" y="932688"/>
            <a:ext cx="8458200" cy="17373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4400"/>
              <a:buFont typeface="Arial"/>
              <a:buNone/>
            </a:pPr>
            <a:r>
              <a:rPr b="1" i="0" lang="en-US" sz="4400" u="none" cap="none" strike="noStrike">
                <a:solidFill>
                  <a:srgbClr val="FFFFFF"/>
                </a:solidFill>
                <a:latin typeface="Space Grotesk"/>
                <a:ea typeface="Space Grotesk"/>
                <a:cs typeface="Space Grotesk"/>
                <a:sym typeface="Space Grotesk"/>
              </a:rPr>
              <a:t>Uma medição de segurança das imagens do Docker Hub</a:t>
            </a:r>
            <a:endParaRPr b="0" i="0" sz="1400" u="none" cap="none" strike="noStrike">
              <a:solidFill>
                <a:srgbClr val="000000"/>
              </a:solidFill>
              <a:latin typeface="Arial"/>
              <a:ea typeface="Arial"/>
              <a:cs typeface="Arial"/>
              <a:sym typeface="Arial"/>
            </a:endParaRPr>
          </a:p>
        </p:txBody>
      </p:sp>
      <p:sp>
        <p:nvSpPr>
          <p:cNvPr id="92" name="Google Shape;92;p1"/>
          <p:cNvSpPr txBox="1"/>
          <p:nvPr/>
        </p:nvSpPr>
        <p:spPr>
          <a:xfrm>
            <a:off x="658368" y="2688336"/>
            <a:ext cx="8458200" cy="73152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por amostra aleatória uniforme</a:t>
            </a:r>
            <a:endParaRPr b="0" i="0" sz="1400" u="none" cap="none" strike="noStrike">
              <a:solidFill>
                <a:srgbClr val="000000"/>
              </a:solidFill>
              <a:latin typeface="Arial"/>
              <a:ea typeface="Arial"/>
              <a:cs typeface="Arial"/>
              <a:sym typeface="Arial"/>
            </a:endParaRPr>
          </a:p>
        </p:txBody>
      </p:sp>
      <p:sp>
        <p:nvSpPr>
          <p:cNvPr id="93" name="Google Shape;93;p1"/>
          <p:cNvSpPr/>
          <p:nvPr/>
        </p:nvSpPr>
        <p:spPr>
          <a:xfrm>
            <a:off x="658368" y="4059936"/>
            <a:ext cx="1463040" cy="54864"/>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 name="Google Shape;94;p1"/>
          <p:cNvSpPr txBox="1"/>
          <p:nvPr/>
        </p:nvSpPr>
        <p:spPr>
          <a:xfrm>
            <a:off x="658368" y="4297680"/>
            <a:ext cx="841248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FFFFFF"/>
                </a:solidFill>
                <a:latin typeface="Inter"/>
                <a:ea typeface="Inter"/>
                <a:cs typeface="Inter"/>
                <a:sym typeface="Inter"/>
              </a:rPr>
              <a:t>Cristhian Kapelinski  ·  Diego Kreutz</a:t>
            </a:r>
            <a:endParaRPr b="0" i="0" sz="1400" u="none" cap="none" strike="noStrike">
              <a:solidFill>
                <a:srgbClr val="000000"/>
              </a:solidFill>
              <a:latin typeface="Arial"/>
              <a:ea typeface="Arial"/>
              <a:cs typeface="Arial"/>
              <a:sym typeface="Arial"/>
            </a:endParaRPr>
          </a:p>
        </p:txBody>
      </p:sp>
      <p:sp>
        <p:nvSpPr>
          <p:cNvPr id="95" name="Google Shape;95;p1"/>
          <p:cNvSpPr txBox="1"/>
          <p:nvPr/>
        </p:nvSpPr>
        <p:spPr>
          <a:xfrm>
            <a:off x="658368" y="4828032"/>
            <a:ext cx="841248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D9E5FC"/>
                </a:solidFill>
                <a:latin typeface="Inter"/>
                <a:ea typeface="Inter"/>
                <a:cs typeface="Inter"/>
                <a:sym typeface="Inter"/>
              </a:rPr>
              <a:t>AI Horizon Labs  ·  UNIPAMPA</a:t>
            </a:r>
            <a:endParaRPr b="0" i="0" sz="1400" u="none" cap="none" strike="noStrike">
              <a:solidFill>
                <a:srgbClr val="000000"/>
              </a:solidFill>
              <a:latin typeface="Arial"/>
              <a:ea typeface="Arial"/>
              <a:cs typeface="Arial"/>
              <a:sym typeface="Arial"/>
            </a:endParaRPr>
          </a:p>
        </p:txBody>
      </p:sp>
      <p:sp>
        <p:nvSpPr>
          <p:cNvPr id="96" name="Google Shape;96;p1"/>
          <p:cNvSpPr/>
          <p:nvPr/>
        </p:nvSpPr>
        <p:spPr>
          <a:xfrm>
            <a:off x="9189720" y="1481328"/>
            <a:ext cx="2340864" cy="2340864"/>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disponiveis.png" id="97" name="Google Shape;97;p1"/>
          <p:cNvPicPr preferRelativeResize="0"/>
          <p:nvPr/>
        </p:nvPicPr>
        <p:blipFill rotWithShape="1">
          <a:blip r:embed="rId3">
            <a:alphaModFix/>
          </a:blip>
          <a:srcRect b="0" l="0" r="0" t="0"/>
          <a:stretch/>
        </p:blipFill>
        <p:spPr>
          <a:xfrm>
            <a:off x="9208008" y="566928"/>
            <a:ext cx="566928" cy="566928"/>
          </a:xfrm>
          <a:prstGeom prst="rect">
            <a:avLst/>
          </a:prstGeom>
          <a:noFill/>
          <a:ln>
            <a:noFill/>
          </a:ln>
        </p:spPr>
      </p:pic>
      <p:pic>
        <p:nvPicPr>
          <p:cNvPr descr="funcionais.png" id="98" name="Google Shape;98;p1"/>
          <p:cNvPicPr preferRelativeResize="0"/>
          <p:nvPr/>
        </p:nvPicPr>
        <p:blipFill rotWithShape="1">
          <a:blip r:embed="rId4">
            <a:alphaModFix/>
          </a:blip>
          <a:srcRect b="0" l="0" r="0" t="0"/>
          <a:stretch/>
        </p:blipFill>
        <p:spPr>
          <a:xfrm>
            <a:off x="9866376" y="566928"/>
            <a:ext cx="566928" cy="566928"/>
          </a:xfrm>
          <a:prstGeom prst="rect">
            <a:avLst/>
          </a:prstGeom>
          <a:noFill/>
          <a:ln>
            <a:noFill/>
          </a:ln>
        </p:spPr>
      </p:pic>
      <p:pic>
        <p:nvPicPr>
          <p:cNvPr descr="sustentaveis.png" id="99" name="Google Shape;99;p1"/>
          <p:cNvPicPr preferRelativeResize="0"/>
          <p:nvPr/>
        </p:nvPicPr>
        <p:blipFill rotWithShape="1">
          <a:blip r:embed="rId5">
            <a:alphaModFix/>
          </a:blip>
          <a:srcRect b="0" l="0" r="0" t="0"/>
          <a:stretch/>
        </p:blipFill>
        <p:spPr>
          <a:xfrm>
            <a:off x="10524744" y="566928"/>
            <a:ext cx="566928" cy="566928"/>
          </a:xfrm>
          <a:prstGeom prst="rect">
            <a:avLst/>
          </a:prstGeom>
          <a:noFill/>
          <a:ln>
            <a:noFill/>
          </a:ln>
        </p:spPr>
      </p:pic>
      <p:pic>
        <p:nvPicPr>
          <p:cNvPr descr="reproduziveis.png" id="100" name="Google Shape;100;p1"/>
          <p:cNvPicPr preferRelativeResize="0"/>
          <p:nvPr/>
        </p:nvPicPr>
        <p:blipFill rotWithShape="1">
          <a:blip r:embed="rId6">
            <a:alphaModFix/>
          </a:blip>
          <a:srcRect b="0" l="0" r="0" t="0"/>
          <a:stretch/>
        </p:blipFill>
        <p:spPr>
          <a:xfrm>
            <a:off x="11183112" y="566928"/>
            <a:ext cx="566928" cy="566928"/>
          </a:xfrm>
          <a:prstGeom prst="rect">
            <a:avLst/>
          </a:prstGeom>
          <a:noFill/>
          <a:ln>
            <a:noFill/>
          </a:ln>
        </p:spPr>
      </p:pic>
      <p:pic>
        <p:nvPicPr>
          <p:cNvPr descr="sbseg2026.png" id="101" name="Google Shape;101;p1"/>
          <p:cNvPicPr preferRelativeResize="0"/>
          <p:nvPr/>
        </p:nvPicPr>
        <p:blipFill rotWithShape="1">
          <a:blip r:embed="rId7">
            <a:alphaModFix/>
          </a:blip>
          <a:srcRect b="0" l="0" r="0" t="0"/>
          <a:stretch/>
        </p:blipFill>
        <p:spPr>
          <a:xfrm>
            <a:off x="9418320" y="2129337"/>
            <a:ext cx="1883664" cy="1044844"/>
          </a:xfrm>
          <a:prstGeom prst="rect">
            <a:avLst/>
          </a:prstGeom>
          <a:noFill/>
          <a:ln>
            <a:noFill/>
          </a:ln>
        </p:spPr>
      </p:pic>
      <p:sp>
        <p:nvSpPr>
          <p:cNvPr id="102" name="Google Shape;102;p1"/>
          <p:cNvSpPr/>
          <p:nvPr/>
        </p:nvSpPr>
        <p:spPr>
          <a:xfrm>
            <a:off x="0" y="5760720"/>
            <a:ext cx="12191695" cy="109728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aihorizonlabs.png" id="103" name="Google Shape;103;p1"/>
          <p:cNvPicPr preferRelativeResize="0"/>
          <p:nvPr/>
        </p:nvPicPr>
        <p:blipFill rotWithShape="1">
          <a:blip r:embed="rId8">
            <a:alphaModFix/>
          </a:blip>
          <a:srcRect b="0" l="0" r="0" t="0"/>
          <a:stretch/>
        </p:blipFill>
        <p:spPr>
          <a:xfrm>
            <a:off x="2" y="5760722"/>
            <a:ext cx="4489665" cy="1097275"/>
          </a:xfrm>
          <a:prstGeom prst="rect">
            <a:avLst/>
          </a:prstGeom>
          <a:noFill/>
          <a:ln>
            <a:noFill/>
          </a:ln>
        </p:spPr>
      </p:pic>
      <p:pic>
        <p:nvPicPr>
          <p:cNvPr descr="unipampa.png" id="104" name="Google Shape;104;p1"/>
          <p:cNvPicPr preferRelativeResize="0"/>
          <p:nvPr/>
        </p:nvPicPr>
        <p:blipFill rotWithShape="1">
          <a:blip r:embed="rId9">
            <a:alphaModFix/>
          </a:blip>
          <a:srcRect b="0" l="0" r="0" t="0"/>
          <a:stretch/>
        </p:blipFill>
        <p:spPr>
          <a:xfrm>
            <a:off x="4489676" y="5806451"/>
            <a:ext cx="1666245" cy="1097275"/>
          </a:xfrm>
          <a:prstGeom prst="rect">
            <a:avLst/>
          </a:prstGeom>
          <a:noFill/>
          <a:ln>
            <a:noFill/>
          </a:ln>
        </p:spPr>
      </p:pic>
      <p:pic>
        <p:nvPicPr>
          <p:cNvPr descr="sbseg2026.png" id="105" name="Google Shape;105;p1"/>
          <p:cNvPicPr preferRelativeResize="0"/>
          <p:nvPr/>
        </p:nvPicPr>
        <p:blipFill rotWithShape="1">
          <a:blip r:embed="rId7">
            <a:alphaModFix/>
          </a:blip>
          <a:srcRect b="0" l="0" r="0" t="0"/>
          <a:stretch/>
        </p:blipFill>
        <p:spPr>
          <a:xfrm>
            <a:off x="7914851" y="5875020"/>
            <a:ext cx="1566070" cy="868680"/>
          </a:xfrm>
          <a:prstGeom prst="rect">
            <a:avLst/>
          </a:prstGeom>
          <a:noFill/>
          <a:ln>
            <a:noFill/>
          </a:ln>
        </p:spPr>
      </p:pic>
      <p:pic>
        <p:nvPicPr>
          <p:cNvPr descr="uff.png" id="106" name="Google Shape;106;p1"/>
          <p:cNvPicPr preferRelativeResize="0"/>
          <p:nvPr/>
        </p:nvPicPr>
        <p:blipFill rotWithShape="1">
          <a:blip r:embed="rId10">
            <a:alphaModFix/>
          </a:blip>
          <a:srcRect b="0" l="0" r="0" t="0"/>
          <a:stretch/>
        </p:blipFill>
        <p:spPr>
          <a:xfrm>
            <a:off x="9892402" y="5861304"/>
            <a:ext cx="872836" cy="896112"/>
          </a:xfrm>
          <a:prstGeom prst="rect">
            <a:avLst/>
          </a:prstGeom>
          <a:noFill/>
          <a:ln>
            <a:noFill/>
          </a:ln>
        </p:spPr>
      </p:pic>
      <p:pic>
        <p:nvPicPr>
          <p:cNvPr descr="sbc.png" id="107" name="Google Shape;107;p1"/>
          <p:cNvPicPr preferRelativeResize="0"/>
          <p:nvPr/>
        </p:nvPicPr>
        <p:blipFill rotWithShape="1">
          <a:blip r:embed="rId11">
            <a:alphaModFix/>
          </a:blip>
          <a:srcRect b="0" l="0" r="0" t="0"/>
          <a:stretch/>
        </p:blipFill>
        <p:spPr>
          <a:xfrm>
            <a:off x="11176719" y="5843016"/>
            <a:ext cx="619040" cy="932688"/>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pic>
        <p:nvPicPr>
          <p:cNvPr descr="sbseg2026_rodape.png" id="113" name="Google Shape;113;p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14" name="Google Shape;114;p2"/>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02</a:t>
            </a:r>
            <a:endParaRPr b="0" i="0" sz="1400" u="none" cap="none" strike="noStrike">
              <a:solidFill>
                <a:srgbClr val="000000"/>
              </a:solidFill>
              <a:latin typeface="Arial"/>
              <a:ea typeface="Arial"/>
              <a:cs typeface="Arial"/>
              <a:sym typeface="Arial"/>
            </a:endParaRPr>
          </a:p>
        </p:txBody>
      </p:sp>
      <p:sp>
        <p:nvSpPr>
          <p:cNvPr id="115" name="Google Shape;115;p2"/>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ABERTURA</a:t>
            </a:r>
            <a:endParaRPr b="0" i="0" sz="1400" u="none" cap="none" strike="noStrike">
              <a:solidFill>
                <a:srgbClr val="000000"/>
              </a:solidFill>
              <a:latin typeface="Arial"/>
              <a:ea typeface="Arial"/>
              <a:cs typeface="Arial"/>
              <a:sym typeface="Arial"/>
            </a:endParaRPr>
          </a:p>
        </p:txBody>
      </p:sp>
      <p:sp>
        <p:nvSpPr>
          <p:cNvPr id="116" name="Google Shape;116;p2"/>
          <p:cNvSpPr txBox="1"/>
          <p:nvPr/>
        </p:nvSpPr>
        <p:spPr>
          <a:xfrm>
            <a:off x="365760" y="731520"/>
            <a:ext cx="11457432" cy="658368"/>
          </a:xfrm>
          <a:prstGeom prst="rect">
            <a:avLst/>
          </a:prstGeom>
          <a:noFill/>
          <a:ln>
            <a:noFill/>
          </a:ln>
        </p:spPr>
        <p:txBody>
          <a:bodyPr anchorCtr="0" anchor="t" bIns="0" lIns="0" spcFirstLastPara="1" rIns="0" wrap="square" tIns="0">
            <a:spAutoFit/>
          </a:bodyPr>
          <a:lstStyle/>
          <a:p>
            <a:pPr indent="0" lvl="0" marL="0" marR="0" rtl="0" algn="ctr">
              <a:lnSpc>
                <a:spcPct val="118000"/>
              </a:lnSpc>
              <a:spcBef>
                <a:spcPts val="0"/>
              </a:spcBef>
              <a:spcAft>
                <a:spcPts val="0"/>
              </a:spcAft>
              <a:buClr>
                <a:srgbClr val="000000"/>
              </a:buClr>
              <a:buSzPts val="4000"/>
              <a:buFont typeface="Arial"/>
              <a:buNone/>
            </a:pPr>
            <a:r>
              <a:rPr b="1" i="0" lang="en-US" sz="4000" u="none" cap="none" strike="noStrike">
                <a:solidFill>
                  <a:srgbClr val="00153C"/>
                </a:solidFill>
                <a:latin typeface="Space Grotesk"/>
                <a:ea typeface="Space Grotesk"/>
                <a:cs typeface="Space Grotesk"/>
                <a:sym typeface="Space Grotesk"/>
              </a:rPr>
              <a:t>O registro público de imagens de contêiner.</a:t>
            </a:r>
            <a:endParaRPr b="0" i="0" sz="1400" u="none" cap="none" strike="noStrike">
              <a:solidFill>
                <a:srgbClr val="000000"/>
              </a:solidFill>
              <a:latin typeface="Arial"/>
              <a:ea typeface="Arial"/>
              <a:cs typeface="Arial"/>
              <a:sym typeface="Arial"/>
            </a:endParaRPr>
          </a:p>
        </p:txBody>
      </p:sp>
      <p:sp>
        <p:nvSpPr>
          <p:cNvPr id="117" name="Google Shape;117;p2"/>
          <p:cNvSpPr txBox="1"/>
          <p:nvPr/>
        </p:nvSpPr>
        <p:spPr>
          <a:xfrm>
            <a:off x="658368" y="1828800"/>
            <a:ext cx="5138928" cy="91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200"/>
              <a:buFont typeface="Arial"/>
              <a:buNone/>
            </a:pPr>
            <a:r>
              <a:rPr b="1" i="0" lang="en-US" sz="6200" u="none" cap="none" strike="noStrike">
                <a:solidFill>
                  <a:srgbClr val="2560FF"/>
                </a:solidFill>
                <a:latin typeface="Space Grotesk"/>
                <a:ea typeface="Space Grotesk"/>
                <a:cs typeface="Space Grotesk"/>
                <a:sym typeface="Space Grotesk"/>
              </a:rPr>
              <a:t>15 milhões</a:t>
            </a:r>
            <a:endParaRPr b="0" i="0" sz="1400" u="none" cap="none" strike="noStrike">
              <a:solidFill>
                <a:srgbClr val="000000"/>
              </a:solidFill>
              <a:latin typeface="Arial"/>
              <a:ea typeface="Arial"/>
              <a:cs typeface="Arial"/>
              <a:sym typeface="Arial"/>
            </a:endParaRPr>
          </a:p>
        </p:txBody>
      </p:sp>
      <p:sp>
        <p:nvSpPr>
          <p:cNvPr id="118" name="Google Shape;118;p2"/>
          <p:cNvSpPr txBox="1"/>
          <p:nvPr/>
        </p:nvSpPr>
        <p:spPr>
          <a:xfrm>
            <a:off x="658368" y="2880360"/>
            <a:ext cx="5138928" cy="100584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Clr>
                <a:srgbClr val="000000"/>
              </a:buClr>
              <a:buSzPts val="2800"/>
              <a:buFont typeface="Arial"/>
              <a:buNone/>
            </a:pPr>
            <a:r>
              <a:rPr b="1" i="0" lang="en-US" sz="2800" u="none" cap="none" strike="noStrike">
                <a:solidFill>
                  <a:srgbClr val="00153C"/>
                </a:solidFill>
                <a:latin typeface="Inter"/>
                <a:ea typeface="Inter"/>
                <a:cs typeface="Inter"/>
                <a:sym typeface="Inter"/>
              </a:rPr>
              <a:t>repositórios no Docker Hub · 2024</a:t>
            </a:r>
            <a:endParaRPr b="0" i="0" sz="1400" u="none" cap="none" strike="noStrike">
              <a:solidFill>
                <a:srgbClr val="000000"/>
              </a:solidFill>
              <a:latin typeface="Arial"/>
              <a:ea typeface="Arial"/>
              <a:cs typeface="Arial"/>
              <a:sym typeface="Arial"/>
            </a:endParaRPr>
          </a:p>
        </p:txBody>
      </p:sp>
      <p:sp>
        <p:nvSpPr>
          <p:cNvPr id="119" name="Google Shape;119;p2"/>
          <p:cNvSpPr txBox="1"/>
          <p:nvPr/>
        </p:nvSpPr>
        <p:spPr>
          <a:xfrm>
            <a:off x="6391656" y="1828800"/>
            <a:ext cx="5138928" cy="9144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6200"/>
              <a:buFont typeface="Arial"/>
              <a:buNone/>
            </a:pPr>
            <a:r>
              <a:rPr b="1" i="0" lang="en-US" sz="6200" u="none" cap="none" strike="noStrike">
                <a:solidFill>
                  <a:srgbClr val="2560FF"/>
                </a:solidFill>
                <a:latin typeface="Space Grotesk"/>
                <a:ea typeface="Space Grotesk"/>
                <a:cs typeface="Space Grotesk"/>
                <a:sym typeface="Space Grotesk"/>
              </a:rPr>
              <a:t>318 bilhões</a:t>
            </a:r>
            <a:endParaRPr b="0" i="0" sz="1400" u="none" cap="none" strike="noStrike">
              <a:solidFill>
                <a:srgbClr val="000000"/>
              </a:solidFill>
              <a:latin typeface="Arial"/>
              <a:ea typeface="Arial"/>
              <a:cs typeface="Arial"/>
              <a:sym typeface="Arial"/>
            </a:endParaRPr>
          </a:p>
        </p:txBody>
      </p:sp>
      <p:sp>
        <p:nvSpPr>
          <p:cNvPr id="120" name="Google Shape;120;p2"/>
          <p:cNvSpPr txBox="1"/>
          <p:nvPr/>
        </p:nvSpPr>
        <p:spPr>
          <a:xfrm>
            <a:off x="6391656" y="2880360"/>
            <a:ext cx="5138928" cy="100584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Clr>
                <a:srgbClr val="000000"/>
              </a:buClr>
              <a:buSzPts val="2800"/>
              <a:buFont typeface="Arial"/>
              <a:buNone/>
            </a:pPr>
            <a:r>
              <a:rPr b="1" i="0" lang="en-US" sz="2800" u="none" cap="none" strike="noStrike">
                <a:solidFill>
                  <a:srgbClr val="00153C"/>
                </a:solidFill>
                <a:latin typeface="Inter"/>
                <a:ea typeface="Inter"/>
                <a:cs typeface="Inter"/>
                <a:sym typeface="Inter"/>
              </a:rPr>
              <a:t>downloads, alta de 145% em um ano · 2021</a:t>
            </a:r>
            <a:endParaRPr b="0" i="0" sz="1400" u="none" cap="none" strike="noStrike">
              <a:solidFill>
                <a:srgbClr val="000000"/>
              </a:solidFill>
              <a:latin typeface="Arial"/>
              <a:ea typeface="Arial"/>
              <a:cs typeface="Arial"/>
              <a:sym typeface="Arial"/>
            </a:endParaRPr>
          </a:p>
        </p:txBody>
      </p:sp>
      <p:pic>
        <p:nvPicPr>
          <p:cNvPr descr="image.png" id="121" name="Google Shape;121;p2"/>
          <p:cNvPicPr preferRelativeResize="0"/>
          <p:nvPr/>
        </p:nvPicPr>
        <p:blipFill rotWithShape="1">
          <a:blip r:embed="rId4">
            <a:alphaModFix/>
          </a:blip>
          <a:srcRect b="0" l="0" r="0" t="0"/>
          <a:stretch/>
        </p:blipFill>
        <p:spPr>
          <a:xfrm>
            <a:off x="708469" y="4389120"/>
            <a:ext cx="5038725" cy="1051560"/>
          </a:xfrm>
          <a:prstGeom prst="rect">
            <a:avLst/>
          </a:prstGeom>
          <a:noFill/>
          <a:ln>
            <a:noFill/>
          </a:ln>
        </p:spPr>
      </p:pic>
      <p:pic>
        <p:nvPicPr>
          <p:cNvPr descr="image.png" id="122" name="Google Shape;122;p2"/>
          <p:cNvPicPr preferRelativeResize="0"/>
          <p:nvPr/>
        </p:nvPicPr>
        <p:blipFill rotWithShape="1">
          <a:blip r:embed="rId5">
            <a:alphaModFix/>
          </a:blip>
          <a:srcRect b="0" l="0" r="0" t="0"/>
          <a:stretch/>
        </p:blipFill>
        <p:spPr>
          <a:xfrm>
            <a:off x="6711950" y="4389120"/>
            <a:ext cx="4498340" cy="105156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descr="sbseg2026_rodape.png" id="128" name="Google Shape;128;p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29" name="Google Shape;129;p5"/>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03</a:t>
            </a:r>
            <a:endParaRPr b="0" i="0" sz="1400" u="none" cap="none" strike="noStrike">
              <a:solidFill>
                <a:srgbClr val="000000"/>
              </a:solidFill>
              <a:latin typeface="Arial"/>
              <a:ea typeface="Arial"/>
              <a:cs typeface="Arial"/>
              <a:sym typeface="Arial"/>
            </a:endParaRPr>
          </a:p>
        </p:txBody>
      </p:sp>
      <p:sp>
        <p:nvSpPr>
          <p:cNvPr id="130" name="Google Shape;130;p5"/>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ABERTURA</a:t>
            </a:r>
            <a:endParaRPr b="0" i="0" sz="1400" u="none" cap="none" strike="noStrike">
              <a:solidFill>
                <a:srgbClr val="000000"/>
              </a:solidFill>
              <a:latin typeface="Arial"/>
              <a:ea typeface="Arial"/>
              <a:cs typeface="Arial"/>
              <a:sym typeface="Arial"/>
            </a:endParaRPr>
          </a:p>
        </p:txBody>
      </p:sp>
      <p:sp>
        <p:nvSpPr>
          <p:cNvPr id="131" name="Google Shape;131;p5"/>
          <p:cNvSpPr txBox="1"/>
          <p:nvPr/>
        </p:nvSpPr>
        <p:spPr>
          <a:xfrm>
            <a:off x="658368" y="1275064"/>
            <a:ext cx="10881360" cy="1463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000"/>
              <a:buFont typeface="Arial"/>
              <a:buNone/>
            </a:pPr>
            <a:r>
              <a:rPr b="1" i="0" lang="en-US" sz="9000" u="none" cap="none" strike="noStrike">
                <a:solidFill>
                  <a:srgbClr val="2560FF"/>
                </a:solidFill>
                <a:latin typeface="Space Grotesk"/>
                <a:ea typeface="Space Grotesk"/>
                <a:cs typeface="Space Grotesk"/>
                <a:sym typeface="Space Grotesk"/>
              </a:rPr>
              <a:t>10 mil</a:t>
            </a:r>
            <a:endParaRPr b="0" i="0" sz="1400" u="none" cap="none" strike="noStrike">
              <a:solidFill>
                <a:srgbClr val="000000"/>
              </a:solidFill>
              <a:latin typeface="Arial"/>
              <a:ea typeface="Arial"/>
              <a:cs typeface="Arial"/>
              <a:sym typeface="Arial"/>
            </a:endParaRPr>
          </a:p>
        </p:txBody>
      </p:sp>
      <p:sp>
        <p:nvSpPr>
          <p:cNvPr id="132" name="Google Shape;132;p5"/>
          <p:cNvSpPr txBox="1"/>
          <p:nvPr/>
        </p:nvSpPr>
        <p:spPr>
          <a:xfrm>
            <a:off x="658368" y="2710672"/>
            <a:ext cx="10881360" cy="141224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Clr>
                <a:srgbClr val="000000"/>
              </a:buClr>
              <a:buSzPts val="4000"/>
              <a:buFont typeface="Arial"/>
              <a:buNone/>
            </a:pPr>
            <a:r>
              <a:rPr b="1" i="0" lang="en-US" sz="4000" u="none" cap="none" strike="noStrike">
                <a:solidFill>
                  <a:srgbClr val="00153C"/>
                </a:solidFill>
                <a:latin typeface="Inter"/>
                <a:ea typeface="Inter"/>
                <a:cs typeface="Inter"/>
                <a:sym typeface="Inter"/>
              </a:rPr>
              <a:t>imagens vazando credencial viva · 2025</a:t>
            </a:r>
            <a:endParaRPr b="0" i="0" sz="1400" u="none" cap="none" strike="noStrike">
              <a:solidFill>
                <a:srgbClr val="000000"/>
              </a:solidFill>
              <a:latin typeface="Arial"/>
              <a:ea typeface="Arial"/>
              <a:cs typeface="Arial"/>
              <a:sym typeface="Arial"/>
            </a:endParaRPr>
          </a:p>
        </p:txBody>
      </p:sp>
      <p:pic>
        <p:nvPicPr>
          <p:cNvPr descr="fonte_flare.png" id="133" name="Google Shape;133;p5"/>
          <p:cNvPicPr preferRelativeResize="0"/>
          <p:nvPr/>
        </p:nvPicPr>
        <p:blipFill rotWithShape="1">
          <a:blip r:embed="rId4">
            <a:alphaModFix/>
          </a:blip>
          <a:srcRect b="0" l="0" r="0" t="0"/>
          <a:stretch/>
        </p:blipFill>
        <p:spPr>
          <a:xfrm>
            <a:off x="2895447" y="4831049"/>
            <a:ext cx="6400800" cy="129543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pic>
        <p:nvPicPr>
          <p:cNvPr descr="img02_faixa.jpg" id="139" name="Google Shape;139;p6"/>
          <p:cNvPicPr preferRelativeResize="0"/>
          <p:nvPr/>
        </p:nvPicPr>
        <p:blipFill rotWithShape="1">
          <a:blip r:embed="rId3">
            <a:alphaModFix/>
          </a:blip>
          <a:srcRect b="0" l="0" r="0" t="0"/>
          <a:stretch/>
        </p:blipFill>
        <p:spPr>
          <a:xfrm>
            <a:off x="0" y="0"/>
            <a:ext cx="12191695" cy="6858000"/>
          </a:xfrm>
          <a:prstGeom prst="rect">
            <a:avLst/>
          </a:prstGeom>
          <a:noFill/>
          <a:ln>
            <a:noFill/>
          </a:ln>
        </p:spPr>
      </p:pic>
      <p:pic>
        <p:nvPicPr>
          <p:cNvPr descr="sbseg2026_rodape.png" id="140" name="Google Shape;140;p6"/>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141" name="Google Shape;141;p6"/>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04</a:t>
            </a:r>
            <a:endParaRPr b="0" i="0" sz="1400" u="none" cap="none" strike="noStrike">
              <a:solidFill>
                <a:srgbClr val="000000"/>
              </a:solidFill>
              <a:latin typeface="Arial"/>
              <a:ea typeface="Arial"/>
              <a:cs typeface="Arial"/>
              <a:sym typeface="Arial"/>
            </a:endParaRPr>
          </a:p>
        </p:txBody>
      </p:sp>
      <p:sp>
        <p:nvSpPr>
          <p:cNvPr id="142" name="Google Shape;142;p6"/>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DA ESCALA À MEDIÇÃO</a:t>
            </a:r>
            <a:endParaRPr b="0" i="0" sz="1400" u="none" cap="none" strike="noStrike">
              <a:solidFill>
                <a:srgbClr val="000000"/>
              </a:solidFill>
              <a:latin typeface="Arial"/>
              <a:ea typeface="Arial"/>
              <a:cs typeface="Arial"/>
              <a:sym typeface="Arial"/>
            </a:endParaRPr>
          </a:p>
        </p:txBody>
      </p:sp>
      <p:sp>
        <p:nvSpPr>
          <p:cNvPr id="143" name="Google Shape;143;p6"/>
          <p:cNvSpPr txBox="1"/>
          <p:nvPr/>
        </p:nvSpPr>
        <p:spPr>
          <a:xfrm>
            <a:off x="658368" y="960120"/>
            <a:ext cx="10881360" cy="2522044"/>
          </a:xfrm>
          <a:prstGeom prst="rect">
            <a:avLst/>
          </a:prstGeom>
          <a:noFill/>
          <a:ln>
            <a:noFill/>
          </a:ln>
        </p:spPr>
        <p:txBody>
          <a:bodyPr anchorCtr="0" anchor="t" bIns="0" lIns="0" spcFirstLastPara="1" rIns="0" wrap="square" tIns="0">
            <a:spAutoFit/>
          </a:bodyPr>
          <a:lstStyle/>
          <a:p>
            <a:pPr indent="0" lvl="0" marL="0" marR="0" rtl="0" algn="ctr">
              <a:lnSpc>
                <a:spcPct val="118000"/>
              </a:lnSpc>
              <a:spcBef>
                <a:spcPts val="0"/>
              </a:spcBef>
              <a:spcAft>
                <a:spcPts val="0"/>
              </a:spcAft>
              <a:buClr>
                <a:srgbClr val="000000"/>
              </a:buClr>
              <a:buSzPts val="4300"/>
              <a:buFont typeface="Arial"/>
              <a:buNone/>
            </a:pPr>
            <a:r>
              <a:rPr b="1" i="0" lang="en-US" sz="4300" u="none" cap="none" strike="noStrike">
                <a:solidFill>
                  <a:srgbClr val="00153C"/>
                </a:solidFill>
                <a:latin typeface="Space Grotesk"/>
                <a:ea typeface="Space Grotesk"/>
                <a:cs typeface="Space Grotesk"/>
                <a:sym typeface="Space Grotesk"/>
              </a:rPr>
              <a:t>Todo estudo escolhe um subconjunto,</a:t>
            </a:r>
            <a:endParaRPr b="0" i="0" sz="1400" u="none" cap="none" strike="noStrike">
              <a:solidFill>
                <a:srgbClr val="000000"/>
              </a:solidFill>
              <a:latin typeface="Arial"/>
              <a:ea typeface="Arial"/>
              <a:cs typeface="Arial"/>
              <a:sym typeface="Arial"/>
            </a:endParaRPr>
          </a:p>
          <a:p>
            <a:pPr indent="0" lvl="0" marL="0" marR="0" rtl="0" algn="ctr">
              <a:lnSpc>
                <a:spcPct val="118000"/>
              </a:lnSpc>
              <a:spcBef>
                <a:spcPts val="0"/>
              </a:spcBef>
              <a:spcAft>
                <a:spcPts val="0"/>
              </a:spcAft>
              <a:buClr>
                <a:srgbClr val="000000"/>
              </a:buClr>
              <a:buSzPts val="4300"/>
              <a:buFont typeface="Arial"/>
              <a:buNone/>
            </a:pPr>
            <a:r>
              <a:rPr b="1" i="0" lang="en-US" sz="4300" u="none" cap="none" strike="noStrike">
                <a:solidFill>
                  <a:srgbClr val="00153C"/>
                </a:solidFill>
                <a:latin typeface="Space Grotesk"/>
                <a:ea typeface="Space Grotesk"/>
                <a:cs typeface="Space Grotesk"/>
                <a:sym typeface="Space Grotesk"/>
              </a:rPr>
              <a:t>e a regra de escolha define a população.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sbseg2026_rodape.png" id="149" name="Google Shape;149;p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50" name="Google Shape;150;p7"/>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05</a:t>
            </a:r>
            <a:endParaRPr b="0" i="0" sz="1400" u="none" cap="none" strike="noStrike">
              <a:solidFill>
                <a:srgbClr val="000000"/>
              </a:solidFill>
              <a:latin typeface="Arial"/>
              <a:ea typeface="Arial"/>
              <a:cs typeface="Arial"/>
              <a:sym typeface="Arial"/>
            </a:endParaRPr>
          </a:p>
        </p:txBody>
      </p:sp>
      <p:sp>
        <p:nvSpPr>
          <p:cNvPr id="151" name="Google Shape;151;p7"/>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TRABALHOS RELACIONADOS</a:t>
            </a:r>
            <a:endParaRPr b="0" i="0" sz="1400" u="none" cap="none" strike="noStrike">
              <a:solidFill>
                <a:srgbClr val="000000"/>
              </a:solidFill>
              <a:latin typeface="Arial"/>
              <a:ea typeface="Arial"/>
              <a:cs typeface="Arial"/>
              <a:sym typeface="Arial"/>
            </a:endParaRPr>
          </a:p>
        </p:txBody>
      </p:sp>
      <p:sp>
        <p:nvSpPr>
          <p:cNvPr id="152" name="Google Shape;152;p7"/>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Só a última linha sorteia</a:t>
            </a:r>
            <a:endParaRPr b="0" i="0" sz="1400" u="none" cap="none" strike="noStrike">
              <a:solidFill>
                <a:srgbClr val="000000"/>
              </a:solidFill>
              <a:latin typeface="Arial"/>
              <a:ea typeface="Arial"/>
              <a:cs typeface="Arial"/>
              <a:sym typeface="Arial"/>
            </a:endParaRPr>
          </a:p>
        </p:txBody>
      </p:sp>
      <p:sp>
        <p:nvSpPr>
          <p:cNvPr id="153" name="Google Shape;153;p7"/>
          <p:cNvSpPr txBox="1"/>
          <p:nvPr/>
        </p:nvSpPr>
        <p:spPr>
          <a:xfrm>
            <a:off x="502920" y="1517904"/>
            <a:ext cx="4480560" cy="42062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Família</a:t>
            </a:r>
            <a:endParaRPr b="0" i="0" sz="1400" u="none" cap="none" strike="noStrike">
              <a:solidFill>
                <a:srgbClr val="000000"/>
              </a:solidFill>
              <a:latin typeface="Arial"/>
              <a:ea typeface="Arial"/>
              <a:cs typeface="Arial"/>
              <a:sym typeface="Arial"/>
            </a:endParaRPr>
          </a:p>
        </p:txBody>
      </p:sp>
      <p:sp>
        <p:nvSpPr>
          <p:cNvPr id="154" name="Google Shape;154;p7"/>
          <p:cNvSpPr txBox="1"/>
          <p:nvPr/>
        </p:nvSpPr>
        <p:spPr>
          <a:xfrm>
            <a:off x="5074920" y="1517904"/>
            <a:ext cx="2926080" cy="420624"/>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Imagens</a:t>
            </a:r>
            <a:endParaRPr b="0" i="0" sz="1400" u="none" cap="none" strike="noStrike">
              <a:solidFill>
                <a:srgbClr val="000000"/>
              </a:solidFill>
              <a:latin typeface="Arial"/>
              <a:ea typeface="Arial"/>
              <a:cs typeface="Arial"/>
              <a:sym typeface="Arial"/>
            </a:endParaRPr>
          </a:p>
        </p:txBody>
      </p:sp>
      <p:sp>
        <p:nvSpPr>
          <p:cNvPr id="155" name="Google Shape;155;p7"/>
          <p:cNvSpPr txBox="1"/>
          <p:nvPr/>
        </p:nvSpPr>
        <p:spPr>
          <a:xfrm>
            <a:off x="8183879" y="1517904"/>
            <a:ext cx="1920240" cy="42062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Scanners</a:t>
            </a:r>
            <a:endParaRPr b="0" i="0" sz="1400" u="none" cap="none" strike="noStrike">
              <a:solidFill>
                <a:srgbClr val="000000"/>
              </a:solidFill>
              <a:latin typeface="Arial"/>
              <a:ea typeface="Arial"/>
              <a:cs typeface="Arial"/>
              <a:sym typeface="Arial"/>
            </a:endParaRPr>
          </a:p>
        </p:txBody>
      </p:sp>
      <p:sp>
        <p:nvSpPr>
          <p:cNvPr id="156" name="Google Shape;156;p7"/>
          <p:cNvSpPr txBox="1"/>
          <p:nvPr/>
        </p:nvSpPr>
        <p:spPr>
          <a:xfrm>
            <a:off x="10149840" y="1517904"/>
            <a:ext cx="1920240" cy="42062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Sorteia?</a:t>
            </a:r>
            <a:endParaRPr b="0" i="0" sz="1400" u="none" cap="none" strike="noStrike">
              <a:solidFill>
                <a:srgbClr val="000000"/>
              </a:solidFill>
              <a:latin typeface="Arial"/>
              <a:ea typeface="Arial"/>
              <a:cs typeface="Arial"/>
              <a:sym typeface="Arial"/>
            </a:endParaRPr>
          </a:p>
        </p:txBody>
      </p:sp>
      <p:sp>
        <p:nvSpPr>
          <p:cNvPr id="157" name="Google Shape;157;p7"/>
          <p:cNvSpPr/>
          <p:nvPr/>
        </p:nvSpPr>
        <p:spPr>
          <a:xfrm>
            <a:off x="411480" y="2029968"/>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8" name="Google Shape;158;p7"/>
          <p:cNvSpPr/>
          <p:nvPr/>
        </p:nvSpPr>
        <p:spPr>
          <a:xfrm>
            <a:off x="5020056" y="1517904"/>
            <a:ext cx="32004" cy="4352544"/>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59" name="Google Shape;159;p7"/>
          <p:cNvSpPr/>
          <p:nvPr/>
        </p:nvSpPr>
        <p:spPr>
          <a:xfrm>
            <a:off x="8147304" y="1517904"/>
            <a:ext cx="32004" cy="4352544"/>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0" name="Google Shape;160;p7"/>
          <p:cNvSpPr/>
          <p:nvPr/>
        </p:nvSpPr>
        <p:spPr>
          <a:xfrm>
            <a:off x="10122408" y="1517904"/>
            <a:ext cx="32004" cy="4352544"/>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61" name="Google Shape;161;p7"/>
          <p:cNvSpPr txBox="1"/>
          <p:nvPr/>
        </p:nvSpPr>
        <p:spPr>
          <a:xfrm>
            <a:off x="502920" y="2103120"/>
            <a:ext cx="448056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Classe ou categoria</a:t>
            </a:r>
            <a:endParaRPr b="0" i="0" sz="1400" u="none" cap="none" strike="noStrike">
              <a:solidFill>
                <a:srgbClr val="000000"/>
              </a:solidFill>
              <a:latin typeface="Arial"/>
              <a:ea typeface="Arial"/>
              <a:cs typeface="Arial"/>
              <a:sym typeface="Arial"/>
            </a:endParaRPr>
          </a:p>
        </p:txBody>
      </p:sp>
      <p:sp>
        <p:nvSpPr>
          <p:cNvPr id="162" name="Google Shape;162;p7"/>
          <p:cNvSpPr txBox="1"/>
          <p:nvPr/>
        </p:nvSpPr>
        <p:spPr>
          <a:xfrm>
            <a:off x="5074920" y="2103120"/>
            <a:ext cx="2926080" cy="47548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até 2,2 mi</a:t>
            </a:r>
            <a:endParaRPr b="0" i="0" sz="1400" u="none" cap="none" strike="noStrike">
              <a:solidFill>
                <a:srgbClr val="000000"/>
              </a:solidFill>
              <a:latin typeface="Arial"/>
              <a:ea typeface="Arial"/>
              <a:cs typeface="Arial"/>
              <a:sym typeface="Arial"/>
            </a:endParaRPr>
          </a:p>
        </p:txBody>
      </p:sp>
      <p:sp>
        <p:nvSpPr>
          <p:cNvPr id="163" name="Google Shape;163;p7"/>
          <p:cNvSpPr txBox="1"/>
          <p:nvPr/>
        </p:nvSpPr>
        <p:spPr>
          <a:xfrm>
            <a:off x="8183879" y="2103120"/>
            <a:ext cx="192024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1</a:t>
            </a:r>
            <a:endParaRPr b="0" i="0" sz="1400" u="none" cap="none" strike="noStrike">
              <a:solidFill>
                <a:srgbClr val="000000"/>
              </a:solidFill>
              <a:latin typeface="Arial"/>
              <a:ea typeface="Arial"/>
              <a:cs typeface="Arial"/>
              <a:sym typeface="Arial"/>
            </a:endParaRPr>
          </a:p>
        </p:txBody>
      </p:sp>
      <p:sp>
        <p:nvSpPr>
          <p:cNvPr id="164" name="Google Shape;164;p7"/>
          <p:cNvSpPr txBox="1"/>
          <p:nvPr/>
        </p:nvSpPr>
        <p:spPr>
          <a:xfrm>
            <a:off x="10149840" y="2066543"/>
            <a:ext cx="19202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C0182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65" name="Google Shape;165;p7"/>
          <p:cNvSpPr txBox="1"/>
          <p:nvPr/>
        </p:nvSpPr>
        <p:spPr>
          <a:xfrm>
            <a:off x="502920" y="2743200"/>
            <a:ext cx="448056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Popularidade</a:t>
            </a:r>
            <a:endParaRPr b="0" i="0" sz="1400" u="none" cap="none" strike="noStrike">
              <a:solidFill>
                <a:srgbClr val="000000"/>
              </a:solidFill>
              <a:latin typeface="Arial"/>
              <a:ea typeface="Arial"/>
              <a:cs typeface="Arial"/>
              <a:sym typeface="Arial"/>
            </a:endParaRPr>
          </a:p>
        </p:txBody>
      </p:sp>
      <p:sp>
        <p:nvSpPr>
          <p:cNvPr id="166" name="Google Shape;166;p7"/>
          <p:cNvSpPr txBox="1"/>
          <p:nvPr/>
        </p:nvSpPr>
        <p:spPr>
          <a:xfrm>
            <a:off x="5074920" y="2743200"/>
            <a:ext cx="2926080" cy="47548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33.952</a:t>
            </a:r>
            <a:endParaRPr b="0" i="0" sz="1400" u="none" cap="none" strike="noStrike">
              <a:solidFill>
                <a:srgbClr val="000000"/>
              </a:solidFill>
              <a:latin typeface="Arial"/>
              <a:ea typeface="Arial"/>
              <a:cs typeface="Arial"/>
              <a:sym typeface="Arial"/>
            </a:endParaRPr>
          </a:p>
        </p:txBody>
      </p:sp>
      <p:sp>
        <p:nvSpPr>
          <p:cNvPr id="167" name="Google Shape;167;p7"/>
          <p:cNvSpPr txBox="1"/>
          <p:nvPr/>
        </p:nvSpPr>
        <p:spPr>
          <a:xfrm>
            <a:off x="8183879" y="2743200"/>
            <a:ext cx="192024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1</a:t>
            </a:r>
            <a:endParaRPr b="0" i="0" sz="1400" u="none" cap="none" strike="noStrike">
              <a:solidFill>
                <a:srgbClr val="000000"/>
              </a:solidFill>
              <a:latin typeface="Arial"/>
              <a:ea typeface="Arial"/>
              <a:cs typeface="Arial"/>
              <a:sym typeface="Arial"/>
            </a:endParaRPr>
          </a:p>
        </p:txBody>
      </p:sp>
      <p:sp>
        <p:nvSpPr>
          <p:cNvPr id="168" name="Google Shape;168;p7"/>
          <p:cNvSpPr txBox="1"/>
          <p:nvPr/>
        </p:nvSpPr>
        <p:spPr>
          <a:xfrm>
            <a:off x="10149840" y="2706624"/>
            <a:ext cx="19202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C0182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69" name="Google Shape;169;p7"/>
          <p:cNvSpPr txBox="1"/>
          <p:nvPr/>
        </p:nvSpPr>
        <p:spPr>
          <a:xfrm>
            <a:off x="502920" y="3383279"/>
            <a:ext cx="448056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Longitudinal</a:t>
            </a:r>
            <a:endParaRPr b="0" i="0" sz="1400" u="none" cap="none" strike="noStrike">
              <a:solidFill>
                <a:srgbClr val="000000"/>
              </a:solidFill>
              <a:latin typeface="Arial"/>
              <a:ea typeface="Arial"/>
              <a:cs typeface="Arial"/>
              <a:sym typeface="Arial"/>
            </a:endParaRPr>
          </a:p>
        </p:txBody>
      </p:sp>
      <p:sp>
        <p:nvSpPr>
          <p:cNvPr id="170" name="Google Shape;170;p7"/>
          <p:cNvSpPr txBox="1"/>
          <p:nvPr/>
        </p:nvSpPr>
        <p:spPr>
          <a:xfrm>
            <a:off x="5074920" y="3383279"/>
            <a:ext cx="2926080" cy="47548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380</a:t>
            </a:r>
            <a:endParaRPr b="0" i="0" sz="1400" u="none" cap="none" strike="noStrike">
              <a:solidFill>
                <a:srgbClr val="000000"/>
              </a:solidFill>
              <a:latin typeface="Arial"/>
              <a:ea typeface="Arial"/>
              <a:cs typeface="Arial"/>
              <a:sym typeface="Arial"/>
            </a:endParaRPr>
          </a:p>
        </p:txBody>
      </p:sp>
      <p:sp>
        <p:nvSpPr>
          <p:cNvPr id="171" name="Google Shape;171;p7"/>
          <p:cNvSpPr txBox="1"/>
          <p:nvPr/>
        </p:nvSpPr>
        <p:spPr>
          <a:xfrm>
            <a:off x="8183879" y="3383279"/>
            <a:ext cx="192024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6</a:t>
            </a:r>
            <a:endParaRPr b="0" i="0" sz="1400" u="none" cap="none" strike="noStrike">
              <a:solidFill>
                <a:srgbClr val="000000"/>
              </a:solidFill>
              <a:latin typeface="Arial"/>
              <a:ea typeface="Arial"/>
              <a:cs typeface="Arial"/>
              <a:sym typeface="Arial"/>
            </a:endParaRPr>
          </a:p>
        </p:txBody>
      </p:sp>
      <p:sp>
        <p:nvSpPr>
          <p:cNvPr id="172" name="Google Shape;172;p7"/>
          <p:cNvSpPr txBox="1"/>
          <p:nvPr/>
        </p:nvSpPr>
        <p:spPr>
          <a:xfrm>
            <a:off x="10149840" y="3346703"/>
            <a:ext cx="19202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C0182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73" name="Google Shape;173;p7"/>
          <p:cNvSpPr txBox="1"/>
          <p:nvPr/>
        </p:nvSpPr>
        <p:spPr>
          <a:xfrm>
            <a:off x="502920" y="4023359"/>
            <a:ext cx="448056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Bases de SO</a:t>
            </a:r>
            <a:endParaRPr b="0" i="0" sz="1400" u="none" cap="none" strike="noStrike">
              <a:solidFill>
                <a:srgbClr val="000000"/>
              </a:solidFill>
              <a:latin typeface="Arial"/>
              <a:ea typeface="Arial"/>
              <a:cs typeface="Arial"/>
              <a:sym typeface="Arial"/>
            </a:endParaRPr>
          </a:p>
        </p:txBody>
      </p:sp>
      <p:sp>
        <p:nvSpPr>
          <p:cNvPr id="174" name="Google Shape;174;p7"/>
          <p:cNvSpPr txBox="1"/>
          <p:nvPr/>
        </p:nvSpPr>
        <p:spPr>
          <a:xfrm>
            <a:off x="5074920" y="4023359"/>
            <a:ext cx="2926080" cy="47548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5.606</a:t>
            </a:r>
            <a:endParaRPr b="0" i="0" sz="1400" u="none" cap="none" strike="noStrike">
              <a:solidFill>
                <a:srgbClr val="000000"/>
              </a:solidFill>
              <a:latin typeface="Arial"/>
              <a:ea typeface="Arial"/>
              <a:cs typeface="Arial"/>
              <a:sym typeface="Arial"/>
            </a:endParaRPr>
          </a:p>
        </p:txBody>
      </p:sp>
      <p:sp>
        <p:nvSpPr>
          <p:cNvPr id="175" name="Google Shape;175;p7"/>
          <p:cNvSpPr txBox="1"/>
          <p:nvPr/>
        </p:nvSpPr>
        <p:spPr>
          <a:xfrm>
            <a:off x="8183879" y="4023359"/>
            <a:ext cx="192024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14</a:t>
            </a:r>
            <a:endParaRPr b="0" i="0" sz="1400" u="none" cap="none" strike="noStrike">
              <a:solidFill>
                <a:srgbClr val="000000"/>
              </a:solidFill>
              <a:latin typeface="Arial"/>
              <a:ea typeface="Arial"/>
              <a:cs typeface="Arial"/>
              <a:sym typeface="Arial"/>
            </a:endParaRPr>
          </a:p>
        </p:txBody>
      </p:sp>
      <p:sp>
        <p:nvSpPr>
          <p:cNvPr id="176" name="Google Shape;176;p7"/>
          <p:cNvSpPr txBox="1"/>
          <p:nvPr/>
        </p:nvSpPr>
        <p:spPr>
          <a:xfrm>
            <a:off x="10149840" y="3986783"/>
            <a:ext cx="19202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C0182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77" name="Google Shape;177;p7"/>
          <p:cNvSpPr txBox="1"/>
          <p:nvPr/>
        </p:nvSpPr>
        <p:spPr>
          <a:xfrm>
            <a:off x="502920" y="4663440"/>
            <a:ext cx="448056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Exposição</a:t>
            </a:r>
            <a:endParaRPr b="0" i="0" sz="1400" u="none" cap="none" strike="noStrike">
              <a:solidFill>
                <a:srgbClr val="000000"/>
              </a:solidFill>
              <a:latin typeface="Arial"/>
              <a:ea typeface="Arial"/>
              <a:cs typeface="Arial"/>
              <a:sym typeface="Arial"/>
            </a:endParaRPr>
          </a:p>
        </p:txBody>
      </p:sp>
      <p:sp>
        <p:nvSpPr>
          <p:cNvPr id="178" name="Google Shape;178;p7"/>
          <p:cNvSpPr txBox="1"/>
          <p:nvPr/>
        </p:nvSpPr>
        <p:spPr>
          <a:xfrm>
            <a:off x="5074920" y="4663440"/>
            <a:ext cx="2926080" cy="47548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52.895</a:t>
            </a:r>
            <a:endParaRPr b="0" i="0" sz="1400" u="none" cap="none" strike="noStrike">
              <a:solidFill>
                <a:srgbClr val="000000"/>
              </a:solidFill>
              <a:latin typeface="Arial"/>
              <a:ea typeface="Arial"/>
              <a:cs typeface="Arial"/>
              <a:sym typeface="Arial"/>
            </a:endParaRPr>
          </a:p>
        </p:txBody>
      </p:sp>
      <p:sp>
        <p:nvSpPr>
          <p:cNvPr id="179" name="Google Shape;179;p7"/>
          <p:cNvSpPr txBox="1"/>
          <p:nvPr/>
        </p:nvSpPr>
        <p:spPr>
          <a:xfrm>
            <a:off x="8183879" y="4663440"/>
            <a:ext cx="192024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6</a:t>
            </a:r>
            <a:endParaRPr b="0" i="0" sz="1400" u="none" cap="none" strike="noStrike">
              <a:solidFill>
                <a:srgbClr val="000000"/>
              </a:solidFill>
              <a:latin typeface="Arial"/>
              <a:ea typeface="Arial"/>
              <a:cs typeface="Arial"/>
              <a:sym typeface="Arial"/>
            </a:endParaRPr>
          </a:p>
        </p:txBody>
      </p:sp>
      <p:sp>
        <p:nvSpPr>
          <p:cNvPr id="180" name="Google Shape;180;p7"/>
          <p:cNvSpPr txBox="1"/>
          <p:nvPr/>
        </p:nvSpPr>
        <p:spPr>
          <a:xfrm>
            <a:off x="10149840" y="4626864"/>
            <a:ext cx="19202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C0182F"/>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81" name="Google Shape;181;p7"/>
          <p:cNvSpPr/>
          <p:nvPr/>
        </p:nvSpPr>
        <p:spPr>
          <a:xfrm>
            <a:off x="274320" y="5212080"/>
            <a:ext cx="11567160" cy="694944"/>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82" name="Google Shape;182;p7"/>
          <p:cNvSpPr txBox="1"/>
          <p:nvPr/>
        </p:nvSpPr>
        <p:spPr>
          <a:xfrm>
            <a:off x="502920" y="5303520"/>
            <a:ext cx="448056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Este trabalho</a:t>
            </a:r>
            <a:endParaRPr b="0" i="0" sz="1400" u="none" cap="none" strike="noStrike">
              <a:solidFill>
                <a:srgbClr val="000000"/>
              </a:solidFill>
              <a:latin typeface="Arial"/>
              <a:ea typeface="Arial"/>
              <a:cs typeface="Arial"/>
              <a:sym typeface="Arial"/>
            </a:endParaRPr>
          </a:p>
        </p:txBody>
      </p:sp>
      <p:sp>
        <p:nvSpPr>
          <p:cNvPr id="183" name="Google Shape;183;p7"/>
          <p:cNvSpPr txBox="1"/>
          <p:nvPr/>
        </p:nvSpPr>
        <p:spPr>
          <a:xfrm>
            <a:off x="5074920" y="5303520"/>
            <a:ext cx="2926080" cy="475488"/>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184" name="Google Shape;184;p7"/>
          <p:cNvSpPr txBox="1"/>
          <p:nvPr/>
        </p:nvSpPr>
        <p:spPr>
          <a:xfrm>
            <a:off x="8183879" y="5303520"/>
            <a:ext cx="1920240" cy="47548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6</a:t>
            </a:r>
            <a:endParaRPr b="0" i="0" sz="1400" u="none" cap="none" strike="noStrike">
              <a:solidFill>
                <a:srgbClr val="000000"/>
              </a:solidFill>
              <a:latin typeface="Arial"/>
              <a:ea typeface="Arial"/>
              <a:cs typeface="Arial"/>
              <a:sym typeface="Arial"/>
            </a:endParaRPr>
          </a:p>
        </p:txBody>
      </p:sp>
      <p:sp>
        <p:nvSpPr>
          <p:cNvPr id="185" name="Google Shape;185;p7"/>
          <p:cNvSpPr txBox="1"/>
          <p:nvPr/>
        </p:nvSpPr>
        <p:spPr>
          <a:xfrm>
            <a:off x="10149840" y="5266944"/>
            <a:ext cx="1920240" cy="53035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1E7A33"/>
                </a:solidFill>
                <a:latin typeface="Inter"/>
                <a:ea typeface="Inter"/>
                <a:cs typeface="Inter"/>
                <a:sym typeface="Inter"/>
              </a:rPr>
              <a:t>✓</a:t>
            </a:r>
            <a:endParaRPr b="0" i="0" sz="1400" u="none" cap="none" strike="noStrike">
              <a:solidFill>
                <a:srgbClr val="000000"/>
              </a:solidFill>
              <a:latin typeface="Arial"/>
              <a:ea typeface="Arial"/>
              <a:cs typeface="Arial"/>
              <a:sym typeface="Arial"/>
            </a:endParaRPr>
          </a:p>
        </p:txBody>
      </p:sp>
      <p:sp>
        <p:nvSpPr>
          <p:cNvPr id="186" name="Google Shape;186;p7"/>
          <p:cNvSpPr/>
          <p:nvPr/>
        </p:nvSpPr>
        <p:spPr>
          <a:xfrm>
            <a:off x="274320" y="5193792"/>
            <a:ext cx="11567160" cy="676656"/>
          </a:xfrm>
          <a:prstGeom prst="roundRect">
            <a:avLst>
              <a:gd fmla="val 16667" name="adj"/>
            </a:avLst>
          </a:prstGeom>
          <a:noFill/>
          <a:ln cap="flat" cmpd="sng" w="190500">
            <a:solidFill>
              <a:srgbClr val="1E7A33"/>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pic>
        <p:nvPicPr>
          <p:cNvPr descr="sbseg2026_rodape.png" id="192" name="Google Shape;192;p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93" name="Google Shape;193;p9"/>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06</a:t>
            </a:r>
            <a:endParaRPr b="0" i="0" sz="1400" u="none" cap="none" strike="noStrike">
              <a:solidFill>
                <a:srgbClr val="000000"/>
              </a:solidFill>
              <a:latin typeface="Arial"/>
              <a:ea typeface="Arial"/>
              <a:cs typeface="Arial"/>
              <a:sym typeface="Arial"/>
            </a:endParaRPr>
          </a:p>
        </p:txBody>
      </p:sp>
      <p:sp>
        <p:nvSpPr>
          <p:cNvPr id="194" name="Google Shape;194;p9"/>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195" name="Google Shape;195;p9"/>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Contra o que se compara</a:t>
            </a:r>
            <a:endParaRPr b="0" i="0" sz="1400" u="none" cap="none" strike="noStrike">
              <a:solidFill>
                <a:srgbClr val="000000"/>
              </a:solidFill>
              <a:latin typeface="Arial"/>
              <a:ea typeface="Arial"/>
              <a:cs typeface="Arial"/>
              <a:sym typeface="Arial"/>
            </a:endParaRPr>
          </a:p>
        </p:txBody>
      </p:sp>
      <p:sp>
        <p:nvSpPr>
          <p:cNvPr id="196" name="Google Shape;196;p9"/>
          <p:cNvSpPr txBox="1"/>
          <p:nvPr/>
        </p:nvSpPr>
        <p:spPr>
          <a:xfrm>
            <a:off x="713232" y="1481328"/>
            <a:ext cx="1088136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O nosso estudo anterior, do mesmo crawl:</a:t>
            </a:r>
            <a:endParaRPr b="0" i="0" sz="1400" u="none" cap="none" strike="noStrike">
              <a:solidFill>
                <a:srgbClr val="000000"/>
              </a:solidFill>
              <a:latin typeface="Arial"/>
              <a:ea typeface="Arial"/>
              <a:cs typeface="Arial"/>
              <a:sym typeface="Arial"/>
            </a:endParaRPr>
          </a:p>
        </p:txBody>
      </p:sp>
      <p:sp>
        <p:nvSpPr>
          <p:cNvPr id="197" name="Google Shape;197;p9"/>
          <p:cNvSpPr txBox="1"/>
          <p:nvPr/>
        </p:nvSpPr>
        <p:spPr>
          <a:xfrm>
            <a:off x="713232" y="2157984"/>
            <a:ext cx="10881360" cy="13716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600"/>
              <a:buFont typeface="Arial"/>
              <a:buNone/>
            </a:pPr>
            <a:r>
              <a:rPr b="1" i="0" lang="en-US" sz="9600" u="none" cap="none" strike="noStrike">
                <a:solidFill>
                  <a:srgbClr val="2560FF"/>
                </a:solidFill>
                <a:latin typeface="JetBrains Mono"/>
                <a:ea typeface="JetBrains Mono"/>
                <a:cs typeface="JetBrains Mono"/>
                <a:sym typeface="JetBrains Mono"/>
              </a:rPr>
              <a:t>52.895</a:t>
            </a:r>
            <a:endParaRPr b="0" i="0" sz="1400" u="none" cap="none" strike="noStrike">
              <a:solidFill>
                <a:srgbClr val="000000"/>
              </a:solidFill>
              <a:latin typeface="Arial"/>
              <a:ea typeface="Arial"/>
              <a:cs typeface="Arial"/>
              <a:sym typeface="Arial"/>
            </a:endParaRPr>
          </a:p>
        </p:txBody>
      </p:sp>
      <p:sp>
        <p:nvSpPr>
          <p:cNvPr id="198" name="Google Shape;198;p9"/>
          <p:cNvSpPr txBox="1"/>
          <p:nvPr/>
        </p:nvSpPr>
        <p:spPr>
          <a:xfrm>
            <a:off x="713232" y="3657600"/>
            <a:ext cx="10881360" cy="5486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imagens ranqueadas por exposição</a:t>
            </a:r>
            <a:endParaRPr b="0" i="0" sz="1400" u="none" cap="none" strike="noStrike">
              <a:solidFill>
                <a:srgbClr val="000000"/>
              </a:solidFill>
              <a:latin typeface="Arial"/>
              <a:ea typeface="Arial"/>
              <a:cs typeface="Arial"/>
              <a:sym typeface="Arial"/>
            </a:endParaRPr>
          </a:p>
        </p:txBody>
      </p:sp>
      <p:sp>
        <p:nvSpPr>
          <p:cNvPr id="199" name="Google Shape;199;p9"/>
          <p:cNvSpPr/>
          <p:nvPr/>
        </p:nvSpPr>
        <p:spPr>
          <a:xfrm>
            <a:off x="502920" y="4517136"/>
            <a:ext cx="11201400" cy="1298448"/>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00" name="Google Shape;200;p9"/>
          <p:cNvSpPr txBox="1"/>
          <p:nvPr/>
        </p:nvSpPr>
        <p:spPr>
          <a:xfrm>
            <a:off x="822960" y="4846320"/>
            <a:ext cx="10607040" cy="64008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Mesma lista, mesmas ferramentas. Só a regra de seleção muda.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sbseg2026_rodape.png" id="206" name="Google Shape;206;p1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07" name="Google Shape;207;p10"/>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07</a:t>
            </a:r>
            <a:endParaRPr b="0" i="0" sz="1400" u="none" cap="none" strike="noStrike">
              <a:solidFill>
                <a:srgbClr val="000000"/>
              </a:solidFill>
              <a:latin typeface="Arial"/>
              <a:ea typeface="Arial"/>
              <a:cs typeface="Arial"/>
              <a:sym typeface="Arial"/>
            </a:endParaRPr>
          </a:p>
        </p:txBody>
      </p:sp>
      <p:sp>
        <p:nvSpPr>
          <p:cNvPr id="208" name="Google Shape;208;p10"/>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209" name="Google Shape;209;p10"/>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De 12,7 milhões a 2.879 imagens</a:t>
            </a:r>
            <a:endParaRPr b="0" i="0" sz="1400" u="none" cap="none" strike="noStrike">
              <a:solidFill>
                <a:srgbClr val="000000"/>
              </a:solidFill>
              <a:latin typeface="Arial"/>
              <a:ea typeface="Arial"/>
              <a:cs typeface="Arial"/>
              <a:sym typeface="Arial"/>
            </a:endParaRPr>
          </a:p>
        </p:txBody>
      </p:sp>
      <p:sp>
        <p:nvSpPr>
          <p:cNvPr id="210" name="Google Shape;210;p10"/>
          <p:cNvSpPr/>
          <p:nvPr/>
        </p:nvSpPr>
        <p:spPr>
          <a:xfrm>
            <a:off x="502920" y="1874519"/>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1" name="Google Shape;211;p10"/>
          <p:cNvSpPr txBox="1"/>
          <p:nvPr/>
        </p:nvSpPr>
        <p:spPr>
          <a:xfrm>
            <a:off x="777240" y="2148839"/>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12.716.568</a:t>
            </a:r>
            <a:endParaRPr b="0" i="0" sz="1400" u="none" cap="none" strike="noStrike">
              <a:solidFill>
                <a:srgbClr val="000000"/>
              </a:solidFill>
              <a:latin typeface="Arial"/>
              <a:ea typeface="Arial"/>
              <a:cs typeface="Arial"/>
              <a:sym typeface="Arial"/>
            </a:endParaRPr>
          </a:p>
        </p:txBody>
      </p:sp>
      <p:sp>
        <p:nvSpPr>
          <p:cNvPr id="212" name="Google Shape;212;p10"/>
          <p:cNvSpPr txBox="1"/>
          <p:nvPr/>
        </p:nvSpPr>
        <p:spPr>
          <a:xfrm>
            <a:off x="3950208" y="2203703"/>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Repositórios enumerados</a:t>
            </a:r>
            <a:endParaRPr b="0" i="0" sz="1400" u="none" cap="none" strike="noStrike">
              <a:solidFill>
                <a:srgbClr val="000000"/>
              </a:solidFill>
              <a:latin typeface="Arial"/>
              <a:ea typeface="Arial"/>
              <a:cs typeface="Arial"/>
              <a:sym typeface="Arial"/>
            </a:endParaRPr>
          </a:p>
        </p:txBody>
      </p:sp>
      <p:sp>
        <p:nvSpPr>
          <p:cNvPr id="213" name="Google Shape;213;p10"/>
          <p:cNvSpPr/>
          <p:nvPr/>
        </p:nvSpPr>
        <p:spPr>
          <a:xfrm>
            <a:off x="502920" y="3319272"/>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4" name="Google Shape;214;p10"/>
          <p:cNvSpPr txBox="1"/>
          <p:nvPr/>
        </p:nvSpPr>
        <p:spPr>
          <a:xfrm>
            <a:off x="777240" y="3593591"/>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4.800</a:t>
            </a:r>
            <a:endParaRPr b="0" i="0" sz="1400" u="none" cap="none" strike="noStrike">
              <a:solidFill>
                <a:srgbClr val="000000"/>
              </a:solidFill>
              <a:latin typeface="Arial"/>
              <a:ea typeface="Arial"/>
              <a:cs typeface="Arial"/>
              <a:sym typeface="Arial"/>
            </a:endParaRPr>
          </a:p>
        </p:txBody>
      </p:sp>
      <p:sp>
        <p:nvSpPr>
          <p:cNvPr id="215" name="Google Shape;215;p10"/>
          <p:cNvSpPr txBox="1"/>
          <p:nvPr/>
        </p:nvSpPr>
        <p:spPr>
          <a:xfrm>
            <a:off x="3950208" y="3648456"/>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Repositórios sorteados</a:t>
            </a:r>
            <a:endParaRPr b="0" i="0" sz="1400" u="none" cap="none" strike="noStrike">
              <a:solidFill>
                <a:srgbClr val="000000"/>
              </a:solidFill>
              <a:latin typeface="Arial"/>
              <a:ea typeface="Arial"/>
              <a:cs typeface="Arial"/>
              <a:sym typeface="Arial"/>
            </a:endParaRPr>
          </a:p>
        </p:txBody>
      </p:sp>
      <p:sp>
        <p:nvSpPr>
          <p:cNvPr id="216" name="Google Shape;216;p10"/>
          <p:cNvSpPr/>
          <p:nvPr/>
        </p:nvSpPr>
        <p:spPr>
          <a:xfrm>
            <a:off x="502920" y="4764024"/>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17" name="Google Shape;217;p10"/>
          <p:cNvSpPr txBox="1"/>
          <p:nvPr/>
        </p:nvSpPr>
        <p:spPr>
          <a:xfrm>
            <a:off x="777240" y="5038344"/>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218" name="Google Shape;218;p10"/>
          <p:cNvSpPr txBox="1"/>
          <p:nvPr/>
        </p:nvSpPr>
        <p:spPr>
          <a:xfrm>
            <a:off x="3950208" y="5093208"/>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Escaneadas · ±1 p.p. a 95%</a:t>
            </a:r>
            <a:endParaRPr b="0" i="0" sz="1400" u="none" cap="none" strike="noStrike">
              <a:solidFill>
                <a:srgbClr val="000000"/>
              </a:solidFill>
              <a:latin typeface="Arial"/>
              <a:ea typeface="Arial"/>
              <a:cs typeface="Arial"/>
              <a:sym typeface="Arial"/>
            </a:endParaRPr>
          </a:p>
        </p:txBody>
      </p:sp>
      <p:sp>
        <p:nvSpPr>
          <p:cNvPr id="219" name="Google Shape;219;p10"/>
          <p:cNvSpPr/>
          <p:nvPr/>
        </p:nvSpPr>
        <p:spPr>
          <a:xfrm>
            <a:off x="5852160" y="3081528"/>
            <a:ext cx="502920" cy="137160"/>
          </a:xfrm>
          <a:prstGeom prst="chevron">
            <a:avLst>
              <a:gd fmla="val 50000" name="adj"/>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0" name="Google Shape;220;p10"/>
          <p:cNvSpPr/>
          <p:nvPr/>
        </p:nvSpPr>
        <p:spPr>
          <a:xfrm>
            <a:off x="5852160" y="4526280"/>
            <a:ext cx="502920" cy="137160"/>
          </a:xfrm>
          <a:prstGeom prst="chevron">
            <a:avLst>
              <a:gd fmla="val 50000" name="adj"/>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21" name="Google Shape;221;p10"/>
          <p:cNvSpPr/>
          <p:nvPr/>
        </p:nvSpPr>
        <p:spPr>
          <a:xfrm>
            <a:off x="356616" y="1728216"/>
            <a:ext cx="11494008" cy="1426464"/>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pic>
        <p:nvPicPr>
          <p:cNvPr descr="sbseg2026_rodape.png" id="227" name="Google Shape;227;p1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28" name="Google Shape;228;p11"/>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08</a:t>
            </a:r>
            <a:endParaRPr b="0" i="0" sz="1400" u="none" cap="none" strike="noStrike">
              <a:solidFill>
                <a:srgbClr val="000000"/>
              </a:solidFill>
              <a:latin typeface="Arial"/>
              <a:ea typeface="Arial"/>
              <a:cs typeface="Arial"/>
              <a:sym typeface="Arial"/>
            </a:endParaRPr>
          </a:p>
        </p:txBody>
      </p:sp>
      <p:sp>
        <p:nvSpPr>
          <p:cNvPr id="229" name="Google Shape;229;p11"/>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230" name="Google Shape;230;p11"/>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De 12,7 milhões a 2.879 imagens</a:t>
            </a:r>
            <a:endParaRPr b="0" i="0" sz="1400" u="none" cap="none" strike="noStrike">
              <a:solidFill>
                <a:srgbClr val="000000"/>
              </a:solidFill>
              <a:latin typeface="Arial"/>
              <a:ea typeface="Arial"/>
              <a:cs typeface="Arial"/>
              <a:sym typeface="Arial"/>
            </a:endParaRPr>
          </a:p>
        </p:txBody>
      </p:sp>
      <p:sp>
        <p:nvSpPr>
          <p:cNvPr id="231" name="Google Shape;231;p11"/>
          <p:cNvSpPr/>
          <p:nvPr/>
        </p:nvSpPr>
        <p:spPr>
          <a:xfrm>
            <a:off x="502920" y="1874519"/>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2" name="Google Shape;232;p11"/>
          <p:cNvSpPr txBox="1"/>
          <p:nvPr/>
        </p:nvSpPr>
        <p:spPr>
          <a:xfrm>
            <a:off x="777240" y="2148839"/>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12.716.568</a:t>
            </a:r>
            <a:endParaRPr b="0" i="0" sz="1400" u="none" cap="none" strike="noStrike">
              <a:solidFill>
                <a:srgbClr val="000000"/>
              </a:solidFill>
              <a:latin typeface="Arial"/>
              <a:ea typeface="Arial"/>
              <a:cs typeface="Arial"/>
              <a:sym typeface="Arial"/>
            </a:endParaRPr>
          </a:p>
        </p:txBody>
      </p:sp>
      <p:sp>
        <p:nvSpPr>
          <p:cNvPr id="233" name="Google Shape;233;p11"/>
          <p:cNvSpPr txBox="1"/>
          <p:nvPr/>
        </p:nvSpPr>
        <p:spPr>
          <a:xfrm>
            <a:off x="3950208" y="2203703"/>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Repositórios enumerados</a:t>
            </a:r>
            <a:endParaRPr b="0" i="0" sz="1400" u="none" cap="none" strike="noStrike">
              <a:solidFill>
                <a:srgbClr val="000000"/>
              </a:solidFill>
              <a:latin typeface="Arial"/>
              <a:ea typeface="Arial"/>
              <a:cs typeface="Arial"/>
              <a:sym typeface="Arial"/>
            </a:endParaRPr>
          </a:p>
        </p:txBody>
      </p:sp>
      <p:sp>
        <p:nvSpPr>
          <p:cNvPr id="234" name="Google Shape;234;p11"/>
          <p:cNvSpPr/>
          <p:nvPr/>
        </p:nvSpPr>
        <p:spPr>
          <a:xfrm>
            <a:off x="502920" y="3319272"/>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5" name="Google Shape;235;p11"/>
          <p:cNvSpPr txBox="1"/>
          <p:nvPr/>
        </p:nvSpPr>
        <p:spPr>
          <a:xfrm>
            <a:off x="777240" y="3593591"/>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4.800</a:t>
            </a:r>
            <a:endParaRPr b="0" i="0" sz="1400" u="none" cap="none" strike="noStrike">
              <a:solidFill>
                <a:srgbClr val="000000"/>
              </a:solidFill>
              <a:latin typeface="Arial"/>
              <a:ea typeface="Arial"/>
              <a:cs typeface="Arial"/>
              <a:sym typeface="Arial"/>
            </a:endParaRPr>
          </a:p>
        </p:txBody>
      </p:sp>
      <p:sp>
        <p:nvSpPr>
          <p:cNvPr id="236" name="Google Shape;236;p11"/>
          <p:cNvSpPr txBox="1"/>
          <p:nvPr/>
        </p:nvSpPr>
        <p:spPr>
          <a:xfrm>
            <a:off x="3950208" y="3648456"/>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Repositórios sorteados</a:t>
            </a:r>
            <a:endParaRPr b="0" i="0" sz="1400" u="none" cap="none" strike="noStrike">
              <a:solidFill>
                <a:srgbClr val="000000"/>
              </a:solidFill>
              <a:latin typeface="Arial"/>
              <a:ea typeface="Arial"/>
              <a:cs typeface="Arial"/>
              <a:sym typeface="Arial"/>
            </a:endParaRPr>
          </a:p>
        </p:txBody>
      </p:sp>
      <p:sp>
        <p:nvSpPr>
          <p:cNvPr id="237" name="Google Shape;237;p11"/>
          <p:cNvSpPr/>
          <p:nvPr/>
        </p:nvSpPr>
        <p:spPr>
          <a:xfrm>
            <a:off x="502920" y="4764024"/>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38" name="Google Shape;238;p11"/>
          <p:cNvSpPr txBox="1"/>
          <p:nvPr/>
        </p:nvSpPr>
        <p:spPr>
          <a:xfrm>
            <a:off x="777240" y="5038344"/>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239" name="Google Shape;239;p11"/>
          <p:cNvSpPr txBox="1"/>
          <p:nvPr/>
        </p:nvSpPr>
        <p:spPr>
          <a:xfrm>
            <a:off x="3950208" y="5093208"/>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Escaneadas · ±1 p.p. a 95%</a:t>
            </a:r>
            <a:endParaRPr b="0" i="0" sz="1400" u="none" cap="none" strike="noStrike">
              <a:solidFill>
                <a:srgbClr val="000000"/>
              </a:solidFill>
              <a:latin typeface="Arial"/>
              <a:ea typeface="Arial"/>
              <a:cs typeface="Arial"/>
              <a:sym typeface="Arial"/>
            </a:endParaRPr>
          </a:p>
        </p:txBody>
      </p:sp>
      <p:sp>
        <p:nvSpPr>
          <p:cNvPr id="240" name="Google Shape;240;p11"/>
          <p:cNvSpPr/>
          <p:nvPr/>
        </p:nvSpPr>
        <p:spPr>
          <a:xfrm>
            <a:off x="5852160" y="3081528"/>
            <a:ext cx="502920" cy="137160"/>
          </a:xfrm>
          <a:prstGeom prst="chevron">
            <a:avLst>
              <a:gd fmla="val 50000" name="adj"/>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1" name="Google Shape;241;p11"/>
          <p:cNvSpPr/>
          <p:nvPr/>
        </p:nvSpPr>
        <p:spPr>
          <a:xfrm>
            <a:off x="5852160" y="4526280"/>
            <a:ext cx="502920" cy="137160"/>
          </a:xfrm>
          <a:prstGeom prst="chevron">
            <a:avLst>
              <a:gd fmla="val 50000" name="adj"/>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42" name="Google Shape;242;p11"/>
          <p:cNvSpPr/>
          <p:nvPr/>
        </p:nvSpPr>
        <p:spPr>
          <a:xfrm>
            <a:off x="356616" y="3172968"/>
            <a:ext cx="11494008" cy="1426464"/>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descr="sbseg2026_rodape.png" id="248" name="Google Shape;248;p1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49" name="Google Shape;249;p12"/>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09</a:t>
            </a:r>
            <a:endParaRPr b="0" i="0" sz="1400" u="none" cap="none" strike="noStrike">
              <a:solidFill>
                <a:srgbClr val="000000"/>
              </a:solidFill>
              <a:latin typeface="Arial"/>
              <a:ea typeface="Arial"/>
              <a:cs typeface="Arial"/>
              <a:sym typeface="Arial"/>
            </a:endParaRPr>
          </a:p>
        </p:txBody>
      </p:sp>
      <p:sp>
        <p:nvSpPr>
          <p:cNvPr id="250" name="Google Shape;250;p12"/>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251" name="Google Shape;251;p12"/>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De 12,7 milhões a 2.879 imagens</a:t>
            </a:r>
            <a:endParaRPr b="0" i="0" sz="1400" u="none" cap="none" strike="noStrike">
              <a:solidFill>
                <a:srgbClr val="000000"/>
              </a:solidFill>
              <a:latin typeface="Arial"/>
              <a:ea typeface="Arial"/>
              <a:cs typeface="Arial"/>
              <a:sym typeface="Arial"/>
            </a:endParaRPr>
          </a:p>
        </p:txBody>
      </p:sp>
      <p:sp>
        <p:nvSpPr>
          <p:cNvPr id="252" name="Google Shape;252;p12"/>
          <p:cNvSpPr/>
          <p:nvPr/>
        </p:nvSpPr>
        <p:spPr>
          <a:xfrm>
            <a:off x="502920" y="1874519"/>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3" name="Google Shape;253;p12"/>
          <p:cNvSpPr txBox="1"/>
          <p:nvPr/>
        </p:nvSpPr>
        <p:spPr>
          <a:xfrm>
            <a:off x="777240" y="2148839"/>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12.716.568</a:t>
            </a:r>
            <a:endParaRPr b="0" i="0" sz="1400" u="none" cap="none" strike="noStrike">
              <a:solidFill>
                <a:srgbClr val="000000"/>
              </a:solidFill>
              <a:latin typeface="Arial"/>
              <a:ea typeface="Arial"/>
              <a:cs typeface="Arial"/>
              <a:sym typeface="Arial"/>
            </a:endParaRPr>
          </a:p>
        </p:txBody>
      </p:sp>
      <p:sp>
        <p:nvSpPr>
          <p:cNvPr id="254" name="Google Shape;254;p12"/>
          <p:cNvSpPr txBox="1"/>
          <p:nvPr/>
        </p:nvSpPr>
        <p:spPr>
          <a:xfrm>
            <a:off x="3950208" y="2203703"/>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Repositórios enumerados</a:t>
            </a:r>
            <a:endParaRPr b="0" i="0" sz="1400" u="none" cap="none" strike="noStrike">
              <a:solidFill>
                <a:srgbClr val="000000"/>
              </a:solidFill>
              <a:latin typeface="Arial"/>
              <a:ea typeface="Arial"/>
              <a:cs typeface="Arial"/>
              <a:sym typeface="Arial"/>
            </a:endParaRPr>
          </a:p>
        </p:txBody>
      </p:sp>
      <p:sp>
        <p:nvSpPr>
          <p:cNvPr id="255" name="Google Shape;255;p12"/>
          <p:cNvSpPr/>
          <p:nvPr/>
        </p:nvSpPr>
        <p:spPr>
          <a:xfrm>
            <a:off x="502920" y="3319272"/>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6" name="Google Shape;256;p12"/>
          <p:cNvSpPr txBox="1"/>
          <p:nvPr/>
        </p:nvSpPr>
        <p:spPr>
          <a:xfrm>
            <a:off x="777240" y="3593591"/>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4.800</a:t>
            </a:r>
            <a:endParaRPr b="0" i="0" sz="1400" u="none" cap="none" strike="noStrike">
              <a:solidFill>
                <a:srgbClr val="000000"/>
              </a:solidFill>
              <a:latin typeface="Arial"/>
              <a:ea typeface="Arial"/>
              <a:cs typeface="Arial"/>
              <a:sym typeface="Arial"/>
            </a:endParaRPr>
          </a:p>
        </p:txBody>
      </p:sp>
      <p:sp>
        <p:nvSpPr>
          <p:cNvPr id="257" name="Google Shape;257;p12"/>
          <p:cNvSpPr txBox="1"/>
          <p:nvPr/>
        </p:nvSpPr>
        <p:spPr>
          <a:xfrm>
            <a:off x="3950208" y="3648456"/>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Repositórios sorteados</a:t>
            </a:r>
            <a:endParaRPr b="0" i="0" sz="1400" u="none" cap="none" strike="noStrike">
              <a:solidFill>
                <a:srgbClr val="000000"/>
              </a:solidFill>
              <a:latin typeface="Arial"/>
              <a:ea typeface="Arial"/>
              <a:cs typeface="Arial"/>
              <a:sym typeface="Arial"/>
            </a:endParaRPr>
          </a:p>
        </p:txBody>
      </p:sp>
      <p:sp>
        <p:nvSpPr>
          <p:cNvPr id="258" name="Google Shape;258;p12"/>
          <p:cNvSpPr/>
          <p:nvPr/>
        </p:nvSpPr>
        <p:spPr>
          <a:xfrm>
            <a:off x="502920" y="4764024"/>
            <a:ext cx="11201400" cy="113385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59" name="Google Shape;259;p12"/>
          <p:cNvSpPr txBox="1"/>
          <p:nvPr/>
        </p:nvSpPr>
        <p:spPr>
          <a:xfrm>
            <a:off x="777240" y="5038344"/>
            <a:ext cx="3063240" cy="65836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800"/>
              <a:buFont typeface="Arial"/>
              <a:buNone/>
            </a:pPr>
            <a:r>
              <a:rPr b="1" i="0" lang="en-US" sz="3800" u="none" cap="none" strike="noStrike">
                <a:solidFill>
                  <a:srgbClr val="2560FF"/>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260" name="Google Shape;260;p12"/>
          <p:cNvSpPr txBox="1"/>
          <p:nvPr/>
        </p:nvSpPr>
        <p:spPr>
          <a:xfrm>
            <a:off x="3950208" y="5093208"/>
            <a:ext cx="722376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Escaneadas · ±1 p.p. a 95%</a:t>
            </a:r>
            <a:endParaRPr b="0" i="0" sz="1400" u="none" cap="none" strike="noStrike">
              <a:solidFill>
                <a:srgbClr val="000000"/>
              </a:solidFill>
              <a:latin typeface="Arial"/>
              <a:ea typeface="Arial"/>
              <a:cs typeface="Arial"/>
              <a:sym typeface="Arial"/>
            </a:endParaRPr>
          </a:p>
        </p:txBody>
      </p:sp>
      <p:sp>
        <p:nvSpPr>
          <p:cNvPr id="261" name="Google Shape;261;p12"/>
          <p:cNvSpPr/>
          <p:nvPr/>
        </p:nvSpPr>
        <p:spPr>
          <a:xfrm>
            <a:off x="5852160" y="3081528"/>
            <a:ext cx="502920" cy="137160"/>
          </a:xfrm>
          <a:prstGeom prst="chevron">
            <a:avLst>
              <a:gd fmla="val 50000" name="adj"/>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2" name="Google Shape;262;p12"/>
          <p:cNvSpPr/>
          <p:nvPr/>
        </p:nvSpPr>
        <p:spPr>
          <a:xfrm>
            <a:off x="5852160" y="4526280"/>
            <a:ext cx="502920" cy="137160"/>
          </a:xfrm>
          <a:prstGeom prst="chevron">
            <a:avLst>
              <a:gd fmla="val 50000" name="adj"/>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63" name="Google Shape;263;p12"/>
          <p:cNvSpPr/>
          <p:nvPr/>
        </p:nvSpPr>
        <p:spPr>
          <a:xfrm>
            <a:off x="356616" y="4617720"/>
            <a:ext cx="11494008" cy="1426464"/>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pic>
        <p:nvPicPr>
          <p:cNvPr descr="sbseg2026_rodape.png" id="269" name="Google Shape;269;p1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70" name="Google Shape;270;p13"/>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10</a:t>
            </a:r>
            <a:endParaRPr b="0" i="0" sz="1400" u="none" cap="none" strike="noStrike">
              <a:solidFill>
                <a:srgbClr val="000000"/>
              </a:solidFill>
              <a:latin typeface="Arial"/>
              <a:ea typeface="Arial"/>
              <a:cs typeface="Arial"/>
              <a:sym typeface="Arial"/>
            </a:endParaRPr>
          </a:p>
        </p:txBody>
      </p:sp>
      <p:sp>
        <p:nvSpPr>
          <p:cNvPr id="271" name="Google Shape;271;p13"/>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272" name="Google Shape;272;p13"/>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Imagem típica</a:t>
            </a:r>
            <a:endParaRPr b="0" i="0" sz="1400" u="none" cap="none" strike="noStrike">
              <a:solidFill>
                <a:srgbClr val="000000"/>
              </a:solidFill>
              <a:latin typeface="Arial"/>
              <a:ea typeface="Arial"/>
              <a:cs typeface="Arial"/>
              <a:sym typeface="Arial"/>
            </a:endParaRPr>
          </a:p>
        </p:txBody>
      </p:sp>
      <p:sp>
        <p:nvSpPr>
          <p:cNvPr id="273" name="Google Shape;273;p13"/>
          <p:cNvSpPr/>
          <p:nvPr/>
        </p:nvSpPr>
        <p:spPr>
          <a:xfrm>
            <a:off x="502920" y="1463040"/>
            <a:ext cx="11201400" cy="173736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4" name="Google Shape;274;p13"/>
          <p:cNvSpPr txBox="1"/>
          <p:nvPr/>
        </p:nvSpPr>
        <p:spPr>
          <a:xfrm>
            <a:off x="868680" y="1700784"/>
            <a:ext cx="10515600" cy="1280160"/>
          </a:xfrm>
          <a:prstGeom prst="rect">
            <a:avLst/>
          </a:prstGeom>
          <a:noFill/>
          <a:ln>
            <a:noFill/>
          </a:ln>
        </p:spPr>
        <p:txBody>
          <a:bodyPr anchorCtr="0" anchor="t" bIns="0" lIns="0" spcFirstLastPara="1" rIns="0" wrap="square" tIns="0">
            <a:spAutoFit/>
          </a:bodyPr>
          <a:lstStyle/>
          <a:p>
            <a:pPr indent="0" lvl="0" marL="0" marR="0" rtl="0" algn="ctr">
              <a:lnSpc>
                <a:spcPct val="114000"/>
              </a:lnSpc>
              <a:spcBef>
                <a:spcPts val="0"/>
              </a:spcBef>
              <a:spcAft>
                <a:spcPts val="0"/>
              </a:spcAft>
              <a:buClr>
                <a:srgbClr val="000000"/>
              </a:buClr>
              <a:buSzPts val="4300"/>
              <a:buFont typeface="Arial"/>
              <a:buNone/>
            </a:pPr>
            <a:r>
              <a:rPr b="1" i="0" lang="en-US" sz="4300" u="none" cap="none" strike="noStrike">
                <a:solidFill>
                  <a:srgbClr val="00153C"/>
                </a:solidFill>
                <a:latin typeface="Space Grotesk"/>
                <a:ea typeface="Space Grotesk"/>
                <a:cs typeface="Space Grotesk"/>
                <a:sym typeface="Space Grotesk"/>
              </a:rPr>
              <a:t>Uma imagem aleatória, com tag latest.</a:t>
            </a:r>
            <a:endParaRPr b="0" i="0" sz="1400" u="none" cap="none" strike="noStrike">
              <a:solidFill>
                <a:srgbClr val="000000"/>
              </a:solidFill>
              <a:latin typeface="Arial"/>
              <a:ea typeface="Arial"/>
              <a:cs typeface="Arial"/>
              <a:sym typeface="Arial"/>
            </a:endParaRPr>
          </a:p>
        </p:txBody>
      </p:sp>
      <p:sp>
        <p:nvSpPr>
          <p:cNvPr id="275" name="Google Shape;275;p13"/>
          <p:cNvSpPr/>
          <p:nvPr/>
        </p:nvSpPr>
        <p:spPr>
          <a:xfrm>
            <a:off x="713232" y="3877055"/>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6" name="Google Shape;276;p13"/>
          <p:cNvSpPr txBox="1"/>
          <p:nvPr/>
        </p:nvSpPr>
        <p:spPr>
          <a:xfrm>
            <a:off x="1124712" y="3749039"/>
            <a:ext cx="10469880" cy="8229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latest é a tag padrão do registro</a:t>
            </a:r>
            <a:endParaRPr b="0" i="0" sz="1400" u="none" cap="none" strike="noStrike">
              <a:solidFill>
                <a:srgbClr val="000000"/>
              </a:solidFill>
              <a:latin typeface="Arial"/>
              <a:ea typeface="Arial"/>
              <a:cs typeface="Arial"/>
              <a:sym typeface="Arial"/>
            </a:endParaRPr>
          </a:p>
        </p:txBody>
      </p:sp>
      <p:sp>
        <p:nvSpPr>
          <p:cNvPr id="277" name="Google Shape;277;p13"/>
          <p:cNvSpPr/>
          <p:nvPr/>
        </p:nvSpPr>
        <p:spPr>
          <a:xfrm>
            <a:off x="713232" y="5010912"/>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78" name="Google Shape;278;p13"/>
          <p:cNvSpPr txBox="1"/>
          <p:nvPr/>
        </p:nvSpPr>
        <p:spPr>
          <a:xfrm>
            <a:off x="1124712" y="4882896"/>
            <a:ext cx="10469880" cy="8229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Não é a mais baixada, nem a mais exposta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pic>
        <p:nvPicPr>
          <p:cNvPr descr="sbseg2026_rodape.png" id="284" name="Google Shape;284;p1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285" name="Google Shape;285;p14"/>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11</a:t>
            </a:r>
            <a:endParaRPr b="0" i="0" sz="1400" u="none" cap="none" strike="noStrike">
              <a:solidFill>
                <a:srgbClr val="000000"/>
              </a:solidFill>
              <a:latin typeface="Arial"/>
              <a:ea typeface="Arial"/>
              <a:cs typeface="Arial"/>
              <a:sym typeface="Arial"/>
            </a:endParaRPr>
          </a:p>
        </p:txBody>
      </p:sp>
      <p:sp>
        <p:nvSpPr>
          <p:cNvPr id="286" name="Google Shape;286;p14"/>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287" name="Google Shape;287;p14"/>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O mesmo processo nas duas amostras</a:t>
            </a:r>
            <a:endParaRPr b="0" i="0" sz="1400" u="none" cap="none" strike="noStrike">
              <a:solidFill>
                <a:srgbClr val="000000"/>
              </a:solidFill>
              <a:latin typeface="Arial"/>
              <a:ea typeface="Arial"/>
              <a:cs typeface="Arial"/>
              <a:sym typeface="Arial"/>
            </a:endParaRPr>
          </a:p>
        </p:txBody>
      </p:sp>
      <p:sp>
        <p:nvSpPr>
          <p:cNvPr id="288" name="Google Shape;288;p14"/>
          <p:cNvSpPr/>
          <p:nvPr/>
        </p:nvSpPr>
        <p:spPr>
          <a:xfrm>
            <a:off x="502920" y="1883664"/>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89" name="Google Shape;289;p14"/>
          <p:cNvSpPr txBox="1"/>
          <p:nvPr/>
        </p:nvSpPr>
        <p:spPr>
          <a:xfrm>
            <a:off x="822960" y="2075688"/>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1 · imagem</a:t>
            </a:r>
            <a:endParaRPr b="0" i="0" sz="1400" u="none" cap="none" strike="noStrike">
              <a:solidFill>
                <a:srgbClr val="000000"/>
              </a:solidFill>
              <a:latin typeface="Arial"/>
              <a:ea typeface="Arial"/>
              <a:cs typeface="Arial"/>
              <a:sym typeface="Arial"/>
            </a:endParaRPr>
          </a:p>
        </p:txBody>
      </p:sp>
      <p:sp>
        <p:nvSpPr>
          <p:cNvPr id="290" name="Google Shape;290;p14"/>
          <p:cNvSpPr txBox="1"/>
          <p:nvPr/>
        </p:nvSpPr>
        <p:spPr>
          <a:xfrm>
            <a:off x="3383280" y="2121408"/>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uma imagem por repositório</a:t>
            </a:r>
            <a:endParaRPr b="0" i="0" sz="1400" u="none" cap="none" strike="noStrike">
              <a:solidFill>
                <a:srgbClr val="000000"/>
              </a:solidFill>
              <a:latin typeface="Arial"/>
              <a:ea typeface="Arial"/>
              <a:cs typeface="Arial"/>
              <a:sym typeface="Arial"/>
            </a:endParaRPr>
          </a:p>
        </p:txBody>
      </p:sp>
      <p:sp>
        <p:nvSpPr>
          <p:cNvPr id="291" name="Google Shape;291;p14"/>
          <p:cNvSpPr/>
          <p:nvPr/>
        </p:nvSpPr>
        <p:spPr>
          <a:xfrm>
            <a:off x="502920" y="2926080"/>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2" name="Google Shape;292;p14"/>
          <p:cNvSpPr txBox="1"/>
          <p:nvPr/>
        </p:nvSpPr>
        <p:spPr>
          <a:xfrm>
            <a:off x="822960" y="3118104"/>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2 · scanners</a:t>
            </a:r>
            <a:endParaRPr b="0" i="0" sz="1400" u="none" cap="none" strike="noStrike">
              <a:solidFill>
                <a:srgbClr val="000000"/>
              </a:solidFill>
              <a:latin typeface="Arial"/>
              <a:ea typeface="Arial"/>
              <a:cs typeface="Arial"/>
              <a:sym typeface="Arial"/>
            </a:endParaRPr>
          </a:p>
        </p:txBody>
      </p:sp>
      <p:sp>
        <p:nvSpPr>
          <p:cNvPr id="293" name="Google Shape;293;p14"/>
          <p:cNvSpPr txBox="1"/>
          <p:nvPr/>
        </p:nvSpPr>
        <p:spPr>
          <a:xfrm>
            <a:off x="3383280" y="3163824"/>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seis, mesma configuração</a:t>
            </a:r>
            <a:endParaRPr b="0" i="0" sz="1400" u="none" cap="none" strike="noStrike">
              <a:solidFill>
                <a:srgbClr val="000000"/>
              </a:solidFill>
              <a:latin typeface="Arial"/>
              <a:ea typeface="Arial"/>
              <a:cs typeface="Arial"/>
              <a:sym typeface="Arial"/>
            </a:endParaRPr>
          </a:p>
        </p:txBody>
      </p:sp>
      <p:sp>
        <p:nvSpPr>
          <p:cNvPr id="294" name="Google Shape;294;p14"/>
          <p:cNvSpPr/>
          <p:nvPr/>
        </p:nvSpPr>
        <p:spPr>
          <a:xfrm>
            <a:off x="502920" y="3968496"/>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295" name="Google Shape;295;p14"/>
          <p:cNvSpPr txBox="1"/>
          <p:nvPr/>
        </p:nvSpPr>
        <p:spPr>
          <a:xfrm>
            <a:off x="822960" y="4160520"/>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3 · eixos</a:t>
            </a:r>
            <a:endParaRPr b="0" i="0" sz="1400" u="none" cap="none" strike="noStrike">
              <a:solidFill>
                <a:srgbClr val="000000"/>
              </a:solidFill>
              <a:latin typeface="Arial"/>
              <a:ea typeface="Arial"/>
              <a:cs typeface="Arial"/>
              <a:sym typeface="Arial"/>
            </a:endParaRPr>
          </a:p>
        </p:txBody>
      </p:sp>
      <p:sp>
        <p:nvSpPr>
          <p:cNvPr id="296" name="Google Shape;296;p14"/>
          <p:cNvSpPr txBox="1"/>
          <p:nvPr/>
        </p:nvSpPr>
        <p:spPr>
          <a:xfrm>
            <a:off x="3383280" y="4206240"/>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SBOM, pacote, configuração, segredo</a:t>
            </a:r>
            <a:endParaRPr b="0" i="0" sz="1400" u="none" cap="none" strike="noStrike">
              <a:solidFill>
                <a:srgbClr val="000000"/>
              </a:solidFill>
              <a:latin typeface="Arial"/>
              <a:ea typeface="Arial"/>
              <a:cs typeface="Arial"/>
              <a:sym typeface="Arial"/>
            </a:endParaRPr>
          </a:p>
        </p:txBody>
      </p:sp>
      <p:sp>
        <p:nvSpPr>
          <p:cNvPr id="297" name="Google Shape;297;p14"/>
          <p:cNvSpPr txBox="1"/>
          <p:nvPr/>
        </p:nvSpPr>
        <p:spPr>
          <a:xfrm>
            <a:off x="502920" y="5285231"/>
            <a:ext cx="1115568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As duas amostras mudam só na seleção.</a:t>
            </a:r>
            <a:endParaRPr b="0" i="0" sz="1400" u="none" cap="none" strike="noStrike">
              <a:solidFill>
                <a:srgbClr val="000000"/>
              </a:solidFill>
              <a:latin typeface="Arial"/>
              <a:ea typeface="Arial"/>
              <a:cs typeface="Arial"/>
              <a:sym typeface="Arial"/>
            </a:endParaRPr>
          </a:p>
        </p:txBody>
      </p:sp>
      <p:sp>
        <p:nvSpPr>
          <p:cNvPr id="298" name="Google Shape;298;p14"/>
          <p:cNvSpPr/>
          <p:nvPr/>
        </p:nvSpPr>
        <p:spPr>
          <a:xfrm>
            <a:off x="356616" y="1737360"/>
            <a:ext cx="11494008" cy="1188720"/>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pic>
        <p:nvPicPr>
          <p:cNvPr descr="sbseg2026_rodape.png" id="304" name="Google Shape;304;p1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05" name="Google Shape;305;p15"/>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12</a:t>
            </a:r>
            <a:endParaRPr b="0" i="0" sz="1400" u="none" cap="none" strike="noStrike">
              <a:solidFill>
                <a:srgbClr val="000000"/>
              </a:solidFill>
              <a:latin typeface="Arial"/>
              <a:ea typeface="Arial"/>
              <a:cs typeface="Arial"/>
              <a:sym typeface="Arial"/>
            </a:endParaRPr>
          </a:p>
        </p:txBody>
      </p:sp>
      <p:sp>
        <p:nvSpPr>
          <p:cNvPr id="306" name="Google Shape;306;p15"/>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307" name="Google Shape;307;p15"/>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O mesmo processo nas duas amostras</a:t>
            </a:r>
            <a:endParaRPr b="0" i="0" sz="1400" u="none" cap="none" strike="noStrike">
              <a:solidFill>
                <a:srgbClr val="000000"/>
              </a:solidFill>
              <a:latin typeface="Arial"/>
              <a:ea typeface="Arial"/>
              <a:cs typeface="Arial"/>
              <a:sym typeface="Arial"/>
            </a:endParaRPr>
          </a:p>
        </p:txBody>
      </p:sp>
      <p:sp>
        <p:nvSpPr>
          <p:cNvPr id="308" name="Google Shape;308;p15"/>
          <p:cNvSpPr/>
          <p:nvPr/>
        </p:nvSpPr>
        <p:spPr>
          <a:xfrm>
            <a:off x="502920" y="1883664"/>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09" name="Google Shape;309;p15"/>
          <p:cNvSpPr txBox="1"/>
          <p:nvPr/>
        </p:nvSpPr>
        <p:spPr>
          <a:xfrm>
            <a:off x="822960" y="2075688"/>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1 · imagem</a:t>
            </a:r>
            <a:endParaRPr b="0" i="0" sz="1400" u="none" cap="none" strike="noStrike">
              <a:solidFill>
                <a:srgbClr val="000000"/>
              </a:solidFill>
              <a:latin typeface="Arial"/>
              <a:ea typeface="Arial"/>
              <a:cs typeface="Arial"/>
              <a:sym typeface="Arial"/>
            </a:endParaRPr>
          </a:p>
        </p:txBody>
      </p:sp>
      <p:sp>
        <p:nvSpPr>
          <p:cNvPr id="310" name="Google Shape;310;p15"/>
          <p:cNvSpPr txBox="1"/>
          <p:nvPr/>
        </p:nvSpPr>
        <p:spPr>
          <a:xfrm>
            <a:off x="3383280" y="2121408"/>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uma imagem por repositório</a:t>
            </a:r>
            <a:endParaRPr b="0" i="0" sz="1400" u="none" cap="none" strike="noStrike">
              <a:solidFill>
                <a:srgbClr val="000000"/>
              </a:solidFill>
              <a:latin typeface="Arial"/>
              <a:ea typeface="Arial"/>
              <a:cs typeface="Arial"/>
              <a:sym typeface="Arial"/>
            </a:endParaRPr>
          </a:p>
        </p:txBody>
      </p:sp>
      <p:sp>
        <p:nvSpPr>
          <p:cNvPr id="311" name="Google Shape;311;p15"/>
          <p:cNvSpPr/>
          <p:nvPr/>
        </p:nvSpPr>
        <p:spPr>
          <a:xfrm>
            <a:off x="502920" y="2926080"/>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2" name="Google Shape;312;p15"/>
          <p:cNvSpPr txBox="1"/>
          <p:nvPr/>
        </p:nvSpPr>
        <p:spPr>
          <a:xfrm>
            <a:off x="822960" y="3118104"/>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2 · scanners</a:t>
            </a:r>
            <a:endParaRPr b="0" i="0" sz="1400" u="none" cap="none" strike="noStrike">
              <a:solidFill>
                <a:srgbClr val="000000"/>
              </a:solidFill>
              <a:latin typeface="Arial"/>
              <a:ea typeface="Arial"/>
              <a:cs typeface="Arial"/>
              <a:sym typeface="Arial"/>
            </a:endParaRPr>
          </a:p>
        </p:txBody>
      </p:sp>
      <p:sp>
        <p:nvSpPr>
          <p:cNvPr id="313" name="Google Shape;313;p15"/>
          <p:cNvSpPr txBox="1"/>
          <p:nvPr/>
        </p:nvSpPr>
        <p:spPr>
          <a:xfrm>
            <a:off x="3383280" y="3163824"/>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seis, mesma configuração</a:t>
            </a:r>
            <a:endParaRPr b="0" i="0" sz="1400" u="none" cap="none" strike="noStrike">
              <a:solidFill>
                <a:srgbClr val="000000"/>
              </a:solidFill>
              <a:latin typeface="Arial"/>
              <a:ea typeface="Arial"/>
              <a:cs typeface="Arial"/>
              <a:sym typeface="Arial"/>
            </a:endParaRPr>
          </a:p>
        </p:txBody>
      </p:sp>
      <p:sp>
        <p:nvSpPr>
          <p:cNvPr id="314" name="Google Shape;314;p15"/>
          <p:cNvSpPr/>
          <p:nvPr/>
        </p:nvSpPr>
        <p:spPr>
          <a:xfrm>
            <a:off x="502920" y="3968496"/>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15" name="Google Shape;315;p15"/>
          <p:cNvSpPr txBox="1"/>
          <p:nvPr/>
        </p:nvSpPr>
        <p:spPr>
          <a:xfrm>
            <a:off x="822960" y="4160520"/>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3 · eixos</a:t>
            </a:r>
            <a:endParaRPr b="0" i="0" sz="1400" u="none" cap="none" strike="noStrike">
              <a:solidFill>
                <a:srgbClr val="000000"/>
              </a:solidFill>
              <a:latin typeface="Arial"/>
              <a:ea typeface="Arial"/>
              <a:cs typeface="Arial"/>
              <a:sym typeface="Arial"/>
            </a:endParaRPr>
          </a:p>
        </p:txBody>
      </p:sp>
      <p:sp>
        <p:nvSpPr>
          <p:cNvPr id="316" name="Google Shape;316;p15"/>
          <p:cNvSpPr txBox="1"/>
          <p:nvPr/>
        </p:nvSpPr>
        <p:spPr>
          <a:xfrm>
            <a:off x="3383280" y="4206240"/>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SBOM, pacote, configuração, segredo</a:t>
            </a:r>
            <a:endParaRPr b="0" i="0" sz="1400" u="none" cap="none" strike="noStrike">
              <a:solidFill>
                <a:srgbClr val="000000"/>
              </a:solidFill>
              <a:latin typeface="Arial"/>
              <a:ea typeface="Arial"/>
              <a:cs typeface="Arial"/>
              <a:sym typeface="Arial"/>
            </a:endParaRPr>
          </a:p>
        </p:txBody>
      </p:sp>
      <p:sp>
        <p:nvSpPr>
          <p:cNvPr id="317" name="Google Shape;317;p15"/>
          <p:cNvSpPr txBox="1"/>
          <p:nvPr/>
        </p:nvSpPr>
        <p:spPr>
          <a:xfrm>
            <a:off x="502920" y="5285231"/>
            <a:ext cx="1115568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As duas amostras mudam só na seleção.</a:t>
            </a:r>
            <a:endParaRPr b="0" i="0" sz="1400" u="none" cap="none" strike="noStrike">
              <a:solidFill>
                <a:srgbClr val="000000"/>
              </a:solidFill>
              <a:latin typeface="Arial"/>
              <a:ea typeface="Arial"/>
              <a:cs typeface="Arial"/>
              <a:sym typeface="Arial"/>
            </a:endParaRPr>
          </a:p>
        </p:txBody>
      </p:sp>
      <p:sp>
        <p:nvSpPr>
          <p:cNvPr id="318" name="Google Shape;318;p15"/>
          <p:cNvSpPr/>
          <p:nvPr/>
        </p:nvSpPr>
        <p:spPr>
          <a:xfrm>
            <a:off x="356616" y="2779776"/>
            <a:ext cx="11494008" cy="1188720"/>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pic>
        <p:nvPicPr>
          <p:cNvPr descr="sbseg2026_rodape.png" id="324" name="Google Shape;324;p1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25" name="Google Shape;325;p16"/>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13</a:t>
            </a:r>
            <a:endParaRPr b="0" i="0" sz="1400" u="none" cap="none" strike="noStrike">
              <a:solidFill>
                <a:srgbClr val="000000"/>
              </a:solidFill>
              <a:latin typeface="Arial"/>
              <a:ea typeface="Arial"/>
              <a:cs typeface="Arial"/>
              <a:sym typeface="Arial"/>
            </a:endParaRPr>
          </a:p>
        </p:txBody>
      </p:sp>
      <p:sp>
        <p:nvSpPr>
          <p:cNvPr id="326" name="Google Shape;326;p16"/>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327" name="Google Shape;327;p16"/>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O mesmo processo nas duas amostras</a:t>
            </a:r>
            <a:endParaRPr b="0" i="0" sz="1400" u="none" cap="none" strike="noStrike">
              <a:solidFill>
                <a:srgbClr val="000000"/>
              </a:solidFill>
              <a:latin typeface="Arial"/>
              <a:ea typeface="Arial"/>
              <a:cs typeface="Arial"/>
              <a:sym typeface="Arial"/>
            </a:endParaRPr>
          </a:p>
        </p:txBody>
      </p:sp>
      <p:sp>
        <p:nvSpPr>
          <p:cNvPr id="328" name="Google Shape;328;p16"/>
          <p:cNvSpPr/>
          <p:nvPr/>
        </p:nvSpPr>
        <p:spPr>
          <a:xfrm>
            <a:off x="502920" y="1883664"/>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29" name="Google Shape;329;p16"/>
          <p:cNvSpPr txBox="1"/>
          <p:nvPr/>
        </p:nvSpPr>
        <p:spPr>
          <a:xfrm>
            <a:off x="822960" y="2075688"/>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1 · imagem</a:t>
            </a:r>
            <a:endParaRPr b="0" i="0" sz="1400" u="none" cap="none" strike="noStrike">
              <a:solidFill>
                <a:srgbClr val="000000"/>
              </a:solidFill>
              <a:latin typeface="Arial"/>
              <a:ea typeface="Arial"/>
              <a:cs typeface="Arial"/>
              <a:sym typeface="Arial"/>
            </a:endParaRPr>
          </a:p>
        </p:txBody>
      </p:sp>
      <p:sp>
        <p:nvSpPr>
          <p:cNvPr id="330" name="Google Shape;330;p16"/>
          <p:cNvSpPr txBox="1"/>
          <p:nvPr/>
        </p:nvSpPr>
        <p:spPr>
          <a:xfrm>
            <a:off x="3383280" y="2121408"/>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uma imagem por repositório</a:t>
            </a:r>
            <a:endParaRPr b="0" i="0" sz="1400" u="none" cap="none" strike="noStrike">
              <a:solidFill>
                <a:srgbClr val="000000"/>
              </a:solidFill>
              <a:latin typeface="Arial"/>
              <a:ea typeface="Arial"/>
              <a:cs typeface="Arial"/>
              <a:sym typeface="Arial"/>
            </a:endParaRPr>
          </a:p>
        </p:txBody>
      </p:sp>
      <p:sp>
        <p:nvSpPr>
          <p:cNvPr id="331" name="Google Shape;331;p16"/>
          <p:cNvSpPr/>
          <p:nvPr/>
        </p:nvSpPr>
        <p:spPr>
          <a:xfrm>
            <a:off x="502920" y="2926080"/>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2" name="Google Shape;332;p16"/>
          <p:cNvSpPr txBox="1"/>
          <p:nvPr/>
        </p:nvSpPr>
        <p:spPr>
          <a:xfrm>
            <a:off x="822960" y="3118104"/>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2 · scanners</a:t>
            </a:r>
            <a:endParaRPr b="0" i="0" sz="1400" u="none" cap="none" strike="noStrike">
              <a:solidFill>
                <a:srgbClr val="000000"/>
              </a:solidFill>
              <a:latin typeface="Arial"/>
              <a:ea typeface="Arial"/>
              <a:cs typeface="Arial"/>
              <a:sym typeface="Arial"/>
            </a:endParaRPr>
          </a:p>
        </p:txBody>
      </p:sp>
      <p:sp>
        <p:nvSpPr>
          <p:cNvPr id="333" name="Google Shape;333;p16"/>
          <p:cNvSpPr txBox="1"/>
          <p:nvPr/>
        </p:nvSpPr>
        <p:spPr>
          <a:xfrm>
            <a:off x="3383280" y="3163824"/>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seis, mesma configuração</a:t>
            </a:r>
            <a:endParaRPr b="0" i="0" sz="1400" u="none" cap="none" strike="noStrike">
              <a:solidFill>
                <a:srgbClr val="000000"/>
              </a:solidFill>
              <a:latin typeface="Arial"/>
              <a:ea typeface="Arial"/>
              <a:cs typeface="Arial"/>
              <a:sym typeface="Arial"/>
            </a:endParaRPr>
          </a:p>
        </p:txBody>
      </p:sp>
      <p:sp>
        <p:nvSpPr>
          <p:cNvPr id="334" name="Google Shape;334;p16"/>
          <p:cNvSpPr/>
          <p:nvPr/>
        </p:nvSpPr>
        <p:spPr>
          <a:xfrm>
            <a:off x="502920" y="3968496"/>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335" name="Google Shape;335;p16"/>
          <p:cNvSpPr txBox="1"/>
          <p:nvPr/>
        </p:nvSpPr>
        <p:spPr>
          <a:xfrm>
            <a:off x="822960" y="4160520"/>
            <a:ext cx="246888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3 · eixos</a:t>
            </a:r>
            <a:endParaRPr b="0" i="0" sz="1400" u="none" cap="none" strike="noStrike">
              <a:solidFill>
                <a:srgbClr val="000000"/>
              </a:solidFill>
              <a:latin typeface="Arial"/>
              <a:ea typeface="Arial"/>
              <a:cs typeface="Arial"/>
              <a:sym typeface="Arial"/>
            </a:endParaRPr>
          </a:p>
        </p:txBody>
      </p:sp>
      <p:sp>
        <p:nvSpPr>
          <p:cNvPr id="336" name="Google Shape;336;p16"/>
          <p:cNvSpPr txBox="1"/>
          <p:nvPr/>
        </p:nvSpPr>
        <p:spPr>
          <a:xfrm>
            <a:off x="3383280" y="4206240"/>
            <a:ext cx="8229600" cy="420624"/>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SBOM, pacote, configuração, segredo</a:t>
            </a:r>
            <a:endParaRPr b="0" i="0" sz="1400" u="none" cap="none" strike="noStrike">
              <a:solidFill>
                <a:srgbClr val="000000"/>
              </a:solidFill>
              <a:latin typeface="Arial"/>
              <a:ea typeface="Arial"/>
              <a:cs typeface="Arial"/>
              <a:sym typeface="Arial"/>
            </a:endParaRPr>
          </a:p>
        </p:txBody>
      </p:sp>
      <p:sp>
        <p:nvSpPr>
          <p:cNvPr id="337" name="Google Shape;337;p16"/>
          <p:cNvSpPr txBox="1"/>
          <p:nvPr/>
        </p:nvSpPr>
        <p:spPr>
          <a:xfrm>
            <a:off x="502920" y="5285231"/>
            <a:ext cx="11155680" cy="4572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As duas amostras mudam só na seleção.</a:t>
            </a:r>
            <a:endParaRPr b="0" i="0" sz="1400" u="none" cap="none" strike="noStrike">
              <a:solidFill>
                <a:srgbClr val="000000"/>
              </a:solidFill>
              <a:latin typeface="Arial"/>
              <a:ea typeface="Arial"/>
              <a:cs typeface="Arial"/>
              <a:sym typeface="Arial"/>
            </a:endParaRPr>
          </a:p>
        </p:txBody>
      </p:sp>
      <p:sp>
        <p:nvSpPr>
          <p:cNvPr id="338" name="Google Shape;338;p16"/>
          <p:cNvSpPr/>
          <p:nvPr/>
        </p:nvSpPr>
        <p:spPr>
          <a:xfrm>
            <a:off x="356616" y="3822191"/>
            <a:ext cx="11494008" cy="1188720"/>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3" name="Shape 343"/>
        <p:cNvGrpSpPr/>
        <p:nvPr/>
      </p:nvGrpSpPr>
      <p:grpSpPr>
        <a:xfrm>
          <a:off x="0" y="0"/>
          <a:ext cx="0" cy="0"/>
          <a:chOff x="0" y="0"/>
          <a:chExt cx="0" cy="0"/>
        </a:xfrm>
      </p:grpSpPr>
      <p:pic>
        <p:nvPicPr>
          <p:cNvPr descr="sbseg2026_rodape.png" id="344" name="Google Shape;344;p1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45" name="Google Shape;345;p17"/>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14</a:t>
            </a:r>
            <a:endParaRPr b="0" i="0" sz="1400" u="none" cap="none" strike="noStrike">
              <a:solidFill>
                <a:srgbClr val="000000"/>
              </a:solidFill>
              <a:latin typeface="Arial"/>
              <a:ea typeface="Arial"/>
              <a:cs typeface="Arial"/>
              <a:sym typeface="Arial"/>
            </a:endParaRPr>
          </a:p>
        </p:txBody>
      </p:sp>
      <p:sp>
        <p:nvSpPr>
          <p:cNvPr id="346" name="Google Shape;346;p17"/>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347" name="Google Shape;347;p17"/>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Eixo de inventário: Syft</a:t>
            </a:r>
            <a:endParaRPr b="0" i="0" sz="1400" u="none" cap="none" strike="noStrike">
              <a:solidFill>
                <a:srgbClr val="000000"/>
              </a:solidFill>
              <a:latin typeface="Arial"/>
              <a:ea typeface="Arial"/>
              <a:cs typeface="Arial"/>
              <a:sym typeface="Arial"/>
            </a:endParaRPr>
          </a:p>
        </p:txBody>
      </p:sp>
      <p:sp>
        <p:nvSpPr>
          <p:cNvPr id="348" name="Google Shape;348;p17"/>
          <p:cNvSpPr/>
          <p:nvPr/>
        </p:nvSpPr>
        <p:spPr>
          <a:xfrm>
            <a:off x="399135"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yft.png" id="349" name="Google Shape;349;p17"/>
          <p:cNvPicPr preferRelativeResize="0"/>
          <p:nvPr/>
        </p:nvPicPr>
        <p:blipFill rotWithShape="1">
          <a:blip r:embed="rId4">
            <a:alphaModFix/>
          </a:blip>
          <a:srcRect b="0" l="0" r="0" t="0"/>
          <a:stretch/>
        </p:blipFill>
        <p:spPr>
          <a:xfrm>
            <a:off x="1845863" y="1819656"/>
            <a:ext cx="672704" cy="896112"/>
          </a:xfrm>
          <a:prstGeom prst="rect">
            <a:avLst/>
          </a:prstGeom>
          <a:noFill/>
          <a:ln>
            <a:noFill/>
          </a:ln>
        </p:spPr>
      </p:pic>
      <p:sp>
        <p:nvSpPr>
          <p:cNvPr id="350" name="Google Shape;350;p17"/>
          <p:cNvSpPr txBox="1"/>
          <p:nvPr/>
        </p:nvSpPr>
        <p:spPr>
          <a:xfrm>
            <a:off x="582015"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Syft</a:t>
            </a:r>
            <a:endParaRPr b="0" i="0" sz="1400" u="none" cap="none" strike="noStrike">
              <a:solidFill>
                <a:srgbClr val="000000"/>
              </a:solidFill>
              <a:latin typeface="Arial"/>
              <a:ea typeface="Arial"/>
              <a:cs typeface="Arial"/>
              <a:sym typeface="Arial"/>
            </a:endParaRPr>
          </a:p>
        </p:txBody>
      </p:sp>
      <p:sp>
        <p:nvSpPr>
          <p:cNvPr id="351" name="Google Shape;351;p17"/>
          <p:cNvSpPr txBox="1"/>
          <p:nvPr/>
        </p:nvSpPr>
        <p:spPr>
          <a:xfrm>
            <a:off x="582015"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inventário</a:t>
            </a:r>
            <a:endParaRPr b="0" i="0" sz="1400" u="none" cap="none" strike="noStrike">
              <a:solidFill>
                <a:srgbClr val="000000"/>
              </a:solidFill>
              <a:latin typeface="Arial"/>
              <a:ea typeface="Arial"/>
              <a:cs typeface="Arial"/>
              <a:sym typeface="Arial"/>
            </a:endParaRPr>
          </a:p>
        </p:txBody>
      </p:sp>
      <p:sp>
        <p:nvSpPr>
          <p:cNvPr id="352" name="Google Shape;352;p17"/>
          <p:cNvSpPr/>
          <p:nvPr/>
        </p:nvSpPr>
        <p:spPr>
          <a:xfrm>
            <a:off x="4312767"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dockle.png" id="353" name="Google Shape;353;p17"/>
          <p:cNvPicPr preferRelativeResize="0"/>
          <p:nvPr/>
        </p:nvPicPr>
        <p:blipFill rotWithShape="1">
          <a:blip r:embed="rId5">
            <a:alphaModFix/>
          </a:blip>
          <a:srcRect b="0" l="0" r="0" t="0"/>
          <a:stretch/>
        </p:blipFill>
        <p:spPr>
          <a:xfrm>
            <a:off x="5673045" y="1819656"/>
            <a:ext cx="845603" cy="896112"/>
          </a:xfrm>
          <a:prstGeom prst="rect">
            <a:avLst/>
          </a:prstGeom>
          <a:noFill/>
          <a:ln>
            <a:noFill/>
          </a:ln>
        </p:spPr>
      </p:pic>
      <p:sp>
        <p:nvSpPr>
          <p:cNvPr id="354" name="Google Shape;354;p17"/>
          <p:cNvSpPr txBox="1"/>
          <p:nvPr/>
        </p:nvSpPr>
        <p:spPr>
          <a:xfrm>
            <a:off x="4495647"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Dockle</a:t>
            </a:r>
            <a:endParaRPr b="0" i="0" sz="1400" u="none" cap="none" strike="noStrike">
              <a:solidFill>
                <a:srgbClr val="000000"/>
              </a:solidFill>
              <a:latin typeface="Arial"/>
              <a:ea typeface="Arial"/>
              <a:cs typeface="Arial"/>
              <a:sym typeface="Arial"/>
            </a:endParaRPr>
          </a:p>
        </p:txBody>
      </p:sp>
      <p:sp>
        <p:nvSpPr>
          <p:cNvPr id="355" name="Google Shape;355;p17"/>
          <p:cNvSpPr txBox="1"/>
          <p:nvPr/>
        </p:nvSpPr>
        <p:spPr>
          <a:xfrm>
            <a:off x="4495647"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configuração</a:t>
            </a:r>
            <a:endParaRPr b="0" i="0" sz="1400" u="none" cap="none" strike="noStrike">
              <a:solidFill>
                <a:srgbClr val="000000"/>
              </a:solidFill>
              <a:latin typeface="Arial"/>
              <a:ea typeface="Arial"/>
              <a:cs typeface="Arial"/>
              <a:sym typeface="Arial"/>
            </a:endParaRPr>
          </a:p>
        </p:txBody>
      </p:sp>
      <p:sp>
        <p:nvSpPr>
          <p:cNvPr id="356" name="Google Shape;356;p17"/>
          <p:cNvSpPr/>
          <p:nvPr/>
        </p:nvSpPr>
        <p:spPr>
          <a:xfrm>
            <a:off x="8226399"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ufflehog.png" id="357" name="Google Shape;357;p17"/>
          <p:cNvPicPr preferRelativeResize="0"/>
          <p:nvPr/>
        </p:nvPicPr>
        <p:blipFill rotWithShape="1">
          <a:blip r:embed="rId6">
            <a:alphaModFix/>
          </a:blip>
          <a:srcRect b="0" l="0" r="0" t="0"/>
          <a:stretch/>
        </p:blipFill>
        <p:spPr>
          <a:xfrm>
            <a:off x="9561423" y="1984729"/>
            <a:ext cx="896112" cy="565965"/>
          </a:xfrm>
          <a:prstGeom prst="rect">
            <a:avLst/>
          </a:prstGeom>
          <a:noFill/>
          <a:ln>
            <a:noFill/>
          </a:ln>
        </p:spPr>
      </p:pic>
      <p:sp>
        <p:nvSpPr>
          <p:cNvPr id="358" name="Google Shape;358;p17"/>
          <p:cNvSpPr txBox="1"/>
          <p:nvPr/>
        </p:nvSpPr>
        <p:spPr>
          <a:xfrm>
            <a:off x="8409279"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TruffleHog</a:t>
            </a:r>
            <a:endParaRPr b="0" i="0" sz="1400" u="none" cap="none" strike="noStrike">
              <a:solidFill>
                <a:srgbClr val="000000"/>
              </a:solidFill>
              <a:latin typeface="Arial"/>
              <a:ea typeface="Arial"/>
              <a:cs typeface="Arial"/>
              <a:sym typeface="Arial"/>
            </a:endParaRPr>
          </a:p>
        </p:txBody>
      </p:sp>
      <p:sp>
        <p:nvSpPr>
          <p:cNvPr id="359" name="Google Shape;359;p17"/>
          <p:cNvSpPr txBox="1"/>
          <p:nvPr/>
        </p:nvSpPr>
        <p:spPr>
          <a:xfrm>
            <a:off x="8409279"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segredos</a:t>
            </a:r>
            <a:endParaRPr b="0" i="0" sz="1400" u="none" cap="none" strike="noStrike">
              <a:solidFill>
                <a:srgbClr val="000000"/>
              </a:solidFill>
              <a:latin typeface="Arial"/>
              <a:ea typeface="Arial"/>
              <a:cs typeface="Arial"/>
              <a:sym typeface="Arial"/>
            </a:endParaRPr>
          </a:p>
        </p:txBody>
      </p:sp>
      <p:sp>
        <p:nvSpPr>
          <p:cNvPr id="360" name="Google Shape;360;p17"/>
          <p:cNvSpPr/>
          <p:nvPr/>
        </p:nvSpPr>
        <p:spPr>
          <a:xfrm>
            <a:off x="399135"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ivy.png" id="361" name="Google Shape;361;p17"/>
          <p:cNvPicPr preferRelativeResize="0"/>
          <p:nvPr/>
        </p:nvPicPr>
        <p:blipFill rotWithShape="1">
          <a:blip r:embed="rId7">
            <a:alphaModFix/>
          </a:blip>
          <a:srcRect b="0" l="0" r="0" t="0"/>
          <a:stretch/>
        </p:blipFill>
        <p:spPr>
          <a:xfrm>
            <a:off x="1734159" y="3941063"/>
            <a:ext cx="896112" cy="896112"/>
          </a:xfrm>
          <a:prstGeom prst="rect">
            <a:avLst/>
          </a:prstGeom>
          <a:noFill/>
          <a:ln>
            <a:noFill/>
          </a:ln>
        </p:spPr>
      </p:pic>
      <p:sp>
        <p:nvSpPr>
          <p:cNvPr id="362" name="Google Shape;362;p17"/>
          <p:cNvSpPr txBox="1"/>
          <p:nvPr/>
        </p:nvSpPr>
        <p:spPr>
          <a:xfrm>
            <a:off x="582015"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Trivy</a:t>
            </a:r>
            <a:endParaRPr b="0" i="0" sz="1400" u="none" cap="none" strike="noStrike">
              <a:solidFill>
                <a:srgbClr val="000000"/>
              </a:solidFill>
              <a:latin typeface="Arial"/>
              <a:ea typeface="Arial"/>
              <a:cs typeface="Arial"/>
              <a:sym typeface="Arial"/>
            </a:endParaRPr>
          </a:p>
        </p:txBody>
      </p:sp>
      <p:sp>
        <p:nvSpPr>
          <p:cNvPr id="363" name="Google Shape;363;p17"/>
          <p:cNvSpPr txBox="1"/>
          <p:nvPr/>
        </p:nvSpPr>
        <p:spPr>
          <a:xfrm>
            <a:off x="582015"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364" name="Google Shape;364;p17"/>
          <p:cNvSpPr/>
          <p:nvPr/>
        </p:nvSpPr>
        <p:spPr>
          <a:xfrm>
            <a:off x="4312767"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grype.png" id="365" name="Google Shape;365;p17"/>
          <p:cNvPicPr preferRelativeResize="0"/>
          <p:nvPr/>
        </p:nvPicPr>
        <p:blipFill rotWithShape="1">
          <a:blip r:embed="rId8">
            <a:alphaModFix/>
          </a:blip>
          <a:srcRect b="0" l="0" r="0" t="0"/>
          <a:stretch/>
        </p:blipFill>
        <p:spPr>
          <a:xfrm>
            <a:off x="5799674" y="3941063"/>
            <a:ext cx="592345" cy="896112"/>
          </a:xfrm>
          <a:prstGeom prst="rect">
            <a:avLst/>
          </a:prstGeom>
          <a:noFill/>
          <a:ln>
            <a:noFill/>
          </a:ln>
        </p:spPr>
      </p:pic>
      <p:sp>
        <p:nvSpPr>
          <p:cNvPr id="366" name="Google Shape;366;p17"/>
          <p:cNvSpPr txBox="1"/>
          <p:nvPr/>
        </p:nvSpPr>
        <p:spPr>
          <a:xfrm>
            <a:off x="4495647"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Grype</a:t>
            </a:r>
            <a:endParaRPr b="0" i="0" sz="1400" u="none" cap="none" strike="noStrike">
              <a:solidFill>
                <a:srgbClr val="000000"/>
              </a:solidFill>
              <a:latin typeface="Arial"/>
              <a:ea typeface="Arial"/>
              <a:cs typeface="Arial"/>
              <a:sym typeface="Arial"/>
            </a:endParaRPr>
          </a:p>
        </p:txBody>
      </p:sp>
      <p:sp>
        <p:nvSpPr>
          <p:cNvPr id="367" name="Google Shape;367;p17"/>
          <p:cNvSpPr txBox="1"/>
          <p:nvPr/>
        </p:nvSpPr>
        <p:spPr>
          <a:xfrm>
            <a:off x="4495647"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368" name="Google Shape;368;p17"/>
          <p:cNvSpPr/>
          <p:nvPr/>
        </p:nvSpPr>
        <p:spPr>
          <a:xfrm>
            <a:off x="8226399"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osv-icon.png" id="369" name="Google Shape;369;p17"/>
          <p:cNvPicPr preferRelativeResize="0"/>
          <p:nvPr/>
        </p:nvPicPr>
        <p:blipFill rotWithShape="1">
          <a:blip r:embed="rId9">
            <a:alphaModFix/>
          </a:blip>
          <a:srcRect b="0" l="0" r="0" t="0"/>
          <a:stretch/>
        </p:blipFill>
        <p:spPr>
          <a:xfrm>
            <a:off x="9561423" y="3941063"/>
            <a:ext cx="896112" cy="896112"/>
          </a:xfrm>
          <a:prstGeom prst="rect">
            <a:avLst/>
          </a:prstGeom>
          <a:noFill/>
          <a:ln>
            <a:noFill/>
          </a:ln>
        </p:spPr>
      </p:pic>
      <p:sp>
        <p:nvSpPr>
          <p:cNvPr id="370" name="Google Shape;370;p17"/>
          <p:cNvSpPr txBox="1"/>
          <p:nvPr/>
        </p:nvSpPr>
        <p:spPr>
          <a:xfrm>
            <a:off x="8409279"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OSV</a:t>
            </a:r>
            <a:endParaRPr b="0" i="0" sz="1400" u="none" cap="none" strike="noStrike">
              <a:solidFill>
                <a:srgbClr val="000000"/>
              </a:solidFill>
              <a:latin typeface="Arial"/>
              <a:ea typeface="Arial"/>
              <a:cs typeface="Arial"/>
              <a:sym typeface="Arial"/>
            </a:endParaRPr>
          </a:p>
        </p:txBody>
      </p:sp>
      <p:sp>
        <p:nvSpPr>
          <p:cNvPr id="371" name="Google Shape;371;p17"/>
          <p:cNvSpPr txBox="1"/>
          <p:nvPr/>
        </p:nvSpPr>
        <p:spPr>
          <a:xfrm>
            <a:off x="8409279"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372" name="Google Shape;372;p17"/>
          <p:cNvSpPr/>
          <p:nvPr/>
        </p:nvSpPr>
        <p:spPr>
          <a:xfrm>
            <a:off x="252831" y="1545336"/>
            <a:ext cx="3858768" cy="2395727"/>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7" name="Shape 377"/>
        <p:cNvGrpSpPr/>
        <p:nvPr/>
      </p:nvGrpSpPr>
      <p:grpSpPr>
        <a:xfrm>
          <a:off x="0" y="0"/>
          <a:ext cx="0" cy="0"/>
          <a:chOff x="0" y="0"/>
          <a:chExt cx="0" cy="0"/>
        </a:xfrm>
      </p:grpSpPr>
      <p:pic>
        <p:nvPicPr>
          <p:cNvPr descr="sbseg2026_rodape.png" id="378" name="Google Shape;378;p1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379" name="Google Shape;379;p18"/>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15</a:t>
            </a:r>
            <a:endParaRPr b="0" i="0" sz="1400" u="none" cap="none" strike="noStrike">
              <a:solidFill>
                <a:srgbClr val="000000"/>
              </a:solidFill>
              <a:latin typeface="Arial"/>
              <a:ea typeface="Arial"/>
              <a:cs typeface="Arial"/>
              <a:sym typeface="Arial"/>
            </a:endParaRPr>
          </a:p>
        </p:txBody>
      </p:sp>
      <p:sp>
        <p:nvSpPr>
          <p:cNvPr id="380" name="Google Shape;380;p18"/>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381" name="Google Shape;381;p18"/>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Eixo de vulnerabilidade: três scanners</a:t>
            </a:r>
            <a:endParaRPr b="0" i="0" sz="1400" u="none" cap="none" strike="noStrike">
              <a:solidFill>
                <a:srgbClr val="000000"/>
              </a:solidFill>
              <a:latin typeface="Arial"/>
              <a:ea typeface="Arial"/>
              <a:cs typeface="Arial"/>
              <a:sym typeface="Arial"/>
            </a:endParaRPr>
          </a:p>
        </p:txBody>
      </p:sp>
      <p:sp>
        <p:nvSpPr>
          <p:cNvPr id="382" name="Google Shape;382;p18"/>
          <p:cNvSpPr/>
          <p:nvPr/>
        </p:nvSpPr>
        <p:spPr>
          <a:xfrm>
            <a:off x="399135"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yft.png" id="383" name="Google Shape;383;p18"/>
          <p:cNvPicPr preferRelativeResize="0"/>
          <p:nvPr/>
        </p:nvPicPr>
        <p:blipFill rotWithShape="1">
          <a:blip r:embed="rId4">
            <a:alphaModFix/>
          </a:blip>
          <a:srcRect b="0" l="0" r="0" t="0"/>
          <a:stretch/>
        </p:blipFill>
        <p:spPr>
          <a:xfrm>
            <a:off x="1845863" y="1819656"/>
            <a:ext cx="672704" cy="896112"/>
          </a:xfrm>
          <a:prstGeom prst="rect">
            <a:avLst/>
          </a:prstGeom>
          <a:noFill/>
          <a:ln>
            <a:noFill/>
          </a:ln>
        </p:spPr>
      </p:pic>
      <p:sp>
        <p:nvSpPr>
          <p:cNvPr id="384" name="Google Shape;384;p18"/>
          <p:cNvSpPr txBox="1"/>
          <p:nvPr/>
        </p:nvSpPr>
        <p:spPr>
          <a:xfrm>
            <a:off x="582015"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Syft</a:t>
            </a:r>
            <a:endParaRPr b="0" i="0" sz="1400" u="none" cap="none" strike="noStrike">
              <a:solidFill>
                <a:srgbClr val="000000"/>
              </a:solidFill>
              <a:latin typeface="Arial"/>
              <a:ea typeface="Arial"/>
              <a:cs typeface="Arial"/>
              <a:sym typeface="Arial"/>
            </a:endParaRPr>
          </a:p>
        </p:txBody>
      </p:sp>
      <p:sp>
        <p:nvSpPr>
          <p:cNvPr id="385" name="Google Shape;385;p18"/>
          <p:cNvSpPr txBox="1"/>
          <p:nvPr/>
        </p:nvSpPr>
        <p:spPr>
          <a:xfrm>
            <a:off x="582015"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inventário</a:t>
            </a:r>
            <a:endParaRPr b="0" i="0" sz="1400" u="none" cap="none" strike="noStrike">
              <a:solidFill>
                <a:srgbClr val="000000"/>
              </a:solidFill>
              <a:latin typeface="Arial"/>
              <a:ea typeface="Arial"/>
              <a:cs typeface="Arial"/>
              <a:sym typeface="Arial"/>
            </a:endParaRPr>
          </a:p>
        </p:txBody>
      </p:sp>
      <p:sp>
        <p:nvSpPr>
          <p:cNvPr id="386" name="Google Shape;386;p18"/>
          <p:cNvSpPr/>
          <p:nvPr/>
        </p:nvSpPr>
        <p:spPr>
          <a:xfrm>
            <a:off x="4312767"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dockle.png" id="387" name="Google Shape;387;p18"/>
          <p:cNvPicPr preferRelativeResize="0"/>
          <p:nvPr/>
        </p:nvPicPr>
        <p:blipFill rotWithShape="1">
          <a:blip r:embed="rId5">
            <a:alphaModFix/>
          </a:blip>
          <a:srcRect b="0" l="0" r="0" t="0"/>
          <a:stretch/>
        </p:blipFill>
        <p:spPr>
          <a:xfrm>
            <a:off x="5673045" y="1819656"/>
            <a:ext cx="845603" cy="896112"/>
          </a:xfrm>
          <a:prstGeom prst="rect">
            <a:avLst/>
          </a:prstGeom>
          <a:noFill/>
          <a:ln>
            <a:noFill/>
          </a:ln>
        </p:spPr>
      </p:pic>
      <p:sp>
        <p:nvSpPr>
          <p:cNvPr id="388" name="Google Shape;388;p18"/>
          <p:cNvSpPr txBox="1"/>
          <p:nvPr/>
        </p:nvSpPr>
        <p:spPr>
          <a:xfrm>
            <a:off x="4495647"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Dockle</a:t>
            </a:r>
            <a:endParaRPr b="0" i="0" sz="1400" u="none" cap="none" strike="noStrike">
              <a:solidFill>
                <a:srgbClr val="000000"/>
              </a:solidFill>
              <a:latin typeface="Arial"/>
              <a:ea typeface="Arial"/>
              <a:cs typeface="Arial"/>
              <a:sym typeface="Arial"/>
            </a:endParaRPr>
          </a:p>
        </p:txBody>
      </p:sp>
      <p:sp>
        <p:nvSpPr>
          <p:cNvPr id="389" name="Google Shape;389;p18"/>
          <p:cNvSpPr txBox="1"/>
          <p:nvPr/>
        </p:nvSpPr>
        <p:spPr>
          <a:xfrm>
            <a:off x="4495647"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configuração</a:t>
            </a:r>
            <a:endParaRPr b="0" i="0" sz="1400" u="none" cap="none" strike="noStrike">
              <a:solidFill>
                <a:srgbClr val="000000"/>
              </a:solidFill>
              <a:latin typeface="Arial"/>
              <a:ea typeface="Arial"/>
              <a:cs typeface="Arial"/>
              <a:sym typeface="Arial"/>
            </a:endParaRPr>
          </a:p>
        </p:txBody>
      </p:sp>
      <p:sp>
        <p:nvSpPr>
          <p:cNvPr id="390" name="Google Shape;390;p18"/>
          <p:cNvSpPr/>
          <p:nvPr/>
        </p:nvSpPr>
        <p:spPr>
          <a:xfrm>
            <a:off x="8226399"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ufflehog.png" id="391" name="Google Shape;391;p18"/>
          <p:cNvPicPr preferRelativeResize="0"/>
          <p:nvPr/>
        </p:nvPicPr>
        <p:blipFill rotWithShape="1">
          <a:blip r:embed="rId6">
            <a:alphaModFix/>
          </a:blip>
          <a:srcRect b="0" l="0" r="0" t="0"/>
          <a:stretch/>
        </p:blipFill>
        <p:spPr>
          <a:xfrm>
            <a:off x="9561423" y="1984729"/>
            <a:ext cx="896112" cy="565965"/>
          </a:xfrm>
          <a:prstGeom prst="rect">
            <a:avLst/>
          </a:prstGeom>
          <a:noFill/>
          <a:ln>
            <a:noFill/>
          </a:ln>
        </p:spPr>
      </p:pic>
      <p:sp>
        <p:nvSpPr>
          <p:cNvPr id="392" name="Google Shape;392;p18"/>
          <p:cNvSpPr txBox="1"/>
          <p:nvPr/>
        </p:nvSpPr>
        <p:spPr>
          <a:xfrm>
            <a:off x="8409279"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TruffleHog</a:t>
            </a:r>
            <a:endParaRPr b="0" i="0" sz="1400" u="none" cap="none" strike="noStrike">
              <a:solidFill>
                <a:srgbClr val="000000"/>
              </a:solidFill>
              <a:latin typeface="Arial"/>
              <a:ea typeface="Arial"/>
              <a:cs typeface="Arial"/>
              <a:sym typeface="Arial"/>
            </a:endParaRPr>
          </a:p>
        </p:txBody>
      </p:sp>
      <p:sp>
        <p:nvSpPr>
          <p:cNvPr id="393" name="Google Shape;393;p18"/>
          <p:cNvSpPr txBox="1"/>
          <p:nvPr/>
        </p:nvSpPr>
        <p:spPr>
          <a:xfrm>
            <a:off x="8409279"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segredos</a:t>
            </a:r>
            <a:endParaRPr b="0" i="0" sz="1400" u="none" cap="none" strike="noStrike">
              <a:solidFill>
                <a:srgbClr val="000000"/>
              </a:solidFill>
              <a:latin typeface="Arial"/>
              <a:ea typeface="Arial"/>
              <a:cs typeface="Arial"/>
              <a:sym typeface="Arial"/>
            </a:endParaRPr>
          </a:p>
        </p:txBody>
      </p:sp>
      <p:sp>
        <p:nvSpPr>
          <p:cNvPr id="394" name="Google Shape;394;p18"/>
          <p:cNvSpPr/>
          <p:nvPr/>
        </p:nvSpPr>
        <p:spPr>
          <a:xfrm>
            <a:off x="399135"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ivy.png" id="395" name="Google Shape;395;p18"/>
          <p:cNvPicPr preferRelativeResize="0"/>
          <p:nvPr/>
        </p:nvPicPr>
        <p:blipFill rotWithShape="1">
          <a:blip r:embed="rId7">
            <a:alphaModFix/>
          </a:blip>
          <a:srcRect b="0" l="0" r="0" t="0"/>
          <a:stretch/>
        </p:blipFill>
        <p:spPr>
          <a:xfrm>
            <a:off x="1734159" y="3941063"/>
            <a:ext cx="896112" cy="896112"/>
          </a:xfrm>
          <a:prstGeom prst="rect">
            <a:avLst/>
          </a:prstGeom>
          <a:noFill/>
          <a:ln>
            <a:noFill/>
          </a:ln>
        </p:spPr>
      </p:pic>
      <p:sp>
        <p:nvSpPr>
          <p:cNvPr id="396" name="Google Shape;396;p18"/>
          <p:cNvSpPr txBox="1"/>
          <p:nvPr/>
        </p:nvSpPr>
        <p:spPr>
          <a:xfrm>
            <a:off x="582015"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Trivy</a:t>
            </a:r>
            <a:endParaRPr b="0" i="0" sz="1400" u="none" cap="none" strike="noStrike">
              <a:solidFill>
                <a:srgbClr val="000000"/>
              </a:solidFill>
              <a:latin typeface="Arial"/>
              <a:ea typeface="Arial"/>
              <a:cs typeface="Arial"/>
              <a:sym typeface="Arial"/>
            </a:endParaRPr>
          </a:p>
        </p:txBody>
      </p:sp>
      <p:sp>
        <p:nvSpPr>
          <p:cNvPr id="397" name="Google Shape;397;p18"/>
          <p:cNvSpPr txBox="1"/>
          <p:nvPr/>
        </p:nvSpPr>
        <p:spPr>
          <a:xfrm>
            <a:off x="582015"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398" name="Google Shape;398;p18"/>
          <p:cNvSpPr/>
          <p:nvPr/>
        </p:nvSpPr>
        <p:spPr>
          <a:xfrm>
            <a:off x="4312767"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grype.png" id="399" name="Google Shape;399;p18"/>
          <p:cNvPicPr preferRelativeResize="0"/>
          <p:nvPr/>
        </p:nvPicPr>
        <p:blipFill rotWithShape="1">
          <a:blip r:embed="rId8">
            <a:alphaModFix/>
          </a:blip>
          <a:srcRect b="0" l="0" r="0" t="0"/>
          <a:stretch/>
        </p:blipFill>
        <p:spPr>
          <a:xfrm>
            <a:off x="5799674" y="3941063"/>
            <a:ext cx="592345" cy="896112"/>
          </a:xfrm>
          <a:prstGeom prst="rect">
            <a:avLst/>
          </a:prstGeom>
          <a:noFill/>
          <a:ln>
            <a:noFill/>
          </a:ln>
        </p:spPr>
      </p:pic>
      <p:sp>
        <p:nvSpPr>
          <p:cNvPr id="400" name="Google Shape;400;p18"/>
          <p:cNvSpPr txBox="1"/>
          <p:nvPr/>
        </p:nvSpPr>
        <p:spPr>
          <a:xfrm>
            <a:off x="4495647"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Grype</a:t>
            </a:r>
            <a:endParaRPr b="0" i="0" sz="1400" u="none" cap="none" strike="noStrike">
              <a:solidFill>
                <a:srgbClr val="000000"/>
              </a:solidFill>
              <a:latin typeface="Arial"/>
              <a:ea typeface="Arial"/>
              <a:cs typeface="Arial"/>
              <a:sym typeface="Arial"/>
            </a:endParaRPr>
          </a:p>
        </p:txBody>
      </p:sp>
      <p:sp>
        <p:nvSpPr>
          <p:cNvPr id="401" name="Google Shape;401;p18"/>
          <p:cNvSpPr txBox="1"/>
          <p:nvPr/>
        </p:nvSpPr>
        <p:spPr>
          <a:xfrm>
            <a:off x="4495647"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02" name="Google Shape;402;p18"/>
          <p:cNvSpPr/>
          <p:nvPr/>
        </p:nvSpPr>
        <p:spPr>
          <a:xfrm>
            <a:off x="8226399"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osv-icon.png" id="403" name="Google Shape;403;p18"/>
          <p:cNvPicPr preferRelativeResize="0"/>
          <p:nvPr/>
        </p:nvPicPr>
        <p:blipFill rotWithShape="1">
          <a:blip r:embed="rId9">
            <a:alphaModFix/>
          </a:blip>
          <a:srcRect b="0" l="0" r="0" t="0"/>
          <a:stretch/>
        </p:blipFill>
        <p:spPr>
          <a:xfrm>
            <a:off x="9561423" y="3941063"/>
            <a:ext cx="896112" cy="896112"/>
          </a:xfrm>
          <a:prstGeom prst="rect">
            <a:avLst/>
          </a:prstGeom>
          <a:noFill/>
          <a:ln>
            <a:noFill/>
          </a:ln>
        </p:spPr>
      </p:pic>
      <p:sp>
        <p:nvSpPr>
          <p:cNvPr id="404" name="Google Shape;404;p18"/>
          <p:cNvSpPr txBox="1"/>
          <p:nvPr/>
        </p:nvSpPr>
        <p:spPr>
          <a:xfrm>
            <a:off x="8409279"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OSV</a:t>
            </a:r>
            <a:endParaRPr b="0" i="0" sz="1400" u="none" cap="none" strike="noStrike">
              <a:solidFill>
                <a:srgbClr val="000000"/>
              </a:solidFill>
              <a:latin typeface="Arial"/>
              <a:ea typeface="Arial"/>
              <a:cs typeface="Arial"/>
              <a:sym typeface="Arial"/>
            </a:endParaRPr>
          </a:p>
        </p:txBody>
      </p:sp>
      <p:sp>
        <p:nvSpPr>
          <p:cNvPr id="405" name="Google Shape;405;p18"/>
          <p:cNvSpPr txBox="1"/>
          <p:nvPr/>
        </p:nvSpPr>
        <p:spPr>
          <a:xfrm>
            <a:off x="8409279"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06" name="Google Shape;406;p18"/>
          <p:cNvSpPr/>
          <p:nvPr/>
        </p:nvSpPr>
        <p:spPr>
          <a:xfrm>
            <a:off x="252831" y="3666744"/>
            <a:ext cx="11686032" cy="2395727"/>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1" name="Shape 411"/>
        <p:cNvGrpSpPr/>
        <p:nvPr/>
      </p:nvGrpSpPr>
      <p:grpSpPr>
        <a:xfrm>
          <a:off x="0" y="0"/>
          <a:ext cx="0" cy="0"/>
          <a:chOff x="0" y="0"/>
          <a:chExt cx="0" cy="0"/>
        </a:xfrm>
      </p:grpSpPr>
      <p:pic>
        <p:nvPicPr>
          <p:cNvPr descr="sbseg2026_rodape.png" id="412" name="Google Shape;412;p1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13" name="Google Shape;413;p19"/>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16</a:t>
            </a:r>
            <a:endParaRPr b="0" i="0" sz="1400" u="none" cap="none" strike="noStrike">
              <a:solidFill>
                <a:srgbClr val="000000"/>
              </a:solidFill>
              <a:latin typeface="Arial"/>
              <a:ea typeface="Arial"/>
              <a:cs typeface="Arial"/>
              <a:sym typeface="Arial"/>
            </a:endParaRPr>
          </a:p>
        </p:txBody>
      </p:sp>
      <p:sp>
        <p:nvSpPr>
          <p:cNvPr id="414" name="Google Shape;414;p19"/>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415" name="Google Shape;415;p19"/>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Eixo de configuração: Dockle</a:t>
            </a:r>
            <a:endParaRPr b="0" i="0" sz="1400" u="none" cap="none" strike="noStrike">
              <a:solidFill>
                <a:srgbClr val="000000"/>
              </a:solidFill>
              <a:latin typeface="Arial"/>
              <a:ea typeface="Arial"/>
              <a:cs typeface="Arial"/>
              <a:sym typeface="Arial"/>
            </a:endParaRPr>
          </a:p>
        </p:txBody>
      </p:sp>
      <p:sp>
        <p:nvSpPr>
          <p:cNvPr id="416" name="Google Shape;416;p19"/>
          <p:cNvSpPr/>
          <p:nvPr/>
        </p:nvSpPr>
        <p:spPr>
          <a:xfrm>
            <a:off x="399135"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yft.png" id="417" name="Google Shape;417;p19"/>
          <p:cNvPicPr preferRelativeResize="0"/>
          <p:nvPr/>
        </p:nvPicPr>
        <p:blipFill rotWithShape="1">
          <a:blip r:embed="rId4">
            <a:alphaModFix/>
          </a:blip>
          <a:srcRect b="0" l="0" r="0" t="0"/>
          <a:stretch/>
        </p:blipFill>
        <p:spPr>
          <a:xfrm>
            <a:off x="1845863" y="1819656"/>
            <a:ext cx="672704" cy="896112"/>
          </a:xfrm>
          <a:prstGeom prst="rect">
            <a:avLst/>
          </a:prstGeom>
          <a:noFill/>
          <a:ln>
            <a:noFill/>
          </a:ln>
        </p:spPr>
      </p:pic>
      <p:sp>
        <p:nvSpPr>
          <p:cNvPr id="418" name="Google Shape;418;p19"/>
          <p:cNvSpPr txBox="1"/>
          <p:nvPr/>
        </p:nvSpPr>
        <p:spPr>
          <a:xfrm>
            <a:off x="582015"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Syft</a:t>
            </a:r>
            <a:endParaRPr b="0" i="0" sz="1400" u="none" cap="none" strike="noStrike">
              <a:solidFill>
                <a:srgbClr val="000000"/>
              </a:solidFill>
              <a:latin typeface="Arial"/>
              <a:ea typeface="Arial"/>
              <a:cs typeface="Arial"/>
              <a:sym typeface="Arial"/>
            </a:endParaRPr>
          </a:p>
        </p:txBody>
      </p:sp>
      <p:sp>
        <p:nvSpPr>
          <p:cNvPr id="419" name="Google Shape;419;p19"/>
          <p:cNvSpPr txBox="1"/>
          <p:nvPr/>
        </p:nvSpPr>
        <p:spPr>
          <a:xfrm>
            <a:off x="582015"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inventário</a:t>
            </a:r>
            <a:endParaRPr b="0" i="0" sz="1400" u="none" cap="none" strike="noStrike">
              <a:solidFill>
                <a:srgbClr val="000000"/>
              </a:solidFill>
              <a:latin typeface="Arial"/>
              <a:ea typeface="Arial"/>
              <a:cs typeface="Arial"/>
              <a:sym typeface="Arial"/>
            </a:endParaRPr>
          </a:p>
        </p:txBody>
      </p:sp>
      <p:sp>
        <p:nvSpPr>
          <p:cNvPr id="420" name="Google Shape;420;p19"/>
          <p:cNvSpPr/>
          <p:nvPr/>
        </p:nvSpPr>
        <p:spPr>
          <a:xfrm>
            <a:off x="4312767"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dockle.png" id="421" name="Google Shape;421;p19"/>
          <p:cNvPicPr preferRelativeResize="0"/>
          <p:nvPr/>
        </p:nvPicPr>
        <p:blipFill rotWithShape="1">
          <a:blip r:embed="rId5">
            <a:alphaModFix/>
          </a:blip>
          <a:srcRect b="0" l="0" r="0" t="0"/>
          <a:stretch/>
        </p:blipFill>
        <p:spPr>
          <a:xfrm>
            <a:off x="5673045" y="1819656"/>
            <a:ext cx="845603" cy="896112"/>
          </a:xfrm>
          <a:prstGeom prst="rect">
            <a:avLst/>
          </a:prstGeom>
          <a:noFill/>
          <a:ln>
            <a:noFill/>
          </a:ln>
        </p:spPr>
      </p:pic>
      <p:sp>
        <p:nvSpPr>
          <p:cNvPr id="422" name="Google Shape;422;p19"/>
          <p:cNvSpPr txBox="1"/>
          <p:nvPr/>
        </p:nvSpPr>
        <p:spPr>
          <a:xfrm>
            <a:off x="4495647"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Dockle</a:t>
            </a:r>
            <a:endParaRPr b="0" i="0" sz="1400" u="none" cap="none" strike="noStrike">
              <a:solidFill>
                <a:srgbClr val="000000"/>
              </a:solidFill>
              <a:latin typeface="Arial"/>
              <a:ea typeface="Arial"/>
              <a:cs typeface="Arial"/>
              <a:sym typeface="Arial"/>
            </a:endParaRPr>
          </a:p>
        </p:txBody>
      </p:sp>
      <p:sp>
        <p:nvSpPr>
          <p:cNvPr id="423" name="Google Shape;423;p19"/>
          <p:cNvSpPr txBox="1"/>
          <p:nvPr/>
        </p:nvSpPr>
        <p:spPr>
          <a:xfrm>
            <a:off x="4495647"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configuração</a:t>
            </a:r>
            <a:endParaRPr b="0" i="0" sz="1400" u="none" cap="none" strike="noStrike">
              <a:solidFill>
                <a:srgbClr val="000000"/>
              </a:solidFill>
              <a:latin typeface="Arial"/>
              <a:ea typeface="Arial"/>
              <a:cs typeface="Arial"/>
              <a:sym typeface="Arial"/>
            </a:endParaRPr>
          </a:p>
        </p:txBody>
      </p:sp>
      <p:sp>
        <p:nvSpPr>
          <p:cNvPr id="424" name="Google Shape;424;p19"/>
          <p:cNvSpPr/>
          <p:nvPr/>
        </p:nvSpPr>
        <p:spPr>
          <a:xfrm>
            <a:off x="8226399"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ufflehog.png" id="425" name="Google Shape;425;p19"/>
          <p:cNvPicPr preferRelativeResize="0"/>
          <p:nvPr/>
        </p:nvPicPr>
        <p:blipFill rotWithShape="1">
          <a:blip r:embed="rId6">
            <a:alphaModFix/>
          </a:blip>
          <a:srcRect b="0" l="0" r="0" t="0"/>
          <a:stretch/>
        </p:blipFill>
        <p:spPr>
          <a:xfrm>
            <a:off x="9561423" y="1984729"/>
            <a:ext cx="896112" cy="565965"/>
          </a:xfrm>
          <a:prstGeom prst="rect">
            <a:avLst/>
          </a:prstGeom>
          <a:noFill/>
          <a:ln>
            <a:noFill/>
          </a:ln>
        </p:spPr>
      </p:pic>
      <p:sp>
        <p:nvSpPr>
          <p:cNvPr id="426" name="Google Shape;426;p19"/>
          <p:cNvSpPr txBox="1"/>
          <p:nvPr/>
        </p:nvSpPr>
        <p:spPr>
          <a:xfrm>
            <a:off x="8409279"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TruffleHog</a:t>
            </a:r>
            <a:endParaRPr b="0" i="0" sz="1400" u="none" cap="none" strike="noStrike">
              <a:solidFill>
                <a:srgbClr val="000000"/>
              </a:solidFill>
              <a:latin typeface="Arial"/>
              <a:ea typeface="Arial"/>
              <a:cs typeface="Arial"/>
              <a:sym typeface="Arial"/>
            </a:endParaRPr>
          </a:p>
        </p:txBody>
      </p:sp>
      <p:sp>
        <p:nvSpPr>
          <p:cNvPr id="427" name="Google Shape;427;p19"/>
          <p:cNvSpPr txBox="1"/>
          <p:nvPr/>
        </p:nvSpPr>
        <p:spPr>
          <a:xfrm>
            <a:off x="8409279"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segredos</a:t>
            </a:r>
            <a:endParaRPr b="0" i="0" sz="1400" u="none" cap="none" strike="noStrike">
              <a:solidFill>
                <a:srgbClr val="000000"/>
              </a:solidFill>
              <a:latin typeface="Arial"/>
              <a:ea typeface="Arial"/>
              <a:cs typeface="Arial"/>
              <a:sym typeface="Arial"/>
            </a:endParaRPr>
          </a:p>
        </p:txBody>
      </p:sp>
      <p:sp>
        <p:nvSpPr>
          <p:cNvPr id="428" name="Google Shape;428;p19"/>
          <p:cNvSpPr/>
          <p:nvPr/>
        </p:nvSpPr>
        <p:spPr>
          <a:xfrm>
            <a:off x="399135"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ivy.png" id="429" name="Google Shape;429;p19"/>
          <p:cNvPicPr preferRelativeResize="0"/>
          <p:nvPr/>
        </p:nvPicPr>
        <p:blipFill rotWithShape="1">
          <a:blip r:embed="rId7">
            <a:alphaModFix/>
          </a:blip>
          <a:srcRect b="0" l="0" r="0" t="0"/>
          <a:stretch/>
        </p:blipFill>
        <p:spPr>
          <a:xfrm>
            <a:off x="1734159" y="3941063"/>
            <a:ext cx="896112" cy="896112"/>
          </a:xfrm>
          <a:prstGeom prst="rect">
            <a:avLst/>
          </a:prstGeom>
          <a:noFill/>
          <a:ln>
            <a:noFill/>
          </a:ln>
        </p:spPr>
      </p:pic>
      <p:sp>
        <p:nvSpPr>
          <p:cNvPr id="430" name="Google Shape;430;p19"/>
          <p:cNvSpPr txBox="1"/>
          <p:nvPr/>
        </p:nvSpPr>
        <p:spPr>
          <a:xfrm>
            <a:off x="582015"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Trivy</a:t>
            </a:r>
            <a:endParaRPr b="0" i="0" sz="1400" u="none" cap="none" strike="noStrike">
              <a:solidFill>
                <a:srgbClr val="000000"/>
              </a:solidFill>
              <a:latin typeface="Arial"/>
              <a:ea typeface="Arial"/>
              <a:cs typeface="Arial"/>
              <a:sym typeface="Arial"/>
            </a:endParaRPr>
          </a:p>
        </p:txBody>
      </p:sp>
      <p:sp>
        <p:nvSpPr>
          <p:cNvPr id="431" name="Google Shape;431;p19"/>
          <p:cNvSpPr txBox="1"/>
          <p:nvPr/>
        </p:nvSpPr>
        <p:spPr>
          <a:xfrm>
            <a:off x="582015"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32" name="Google Shape;432;p19"/>
          <p:cNvSpPr/>
          <p:nvPr/>
        </p:nvSpPr>
        <p:spPr>
          <a:xfrm>
            <a:off x="4312767"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grype.png" id="433" name="Google Shape;433;p19"/>
          <p:cNvPicPr preferRelativeResize="0"/>
          <p:nvPr/>
        </p:nvPicPr>
        <p:blipFill rotWithShape="1">
          <a:blip r:embed="rId8">
            <a:alphaModFix/>
          </a:blip>
          <a:srcRect b="0" l="0" r="0" t="0"/>
          <a:stretch/>
        </p:blipFill>
        <p:spPr>
          <a:xfrm>
            <a:off x="5799674" y="3941063"/>
            <a:ext cx="592345" cy="896112"/>
          </a:xfrm>
          <a:prstGeom prst="rect">
            <a:avLst/>
          </a:prstGeom>
          <a:noFill/>
          <a:ln>
            <a:noFill/>
          </a:ln>
        </p:spPr>
      </p:pic>
      <p:sp>
        <p:nvSpPr>
          <p:cNvPr id="434" name="Google Shape;434;p19"/>
          <p:cNvSpPr txBox="1"/>
          <p:nvPr/>
        </p:nvSpPr>
        <p:spPr>
          <a:xfrm>
            <a:off x="4495647"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Grype</a:t>
            </a:r>
            <a:endParaRPr b="0" i="0" sz="1400" u="none" cap="none" strike="noStrike">
              <a:solidFill>
                <a:srgbClr val="000000"/>
              </a:solidFill>
              <a:latin typeface="Arial"/>
              <a:ea typeface="Arial"/>
              <a:cs typeface="Arial"/>
              <a:sym typeface="Arial"/>
            </a:endParaRPr>
          </a:p>
        </p:txBody>
      </p:sp>
      <p:sp>
        <p:nvSpPr>
          <p:cNvPr id="435" name="Google Shape;435;p19"/>
          <p:cNvSpPr txBox="1"/>
          <p:nvPr/>
        </p:nvSpPr>
        <p:spPr>
          <a:xfrm>
            <a:off x="4495647"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36" name="Google Shape;436;p19"/>
          <p:cNvSpPr/>
          <p:nvPr/>
        </p:nvSpPr>
        <p:spPr>
          <a:xfrm>
            <a:off x="8226399"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osv-icon.png" id="437" name="Google Shape;437;p19"/>
          <p:cNvPicPr preferRelativeResize="0"/>
          <p:nvPr/>
        </p:nvPicPr>
        <p:blipFill rotWithShape="1">
          <a:blip r:embed="rId9">
            <a:alphaModFix/>
          </a:blip>
          <a:srcRect b="0" l="0" r="0" t="0"/>
          <a:stretch/>
        </p:blipFill>
        <p:spPr>
          <a:xfrm>
            <a:off x="9561423" y="3941063"/>
            <a:ext cx="896112" cy="896112"/>
          </a:xfrm>
          <a:prstGeom prst="rect">
            <a:avLst/>
          </a:prstGeom>
          <a:noFill/>
          <a:ln>
            <a:noFill/>
          </a:ln>
        </p:spPr>
      </p:pic>
      <p:sp>
        <p:nvSpPr>
          <p:cNvPr id="438" name="Google Shape;438;p19"/>
          <p:cNvSpPr txBox="1"/>
          <p:nvPr/>
        </p:nvSpPr>
        <p:spPr>
          <a:xfrm>
            <a:off x="8409279"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OSV</a:t>
            </a:r>
            <a:endParaRPr b="0" i="0" sz="1400" u="none" cap="none" strike="noStrike">
              <a:solidFill>
                <a:srgbClr val="000000"/>
              </a:solidFill>
              <a:latin typeface="Arial"/>
              <a:ea typeface="Arial"/>
              <a:cs typeface="Arial"/>
              <a:sym typeface="Arial"/>
            </a:endParaRPr>
          </a:p>
        </p:txBody>
      </p:sp>
      <p:sp>
        <p:nvSpPr>
          <p:cNvPr id="439" name="Google Shape;439;p19"/>
          <p:cNvSpPr txBox="1"/>
          <p:nvPr/>
        </p:nvSpPr>
        <p:spPr>
          <a:xfrm>
            <a:off x="8409279"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40" name="Google Shape;440;p19"/>
          <p:cNvSpPr/>
          <p:nvPr/>
        </p:nvSpPr>
        <p:spPr>
          <a:xfrm>
            <a:off x="4166463" y="1545336"/>
            <a:ext cx="3858768" cy="2395727"/>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5" name="Shape 445"/>
        <p:cNvGrpSpPr/>
        <p:nvPr/>
      </p:nvGrpSpPr>
      <p:grpSpPr>
        <a:xfrm>
          <a:off x="0" y="0"/>
          <a:ext cx="0" cy="0"/>
          <a:chOff x="0" y="0"/>
          <a:chExt cx="0" cy="0"/>
        </a:xfrm>
      </p:grpSpPr>
      <p:pic>
        <p:nvPicPr>
          <p:cNvPr descr="sbseg2026_rodape.png" id="446" name="Google Shape;446;p2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47" name="Google Shape;447;p20"/>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17</a:t>
            </a:r>
            <a:endParaRPr b="0" i="0" sz="1400" u="none" cap="none" strike="noStrike">
              <a:solidFill>
                <a:srgbClr val="000000"/>
              </a:solidFill>
              <a:latin typeface="Arial"/>
              <a:ea typeface="Arial"/>
              <a:cs typeface="Arial"/>
              <a:sym typeface="Arial"/>
            </a:endParaRPr>
          </a:p>
        </p:txBody>
      </p:sp>
      <p:sp>
        <p:nvSpPr>
          <p:cNvPr id="448" name="Google Shape;448;p20"/>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01 · DESENHO DO ESTUDO</a:t>
            </a:r>
            <a:endParaRPr b="0" i="0" sz="1400" u="none" cap="none" strike="noStrike">
              <a:solidFill>
                <a:srgbClr val="000000"/>
              </a:solidFill>
              <a:latin typeface="Arial"/>
              <a:ea typeface="Arial"/>
              <a:cs typeface="Arial"/>
              <a:sym typeface="Arial"/>
            </a:endParaRPr>
          </a:p>
        </p:txBody>
      </p:sp>
      <p:sp>
        <p:nvSpPr>
          <p:cNvPr id="449" name="Google Shape;449;p20"/>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Eixo de segredo: TruffleHog</a:t>
            </a:r>
            <a:endParaRPr b="0" i="0" sz="1400" u="none" cap="none" strike="noStrike">
              <a:solidFill>
                <a:srgbClr val="000000"/>
              </a:solidFill>
              <a:latin typeface="Arial"/>
              <a:ea typeface="Arial"/>
              <a:cs typeface="Arial"/>
              <a:sym typeface="Arial"/>
            </a:endParaRPr>
          </a:p>
        </p:txBody>
      </p:sp>
      <p:sp>
        <p:nvSpPr>
          <p:cNvPr id="450" name="Google Shape;450;p20"/>
          <p:cNvSpPr/>
          <p:nvPr/>
        </p:nvSpPr>
        <p:spPr>
          <a:xfrm>
            <a:off x="399135"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yft.png" id="451" name="Google Shape;451;p20"/>
          <p:cNvPicPr preferRelativeResize="0"/>
          <p:nvPr/>
        </p:nvPicPr>
        <p:blipFill rotWithShape="1">
          <a:blip r:embed="rId4">
            <a:alphaModFix/>
          </a:blip>
          <a:srcRect b="0" l="0" r="0" t="0"/>
          <a:stretch/>
        </p:blipFill>
        <p:spPr>
          <a:xfrm>
            <a:off x="1845863" y="1819656"/>
            <a:ext cx="672704" cy="896112"/>
          </a:xfrm>
          <a:prstGeom prst="rect">
            <a:avLst/>
          </a:prstGeom>
          <a:noFill/>
          <a:ln>
            <a:noFill/>
          </a:ln>
        </p:spPr>
      </p:pic>
      <p:sp>
        <p:nvSpPr>
          <p:cNvPr id="452" name="Google Shape;452;p20"/>
          <p:cNvSpPr txBox="1"/>
          <p:nvPr/>
        </p:nvSpPr>
        <p:spPr>
          <a:xfrm>
            <a:off x="582015"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Syft</a:t>
            </a:r>
            <a:endParaRPr b="0" i="0" sz="1400" u="none" cap="none" strike="noStrike">
              <a:solidFill>
                <a:srgbClr val="000000"/>
              </a:solidFill>
              <a:latin typeface="Arial"/>
              <a:ea typeface="Arial"/>
              <a:cs typeface="Arial"/>
              <a:sym typeface="Arial"/>
            </a:endParaRPr>
          </a:p>
        </p:txBody>
      </p:sp>
      <p:sp>
        <p:nvSpPr>
          <p:cNvPr id="453" name="Google Shape;453;p20"/>
          <p:cNvSpPr txBox="1"/>
          <p:nvPr/>
        </p:nvSpPr>
        <p:spPr>
          <a:xfrm>
            <a:off x="582015"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inventário</a:t>
            </a:r>
            <a:endParaRPr b="0" i="0" sz="1400" u="none" cap="none" strike="noStrike">
              <a:solidFill>
                <a:srgbClr val="000000"/>
              </a:solidFill>
              <a:latin typeface="Arial"/>
              <a:ea typeface="Arial"/>
              <a:cs typeface="Arial"/>
              <a:sym typeface="Arial"/>
            </a:endParaRPr>
          </a:p>
        </p:txBody>
      </p:sp>
      <p:sp>
        <p:nvSpPr>
          <p:cNvPr id="454" name="Google Shape;454;p20"/>
          <p:cNvSpPr/>
          <p:nvPr/>
        </p:nvSpPr>
        <p:spPr>
          <a:xfrm>
            <a:off x="4312767"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dockle.png" id="455" name="Google Shape;455;p20"/>
          <p:cNvPicPr preferRelativeResize="0"/>
          <p:nvPr/>
        </p:nvPicPr>
        <p:blipFill rotWithShape="1">
          <a:blip r:embed="rId5">
            <a:alphaModFix/>
          </a:blip>
          <a:srcRect b="0" l="0" r="0" t="0"/>
          <a:stretch/>
        </p:blipFill>
        <p:spPr>
          <a:xfrm>
            <a:off x="5673045" y="1819656"/>
            <a:ext cx="845603" cy="896112"/>
          </a:xfrm>
          <a:prstGeom prst="rect">
            <a:avLst/>
          </a:prstGeom>
          <a:noFill/>
          <a:ln>
            <a:noFill/>
          </a:ln>
        </p:spPr>
      </p:pic>
      <p:sp>
        <p:nvSpPr>
          <p:cNvPr id="456" name="Google Shape;456;p20"/>
          <p:cNvSpPr txBox="1"/>
          <p:nvPr/>
        </p:nvSpPr>
        <p:spPr>
          <a:xfrm>
            <a:off x="4495647"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Dockle</a:t>
            </a:r>
            <a:endParaRPr b="0" i="0" sz="1400" u="none" cap="none" strike="noStrike">
              <a:solidFill>
                <a:srgbClr val="000000"/>
              </a:solidFill>
              <a:latin typeface="Arial"/>
              <a:ea typeface="Arial"/>
              <a:cs typeface="Arial"/>
              <a:sym typeface="Arial"/>
            </a:endParaRPr>
          </a:p>
        </p:txBody>
      </p:sp>
      <p:sp>
        <p:nvSpPr>
          <p:cNvPr id="457" name="Google Shape;457;p20"/>
          <p:cNvSpPr txBox="1"/>
          <p:nvPr/>
        </p:nvSpPr>
        <p:spPr>
          <a:xfrm>
            <a:off x="4495647"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configuração</a:t>
            </a:r>
            <a:endParaRPr b="0" i="0" sz="1400" u="none" cap="none" strike="noStrike">
              <a:solidFill>
                <a:srgbClr val="000000"/>
              </a:solidFill>
              <a:latin typeface="Arial"/>
              <a:ea typeface="Arial"/>
              <a:cs typeface="Arial"/>
              <a:sym typeface="Arial"/>
            </a:endParaRPr>
          </a:p>
        </p:txBody>
      </p:sp>
      <p:sp>
        <p:nvSpPr>
          <p:cNvPr id="458" name="Google Shape;458;p20"/>
          <p:cNvSpPr/>
          <p:nvPr/>
        </p:nvSpPr>
        <p:spPr>
          <a:xfrm>
            <a:off x="8226399" y="1691640"/>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ufflehog.png" id="459" name="Google Shape;459;p20"/>
          <p:cNvPicPr preferRelativeResize="0"/>
          <p:nvPr/>
        </p:nvPicPr>
        <p:blipFill rotWithShape="1">
          <a:blip r:embed="rId6">
            <a:alphaModFix/>
          </a:blip>
          <a:srcRect b="0" l="0" r="0" t="0"/>
          <a:stretch/>
        </p:blipFill>
        <p:spPr>
          <a:xfrm>
            <a:off x="9561423" y="1984729"/>
            <a:ext cx="896112" cy="565965"/>
          </a:xfrm>
          <a:prstGeom prst="rect">
            <a:avLst/>
          </a:prstGeom>
          <a:noFill/>
          <a:ln>
            <a:noFill/>
          </a:ln>
        </p:spPr>
      </p:pic>
      <p:sp>
        <p:nvSpPr>
          <p:cNvPr id="460" name="Google Shape;460;p20"/>
          <p:cNvSpPr txBox="1"/>
          <p:nvPr/>
        </p:nvSpPr>
        <p:spPr>
          <a:xfrm>
            <a:off x="8409279" y="2770632"/>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TruffleHog</a:t>
            </a:r>
            <a:endParaRPr b="0" i="0" sz="1400" u="none" cap="none" strike="noStrike">
              <a:solidFill>
                <a:srgbClr val="000000"/>
              </a:solidFill>
              <a:latin typeface="Arial"/>
              <a:ea typeface="Arial"/>
              <a:cs typeface="Arial"/>
              <a:sym typeface="Arial"/>
            </a:endParaRPr>
          </a:p>
        </p:txBody>
      </p:sp>
      <p:sp>
        <p:nvSpPr>
          <p:cNvPr id="461" name="Google Shape;461;p20"/>
          <p:cNvSpPr txBox="1"/>
          <p:nvPr/>
        </p:nvSpPr>
        <p:spPr>
          <a:xfrm>
            <a:off x="8409279" y="3191256"/>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segredos</a:t>
            </a:r>
            <a:endParaRPr b="0" i="0" sz="1400" u="none" cap="none" strike="noStrike">
              <a:solidFill>
                <a:srgbClr val="000000"/>
              </a:solidFill>
              <a:latin typeface="Arial"/>
              <a:ea typeface="Arial"/>
              <a:cs typeface="Arial"/>
              <a:sym typeface="Arial"/>
            </a:endParaRPr>
          </a:p>
        </p:txBody>
      </p:sp>
      <p:sp>
        <p:nvSpPr>
          <p:cNvPr id="462" name="Google Shape;462;p20"/>
          <p:cNvSpPr/>
          <p:nvPr/>
        </p:nvSpPr>
        <p:spPr>
          <a:xfrm>
            <a:off x="399135"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trivy.png" id="463" name="Google Shape;463;p20"/>
          <p:cNvPicPr preferRelativeResize="0"/>
          <p:nvPr/>
        </p:nvPicPr>
        <p:blipFill rotWithShape="1">
          <a:blip r:embed="rId7">
            <a:alphaModFix/>
          </a:blip>
          <a:srcRect b="0" l="0" r="0" t="0"/>
          <a:stretch/>
        </p:blipFill>
        <p:spPr>
          <a:xfrm>
            <a:off x="1734159" y="3941063"/>
            <a:ext cx="896112" cy="896112"/>
          </a:xfrm>
          <a:prstGeom prst="rect">
            <a:avLst/>
          </a:prstGeom>
          <a:noFill/>
          <a:ln>
            <a:noFill/>
          </a:ln>
        </p:spPr>
      </p:pic>
      <p:sp>
        <p:nvSpPr>
          <p:cNvPr id="464" name="Google Shape;464;p20"/>
          <p:cNvSpPr txBox="1"/>
          <p:nvPr/>
        </p:nvSpPr>
        <p:spPr>
          <a:xfrm>
            <a:off x="582015"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Trivy</a:t>
            </a:r>
            <a:endParaRPr b="0" i="0" sz="1400" u="none" cap="none" strike="noStrike">
              <a:solidFill>
                <a:srgbClr val="000000"/>
              </a:solidFill>
              <a:latin typeface="Arial"/>
              <a:ea typeface="Arial"/>
              <a:cs typeface="Arial"/>
              <a:sym typeface="Arial"/>
            </a:endParaRPr>
          </a:p>
        </p:txBody>
      </p:sp>
      <p:sp>
        <p:nvSpPr>
          <p:cNvPr id="465" name="Google Shape;465;p20"/>
          <p:cNvSpPr txBox="1"/>
          <p:nvPr/>
        </p:nvSpPr>
        <p:spPr>
          <a:xfrm>
            <a:off x="582015"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66" name="Google Shape;466;p20"/>
          <p:cNvSpPr/>
          <p:nvPr/>
        </p:nvSpPr>
        <p:spPr>
          <a:xfrm>
            <a:off x="4312767"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grype.png" id="467" name="Google Shape;467;p20"/>
          <p:cNvPicPr preferRelativeResize="0"/>
          <p:nvPr/>
        </p:nvPicPr>
        <p:blipFill rotWithShape="1">
          <a:blip r:embed="rId8">
            <a:alphaModFix/>
          </a:blip>
          <a:srcRect b="0" l="0" r="0" t="0"/>
          <a:stretch/>
        </p:blipFill>
        <p:spPr>
          <a:xfrm>
            <a:off x="5799674" y="3941063"/>
            <a:ext cx="592345" cy="896112"/>
          </a:xfrm>
          <a:prstGeom prst="rect">
            <a:avLst/>
          </a:prstGeom>
          <a:noFill/>
          <a:ln>
            <a:noFill/>
          </a:ln>
        </p:spPr>
      </p:pic>
      <p:sp>
        <p:nvSpPr>
          <p:cNvPr id="468" name="Google Shape;468;p20"/>
          <p:cNvSpPr txBox="1"/>
          <p:nvPr/>
        </p:nvSpPr>
        <p:spPr>
          <a:xfrm>
            <a:off x="4495647"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Grype</a:t>
            </a:r>
            <a:endParaRPr b="0" i="0" sz="1400" u="none" cap="none" strike="noStrike">
              <a:solidFill>
                <a:srgbClr val="000000"/>
              </a:solidFill>
              <a:latin typeface="Arial"/>
              <a:ea typeface="Arial"/>
              <a:cs typeface="Arial"/>
              <a:sym typeface="Arial"/>
            </a:endParaRPr>
          </a:p>
        </p:txBody>
      </p:sp>
      <p:sp>
        <p:nvSpPr>
          <p:cNvPr id="469" name="Google Shape;469;p20"/>
          <p:cNvSpPr txBox="1"/>
          <p:nvPr/>
        </p:nvSpPr>
        <p:spPr>
          <a:xfrm>
            <a:off x="4495647"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70" name="Google Shape;470;p20"/>
          <p:cNvSpPr/>
          <p:nvPr/>
        </p:nvSpPr>
        <p:spPr>
          <a:xfrm>
            <a:off x="8226399" y="3813048"/>
            <a:ext cx="3566160" cy="21031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osv-icon.png" id="471" name="Google Shape;471;p20"/>
          <p:cNvPicPr preferRelativeResize="0"/>
          <p:nvPr/>
        </p:nvPicPr>
        <p:blipFill rotWithShape="1">
          <a:blip r:embed="rId9">
            <a:alphaModFix/>
          </a:blip>
          <a:srcRect b="0" l="0" r="0" t="0"/>
          <a:stretch/>
        </p:blipFill>
        <p:spPr>
          <a:xfrm>
            <a:off x="9561423" y="3941063"/>
            <a:ext cx="896112" cy="896112"/>
          </a:xfrm>
          <a:prstGeom prst="rect">
            <a:avLst/>
          </a:prstGeom>
          <a:noFill/>
          <a:ln>
            <a:noFill/>
          </a:ln>
        </p:spPr>
      </p:pic>
      <p:sp>
        <p:nvSpPr>
          <p:cNvPr id="472" name="Google Shape;472;p20"/>
          <p:cNvSpPr txBox="1"/>
          <p:nvPr/>
        </p:nvSpPr>
        <p:spPr>
          <a:xfrm>
            <a:off x="8409279" y="4892040"/>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OSV</a:t>
            </a:r>
            <a:endParaRPr b="0" i="0" sz="1400" u="none" cap="none" strike="noStrike">
              <a:solidFill>
                <a:srgbClr val="000000"/>
              </a:solidFill>
              <a:latin typeface="Arial"/>
              <a:ea typeface="Arial"/>
              <a:cs typeface="Arial"/>
              <a:sym typeface="Arial"/>
            </a:endParaRPr>
          </a:p>
        </p:txBody>
      </p:sp>
      <p:sp>
        <p:nvSpPr>
          <p:cNvPr id="473" name="Google Shape;473;p20"/>
          <p:cNvSpPr txBox="1"/>
          <p:nvPr/>
        </p:nvSpPr>
        <p:spPr>
          <a:xfrm>
            <a:off x="8409279" y="5312664"/>
            <a:ext cx="3200400" cy="384048"/>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vulnerabilidades</a:t>
            </a:r>
            <a:endParaRPr b="0" i="0" sz="1400" u="none" cap="none" strike="noStrike">
              <a:solidFill>
                <a:srgbClr val="000000"/>
              </a:solidFill>
              <a:latin typeface="Arial"/>
              <a:ea typeface="Arial"/>
              <a:cs typeface="Arial"/>
              <a:sym typeface="Arial"/>
            </a:endParaRPr>
          </a:p>
        </p:txBody>
      </p:sp>
      <p:sp>
        <p:nvSpPr>
          <p:cNvPr id="474" name="Google Shape;474;p20"/>
          <p:cNvSpPr/>
          <p:nvPr/>
        </p:nvSpPr>
        <p:spPr>
          <a:xfrm>
            <a:off x="8080095" y="1545336"/>
            <a:ext cx="3858768" cy="2395727"/>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21"/>
          <p:cNvSpPr/>
          <p:nvPr/>
        </p:nvSpPr>
        <p:spPr>
          <a:xfrm>
            <a:off x="0" y="0"/>
            <a:ext cx="12191695" cy="6858000"/>
          </a:xfrm>
          <a:prstGeom prst="rect">
            <a:avLst/>
          </a:prstGeom>
          <a:solidFill>
            <a:srgbClr val="00153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481" name="Google Shape;481;p2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82" name="Google Shape;482;p21"/>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FFFFFF"/>
                </a:solidFill>
                <a:latin typeface="JetBrains Mono"/>
                <a:ea typeface="JetBrains Mono"/>
                <a:cs typeface="JetBrains Mono"/>
                <a:sym typeface="JetBrains Mono"/>
              </a:rPr>
              <a:t>18</a:t>
            </a:r>
            <a:endParaRPr b="0" i="0" sz="1400" u="none" cap="none" strike="noStrike">
              <a:solidFill>
                <a:srgbClr val="000000"/>
              </a:solidFill>
              <a:latin typeface="Arial"/>
              <a:ea typeface="Arial"/>
              <a:cs typeface="Arial"/>
              <a:sym typeface="Arial"/>
            </a:endParaRPr>
          </a:p>
        </p:txBody>
      </p:sp>
      <p:sp>
        <p:nvSpPr>
          <p:cNvPr id="483" name="Google Shape;483;p21"/>
          <p:cNvSpPr/>
          <p:nvPr/>
        </p:nvSpPr>
        <p:spPr>
          <a:xfrm>
            <a:off x="4526280" y="868680"/>
            <a:ext cx="7269480" cy="512064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g05_justo.jpg" id="484" name="Google Shape;484;p21"/>
          <p:cNvPicPr preferRelativeResize="0"/>
          <p:nvPr/>
        </p:nvPicPr>
        <p:blipFill rotWithShape="1">
          <a:blip r:embed="rId4">
            <a:alphaModFix/>
          </a:blip>
          <a:srcRect b="0" l="0" r="0" t="0"/>
          <a:stretch/>
        </p:blipFill>
        <p:spPr>
          <a:xfrm>
            <a:off x="4800600" y="1766712"/>
            <a:ext cx="6720840" cy="3324575"/>
          </a:xfrm>
          <a:prstGeom prst="rect">
            <a:avLst/>
          </a:prstGeom>
          <a:noFill/>
          <a:ln>
            <a:noFill/>
          </a:ln>
        </p:spPr>
      </p:pic>
      <p:sp>
        <p:nvSpPr>
          <p:cNvPr id="485" name="Google Shape;485;p21"/>
          <p:cNvSpPr txBox="1"/>
          <p:nvPr/>
        </p:nvSpPr>
        <p:spPr>
          <a:xfrm>
            <a:off x="777240" y="1234440"/>
            <a:ext cx="2926080" cy="11887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0"/>
              <a:buFont typeface="Arial"/>
              <a:buNone/>
            </a:pPr>
            <a:r>
              <a:rPr b="1" i="0" lang="en-US" sz="8000" u="none" cap="none" strike="noStrike">
                <a:solidFill>
                  <a:srgbClr val="FFFFFF"/>
                </a:solidFill>
                <a:latin typeface="JetBrains Mono"/>
                <a:ea typeface="JetBrains Mono"/>
                <a:cs typeface="JetBrains Mono"/>
                <a:sym typeface="JetBrains Mono"/>
              </a:rPr>
              <a:t>02</a:t>
            </a:r>
            <a:endParaRPr b="0" i="0" sz="1400" u="none" cap="none" strike="noStrike">
              <a:solidFill>
                <a:srgbClr val="000000"/>
              </a:solidFill>
              <a:latin typeface="Arial"/>
              <a:ea typeface="Arial"/>
              <a:cs typeface="Arial"/>
              <a:sym typeface="Arial"/>
            </a:endParaRPr>
          </a:p>
        </p:txBody>
      </p:sp>
      <p:sp>
        <p:nvSpPr>
          <p:cNvPr id="486" name="Google Shape;486;p21"/>
          <p:cNvSpPr txBox="1"/>
          <p:nvPr/>
        </p:nvSpPr>
        <p:spPr>
          <a:xfrm>
            <a:off x="777240" y="2606040"/>
            <a:ext cx="3520440" cy="12801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4000"/>
              <a:buFont typeface="Arial"/>
              <a:buNone/>
            </a:pPr>
            <a:r>
              <a:rPr b="1" i="0" lang="en-US" sz="4000" u="none" cap="none" strike="noStrike">
                <a:solidFill>
                  <a:srgbClr val="FFFFFF"/>
                </a:solidFill>
                <a:latin typeface="Space Grotesk"/>
                <a:ea typeface="Space Grotesk"/>
                <a:cs typeface="Space Grotesk"/>
                <a:sym typeface="Space Grotesk"/>
              </a:rPr>
              <a:t>Avaliação</a:t>
            </a:r>
            <a:endParaRPr b="0" i="0" sz="1400" u="none" cap="none" strike="noStrike">
              <a:solidFill>
                <a:srgbClr val="000000"/>
              </a:solidFill>
              <a:latin typeface="Arial"/>
              <a:ea typeface="Arial"/>
              <a:cs typeface="Arial"/>
              <a:sym typeface="Arial"/>
            </a:endParaRPr>
          </a:p>
          <a:p>
            <a:pPr indent="0" lvl="0" marL="0" marR="0" rtl="0" algn="l">
              <a:lnSpc>
                <a:spcPct val="108000"/>
              </a:lnSpc>
              <a:spcBef>
                <a:spcPts val="0"/>
              </a:spcBef>
              <a:spcAft>
                <a:spcPts val="0"/>
              </a:spcAft>
              <a:buClr>
                <a:srgbClr val="000000"/>
              </a:buClr>
              <a:buSzPts val="4000"/>
              <a:buFont typeface="Arial"/>
              <a:buNone/>
            </a:pPr>
            <a:r>
              <a:rPr b="1" i="0" lang="en-US" sz="4000" u="none" cap="none" strike="noStrike">
                <a:solidFill>
                  <a:srgbClr val="FFFFFF"/>
                </a:solidFill>
                <a:latin typeface="Space Grotesk"/>
                <a:ea typeface="Space Grotesk"/>
                <a:cs typeface="Space Grotesk"/>
                <a:sym typeface="Space Grotesk"/>
              </a:rPr>
              <a:t>experimental</a:t>
            </a:r>
            <a:endParaRPr b="0" i="0" sz="1400" u="none" cap="none" strike="noStrike">
              <a:solidFill>
                <a:srgbClr val="000000"/>
              </a:solidFill>
              <a:latin typeface="Arial"/>
              <a:ea typeface="Arial"/>
              <a:cs typeface="Arial"/>
              <a:sym typeface="Arial"/>
            </a:endParaRPr>
          </a:p>
        </p:txBody>
      </p:sp>
      <p:sp>
        <p:nvSpPr>
          <p:cNvPr id="487" name="Google Shape;487;p21"/>
          <p:cNvSpPr txBox="1"/>
          <p:nvPr/>
        </p:nvSpPr>
        <p:spPr>
          <a:xfrm>
            <a:off x="777240" y="4069080"/>
            <a:ext cx="3520440" cy="128016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Clr>
                <a:srgbClr val="000000"/>
              </a:buClr>
              <a:buSzPts val="3200"/>
              <a:buFont typeface="Arial"/>
              <a:buNone/>
            </a:pPr>
            <a:r>
              <a:rPr b="0" i="0" lang="en-US" sz="3200" u="none" cap="none" strike="noStrike">
                <a:solidFill>
                  <a:srgbClr val="D9E5FC"/>
                </a:solidFill>
                <a:latin typeface="Inter"/>
                <a:ea typeface="Inter"/>
                <a:cs typeface="Inter"/>
                <a:sym typeface="Inter"/>
              </a:rPr>
              <a:t>O que as duas amostras mostram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pic>
        <p:nvPicPr>
          <p:cNvPr descr="sbseg2026_rodape.png" id="493" name="Google Shape;493;p2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494" name="Google Shape;494;p22"/>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19</a:t>
            </a:r>
            <a:endParaRPr b="0" i="0" sz="1400" u="none" cap="none" strike="noStrike">
              <a:solidFill>
                <a:srgbClr val="000000"/>
              </a:solidFill>
              <a:latin typeface="Arial"/>
              <a:ea typeface="Arial"/>
              <a:cs typeface="Arial"/>
              <a:sym typeface="Arial"/>
            </a:endParaRPr>
          </a:p>
        </p:txBody>
      </p:sp>
      <p:sp>
        <p:nvSpPr>
          <p:cNvPr id="495" name="Google Shape;495;p22"/>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496" name="Google Shape;496;p22"/>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Um terço não tem tag latest</a:t>
            </a:r>
            <a:endParaRPr b="0" i="0" sz="1400" u="none" cap="none" strike="noStrike">
              <a:solidFill>
                <a:srgbClr val="000000"/>
              </a:solidFill>
              <a:latin typeface="Arial"/>
              <a:ea typeface="Arial"/>
              <a:cs typeface="Arial"/>
              <a:sym typeface="Arial"/>
            </a:endParaRPr>
          </a:p>
        </p:txBody>
      </p:sp>
      <p:pic>
        <p:nvPicPr>
          <p:cNvPr descr="fig_alcance.png" id="497" name="Google Shape;497;p22"/>
          <p:cNvPicPr preferRelativeResize="0"/>
          <p:nvPr/>
        </p:nvPicPr>
        <p:blipFill rotWithShape="1">
          <a:blip r:embed="rId4">
            <a:alphaModFix/>
          </a:blip>
          <a:srcRect b="0" l="0" r="0" t="0"/>
          <a:stretch/>
        </p:blipFill>
        <p:spPr>
          <a:xfrm>
            <a:off x="475488" y="1783080"/>
            <a:ext cx="11247120" cy="3320477"/>
          </a:xfrm>
          <a:prstGeom prst="rect">
            <a:avLst/>
          </a:prstGeom>
          <a:noFill/>
          <a:ln>
            <a:noFill/>
          </a:ln>
        </p:spPr>
      </p:pic>
      <p:sp>
        <p:nvSpPr>
          <p:cNvPr id="498" name="Google Shape;498;p22"/>
          <p:cNvSpPr txBox="1"/>
          <p:nvPr/>
        </p:nvSpPr>
        <p:spPr>
          <a:xfrm>
            <a:off x="713232" y="5541264"/>
            <a:ext cx="10881360"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São repositórios parados: metade sem envio novo desde 2023.</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3" name="Shape 503"/>
        <p:cNvGrpSpPr/>
        <p:nvPr/>
      </p:nvGrpSpPr>
      <p:grpSpPr>
        <a:xfrm>
          <a:off x="0" y="0"/>
          <a:ext cx="0" cy="0"/>
          <a:chOff x="0" y="0"/>
          <a:chExt cx="0" cy="0"/>
        </a:xfrm>
      </p:grpSpPr>
      <p:pic>
        <p:nvPicPr>
          <p:cNvPr descr="sbseg2026_rodape.png" id="504" name="Google Shape;504;p2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05" name="Google Shape;505;p23"/>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20</a:t>
            </a:r>
            <a:endParaRPr b="0" i="0" sz="1400" u="none" cap="none" strike="noStrike">
              <a:solidFill>
                <a:srgbClr val="000000"/>
              </a:solidFill>
              <a:latin typeface="Arial"/>
              <a:ea typeface="Arial"/>
              <a:cs typeface="Arial"/>
              <a:sym typeface="Arial"/>
            </a:endParaRPr>
          </a:p>
        </p:txBody>
      </p:sp>
      <p:sp>
        <p:nvSpPr>
          <p:cNvPr id="506" name="Google Shape;506;p23"/>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507" name="Google Shape;507;p23"/>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Os outros 248</a:t>
            </a:r>
            <a:endParaRPr b="0" i="0" sz="1400" u="none" cap="none" strike="noStrike">
              <a:solidFill>
                <a:srgbClr val="000000"/>
              </a:solidFill>
              <a:latin typeface="Arial"/>
              <a:ea typeface="Arial"/>
              <a:cs typeface="Arial"/>
              <a:sym typeface="Arial"/>
            </a:endParaRPr>
          </a:p>
        </p:txBody>
      </p:sp>
      <p:sp>
        <p:nvSpPr>
          <p:cNvPr id="508" name="Google Shape;508;p23"/>
          <p:cNvSpPr/>
          <p:nvPr/>
        </p:nvSpPr>
        <p:spPr>
          <a:xfrm>
            <a:off x="502920" y="1481328"/>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09" name="Google Shape;509;p23"/>
          <p:cNvSpPr txBox="1"/>
          <p:nvPr/>
        </p:nvSpPr>
        <p:spPr>
          <a:xfrm>
            <a:off x="713232" y="1709928"/>
            <a:ext cx="260604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113</a:t>
            </a:r>
            <a:endParaRPr b="0" i="0" sz="1400" u="none" cap="none" strike="noStrike">
              <a:solidFill>
                <a:srgbClr val="000000"/>
              </a:solidFill>
              <a:latin typeface="Arial"/>
              <a:ea typeface="Arial"/>
              <a:cs typeface="Arial"/>
              <a:sym typeface="Arial"/>
            </a:endParaRPr>
          </a:p>
        </p:txBody>
      </p:sp>
      <p:sp>
        <p:nvSpPr>
          <p:cNvPr id="510" name="Google Shape;510;p23"/>
          <p:cNvSpPr txBox="1"/>
          <p:nvPr/>
        </p:nvSpPr>
        <p:spPr>
          <a:xfrm>
            <a:off x="3493008" y="1719072"/>
            <a:ext cx="8302752" cy="420623"/>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não baixam: manifesto ou artefato OCI</a:t>
            </a:r>
            <a:endParaRPr b="0" i="0" sz="1400" u="none" cap="none" strike="noStrike">
              <a:solidFill>
                <a:srgbClr val="000000"/>
              </a:solidFill>
              <a:latin typeface="Arial"/>
              <a:ea typeface="Arial"/>
              <a:cs typeface="Arial"/>
              <a:sym typeface="Arial"/>
            </a:endParaRPr>
          </a:p>
        </p:txBody>
      </p:sp>
      <p:sp>
        <p:nvSpPr>
          <p:cNvPr id="511" name="Google Shape;511;p23"/>
          <p:cNvSpPr/>
          <p:nvPr/>
        </p:nvSpPr>
        <p:spPr>
          <a:xfrm>
            <a:off x="502920" y="2542032"/>
            <a:ext cx="11201400" cy="141732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2" name="Google Shape;512;p23"/>
          <p:cNvSpPr txBox="1"/>
          <p:nvPr/>
        </p:nvSpPr>
        <p:spPr>
          <a:xfrm>
            <a:off x="713232" y="3031236"/>
            <a:ext cx="260604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57</a:t>
            </a:r>
            <a:endParaRPr b="0" i="0" sz="1400" u="none" cap="none" strike="noStrike">
              <a:solidFill>
                <a:srgbClr val="000000"/>
              </a:solidFill>
              <a:latin typeface="Arial"/>
              <a:ea typeface="Arial"/>
              <a:cs typeface="Arial"/>
              <a:sym typeface="Arial"/>
            </a:endParaRPr>
          </a:p>
        </p:txBody>
      </p:sp>
      <p:sp>
        <p:nvSpPr>
          <p:cNvPr id="513" name="Google Shape;513;p23"/>
          <p:cNvSpPr txBox="1"/>
          <p:nvPr/>
        </p:nvSpPr>
        <p:spPr>
          <a:xfrm>
            <a:off x="3493008" y="2779776"/>
            <a:ext cx="8302752" cy="941832"/>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o scan travou: scanner preso ou tempo esgotado</a:t>
            </a:r>
            <a:endParaRPr b="0" i="0" sz="1400" u="none" cap="none" strike="noStrike">
              <a:solidFill>
                <a:srgbClr val="000000"/>
              </a:solidFill>
              <a:latin typeface="Arial"/>
              <a:ea typeface="Arial"/>
              <a:cs typeface="Arial"/>
              <a:sym typeface="Arial"/>
            </a:endParaRPr>
          </a:p>
        </p:txBody>
      </p:sp>
      <p:sp>
        <p:nvSpPr>
          <p:cNvPr id="514" name="Google Shape;514;p23"/>
          <p:cNvSpPr/>
          <p:nvPr/>
        </p:nvSpPr>
        <p:spPr>
          <a:xfrm>
            <a:off x="502920" y="4123944"/>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5" name="Google Shape;515;p23"/>
          <p:cNvSpPr txBox="1"/>
          <p:nvPr/>
        </p:nvSpPr>
        <p:spPr>
          <a:xfrm>
            <a:off x="713232" y="4352544"/>
            <a:ext cx="260604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42</a:t>
            </a:r>
            <a:endParaRPr b="0" i="0" sz="1400" u="none" cap="none" strike="noStrike">
              <a:solidFill>
                <a:srgbClr val="000000"/>
              </a:solidFill>
              <a:latin typeface="Arial"/>
              <a:ea typeface="Arial"/>
              <a:cs typeface="Arial"/>
              <a:sym typeface="Arial"/>
            </a:endParaRPr>
          </a:p>
        </p:txBody>
      </p:sp>
      <p:sp>
        <p:nvSpPr>
          <p:cNvPr id="516" name="Google Shape;516;p23"/>
          <p:cNvSpPr txBox="1"/>
          <p:nvPr/>
        </p:nvSpPr>
        <p:spPr>
          <a:xfrm>
            <a:off x="3493008" y="4361688"/>
            <a:ext cx="8302752" cy="420623"/>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acesso negado: privado ou apagado</a:t>
            </a:r>
            <a:endParaRPr b="0" i="0" sz="1400" u="none" cap="none" strike="noStrike">
              <a:solidFill>
                <a:srgbClr val="000000"/>
              </a:solidFill>
              <a:latin typeface="Arial"/>
              <a:ea typeface="Arial"/>
              <a:cs typeface="Arial"/>
              <a:sym typeface="Arial"/>
            </a:endParaRPr>
          </a:p>
        </p:txBody>
      </p:sp>
      <p:sp>
        <p:nvSpPr>
          <p:cNvPr id="517" name="Google Shape;517;p23"/>
          <p:cNvSpPr/>
          <p:nvPr/>
        </p:nvSpPr>
        <p:spPr>
          <a:xfrm>
            <a:off x="502920" y="5184648"/>
            <a:ext cx="11201400" cy="896112"/>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18" name="Google Shape;518;p23"/>
          <p:cNvSpPr txBox="1"/>
          <p:nvPr/>
        </p:nvSpPr>
        <p:spPr>
          <a:xfrm>
            <a:off x="713232" y="5413248"/>
            <a:ext cx="2606040" cy="43891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36</a:t>
            </a:r>
            <a:endParaRPr b="0" i="0" sz="1400" u="none" cap="none" strike="noStrike">
              <a:solidFill>
                <a:srgbClr val="000000"/>
              </a:solidFill>
              <a:latin typeface="Arial"/>
              <a:ea typeface="Arial"/>
              <a:cs typeface="Arial"/>
              <a:sym typeface="Arial"/>
            </a:endParaRPr>
          </a:p>
        </p:txBody>
      </p:sp>
      <p:sp>
        <p:nvSpPr>
          <p:cNvPr id="519" name="Google Shape;519;p23"/>
          <p:cNvSpPr txBox="1"/>
          <p:nvPr/>
        </p:nvSpPr>
        <p:spPr>
          <a:xfrm>
            <a:off x="3493008" y="5422392"/>
            <a:ext cx="8302752" cy="420623"/>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só existe em outra arquitetura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4" name="Shape 524"/>
        <p:cNvGrpSpPr/>
        <p:nvPr/>
      </p:nvGrpSpPr>
      <p:grpSpPr>
        <a:xfrm>
          <a:off x="0" y="0"/>
          <a:ext cx="0" cy="0"/>
          <a:chOff x="0" y="0"/>
          <a:chExt cx="0" cy="0"/>
        </a:xfrm>
      </p:grpSpPr>
      <p:pic>
        <p:nvPicPr>
          <p:cNvPr descr="sbseg2026_rodape.png" id="525" name="Google Shape;525;p2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26" name="Google Shape;526;p24"/>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21</a:t>
            </a:r>
            <a:endParaRPr b="0" i="0" sz="1400" u="none" cap="none" strike="noStrike">
              <a:solidFill>
                <a:srgbClr val="000000"/>
              </a:solidFill>
              <a:latin typeface="Arial"/>
              <a:ea typeface="Arial"/>
              <a:cs typeface="Arial"/>
              <a:sym typeface="Arial"/>
            </a:endParaRPr>
          </a:p>
        </p:txBody>
      </p:sp>
      <p:sp>
        <p:nvSpPr>
          <p:cNvPr id="527" name="Google Shape;527;p24"/>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528" name="Google Shape;528;p24"/>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Vulnerabilidades</a:t>
            </a:r>
            <a:endParaRPr b="0" i="0" sz="1400" u="none" cap="none" strike="noStrike">
              <a:solidFill>
                <a:srgbClr val="000000"/>
              </a:solidFill>
              <a:latin typeface="Arial"/>
              <a:ea typeface="Arial"/>
              <a:cs typeface="Arial"/>
              <a:sym typeface="Arial"/>
            </a:endParaRPr>
          </a:p>
        </p:txBody>
      </p:sp>
      <p:sp>
        <p:nvSpPr>
          <p:cNvPr id="529" name="Google Shape;529;p24"/>
          <p:cNvSpPr txBox="1"/>
          <p:nvPr/>
        </p:nvSpPr>
        <p:spPr>
          <a:xfrm>
            <a:off x="713232" y="2377440"/>
            <a:ext cx="539496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Das 2.879 escaneadas,</a:t>
            </a:r>
            <a:endParaRPr b="0" i="0" sz="1400" u="none" cap="none" strike="noStrike">
              <a:solidFill>
                <a:srgbClr val="000000"/>
              </a:solidFill>
              <a:latin typeface="Arial"/>
              <a:ea typeface="Arial"/>
              <a:cs typeface="Arial"/>
              <a:sym typeface="Arial"/>
            </a:endParaRPr>
          </a:p>
        </p:txBody>
      </p:sp>
      <p:sp>
        <p:nvSpPr>
          <p:cNvPr id="530" name="Google Shape;530;p24"/>
          <p:cNvSpPr txBox="1"/>
          <p:nvPr/>
        </p:nvSpPr>
        <p:spPr>
          <a:xfrm>
            <a:off x="713232" y="3200400"/>
            <a:ext cx="53949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2560FF"/>
                </a:solidFill>
                <a:latin typeface="JetBrains Mono"/>
                <a:ea typeface="JetBrains Mono"/>
                <a:cs typeface="JetBrains Mono"/>
                <a:sym typeface="JetBrains Mono"/>
              </a:rPr>
              <a:t>94,4%</a:t>
            </a:r>
            <a:endParaRPr b="0" i="0" sz="1400" u="none" cap="none" strike="noStrike">
              <a:solidFill>
                <a:srgbClr val="000000"/>
              </a:solidFill>
              <a:latin typeface="Arial"/>
              <a:ea typeface="Arial"/>
              <a:cs typeface="Arial"/>
              <a:sym typeface="Arial"/>
            </a:endParaRPr>
          </a:p>
        </p:txBody>
      </p:sp>
      <p:sp>
        <p:nvSpPr>
          <p:cNvPr id="531" name="Google Shape;531;p24"/>
          <p:cNvSpPr txBox="1"/>
          <p:nvPr/>
        </p:nvSpPr>
        <p:spPr>
          <a:xfrm>
            <a:off x="713232" y="4297680"/>
            <a:ext cx="5394960" cy="100584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com crítica</a:t>
            </a:r>
            <a:endParaRPr b="0" i="0" sz="1400" u="none" cap="none" strike="noStrike">
              <a:solidFill>
                <a:srgbClr val="000000"/>
              </a:solidFill>
              <a:latin typeface="Arial"/>
              <a:ea typeface="Arial"/>
              <a:cs typeface="Arial"/>
              <a:sym typeface="Arial"/>
            </a:endParaRPr>
          </a:p>
        </p:txBody>
      </p:sp>
      <p:sp>
        <p:nvSpPr>
          <p:cNvPr id="532" name="Google Shape;532;p24"/>
          <p:cNvSpPr txBox="1"/>
          <p:nvPr/>
        </p:nvSpPr>
        <p:spPr>
          <a:xfrm>
            <a:off x="6382512" y="2377440"/>
            <a:ext cx="5394960" cy="822960"/>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E das mesmas 2.879,</a:t>
            </a:r>
            <a:endParaRPr b="0" i="0" sz="1400" u="none" cap="none" strike="noStrike">
              <a:solidFill>
                <a:srgbClr val="000000"/>
              </a:solidFill>
              <a:latin typeface="Arial"/>
              <a:ea typeface="Arial"/>
              <a:cs typeface="Arial"/>
              <a:sym typeface="Arial"/>
            </a:endParaRPr>
          </a:p>
        </p:txBody>
      </p:sp>
      <p:sp>
        <p:nvSpPr>
          <p:cNvPr id="533" name="Google Shape;533;p24"/>
          <p:cNvSpPr txBox="1"/>
          <p:nvPr/>
        </p:nvSpPr>
        <p:spPr>
          <a:xfrm>
            <a:off x="6382512" y="3200400"/>
            <a:ext cx="53949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7200"/>
              <a:buFont typeface="Arial"/>
              <a:buNone/>
            </a:pPr>
            <a:r>
              <a:rPr b="1" i="0" lang="en-US" sz="7200" u="none" cap="none" strike="noStrike">
                <a:solidFill>
                  <a:srgbClr val="00153C"/>
                </a:solidFill>
                <a:latin typeface="JetBrains Mono"/>
                <a:ea typeface="JetBrains Mono"/>
                <a:cs typeface="JetBrains Mono"/>
                <a:sym typeface="JetBrains Mono"/>
              </a:rPr>
              <a:t>96,8%</a:t>
            </a:r>
            <a:endParaRPr b="0" i="0" sz="1400" u="none" cap="none" strike="noStrike">
              <a:solidFill>
                <a:srgbClr val="000000"/>
              </a:solidFill>
              <a:latin typeface="Arial"/>
              <a:ea typeface="Arial"/>
              <a:cs typeface="Arial"/>
              <a:sym typeface="Arial"/>
            </a:endParaRPr>
          </a:p>
        </p:txBody>
      </p:sp>
      <p:sp>
        <p:nvSpPr>
          <p:cNvPr id="534" name="Google Shape;534;p24"/>
          <p:cNvSpPr txBox="1"/>
          <p:nvPr/>
        </p:nvSpPr>
        <p:spPr>
          <a:xfrm>
            <a:off x="6382512" y="4297680"/>
            <a:ext cx="5394960" cy="100584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com alguma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9" name="Shape 539"/>
        <p:cNvGrpSpPr/>
        <p:nvPr/>
      </p:nvGrpSpPr>
      <p:grpSpPr>
        <a:xfrm>
          <a:off x="0" y="0"/>
          <a:ext cx="0" cy="0"/>
          <a:chOff x="0" y="0"/>
          <a:chExt cx="0" cy="0"/>
        </a:xfrm>
      </p:grpSpPr>
      <p:pic>
        <p:nvPicPr>
          <p:cNvPr descr="sbseg2026_rodape.png" id="540" name="Google Shape;540;p2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41" name="Google Shape;541;p25"/>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22</a:t>
            </a:r>
            <a:endParaRPr b="0" i="0" sz="1400" u="none" cap="none" strike="noStrike">
              <a:solidFill>
                <a:srgbClr val="000000"/>
              </a:solidFill>
              <a:latin typeface="Arial"/>
              <a:ea typeface="Arial"/>
              <a:cs typeface="Arial"/>
              <a:sym typeface="Arial"/>
            </a:endParaRPr>
          </a:p>
        </p:txBody>
      </p:sp>
      <p:sp>
        <p:nvSpPr>
          <p:cNvPr id="542" name="Google Shape;542;p25"/>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543" name="Google Shape;543;p25"/>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Metade passa de 947 vulnerabilidades</a:t>
            </a:r>
            <a:endParaRPr b="0" i="0" sz="1400" u="none" cap="none" strike="noStrike">
              <a:solidFill>
                <a:srgbClr val="000000"/>
              </a:solidFill>
              <a:latin typeface="Arial"/>
              <a:ea typeface="Arial"/>
              <a:cs typeface="Arial"/>
              <a:sym typeface="Arial"/>
            </a:endParaRPr>
          </a:p>
        </p:txBody>
      </p:sp>
      <p:pic>
        <p:nvPicPr>
          <p:cNvPr descr="fig_postura.png" id="544" name="Google Shape;544;p25"/>
          <p:cNvPicPr preferRelativeResize="0"/>
          <p:nvPr/>
        </p:nvPicPr>
        <p:blipFill rotWithShape="1">
          <a:blip r:embed="rId4">
            <a:alphaModFix/>
          </a:blip>
          <a:srcRect b="0" l="0" r="0" t="0"/>
          <a:stretch/>
        </p:blipFill>
        <p:spPr>
          <a:xfrm>
            <a:off x="1135227" y="1645920"/>
            <a:ext cx="9921240" cy="44805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pic>
        <p:nvPicPr>
          <p:cNvPr descr="sbseg2026_rodape.png" id="550" name="Google Shape;550;p2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51" name="Google Shape;551;p26"/>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23</a:t>
            </a:r>
            <a:endParaRPr b="0" i="0" sz="1400" u="none" cap="none" strike="noStrike">
              <a:solidFill>
                <a:srgbClr val="000000"/>
              </a:solidFill>
              <a:latin typeface="Arial"/>
              <a:ea typeface="Arial"/>
              <a:cs typeface="Arial"/>
              <a:sym typeface="Arial"/>
            </a:endParaRPr>
          </a:p>
        </p:txBody>
      </p:sp>
      <p:sp>
        <p:nvSpPr>
          <p:cNvPr id="552" name="Google Shape;552;p26"/>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553" name="Google Shape;553;p26"/>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 mais baixada não é mais bem mantida</a:t>
            </a:r>
            <a:endParaRPr b="0" i="0" sz="1400" u="none" cap="none" strike="noStrike">
              <a:solidFill>
                <a:srgbClr val="000000"/>
              </a:solidFill>
              <a:latin typeface="Arial"/>
              <a:ea typeface="Arial"/>
              <a:cs typeface="Arial"/>
              <a:sym typeface="Arial"/>
            </a:endParaRPr>
          </a:p>
        </p:txBody>
      </p:sp>
      <p:sp>
        <p:nvSpPr>
          <p:cNvPr id="554" name="Google Shape;554;p26"/>
          <p:cNvSpPr txBox="1"/>
          <p:nvPr/>
        </p:nvSpPr>
        <p:spPr>
          <a:xfrm>
            <a:off x="502920" y="164592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Métrica</a:t>
            </a:r>
            <a:endParaRPr b="0" i="0" sz="1400" u="none" cap="none" strike="noStrike">
              <a:solidFill>
                <a:srgbClr val="000000"/>
              </a:solidFill>
              <a:latin typeface="Arial"/>
              <a:ea typeface="Arial"/>
              <a:cs typeface="Arial"/>
              <a:sym typeface="Arial"/>
            </a:endParaRPr>
          </a:p>
        </p:txBody>
      </p:sp>
      <p:sp>
        <p:nvSpPr>
          <p:cNvPr id="555" name="Google Shape;555;p26"/>
          <p:cNvSpPr txBox="1"/>
          <p:nvPr/>
        </p:nvSpPr>
        <p:spPr>
          <a:xfrm>
            <a:off x="5349240" y="1645920"/>
            <a:ext cx="26060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Aleatória</a:t>
            </a:r>
            <a:endParaRPr b="0" i="0" sz="1400" u="none" cap="none" strike="noStrike">
              <a:solidFill>
                <a:srgbClr val="000000"/>
              </a:solidFill>
              <a:latin typeface="Arial"/>
              <a:ea typeface="Arial"/>
              <a:cs typeface="Arial"/>
              <a:sym typeface="Arial"/>
            </a:endParaRPr>
          </a:p>
        </p:txBody>
      </p:sp>
      <p:sp>
        <p:nvSpPr>
          <p:cNvPr id="556" name="Google Shape;556;p26"/>
          <p:cNvSpPr txBox="1"/>
          <p:nvPr/>
        </p:nvSpPr>
        <p:spPr>
          <a:xfrm>
            <a:off x="8183879" y="1645920"/>
            <a:ext cx="338328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Mais exposta</a:t>
            </a:r>
            <a:endParaRPr b="0" i="0" sz="1400" u="none" cap="none" strike="noStrike">
              <a:solidFill>
                <a:srgbClr val="000000"/>
              </a:solidFill>
              <a:latin typeface="Arial"/>
              <a:ea typeface="Arial"/>
              <a:cs typeface="Arial"/>
              <a:sym typeface="Arial"/>
            </a:endParaRPr>
          </a:p>
        </p:txBody>
      </p:sp>
      <p:sp>
        <p:nvSpPr>
          <p:cNvPr id="557" name="Google Shape;557;p26"/>
          <p:cNvSpPr/>
          <p:nvPr/>
        </p:nvSpPr>
        <p:spPr>
          <a:xfrm>
            <a:off x="411480" y="2084831"/>
            <a:ext cx="11384280" cy="41148"/>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58" name="Google Shape;558;p26"/>
          <p:cNvSpPr txBox="1"/>
          <p:nvPr/>
        </p:nvSpPr>
        <p:spPr>
          <a:xfrm>
            <a:off x="502920" y="2231136"/>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Imagens escaneadas</a:t>
            </a:r>
            <a:endParaRPr b="0" i="0" sz="1400" u="none" cap="none" strike="noStrike">
              <a:solidFill>
                <a:srgbClr val="000000"/>
              </a:solidFill>
              <a:latin typeface="Arial"/>
              <a:ea typeface="Arial"/>
              <a:cs typeface="Arial"/>
              <a:sym typeface="Arial"/>
            </a:endParaRPr>
          </a:p>
        </p:txBody>
      </p:sp>
      <p:sp>
        <p:nvSpPr>
          <p:cNvPr id="559" name="Google Shape;559;p26"/>
          <p:cNvSpPr txBox="1"/>
          <p:nvPr/>
        </p:nvSpPr>
        <p:spPr>
          <a:xfrm>
            <a:off x="5349240" y="2231136"/>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560" name="Google Shape;560;p26"/>
          <p:cNvSpPr txBox="1"/>
          <p:nvPr/>
        </p:nvSpPr>
        <p:spPr>
          <a:xfrm>
            <a:off x="8183879" y="2231136"/>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52.895</a:t>
            </a:r>
            <a:endParaRPr b="0" i="0" sz="1400" u="none" cap="none" strike="noStrike">
              <a:solidFill>
                <a:srgbClr val="000000"/>
              </a:solidFill>
              <a:latin typeface="Arial"/>
              <a:ea typeface="Arial"/>
              <a:cs typeface="Arial"/>
              <a:sym typeface="Arial"/>
            </a:endParaRPr>
          </a:p>
        </p:txBody>
      </p:sp>
      <p:sp>
        <p:nvSpPr>
          <p:cNvPr id="561" name="Google Shape;561;p26"/>
          <p:cNvSpPr txBox="1"/>
          <p:nvPr/>
        </p:nvSpPr>
        <p:spPr>
          <a:xfrm>
            <a:off x="502920" y="2980944"/>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crítica</a:t>
            </a:r>
            <a:endParaRPr b="0" i="0" sz="1400" u="none" cap="none" strike="noStrike">
              <a:solidFill>
                <a:srgbClr val="000000"/>
              </a:solidFill>
              <a:latin typeface="Arial"/>
              <a:ea typeface="Arial"/>
              <a:cs typeface="Arial"/>
              <a:sym typeface="Arial"/>
            </a:endParaRPr>
          </a:p>
        </p:txBody>
      </p:sp>
      <p:sp>
        <p:nvSpPr>
          <p:cNvPr id="562" name="Google Shape;562;p26"/>
          <p:cNvSpPr txBox="1"/>
          <p:nvPr/>
        </p:nvSpPr>
        <p:spPr>
          <a:xfrm>
            <a:off x="5349240" y="2980944"/>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94,4%</a:t>
            </a:r>
            <a:endParaRPr b="0" i="0" sz="1400" u="none" cap="none" strike="noStrike">
              <a:solidFill>
                <a:srgbClr val="000000"/>
              </a:solidFill>
              <a:latin typeface="Arial"/>
              <a:ea typeface="Arial"/>
              <a:cs typeface="Arial"/>
              <a:sym typeface="Arial"/>
            </a:endParaRPr>
          </a:p>
        </p:txBody>
      </p:sp>
      <p:sp>
        <p:nvSpPr>
          <p:cNvPr id="563" name="Google Shape;563;p26"/>
          <p:cNvSpPr txBox="1"/>
          <p:nvPr/>
        </p:nvSpPr>
        <p:spPr>
          <a:xfrm>
            <a:off x="8183879" y="2980944"/>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93,4%</a:t>
            </a:r>
            <a:endParaRPr b="0" i="0" sz="1400" u="none" cap="none" strike="noStrike">
              <a:solidFill>
                <a:srgbClr val="000000"/>
              </a:solidFill>
              <a:latin typeface="Arial"/>
              <a:ea typeface="Arial"/>
              <a:cs typeface="Arial"/>
              <a:sym typeface="Arial"/>
            </a:endParaRPr>
          </a:p>
        </p:txBody>
      </p:sp>
      <p:sp>
        <p:nvSpPr>
          <p:cNvPr id="564" name="Google Shape;564;p26"/>
          <p:cNvSpPr/>
          <p:nvPr/>
        </p:nvSpPr>
        <p:spPr>
          <a:xfrm>
            <a:off x="411480" y="2871215"/>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5" name="Google Shape;565;p26"/>
          <p:cNvSpPr txBox="1"/>
          <p:nvPr/>
        </p:nvSpPr>
        <p:spPr>
          <a:xfrm>
            <a:off x="502920" y="3730752"/>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alta</a:t>
            </a:r>
            <a:endParaRPr b="0" i="0" sz="1400" u="none" cap="none" strike="noStrike">
              <a:solidFill>
                <a:srgbClr val="000000"/>
              </a:solidFill>
              <a:latin typeface="Arial"/>
              <a:ea typeface="Arial"/>
              <a:cs typeface="Arial"/>
              <a:sym typeface="Arial"/>
            </a:endParaRPr>
          </a:p>
        </p:txBody>
      </p:sp>
      <p:sp>
        <p:nvSpPr>
          <p:cNvPr id="566" name="Google Shape;566;p26"/>
          <p:cNvSpPr txBox="1"/>
          <p:nvPr/>
        </p:nvSpPr>
        <p:spPr>
          <a:xfrm>
            <a:off x="5349240" y="3730752"/>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96,1%</a:t>
            </a:r>
            <a:endParaRPr b="0" i="0" sz="1400" u="none" cap="none" strike="noStrike">
              <a:solidFill>
                <a:srgbClr val="000000"/>
              </a:solidFill>
              <a:latin typeface="Arial"/>
              <a:ea typeface="Arial"/>
              <a:cs typeface="Arial"/>
              <a:sym typeface="Arial"/>
            </a:endParaRPr>
          </a:p>
        </p:txBody>
      </p:sp>
      <p:sp>
        <p:nvSpPr>
          <p:cNvPr id="567" name="Google Shape;567;p26"/>
          <p:cNvSpPr txBox="1"/>
          <p:nvPr/>
        </p:nvSpPr>
        <p:spPr>
          <a:xfrm>
            <a:off x="8183879" y="3730752"/>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95,5%</a:t>
            </a:r>
            <a:endParaRPr b="0" i="0" sz="1400" u="none" cap="none" strike="noStrike">
              <a:solidFill>
                <a:srgbClr val="000000"/>
              </a:solidFill>
              <a:latin typeface="Arial"/>
              <a:ea typeface="Arial"/>
              <a:cs typeface="Arial"/>
              <a:sym typeface="Arial"/>
            </a:endParaRPr>
          </a:p>
        </p:txBody>
      </p:sp>
      <p:sp>
        <p:nvSpPr>
          <p:cNvPr id="568" name="Google Shape;568;p26"/>
          <p:cNvSpPr/>
          <p:nvPr/>
        </p:nvSpPr>
        <p:spPr>
          <a:xfrm>
            <a:off x="411480" y="3621024"/>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69" name="Google Shape;569;p26"/>
          <p:cNvSpPr txBox="1"/>
          <p:nvPr/>
        </p:nvSpPr>
        <p:spPr>
          <a:xfrm>
            <a:off x="502920" y="4480560"/>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 (bruto)</a:t>
            </a:r>
            <a:endParaRPr b="0" i="0" sz="1400" u="none" cap="none" strike="noStrike">
              <a:solidFill>
                <a:srgbClr val="000000"/>
              </a:solidFill>
              <a:latin typeface="Arial"/>
              <a:ea typeface="Arial"/>
              <a:cs typeface="Arial"/>
              <a:sym typeface="Arial"/>
            </a:endParaRPr>
          </a:p>
        </p:txBody>
      </p:sp>
      <p:sp>
        <p:nvSpPr>
          <p:cNvPr id="570" name="Google Shape;570;p26"/>
          <p:cNvSpPr txBox="1"/>
          <p:nvPr/>
        </p:nvSpPr>
        <p:spPr>
          <a:xfrm>
            <a:off x="5349240" y="4480560"/>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82,4%</a:t>
            </a:r>
            <a:endParaRPr b="0" i="0" sz="1400" u="none" cap="none" strike="noStrike">
              <a:solidFill>
                <a:srgbClr val="000000"/>
              </a:solidFill>
              <a:latin typeface="Arial"/>
              <a:ea typeface="Arial"/>
              <a:cs typeface="Arial"/>
              <a:sym typeface="Arial"/>
            </a:endParaRPr>
          </a:p>
        </p:txBody>
      </p:sp>
      <p:sp>
        <p:nvSpPr>
          <p:cNvPr id="571" name="Google Shape;571;p26"/>
          <p:cNvSpPr txBox="1"/>
          <p:nvPr/>
        </p:nvSpPr>
        <p:spPr>
          <a:xfrm>
            <a:off x="8183879" y="4480560"/>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76,9%</a:t>
            </a:r>
            <a:endParaRPr b="0" i="0" sz="1400" u="none" cap="none" strike="noStrike">
              <a:solidFill>
                <a:srgbClr val="000000"/>
              </a:solidFill>
              <a:latin typeface="Arial"/>
              <a:ea typeface="Arial"/>
              <a:cs typeface="Arial"/>
              <a:sym typeface="Arial"/>
            </a:endParaRPr>
          </a:p>
        </p:txBody>
      </p:sp>
      <p:sp>
        <p:nvSpPr>
          <p:cNvPr id="572" name="Google Shape;572;p26"/>
          <p:cNvSpPr/>
          <p:nvPr/>
        </p:nvSpPr>
        <p:spPr>
          <a:xfrm>
            <a:off x="411480" y="4370832"/>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3" name="Google Shape;573;p26"/>
          <p:cNvSpPr txBox="1"/>
          <p:nvPr/>
        </p:nvSpPr>
        <p:spPr>
          <a:xfrm>
            <a:off x="502920" y="5230368"/>
            <a:ext cx="46635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
        <p:nvSpPr>
          <p:cNvPr id="574" name="Google Shape;574;p26"/>
          <p:cNvSpPr txBox="1"/>
          <p:nvPr/>
        </p:nvSpPr>
        <p:spPr>
          <a:xfrm>
            <a:off x="5349240" y="5230368"/>
            <a:ext cx="26061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26"/>
          <p:cNvSpPr txBox="1"/>
          <p:nvPr/>
        </p:nvSpPr>
        <p:spPr>
          <a:xfrm>
            <a:off x="8183879" y="5230368"/>
            <a:ext cx="3383400" cy="2154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t/>
            </a:r>
            <a:endParaRPr b="0" i="0" sz="1400" u="none" cap="none" strike="noStrike">
              <a:solidFill>
                <a:srgbClr val="000000"/>
              </a:solidFill>
              <a:latin typeface="Arial"/>
              <a:ea typeface="Arial"/>
              <a:cs typeface="Arial"/>
              <a:sym typeface="Arial"/>
            </a:endParaRPr>
          </a:p>
        </p:txBody>
      </p:sp>
      <p:sp>
        <p:nvSpPr>
          <p:cNvPr id="576" name="Google Shape;576;p26"/>
          <p:cNvSpPr/>
          <p:nvPr/>
        </p:nvSpPr>
        <p:spPr>
          <a:xfrm>
            <a:off x="411480" y="5120640"/>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7" name="Google Shape;577;p26"/>
          <p:cNvSpPr/>
          <p:nvPr/>
        </p:nvSpPr>
        <p:spPr>
          <a:xfrm>
            <a:off x="518464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78" name="Google Shape;578;p26"/>
          <p:cNvSpPr/>
          <p:nvPr/>
        </p:nvSpPr>
        <p:spPr>
          <a:xfrm>
            <a:off x="801928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3" name="Shape 583"/>
        <p:cNvGrpSpPr/>
        <p:nvPr/>
      </p:nvGrpSpPr>
      <p:grpSpPr>
        <a:xfrm>
          <a:off x="0" y="0"/>
          <a:ext cx="0" cy="0"/>
          <a:chOff x="0" y="0"/>
          <a:chExt cx="0" cy="0"/>
        </a:xfrm>
      </p:grpSpPr>
      <p:pic>
        <p:nvPicPr>
          <p:cNvPr descr="sbseg2026_rodape.png" id="584" name="Google Shape;584;p2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585" name="Google Shape;585;p27"/>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24</a:t>
            </a:r>
            <a:endParaRPr b="0" i="0" sz="1400" u="none" cap="none" strike="noStrike">
              <a:solidFill>
                <a:srgbClr val="000000"/>
              </a:solidFill>
              <a:latin typeface="Arial"/>
              <a:ea typeface="Arial"/>
              <a:cs typeface="Arial"/>
              <a:sym typeface="Arial"/>
            </a:endParaRPr>
          </a:p>
        </p:txBody>
      </p:sp>
      <p:sp>
        <p:nvSpPr>
          <p:cNvPr id="586" name="Google Shape;586;p27"/>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587" name="Google Shape;587;p27"/>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 mais baixada não é mais bem mantida</a:t>
            </a:r>
            <a:endParaRPr b="0" i="0" sz="1400" u="none" cap="none" strike="noStrike">
              <a:solidFill>
                <a:srgbClr val="000000"/>
              </a:solidFill>
              <a:latin typeface="Arial"/>
              <a:ea typeface="Arial"/>
              <a:cs typeface="Arial"/>
              <a:sym typeface="Arial"/>
            </a:endParaRPr>
          </a:p>
        </p:txBody>
      </p:sp>
      <p:sp>
        <p:nvSpPr>
          <p:cNvPr id="588" name="Google Shape;588;p27"/>
          <p:cNvSpPr txBox="1"/>
          <p:nvPr/>
        </p:nvSpPr>
        <p:spPr>
          <a:xfrm>
            <a:off x="502920" y="164592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Métrica</a:t>
            </a:r>
            <a:endParaRPr b="0" i="0" sz="1400" u="none" cap="none" strike="noStrike">
              <a:solidFill>
                <a:srgbClr val="000000"/>
              </a:solidFill>
              <a:latin typeface="Arial"/>
              <a:ea typeface="Arial"/>
              <a:cs typeface="Arial"/>
              <a:sym typeface="Arial"/>
            </a:endParaRPr>
          </a:p>
        </p:txBody>
      </p:sp>
      <p:sp>
        <p:nvSpPr>
          <p:cNvPr id="589" name="Google Shape;589;p27"/>
          <p:cNvSpPr txBox="1"/>
          <p:nvPr/>
        </p:nvSpPr>
        <p:spPr>
          <a:xfrm>
            <a:off x="5349240" y="1645920"/>
            <a:ext cx="26060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Aleatória</a:t>
            </a:r>
            <a:endParaRPr b="0" i="0" sz="1400" u="none" cap="none" strike="noStrike">
              <a:solidFill>
                <a:srgbClr val="000000"/>
              </a:solidFill>
              <a:latin typeface="Arial"/>
              <a:ea typeface="Arial"/>
              <a:cs typeface="Arial"/>
              <a:sym typeface="Arial"/>
            </a:endParaRPr>
          </a:p>
        </p:txBody>
      </p:sp>
      <p:sp>
        <p:nvSpPr>
          <p:cNvPr id="590" name="Google Shape;590;p27"/>
          <p:cNvSpPr txBox="1"/>
          <p:nvPr/>
        </p:nvSpPr>
        <p:spPr>
          <a:xfrm>
            <a:off x="8183879" y="1645920"/>
            <a:ext cx="338328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Mais exposta</a:t>
            </a:r>
            <a:endParaRPr b="0" i="0" sz="1400" u="none" cap="none" strike="noStrike">
              <a:solidFill>
                <a:srgbClr val="000000"/>
              </a:solidFill>
              <a:latin typeface="Arial"/>
              <a:ea typeface="Arial"/>
              <a:cs typeface="Arial"/>
              <a:sym typeface="Arial"/>
            </a:endParaRPr>
          </a:p>
        </p:txBody>
      </p:sp>
      <p:sp>
        <p:nvSpPr>
          <p:cNvPr id="591" name="Google Shape;591;p27"/>
          <p:cNvSpPr/>
          <p:nvPr/>
        </p:nvSpPr>
        <p:spPr>
          <a:xfrm>
            <a:off x="411480" y="2084831"/>
            <a:ext cx="11384280" cy="41148"/>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2" name="Google Shape;592;p27"/>
          <p:cNvSpPr txBox="1"/>
          <p:nvPr/>
        </p:nvSpPr>
        <p:spPr>
          <a:xfrm>
            <a:off x="502920" y="2231136"/>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Imagens escaneadas</a:t>
            </a:r>
            <a:endParaRPr b="0" i="0" sz="1400" u="none" cap="none" strike="noStrike">
              <a:solidFill>
                <a:srgbClr val="000000"/>
              </a:solidFill>
              <a:latin typeface="Arial"/>
              <a:ea typeface="Arial"/>
              <a:cs typeface="Arial"/>
              <a:sym typeface="Arial"/>
            </a:endParaRPr>
          </a:p>
        </p:txBody>
      </p:sp>
      <p:sp>
        <p:nvSpPr>
          <p:cNvPr id="593" name="Google Shape;593;p27"/>
          <p:cNvSpPr txBox="1"/>
          <p:nvPr/>
        </p:nvSpPr>
        <p:spPr>
          <a:xfrm>
            <a:off x="5349240" y="2231136"/>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594" name="Google Shape;594;p27"/>
          <p:cNvSpPr txBox="1"/>
          <p:nvPr/>
        </p:nvSpPr>
        <p:spPr>
          <a:xfrm>
            <a:off x="8183879" y="2231136"/>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52.895</a:t>
            </a:r>
            <a:endParaRPr b="0" i="0" sz="1400" u="none" cap="none" strike="noStrike">
              <a:solidFill>
                <a:srgbClr val="000000"/>
              </a:solidFill>
              <a:latin typeface="Arial"/>
              <a:ea typeface="Arial"/>
              <a:cs typeface="Arial"/>
              <a:sym typeface="Arial"/>
            </a:endParaRPr>
          </a:p>
        </p:txBody>
      </p:sp>
      <p:sp>
        <p:nvSpPr>
          <p:cNvPr id="595" name="Google Shape;595;p27"/>
          <p:cNvSpPr txBox="1"/>
          <p:nvPr/>
        </p:nvSpPr>
        <p:spPr>
          <a:xfrm>
            <a:off x="502920" y="2980944"/>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crítica</a:t>
            </a:r>
            <a:endParaRPr b="0" i="0" sz="1400" u="none" cap="none" strike="noStrike">
              <a:solidFill>
                <a:srgbClr val="000000"/>
              </a:solidFill>
              <a:latin typeface="Arial"/>
              <a:ea typeface="Arial"/>
              <a:cs typeface="Arial"/>
              <a:sym typeface="Arial"/>
            </a:endParaRPr>
          </a:p>
        </p:txBody>
      </p:sp>
      <p:sp>
        <p:nvSpPr>
          <p:cNvPr id="596" name="Google Shape;596;p27"/>
          <p:cNvSpPr txBox="1"/>
          <p:nvPr/>
        </p:nvSpPr>
        <p:spPr>
          <a:xfrm>
            <a:off x="5349240" y="2980944"/>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94,4%</a:t>
            </a:r>
            <a:endParaRPr b="0" i="0" sz="1400" u="none" cap="none" strike="noStrike">
              <a:solidFill>
                <a:srgbClr val="000000"/>
              </a:solidFill>
              <a:latin typeface="Arial"/>
              <a:ea typeface="Arial"/>
              <a:cs typeface="Arial"/>
              <a:sym typeface="Arial"/>
            </a:endParaRPr>
          </a:p>
        </p:txBody>
      </p:sp>
      <p:sp>
        <p:nvSpPr>
          <p:cNvPr id="597" name="Google Shape;597;p27"/>
          <p:cNvSpPr txBox="1"/>
          <p:nvPr/>
        </p:nvSpPr>
        <p:spPr>
          <a:xfrm>
            <a:off x="8183879" y="2980944"/>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93,4%</a:t>
            </a:r>
            <a:endParaRPr b="0" i="0" sz="1400" u="none" cap="none" strike="noStrike">
              <a:solidFill>
                <a:srgbClr val="000000"/>
              </a:solidFill>
              <a:latin typeface="Arial"/>
              <a:ea typeface="Arial"/>
              <a:cs typeface="Arial"/>
              <a:sym typeface="Arial"/>
            </a:endParaRPr>
          </a:p>
        </p:txBody>
      </p:sp>
      <p:sp>
        <p:nvSpPr>
          <p:cNvPr id="598" name="Google Shape;598;p27"/>
          <p:cNvSpPr/>
          <p:nvPr/>
        </p:nvSpPr>
        <p:spPr>
          <a:xfrm>
            <a:off x="411480" y="2871215"/>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599" name="Google Shape;599;p27"/>
          <p:cNvSpPr txBox="1"/>
          <p:nvPr/>
        </p:nvSpPr>
        <p:spPr>
          <a:xfrm>
            <a:off x="502920" y="3730752"/>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alta</a:t>
            </a:r>
            <a:endParaRPr b="0" i="0" sz="1400" u="none" cap="none" strike="noStrike">
              <a:solidFill>
                <a:srgbClr val="000000"/>
              </a:solidFill>
              <a:latin typeface="Arial"/>
              <a:ea typeface="Arial"/>
              <a:cs typeface="Arial"/>
              <a:sym typeface="Arial"/>
            </a:endParaRPr>
          </a:p>
        </p:txBody>
      </p:sp>
      <p:sp>
        <p:nvSpPr>
          <p:cNvPr id="600" name="Google Shape;600;p27"/>
          <p:cNvSpPr txBox="1"/>
          <p:nvPr/>
        </p:nvSpPr>
        <p:spPr>
          <a:xfrm>
            <a:off x="5349240" y="3730752"/>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96,1%</a:t>
            </a:r>
            <a:endParaRPr b="0" i="0" sz="1400" u="none" cap="none" strike="noStrike">
              <a:solidFill>
                <a:srgbClr val="000000"/>
              </a:solidFill>
              <a:latin typeface="Arial"/>
              <a:ea typeface="Arial"/>
              <a:cs typeface="Arial"/>
              <a:sym typeface="Arial"/>
            </a:endParaRPr>
          </a:p>
        </p:txBody>
      </p:sp>
      <p:sp>
        <p:nvSpPr>
          <p:cNvPr id="601" name="Google Shape;601;p27"/>
          <p:cNvSpPr txBox="1"/>
          <p:nvPr/>
        </p:nvSpPr>
        <p:spPr>
          <a:xfrm>
            <a:off x="8183879" y="3730752"/>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95,5%</a:t>
            </a:r>
            <a:endParaRPr b="0" i="0" sz="1400" u="none" cap="none" strike="noStrike">
              <a:solidFill>
                <a:srgbClr val="000000"/>
              </a:solidFill>
              <a:latin typeface="Arial"/>
              <a:ea typeface="Arial"/>
              <a:cs typeface="Arial"/>
              <a:sym typeface="Arial"/>
            </a:endParaRPr>
          </a:p>
        </p:txBody>
      </p:sp>
      <p:sp>
        <p:nvSpPr>
          <p:cNvPr id="602" name="Google Shape;602;p27"/>
          <p:cNvSpPr/>
          <p:nvPr/>
        </p:nvSpPr>
        <p:spPr>
          <a:xfrm>
            <a:off x="411480" y="3621024"/>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3" name="Google Shape;603;p27"/>
          <p:cNvSpPr txBox="1"/>
          <p:nvPr/>
        </p:nvSpPr>
        <p:spPr>
          <a:xfrm>
            <a:off x="502920" y="4480560"/>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 (bruto)</a:t>
            </a:r>
            <a:endParaRPr b="0" i="0" sz="1400" u="none" cap="none" strike="noStrike">
              <a:solidFill>
                <a:srgbClr val="000000"/>
              </a:solidFill>
              <a:latin typeface="Arial"/>
              <a:ea typeface="Arial"/>
              <a:cs typeface="Arial"/>
              <a:sym typeface="Arial"/>
            </a:endParaRPr>
          </a:p>
        </p:txBody>
      </p:sp>
      <p:sp>
        <p:nvSpPr>
          <p:cNvPr id="604" name="Google Shape;604;p27"/>
          <p:cNvSpPr txBox="1"/>
          <p:nvPr/>
        </p:nvSpPr>
        <p:spPr>
          <a:xfrm>
            <a:off x="5349240" y="4480560"/>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82,4%</a:t>
            </a:r>
            <a:endParaRPr b="0" i="0" sz="1400" u="none" cap="none" strike="noStrike">
              <a:solidFill>
                <a:srgbClr val="000000"/>
              </a:solidFill>
              <a:latin typeface="Arial"/>
              <a:ea typeface="Arial"/>
              <a:cs typeface="Arial"/>
              <a:sym typeface="Arial"/>
            </a:endParaRPr>
          </a:p>
        </p:txBody>
      </p:sp>
      <p:sp>
        <p:nvSpPr>
          <p:cNvPr id="605" name="Google Shape;605;p27"/>
          <p:cNvSpPr txBox="1"/>
          <p:nvPr/>
        </p:nvSpPr>
        <p:spPr>
          <a:xfrm>
            <a:off x="8183879" y="4480560"/>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76,9%</a:t>
            </a:r>
            <a:endParaRPr b="0" i="0" sz="1400" u="none" cap="none" strike="noStrike">
              <a:solidFill>
                <a:srgbClr val="000000"/>
              </a:solidFill>
              <a:latin typeface="Arial"/>
              <a:ea typeface="Arial"/>
              <a:cs typeface="Arial"/>
              <a:sym typeface="Arial"/>
            </a:endParaRPr>
          </a:p>
        </p:txBody>
      </p:sp>
      <p:sp>
        <p:nvSpPr>
          <p:cNvPr id="606" name="Google Shape;606;p27"/>
          <p:cNvSpPr/>
          <p:nvPr/>
        </p:nvSpPr>
        <p:spPr>
          <a:xfrm>
            <a:off x="411480" y="4370832"/>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7" name="Google Shape;607;p27"/>
          <p:cNvSpPr/>
          <p:nvPr/>
        </p:nvSpPr>
        <p:spPr>
          <a:xfrm>
            <a:off x="411480" y="5120640"/>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8" name="Google Shape;608;p27"/>
          <p:cNvSpPr/>
          <p:nvPr/>
        </p:nvSpPr>
        <p:spPr>
          <a:xfrm>
            <a:off x="518464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09" name="Google Shape;609;p27"/>
          <p:cNvSpPr/>
          <p:nvPr/>
        </p:nvSpPr>
        <p:spPr>
          <a:xfrm>
            <a:off x="801928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10" name="Google Shape;610;p27"/>
          <p:cNvSpPr/>
          <p:nvPr/>
        </p:nvSpPr>
        <p:spPr>
          <a:xfrm>
            <a:off x="384048" y="2121408"/>
            <a:ext cx="11448288" cy="658368"/>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pic>
        <p:nvPicPr>
          <p:cNvPr descr="sbseg2026_rodape.png" id="616" name="Google Shape;616;p2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17" name="Google Shape;617;p28"/>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25</a:t>
            </a:r>
            <a:endParaRPr b="0" i="0" sz="1400" u="none" cap="none" strike="noStrike">
              <a:solidFill>
                <a:srgbClr val="000000"/>
              </a:solidFill>
              <a:latin typeface="Arial"/>
              <a:ea typeface="Arial"/>
              <a:cs typeface="Arial"/>
              <a:sym typeface="Arial"/>
            </a:endParaRPr>
          </a:p>
        </p:txBody>
      </p:sp>
      <p:sp>
        <p:nvSpPr>
          <p:cNvPr id="618" name="Google Shape;618;p28"/>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619" name="Google Shape;619;p28"/>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 mais baixada não é mais bem mantida</a:t>
            </a:r>
            <a:endParaRPr b="0" i="0" sz="1400" u="none" cap="none" strike="noStrike">
              <a:solidFill>
                <a:srgbClr val="000000"/>
              </a:solidFill>
              <a:latin typeface="Arial"/>
              <a:ea typeface="Arial"/>
              <a:cs typeface="Arial"/>
              <a:sym typeface="Arial"/>
            </a:endParaRPr>
          </a:p>
        </p:txBody>
      </p:sp>
      <p:sp>
        <p:nvSpPr>
          <p:cNvPr id="620" name="Google Shape;620;p28"/>
          <p:cNvSpPr txBox="1"/>
          <p:nvPr/>
        </p:nvSpPr>
        <p:spPr>
          <a:xfrm>
            <a:off x="502920" y="164592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Métrica</a:t>
            </a:r>
            <a:endParaRPr b="0" i="0" sz="1400" u="none" cap="none" strike="noStrike">
              <a:solidFill>
                <a:srgbClr val="000000"/>
              </a:solidFill>
              <a:latin typeface="Arial"/>
              <a:ea typeface="Arial"/>
              <a:cs typeface="Arial"/>
              <a:sym typeface="Arial"/>
            </a:endParaRPr>
          </a:p>
        </p:txBody>
      </p:sp>
      <p:sp>
        <p:nvSpPr>
          <p:cNvPr id="621" name="Google Shape;621;p28"/>
          <p:cNvSpPr txBox="1"/>
          <p:nvPr/>
        </p:nvSpPr>
        <p:spPr>
          <a:xfrm>
            <a:off x="5349240" y="1645920"/>
            <a:ext cx="26060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Aleatória</a:t>
            </a:r>
            <a:endParaRPr b="0" i="0" sz="1400" u="none" cap="none" strike="noStrike">
              <a:solidFill>
                <a:srgbClr val="000000"/>
              </a:solidFill>
              <a:latin typeface="Arial"/>
              <a:ea typeface="Arial"/>
              <a:cs typeface="Arial"/>
              <a:sym typeface="Arial"/>
            </a:endParaRPr>
          </a:p>
        </p:txBody>
      </p:sp>
      <p:sp>
        <p:nvSpPr>
          <p:cNvPr id="622" name="Google Shape;622;p28"/>
          <p:cNvSpPr txBox="1"/>
          <p:nvPr/>
        </p:nvSpPr>
        <p:spPr>
          <a:xfrm>
            <a:off x="8183879" y="1645920"/>
            <a:ext cx="338328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Mais exposta</a:t>
            </a:r>
            <a:endParaRPr b="0" i="0" sz="1400" u="none" cap="none" strike="noStrike">
              <a:solidFill>
                <a:srgbClr val="000000"/>
              </a:solidFill>
              <a:latin typeface="Arial"/>
              <a:ea typeface="Arial"/>
              <a:cs typeface="Arial"/>
              <a:sym typeface="Arial"/>
            </a:endParaRPr>
          </a:p>
        </p:txBody>
      </p:sp>
      <p:sp>
        <p:nvSpPr>
          <p:cNvPr id="623" name="Google Shape;623;p28"/>
          <p:cNvSpPr/>
          <p:nvPr/>
        </p:nvSpPr>
        <p:spPr>
          <a:xfrm>
            <a:off x="411480" y="2084831"/>
            <a:ext cx="11384280" cy="41148"/>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24" name="Google Shape;624;p28"/>
          <p:cNvSpPr txBox="1"/>
          <p:nvPr/>
        </p:nvSpPr>
        <p:spPr>
          <a:xfrm>
            <a:off x="502920" y="2231136"/>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Imagens escaneadas</a:t>
            </a:r>
            <a:endParaRPr b="0" i="0" sz="1400" u="none" cap="none" strike="noStrike">
              <a:solidFill>
                <a:srgbClr val="000000"/>
              </a:solidFill>
              <a:latin typeface="Arial"/>
              <a:ea typeface="Arial"/>
              <a:cs typeface="Arial"/>
              <a:sym typeface="Arial"/>
            </a:endParaRPr>
          </a:p>
        </p:txBody>
      </p:sp>
      <p:sp>
        <p:nvSpPr>
          <p:cNvPr id="625" name="Google Shape;625;p28"/>
          <p:cNvSpPr txBox="1"/>
          <p:nvPr/>
        </p:nvSpPr>
        <p:spPr>
          <a:xfrm>
            <a:off x="5349240" y="2231136"/>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626" name="Google Shape;626;p28"/>
          <p:cNvSpPr txBox="1"/>
          <p:nvPr/>
        </p:nvSpPr>
        <p:spPr>
          <a:xfrm>
            <a:off x="8183879" y="2231136"/>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52.895</a:t>
            </a:r>
            <a:endParaRPr b="0" i="0" sz="1400" u="none" cap="none" strike="noStrike">
              <a:solidFill>
                <a:srgbClr val="000000"/>
              </a:solidFill>
              <a:latin typeface="Arial"/>
              <a:ea typeface="Arial"/>
              <a:cs typeface="Arial"/>
              <a:sym typeface="Arial"/>
            </a:endParaRPr>
          </a:p>
        </p:txBody>
      </p:sp>
      <p:sp>
        <p:nvSpPr>
          <p:cNvPr id="627" name="Google Shape;627;p28"/>
          <p:cNvSpPr txBox="1"/>
          <p:nvPr/>
        </p:nvSpPr>
        <p:spPr>
          <a:xfrm>
            <a:off x="502920" y="2980944"/>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crítica</a:t>
            </a:r>
            <a:endParaRPr b="0" i="0" sz="1400" u="none" cap="none" strike="noStrike">
              <a:solidFill>
                <a:srgbClr val="000000"/>
              </a:solidFill>
              <a:latin typeface="Arial"/>
              <a:ea typeface="Arial"/>
              <a:cs typeface="Arial"/>
              <a:sym typeface="Arial"/>
            </a:endParaRPr>
          </a:p>
        </p:txBody>
      </p:sp>
      <p:sp>
        <p:nvSpPr>
          <p:cNvPr id="628" name="Google Shape;628;p28"/>
          <p:cNvSpPr txBox="1"/>
          <p:nvPr/>
        </p:nvSpPr>
        <p:spPr>
          <a:xfrm>
            <a:off x="5349240" y="2980944"/>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94,4%</a:t>
            </a:r>
            <a:endParaRPr b="0" i="0" sz="1400" u="none" cap="none" strike="noStrike">
              <a:solidFill>
                <a:srgbClr val="000000"/>
              </a:solidFill>
              <a:latin typeface="Arial"/>
              <a:ea typeface="Arial"/>
              <a:cs typeface="Arial"/>
              <a:sym typeface="Arial"/>
            </a:endParaRPr>
          </a:p>
        </p:txBody>
      </p:sp>
      <p:sp>
        <p:nvSpPr>
          <p:cNvPr id="629" name="Google Shape;629;p28"/>
          <p:cNvSpPr txBox="1"/>
          <p:nvPr/>
        </p:nvSpPr>
        <p:spPr>
          <a:xfrm>
            <a:off x="8183879" y="2980944"/>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93,4%</a:t>
            </a:r>
            <a:endParaRPr b="0" i="0" sz="1400" u="none" cap="none" strike="noStrike">
              <a:solidFill>
                <a:srgbClr val="000000"/>
              </a:solidFill>
              <a:latin typeface="Arial"/>
              <a:ea typeface="Arial"/>
              <a:cs typeface="Arial"/>
              <a:sym typeface="Arial"/>
            </a:endParaRPr>
          </a:p>
        </p:txBody>
      </p:sp>
      <p:sp>
        <p:nvSpPr>
          <p:cNvPr id="630" name="Google Shape;630;p28"/>
          <p:cNvSpPr/>
          <p:nvPr/>
        </p:nvSpPr>
        <p:spPr>
          <a:xfrm>
            <a:off x="411480" y="2871215"/>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1" name="Google Shape;631;p28"/>
          <p:cNvSpPr txBox="1"/>
          <p:nvPr/>
        </p:nvSpPr>
        <p:spPr>
          <a:xfrm>
            <a:off x="502920" y="3730752"/>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alta</a:t>
            </a:r>
            <a:endParaRPr b="0" i="0" sz="1400" u="none" cap="none" strike="noStrike">
              <a:solidFill>
                <a:srgbClr val="000000"/>
              </a:solidFill>
              <a:latin typeface="Arial"/>
              <a:ea typeface="Arial"/>
              <a:cs typeface="Arial"/>
              <a:sym typeface="Arial"/>
            </a:endParaRPr>
          </a:p>
        </p:txBody>
      </p:sp>
      <p:sp>
        <p:nvSpPr>
          <p:cNvPr id="632" name="Google Shape;632;p28"/>
          <p:cNvSpPr txBox="1"/>
          <p:nvPr/>
        </p:nvSpPr>
        <p:spPr>
          <a:xfrm>
            <a:off x="5349240" y="3730752"/>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96,1%</a:t>
            </a:r>
            <a:endParaRPr b="0" i="0" sz="1400" u="none" cap="none" strike="noStrike">
              <a:solidFill>
                <a:srgbClr val="000000"/>
              </a:solidFill>
              <a:latin typeface="Arial"/>
              <a:ea typeface="Arial"/>
              <a:cs typeface="Arial"/>
              <a:sym typeface="Arial"/>
            </a:endParaRPr>
          </a:p>
        </p:txBody>
      </p:sp>
      <p:sp>
        <p:nvSpPr>
          <p:cNvPr id="633" name="Google Shape;633;p28"/>
          <p:cNvSpPr txBox="1"/>
          <p:nvPr/>
        </p:nvSpPr>
        <p:spPr>
          <a:xfrm>
            <a:off x="8183879" y="3730752"/>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95,5%</a:t>
            </a:r>
            <a:endParaRPr b="0" i="0" sz="1400" u="none" cap="none" strike="noStrike">
              <a:solidFill>
                <a:srgbClr val="000000"/>
              </a:solidFill>
              <a:latin typeface="Arial"/>
              <a:ea typeface="Arial"/>
              <a:cs typeface="Arial"/>
              <a:sym typeface="Arial"/>
            </a:endParaRPr>
          </a:p>
        </p:txBody>
      </p:sp>
      <p:sp>
        <p:nvSpPr>
          <p:cNvPr id="634" name="Google Shape;634;p28"/>
          <p:cNvSpPr/>
          <p:nvPr/>
        </p:nvSpPr>
        <p:spPr>
          <a:xfrm>
            <a:off x="411480" y="3621024"/>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5" name="Google Shape;635;p28"/>
          <p:cNvSpPr txBox="1"/>
          <p:nvPr/>
        </p:nvSpPr>
        <p:spPr>
          <a:xfrm>
            <a:off x="502920" y="4480560"/>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 (bruto)</a:t>
            </a:r>
            <a:endParaRPr b="0" i="0" sz="1400" u="none" cap="none" strike="noStrike">
              <a:solidFill>
                <a:srgbClr val="000000"/>
              </a:solidFill>
              <a:latin typeface="Arial"/>
              <a:ea typeface="Arial"/>
              <a:cs typeface="Arial"/>
              <a:sym typeface="Arial"/>
            </a:endParaRPr>
          </a:p>
        </p:txBody>
      </p:sp>
      <p:sp>
        <p:nvSpPr>
          <p:cNvPr id="636" name="Google Shape;636;p28"/>
          <p:cNvSpPr txBox="1"/>
          <p:nvPr/>
        </p:nvSpPr>
        <p:spPr>
          <a:xfrm>
            <a:off x="5349240" y="4480560"/>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82,4%</a:t>
            </a:r>
            <a:endParaRPr b="0" i="0" sz="1400" u="none" cap="none" strike="noStrike">
              <a:solidFill>
                <a:srgbClr val="000000"/>
              </a:solidFill>
              <a:latin typeface="Arial"/>
              <a:ea typeface="Arial"/>
              <a:cs typeface="Arial"/>
              <a:sym typeface="Arial"/>
            </a:endParaRPr>
          </a:p>
        </p:txBody>
      </p:sp>
      <p:sp>
        <p:nvSpPr>
          <p:cNvPr id="637" name="Google Shape;637;p28"/>
          <p:cNvSpPr txBox="1"/>
          <p:nvPr/>
        </p:nvSpPr>
        <p:spPr>
          <a:xfrm>
            <a:off x="8183879" y="4480560"/>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76,9%</a:t>
            </a:r>
            <a:endParaRPr b="0" i="0" sz="1400" u="none" cap="none" strike="noStrike">
              <a:solidFill>
                <a:srgbClr val="000000"/>
              </a:solidFill>
              <a:latin typeface="Arial"/>
              <a:ea typeface="Arial"/>
              <a:cs typeface="Arial"/>
              <a:sym typeface="Arial"/>
            </a:endParaRPr>
          </a:p>
        </p:txBody>
      </p:sp>
      <p:sp>
        <p:nvSpPr>
          <p:cNvPr id="638" name="Google Shape;638;p28"/>
          <p:cNvSpPr/>
          <p:nvPr/>
        </p:nvSpPr>
        <p:spPr>
          <a:xfrm>
            <a:off x="411480" y="4370832"/>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39" name="Google Shape;639;p28"/>
          <p:cNvSpPr/>
          <p:nvPr/>
        </p:nvSpPr>
        <p:spPr>
          <a:xfrm>
            <a:off x="411480" y="5120640"/>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0" name="Google Shape;640;p28"/>
          <p:cNvSpPr/>
          <p:nvPr/>
        </p:nvSpPr>
        <p:spPr>
          <a:xfrm>
            <a:off x="518464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1" name="Google Shape;641;p28"/>
          <p:cNvSpPr/>
          <p:nvPr/>
        </p:nvSpPr>
        <p:spPr>
          <a:xfrm>
            <a:off x="801928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42" name="Google Shape;642;p28"/>
          <p:cNvSpPr/>
          <p:nvPr/>
        </p:nvSpPr>
        <p:spPr>
          <a:xfrm>
            <a:off x="384048" y="2871215"/>
            <a:ext cx="11448288" cy="658368"/>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7" name="Shape 647"/>
        <p:cNvGrpSpPr/>
        <p:nvPr/>
      </p:nvGrpSpPr>
      <p:grpSpPr>
        <a:xfrm>
          <a:off x="0" y="0"/>
          <a:ext cx="0" cy="0"/>
          <a:chOff x="0" y="0"/>
          <a:chExt cx="0" cy="0"/>
        </a:xfrm>
      </p:grpSpPr>
      <p:pic>
        <p:nvPicPr>
          <p:cNvPr descr="sbseg2026_rodape.png" id="648" name="Google Shape;648;p2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49" name="Google Shape;649;p29"/>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26</a:t>
            </a:r>
            <a:endParaRPr b="0" i="0" sz="1400" u="none" cap="none" strike="noStrike">
              <a:solidFill>
                <a:srgbClr val="000000"/>
              </a:solidFill>
              <a:latin typeface="Arial"/>
              <a:ea typeface="Arial"/>
              <a:cs typeface="Arial"/>
              <a:sym typeface="Arial"/>
            </a:endParaRPr>
          </a:p>
        </p:txBody>
      </p:sp>
      <p:sp>
        <p:nvSpPr>
          <p:cNvPr id="650" name="Google Shape;650;p29"/>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651" name="Google Shape;651;p29"/>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 mais baixada não é mais bem mantida</a:t>
            </a:r>
            <a:endParaRPr b="0" i="0" sz="1400" u="none" cap="none" strike="noStrike">
              <a:solidFill>
                <a:srgbClr val="000000"/>
              </a:solidFill>
              <a:latin typeface="Arial"/>
              <a:ea typeface="Arial"/>
              <a:cs typeface="Arial"/>
              <a:sym typeface="Arial"/>
            </a:endParaRPr>
          </a:p>
        </p:txBody>
      </p:sp>
      <p:sp>
        <p:nvSpPr>
          <p:cNvPr id="652" name="Google Shape;652;p29"/>
          <p:cNvSpPr txBox="1"/>
          <p:nvPr/>
        </p:nvSpPr>
        <p:spPr>
          <a:xfrm>
            <a:off x="502920" y="164592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Métrica</a:t>
            </a:r>
            <a:endParaRPr b="0" i="0" sz="1400" u="none" cap="none" strike="noStrike">
              <a:solidFill>
                <a:srgbClr val="000000"/>
              </a:solidFill>
              <a:latin typeface="Arial"/>
              <a:ea typeface="Arial"/>
              <a:cs typeface="Arial"/>
              <a:sym typeface="Arial"/>
            </a:endParaRPr>
          </a:p>
        </p:txBody>
      </p:sp>
      <p:sp>
        <p:nvSpPr>
          <p:cNvPr id="653" name="Google Shape;653;p29"/>
          <p:cNvSpPr txBox="1"/>
          <p:nvPr/>
        </p:nvSpPr>
        <p:spPr>
          <a:xfrm>
            <a:off x="5349240" y="1645920"/>
            <a:ext cx="26060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Aleatória</a:t>
            </a:r>
            <a:endParaRPr b="0" i="0" sz="1400" u="none" cap="none" strike="noStrike">
              <a:solidFill>
                <a:srgbClr val="000000"/>
              </a:solidFill>
              <a:latin typeface="Arial"/>
              <a:ea typeface="Arial"/>
              <a:cs typeface="Arial"/>
              <a:sym typeface="Arial"/>
            </a:endParaRPr>
          </a:p>
        </p:txBody>
      </p:sp>
      <p:sp>
        <p:nvSpPr>
          <p:cNvPr id="654" name="Google Shape;654;p29"/>
          <p:cNvSpPr txBox="1"/>
          <p:nvPr/>
        </p:nvSpPr>
        <p:spPr>
          <a:xfrm>
            <a:off x="8183879" y="1645920"/>
            <a:ext cx="338328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Mais exposta</a:t>
            </a:r>
            <a:endParaRPr b="0" i="0" sz="1400" u="none" cap="none" strike="noStrike">
              <a:solidFill>
                <a:srgbClr val="000000"/>
              </a:solidFill>
              <a:latin typeface="Arial"/>
              <a:ea typeface="Arial"/>
              <a:cs typeface="Arial"/>
              <a:sym typeface="Arial"/>
            </a:endParaRPr>
          </a:p>
        </p:txBody>
      </p:sp>
      <p:sp>
        <p:nvSpPr>
          <p:cNvPr id="655" name="Google Shape;655;p29"/>
          <p:cNvSpPr/>
          <p:nvPr/>
        </p:nvSpPr>
        <p:spPr>
          <a:xfrm>
            <a:off x="411480" y="2084831"/>
            <a:ext cx="11384280" cy="41148"/>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56" name="Google Shape;656;p29"/>
          <p:cNvSpPr txBox="1"/>
          <p:nvPr/>
        </p:nvSpPr>
        <p:spPr>
          <a:xfrm>
            <a:off x="502920" y="2231136"/>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Imagens escaneadas</a:t>
            </a:r>
            <a:endParaRPr b="0" i="0" sz="1400" u="none" cap="none" strike="noStrike">
              <a:solidFill>
                <a:srgbClr val="000000"/>
              </a:solidFill>
              <a:latin typeface="Arial"/>
              <a:ea typeface="Arial"/>
              <a:cs typeface="Arial"/>
              <a:sym typeface="Arial"/>
            </a:endParaRPr>
          </a:p>
        </p:txBody>
      </p:sp>
      <p:sp>
        <p:nvSpPr>
          <p:cNvPr id="657" name="Google Shape;657;p29"/>
          <p:cNvSpPr txBox="1"/>
          <p:nvPr/>
        </p:nvSpPr>
        <p:spPr>
          <a:xfrm>
            <a:off x="5349240" y="2231136"/>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658" name="Google Shape;658;p29"/>
          <p:cNvSpPr txBox="1"/>
          <p:nvPr/>
        </p:nvSpPr>
        <p:spPr>
          <a:xfrm>
            <a:off x="8183879" y="2231136"/>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52.895</a:t>
            </a:r>
            <a:endParaRPr b="0" i="0" sz="1400" u="none" cap="none" strike="noStrike">
              <a:solidFill>
                <a:srgbClr val="000000"/>
              </a:solidFill>
              <a:latin typeface="Arial"/>
              <a:ea typeface="Arial"/>
              <a:cs typeface="Arial"/>
              <a:sym typeface="Arial"/>
            </a:endParaRPr>
          </a:p>
        </p:txBody>
      </p:sp>
      <p:sp>
        <p:nvSpPr>
          <p:cNvPr id="659" name="Google Shape;659;p29"/>
          <p:cNvSpPr txBox="1"/>
          <p:nvPr/>
        </p:nvSpPr>
        <p:spPr>
          <a:xfrm>
            <a:off x="502920" y="2980944"/>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crítica</a:t>
            </a:r>
            <a:endParaRPr b="0" i="0" sz="1400" u="none" cap="none" strike="noStrike">
              <a:solidFill>
                <a:srgbClr val="000000"/>
              </a:solidFill>
              <a:latin typeface="Arial"/>
              <a:ea typeface="Arial"/>
              <a:cs typeface="Arial"/>
              <a:sym typeface="Arial"/>
            </a:endParaRPr>
          </a:p>
        </p:txBody>
      </p:sp>
      <p:sp>
        <p:nvSpPr>
          <p:cNvPr id="660" name="Google Shape;660;p29"/>
          <p:cNvSpPr txBox="1"/>
          <p:nvPr/>
        </p:nvSpPr>
        <p:spPr>
          <a:xfrm>
            <a:off x="5349240" y="2980944"/>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94,4%</a:t>
            </a:r>
            <a:endParaRPr b="0" i="0" sz="1400" u="none" cap="none" strike="noStrike">
              <a:solidFill>
                <a:srgbClr val="000000"/>
              </a:solidFill>
              <a:latin typeface="Arial"/>
              <a:ea typeface="Arial"/>
              <a:cs typeface="Arial"/>
              <a:sym typeface="Arial"/>
            </a:endParaRPr>
          </a:p>
        </p:txBody>
      </p:sp>
      <p:sp>
        <p:nvSpPr>
          <p:cNvPr id="661" name="Google Shape;661;p29"/>
          <p:cNvSpPr txBox="1"/>
          <p:nvPr/>
        </p:nvSpPr>
        <p:spPr>
          <a:xfrm>
            <a:off x="8183879" y="2980944"/>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93,4%</a:t>
            </a:r>
            <a:endParaRPr b="0" i="0" sz="1400" u="none" cap="none" strike="noStrike">
              <a:solidFill>
                <a:srgbClr val="000000"/>
              </a:solidFill>
              <a:latin typeface="Arial"/>
              <a:ea typeface="Arial"/>
              <a:cs typeface="Arial"/>
              <a:sym typeface="Arial"/>
            </a:endParaRPr>
          </a:p>
        </p:txBody>
      </p:sp>
      <p:sp>
        <p:nvSpPr>
          <p:cNvPr id="662" name="Google Shape;662;p29"/>
          <p:cNvSpPr/>
          <p:nvPr/>
        </p:nvSpPr>
        <p:spPr>
          <a:xfrm>
            <a:off x="411480" y="2871215"/>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3" name="Google Shape;663;p29"/>
          <p:cNvSpPr txBox="1"/>
          <p:nvPr/>
        </p:nvSpPr>
        <p:spPr>
          <a:xfrm>
            <a:off x="502920" y="3730752"/>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alta</a:t>
            </a:r>
            <a:endParaRPr b="0" i="0" sz="1400" u="none" cap="none" strike="noStrike">
              <a:solidFill>
                <a:srgbClr val="000000"/>
              </a:solidFill>
              <a:latin typeface="Arial"/>
              <a:ea typeface="Arial"/>
              <a:cs typeface="Arial"/>
              <a:sym typeface="Arial"/>
            </a:endParaRPr>
          </a:p>
        </p:txBody>
      </p:sp>
      <p:sp>
        <p:nvSpPr>
          <p:cNvPr id="664" name="Google Shape;664;p29"/>
          <p:cNvSpPr txBox="1"/>
          <p:nvPr/>
        </p:nvSpPr>
        <p:spPr>
          <a:xfrm>
            <a:off x="5349240" y="3730752"/>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96,1%</a:t>
            </a:r>
            <a:endParaRPr b="0" i="0" sz="1400" u="none" cap="none" strike="noStrike">
              <a:solidFill>
                <a:srgbClr val="000000"/>
              </a:solidFill>
              <a:latin typeface="Arial"/>
              <a:ea typeface="Arial"/>
              <a:cs typeface="Arial"/>
              <a:sym typeface="Arial"/>
            </a:endParaRPr>
          </a:p>
        </p:txBody>
      </p:sp>
      <p:sp>
        <p:nvSpPr>
          <p:cNvPr id="665" name="Google Shape;665;p29"/>
          <p:cNvSpPr txBox="1"/>
          <p:nvPr/>
        </p:nvSpPr>
        <p:spPr>
          <a:xfrm>
            <a:off x="8183879" y="3730752"/>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95,5%</a:t>
            </a:r>
            <a:endParaRPr b="0" i="0" sz="1400" u="none" cap="none" strike="noStrike">
              <a:solidFill>
                <a:srgbClr val="000000"/>
              </a:solidFill>
              <a:latin typeface="Arial"/>
              <a:ea typeface="Arial"/>
              <a:cs typeface="Arial"/>
              <a:sym typeface="Arial"/>
            </a:endParaRPr>
          </a:p>
        </p:txBody>
      </p:sp>
      <p:sp>
        <p:nvSpPr>
          <p:cNvPr id="666" name="Google Shape;666;p29"/>
          <p:cNvSpPr/>
          <p:nvPr/>
        </p:nvSpPr>
        <p:spPr>
          <a:xfrm>
            <a:off x="411480" y="3621024"/>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67" name="Google Shape;667;p29"/>
          <p:cNvSpPr txBox="1"/>
          <p:nvPr/>
        </p:nvSpPr>
        <p:spPr>
          <a:xfrm>
            <a:off x="502920" y="4480560"/>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 (bruto)</a:t>
            </a:r>
            <a:endParaRPr b="0" i="0" sz="1400" u="none" cap="none" strike="noStrike">
              <a:solidFill>
                <a:srgbClr val="000000"/>
              </a:solidFill>
              <a:latin typeface="Arial"/>
              <a:ea typeface="Arial"/>
              <a:cs typeface="Arial"/>
              <a:sym typeface="Arial"/>
            </a:endParaRPr>
          </a:p>
        </p:txBody>
      </p:sp>
      <p:sp>
        <p:nvSpPr>
          <p:cNvPr id="668" name="Google Shape;668;p29"/>
          <p:cNvSpPr txBox="1"/>
          <p:nvPr/>
        </p:nvSpPr>
        <p:spPr>
          <a:xfrm>
            <a:off x="5349240" y="4480560"/>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82,4%</a:t>
            </a:r>
            <a:endParaRPr b="0" i="0" sz="1400" u="none" cap="none" strike="noStrike">
              <a:solidFill>
                <a:srgbClr val="000000"/>
              </a:solidFill>
              <a:latin typeface="Arial"/>
              <a:ea typeface="Arial"/>
              <a:cs typeface="Arial"/>
              <a:sym typeface="Arial"/>
            </a:endParaRPr>
          </a:p>
        </p:txBody>
      </p:sp>
      <p:sp>
        <p:nvSpPr>
          <p:cNvPr id="669" name="Google Shape;669;p29"/>
          <p:cNvSpPr txBox="1"/>
          <p:nvPr/>
        </p:nvSpPr>
        <p:spPr>
          <a:xfrm>
            <a:off x="8183879" y="4480560"/>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76,9%</a:t>
            </a:r>
            <a:endParaRPr b="0" i="0" sz="1400" u="none" cap="none" strike="noStrike">
              <a:solidFill>
                <a:srgbClr val="000000"/>
              </a:solidFill>
              <a:latin typeface="Arial"/>
              <a:ea typeface="Arial"/>
              <a:cs typeface="Arial"/>
              <a:sym typeface="Arial"/>
            </a:endParaRPr>
          </a:p>
        </p:txBody>
      </p:sp>
      <p:sp>
        <p:nvSpPr>
          <p:cNvPr id="670" name="Google Shape;670;p29"/>
          <p:cNvSpPr/>
          <p:nvPr/>
        </p:nvSpPr>
        <p:spPr>
          <a:xfrm>
            <a:off x="411480" y="4370832"/>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1" name="Google Shape;671;p29"/>
          <p:cNvSpPr/>
          <p:nvPr/>
        </p:nvSpPr>
        <p:spPr>
          <a:xfrm>
            <a:off x="411480" y="5120640"/>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2" name="Google Shape;672;p29"/>
          <p:cNvSpPr/>
          <p:nvPr/>
        </p:nvSpPr>
        <p:spPr>
          <a:xfrm>
            <a:off x="518464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3" name="Google Shape;673;p29"/>
          <p:cNvSpPr/>
          <p:nvPr/>
        </p:nvSpPr>
        <p:spPr>
          <a:xfrm>
            <a:off x="801928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74" name="Google Shape;674;p29"/>
          <p:cNvSpPr/>
          <p:nvPr/>
        </p:nvSpPr>
        <p:spPr>
          <a:xfrm>
            <a:off x="384048" y="3621024"/>
            <a:ext cx="11448288" cy="658368"/>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9" name="Shape 679"/>
        <p:cNvGrpSpPr/>
        <p:nvPr/>
      </p:nvGrpSpPr>
      <p:grpSpPr>
        <a:xfrm>
          <a:off x="0" y="0"/>
          <a:ext cx="0" cy="0"/>
          <a:chOff x="0" y="0"/>
          <a:chExt cx="0" cy="0"/>
        </a:xfrm>
      </p:grpSpPr>
      <p:pic>
        <p:nvPicPr>
          <p:cNvPr descr="sbseg2026_rodape.png" id="680" name="Google Shape;680;p3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681" name="Google Shape;681;p30"/>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27</a:t>
            </a:r>
            <a:endParaRPr b="0" i="0" sz="1400" u="none" cap="none" strike="noStrike">
              <a:solidFill>
                <a:srgbClr val="000000"/>
              </a:solidFill>
              <a:latin typeface="Arial"/>
              <a:ea typeface="Arial"/>
              <a:cs typeface="Arial"/>
              <a:sym typeface="Arial"/>
            </a:endParaRPr>
          </a:p>
        </p:txBody>
      </p:sp>
      <p:sp>
        <p:nvSpPr>
          <p:cNvPr id="682" name="Google Shape;682;p30"/>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683" name="Google Shape;683;p30"/>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 mais baixada não é mais bem mantida</a:t>
            </a:r>
            <a:endParaRPr b="0" i="0" sz="1400" u="none" cap="none" strike="noStrike">
              <a:solidFill>
                <a:srgbClr val="000000"/>
              </a:solidFill>
              <a:latin typeface="Arial"/>
              <a:ea typeface="Arial"/>
              <a:cs typeface="Arial"/>
              <a:sym typeface="Arial"/>
            </a:endParaRPr>
          </a:p>
        </p:txBody>
      </p:sp>
      <p:sp>
        <p:nvSpPr>
          <p:cNvPr id="684" name="Google Shape;684;p30"/>
          <p:cNvSpPr txBox="1"/>
          <p:nvPr/>
        </p:nvSpPr>
        <p:spPr>
          <a:xfrm>
            <a:off x="502920" y="1645920"/>
            <a:ext cx="46634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Métrica</a:t>
            </a:r>
            <a:endParaRPr b="0" i="0" sz="1400" u="none" cap="none" strike="noStrike">
              <a:solidFill>
                <a:srgbClr val="000000"/>
              </a:solidFill>
              <a:latin typeface="Arial"/>
              <a:ea typeface="Arial"/>
              <a:cs typeface="Arial"/>
              <a:sym typeface="Arial"/>
            </a:endParaRPr>
          </a:p>
        </p:txBody>
      </p:sp>
      <p:sp>
        <p:nvSpPr>
          <p:cNvPr id="685" name="Google Shape;685;p30"/>
          <p:cNvSpPr txBox="1"/>
          <p:nvPr/>
        </p:nvSpPr>
        <p:spPr>
          <a:xfrm>
            <a:off x="5349240" y="1645920"/>
            <a:ext cx="260604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Aleatória</a:t>
            </a:r>
            <a:endParaRPr b="0" i="0" sz="1400" u="none" cap="none" strike="noStrike">
              <a:solidFill>
                <a:srgbClr val="000000"/>
              </a:solidFill>
              <a:latin typeface="Arial"/>
              <a:ea typeface="Arial"/>
              <a:cs typeface="Arial"/>
              <a:sym typeface="Arial"/>
            </a:endParaRPr>
          </a:p>
        </p:txBody>
      </p:sp>
      <p:sp>
        <p:nvSpPr>
          <p:cNvPr id="686" name="Google Shape;686;p30"/>
          <p:cNvSpPr txBox="1"/>
          <p:nvPr/>
        </p:nvSpPr>
        <p:spPr>
          <a:xfrm>
            <a:off x="8183879" y="1645920"/>
            <a:ext cx="3383280" cy="36576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Mais exposta</a:t>
            </a:r>
            <a:endParaRPr b="0" i="0" sz="1400" u="none" cap="none" strike="noStrike">
              <a:solidFill>
                <a:srgbClr val="000000"/>
              </a:solidFill>
              <a:latin typeface="Arial"/>
              <a:ea typeface="Arial"/>
              <a:cs typeface="Arial"/>
              <a:sym typeface="Arial"/>
            </a:endParaRPr>
          </a:p>
        </p:txBody>
      </p:sp>
      <p:sp>
        <p:nvSpPr>
          <p:cNvPr id="687" name="Google Shape;687;p30"/>
          <p:cNvSpPr/>
          <p:nvPr/>
        </p:nvSpPr>
        <p:spPr>
          <a:xfrm>
            <a:off x="411480" y="2084831"/>
            <a:ext cx="11384280" cy="41148"/>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88" name="Google Shape;688;p30"/>
          <p:cNvSpPr txBox="1"/>
          <p:nvPr/>
        </p:nvSpPr>
        <p:spPr>
          <a:xfrm>
            <a:off x="502920" y="2231136"/>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Imagens escaneadas</a:t>
            </a:r>
            <a:endParaRPr b="0" i="0" sz="1400" u="none" cap="none" strike="noStrike">
              <a:solidFill>
                <a:srgbClr val="000000"/>
              </a:solidFill>
              <a:latin typeface="Arial"/>
              <a:ea typeface="Arial"/>
              <a:cs typeface="Arial"/>
              <a:sym typeface="Arial"/>
            </a:endParaRPr>
          </a:p>
        </p:txBody>
      </p:sp>
      <p:sp>
        <p:nvSpPr>
          <p:cNvPr id="689" name="Google Shape;689;p30"/>
          <p:cNvSpPr txBox="1"/>
          <p:nvPr/>
        </p:nvSpPr>
        <p:spPr>
          <a:xfrm>
            <a:off x="5349240" y="2231136"/>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2.879</a:t>
            </a:r>
            <a:endParaRPr b="0" i="0" sz="1400" u="none" cap="none" strike="noStrike">
              <a:solidFill>
                <a:srgbClr val="000000"/>
              </a:solidFill>
              <a:latin typeface="Arial"/>
              <a:ea typeface="Arial"/>
              <a:cs typeface="Arial"/>
              <a:sym typeface="Arial"/>
            </a:endParaRPr>
          </a:p>
        </p:txBody>
      </p:sp>
      <p:sp>
        <p:nvSpPr>
          <p:cNvPr id="690" name="Google Shape;690;p30"/>
          <p:cNvSpPr txBox="1"/>
          <p:nvPr/>
        </p:nvSpPr>
        <p:spPr>
          <a:xfrm>
            <a:off x="8183879" y="2231136"/>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52.895</a:t>
            </a:r>
            <a:endParaRPr b="0" i="0" sz="1400" u="none" cap="none" strike="noStrike">
              <a:solidFill>
                <a:srgbClr val="000000"/>
              </a:solidFill>
              <a:latin typeface="Arial"/>
              <a:ea typeface="Arial"/>
              <a:cs typeface="Arial"/>
              <a:sym typeface="Arial"/>
            </a:endParaRPr>
          </a:p>
        </p:txBody>
      </p:sp>
      <p:sp>
        <p:nvSpPr>
          <p:cNvPr id="691" name="Google Shape;691;p30"/>
          <p:cNvSpPr txBox="1"/>
          <p:nvPr/>
        </p:nvSpPr>
        <p:spPr>
          <a:xfrm>
            <a:off x="502920" y="2980944"/>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crítica</a:t>
            </a:r>
            <a:endParaRPr b="0" i="0" sz="1400" u="none" cap="none" strike="noStrike">
              <a:solidFill>
                <a:srgbClr val="000000"/>
              </a:solidFill>
              <a:latin typeface="Arial"/>
              <a:ea typeface="Arial"/>
              <a:cs typeface="Arial"/>
              <a:sym typeface="Arial"/>
            </a:endParaRPr>
          </a:p>
        </p:txBody>
      </p:sp>
      <p:sp>
        <p:nvSpPr>
          <p:cNvPr id="692" name="Google Shape;692;p30"/>
          <p:cNvSpPr txBox="1"/>
          <p:nvPr/>
        </p:nvSpPr>
        <p:spPr>
          <a:xfrm>
            <a:off x="5349240" y="2980944"/>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94,4%</a:t>
            </a:r>
            <a:endParaRPr b="0" i="0" sz="1400" u="none" cap="none" strike="noStrike">
              <a:solidFill>
                <a:srgbClr val="000000"/>
              </a:solidFill>
              <a:latin typeface="Arial"/>
              <a:ea typeface="Arial"/>
              <a:cs typeface="Arial"/>
              <a:sym typeface="Arial"/>
            </a:endParaRPr>
          </a:p>
        </p:txBody>
      </p:sp>
      <p:sp>
        <p:nvSpPr>
          <p:cNvPr id="693" name="Google Shape;693;p30"/>
          <p:cNvSpPr txBox="1"/>
          <p:nvPr/>
        </p:nvSpPr>
        <p:spPr>
          <a:xfrm>
            <a:off x="8183879" y="2980944"/>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93,4%</a:t>
            </a:r>
            <a:endParaRPr b="0" i="0" sz="1400" u="none" cap="none" strike="noStrike">
              <a:solidFill>
                <a:srgbClr val="000000"/>
              </a:solidFill>
              <a:latin typeface="Arial"/>
              <a:ea typeface="Arial"/>
              <a:cs typeface="Arial"/>
              <a:sym typeface="Arial"/>
            </a:endParaRPr>
          </a:p>
        </p:txBody>
      </p:sp>
      <p:sp>
        <p:nvSpPr>
          <p:cNvPr id="694" name="Google Shape;694;p30"/>
          <p:cNvSpPr/>
          <p:nvPr/>
        </p:nvSpPr>
        <p:spPr>
          <a:xfrm>
            <a:off x="411480" y="2871215"/>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5" name="Google Shape;695;p30"/>
          <p:cNvSpPr txBox="1"/>
          <p:nvPr/>
        </p:nvSpPr>
        <p:spPr>
          <a:xfrm>
            <a:off x="502920" y="3730752"/>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Ao menos 1 alta</a:t>
            </a:r>
            <a:endParaRPr b="0" i="0" sz="1400" u="none" cap="none" strike="noStrike">
              <a:solidFill>
                <a:srgbClr val="000000"/>
              </a:solidFill>
              <a:latin typeface="Arial"/>
              <a:ea typeface="Arial"/>
              <a:cs typeface="Arial"/>
              <a:sym typeface="Arial"/>
            </a:endParaRPr>
          </a:p>
        </p:txBody>
      </p:sp>
      <p:sp>
        <p:nvSpPr>
          <p:cNvPr id="696" name="Google Shape;696;p30"/>
          <p:cNvSpPr txBox="1"/>
          <p:nvPr/>
        </p:nvSpPr>
        <p:spPr>
          <a:xfrm>
            <a:off x="5349240" y="3730752"/>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96,1%</a:t>
            </a:r>
            <a:endParaRPr b="0" i="0" sz="1400" u="none" cap="none" strike="noStrike">
              <a:solidFill>
                <a:srgbClr val="000000"/>
              </a:solidFill>
              <a:latin typeface="Arial"/>
              <a:ea typeface="Arial"/>
              <a:cs typeface="Arial"/>
              <a:sym typeface="Arial"/>
            </a:endParaRPr>
          </a:p>
        </p:txBody>
      </p:sp>
      <p:sp>
        <p:nvSpPr>
          <p:cNvPr id="697" name="Google Shape;697;p30"/>
          <p:cNvSpPr txBox="1"/>
          <p:nvPr/>
        </p:nvSpPr>
        <p:spPr>
          <a:xfrm>
            <a:off x="8183879" y="3730752"/>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95,5%</a:t>
            </a:r>
            <a:endParaRPr b="0" i="0" sz="1400" u="none" cap="none" strike="noStrike">
              <a:solidFill>
                <a:srgbClr val="000000"/>
              </a:solidFill>
              <a:latin typeface="Arial"/>
              <a:ea typeface="Arial"/>
              <a:cs typeface="Arial"/>
              <a:sym typeface="Arial"/>
            </a:endParaRPr>
          </a:p>
        </p:txBody>
      </p:sp>
      <p:sp>
        <p:nvSpPr>
          <p:cNvPr id="698" name="Google Shape;698;p30"/>
          <p:cNvSpPr/>
          <p:nvPr/>
        </p:nvSpPr>
        <p:spPr>
          <a:xfrm>
            <a:off x="411480" y="3621024"/>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699" name="Google Shape;699;p30"/>
          <p:cNvSpPr txBox="1"/>
          <p:nvPr/>
        </p:nvSpPr>
        <p:spPr>
          <a:xfrm>
            <a:off x="502920" y="4480560"/>
            <a:ext cx="46634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Segredo (bruto)</a:t>
            </a:r>
            <a:endParaRPr b="0" i="0" sz="1400" u="none" cap="none" strike="noStrike">
              <a:solidFill>
                <a:srgbClr val="000000"/>
              </a:solidFill>
              <a:latin typeface="Arial"/>
              <a:ea typeface="Arial"/>
              <a:cs typeface="Arial"/>
              <a:sym typeface="Arial"/>
            </a:endParaRPr>
          </a:p>
        </p:txBody>
      </p:sp>
      <p:sp>
        <p:nvSpPr>
          <p:cNvPr id="700" name="Google Shape;700;p30"/>
          <p:cNvSpPr txBox="1"/>
          <p:nvPr/>
        </p:nvSpPr>
        <p:spPr>
          <a:xfrm>
            <a:off x="5349240" y="4480560"/>
            <a:ext cx="260604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82,4%</a:t>
            </a:r>
            <a:endParaRPr b="0" i="0" sz="1400" u="none" cap="none" strike="noStrike">
              <a:solidFill>
                <a:srgbClr val="000000"/>
              </a:solidFill>
              <a:latin typeface="Arial"/>
              <a:ea typeface="Arial"/>
              <a:cs typeface="Arial"/>
              <a:sym typeface="Arial"/>
            </a:endParaRPr>
          </a:p>
        </p:txBody>
      </p:sp>
      <p:sp>
        <p:nvSpPr>
          <p:cNvPr id="701" name="Google Shape;701;p30"/>
          <p:cNvSpPr txBox="1"/>
          <p:nvPr/>
        </p:nvSpPr>
        <p:spPr>
          <a:xfrm>
            <a:off x="8183879" y="4480560"/>
            <a:ext cx="3383280" cy="4114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76,9%</a:t>
            </a:r>
            <a:endParaRPr b="0" i="0" sz="1400" u="none" cap="none" strike="noStrike">
              <a:solidFill>
                <a:srgbClr val="000000"/>
              </a:solidFill>
              <a:latin typeface="Arial"/>
              <a:ea typeface="Arial"/>
              <a:cs typeface="Arial"/>
              <a:sym typeface="Arial"/>
            </a:endParaRPr>
          </a:p>
        </p:txBody>
      </p:sp>
      <p:sp>
        <p:nvSpPr>
          <p:cNvPr id="702" name="Google Shape;702;p30"/>
          <p:cNvSpPr/>
          <p:nvPr/>
        </p:nvSpPr>
        <p:spPr>
          <a:xfrm>
            <a:off x="411480" y="4370832"/>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3" name="Google Shape;703;p30"/>
          <p:cNvSpPr/>
          <p:nvPr/>
        </p:nvSpPr>
        <p:spPr>
          <a:xfrm>
            <a:off x="411480" y="5120640"/>
            <a:ext cx="1138428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4" name="Google Shape;704;p30"/>
          <p:cNvSpPr/>
          <p:nvPr/>
        </p:nvSpPr>
        <p:spPr>
          <a:xfrm>
            <a:off x="518464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5" name="Google Shape;705;p30"/>
          <p:cNvSpPr/>
          <p:nvPr/>
        </p:nvSpPr>
        <p:spPr>
          <a:xfrm>
            <a:off x="8019288" y="1645920"/>
            <a:ext cx="41148" cy="399592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06" name="Google Shape;706;p30"/>
          <p:cNvSpPr/>
          <p:nvPr/>
        </p:nvSpPr>
        <p:spPr>
          <a:xfrm>
            <a:off x="384048" y="4370832"/>
            <a:ext cx="11448288" cy="658368"/>
          </a:xfrm>
          <a:prstGeom prst="roundRect">
            <a:avLst>
              <a:gd fmla="val 16667" name="adj"/>
            </a:avLst>
          </a:prstGeom>
          <a:noFill/>
          <a:ln cap="flat" cmpd="sng" w="228600">
            <a:solidFill>
              <a:srgbClr val="2560FF"/>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pic>
        <p:nvPicPr>
          <p:cNvPr descr="sbseg2026_rodape.png" id="712" name="Google Shape;712;p3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13" name="Google Shape;713;p32"/>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29</a:t>
            </a:r>
            <a:endParaRPr b="0" i="0" sz="1400" u="none" cap="none" strike="noStrike">
              <a:solidFill>
                <a:srgbClr val="000000"/>
              </a:solidFill>
              <a:latin typeface="Arial"/>
              <a:ea typeface="Arial"/>
              <a:cs typeface="Arial"/>
              <a:sym typeface="Arial"/>
            </a:endParaRPr>
          </a:p>
        </p:txBody>
      </p:sp>
      <p:sp>
        <p:nvSpPr>
          <p:cNvPr id="714" name="Google Shape;714;p32"/>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715" name="Google Shape;715;p32"/>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Segredos</a:t>
            </a:r>
            <a:endParaRPr b="0" i="0" sz="1400" u="none" cap="none" strike="noStrike">
              <a:solidFill>
                <a:srgbClr val="000000"/>
              </a:solidFill>
              <a:latin typeface="Arial"/>
              <a:ea typeface="Arial"/>
              <a:cs typeface="Arial"/>
              <a:sym typeface="Arial"/>
            </a:endParaRPr>
          </a:p>
        </p:txBody>
      </p:sp>
      <p:sp>
        <p:nvSpPr>
          <p:cNvPr id="716" name="Google Shape;716;p32"/>
          <p:cNvSpPr txBox="1"/>
          <p:nvPr/>
        </p:nvSpPr>
        <p:spPr>
          <a:xfrm>
            <a:off x="713232" y="1874519"/>
            <a:ext cx="5257800" cy="59578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O TruffleHog sinaliza</a:t>
            </a:r>
            <a:endParaRPr b="0" i="0" sz="1400" u="none" cap="none" strike="noStrike">
              <a:solidFill>
                <a:srgbClr val="000000"/>
              </a:solidFill>
              <a:latin typeface="Arial"/>
              <a:ea typeface="Arial"/>
              <a:cs typeface="Arial"/>
              <a:sym typeface="Arial"/>
            </a:endParaRPr>
          </a:p>
        </p:txBody>
      </p:sp>
      <p:sp>
        <p:nvSpPr>
          <p:cNvPr id="717" name="Google Shape;717;p32"/>
          <p:cNvSpPr txBox="1"/>
          <p:nvPr/>
        </p:nvSpPr>
        <p:spPr>
          <a:xfrm>
            <a:off x="713232" y="2525166"/>
            <a:ext cx="196596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rPr b="1" i="0" lang="en-US" sz="4600" u="none" cap="none" strike="noStrike">
                <a:solidFill>
                  <a:srgbClr val="2560FF"/>
                </a:solidFill>
                <a:latin typeface="JetBrains Mono"/>
                <a:ea typeface="JetBrains Mono"/>
                <a:cs typeface="JetBrains Mono"/>
                <a:sym typeface="JetBrains Mono"/>
              </a:rPr>
              <a:t>82,4%</a:t>
            </a:r>
            <a:endParaRPr b="0" i="0" sz="1400" u="none" cap="none" strike="noStrike">
              <a:solidFill>
                <a:srgbClr val="000000"/>
              </a:solidFill>
              <a:latin typeface="Arial"/>
              <a:ea typeface="Arial"/>
              <a:cs typeface="Arial"/>
              <a:sym typeface="Arial"/>
            </a:endParaRPr>
          </a:p>
        </p:txBody>
      </p:sp>
      <p:sp>
        <p:nvSpPr>
          <p:cNvPr id="718" name="Google Shape;718;p32"/>
          <p:cNvSpPr txBox="1"/>
          <p:nvPr/>
        </p:nvSpPr>
        <p:spPr>
          <a:xfrm>
            <a:off x="2770632" y="2565257"/>
            <a:ext cx="3200400" cy="605617"/>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das imagens</a:t>
            </a:r>
            <a:endParaRPr b="0" i="0" sz="1400" u="none" cap="none" strike="noStrike">
              <a:solidFill>
                <a:srgbClr val="000000"/>
              </a:solidFill>
              <a:latin typeface="Arial"/>
              <a:ea typeface="Arial"/>
              <a:cs typeface="Arial"/>
              <a:sym typeface="Arial"/>
            </a:endParaRPr>
          </a:p>
        </p:txBody>
      </p:sp>
      <p:sp>
        <p:nvSpPr>
          <p:cNvPr id="719" name="Google Shape;719;p32"/>
          <p:cNvSpPr txBox="1"/>
          <p:nvPr/>
        </p:nvSpPr>
        <p:spPr>
          <a:xfrm>
            <a:off x="6217920" y="1874519"/>
            <a:ext cx="5257800" cy="59578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Do que foi revisado,</a:t>
            </a:r>
            <a:endParaRPr b="0" i="0" sz="1400" u="none" cap="none" strike="noStrike">
              <a:solidFill>
                <a:srgbClr val="000000"/>
              </a:solidFill>
              <a:latin typeface="Arial"/>
              <a:ea typeface="Arial"/>
              <a:cs typeface="Arial"/>
              <a:sym typeface="Arial"/>
            </a:endParaRPr>
          </a:p>
        </p:txBody>
      </p:sp>
      <p:sp>
        <p:nvSpPr>
          <p:cNvPr id="720" name="Google Shape;720;p32"/>
          <p:cNvSpPr txBox="1"/>
          <p:nvPr/>
        </p:nvSpPr>
        <p:spPr>
          <a:xfrm>
            <a:off x="6217920" y="2525166"/>
            <a:ext cx="196596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rPr b="1" i="0" lang="en-US" sz="4600" u="none" cap="none" strike="noStrike">
                <a:solidFill>
                  <a:srgbClr val="2560FF"/>
                </a:solidFill>
                <a:latin typeface="JetBrains Mono"/>
                <a:ea typeface="JetBrains Mono"/>
                <a:cs typeface="JetBrains Mono"/>
                <a:sym typeface="JetBrains Mono"/>
              </a:rPr>
              <a:t>99,5%</a:t>
            </a:r>
            <a:endParaRPr b="0" i="0" sz="1400" u="none" cap="none" strike="noStrike">
              <a:solidFill>
                <a:srgbClr val="000000"/>
              </a:solidFill>
              <a:latin typeface="Arial"/>
              <a:ea typeface="Arial"/>
              <a:cs typeface="Arial"/>
              <a:sym typeface="Arial"/>
            </a:endParaRPr>
          </a:p>
        </p:txBody>
      </p:sp>
      <p:sp>
        <p:nvSpPr>
          <p:cNvPr id="721" name="Google Shape;721;p32"/>
          <p:cNvSpPr txBox="1"/>
          <p:nvPr/>
        </p:nvSpPr>
        <p:spPr>
          <a:xfrm>
            <a:off x="8275320" y="2525166"/>
            <a:ext cx="3200400" cy="1156370"/>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eram falso positivo</a:t>
            </a:r>
            <a:endParaRPr b="0" i="0" sz="1400" u="none" cap="none" strike="noStrike">
              <a:solidFill>
                <a:srgbClr val="000000"/>
              </a:solidFill>
              <a:latin typeface="Arial"/>
              <a:ea typeface="Arial"/>
              <a:cs typeface="Arial"/>
              <a:sym typeface="Arial"/>
            </a:endParaRPr>
          </a:p>
        </p:txBody>
      </p:sp>
      <p:sp>
        <p:nvSpPr>
          <p:cNvPr id="722" name="Google Shape;722;p32"/>
          <p:cNvSpPr/>
          <p:nvPr/>
        </p:nvSpPr>
        <p:spPr>
          <a:xfrm>
            <a:off x="484632" y="3840480"/>
            <a:ext cx="11247120" cy="2212848"/>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23" name="Google Shape;723;p32"/>
          <p:cNvSpPr txBox="1"/>
          <p:nvPr/>
        </p:nvSpPr>
        <p:spPr>
          <a:xfrm>
            <a:off x="868680" y="4023360"/>
            <a:ext cx="10515600"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5 de 1.100 eram credencial:</a:t>
            </a:r>
            <a:endParaRPr b="0" i="0" sz="1400" u="none" cap="none" strike="noStrike">
              <a:solidFill>
                <a:srgbClr val="000000"/>
              </a:solidFill>
              <a:latin typeface="Arial"/>
              <a:ea typeface="Arial"/>
              <a:cs typeface="Arial"/>
              <a:sym typeface="Arial"/>
            </a:endParaRPr>
          </a:p>
        </p:txBody>
      </p:sp>
      <p:sp>
        <p:nvSpPr>
          <p:cNvPr id="724" name="Google Shape;724;p32"/>
          <p:cNvSpPr txBox="1"/>
          <p:nvPr/>
        </p:nvSpPr>
        <p:spPr>
          <a:xfrm>
            <a:off x="868680" y="4498848"/>
            <a:ext cx="10515600" cy="100584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chave SSH de host, duas chaves AWS,</a:t>
            </a:r>
            <a:endParaRPr b="0" i="0" sz="1400" u="none" cap="none" strike="noStrike">
              <a:solidFill>
                <a:srgbClr val="000000"/>
              </a:solidFill>
              <a:latin typeface="Arial"/>
              <a:ea typeface="Arial"/>
              <a:cs typeface="Arial"/>
              <a:sym typeface="Arial"/>
            </a:endParaRPr>
          </a:p>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chave de API do Google, chave privada em código.</a:t>
            </a:r>
            <a:endParaRPr b="0" i="0" sz="1400" u="none" cap="none" strike="noStrike">
              <a:solidFill>
                <a:srgbClr val="000000"/>
              </a:solidFill>
              <a:latin typeface="Arial"/>
              <a:ea typeface="Arial"/>
              <a:cs typeface="Arial"/>
              <a:sym typeface="Arial"/>
            </a:endParaRPr>
          </a:p>
        </p:txBody>
      </p:sp>
      <p:sp>
        <p:nvSpPr>
          <p:cNvPr id="725" name="Google Shape;725;p32"/>
          <p:cNvSpPr txBox="1"/>
          <p:nvPr/>
        </p:nvSpPr>
        <p:spPr>
          <a:xfrm>
            <a:off x="868680" y="5559552"/>
            <a:ext cx="10515600" cy="475488"/>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O resto: hash de pacote (60%), placeholder (18%).</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0" name="Shape 730"/>
        <p:cNvGrpSpPr/>
        <p:nvPr/>
      </p:nvGrpSpPr>
      <p:grpSpPr>
        <a:xfrm>
          <a:off x="0" y="0"/>
          <a:ext cx="0" cy="0"/>
          <a:chOff x="0" y="0"/>
          <a:chExt cx="0" cy="0"/>
        </a:xfrm>
      </p:grpSpPr>
      <p:pic>
        <p:nvPicPr>
          <p:cNvPr descr="sbseg2026_rodape.png" id="731" name="Google Shape;731;p3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32" name="Google Shape;732;p33"/>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30</a:t>
            </a:r>
            <a:endParaRPr b="0" i="0" sz="1400" u="none" cap="none" strike="noStrike">
              <a:solidFill>
                <a:srgbClr val="000000"/>
              </a:solidFill>
              <a:latin typeface="Arial"/>
              <a:ea typeface="Arial"/>
              <a:cs typeface="Arial"/>
              <a:sym typeface="Arial"/>
            </a:endParaRPr>
          </a:p>
        </p:txBody>
      </p:sp>
      <p:sp>
        <p:nvSpPr>
          <p:cNvPr id="733" name="Google Shape;733;p33"/>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734" name="Google Shape;734;p33"/>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Configuração</a:t>
            </a:r>
            <a:endParaRPr b="0" i="0" sz="1400" u="none" cap="none" strike="noStrike">
              <a:solidFill>
                <a:srgbClr val="000000"/>
              </a:solidFill>
              <a:latin typeface="Arial"/>
              <a:ea typeface="Arial"/>
              <a:cs typeface="Arial"/>
              <a:sym typeface="Arial"/>
            </a:endParaRPr>
          </a:p>
        </p:txBody>
      </p:sp>
      <p:sp>
        <p:nvSpPr>
          <p:cNvPr id="735" name="Google Shape;735;p33"/>
          <p:cNvSpPr txBox="1"/>
          <p:nvPr/>
        </p:nvSpPr>
        <p:spPr>
          <a:xfrm>
            <a:off x="713232" y="1956816"/>
            <a:ext cx="10881360" cy="60350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00153C"/>
                </a:solidFill>
                <a:latin typeface="Inter"/>
                <a:ea typeface="Inter"/>
                <a:cs typeface="Inter"/>
                <a:sym typeface="Inter"/>
              </a:rPr>
              <a:t>Das 2.879 imagens escaneadas,</a:t>
            </a:r>
            <a:endParaRPr b="0" i="0" sz="1400" u="none" cap="none" strike="noStrike">
              <a:solidFill>
                <a:srgbClr val="000000"/>
              </a:solidFill>
              <a:latin typeface="Arial"/>
              <a:ea typeface="Arial"/>
              <a:cs typeface="Arial"/>
              <a:sym typeface="Arial"/>
            </a:endParaRPr>
          </a:p>
        </p:txBody>
      </p:sp>
      <p:sp>
        <p:nvSpPr>
          <p:cNvPr id="736" name="Google Shape;736;p33"/>
          <p:cNvSpPr txBox="1"/>
          <p:nvPr/>
        </p:nvSpPr>
        <p:spPr>
          <a:xfrm>
            <a:off x="713232" y="2615184"/>
            <a:ext cx="10881360" cy="146304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9600"/>
              <a:buFont typeface="Arial"/>
              <a:buNone/>
            </a:pPr>
            <a:r>
              <a:rPr b="1" i="0" lang="en-US" sz="9600" u="none" cap="none" strike="noStrike">
                <a:solidFill>
                  <a:srgbClr val="2560FF"/>
                </a:solidFill>
                <a:latin typeface="JetBrains Mono"/>
                <a:ea typeface="JetBrains Mono"/>
                <a:cs typeface="JetBrains Mono"/>
                <a:sym typeface="JetBrains Mono"/>
              </a:rPr>
              <a:t>99,4%</a:t>
            </a:r>
            <a:endParaRPr b="0" i="0" sz="1400" u="none" cap="none" strike="noStrike">
              <a:solidFill>
                <a:srgbClr val="000000"/>
              </a:solidFill>
              <a:latin typeface="Arial"/>
              <a:ea typeface="Arial"/>
              <a:cs typeface="Arial"/>
              <a:sym typeface="Arial"/>
            </a:endParaRPr>
          </a:p>
        </p:txBody>
      </p:sp>
      <p:sp>
        <p:nvSpPr>
          <p:cNvPr id="737" name="Google Shape;737;p33"/>
          <p:cNvSpPr txBox="1"/>
          <p:nvPr/>
        </p:nvSpPr>
        <p:spPr>
          <a:xfrm>
            <a:off x="713232" y="4206240"/>
            <a:ext cx="10881360" cy="603504"/>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4000"/>
              <a:buFont typeface="Arial"/>
              <a:buNone/>
            </a:pPr>
            <a:r>
              <a:rPr b="1" i="0" lang="en-US" sz="4000" u="none" cap="none" strike="noStrike">
                <a:solidFill>
                  <a:srgbClr val="00153C"/>
                </a:solidFill>
                <a:latin typeface="Space Grotesk"/>
                <a:ea typeface="Space Grotesk"/>
                <a:cs typeface="Space Grotesk"/>
                <a:sym typeface="Space Grotesk"/>
              </a:rPr>
              <a:t>têm algum achado de configuração.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2" name="Shape 742"/>
        <p:cNvGrpSpPr/>
        <p:nvPr/>
      </p:nvGrpSpPr>
      <p:grpSpPr>
        <a:xfrm>
          <a:off x="0" y="0"/>
          <a:ext cx="0" cy="0"/>
          <a:chOff x="0" y="0"/>
          <a:chExt cx="0" cy="0"/>
        </a:xfrm>
      </p:grpSpPr>
      <p:pic>
        <p:nvPicPr>
          <p:cNvPr descr="sbseg2026_rodape.png" id="743" name="Google Shape;743;p3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44" name="Google Shape;744;p34"/>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31</a:t>
            </a:r>
            <a:endParaRPr b="0" i="0" sz="1400" u="none" cap="none" strike="noStrike">
              <a:solidFill>
                <a:srgbClr val="000000"/>
              </a:solidFill>
              <a:latin typeface="Arial"/>
              <a:ea typeface="Arial"/>
              <a:cs typeface="Arial"/>
              <a:sym typeface="Arial"/>
            </a:endParaRPr>
          </a:p>
        </p:txBody>
      </p:sp>
      <p:sp>
        <p:nvSpPr>
          <p:cNvPr id="745" name="Google Shape;745;p34"/>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746" name="Google Shape;746;p34"/>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Achados de configuração</a:t>
            </a:r>
            <a:endParaRPr b="0" i="0" sz="1400" u="none" cap="none" strike="noStrike">
              <a:solidFill>
                <a:srgbClr val="000000"/>
              </a:solidFill>
              <a:latin typeface="Arial"/>
              <a:ea typeface="Arial"/>
              <a:cs typeface="Arial"/>
              <a:sym typeface="Arial"/>
            </a:endParaRPr>
          </a:p>
        </p:txBody>
      </p:sp>
      <p:sp>
        <p:nvSpPr>
          <p:cNvPr id="747" name="Google Shape;747;p34"/>
          <p:cNvSpPr/>
          <p:nvPr/>
        </p:nvSpPr>
        <p:spPr>
          <a:xfrm>
            <a:off x="713232" y="2231136"/>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48" name="Google Shape;748;p34"/>
          <p:cNvSpPr txBox="1"/>
          <p:nvPr/>
        </p:nvSpPr>
        <p:spPr>
          <a:xfrm>
            <a:off x="1124712" y="2103120"/>
            <a:ext cx="10469880" cy="8229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97,4% sem sonda de saúde (HEALTHCHECK)</a:t>
            </a:r>
            <a:endParaRPr b="0" i="0" sz="1400" u="none" cap="none" strike="noStrike">
              <a:solidFill>
                <a:srgbClr val="000000"/>
              </a:solidFill>
              <a:latin typeface="Arial"/>
              <a:ea typeface="Arial"/>
              <a:cs typeface="Arial"/>
              <a:sym typeface="Arial"/>
            </a:endParaRPr>
          </a:p>
        </p:txBody>
      </p:sp>
      <p:sp>
        <p:nvSpPr>
          <p:cNvPr id="749" name="Google Shape;749;p34"/>
          <p:cNvSpPr/>
          <p:nvPr/>
        </p:nvSpPr>
        <p:spPr>
          <a:xfrm>
            <a:off x="713232" y="3419856"/>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0" name="Google Shape;750;p34"/>
          <p:cNvSpPr txBox="1"/>
          <p:nvPr/>
        </p:nvSpPr>
        <p:spPr>
          <a:xfrm>
            <a:off x="1124712" y="3291839"/>
            <a:ext cx="10469880" cy="8229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89,0% rodando como root</a:t>
            </a:r>
            <a:endParaRPr b="0" i="0" sz="1400" u="none" cap="none" strike="noStrike">
              <a:solidFill>
                <a:srgbClr val="000000"/>
              </a:solidFill>
              <a:latin typeface="Arial"/>
              <a:ea typeface="Arial"/>
              <a:cs typeface="Arial"/>
              <a:sym typeface="Arial"/>
            </a:endParaRPr>
          </a:p>
        </p:txBody>
      </p:sp>
      <p:sp>
        <p:nvSpPr>
          <p:cNvPr id="751" name="Google Shape;751;p34"/>
          <p:cNvSpPr/>
          <p:nvPr/>
        </p:nvSpPr>
        <p:spPr>
          <a:xfrm>
            <a:off x="713232" y="4608576"/>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52" name="Google Shape;752;p34"/>
          <p:cNvSpPr txBox="1"/>
          <p:nvPr/>
        </p:nvSpPr>
        <p:spPr>
          <a:xfrm>
            <a:off x="1124712" y="4480560"/>
            <a:ext cx="10469880" cy="8229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31,7% com valor sensível em variável ou arquivo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7" name="Shape 757"/>
        <p:cNvGrpSpPr/>
        <p:nvPr/>
      </p:nvGrpSpPr>
      <p:grpSpPr>
        <a:xfrm>
          <a:off x="0" y="0"/>
          <a:ext cx="0" cy="0"/>
          <a:chOff x="0" y="0"/>
          <a:chExt cx="0" cy="0"/>
        </a:xfrm>
      </p:grpSpPr>
      <p:pic>
        <p:nvPicPr>
          <p:cNvPr descr="sbseg2026_rodape.png" id="758" name="Google Shape;758;p3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59" name="Google Shape;759;p35"/>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32</a:t>
            </a:r>
            <a:endParaRPr b="0" i="0" sz="1400" u="none" cap="none" strike="noStrike">
              <a:solidFill>
                <a:srgbClr val="000000"/>
              </a:solidFill>
              <a:latin typeface="Arial"/>
              <a:ea typeface="Arial"/>
              <a:cs typeface="Arial"/>
              <a:sym typeface="Arial"/>
            </a:endParaRPr>
          </a:p>
        </p:txBody>
      </p:sp>
      <p:sp>
        <p:nvSpPr>
          <p:cNvPr id="760" name="Google Shape;760;p35"/>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02 · AVALIAÇÃO EXPERIMENTAL</a:t>
            </a:r>
            <a:endParaRPr b="0" i="0" sz="1400" u="none" cap="none" strike="noStrike">
              <a:solidFill>
                <a:srgbClr val="000000"/>
              </a:solidFill>
              <a:latin typeface="Arial"/>
              <a:ea typeface="Arial"/>
              <a:cs typeface="Arial"/>
              <a:sym typeface="Arial"/>
            </a:endParaRPr>
          </a:p>
        </p:txBody>
      </p:sp>
      <p:sp>
        <p:nvSpPr>
          <p:cNvPr id="761" name="Google Shape;761;p35"/>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Concordância entre scanners</a:t>
            </a:r>
            <a:endParaRPr b="0" i="0" sz="1400" u="none" cap="none" strike="noStrike">
              <a:solidFill>
                <a:srgbClr val="000000"/>
              </a:solidFill>
              <a:latin typeface="Arial"/>
              <a:ea typeface="Arial"/>
              <a:cs typeface="Arial"/>
              <a:sym typeface="Arial"/>
            </a:endParaRPr>
          </a:p>
        </p:txBody>
      </p:sp>
      <p:sp>
        <p:nvSpPr>
          <p:cNvPr id="762" name="Google Shape;762;p35"/>
          <p:cNvSpPr txBox="1"/>
          <p:nvPr/>
        </p:nvSpPr>
        <p:spPr>
          <a:xfrm>
            <a:off x="713232" y="2651760"/>
            <a:ext cx="5257800" cy="59578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Só um scanner viu</a:t>
            </a:r>
            <a:endParaRPr b="0" i="0" sz="1400" u="none" cap="none" strike="noStrike">
              <a:solidFill>
                <a:srgbClr val="000000"/>
              </a:solidFill>
              <a:latin typeface="Arial"/>
              <a:ea typeface="Arial"/>
              <a:cs typeface="Arial"/>
              <a:sym typeface="Arial"/>
            </a:endParaRPr>
          </a:p>
        </p:txBody>
      </p:sp>
      <p:sp>
        <p:nvSpPr>
          <p:cNvPr id="763" name="Google Shape;763;p35"/>
          <p:cNvSpPr txBox="1"/>
          <p:nvPr/>
        </p:nvSpPr>
        <p:spPr>
          <a:xfrm>
            <a:off x="713232" y="3302406"/>
            <a:ext cx="196596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rPr b="1" i="0" lang="en-US" sz="4600" u="none" cap="none" strike="noStrike">
                <a:solidFill>
                  <a:srgbClr val="2560FF"/>
                </a:solidFill>
                <a:latin typeface="JetBrains Mono"/>
                <a:ea typeface="JetBrains Mono"/>
                <a:cs typeface="JetBrains Mono"/>
                <a:sym typeface="JetBrains Mono"/>
              </a:rPr>
              <a:t>70,5%</a:t>
            </a:r>
            <a:endParaRPr b="0" i="0" sz="1400" u="none" cap="none" strike="noStrike">
              <a:solidFill>
                <a:srgbClr val="000000"/>
              </a:solidFill>
              <a:latin typeface="Arial"/>
              <a:ea typeface="Arial"/>
              <a:cs typeface="Arial"/>
              <a:sym typeface="Arial"/>
            </a:endParaRPr>
          </a:p>
        </p:txBody>
      </p:sp>
      <p:sp>
        <p:nvSpPr>
          <p:cNvPr id="764" name="Google Shape;764;p35"/>
          <p:cNvSpPr txBox="1"/>
          <p:nvPr/>
        </p:nvSpPr>
        <p:spPr>
          <a:xfrm>
            <a:off x="2770632" y="3342497"/>
            <a:ext cx="3200400" cy="605617"/>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dos achados</a:t>
            </a:r>
            <a:endParaRPr b="0" i="0" sz="1400" u="none" cap="none" strike="noStrike">
              <a:solidFill>
                <a:srgbClr val="000000"/>
              </a:solidFill>
              <a:latin typeface="Arial"/>
              <a:ea typeface="Arial"/>
              <a:cs typeface="Arial"/>
              <a:sym typeface="Arial"/>
            </a:endParaRPr>
          </a:p>
        </p:txBody>
      </p:sp>
      <p:sp>
        <p:nvSpPr>
          <p:cNvPr id="765" name="Google Shape;765;p35"/>
          <p:cNvSpPr txBox="1"/>
          <p:nvPr/>
        </p:nvSpPr>
        <p:spPr>
          <a:xfrm>
            <a:off x="6217920" y="2651760"/>
            <a:ext cx="5257800" cy="595782"/>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Os três scanners viram</a:t>
            </a:r>
            <a:endParaRPr b="0" i="0" sz="1400" u="none" cap="none" strike="noStrike">
              <a:solidFill>
                <a:srgbClr val="000000"/>
              </a:solidFill>
              <a:latin typeface="Arial"/>
              <a:ea typeface="Arial"/>
              <a:cs typeface="Arial"/>
              <a:sym typeface="Arial"/>
            </a:endParaRPr>
          </a:p>
        </p:txBody>
      </p:sp>
      <p:sp>
        <p:nvSpPr>
          <p:cNvPr id="766" name="Google Shape;766;p35"/>
          <p:cNvSpPr txBox="1"/>
          <p:nvPr/>
        </p:nvSpPr>
        <p:spPr>
          <a:xfrm>
            <a:off x="6217920" y="3302406"/>
            <a:ext cx="1965960" cy="685800"/>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600"/>
              <a:buFont typeface="Arial"/>
              <a:buNone/>
            </a:pPr>
            <a:r>
              <a:rPr b="1" i="0" lang="en-US" sz="4600" u="none" cap="none" strike="noStrike">
                <a:solidFill>
                  <a:srgbClr val="2560FF"/>
                </a:solidFill>
                <a:latin typeface="JetBrains Mono"/>
                <a:ea typeface="JetBrains Mono"/>
                <a:cs typeface="JetBrains Mono"/>
                <a:sym typeface="JetBrains Mono"/>
              </a:rPr>
              <a:t>11,1%</a:t>
            </a:r>
            <a:endParaRPr b="0" i="0" sz="1400" u="none" cap="none" strike="noStrike">
              <a:solidFill>
                <a:srgbClr val="000000"/>
              </a:solidFill>
              <a:latin typeface="Arial"/>
              <a:ea typeface="Arial"/>
              <a:cs typeface="Arial"/>
              <a:sym typeface="Arial"/>
            </a:endParaRPr>
          </a:p>
        </p:txBody>
      </p:sp>
      <p:sp>
        <p:nvSpPr>
          <p:cNvPr id="767" name="Google Shape;767;p35"/>
          <p:cNvSpPr txBox="1"/>
          <p:nvPr/>
        </p:nvSpPr>
        <p:spPr>
          <a:xfrm>
            <a:off x="8275320" y="3342497"/>
            <a:ext cx="3200400" cy="605617"/>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dos achados</a:t>
            </a:r>
            <a:endParaRPr b="0" i="0" sz="1400" u="none" cap="none" strike="noStrike">
              <a:solidFill>
                <a:srgbClr val="000000"/>
              </a:solidFill>
              <a:latin typeface="Arial"/>
              <a:ea typeface="Arial"/>
              <a:cs typeface="Arial"/>
              <a:sym typeface="Arial"/>
            </a:endParaRPr>
          </a:p>
        </p:txBody>
      </p:sp>
      <p:sp>
        <p:nvSpPr>
          <p:cNvPr id="768" name="Google Shape;768;p35"/>
          <p:cNvSpPr/>
          <p:nvPr/>
        </p:nvSpPr>
        <p:spPr>
          <a:xfrm>
            <a:off x="484632" y="4846320"/>
            <a:ext cx="11247120" cy="109728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69" name="Google Shape;769;p35"/>
          <p:cNvSpPr txBox="1"/>
          <p:nvPr/>
        </p:nvSpPr>
        <p:spPr>
          <a:xfrm>
            <a:off x="868680" y="5138928"/>
            <a:ext cx="1051560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O par mais parecido compartilha 43% dos achados.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4" name="Shape 774"/>
        <p:cNvGrpSpPr/>
        <p:nvPr/>
      </p:nvGrpSpPr>
      <p:grpSpPr>
        <a:xfrm>
          <a:off x="0" y="0"/>
          <a:ext cx="0" cy="0"/>
          <a:chOff x="0" y="0"/>
          <a:chExt cx="0" cy="0"/>
        </a:xfrm>
      </p:grpSpPr>
      <p:sp>
        <p:nvSpPr>
          <p:cNvPr id="775" name="Google Shape;775;p36"/>
          <p:cNvSpPr/>
          <p:nvPr/>
        </p:nvSpPr>
        <p:spPr>
          <a:xfrm>
            <a:off x="0" y="0"/>
            <a:ext cx="12191695" cy="6858000"/>
          </a:xfrm>
          <a:prstGeom prst="rect">
            <a:avLst/>
          </a:prstGeom>
          <a:solidFill>
            <a:srgbClr val="00153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sbseg2026_rodape_branco.png" id="776" name="Google Shape;776;p3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77" name="Google Shape;777;p36"/>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FFFFFF"/>
                </a:solidFill>
                <a:latin typeface="JetBrains Mono"/>
                <a:ea typeface="JetBrains Mono"/>
                <a:cs typeface="JetBrains Mono"/>
                <a:sym typeface="JetBrains Mono"/>
              </a:rPr>
              <a:t>33</a:t>
            </a:r>
            <a:endParaRPr b="0" i="0" sz="1400" u="none" cap="none" strike="noStrike">
              <a:solidFill>
                <a:srgbClr val="000000"/>
              </a:solidFill>
              <a:latin typeface="Arial"/>
              <a:ea typeface="Arial"/>
              <a:cs typeface="Arial"/>
              <a:sym typeface="Arial"/>
            </a:endParaRPr>
          </a:p>
        </p:txBody>
      </p:sp>
      <p:sp>
        <p:nvSpPr>
          <p:cNvPr id="778" name="Google Shape;778;p36"/>
          <p:cNvSpPr/>
          <p:nvPr/>
        </p:nvSpPr>
        <p:spPr>
          <a:xfrm>
            <a:off x="4526280" y="868680"/>
            <a:ext cx="7269480" cy="5120640"/>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pic>
        <p:nvPicPr>
          <p:cNvPr descr="img07_justo.jpg" id="779" name="Google Shape;779;p36"/>
          <p:cNvPicPr preferRelativeResize="0"/>
          <p:nvPr/>
        </p:nvPicPr>
        <p:blipFill rotWithShape="1">
          <a:blip r:embed="rId4">
            <a:alphaModFix/>
          </a:blip>
          <a:srcRect b="0" l="0" r="0" t="0"/>
          <a:stretch/>
        </p:blipFill>
        <p:spPr>
          <a:xfrm>
            <a:off x="4800600" y="2001941"/>
            <a:ext cx="6720840" cy="2854116"/>
          </a:xfrm>
          <a:prstGeom prst="rect">
            <a:avLst/>
          </a:prstGeom>
          <a:noFill/>
          <a:ln>
            <a:noFill/>
          </a:ln>
        </p:spPr>
      </p:pic>
      <p:sp>
        <p:nvSpPr>
          <p:cNvPr id="780" name="Google Shape;780;p36"/>
          <p:cNvSpPr txBox="1"/>
          <p:nvPr/>
        </p:nvSpPr>
        <p:spPr>
          <a:xfrm>
            <a:off x="777240" y="1234440"/>
            <a:ext cx="2926080" cy="11887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8000"/>
              <a:buFont typeface="Arial"/>
              <a:buNone/>
            </a:pPr>
            <a:r>
              <a:rPr b="1" i="0" lang="en-US" sz="8000" u="none" cap="none" strike="noStrike">
                <a:solidFill>
                  <a:srgbClr val="FFFFFF"/>
                </a:solidFill>
                <a:latin typeface="JetBrains Mono"/>
                <a:ea typeface="JetBrains Mono"/>
                <a:cs typeface="JetBrains Mono"/>
                <a:sym typeface="JetBrains Mono"/>
              </a:rPr>
              <a:t>03</a:t>
            </a:r>
            <a:endParaRPr b="0" i="0" sz="1400" u="none" cap="none" strike="noStrike">
              <a:solidFill>
                <a:srgbClr val="000000"/>
              </a:solidFill>
              <a:latin typeface="Arial"/>
              <a:ea typeface="Arial"/>
              <a:cs typeface="Arial"/>
              <a:sym typeface="Arial"/>
            </a:endParaRPr>
          </a:p>
        </p:txBody>
      </p:sp>
      <p:sp>
        <p:nvSpPr>
          <p:cNvPr id="781" name="Google Shape;781;p36"/>
          <p:cNvSpPr txBox="1"/>
          <p:nvPr/>
        </p:nvSpPr>
        <p:spPr>
          <a:xfrm>
            <a:off x="777240" y="2606040"/>
            <a:ext cx="3520440" cy="1280160"/>
          </a:xfrm>
          <a:prstGeom prst="rect">
            <a:avLst/>
          </a:prstGeom>
          <a:noFill/>
          <a:ln>
            <a:noFill/>
          </a:ln>
        </p:spPr>
        <p:txBody>
          <a:bodyPr anchorCtr="0" anchor="t" bIns="0" lIns="0" spcFirstLastPara="1" rIns="0" wrap="square" tIns="0">
            <a:spAutoFit/>
          </a:bodyPr>
          <a:lstStyle/>
          <a:p>
            <a:pPr indent="0" lvl="0" marL="0" marR="0" rtl="0" algn="l">
              <a:lnSpc>
                <a:spcPct val="108000"/>
              </a:lnSpc>
              <a:spcBef>
                <a:spcPts val="0"/>
              </a:spcBef>
              <a:spcAft>
                <a:spcPts val="0"/>
              </a:spcAft>
              <a:buClr>
                <a:srgbClr val="000000"/>
              </a:buClr>
              <a:buSzPts val="4000"/>
              <a:buFont typeface="Arial"/>
              <a:buNone/>
            </a:pPr>
            <a:r>
              <a:rPr b="1" i="0" lang="en-US" sz="4000" u="none" cap="none" strike="noStrike">
                <a:solidFill>
                  <a:srgbClr val="FFFFFF"/>
                </a:solidFill>
                <a:latin typeface="Space Grotesk"/>
                <a:ea typeface="Space Grotesk"/>
                <a:cs typeface="Space Grotesk"/>
                <a:sym typeface="Space Grotesk"/>
              </a:rPr>
              <a:t>Conclusões</a:t>
            </a:r>
            <a:endParaRPr b="0" i="0" sz="1400" u="none" cap="none" strike="noStrike">
              <a:solidFill>
                <a:srgbClr val="000000"/>
              </a:solidFill>
              <a:latin typeface="Arial"/>
              <a:ea typeface="Arial"/>
              <a:cs typeface="Arial"/>
              <a:sym typeface="Arial"/>
            </a:endParaRPr>
          </a:p>
        </p:txBody>
      </p:sp>
      <p:sp>
        <p:nvSpPr>
          <p:cNvPr id="782" name="Google Shape;782;p36"/>
          <p:cNvSpPr txBox="1"/>
          <p:nvPr/>
        </p:nvSpPr>
        <p:spPr>
          <a:xfrm>
            <a:off x="777240" y="4069080"/>
            <a:ext cx="3520440" cy="1280160"/>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Clr>
                <a:srgbClr val="000000"/>
              </a:buClr>
              <a:buSzPts val="3200"/>
              <a:buFont typeface="Arial"/>
              <a:buNone/>
            </a:pPr>
            <a:r>
              <a:rPr b="0" i="0" lang="en-US" sz="3200" u="none" cap="none" strike="noStrike">
                <a:solidFill>
                  <a:srgbClr val="D9E5FC"/>
                </a:solidFill>
                <a:latin typeface="Inter"/>
                <a:ea typeface="Inter"/>
                <a:cs typeface="Inter"/>
                <a:sym typeface="Inter"/>
              </a:rPr>
              <a:t>O que o sorteio muda na decisão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7" name="Shape 787"/>
        <p:cNvGrpSpPr/>
        <p:nvPr/>
      </p:nvGrpSpPr>
      <p:grpSpPr>
        <a:xfrm>
          <a:off x="0" y="0"/>
          <a:ext cx="0" cy="0"/>
          <a:chOff x="0" y="0"/>
          <a:chExt cx="0" cy="0"/>
        </a:xfrm>
      </p:grpSpPr>
      <p:pic>
        <p:nvPicPr>
          <p:cNvPr descr="sbseg2026_rodape.png" id="788" name="Google Shape;788;p3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789" name="Google Shape;789;p37"/>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34</a:t>
            </a:r>
            <a:endParaRPr b="0" i="0" sz="1400" u="none" cap="none" strike="noStrike">
              <a:solidFill>
                <a:srgbClr val="000000"/>
              </a:solidFill>
              <a:latin typeface="Arial"/>
              <a:ea typeface="Arial"/>
              <a:cs typeface="Arial"/>
              <a:sym typeface="Arial"/>
            </a:endParaRPr>
          </a:p>
        </p:txBody>
      </p:sp>
      <p:sp>
        <p:nvSpPr>
          <p:cNvPr id="790" name="Google Shape;790;p37"/>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03 · CONCLUSÕES</a:t>
            </a:r>
            <a:endParaRPr b="0" i="0" sz="1400" u="none" cap="none" strike="noStrike">
              <a:solidFill>
                <a:srgbClr val="000000"/>
              </a:solidFill>
              <a:latin typeface="Arial"/>
              <a:ea typeface="Arial"/>
              <a:cs typeface="Arial"/>
              <a:sym typeface="Arial"/>
            </a:endParaRPr>
          </a:p>
        </p:txBody>
      </p:sp>
      <p:sp>
        <p:nvSpPr>
          <p:cNvPr id="791" name="Google Shape;791;p37"/>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Contribuição</a:t>
            </a:r>
            <a:endParaRPr b="0" i="0" sz="1400" u="none" cap="none" strike="noStrike">
              <a:solidFill>
                <a:srgbClr val="000000"/>
              </a:solidFill>
              <a:latin typeface="Arial"/>
              <a:ea typeface="Arial"/>
              <a:cs typeface="Arial"/>
              <a:sym typeface="Arial"/>
            </a:endParaRPr>
          </a:p>
        </p:txBody>
      </p:sp>
      <p:sp>
        <p:nvSpPr>
          <p:cNvPr id="792" name="Google Shape;792;p37"/>
          <p:cNvSpPr/>
          <p:nvPr/>
        </p:nvSpPr>
        <p:spPr>
          <a:xfrm>
            <a:off x="896112" y="3108960"/>
            <a:ext cx="201168" cy="201168"/>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3" name="Google Shape;793;p37"/>
          <p:cNvSpPr txBox="1"/>
          <p:nvPr/>
        </p:nvSpPr>
        <p:spPr>
          <a:xfrm>
            <a:off x="1316736" y="2468880"/>
            <a:ext cx="10149840" cy="14813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Sorteio uniforme no Docker Hub</a:t>
            </a:r>
            <a:endParaRPr b="0" i="0" sz="1400" u="none" cap="none" strike="noStrike">
              <a:solidFill>
                <a:srgbClr val="000000"/>
              </a:solidFill>
              <a:latin typeface="Arial"/>
              <a:ea typeface="Arial"/>
              <a:cs typeface="Arial"/>
              <a:sym typeface="Arial"/>
            </a:endParaRPr>
          </a:p>
        </p:txBody>
      </p:sp>
      <p:sp>
        <p:nvSpPr>
          <p:cNvPr id="794" name="Google Shape;794;p37"/>
          <p:cNvSpPr/>
          <p:nvPr/>
        </p:nvSpPr>
        <p:spPr>
          <a:xfrm>
            <a:off x="896112" y="4773168"/>
            <a:ext cx="201168" cy="201168"/>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795" name="Google Shape;795;p37"/>
          <p:cNvSpPr txBox="1"/>
          <p:nvPr/>
        </p:nvSpPr>
        <p:spPr>
          <a:xfrm>
            <a:off x="1316736" y="4133087"/>
            <a:ext cx="10149840" cy="14813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 postura da imagem típica, medida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0" name="Shape 800"/>
        <p:cNvGrpSpPr/>
        <p:nvPr/>
      </p:nvGrpSpPr>
      <p:grpSpPr>
        <a:xfrm>
          <a:off x="0" y="0"/>
          <a:ext cx="0" cy="0"/>
          <a:chOff x="0" y="0"/>
          <a:chExt cx="0" cy="0"/>
        </a:xfrm>
      </p:grpSpPr>
      <p:pic>
        <p:nvPicPr>
          <p:cNvPr descr="sbseg2026_rodape.png" id="801" name="Google Shape;801;p3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02" name="Google Shape;802;p38"/>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35</a:t>
            </a:r>
            <a:endParaRPr b="0" i="0" sz="1400" u="none" cap="none" strike="noStrike">
              <a:solidFill>
                <a:srgbClr val="000000"/>
              </a:solidFill>
              <a:latin typeface="Arial"/>
              <a:ea typeface="Arial"/>
              <a:cs typeface="Arial"/>
              <a:sym typeface="Arial"/>
            </a:endParaRPr>
          </a:p>
        </p:txBody>
      </p:sp>
      <p:sp>
        <p:nvSpPr>
          <p:cNvPr id="803" name="Google Shape;803;p38"/>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03 · CONCLUSÕES</a:t>
            </a:r>
            <a:endParaRPr b="0" i="0" sz="1400" u="none" cap="none" strike="noStrike">
              <a:solidFill>
                <a:srgbClr val="000000"/>
              </a:solidFill>
              <a:latin typeface="Arial"/>
              <a:ea typeface="Arial"/>
              <a:cs typeface="Arial"/>
              <a:sym typeface="Arial"/>
            </a:endParaRPr>
          </a:p>
        </p:txBody>
      </p:sp>
      <p:sp>
        <p:nvSpPr>
          <p:cNvPr id="804" name="Google Shape;804;p38"/>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Resultado</a:t>
            </a:r>
            <a:endParaRPr b="0" i="0" sz="1400" u="none" cap="none" strike="noStrike">
              <a:solidFill>
                <a:srgbClr val="000000"/>
              </a:solidFill>
              <a:latin typeface="Arial"/>
              <a:ea typeface="Arial"/>
              <a:cs typeface="Arial"/>
              <a:sym typeface="Arial"/>
            </a:endParaRPr>
          </a:p>
        </p:txBody>
      </p:sp>
      <p:sp>
        <p:nvSpPr>
          <p:cNvPr id="805" name="Google Shape;805;p38"/>
          <p:cNvSpPr/>
          <p:nvPr/>
        </p:nvSpPr>
        <p:spPr>
          <a:xfrm>
            <a:off x="896112" y="3108960"/>
            <a:ext cx="201168" cy="201168"/>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6" name="Google Shape;806;p38"/>
          <p:cNvSpPr txBox="1"/>
          <p:nvPr/>
        </p:nvSpPr>
        <p:spPr>
          <a:xfrm>
            <a:off x="1316736" y="2468880"/>
            <a:ext cx="10149840" cy="14813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94,4% das típicas contra 93,4% das expostas</a:t>
            </a:r>
            <a:endParaRPr b="0" i="0" sz="1400" u="none" cap="none" strike="noStrike">
              <a:solidFill>
                <a:srgbClr val="000000"/>
              </a:solidFill>
              <a:latin typeface="Arial"/>
              <a:ea typeface="Arial"/>
              <a:cs typeface="Arial"/>
              <a:sym typeface="Arial"/>
            </a:endParaRPr>
          </a:p>
        </p:txBody>
      </p:sp>
      <p:sp>
        <p:nvSpPr>
          <p:cNvPr id="807" name="Google Shape;807;p38"/>
          <p:cNvSpPr/>
          <p:nvPr/>
        </p:nvSpPr>
        <p:spPr>
          <a:xfrm>
            <a:off x="896112" y="4773168"/>
            <a:ext cx="201168" cy="201168"/>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08" name="Google Shape;808;p38"/>
          <p:cNvSpPr txBox="1"/>
          <p:nvPr/>
        </p:nvSpPr>
        <p:spPr>
          <a:xfrm>
            <a:off x="1316736" y="4133087"/>
            <a:ext cx="10149840" cy="148132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Mais usada não quer dizer mais bem mantida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3" name="Shape 813"/>
        <p:cNvGrpSpPr/>
        <p:nvPr/>
      </p:nvGrpSpPr>
      <p:grpSpPr>
        <a:xfrm>
          <a:off x="0" y="0"/>
          <a:ext cx="0" cy="0"/>
          <a:chOff x="0" y="0"/>
          <a:chExt cx="0" cy="0"/>
        </a:xfrm>
      </p:grpSpPr>
      <p:pic>
        <p:nvPicPr>
          <p:cNvPr descr="sbseg2026_rodape.png" id="814" name="Google Shape;814;p3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15" name="Google Shape;815;p39"/>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36</a:t>
            </a:r>
            <a:endParaRPr b="0" i="0" sz="1400" u="none" cap="none" strike="noStrike">
              <a:solidFill>
                <a:srgbClr val="000000"/>
              </a:solidFill>
              <a:latin typeface="Arial"/>
              <a:ea typeface="Arial"/>
              <a:cs typeface="Arial"/>
              <a:sym typeface="Arial"/>
            </a:endParaRPr>
          </a:p>
        </p:txBody>
      </p:sp>
      <p:sp>
        <p:nvSpPr>
          <p:cNvPr id="816" name="Google Shape;816;p39"/>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03 · CONCLUSÕES</a:t>
            </a:r>
            <a:endParaRPr b="0" i="0" sz="1400" u="none" cap="none" strike="noStrike">
              <a:solidFill>
                <a:srgbClr val="000000"/>
              </a:solidFill>
              <a:latin typeface="Arial"/>
              <a:ea typeface="Arial"/>
              <a:cs typeface="Arial"/>
              <a:sym typeface="Arial"/>
            </a:endParaRPr>
          </a:p>
        </p:txBody>
      </p:sp>
      <p:sp>
        <p:nvSpPr>
          <p:cNvPr id="817" name="Google Shape;817;p39"/>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Limitações</a:t>
            </a:r>
            <a:endParaRPr b="0" i="0" sz="1400" u="none" cap="none" strike="noStrike">
              <a:solidFill>
                <a:srgbClr val="000000"/>
              </a:solidFill>
              <a:latin typeface="Arial"/>
              <a:ea typeface="Arial"/>
              <a:cs typeface="Arial"/>
              <a:sym typeface="Arial"/>
            </a:endParaRPr>
          </a:p>
        </p:txBody>
      </p:sp>
      <p:sp>
        <p:nvSpPr>
          <p:cNvPr id="818" name="Google Shape;818;p39"/>
          <p:cNvSpPr/>
          <p:nvPr/>
        </p:nvSpPr>
        <p:spPr>
          <a:xfrm>
            <a:off x="713232" y="2322576"/>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19" name="Google Shape;819;p39"/>
          <p:cNvSpPr txBox="1"/>
          <p:nvPr/>
        </p:nvSpPr>
        <p:spPr>
          <a:xfrm>
            <a:off x="1124712" y="2194560"/>
            <a:ext cx="10469880" cy="8229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Só linux/amd64</a:t>
            </a:r>
            <a:endParaRPr b="0" i="0" sz="1400" u="none" cap="none" strike="noStrike">
              <a:solidFill>
                <a:srgbClr val="000000"/>
              </a:solidFill>
              <a:latin typeface="Arial"/>
              <a:ea typeface="Arial"/>
              <a:cs typeface="Arial"/>
              <a:sym typeface="Arial"/>
            </a:endParaRPr>
          </a:p>
        </p:txBody>
      </p:sp>
      <p:sp>
        <p:nvSpPr>
          <p:cNvPr id="820" name="Google Shape;820;p39"/>
          <p:cNvSpPr/>
          <p:nvPr/>
        </p:nvSpPr>
        <p:spPr>
          <a:xfrm>
            <a:off x="713232" y="3511296"/>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21" name="Google Shape;821;p39"/>
          <p:cNvSpPr txBox="1"/>
          <p:nvPr/>
        </p:nvSpPr>
        <p:spPr>
          <a:xfrm>
            <a:off x="1124712" y="3383280"/>
            <a:ext cx="10469880" cy="82296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 unidade é a tag latest, não todas as versões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pic>
        <p:nvPicPr>
          <p:cNvPr descr="sbseg2026_rodape.png" id="827" name="Google Shape;827;p4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28" name="Google Shape;828;p40"/>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37</a:t>
            </a:r>
            <a:endParaRPr b="0" i="0" sz="1400" u="none" cap="none" strike="noStrike">
              <a:solidFill>
                <a:srgbClr val="000000"/>
              </a:solidFill>
              <a:latin typeface="Arial"/>
              <a:ea typeface="Arial"/>
              <a:cs typeface="Arial"/>
              <a:sym typeface="Arial"/>
            </a:endParaRPr>
          </a:p>
        </p:txBody>
      </p:sp>
      <p:pic>
        <p:nvPicPr>
          <p:cNvPr descr="disponiveis.png" id="829" name="Google Shape;829;p40"/>
          <p:cNvPicPr preferRelativeResize="0"/>
          <p:nvPr/>
        </p:nvPicPr>
        <p:blipFill rotWithShape="1">
          <a:blip r:embed="rId4">
            <a:alphaModFix/>
          </a:blip>
          <a:srcRect b="0" l="0" r="0" t="0"/>
          <a:stretch/>
        </p:blipFill>
        <p:spPr>
          <a:xfrm>
            <a:off x="347472" y="2103120"/>
            <a:ext cx="2788920" cy="2788920"/>
          </a:xfrm>
          <a:prstGeom prst="rect">
            <a:avLst/>
          </a:prstGeom>
          <a:noFill/>
          <a:ln>
            <a:noFill/>
          </a:ln>
        </p:spPr>
      </p:pic>
      <p:pic>
        <p:nvPicPr>
          <p:cNvPr descr="funcionais.png" id="830" name="Google Shape;830;p40"/>
          <p:cNvPicPr preferRelativeResize="0"/>
          <p:nvPr/>
        </p:nvPicPr>
        <p:blipFill rotWithShape="1">
          <a:blip r:embed="rId5">
            <a:alphaModFix/>
          </a:blip>
          <a:srcRect b="0" l="0" r="0" t="0"/>
          <a:stretch/>
        </p:blipFill>
        <p:spPr>
          <a:xfrm>
            <a:off x="3250082" y="2103120"/>
            <a:ext cx="2788920" cy="2788920"/>
          </a:xfrm>
          <a:prstGeom prst="rect">
            <a:avLst/>
          </a:prstGeom>
          <a:noFill/>
          <a:ln>
            <a:noFill/>
          </a:ln>
        </p:spPr>
      </p:pic>
      <p:pic>
        <p:nvPicPr>
          <p:cNvPr descr="sustentaveis.png" id="831" name="Google Shape;831;p40"/>
          <p:cNvPicPr preferRelativeResize="0"/>
          <p:nvPr/>
        </p:nvPicPr>
        <p:blipFill rotWithShape="1">
          <a:blip r:embed="rId6">
            <a:alphaModFix/>
          </a:blip>
          <a:srcRect b="0" l="0" r="0" t="0"/>
          <a:stretch/>
        </p:blipFill>
        <p:spPr>
          <a:xfrm>
            <a:off x="6152692" y="2103120"/>
            <a:ext cx="2788920" cy="2788920"/>
          </a:xfrm>
          <a:prstGeom prst="rect">
            <a:avLst/>
          </a:prstGeom>
          <a:noFill/>
          <a:ln>
            <a:noFill/>
          </a:ln>
        </p:spPr>
      </p:pic>
      <p:pic>
        <p:nvPicPr>
          <p:cNvPr descr="reproduziveis.png" id="832" name="Google Shape;832;p40"/>
          <p:cNvPicPr preferRelativeResize="0"/>
          <p:nvPr/>
        </p:nvPicPr>
        <p:blipFill rotWithShape="1">
          <a:blip r:embed="rId7">
            <a:alphaModFix/>
          </a:blip>
          <a:srcRect b="0" l="0" r="0" t="0"/>
          <a:stretch/>
        </p:blipFill>
        <p:spPr>
          <a:xfrm>
            <a:off x="9055303" y="2103120"/>
            <a:ext cx="2788920" cy="278892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7" name="Shape 837"/>
        <p:cNvGrpSpPr/>
        <p:nvPr/>
      </p:nvGrpSpPr>
      <p:grpSpPr>
        <a:xfrm>
          <a:off x="0" y="0"/>
          <a:ext cx="0" cy="0"/>
          <a:chOff x="0" y="0"/>
          <a:chExt cx="0" cy="0"/>
        </a:xfrm>
      </p:grpSpPr>
      <p:pic>
        <p:nvPicPr>
          <p:cNvPr descr="img08_fecho.jpg" id="838" name="Google Shape;838;p41"/>
          <p:cNvPicPr preferRelativeResize="0"/>
          <p:nvPr/>
        </p:nvPicPr>
        <p:blipFill rotWithShape="1">
          <a:blip r:embed="rId3">
            <a:alphaModFix/>
          </a:blip>
          <a:srcRect b="0" l="0" r="0" t="0"/>
          <a:stretch/>
        </p:blipFill>
        <p:spPr>
          <a:xfrm>
            <a:off x="0" y="0"/>
            <a:ext cx="12191695" cy="6858000"/>
          </a:xfrm>
          <a:prstGeom prst="rect">
            <a:avLst/>
          </a:prstGeom>
          <a:noFill/>
          <a:ln>
            <a:noFill/>
          </a:ln>
        </p:spPr>
      </p:pic>
      <p:pic>
        <p:nvPicPr>
          <p:cNvPr descr="sbseg2026_rodape.png" id="839" name="Google Shape;839;p41"/>
          <p:cNvPicPr preferRelativeResize="0"/>
          <p:nvPr/>
        </p:nvPicPr>
        <p:blipFill rotWithShape="1">
          <a:blip r:embed="rId4">
            <a:alphaModFix/>
          </a:blip>
          <a:srcRect b="0" l="0" r="0" t="0"/>
          <a:stretch/>
        </p:blipFill>
        <p:spPr>
          <a:xfrm>
            <a:off x="146304" y="6217920"/>
            <a:ext cx="1024128" cy="566928"/>
          </a:xfrm>
          <a:prstGeom prst="rect">
            <a:avLst/>
          </a:prstGeom>
          <a:noFill/>
          <a:ln>
            <a:noFill/>
          </a:ln>
        </p:spPr>
      </p:pic>
      <p:sp>
        <p:nvSpPr>
          <p:cNvPr id="840" name="Google Shape;840;p41"/>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38</a:t>
            </a:r>
            <a:endParaRPr b="0" i="0" sz="1400" u="none" cap="none" strike="noStrike">
              <a:solidFill>
                <a:srgbClr val="000000"/>
              </a:solidFill>
              <a:latin typeface="Arial"/>
              <a:ea typeface="Arial"/>
              <a:cs typeface="Arial"/>
              <a:sym typeface="Arial"/>
            </a:endParaRPr>
          </a:p>
        </p:txBody>
      </p:sp>
      <p:sp>
        <p:nvSpPr>
          <p:cNvPr id="841" name="Google Shape;841;p41"/>
          <p:cNvSpPr txBox="1"/>
          <p:nvPr/>
        </p:nvSpPr>
        <p:spPr>
          <a:xfrm>
            <a:off x="713232" y="603504"/>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Obrigado!</a:t>
            </a:r>
            <a:endParaRPr b="0" i="0" sz="1400" u="none" cap="none" strike="noStrike">
              <a:solidFill>
                <a:srgbClr val="000000"/>
              </a:solidFill>
              <a:latin typeface="Arial"/>
              <a:ea typeface="Arial"/>
              <a:cs typeface="Arial"/>
              <a:sym typeface="Arial"/>
            </a:endParaRPr>
          </a:p>
        </p:txBody>
      </p:sp>
      <p:sp>
        <p:nvSpPr>
          <p:cNvPr id="842" name="Google Shape;842;p41"/>
          <p:cNvSpPr txBox="1"/>
          <p:nvPr/>
        </p:nvSpPr>
        <p:spPr>
          <a:xfrm>
            <a:off x="713232" y="1408176"/>
            <a:ext cx="8961120" cy="5486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Perguntas são bem-vindas</a:t>
            </a:r>
            <a:endParaRPr b="0" i="0" sz="1400" u="none" cap="none" strike="noStrike">
              <a:solidFill>
                <a:srgbClr val="000000"/>
              </a:solidFill>
              <a:latin typeface="Arial"/>
              <a:ea typeface="Arial"/>
              <a:cs typeface="Arial"/>
              <a:sym typeface="Arial"/>
            </a:endParaRPr>
          </a:p>
        </p:txBody>
      </p:sp>
      <p:sp>
        <p:nvSpPr>
          <p:cNvPr id="843" name="Google Shape;843;p41"/>
          <p:cNvSpPr txBox="1"/>
          <p:nvPr/>
        </p:nvSpPr>
        <p:spPr>
          <a:xfrm>
            <a:off x="713232" y="2066543"/>
            <a:ext cx="8961120" cy="40233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AUTOR DE CONTATO</a:t>
            </a:r>
            <a:endParaRPr b="0" i="0" sz="1400" u="none" cap="none" strike="noStrike">
              <a:solidFill>
                <a:srgbClr val="000000"/>
              </a:solidFill>
              <a:latin typeface="Arial"/>
              <a:ea typeface="Arial"/>
              <a:cs typeface="Arial"/>
              <a:sym typeface="Arial"/>
            </a:endParaRPr>
          </a:p>
        </p:txBody>
      </p:sp>
      <p:sp>
        <p:nvSpPr>
          <p:cNvPr id="844" name="Google Shape;844;p41"/>
          <p:cNvSpPr txBox="1"/>
          <p:nvPr/>
        </p:nvSpPr>
        <p:spPr>
          <a:xfrm>
            <a:off x="713232" y="2468880"/>
            <a:ext cx="8961120"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Space Grotesk"/>
                <a:ea typeface="Space Grotesk"/>
                <a:cs typeface="Space Grotesk"/>
                <a:sym typeface="Space Grotesk"/>
              </a:rPr>
              <a:t>Cristhian Kapelinski</a:t>
            </a:r>
            <a:endParaRPr b="0" i="0" sz="1400" u="none" cap="none" strike="noStrike">
              <a:solidFill>
                <a:srgbClr val="000000"/>
              </a:solidFill>
              <a:latin typeface="Arial"/>
              <a:ea typeface="Arial"/>
              <a:cs typeface="Arial"/>
              <a:sym typeface="Arial"/>
            </a:endParaRPr>
          </a:p>
        </p:txBody>
      </p:sp>
      <p:sp>
        <p:nvSpPr>
          <p:cNvPr id="845" name="Google Shape;845;p41"/>
          <p:cNvSpPr txBox="1"/>
          <p:nvPr/>
        </p:nvSpPr>
        <p:spPr>
          <a:xfrm>
            <a:off x="713232" y="3017520"/>
            <a:ext cx="11155680" cy="49377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cristhianavila.aluno@unipampa.edu.br</a:t>
            </a:r>
            <a:endParaRPr b="0" i="0" sz="1400" u="none" cap="none" strike="noStrike">
              <a:solidFill>
                <a:srgbClr val="000000"/>
              </a:solidFill>
              <a:latin typeface="Arial"/>
              <a:ea typeface="Arial"/>
              <a:cs typeface="Arial"/>
              <a:sym typeface="Arial"/>
            </a:endParaRPr>
          </a:p>
        </p:txBody>
      </p:sp>
      <p:pic>
        <p:nvPicPr>
          <p:cNvPr descr="aihorizonlabs.png" id="846" name="Google Shape;846;p41"/>
          <p:cNvPicPr preferRelativeResize="0"/>
          <p:nvPr/>
        </p:nvPicPr>
        <p:blipFill rotWithShape="1">
          <a:blip r:embed="rId5">
            <a:alphaModFix/>
          </a:blip>
          <a:srcRect b="0" l="0" r="0" t="0"/>
          <a:stretch/>
        </p:blipFill>
        <p:spPr>
          <a:xfrm>
            <a:off x="713232" y="3493008"/>
            <a:ext cx="1945538" cy="475488"/>
          </a:xfrm>
          <a:prstGeom prst="rect">
            <a:avLst/>
          </a:prstGeom>
          <a:noFill/>
          <a:ln>
            <a:noFill/>
          </a:ln>
        </p:spPr>
      </p:pic>
      <p:pic>
        <p:nvPicPr>
          <p:cNvPr descr="unipampa.png" id="847" name="Google Shape;847;p41"/>
          <p:cNvPicPr preferRelativeResize="0"/>
          <p:nvPr/>
        </p:nvPicPr>
        <p:blipFill rotWithShape="1">
          <a:blip r:embed="rId6">
            <a:alphaModFix/>
          </a:blip>
          <a:srcRect b="0" l="0" r="0" t="0"/>
          <a:stretch/>
        </p:blipFill>
        <p:spPr>
          <a:xfrm>
            <a:off x="3502152" y="3419856"/>
            <a:ext cx="944202" cy="621792"/>
          </a:xfrm>
          <a:prstGeom prst="rect">
            <a:avLst/>
          </a:prstGeom>
          <a:noFill/>
          <a:ln>
            <a:noFill/>
          </a:ln>
        </p:spPr>
      </p:pic>
      <p:pic>
        <p:nvPicPr>
          <p:cNvPr descr="qr_artigo.png" id="848" name="Google Shape;848;p41"/>
          <p:cNvPicPr preferRelativeResize="0"/>
          <p:nvPr/>
        </p:nvPicPr>
        <p:blipFill rotWithShape="1">
          <a:blip r:embed="rId7">
            <a:alphaModFix/>
          </a:blip>
          <a:srcRect b="0" l="0" r="0" t="0"/>
          <a:stretch/>
        </p:blipFill>
        <p:spPr>
          <a:xfrm>
            <a:off x="6300216" y="868680"/>
            <a:ext cx="1188720" cy="1188720"/>
          </a:xfrm>
          <a:prstGeom prst="rect">
            <a:avLst/>
          </a:prstGeom>
          <a:noFill/>
          <a:ln>
            <a:noFill/>
          </a:ln>
        </p:spPr>
      </p:pic>
      <p:sp>
        <p:nvSpPr>
          <p:cNvPr id="849" name="Google Shape;849;p41"/>
          <p:cNvSpPr txBox="1"/>
          <p:nvPr/>
        </p:nvSpPr>
        <p:spPr>
          <a:xfrm>
            <a:off x="5477255" y="2148840"/>
            <a:ext cx="2834640"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Artigo</a:t>
            </a:r>
            <a:endParaRPr b="0" i="0" sz="1400" u="none" cap="none" strike="noStrike">
              <a:solidFill>
                <a:srgbClr val="000000"/>
              </a:solidFill>
              <a:latin typeface="Arial"/>
              <a:ea typeface="Arial"/>
              <a:cs typeface="Arial"/>
              <a:sym typeface="Arial"/>
            </a:endParaRPr>
          </a:p>
        </p:txBody>
      </p:sp>
      <p:pic>
        <p:nvPicPr>
          <p:cNvPr descr="qr_artefato.png" id="850" name="Google Shape;850;p41"/>
          <p:cNvPicPr preferRelativeResize="0"/>
          <p:nvPr/>
        </p:nvPicPr>
        <p:blipFill rotWithShape="1">
          <a:blip r:embed="rId8">
            <a:alphaModFix/>
          </a:blip>
          <a:srcRect b="0" l="0" r="0" t="0"/>
          <a:stretch/>
        </p:blipFill>
        <p:spPr>
          <a:xfrm>
            <a:off x="8083296" y="868680"/>
            <a:ext cx="1188720" cy="1188720"/>
          </a:xfrm>
          <a:prstGeom prst="rect">
            <a:avLst/>
          </a:prstGeom>
          <a:noFill/>
          <a:ln>
            <a:noFill/>
          </a:ln>
        </p:spPr>
      </p:pic>
      <p:sp>
        <p:nvSpPr>
          <p:cNvPr id="851" name="Google Shape;851;p41"/>
          <p:cNvSpPr txBox="1"/>
          <p:nvPr/>
        </p:nvSpPr>
        <p:spPr>
          <a:xfrm>
            <a:off x="7260336" y="2148840"/>
            <a:ext cx="2834640"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Artefato</a:t>
            </a:r>
            <a:endParaRPr b="0" i="0" sz="1400" u="none" cap="none" strike="noStrike">
              <a:solidFill>
                <a:srgbClr val="000000"/>
              </a:solidFill>
              <a:latin typeface="Arial"/>
              <a:ea typeface="Arial"/>
              <a:cs typeface="Arial"/>
              <a:sym typeface="Arial"/>
            </a:endParaRPr>
          </a:p>
        </p:txBody>
      </p:sp>
      <p:pic>
        <p:nvPicPr>
          <p:cNvPr descr="qr_lab.png" id="852" name="Google Shape;852;p41"/>
          <p:cNvPicPr preferRelativeResize="0"/>
          <p:nvPr/>
        </p:nvPicPr>
        <p:blipFill rotWithShape="1">
          <a:blip r:embed="rId9">
            <a:alphaModFix/>
          </a:blip>
          <a:srcRect b="0" l="0" r="0" t="0"/>
          <a:stretch/>
        </p:blipFill>
        <p:spPr>
          <a:xfrm>
            <a:off x="10296144" y="868680"/>
            <a:ext cx="1188720" cy="1188720"/>
          </a:xfrm>
          <a:prstGeom prst="rect">
            <a:avLst/>
          </a:prstGeom>
          <a:noFill/>
          <a:ln>
            <a:noFill/>
          </a:ln>
        </p:spPr>
      </p:pic>
      <p:sp>
        <p:nvSpPr>
          <p:cNvPr id="853" name="Google Shape;853;p41"/>
          <p:cNvSpPr txBox="1"/>
          <p:nvPr/>
        </p:nvSpPr>
        <p:spPr>
          <a:xfrm>
            <a:off x="9357055" y="2148840"/>
            <a:ext cx="2834640" cy="43891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AI Horizon</a:t>
            </a:r>
            <a:endParaRPr b="0" i="0" sz="1400" u="none" cap="none" strike="noStrike">
              <a:solidFill>
                <a:srgbClr val="000000"/>
              </a:solidFill>
              <a:latin typeface="Arial"/>
              <a:ea typeface="Arial"/>
              <a:cs typeface="Arial"/>
              <a:sym typeface="Arial"/>
            </a:endParaRPr>
          </a:p>
        </p:txBody>
      </p:sp>
      <p:sp>
        <p:nvSpPr>
          <p:cNvPr id="854" name="Google Shape;854;p41"/>
          <p:cNvSpPr/>
          <p:nvPr/>
        </p:nvSpPr>
        <p:spPr>
          <a:xfrm>
            <a:off x="621792" y="5029200"/>
            <a:ext cx="5897880" cy="76809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55" name="Google Shape;855;p41"/>
          <p:cNvSpPr txBox="1"/>
          <p:nvPr/>
        </p:nvSpPr>
        <p:spPr>
          <a:xfrm>
            <a:off x="859536" y="5221224"/>
            <a:ext cx="1280160" cy="38404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Apoio</a:t>
            </a:r>
            <a:endParaRPr b="0" i="0" sz="1400" u="none" cap="none" strike="noStrike">
              <a:solidFill>
                <a:srgbClr val="000000"/>
              </a:solidFill>
              <a:latin typeface="Arial"/>
              <a:ea typeface="Arial"/>
              <a:cs typeface="Arial"/>
              <a:sym typeface="Arial"/>
            </a:endParaRPr>
          </a:p>
        </p:txBody>
      </p:sp>
      <p:pic>
        <p:nvPicPr>
          <p:cNvPr descr="capes.png" id="856" name="Google Shape;856;p41"/>
          <p:cNvPicPr preferRelativeResize="0"/>
          <p:nvPr/>
        </p:nvPicPr>
        <p:blipFill rotWithShape="1">
          <a:blip r:embed="rId10">
            <a:alphaModFix/>
          </a:blip>
          <a:srcRect b="0" l="0" r="0" t="0"/>
          <a:stretch/>
        </p:blipFill>
        <p:spPr>
          <a:xfrm>
            <a:off x="2226619" y="5230368"/>
            <a:ext cx="462391" cy="347472"/>
          </a:xfrm>
          <a:prstGeom prst="rect">
            <a:avLst/>
          </a:prstGeom>
          <a:noFill/>
          <a:ln>
            <a:noFill/>
          </a:ln>
        </p:spPr>
      </p:pic>
      <p:pic>
        <p:nvPicPr>
          <p:cNvPr descr="cnpq.png" id="857" name="Google Shape;857;p41"/>
          <p:cNvPicPr preferRelativeResize="0"/>
          <p:nvPr/>
        </p:nvPicPr>
        <p:blipFill rotWithShape="1">
          <a:blip r:embed="rId11">
            <a:alphaModFix/>
          </a:blip>
          <a:srcRect b="0" l="0" r="0" t="0"/>
          <a:stretch/>
        </p:blipFill>
        <p:spPr>
          <a:xfrm>
            <a:off x="2766789" y="5230368"/>
            <a:ext cx="1153869" cy="347472"/>
          </a:xfrm>
          <a:prstGeom prst="rect">
            <a:avLst/>
          </a:prstGeom>
          <a:noFill/>
          <a:ln>
            <a:noFill/>
          </a:ln>
        </p:spPr>
      </p:pic>
      <p:pic>
        <p:nvPicPr>
          <p:cNvPr descr="fapergs.png" id="858" name="Google Shape;858;p41"/>
          <p:cNvPicPr preferRelativeResize="0"/>
          <p:nvPr/>
        </p:nvPicPr>
        <p:blipFill rotWithShape="1">
          <a:blip r:embed="rId12">
            <a:alphaModFix/>
          </a:blip>
          <a:srcRect b="0" l="0" r="0" t="0"/>
          <a:stretch/>
        </p:blipFill>
        <p:spPr>
          <a:xfrm>
            <a:off x="3998437" y="5230368"/>
            <a:ext cx="2233143" cy="347472"/>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3" name="Shape 863"/>
        <p:cNvGrpSpPr/>
        <p:nvPr/>
      </p:nvGrpSpPr>
      <p:grpSpPr>
        <a:xfrm>
          <a:off x="0" y="0"/>
          <a:ext cx="0" cy="0"/>
          <a:chOff x="0" y="0"/>
          <a:chExt cx="0" cy="0"/>
        </a:xfrm>
      </p:grpSpPr>
      <p:pic>
        <p:nvPicPr>
          <p:cNvPr descr="sbseg2026_rodape.png" id="864" name="Google Shape;864;p4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65" name="Google Shape;865;p42"/>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39</a:t>
            </a:r>
            <a:endParaRPr b="0" i="0" sz="1400" u="none" cap="none" strike="noStrike">
              <a:solidFill>
                <a:srgbClr val="000000"/>
              </a:solidFill>
              <a:latin typeface="Arial"/>
              <a:ea typeface="Arial"/>
              <a:cs typeface="Arial"/>
              <a:sym typeface="Arial"/>
            </a:endParaRPr>
          </a:p>
        </p:txBody>
      </p:sp>
      <p:sp>
        <p:nvSpPr>
          <p:cNvPr id="866" name="Google Shape;866;p42"/>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867" name="Google Shape;867;p42"/>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Basta 2.879 para 12,7 milhões?</a:t>
            </a:r>
            <a:endParaRPr b="0" i="0" sz="1400" u="none" cap="none" strike="noStrike">
              <a:solidFill>
                <a:srgbClr val="000000"/>
              </a:solidFill>
              <a:latin typeface="Arial"/>
              <a:ea typeface="Arial"/>
              <a:cs typeface="Arial"/>
              <a:sym typeface="Arial"/>
            </a:endParaRPr>
          </a:p>
        </p:txBody>
      </p:sp>
      <p:sp>
        <p:nvSpPr>
          <p:cNvPr id="868" name="Google Shape;868;p42"/>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69" name="Google Shape;869;p42"/>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2.879</a:t>
            </a:r>
            <a:r>
              <a:rPr b="0" i="0" lang="en-US" sz="3200" u="none" cap="none" strike="noStrike">
                <a:solidFill>
                  <a:srgbClr val="00153C"/>
                </a:solidFill>
                <a:latin typeface="Inter"/>
                <a:ea typeface="Inter"/>
                <a:cs typeface="Inter"/>
                <a:sym typeface="Inter"/>
              </a:rPr>
              <a:t> escaneadas, sorteadas de 12.716.568</a:t>
            </a:r>
            <a:endParaRPr b="0" i="0" sz="1400" u="none" cap="none" strike="noStrike">
              <a:solidFill>
                <a:srgbClr val="000000"/>
              </a:solidFill>
              <a:latin typeface="Arial"/>
              <a:ea typeface="Arial"/>
              <a:cs typeface="Arial"/>
              <a:sym typeface="Arial"/>
            </a:endParaRPr>
          </a:p>
        </p:txBody>
      </p:sp>
      <p:sp>
        <p:nvSpPr>
          <p:cNvPr id="870" name="Google Shape;870;p42"/>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1" name="Google Shape;871;p42"/>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Margem</a:t>
            </a:r>
            <a:r>
              <a:rPr b="0" i="0" lang="en-US" sz="3200" u="none" cap="none" strike="noStrike">
                <a:solidFill>
                  <a:srgbClr val="00153C"/>
                </a:solidFill>
                <a:latin typeface="Inter"/>
                <a:ea typeface="Inter"/>
                <a:cs typeface="Inter"/>
                <a:sym typeface="Inter"/>
              </a:rPr>
              <a:t> abaixo de 1 ponto, Wilson, 95%</a:t>
            </a:r>
            <a:endParaRPr b="0" i="0" sz="1400" u="none" cap="none" strike="noStrike">
              <a:solidFill>
                <a:srgbClr val="000000"/>
              </a:solidFill>
              <a:latin typeface="Arial"/>
              <a:ea typeface="Arial"/>
              <a:cs typeface="Arial"/>
              <a:sym typeface="Arial"/>
            </a:endParaRPr>
          </a:p>
        </p:txBody>
      </p:sp>
      <p:sp>
        <p:nvSpPr>
          <p:cNvPr id="872" name="Google Shape;872;p42"/>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3" name="Google Shape;873;p42"/>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Uniforme</a:t>
            </a:r>
            <a:r>
              <a:rPr b="0" i="0" lang="en-US" sz="3200" u="none" cap="none" strike="noStrike">
                <a:solidFill>
                  <a:srgbClr val="00153C"/>
                </a:solidFill>
                <a:latin typeface="Inter"/>
                <a:ea typeface="Inter"/>
                <a:cs typeface="Inter"/>
                <a:sym typeface="Inter"/>
              </a:rPr>
              <a:t> sem estrato, peso ou efeito de desenho</a:t>
            </a:r>
            <a:endParaRPr b="0" i="0" sz="1400" u="none" cap="none" strike="noStrike">
              <a:solidFill>
                <a:srgbClr val="000000"/>
              </a:solidFill>
              <a:latin typeface="Arial"/>
              <a:ea typeface="Arial"/>
              <a:cs typeface="Arial"/>
              <a:sym typeface="Arial"/>
            </a:endParaRPr>
          </a:p>
        </p:txBody>
      </p:sp>
      <p:sp>
        <p:nvSpPr>
          <p:cNvPr id="874" name="Google Shape;874;p42"/>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5" name="Google Shape;875;p42"/>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Fora do alcance</a:t>
            </a:r>
            <a:r>
              <a:rPr b="0" i="0" lang="en-US" sz="3200" u="none" cap="none" strike="noStrike">
                <a:solidFill>
                  <a:srgbClr val="00153C"/>
                </a:solidFill>
                <a:latin typeface="Inter"/>
                <a:ea typeface="Inter"/>
                <a:cs typeface="Inter"/>
                <a:sym typeface="Inter"/>
              </a:rPr>
              <a:t> cauda rara e série no tempo</a:t>
            </a:r>
            <a:endParaRPr b="0" i="0" sz="1400" u="none" cap="none" strike="noStrike">
              <a:solidFill>
                <a:srgbClr val="000000"/>
              </a:solidFill>
              <a:latin typeface="Arial"/>
              <a:ea typeface="Arial"/>
              <a:cs typeface="Arial"/>
              <a:sym typeface="Arial"/>
            </a:endParaRPr>
          </a:p>
        </p:txBody>
      </p:sp>
      <p:sp>
        <p:nvSpPr>
          <p:cNvPr id="876" name="Google Shape;876;p42"/>
          <p:cNvSpPr/>
          <p:nvPr/>
        </p:nvSpPr>
        <p:spPr>
          <a:xfrm>
            <a:off x="548640" y="4608576"/>
            <a:ext cx="11201400" cy="958291"/>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77" name="Google Shape;877;p42"/>
          <p:cNvSpPr txBox="1"/>
          <p:nvPr/>
        </p:nvSpPr>
        <p:spPr>
          <a:xfrm>
            <a:off x="868680" y="4809744"/>
            <a:ext cx="10561320" cy="55595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 estimativa é de prevalência, não de impacto.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2" name="Shape 882"/>
        <p:cNvGrpSpPr/>
        <p:nvPr/>
      </p:nvGrpSpPr>
      <p:grpSpPr>
        <a:xfrm>
          <a:off x="0" y="0"/>
          <a:ext cx="0" cy="0"/>
          <a:chOff x="0" y="0"/>
          <a:chExt cx="0" cy="0"/>
        </a:xfrm>
      </p:grpSpPr>
      <p:pic>
        <p:nvPicPr>
          <p:cNvPr descr="sbseg2026_rodape.png" id="883" name="Google Shape;883;p4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884" name="Google Shape;884;p43"/>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40</a:t>
            </a:r>
            <a:endParaRPr b="0" i="0" sz="1400" u="none" cap="none" strike="noStrike">
              <a:solidFill>
                <a:srgbClr val="000000"/>
              </a:solidFill>
              <a:latin typeface="Arial"/>
              <a:ea typeface="Arial"/>
              <a:cs typeface="Arial"/>
              <a:sym typeface="Arial"/>
            </a:endParaRPr>
          </a:p>
        </p:txBody>
      </p:sp>
      <p:sp>
        <p:nvSpPr>
          <p:cNvPr id="885" name="Google Shape;885;p43"/>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886" name="Google Shape;886;p43"/>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Por que 12,7 milhões e não 15?</a:t>
            </a:r>
            <a:endParaRPr b="0" i="0" sz="1400" u="none" cap="none" strike="noStrike">
              <a:solidFill>
                <a:srgbClr val="000000"/>
              </a:solidFill>
              <a:latin typeface="Arial"/>
              <a:ea typeface="Arial"/>
              <a:cs typeface="Arial"/>
              <a:sym typeface="Arial"/>
            </a:endParaRPr>
          </a:p>
        </p:txBody>
      </p:sp>
      <p:sp>
        <p:nvSpPr>
          <p:cNvPr id="887" name="Google Shape;887;p43"/>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88" name="Google Shape;888;p43"/>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12.716.568</a:t>
            </a:r>
            <a:r>
              <a:rPr b="0" i="0" lang="en-US" sz="3200" u="none" cap="none" strike="noStrike">
                <a:solidFill>
                  <a:srgbClr val="00153C"/>
                </a:solidFill>
                <a:latin typeface="Inter"/>
                <a:ea typeface="Inter"/>
                <a:cs typeface="Inter"/>
                <a:sym typeface="Inter"/>
              </a:rPr>
              <a:t> nomes que o crawl enumerou</a:t>
            </a:r>
            <a:endParaRPr b="0" i="0" sz="1400" u="none" cap="none" strike="noStrike">
              <a:solidFill>
                <a:srgbClr val="000000"/>
              </a:solidFill>
              <a:latin typeface="Arial"/>
              <a:ea typeface="Arial"/>
              <a:cs typeface="Arial"/>
              <a:sym typeface="Arial"/>
            </a:endParaRPr>
          </a:p>
        </p:txBody>
      </p:sp>
      <p:sp>
        <p:nvSpPr>
          <p:cNvPr id="889" name="Google Shape;889;p43"/>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0" name="Google Shape;890;p43"/>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15 milhões</a:t>
            </a:r>
            <a:r>
              <a:rPr b="0" i="0" lang="en-US" sz="3200" u="none" cap="none" strike="noStrike">
                <a:solidFill>
                  <a:srgbClr val="00153C"/>
                </a:solidFill>
                <a:latin typeface="Inter"/>
                <a:ea typeface="Inter"/>
                <a:cs typeface="Inter"/>
                <a:sym typeface="Inter"/>
              </a:rPr>
              <a:t> total citado pela JFrog em 2024</a:t>
            </a:r>
            <a:endParaRPr b="0" i="0" sz="1400" u="none" cap="none" strike="noStrike">
              <a:solidFill>
                <a:srgbClr val="000000"/>
              </a:solidFill>
              <a:latin typeface="Arial"/>
              <a:ea typeface="Arial"/>
              <a:cs typeface="Arial"/>
              <a:sym typeface="Arial"/>
            </a:endParaRPr>
          </a:p>
        </p:txBody>
      </p:sp>
      <p:sp>
        <p:nvSpPr>
          <p:cNvPr id="891" name="Google Shape;891;p43"/>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2" name="Google Shape;892;p43"/>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A diferença</a:t>
            </a:r>
            <a:r>
              <a:rPr b="0" i="0" lang="en-US" sz="3200" u="none" cap="none" strike="noStrike">
                <a:solidFill>
                  <a:srgbClr val="00153C"/>
                </a:solidFill>
                <a:latin typeface="Inter"/>
                <a:ea typeface="Inter"/>
                <a:cs typeface="Inter"/>
                <a:sym typeface="Inter"/>
              </a:rPr>
              <a:t> privado e não enumerável, ~15%</a:t>
            </a:r>
            <a:endParaRPr b="0" i="0" sz="1400" u="none" cap="none" strike="noStrike">
              <a:solidFill>
                <a:srgbClr val="000000"/>
              </a:solidFill>
              <a:latin typeface="Arial"/>
              <a:ea typeface="Arial"/>
              <a:cs typeface="Arial"/>
              <a:sym typeface="Arial"/>
            </a:endParaRPr>
          </a:p>
        </p:txBody>
      </p:sp>
      <p:sp>
        <p:nvSpPr>
          <p:cNvPr id="893" name="Google Shape;893;p43"/>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4" name="Google Shape;894;p43"/>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Uniforme</a:t>
            </a:r>
            <a:r>
              <a:rPr b="0" i="0" lang="en-US" sz="3200" u="none" cap="none" strike="noStrike">
                <a:solidFill>
                  <a:srgbClr val="00153C"/>
                </a:solidFill>
                <a:latin typeface="Inter"/>
                <a:ea typeface="Inter"/>
                <a:cs typeface="Inter"/>
                <a:sym typeface="Inter"/>
              </a:rPr>
              <a:t> dentro do quadro, não fora dele</a:t>
            </a:r>
            <a:endParaRPr b="0" i="0" sz="1400" u="none" cap="none" strike="noStrike">
              <a:solidFill>
                <a:srgbClr val="000000"/>
              </a:solidFill>
              <a:latin typeface="Arial"/>
              <a:ea typeface="Arial"/>
              <a:cs typeface="Arial"/>
              <a:sym typeface="Arial"/>
            </a:endParaRPr>
          </a:p>
        </p:txBody>
      </p:sp>
      <p:sp>
        <p:nvSpPr>
          <p:cNvPr id="895" name="Google Shape;895;p43"/>
          <p:cNvSpPr/>
          <p:nvPr/>
        </p:nvSpPr>
        <p:spPr>
          <a:xfrm>
            <a:off x="548640" y="4608576"/>
            <a:ext cx="11201400" cy="958291"/>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896" name="Google Shape;896;p43"/>
          <p:cNvSpPr txBox="1"/>
          <p:nvPr/>
        </p:nvSpPr>
        <p:spPr>
          <a:xfrm>
            <a:off x="868680" y="4809744"/>
            <a:ext cx="10561320" cy="55595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O quadro é o crawl, não o Docker Hub inteiro.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1" name="Shape 901"/>
        <p:cNvGrpSpPr/>
        <p:nvPr/>
      </p:nvGrpSpPr>
      <p:grpSpPr>
        <a:xfrm>
          <a:off x="0" y="0"/>
          <a:ext cx="0" cy="0"/>
          <a:chOff x="0" y="0"/>
          <a:chExt cx="0" cy="0"/>
        </a:xfrm>
      </p:grpSpPr>
      <p:pic>
        <p:nvPicPr>
          <p:cNvPr descr="sbseg2026_rodape.png" id="902" name="Google Shape;902;p44"/>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03" name="Google Shape;903;p44"/>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41</a:t>
            </a:r>
            <a:endParaRPr b="0" i="0" sz="1400" u="none" cap="none" strike="noStrike">
              <a:solidFill>
                <a:srgbClr val="000000"/>
              </a:solidFill>
              <a:latin typeface="Arial"/>
              <a:ea typeface="Arial"/>
              <a:cs typeface="Arial"/>
              <a:sym typeface="Arial"/>
            </a:endParaRPr>
          </a:p>
        </p:txBody>
      </p:sp>
      <p:sp>
        <p:nvSpPr>
          <p:cNvPr id="904" name="Google Shape;904;p44"/>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05" name="Google Shape;905;p44"/>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Quem ficou fora do escaneamento</a:t>
            </a:r>
            <a:endParaRPr b="0" i="0" sz="1400" u="none" cap="none" strike="noStrike">
              <a:solidFill>
                <a:srgbClr val="000000"/>
              </a:solidFill>
              <a:latin typeface="Arial"/>
              <a:ea typeface="Arial"/>
              <a:cs typeface="Arial"/>
              <a:sym typeface="Arial"/>
            </a:endParaRPr>
          </a:p>
        </p:txBody>
      </p:sp>
      <p:sp>
        <p:nvSpPr>
          <p:cNvPr id="906" name="Google Shape;906;p44"/>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7" name="Google Shape;907;p44"/>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4.800</a:t>
            </a:r>
            <a:r>
              <a:rPr b="0" i="0" lang="en-US" sz="3200" u="none" cap="none" strike="noStrike">
                <a:solidFill>
                  <a:srgbClr val="00153C"/>
                </a:solidFill>
                <a:latin typeface="Inter"/>
                <a:ea typeface="Inter"/>
                <a:cs typeface="Inter"/>
                <a:sym typeface="Inter"/>
              </a:rPr>
              <a:t> sorteados; 2.879 escanearam, 60,0%</a:t>
            </a:r>
            <a:endParaRPr b="0" i="0" sz="1400" u="none" cap="none" strike="noStrike">
              <a:solidFill>
                <a:srgbClr val="000000"/>
              </a:solidFill>
              <a:latin typeface="Arial"/>
              <a:ea typeface="Arial"/>
              <a:cs typeface="Arial"/>
              <a:sym typeface="Arial"/>
            </a:endParaRPr>
          </a:p>
        </p:txBody>
      </p:sp>
      <p:sp>
        <p:nvSpPr>
          <p:cNvPr id="908" name="Google Shape;908;p44"/>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09" name="Google Shape;909;p44"/>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1.673</a:t>
            </a:r>
            <a:r>
              <a:rPr b="0" i="0" lang="en-US" sz="3200" u="none" cap="none" strike="noStrike">
                <a:solidFill>
                  <a:srgbClr val="00153C"/>
                </a:solidFill>
                <a:latin typeface="Inter"/>
                <a:ea typeface="Inter"/>
                <a:cs typeface="Inter"/>
                <a:sym typeface="Inter"/>
              </a:rPr>
              <a:t> sem tag latest, 34,9%</a:t>
            </a:r>
            <a:endParaRPr b="0" i="0" sz="1400" u="none" cap="none" strike="noStrike">
              <a:solidFill>
                <a:srgbClr val="000000"/>
              </a:solidFill>
              <a:latin typeface="Arial"/>
              <a:ea typeface="Arial"/>
              <a:cs typeface="Arial"/>
              <a:sym typeface="Arial"/>
            </a:endParaRPr>
          </a:p>
        </p:txBody>
      </p:sp>
      <p:sp>
        <p:nvSpPr>
          <p:cNvPr id="910" name="Google Shape;910;p44"/>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1" name="Google Shape;911;p44"/>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Auditoria</a:t>
            </a:r>
            <a:r>
              <a:rPr b="0" i="0" lang="en-US" sz="3200" u="none" cap="none" strike="noStrike">
                <a:solidFill>
                  <a:srgbClr val="00153C"/>
                </a:solidFill>
                <a:latin typeface="Inter"/>
                <a:ea typeface="Inter"/>
                <a:cs typeface="Inter"/>
                <a:sym typeface="Inter"/>
              </a:rPr>
              <a:t> 200 refeitos: 199 seguem sem latest</a:t>
            </a:r>
            <a:endParaRPr b="0" i="0" sz="1400" u="none" cap="none" strike="noStrike">
              <a:solidFill>
                <a:srgbClr val="000000"/>
              </a:solidFill>
              <a:latin typeface="Arial"/>
              <a:ea typeface="Arial"/>
              <a:cs typeface="Arial"/>
              <a:sym typeface="Arial"/>
            </a:endParaRPr>
          </a:p>
        </p:txBody>
      </p:sp>
      <p:sp>
        <p:nvSpPr>
          <p:cNvPr id="912" name="Google Shape;912;p44"/>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3" name="Google Shape;913;p44"/>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248</a:t>
            </a:r>
            <a:r>
              <a:rPr b="0" i="0" lang="en-US" sz="3200" u="none" cap="none" strike="noStrike">
                <a:solidFill>
                  <a:srgbClr val="00153C"/>
                </a:solidFill>
                <a:latin typeface="Inter"/>
                <a:ea typeface="Inter"/>
                <a:cs typeface="Inter"/>
                <a:sym typeface="Inter"/>
              </a:rPr>
              <a:t> 113, 57, 42 e 36, por quatro motivos</a:t>
            </a:r>
            <a:endParaRPr b="0" i="0" sz="1400" u="none" cap="none" strike="noStrike">
              <a:solidFill>
                <a:srgbClr val="000000"/>
              </a:solidFill>
              <a:latin typeface="Arial"/>
              <a:ea typeface="Arial"/>
              <a:cs typeface="Arial"/>
              <a:sym typeface="Arial"/>
            </a:endParaRPr>
          </a:p>
        </p:txBody>
      </p:sp>
      <p:sp>
        <p:nvSpPr>
          <p:cNvPr id="914" name="Google Shape;914;p44"/>
          <p:cNvSpPr/>
          <p:nvPr/>
        </p:nvSpPr>
        <p:spPr>
          <a:xfrm>
            <a:off x="548640" y="4608576"/>
            <a:ext cx="11201400" cy="151424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15" name="Google Shape;915;p44"/>
          <p:cNvSpPr txBox="1"/>
          <p:nvPr/>
        </p:nvSpPr>
        <p:spPr>
          <a:xfrm>
            <a:off x="868680" y="4809744"/>
            <a:ext cx="105613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Sobre os 4.800, a crítica fica entre 56,6% e 96,6%.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0" name="Shape 920"/>
        <p:cNvGrpSpPr/>
        <p:nvPr/>
      </p:nvGrpSpPr>
      <p:grpSpPr>
        <a:xfrm>
          <a:off x="0" y="0"/>
          <a:ext cx="0" cy="0"/>
          <a:chOff x="0" y="0"/>
          <a:chExt cx="0" cy="0"/>
        </a:xfrm>
      </p:grpSpPr>
      <p:pic>
        <p:nvPicPr>
          <p:cNvPr descr="sbseg2026_rodape.png" id="921" name="Google Shape;921;p45"/>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22" name="Google Shape;922;p45"/>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42</a:t>
            </a:r>
            <a:endParaRPr b="0" i="0" sz="1400" u="none" cap="none" strike="noStrike">
              <a:solidFill>
                <a:srgbClr val="000000"/>
              </a:solidFill>
              <a:latin typeface="Arial"/>
              <a:ea typeface="Arial"/>
              <a:cs typeface="Arial"/>
              <a:sym typeface="Arial"/>
            </a:endParaRPr>
          </a:p>
        </p:txBody>
      </p:sp>
      <p:sp>
        <p:nvSpPr>
          <p:cNvPr id="923" name="Google Shape;923;p45"/>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24" name="Google Shape;924;p45"/>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Um ponto de diferença, p = 0,03</a:t>
            </a:r>
            <a:endParaRPr b="0" i="0" sz="1400" u="none" cap="none" strike="noStrike">
              <a:solidFill>
                <a:srgbClr val="000000"/>
              </a:solidFill>
              <a:latin typeface="Arial"/>
              <a:ea typeface="Arial"/>
              <a:cs typeface="Arial"/>
              <a:sym typeface="Arial"/>
            </a:endParaRPr>
          </a:p>
        </p:txBody>
      </p:sp>
      <p:sp>
        <p:nvSpPr>
          <p:cNvPr id="925" name="Google Shape;925;p45"/>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6" name="Google Shape;926;p45"/>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2.718 de 2.879</a:t>
            </a:r>
            <a:r>
              <a:rPr b="0" i="0" lang="en-US" sz="3200" u="none" cap="none" strike="noStrike">
                <a:solidFill>
                  <a:srgbClr val="00153C"/>
                </a:solidFill>
                <a:latin typeface="Inter"/>
                <a:ea typeface="Inter"/>
                <a:cs typeface="Inter"/>
                <a:sym typeface="Inter"/>
              </a:rPr>
              <a:t> 94,4%, contra 49.392 de 52.895</a:t>
            </a:r>
            <a:endParaRPr b="0" i="0" sz="1400" u="none" cap="none" strike="noStrike">
              <a:solidFill>
                <a:srgbClr val="000000"/>
              </a:solidFill>
              <a:latin typeface="Arial"/>
              <a:ea typeface="Arial"/>
              <a:cs typeface="Arial"/>
              <a:sym typeface="Arial"/>
            </a:endParaRPr>
          </a:p>
        </p:txBody>
      </p:sp>
      <p:sp>
        <p:nvSpPr>
          <p:cNvPr id="927" name="Google Shape;927;p45"/>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28" name="Google Shape;928;p45"/>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z = 2,17</a:t>
            </a:r>
            <a:r>
              <a:rPr b="0" i="0" lang="en-US" sz="3200" u="none" cap="none" strike="noStrike">
                <a:solidFill>
                  <a:srgbClr val="00153C"/>
                </a:solidFill>
                <a:latin typeface="Inter"/>
                <a:ea typeface="Inter"/>
                <a:cs typeface="Inter"/>
                <a:sym typeface="Inter"/>
              </a:rPr>
              <a:t> p = 0,03: distinguível, e pequeno</a:t>
            </a:r>
            <a:endParaRPr b="0" i="0" sz="1400" u="none" cap="none" strike="noStrike">
              <a:solidFill>
                <a:srgbClr val="000000"/>
              </a:solidFill>
              <a:latin typeface="Arial"/>
              <a:ea typeface="Arial"/>
              <a:cs typeface="Arial"/>
              <a:sym typeface="Arial"/>
            </a:endParaRPr>
          </a:p>
        </p:txBody>
      </p:sp>
      <p:sp>
        <p:nvSpPr>
          <p:cNvPr id="929" name="Google Shape;929;p45"/>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0" name="Google Shape;930;p45"/>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0,15 e 0,23</a:t>
            </a:r>
            <a:r>
              <a:rPr b="0" i="0" lang="en-US" sz="3200" u="none" cap="none" strike="noStrike">
                <a:solidFill>
                  <a:srgbClr val="00153C"/>
                </a:solidFill>
                <a:latin typeface="Inter"/>
                <a:ea typeface="Inter"/>
                <a:cs typeface="Inter"/>
                <a:sym typeface="Inter"/>
              </a:rPr>
              <a:t> alta e qualquer: não distinguem</a:t>
            </a:r>
            <a:endParaRPr b="0" i="0" sz="1400" u="none" cap="none" strike="noStrike">
              <a:solidFill>
                <a:srgbClr val="000000"/>
              </a:solidFill>
              <a:latin typeface="Arial"/>
              <a:ea typeface="Arial"/>
              <a:cs typeface="Arial"/>
              <a:sym typeface="Arial"/>
            </a:endParaRPr>
          </a:p>
        </p:txBody>
      </p:sp>
      <p:sp>
        <p:nvSpPr>
          <p:cNvPr id="931" name="Google Shape;931;p45"/>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2" name="Google Shape;932;p45"/>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O sinal</a:t>
            </a:r>
            <a:r>
              <a:rPr b="0" i="0" lang="en-US" sz="3200" u="none" cap="none" strike="noStrike">
                <a:solidFill>
                  <a:srgbClr val="00153C"/>
                </a:solidFill>
                <a:latin typeface="Inter"/>
                <a:ea typeface="Inter"/>
                <a:cs typeface="Inter"/>
                <a:sym typeface="Inter"/>
              </a:rPr>
              <a:t> pende para a amostra aleatória</a:t>
            </a:r>
            <a:endParaRPr b="0" i="0" sz="1400" u="none" cap="none" strike="noStrike">
              <a:solidFill>
                <a:srgbClr val="000000"/>
              </a:solidFill>
              <a:latin typeface="Arial"/>
              <a:ea typeface="Arial"/>
              <a:cs typeface="Arial"/>
              <a:sym typeface="Arial"/>
            </a:endParaRPr>
          </a:p>
        </p:txBody>
      </p:sp>
      <p:sp>
        <p:nvSpPr>
          <p:cNvPr id="933" name="Google Shape;933;p45"/>
          <p:cNvSpPr/>
          <p:nvPr/>
        </p:nvSpPr>
        <p:spPr>
          <a:xfrm>
            <a:off x="548640" y="4608576"/>
            <a:ext cx="11201400" cy="151424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34" name="Google Shape;934;p45"/>
          <p:cNvSpPr txBox="1"/>
          <p:nvPr/>
        </p:nvSpPr>
        <p:spPr>
          <a:xfrm>
            <a:off x="868680" y="4809744"/>
            <a:ext cx="105613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Com 52.895 de um lado, o teste enxerga um ponto.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9" name="Shape 939"/>
        <p:cNvGrpSpPr/>
        <p:nvPr/>
      </p:nvGrpSpPr>
      <p:grpSpPr>
        <a:xfrm>
          <a:off x="0" y="0"/>
          <a:ext cx="0" cy="0"/>
          <a:chOff x="0" y="0"/>
          <a:chExt cx="0" cy="0"/>
        </a:xfrm>
      </p:grpSpPr>
      <p:pic>
        <p:nvPicPr>
          <p:cNvPr descr="sbseg2026_rodape.png" id="940" name="Google Shape;940;p46"/>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41" name="Google Shape;941;p46"/>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43</a:t>
            </a:r>
            <a:endParaRPr b="0" i="0" sz="1400" u="none" cap="none" strike="noStrike">
              <a:solidFill>
                <a:srgbClr val="000000"/>
              </a:solidFill>
              <a:latin typeface="Arial"/>
              <a:ea typeface="Arial"/>
              <a:cs typeface="Arial"/>
              <a:sym typeface="Arial"/>
            </a:endParaRPr>
          </a:p>
        </p:txBody>
      </p:sp>
      <p:sp>
        <p:nvSpPr>
          <p:cNvPr id="942" name="Google Shape;942;p46"/>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43" name="Google Shape;943;p46"/>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Um terço das imagens sem Trivy</a:t>
            </a:r>
            <a:endParaRPr b="0" i="0" sz="1400" u="none" cap="none" strike="noStrike">
              <a:solidFill>
                <a:srgbClr val="000000"/>
              </a:solidFill>
              <a:latin typeface="Arial"/>
              <a:ea typeface="Arial"/>
              <a:cs typeface="Arial"/>
              <a:sym typeface="Arial"/>
            </a:endParaRPr>
          </a:p>
        </p:txBody>
      </p:sp>
      <p:sp>
        <p:nvSpPr>
          <p:cNvPr id="944" name="Google Shape;944;p46"/>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5" name="Google Shape;945;p46"/>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971</a:t>
            </a:r>
            <a:r>
              <a:rPr b="0" i="0" lang="en-US" sz="3200" u="none" cap="none" strike="noStrike">
                <a:solidFill>
                  <a:srgbClr val="00153C"/>
                </a:solidFill>
                <a:latin typeface="Inter"/>
                <a:ea typeface="Inter"/>
                <a:cs typeface="Inter"/>
                <a:sym typeface="Inter"/>
              </a:rPr>
              <a:t> imagens sem Trivy, 33,7%</a:t>
            </a:r>
            <a:endParaRPr b="0" i="0" sz="1400" u="none" cap="none" strike="noStrike">
              <a:solidFill>
                <a:srgbClr val="000000"/>
              </a:solidFill>
              <a:latin typeface="Arial"/>
              <a:ea typeface="Arial"/>
              <a:cs typeface="Arial"/>
              <a:sym typeface="Arial"/>
            </a:endParaRPr>
          </a:p>
        </p:txBody>
      </p:sp>
      <p:sp>
        <p:nvSpPr>
          <p:cNvPr id="946" name="Google Shape;946;p46"/>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7" name="Google Shape;947;p46"/>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915</a:t>
            </a:r>
            <a:r>
              <a:rPr b="0" i="0" lang="en-US" sz="3200" u="none" cap="none" strike="noStrike">
                <a:solidFill>
                  <a:srgbClr val="00153C"/>
                </a:solidFill>
                <a:latin typeface="Inter"/>
                <a:ea typeface="Inter"/>
                <a:cs typeface="Inter"/>
                <a:sym typeface="Inter"/>
              </a:rPr>
              <a:t> dessas, por disputa do cache</a:t>
            </a:r>
            <a:endParaRPr b="0" i="0" sz="1400" u="none" cap="none" strike="noStrike">
              <a:solidFill>
                <a:srgbClr val="000000"/>
              </a:solidFill>
              <a:latin typeface="Arial"/>
              <a:ea typeface="Arial"/>
              <a:cs typeface="Arial"/>
              <a:sym typeface="Arial"/>
            </a:endParaRPr>
          </a:p>
        </p:txBody>
      </p:sp>
      <p:sp>
        <p:nvSpPr>
          <p:cNvPr id="948" name="Google Shape;948;p46"/>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49" name="Google Shape;949;p46"/>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96,1%</a:t>
            </a:r>
            <a:r>
              <a:rPr b="0" i="0" lang="en-US" sz="3200" u="none" cap="none" strike="noStrike">
                <a:solidFill>
                  <a:srgbClr val="00153C"/>
                </a:solidFill>
                <a:latin typeface="Inter"/>
                <a:ea typeface="Inter"/>
                <a:cs typeface="Inter"/>
                <a:sym typeface="Inter"/>
              </a:rPr>
              <a:t> tiveram cinco dos seis; 62,7%, os seis</a:t>
            </a:r>
            <a:endParaRPr b="0" i="0" sz="1400" u="none" cap="none" strike="noStrike">
              <a:solidFill>
                <a:srgbClr val="000000"/>
              </a:solidFill>
              <a:latin typeface="Arial"/>
              <a:ea typeface="Arial"/>
              <a:cs typeface="Arial"/>
              <a:sym typeface="Arial"/>
            </a:endParaRPr>
          </a:p>
        </p:txBody>
      </p:sp>
      <p:sp>
        <p:nvSpPr>
          <p:cNvPr id="950" name="Google Shape;950;p46"/>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1" name="Google Shape;951;p46"/>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Efeito</a:t>
            </a:r>
            <a:r>
              <a:rPr b="0" i="0" lang="en-US" sz="3200" u="none" cap="none" strike="noStrike">
                <a:solidFill>
                  <a:srgbClr val="00153C"/>
                </a:solidFill>
                <a:latin typeface="Inter"/>
                <a:ea typeface="Inter"/>
                <a:cs typeface="Inter"/>
                <a:sym typeface="Inter"/>
              </a:rPr>
              <a:t> o que falta não entra: fica conservador</a:t>
            </a:r>
            <a:endParaRPr b="0" i="0" sz="1400" u="none" cap="none" strike="noStrike">
              <a:solidFill>
                <a:srgbClr val="000000"/>
              </a:solidFill>
              <a:latin typeface="Arial"/>
              <a:ea typeface="Arial"/>
              <a:cs typeface="Arial"/>
              <a:sym typeface="Arial"/>
            </a:endParaRPr>
          </a:p>
        </p:txBody>
      </p:sp>
      <p:sp>
        <p:nvSpPr>
          <p:cNvPr id="952" name="Google Shape;952;p46"/>
          <p:cNvSpPr/>
          <p:nvPr/>
        </p:nvSpPr>
        <p:spPr>
          <a:xfrm>
            <a:off x="548640" y="4608576"/>
            <a:ext cx="11201400" cy="151424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53" name="Google Shape;953;p46"/>
          <p:cNvSpPr txBox="1"/>
          <p:nvPr/>
        </p:nvSpPr>
        <p:spPr>
          <a:xfrm>
            <a:off x="868680" y="4809744"/>
            <a:ext cx="105613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Não sabemos se a falha depende do tipo de imagem.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8" name="Shape 958"/>
        <p:cNvGrpSpPr/>
        <p:nvPr/>
      </p:nvGrpSpPr>
      <p:grpSpPr>
        <a:xfrm>
          <a:off x="0" y="0"/>
          <a:ext cx="0" cy="0"/>
          <a:chOff x="0" y="0"/>
          <a:chExt cx="0" cy="0"/>
        </a:xfrm>
      </p:grpSpPr>
      <p:pic>
        <p:nvPicPr>
          <p:cNvPr descr="sbseg2026_rodape.png" id="959" name="Google Shape;959;p47"/>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60" name="Google Shape;960;p47"/>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44</a:t>
            </a:r>
            <a:endParaRPr b="0" i="0" sz="1400" u="none" cap="none" strike="noStrike">
              <a:solidFill>
                <a:srgbClr val="000000"/>
              </a:solidFill>
              <a:latin typeface="Arial"/>
              <a:ea typeface="Arial"/>
              <a:cs typeface="Arial"/>
              <a:sym typeface="Arial"/>
            </a:endParaRPr>
          </a:p>
        </p:txBody>
      </p:sp>
      <p:sp>
        <p:nvSpPr>
          <p:cNvPr id="961" name="Google Shape;961;p47"/>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62" name="Google Shape;962;p47"/>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Qual scanner está certo?</a:t>
            </a:r>
            <a:endParaRPr b="0" i="0" sz="1400" u="none" cap="none" strike="noStrike">
              <a:solidFill>
                <a:srgbClr val="000000"/>
              </a:solidFill>
              <a:latin typeface="Arial"/>
              <a:ea typeface="Arial"/>
              <a:cs typeface="Arial"/>
              <a:sym typeface="Arial"/>
            </a:endParaRPr>
          </a:p>
        </p:txBody>
      </p:sp>
      <p:sp>
        <p:nvSpPr>
          <p:cNvPr id="963" name="Google Shape;963;p47"/>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4" name="Google Shape;964;p47"/>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Jaccard</a:t>
            </a:r>
            <a:r>
              <a:rPr b="0" i="0" lang="en-US" sz="3200" u="none" cap="none" strike="noStrike">
                <a:solidFill>
                  <a:srgbClr val="00153C"/>
                </a:solidFill>
                <a:latin typeface="Inter"/>
                <a:ea typeface="Inter"/>
                <a:cs typeface="Inter"/>
                <a:sym typeface="Inter"/>
              </a:rPr>
              <a:t> 0,43 · 0,23 · 0,18, par a par</a:t>
            </a:r>
            <a:endParaRPr b="0" i="0" sz="1400" u="none" cap="none" strike="noStrike">
              <a:solidFill>
                <a:srgbClr val="000000"/>
              </a:solidFill>
              <a:latin typeface="Arial"/>
              <a:ea typeface="Arial"/>
              <a:cs typeface="Arial"/>
              <a:sym typeface="Arial"/>
            </a:endParaRPr>
          </a:p>
        </p:txBody>
      </p:sp>
      <p:sp>
        <p:nvSpPr>
          <p:cNvPr id="965" name="Google Shape;965;p47"/>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6" name="Google Shape;966;p47"/>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Volume</a:t>
            </a:r>
            <a:r>
              <a:rPr b="0" i="0" lang="en-US" sz="3200" u="none" cap="none" strike="noStrike">
                <a:solidFill>
                  <a:srgbClr val="00153C"/>
                </a:solidFill>
                <a:latin typeface="Inter"/>
                <a:ea typeface="Inter"/>
                <a:cs typeface="Inter"/>
                <a:sym typeface="Inter"/>
              </a:rPr>
              <a:t> Trivy 1,68 mi, Grype 680 mil, OSV 435 mil</a:t>
            </a:r>
            <a:endParaRPr b="0" i="0" sz="1400" u="none" cap="none" strike="noStrike">
              <a:solidFill>
                <a:srgbClr val="000000"/>
              </a:solidFill>
              <a:latin typeface="Arial"/>
              <a:ea typeface="Arial"/>
              <a:cs typeface="Arial"/>
              <a:sym typeface="Arial"/>
            </a:endParaRPr>
          </a:p>
        </p:txBody>
      </p:sp>
      <p:sp>
        <p:nvSpPr>
          <p:cNvPr id="967" name="Google Shape;967;p47"/>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68" name="Google Shape;968;p47"/>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1.817</a:t>
            </a:r>
            <a:r>
              <a:rPr b="0" i="0" lang="en-US" sz="3200" u="none" cap="none" strike="noStrike">
                <a:solidFill>
                  <a:srgbClr val="00153C"/>
                </a:solidFill>
                <a:latin typeface="Inter"/>
                <a:ea typeface="Inter"/>
                <a:cs typeface="Inter"/>
                <a:sym typeface="Inter"/>
              </a:rPr>
              <a:t> imagens em que os três rodaram</a:t>
            </a:r>
            <a:endParaRPr b="0" i="0" sz="1400" u="none" cap="none" strike="noStrike">
              <a:solidFill>
                <a:srgbClr val="000000"/>
              </a:solidFill>
              <a:latin typeface="Arial"/>
              <a:ea typeface="Arial"/>
              <a:cs typeface="Arial"/>
              <a:sym typeface="Arial"/>
            </a:endParaRPr>
          </a:p>
        </p:txBody>
      </p:sp>
      <p:sp>
        <p:nvSpPr>
          <p:cNvPr id="969" name="Google Shape;969;p47"/>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0" name="Google Shape;970;p47"/>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Nessas</a:t>
            </a:r>
            <a:r>
              <a:rPr b="0" i="0" lang="en-US" sz="3200" u="none" cap="none" strike="noStrike">
                <a:solidFill>
                  <a:srgbClr val="00153C"/>
                </a:solidFill>
                <a:latin typeface="Inter"/>
                <a:ea typeface="Inter"/>
                <a:cs typeface="Inter"/>
                <a:sym typeface="Inter"/>
              </a:rPr>
              <a:t> 72,7% em um só, 13,8% nos três</a:t>
            </a:r>
            <a:endParaRPr b="0" i="0" sz="1400" u="none" cap="none" strike="noStrike">
              <a:solidFill>
                <a:srgbClr val="000000"/>
              </a:solidFill>
              <a:latin typeface="Arial"/>
              <a:ea typeface="Arial"/>
              <a:cs typeface="Arial"/>
              <a:sym typeface="Arial"/>
            </a:endParaRPr>
          </a:p>
        </p:txBody>
      </p:sp>
      <p:sp>
        <p:nvSpPr>
          <p:cNvPr id="971" name="Google Shape;971;p47"/>
          <p:cNvSpPr/>
          <p:nvPr/>
        </p:nvSpPr>
        <p:spPr>
          <a:xfrm>
            <a:off x="548640" y="4608576"/>
            <a:ext cx="11201400" cy="151424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72" name="Google Shape;972;p47"/>
          <p:cNvSpPr txBox="1"/>
          <p:nvPr/>
        </p:nvSpPr>
        <p:spPr>
          <a:xfrm>
            <a:off x="868680" y="4809744"/>
            <a:ext cx="105613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Nenhum é referência: medimos dependência, não acerto.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7" name="Shape 977"/>
        <p:cNvGrpSpPr/>
        <p:nvPr/>
      </p:nvGrpSpPr>
      <p:grpSpPr>
        <a:xfrm>
          <a:off x="0" y="0"/>
          <a:ext cx="0" cy="0"/>
          <a:chOff x="0" y="0"/>
          <a:chExt cx="0" cy="0"/>
        </a:xfrm>
      </p:grpSpPr>
      <p:pic>
        <p:nvPicPr>
          <p:cNvPr descr="sbseg2026_rodape.png" id="978" name="Google Shape;978;p48"/>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79" name="Google Shape;979;p48"/>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45</a:t>
            </a:r>
            <a:endParaRPr b="0" i="0" sz="1400" u="none" cap="none" strike="noStrike">
              <a:solidFill>
                <a:srgbClr val="000000"/>
              </a:solidFill>
              <a:latin typeface="Arial"/>
              <a:ea typeface="Arial"/>
              <a:cs typeface="Arial"/>
              <a:sym typeface="Arial"/>
            </a:endParaRPr>
          </a:p>
        </p:txBody>
      </p:sp>
      <p:sp>
        <p:nvSpPr>
          <p:cNvPr id="980" name="Google Shape;980;p48"/>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981" name="Google Shape;981;p48"/>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82,4% de segredo, 99,5% falso</a:t>
            </a:r>
            <a:endParaRPr b="0" i="0" sz="1400" u="none" cap="none" strike="noStrike">
              <a:solidFill>
                <a:srgbClr val="000000"/>
              </a:solidFill>
              <a:latin typeface="Arial"/>
              <a:ea typeface="Arial"/>
              <a:cs typeface="Arial"/>
              <a:sym typeface="Arial"/>
            </a:endParaRPr>
          </a:p>
        </p:txBody>
      </p:sp>
      <p:sp>
        <p:nvSpPr>
          <p:cNvPr id="982" name="Google Shape;982;p48"/>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3" name="Google Shape;983;p48"/>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82,4%</a:t>
            </a:r>
            <a:r>
              <a:rPr b="0" i="0" lang="en-US" sz="3200" u="none" cap="none" strike="noStrike">
                <a:solidFill>
                  <a:srgbClr val="00153C"/>
                </a:solidFill>
                <a:latin typeface="Inter"/>
                <a:ea typeface="Inter"/>
                <a:cs typeface="Inter"/>
                <a:sym typeface="Inter"/>
              </a:rPr>
              <a:t> taxa bruta do TruffleHog, sem filtro</a:t>
            </a:r>
            <a:endParaRPr b="0" i="0" sz="1400" u="none" cap="none" strike="noStrike">
              <a:solidFill>
                <a:srgbClr val="000000"/>
              </a:solidFill>
              <a:latin typeface="Arial"/>
              <a:ea typeface="Arial"/>
              <a:cs typeface="Arial"/>
              <a:sym typeface="Arial"/>
            </a:endParaRPr>
          </a:p>
        </p:txBody>
      </p:sp>
      <p:sp>
        <p:nvSpPr>
          <p:cNvPr id="984" name="Google Shape;984;p48"/>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5" name="Google Shape;985;p48"/>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1.100</a:t>
            </a:r>
            <a:r>
              <a:rPr b="0" i="0" lang="en-US" sz="3200" u="none" cap="none" strike="noStrike">
                <a:solidFill>
                  <a:srgbClr val="00153C"/>
                </a:solidFill>
                <a:latin typeface="Inter"/>
                <a:ea typeface="Inter"/>
                <a:cs typeface="Inter"/>
                <a:sym typeface="Inter"/>
              </a:rPr>
              <a:t> de 169.528, semente 20260522</a:t>
            </a:r>
            <a:endParaRPr b="0" i="0" sz="1400" u="none" cap="none" strike="noStrike">
              <a:solidFill>
                <a:srgbClr val="000000"/>
              </a:solidFill>
              <a:latin typeface="Arial"/>
              <a:ea typeface="Arial"/>
              <a:cs typeface="Arial"/>
              <a:sym typeface="Arial"/>
            </a:endParaRPr>
          </a:p>
        </p:txBody>
      </p:sp>
      <p:sp>
        <p:nvSpPr>
          <p:cNvPr id="986" name="Google Shape;986;p48"/>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7" name="Google Shape;987;p48"/>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Cinco</a:t>
            </a:r>
            <a:r>
              <a:rPr b="0" i="0" lang="en-US" sz="3200" u="none" cap="none" strike="noStrike">
                <a:solidFill>
                  <a:srgbClr val="00153C"/>
                </a:solidFill>
                <a:latin typeface="Inter"/>
                <a:ea typeface="Inter"/>
                <a:cs typeface="Inter"/>
                <a:sym typeface="Inter"/>
              </a:rPr>
              <a:t> credenciais reais; IC 98,9 a 99,8%</a:t>
            </a:r>
            <a:endParaRPr b="0" i="0" sz="1400" u="none" cap="none" strike="noStrike">
              <a:solidFill>
                <a:srgbClr val="000000"/>
              </a:solidFill>
              <a:latin typeface="Arial"/>
              <a:ea typeface="Arial"/>
              <a:cs typeface="Arial"/>
              <a:sym typeface="Arial"/>
            </a:endParaRPr>
          </a:p>
        </p:txBody>
      </p:sp>
      <p:sp>
        <p:nvSpPr>
          <p:cNvPr id="988" name="Google Shape;988;p48"/>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89" name="Google Shape;989;p48"/>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Um revisor</a:t>
            </a:r>
            <a:r>
              <a:rPr b="0" i="0" lang="en-US" sz="3200" u="none" cap="none" strike="noStrike">
                <a:solidFill>
                  <a:srgbClr val="00153C"/>
                </a:solidFill>
                <a:latin typeface="Inter"/>
                <a:ea typeface="Inter"/>
                <a:cs typeface="Inter"/>
                <a:sym typeface="Inter"/>
              </a:rPr>
              <a:t> sem segundo rotulador</a:t>
            </a:r>
            <a:endParaRPr b="0" i="0" sz="1400" u="none" cap="none" strike="noStrike">
              <a:solidFill>
                <a:srgbClr val="000000"/>
              </a:solidFill>
              <a:latin typeface="Arial"/>
              <a:ea typeface="Arial"/>
              <a:cs typeface="Arial"/>
              <a:sym typeface="Arial"/>
            </a:endParaRPr>
          </a:p>
        </p:txBody>
      </p:sp>
      <p:sp>
        <p:nvSpPr>
          <p:cNvPr id="990" name="Google Shape;990;p48"/>
          <p:cNvSpPr/>
          <p:nvPr/>
        </p:nvSpPr>
        <p:spPr>
          <a:xfrm>
            <a:off x="548640" y="4608576"/>
            <a:ext cx="11201400" cy="151424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991" name="Google Shape;991;p48"/>
          <p:cNvSpPr txBox="1"/>
          <p:nvPr/>
        </p:nvSpPr>
        <p:spPr>
          <a:xfrm>
            <a:off x="868680" y="4809744"/>
            <a:ext cx="105613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Sem verificação ativa: os rótulos julgam plausibilidade, não credencial viva.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6" name="Shape 996"/>
        <p:cNvGrpSpPr/>
        <p:nvPr/>
      </p:nvGrpSpPr>
      <p:grpSpPr>
        <a:xfrm>
          <a:off x="0" y="0"/>
          <a:ext cx="0" cy="0"/>
          <a:chOff x="0" y="0"/>
          <a:chExt cx="0" cy="0"/>
        </a:xfrm>
      </p:grpSpPr>
      <p:pic>
        <p:nvPicPr>
          <p:cNvPr descr="sbseg2026_rodape.png" id="997" name="Google Shape;997;p49"/>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998" name="Google Shape;998;p49"/>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46</a:t>
            </a:r>
            <a:endParaRPr b="0" i="0" sz="1400" u="none" cap="none" strike="noStrike">
              <a:solidFill>
                <a:srgbClr val="000000"/>
              </a:solidFill>
              <a:latin typeface="Arial"/>
              <a:ea typeface="Arial"/>
              <a:cs typeface="Arial"/>
              <a:sym typeface="Arial"/>
            </a:endParaRPr>
          </a:p>
        </p:txBody>
      </p:sp>
      <p:sp>
        <p:nvSpPr>
          <p:cNvPr id="999" name="Google Shape;999;p49"/>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00" name="Google Shape;1000;p49"/>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947 ou 260 por imagem?</a:t>
            </a:r>
            <a:endParaRPr b="0" i="0" sz="1400" u="none" cap="none" strike="noStrike">
              <a:solidFill>
                <a:srgbClr val="000000"/>
              </a:solidFill>
              <a:latin typeface="Arial"/>
              <a:ea typeface="Arial"/>
              <a:cs typeface="Arial"/>
              <a:sym typeface="Arial"/>
            </a:endParaRPr>
          </a:p>
        </p:txBody>
      </p:sp>
      <p:sp>
        <p:nvSpPr>
          <p:cNvPr id="1001" name="Google Shape;1001;p49"/>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2" name="Google Shape;1002;p49"/>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947</a:t>
            </a:r>
            <a:r>
              <a:rPr b="0" i="0" lang="en-US" sz="3200" u="none" cap="none" strike="noStrike">
                <a:solidFill>
                  <a:srgbClr val="00153C"/>
                </a:solidFill>
                <a:latin typeface="Inter"/>
                <a:ea typeface="Inter"/>
                <a:cs typeface="Inter"/>
                <a:sym typeface="Inter"/>
              </a:rPr>
              <a:t> mediana mesclada, com duplicata</a:t>
            </a:r>
            <a:endParaRPr b="0" i="0" sz="1400" u="none" cap="none" strike="noStrike">
              <a:solidFill>
                <a:srgbClr val="000000"/>
              </a:solidFill>
              <a:latin typeface="Arial"/>
              <a:ea typeface="Arial"/>
              <a:cs typeface="Arial"/>
              <a:sym typeface="Arial"/>
            </a:endParaRPr>
          </a:p>
        </p:txBody>
      </p:sp>
      <p:sp>
        <p:nvSpPr>
          <p:cNvPr id="1003" name="Google Shape;1003;p49"/>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4" name="Google Shape;1004;p49"/>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260</a:t>
            </a:r>
            <a:r>
              <a:rPr b="0" i="0" lang="en-US" sz="3200" u="none" cap="none" strike="noStrike">
                <a:solidFill>
                  <a:srgbClr val="00153C"/>
                </a:solidFill>
                <a:latin typeface="Inter"/>
                <a:ea typeface="Inter"/>
                <a:cs typeface="Inter"/>
                <a:sym typeface="Inter"/>
              </a:rPr>
              <a:t> mediana de CVE distinto; máximo 8.265</a:t>
            </a:r>
            <a:endParaRPr b="0" i="0" sz="1400" u="none" cap="none" strike="noStrike">
              <a:solidFill>
                <a:srgbClr val="000000"/>
              </a:solidFill>
              <a:latin typeface="Arial"/>
              <a:ea typeface="Arial"/>
              <a:cs typeface="Arial"/>
              <a:sym typeface="Arial"/>
            </a:endParaRPr>
          </a:p>
        </p:txBody>
      </p:sp>
      <p:sp>
        <p:nvSpPr>
          <p:cNvPr id="1005" name="Google Shape;1005;p49"/>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6" name="Google Shape;1006;p49"/>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94,4%</a:t>
            </a:r>
            <a:r>
              <a:rPr b="0" i="0" lang="en-US" sz="3200" u="none" cap="none" strike="noStrike">
                <a:solidFill>
                  <a:srgbClr val="00153C"/>
                </a:solidFill>
                <a:latin typeface="Inter"/>
                <a:ea typeface="Inter"/>
                <a:cs typeface="Inter"/>
                <a:sym typeface="Inter"/>
              </a:rPr>
              <a:t> a fração afetada não muda</a:t>
            </a:r>
            <a:endParaRPr b="0" i="0" sz="1400" u="none" cap="none" strike="noStrike">
              <a:solidFill>
                <a:srgbClr val="000000"/>
              </a:solidFill>
              <a:latin typeface="Arial"/>
              <a:ea typeface="Arial"/>
              <a:cs typeface="Arial"/>
              <a:sym typeface="Arial"/>
            </a:endParaRPr>
          </a:p>
        </p:txBody>
      </p:sp>
      <p:sp>
        <p:nvSpPr>
          <p:cNvPr id="1007" name="Google Shape;1007;p49"/>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08" name="Google Shape;1008;p49"/>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601</a:t>
            </a:r>
            <a:r>
              <a:rPr b="0" i="0" lang="en-US" sz="3200" u="none" cap="none" strike="noStrike">
                <a:solidFill>
                  <a:srgbClr val="00153C"/>
                </a:solidFill>
                <a:latin typeface="Inter"/>
                <a:ea typeface="Inter"/>
                <a:cs typeface="Inter"/>
                <a:sym typeface="Inter"/>
              </a:rPr>
              <a:t> mediana de Zerouali 2018, em Debian</a:t>
            </a:r>
            <a:endParaRPr b="0" i="0" sz="1400" u="none" cap="none" strike="noStrike">
              <a:solidFill>
                <a:srgbClr val="000000"/>
              </a:solidFill>
              <a:latin typeface="Arial"/>
              <a:ea typeface="Arial"/>
              <a:cs typeface="Arial"/>
              <a:sym typeface="Arial"/>
            </a:endParaRPr>
          </a:p>
        </p:txBody>
      </p:sp>
      <p:sp>
        <p:nvSpPr>
          <p:cNvPr id="1009" name="Google Shape;1009;p49"/>
          <p:cNvSpPr/>
          <p:nvPr/>
        </p:nvSpPr>
        <p:spPr>
          <a:xfrm>
            <a:off x="548640" y="4608576"/>
            <a:ext cx="11201400" cy="958291"/>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10" name="Google Shape;1010;p49"/>
          <p:cNvSpPr txBox="1"/>
          <p:nvPr/>
        </p:nvSpPr>
        <p:spPr>
          <a:xfrm>
            <a:off x="868680" y="4809744"/>
            <a:ext cx="10561320" cy="55595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Definição diferente: a comparação é indicativa.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5" name="Shape 1015"/>
        <p:cNvGrpSpPr/>
        <p:nvPr/>
      </p:nvGrpSpPr>
      <p:grpSpPr>
        <a:xfrm>
          <a:off x="0" y="0"/>
          <a:ext cx="0" cy="0"/>
          <a:chOff x="0" y="0"/>
          <a:chExt cx="0" cy="0"/>
        </a:xfrm>
      </p:grpSpPr>
      <p:pic>
        <p:nvPicPr>
          <p:cNvPr descr="sbseg2026_rodape.png" id="1016" name="Google Shape;1016;p50"/>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17" name="Google Shape;1017;p50"/>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47</a:t>
            </a:r>
            <a:endParaRPr b="0" i="0" sz="1400" u="none" cap="none" strike="noStrike">
              <a:solidFill>
                <a:srgbClr val="000000"/>
              </a:solidFill>
              <a:latin typeface="Arial"/>
              <a:ea typeface="Arial"/>
              <a:cs typeface="Arial"/>
              <a:sym typeface="Arial"/>
            </a:endParaRPr>
          </a:p>
        </p:txBody>
      </p:sp>
      <p:sp>
        <p:nvSpPr>
          <p:cNvPr id="1018" name="Google Shape;1018;p50"/>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19" name="Google Shape;1019;p50"/>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Crítica quer dizer explorável?</a:t>
            </a:r>
            <a:endParaRPr b="0" i="0" sz="1400" u="none" cap="none" strike="noStrike">
              <a:solidFill>
                <a:srgbClr val="000000"/>
              </a:solidFill>
              <a:latin typeface="Arial"/>
              <a:ea typeface="Arial"/>
              <a:cs typeface="Arial"/>
              <a:sym typeface="Arial"/>
            </a:endParaRPr>
          </a:p>
        </p:txBody>
      </p:sp>
      <p:sp>
        <p:nvSpPr>
          <p:cNvPr id="1020" name="Google Shape;1020;p50"/>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1" name="Google Shape;1021;p50"/>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Não medimos</a:t>
            </a:r>
            <a:r>
              <a:rPr b="0" i="0" lang="en-US" sz="3200" u="none" cap="none" strike="noStrike">
                <a:solidFill>
                  <a:srgbClr val="00153C"/>
                </a:solidFill>
                <a:latin typeface="Inter"/>
                <a:ea typeface="Inter"/>
                <a:cs typeface="Inter"/>
                <a:sym typeface="Inter"/>
              </a:rPr>
              <a:t> se o código vulnerável é chamado</a:t>
            </a:r>
            <a:endParaRPr b="0" i="0" sz="1400" u="none" cap="none" strike="noStrike">
              <a:solidFill>
                <a:srgbClr val="000000"/>
              </a:solidFill>
              <a:latin typeface="Arial"/>
              <a:ea typeface="Arial"/>
              <a:cs typeface="Arial"/>
              <a:sym typeface="Arial"/>
            </a:endParaRPr>
          </a:p>
        </p:txBody>
      </p:sp>
      <p:sp>
        <p:nvSpPr>
          <p:cNvPr id="1022" name="Google Shape;1022;p50"/>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3" name="Google Shape;1023;p50"/>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Herança</a:t>
            </a:r>
            <a:r>
              <a:rPr b="0" i="0" lang="en-US" sz="3200" u="none" cap="none" strike="noStrike">
                <a:solidFill>
                  <a:srgbClr val="00153C"/>
                </a:solidFill>
                <a:latin typeface="Inter"/>
                <a:ea typeface="Inter"/>
                <a:cs typeface="Inter"/>
                <a:sym typeface="Inter"/>
              </a:rPr>
              <a:t> a base propaga o CVE à derivada</a:t>
            </a:r>
            <a:endParaRPr b="0" i="0" sz="1400" u="none" cap="none" strike="noStrike">
              <a:solidFill>
                <a:srgbClr val="000000"/>
              </a:solidFill>
              <a:latin typeface="Arial"/>
              <a:ea typeface="Arial"/>
              <a:cs typeface="Arial"/>
              <a:sym typeface="Arial"/>
            </a:endParaRPr>
          </a:p>
        </p:txBody>
      </p:sp>
      <p:sp>
        <p:nvSpPr>
          <p:cNvPr id="1024" name="Google Shape;1024;p50"/>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5" name="Google Shape;1025;p50"/>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zlib</a:t>
            </a:r>
            <a:r>
              <a:rPr b="0" i="0" lang="en-US" sz="3200" u="none" cap="none" strike="noStrike">
                <a:solidFill>
                  <a:srgbClr val="00153C"/>
                </a:solidFill>
                <a:latin typeface="Inter"/>
                <a:ea typeface="Inter"/>
                <a:cs typeface="Inter"/>
                <a:sym typeface="Inter"/>
              </a:rPr>
              <a:t> vulnerável em 90,5% das imagens</a:t>
            </a:r>
            <a:endParaRPr b="0" i="0" sz="1400" u="none" cap="none" strike="noStrike">
              <a:solidFill>
                <a:srgbClr val="000000"/>
              </a:solidFill>
              <a:latin typeface="Arial"/>
              <a:ea typeface="Arial"/>
              <a:cs typeface="Arial"/>
              <a:sym typeface="Arial"/>
            </a:endParaRPr>
          </a:p>
        </p:txBody>
      </p:sp>
      <p:sp>
        <p:nvSpPr>
          <p:cNvPr id="1026" name="Google Shape;1026;p50"/>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7" name="Google Shape;1027;p50"/>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openssl</a:t>
            </a:r>
            <a:r>
              <a:rPr b="0" i="0" lang="en-US" sz="3200" u="none" cap="none" strike="noStrike">
                <a:solidFill>
                  <a:srgbClr val="00153C"/>
                </a:solidFill>
                <a:latin typeface="Inter"/>
                <a:ea typeface="Inter"/>
                <a:cs typeface="Inter"/>
                <a:sym typeface="Inter"/>
              </a:rPr>
              <a:t> em 86,1%: vem da base, não do autor</a:t>
            </a:r>
            <a:endParaRPr b="0" i="0" sz="1400" u="none" cap="none" strike="noStrike">
              <a:solidFill>
                <a:srgbClr val="000000"/>
              </a:solidFill>
              <a:latin typeface="Arial"/>
              <a:ea typeface="Arial"/>
              <a:cs typeface="Arial"/>
              <a:sym typeface="Arial"/>
            </a:endParaRPr>
          </a:p>
        </p:txBody>
      </p:sp>
      <p:sp>
        <p:nvSpPr>
          <p:cNvPr id="1028" name="Google Shape;1028;p50"/>
          <p:cNvSpPr/>
          <p:nvPr/>
        </p:nvSpPr>
        <p:spPr>
          <a:xfrm>
            <a:off x="548640" y="4608576"/>
            <a:ext cx="11201400" cy="151424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29" name="Google Shape;1029;p50"/>
          <p:cNvSpPr txBox="1"/>
          <p:nvPr/>
        </p:nvSpPr>
        <p:spPr>
          <a:xfrm>
            <a:off x="868680" y="4809744"/>
            <a:ext cx="105613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A taxa mede a superfície publicada, não o risco em uso.</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4" name="Shape 1034"/>
        <p:cNvGrpSpPr/>
        <p:nvPr/>
      </p:nvGrpSpPr>
      <p:grpSpPr>
        <a:xfrm>
          <a:off x="0" y="0"/>
          <a:ext cx="0" cy="0"/>
          <a:chOff x="0" y="0"/>
          <a:chExt cx="0" cy="0"/>
        </a:xfrm>
      </p:grpSpPr>
      <p:pic>
        <p:nvPicPr>
          <p:cNvPr descr="sbseg2026_rodape.png" id="1035" name="Google Shape;1035;p51"/>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36" name="Google Shape;1036;p51"/>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48</a:t>
            </a:r>
            <a:endParaRPr b="0" i="0" sz="1400" u="none" cap="none" strike="noStrike">
              <a:solidFill>
                <a:srgbClr val="000000"/>
              </a:solidFill>
              <a:latin typeface="Arial"/>
              <a:ea typeface="Arial"/>
              <a:cs typeface="Arial"/>
              <a:sym typeface="Arial"/>
            </a:endParaRPr>
          </a:p>
        </p:txBody>
      </p:sp>
      <p:sp>
        <p:nvSpPr>
          <p:cNvPr id="1037" name="Google Shape;1037;p51"/>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38" name="Google Shape;1038;p51"/>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Escopo: 4.800, amd64, latest</a:t>
            </a:r>
            <a:endParaRPr b="0" i="0" sz="1400" u="none" cap="none" strike="noStrike">
              <a:solidFill>
                <a:srgbClr val="000000"/>
              </a:solidFill>
              <a:latin typeface="Arial"/>
              <a:ea typeface="Arial"/>
              <a:cs typeface="Arial"/>
              <a:sym typeface="Arial"/>
            </a:endParaRPr>
          </a:p>
        </p:txBody>
      </p:sp>
      <p:sp>
        <p:nvSpPr>
          <p:cNvPr id="1039" name="Google Shape;1039;p51"/>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0" name="Google Shape;1040;p51"/>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4.800</a:t>
            </a:r>
            <a:r>
              <a:rPr b="0" i="0" lang="en-US" sz="3200" u="none" cap="none" strike="noStrike">
                <a:solidFill>
                  <a:srgbClr val="00153C"/>
                </a:solidFill>
                <a:latin typeface="Inter"/>
                <a:ea typeface="Inter"/>
                <a:cs typeface="Inter"/>
                <a:sym typeface="Inter"/>
              </a:rPr>
              <a:t> sobressorteio: 40% não escaneiam</a:t>
            </a:r>
            <a:endParaRPr b="0" i="0" sz="1400" u="none" cap="none" strike="noStrike">
              <a:solidFill>
                <a:srgbClr val="000000"/>
              </a:solidFill>
              <a:latin typeface="Arial"/>
              <a:ea typeface="Arial"/>
              <a:cs typeface="Arial"/>
              <a:sym typeface="Arial"/>
            </a:endParaRPr>
          </a:p>
        </p:txBody>
      </p:sp>
      <p:sp>
        <p:nvSpPr>
          <p:cNvPr id="1041" name="Google Shape;1041;p51"/>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2" name="Google Shape;1042;p51"/>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linux/amd64</a:t>
            </a:r>
            <a:r>
              <a:rPr b="0" i="0" lang="en-US" sz="3200" u="none" cap="none" strike="noStrike">
                <a:solidFill>
                  <a:srgbClr val="00153C"/>
                </a:solidFill>
                <a:latin typeface="Inter"/>
                <a:ea typeface="Inter"/>
                <a:cs typeface="Inter"/>
                <a:sym typeface="Inter"/>
              </a:rPr>
              <a:t> exclui 36 dos 4.800, ou 0,75%</a:t>
            </a:r>
            <a:endParaRPr b="0" i="0" sz="1400" u="none" cap="none" strike="noStrike">
              <a:solidFill>
                <a:srgbClr val="000000"/>
              </a:solidFill>
              <a:latin typeface="Arial"/>
              <a:ea typeface="Arial"/>
              <a:cs typeface="Arial"/>
              <a:sym typeface="Arial"/>
            </a:endParaRPr>
          </a:p>
        </p:txBody>
      </p:sp>
      <p:sp>
        <p:nvSpPr>
          <p:cNvPr id="1043" name="Google Shape;1043;p51"/>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4" name="Google Shape;1044;p51"/>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latest</a:t>
            </a:r>
            <a:r>
              <a:rPr b="0" i="0" lang="en-US" sz="3200" u="none" cap="none" strike="noStrike">
                <a:solidFill>
                  <a:srgbClr val="00153C"/>
                </a:solidFill>
                <a:latin typeface="Inter"/>
                <a:ea typeface="Inter"/>
                <a:cs typeface="Inter"/>
                <a:sym typeface="Inter"/>
              </a:rPr>
              <a:t> o que o usuário recebe sem pedir versão</a:t>
            </a:r>
            <a:endParaRPr b="0" i="0" sz="1400" u="none" cap="none" strike="noStrike">
              <a:solidFill>
                <a:srgbClr val="000000"/>
              </a:solidFill>
              <a:latin typeface="Arial"/>
              <a:ea typeface="Arial"/>
              <a:cs typeface="Arial"/>
              <a:sym typeface="Arial"/>
            </a:endParaRPr>
          </a:p>
        </p:txBody>
      </p:sp>
      <p:sp>
        <p:nvSpPr>
          <p:cNvPr id="1045" name="Google Shape;1045;p51"/>
          <p:cNvSpPr/>
          <p:nvPr/>
        </p:nvSpPr>
        <p:spPr>
          <a:xfrm>
            <a:off x="566928" y="398678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6" name="Google Shape;1046;p51"/>
          <p:cNvSpPr txBox="1"/>
          <p:nvPr/>
        </p:nvSpPr>
        <p:spPr>
          <a:xfrm>
            <a:off x="960120" y="382219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Zero oficial</a:t>
            </a:r>
            <a:r>
              <a:rPr b="0" i="0" lang="en-US" sz="3200" u="none" cap="none" strike="noStrike">
                <a:solidFill>
                  <a:srgbClr val="00153C"/>
                </a:solidFill>
                <a:latin typeface="Inter"/>
                <a:ea typeface="Inter"/>
                <a:cs typeface="Inter"/>
                <a:sym typeface="Inter"/>
              </a:rPr>
              <a:t> ~160 em 12,7 mi: esperado 0,06</a:t>
            </a:r>
            <a:endParaRPr b="0" i="0" sz="1400" u="none" cap="none" strike="noStrike">
              <a:solidFill>
                <a:srgbClr val="000000"/>
              </a:solidFill>
              <a:latin typeface="Arial"/>
              <a:ea typeface="Arial"/>
              <a:cs typeface="Arial"/>
              <a:sym typeface="Arial"/>
            </a:endParaRPr>
          </a:p>
        </p:txBody>
      </p:sp>
      <p:sp>
        <p:nvSpPr>
          <p:cNvPr id="1047" name="Google Shape;1047;p51"/>
          <p:cNvSpPr/>
          <p:nvPr/>
        </p:nvSpPr>
        <p:spPr>
          <a:xfrm>
            <a:off x="548640" y="4608576"/>
            <a:ext cx="11201400" cy="1514246"/>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48" name="Google Shape;1048;p51"/>
          <p:cNvSpPr txBox="1"/>
          <p:nvPr/>
        </p:nvSpPr>
        <p:spPr>
          <a:xfrm>
            <a:off x="868680" y="4809744"/>
            <a:ext cx="10561320" cy="1111910"/>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Tag flutuante e base de CVE em movimento: vale a campanha.</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3" name="Shape 1053"/>
        <p:cNvGrpSpPr/>
        <p:nvPr/>
      </p:nvGrpSpPr>
      <p:grpSpPr>
        <a:xfrm>
          <a:off x="0" y="0"/>
          <a:ext cx="0" cy="0"/>
          <a:chOff x="0" y="0"/>
          <a:chExt cx="0" cy="0"/>
        </a:xfrm>
      </p:grpSpPr>
      <p:pic>
        <p:nvPicPr>
          <p:cNvPr descr="sbseg2026_rodape.png" id="1054" name="Google Shape;1054;p52"/>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55" name="Google Shape;1055;p52"/>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49</a:t>
            </a:r>
            <a:endParaRPr b="0" i="0" sz="1400" u="none" cap="none" strike="noStrike">
              <a:solidFill>
                <a:srgbClr val="000000"/>
              </a:solidFill>
              <a:latin typeface="Arial"/>
              <a:ea typeface="Arial"/>
              <a:cs typeface="Arial"/>
              <a:sym typeface="Arial"/>
            </a:endParaRPr>
          </a:p>
        </p:txBody>
      </p:sp>
      <p:sp>
        <p:nvSpPr>
          <p:cNvPr id="1056" name="Google Shape;1056;p52"/>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57" name="Google Shape;1057;p52"/>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Análises anteriores, lado a lado</a:t>
            </a:r>
            <a:endParaRPr b="0" i="0" sz="1400" u="none" cap="none" strike="noStrike">
              <a:solidFill>
                <a:srgbClr val="000000"/>
              </a:solidFill>
              <a:latin typeface="Arial"/>
              <a:ea typeface="Arial"/>
              <a:cs typeface="Arial"/>
              <a:sym typeface="Arial"/>
            </a:endParaRPr>
          </a:p>
        </p:txBody>
      </p:sp>
      <p:sp>
        <p:nvSpPr>
          <p:cNvPr id="1058" name="Google Shape;1058;p52"/>
          <p:cNvSpPr txBox="1"/>
          <p:nvPr/>
        </p:nvSpPr>
        <p:spPr>
          <a:xfrm>
            <a:off x="530352" y="1737360"/>
            <a:ext cx="59893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Estudo</a:t>
            </a:r>
            <a:endParaRPr b="0" i="0" sz="1400" u="none" cap="none" strike="noStrike">
              <a:solidFill>
                <a:srgbClr val="000000"/>
              </a:solidFill>
              <a:latin typeface="Arial"/>
              <a:ea typeface="Arial"/>
              <a:cs typeface="Arial"/>
              <a:sym typeface="Arial"/>
            </a:endParaRPr>
          </a:p>
        </p:txBody>
      </p:sp>
      <p:sp>
        <p:nvSpPr>
          <p:cNvPr id="1059" name="Google Shape;1059;p52"/>
          <p:cNvSpPr txBox="1"/>
          <p:nvPr/>
        </p:nvSpPr>
        <p:spPr>
          <a:xfrm>
            <a:off x="6903720" y="1737360"/>
            <a:ext cx="23317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Reportado</a:t>
            </a:r>
            <a:endParaRPr b="0" i="0" sz="1400" u="none" cap="none" strike="noStrike">
              <a:solidFill>
                <a:srgbClr val="000000"/>
              </a:solidFill>
              <a:latin typeface="Arial"/>
              <a:ea typeface="Arial"/>
              <a:cs typeface="Arial"/>
              <a:sym typeface="Arial"/>
            </a:endParaRPr>
          </a:p>
        </p:txBody>
      </p:sp>
      <p:sp>
        <p:nvSpPr>
          <p:cNvPr id="1060" name="Google Shape;1060;p52"/>
          <p:cNvSpPr txBox="1"/>
          <p:nvPr/>
        </p:nvSpPr>
        <p:spPr>
          <a:xfrm>
            <a:off x="9646920" y="1737360"/>
            <a:ext cx="205740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2560FF"/>
                </a:solidFill>
                <a:latin typeface="Space Grotesk"/>
                <a:ea typeface="Space Grotesk"/>
                <a:cs typeface="Space Grotesk"/>
                <a:sym typeface="Space Grotesk"/>
              </a:rPr>
              <a:t>Aleatória</a:t>
            </a:r>
            <a:endParaRPr b="0" i="0" sz="1400" u="none" cap="none" strike="noStrike">
              <a:solidFill>
                <a:srgbClr val="000000"/>
              </a:solidFill>
              <a:latin typeface="Arial"/>
              <a:ea typeface="Arial"/>
              <a:cs typeface="Arial"/>
              <a:sym typeface="Arial"/>
            </a:endParaRPr>
          </a:p>
        </p:txBody>
      </p:sp>
      <p:sp>
        <p:nvSpPr>
          <p:cNvPr id="1061" name="Google Shape;1061;p52"/>
          <p:cNvSpPr/>
          <p:nvPr/>
        </p:nvSpPr>
        <p:spPr>
          <a:xfrm>
            <a:off x="438912" y="2231136"/>
            <a:ext cx="11338560" cy="41148"/>
          </a:xfrm>
          <a:prstGeom prst="rect">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2" name="Google Shape;1062;p52"/>
          <p:cNvSpPr txBox="1"/>
          <p:nvPr/>
        </p:nvSpPr>
        <p:spPr>
          <a:xfrm>
            <a:off x="530352" y="2304288"/>
            <a:ext cx="59893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Shu 2017 · pior severidade</a:t>
            </a:r>
            <a:endParaRPr b="0" i="0" sz="1400" u="none" cap="none" strike="noStrike">
              <a:solidFill>
                <a:srgbClr val="000000"/>
              </a:solidFill>
              <a:latin typeface="Arial"/>
              <a:ea typeface="Arial"/>
              <a:cs typeface="Arial"/>
              <a:sym typeface="Arial"/>
            </a:endParaRPr>
          </a:p>
        </p:txBody>
      </p:sp>
      <p:sp>
        <p:nvSpPr>
          <p:cNvPr id="1063" name="Google Shape;1063;p52"/>
          <p:cNvSpPr txBox="1"/>
          <p:nvPr/>
        </p:nvSpPr>
        <p:spPr>
          <a:xfrm>
            <a:off x="6903720" y="2304288"/>
            <a:ext cx="23317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alta</a:t>
            </a:r>
            <a:endParaRPr b="0" i="0" sz="1400" u="none" cap="none" strike="noStrike">
              <a:solidFill>
                <a:srgbClr val="000000"/>
              </a:solidFill>
              <a:latin typeface="Arial"/>
              <a:ea typeface="Arial"/>
              <a:cs typeface="Arial"/>
              <a:sym typeface="Arial"/>
            </a:endParaRPr>
          </a:p>
        </p:txBody>
      </p:sp>
      <p:sp>
        <p:nvSpPr>
          <p:cNvPr id="1064" name="Google Shape;1064;p52"/>
          <p:cNvSpPr txBox="1"/>
          <p:nvPr/>
        </p:nvSpPr>
        <p:spPr>
          <a:xfrm>
            <a:off x="9646920" y="2304288"/>
            <a:ext cx="205740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crítica</a:t>
            </a:r>
            <a:endParaRPr b="0" i="0" sz="1400" u="none" cap="none" strike="noStrike">
              <a:solidFill>
                <a:srgbClr val="000000"/>
              </a:solidFill>
              <a:latin typeface="Arial"/>
              <a:ea typeface="Arial"/>
              <a:cs typeface="Arial"/>
              <a:sym typeface="Arial"/>
            </a:endParaRPr>
          </a:p>
        </p:txBody>
      </p:sp>
      <p:sp>
        <p:nvSpPr>
          <p:cNvPr id="1065" name="Google Shape;1065;p52"/>
          <p:cNvSpPr/>
          <p:nvPr/>
        </p:nvSpPr>
        <p:spPr>
          <a:xfrm>
            <a:off x="438912" y="2898648"/>
            <a:ext cx="1133856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66" name="Google Shape;1066;p52"/>
          <p:cNvSpPr txBox="1"/>
          <p:nvPr/>
        </p:nvSpPr>
        <p:spPr>
          <a:xfrm>
            <a:off x="530352" y="2990088"/>
            <a:ext cx="59893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Liu 2020 · comunidade</a:t>
            </a:r>
            <a:endParaRPr b="0" i="0" sz="1400" u="none" cap="none" strike="noStrike">
              <a:solidFill>
                <a:srgbClr val="000000"/>
              </a:solidFill>
              <a:latin typeface="Arial"/>
              <a:ea typeface="Arial"/>
              <a:cs typeface="Arial"/>
              <a:sym typeface="Arial"/>
            </a:endParaRPr>
          </a:p>
        </p:txBody>
      </p:sp>
      <p:sp>
        <p:nvSpPr>
          <p:cNvPr id="1067" name="Google Shape;1067;p52"/>
          <p:cNvSpPr txBox="1"/>
          <p:nvPr/>
        </p:nvSpPr>
        <p:spPr>
          <a:xfrm>
            <a:off x="6903720" y="2990088"/>
            <a:ext cx="23317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&gt;64%</a:t>
            </a:r>
            <a:endParaRPr b="0" i="0" sz="1400" u="none" cap="none" strike="noStrike">
              <a:solidFill>
                <a:srgbClr val="000000"/>
              </a:solidFill>
              <a:latin typeface="Arial"/>
              <a:ea typeface="Arial"/>
              <a:cs typeface="Arial"/>
              <a:sym typeface="Arial"/>
            </a:endParaRPr>
          </a:p>
        </p:txBody>
      </p:sp>
      <p:sp>
        <p:nvSpPr>
          <p:cNvPr id="1068" name="Google Shape;1068;p52"/>
          <p:cNvSpPr txBox="1"/>
          <p:nvPr/>
        </p:nvSpPr>
        <p:spPr>
          <a:xfrm>
            <a:off x="9646920" y="2990088"/>
            <a:ext cx="205740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96,4%</a:t>
            </a:r>
            <a:endParaRPr b="0" i="0" sz="1400" u="none" cap="none" strike="noStrike">
              <a:solidFill>
                <a:srgbClr val="000000"/>
              </a:solidFill>
              <a:latin typeface="Arial"/>
              <a:ea typeface="Arial"/>
              <a:cs typeface="Arial"/>
              <a:sym typeface="Arial"/>
            </a:endParaRPr>
          </a:p>
        </p:txBody>
      </p:sp>
      <p:sp>
        <p:nvSpPr>
          <p:cNvPr id="1069" name="Google Shape;1069;p52"/>
          <p:cNvSpPr/>
          <p:nvPr/>
        </p:nvSpPr>
        <p:spPr>
          <a:xfrm>
            <a:off x="438912" y="3584447"/>
            <a:ext cx="1133856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0" name="Google Shape;1070;p52"/>
          <p:cNvSpPr txBox="1"/>
          <p:nvPr/>
        </p:nvSpPr>
        <p:spPr>
          <a:xfrm>
            <a:off x="530352" y="3675887"/>
            <a:ext cx="59893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Zerouali 2019 · mediana</a:t>
            </a:r>
            <a:endParaRPr b="0" i="0" sz="1400" u="none" cap="none" strike="noStrike">
              <a:solidFill>
                <a:srgbClr val="000000"/>
              </a:solidFill>
              <a:latin typeface="Arial"/>
              <a:ea typeface="Arial"/>
              <a:cs typeface="Arial"/>
              <a:sym typeface="Arial"/>
            </a:endParaRPr>
          </a:p>
        </p:txBody>
      </p:sp>
      <p:sp>
        <p:nvSpPr>
          <p:cNvPr id="1071" name="Google Shape;1071;p52"/>
          <p:cNvSpPr txBox="1"/>
          <p:nvPr/>
        </p:nvSpPr>
        <p:spPr>
          <a:xfrm>
            <a:off x="6903720" y="3675887"/>
            <a:ext cx="23317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601</a:t>
            </a:r>
            <a:endParaRPr b="0" i="0" sz="1400" u="none" cap="none" strike="noStrike">
              <a:solidFill>
                <a:srgbClr val="000000"/>
              </a:solidFill>
              <a:latin typeface="Arial"/>
              <a:ea typeface="Arial"/>
              <a:cs typeface="Arial"/>
              <a:sym typeface="Arial"/>
            </a:endParaRPr>
          </a:p>
        </p:txBody>
      </p:sp>
      <p:sp>
        <p:nvSpPr>
          <p:cNvPr id="1072" name="Google Shape;1072;p52"/>
          <p:cNvSpPr txBox="1"/>
          <p:nvPr/>
        </p:nvSpPr>
        <p:spPr>
          <a:xfrm>
            <a:off x="9646920" y="3675887"/>
            <a:ext cx="205740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947</a:t>
            </a:r>
            <a:endParaRPr b="0" i="0" sz="1400" u="none" cap="none" strike="noStrike">
              <a:solidFill>
                <a:srgbClr val="000000"/>
              </a:solidFill>
              <a:latin typeface="Arial"/>
              <a:ea typeface="Arial"/>
              <a:cs typeface="Arial"/>
              <a:sym typeface="Arial"/>
            </a:endParaRPr>
          </a:p>
        </p:txBody>
      </p:sp>
      <p:sp>
        <p:nvSpPr>
          <p:cNvPr id="1073" name="Google Shape;1073;p52"/>
          <p:cNvSpPr/>
          <p:nvPr/>
        </p:nvSpPr>
        <p:spPr>
          <a:xfrm>
            <a:off x="438912" y="4270248"/>
            <a:ext cx="1133856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4" name="Google Shape;1074;p52"/>
          <p:cNvSpPr txBox="1"/>
          <p:nvPr/>
        </p:nvSpPr>
        <p:spPr>
          <a:xfrm>
            <a:off x="530352" y="4361688"/>
            <a:ext cx="59893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Dahlmanns 2023 · segredo</a:t>
            </a:r>
            <a:endParaRPr b="0" i="0" sz="1400" u="none" cap="none" strike="noStrike">
              <a:solidFill>
                <a:srgbClr val="000000"/>
              </a:solidFill>
              <a:latin typeface="Arial"/>
              <a:ea typeface="Arial"/>
              <a:cs typeface="Arial"/>
              <a:sym typeface="Arial"/>
            </a:endParaRPr>
          </a:p>
        </p:txBody>
      </p:sp>
      <p:sp>
        <p:nvSpPr>
          <p:cNvPr id="1075" name="Google Shape;1075;p52"/>
          <p:cNvSpPr txBox="1"/>
          <p:nvPr/>
        </p:nvSpPr>
        <p:spPr>
          <a:xfrm>
            <a:off x="6903720" y="4361688"/>
            <a:ext cx="23317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8,5%</a:t>
            </a:r>
            <a:endParaRPr b="0" i="0" sz="1400" u="none" cap="none" strike="noStrike">
              <a:solidFill>
                <a:srgbClr val="000000"/>
              </a:solidFill>
              <a:latin typeface="Arial"/>
              <a:ea typeface="Arial"/>
              <a:cs typeface="Arial"/>
              <a:sym typeface="Arial"/>
            </a:endParaRPr>
          </a:p>
        </p:txBody>
      </p:sp>
      <p:sp>
        <p:nvSpPr>
          <p:cNvPr id="1076" name="Google Shape;1076;p52"/>
          <p:cNvSpPr txBox="1"/>
          <p:nvPr/>
        </p:nvSpPr>
        <p:spPr>
          <a:xfrm>
            <a:off x="9646920" y="4361688"/>
            <a:ext cx="205740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82,4%</a:t>
            </a:r>
            <a:endParaRPr b="0" i="0" sz="1400" u="none" cap="none" strike="noStrike">
              <a:solidFill>
                <a:srgbClr val="000000"/>
              </a:solidFill>
              <a:latin typeface="Arial"/>
              <a:ea typeface="Arial"/>
              <a:cs typeface="Arial"/>
              <a:sym typeface="Arial"/>
            </a:endParaRPr>
          </a:p>
        </p:txBody>
      </p:sp>
      <p:sp>
        <p:nvSpPr>
          <p:cNvPr id="1077" name="Google Shape;1077;p52"/>
          <p:cNvSpPr/>
          <p:nvPr/>
        </p:nvSpPr>
        <p:spPr>
          <a:xfrm>
            <a:off x="438912" y="4956048"/>
            <a:ext cx="11338560" cy="41148"/>
          </a:xfrm>
          <a:prstGeom prst="rect">
            <a:avLst/>
          </a:prstGeom>
          <a:solidFill>
            <a:srgbClr val="6E8AA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78" name="Google Shape;1078;p52"/>
          <p:cNvSpPr txBox="1"/>
          <p:nvPr/>
        </p:nvSpPr>
        <p:spPr>
          <a:xfrm>
            <a:off x="530352" y="5047488"/>
            <a:ext cx="59893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Inter"/>
                <a:ea typeface="Inter"/>
                <a:cs typeface="Inter"/>
                <a:sym typeface="Inter"/>
              </a:rPr>
              <a:t>Churakova 2025 · Jaccard</a:t>
            </a:r>
            <a:endParaRPr b="0" i="0" sz="1400" u="none" cap="none" strike="noStrike">
              <a:solidFill>
                <a:srgbClr val="000000"/>
              </a:solidFill>
              <a:latin typeface="Arial"/>
              <a:ea typeface="Arial"/>
              <a:cs typeface="Arial"/>
              <a:sym typeface="Arial"/>
            </a:endParaRPr>
          </a:p>
        </p:txBody>
      </p:sp>
      <p:sp>
        <p:nvSpPr>
          <p:cNvPr id="1079" name="Google Shape;1079;p52"/>
          <p:cNvSpPr txBox="1"/>
          <p:nvPr/>
        </p:nvSpPr>
        <p:spPr>
          <a:xfrm>
            <a:off x="6903720" y="5047488"/>
            <a:ext cx="233172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0,69</a:t>
            </a:r>
            <a:endParaRPr b="0" i="0" sz="1400" u="none" cap="none" strike="noStrike">
              <a:solidFill>
                <a:srgbClr val="000000"/>
              </a:solidFill>
              <a:latin typeface="Arial"/>
              <a:ea typeface="Arial"/>
              <a:cs typeface="Arial"/>
              <a:sym typeface="Arial"/>
            </a:endParaRPr>
          </a:p>
        </p:txBody>
      </p:sp>
      <p:sp>
        <p:nvSpPr>
          <p:cNvPr id="1080" name="Google Shape;1080;p52"/>
          <p:cNvSpPr txBox="1"/>
          <p:nvPr/>
        </p:nvSpPr>
        <p:spPr>
          <a:xfrm>
            <a:off x="9646920" y="5047488"/>
            <a:ext cx="205740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0" i="0" lang="en-US" sz="3200" u="none" cap="none" strike="noStrike">
                <a:solidFill>
                  <a:srgbClr val="00153C"/>
                </a:solidFill>
                <a:latin typeface="JetBrains Mono"/>
                <a:ea typeface="JetBrains Mono"/>
                <a:cs typeface="JetBrains Mono"/>
                <a:sym typeface="JetBrains Mono"/>
              </a:rPr>
              <a:t>0,43</a:t>
            </a:r>
            <a:endParaRPr b="0" i="0" sz="1400" u="none" cap="none" strike="noStrike">
              <a:solidFill>
                <a:srgbClr val="000000"/>
              </a:solidFill>
              <a:latin typeface="Arial"/>
              <a:ea typeface="Arial"/>
              <a:cs typeface="Arial"/>
              <a:sym typeface="Arial"/>
            </a:endParaRPr>
          </a:p>
        </p:txBody>
      </p:sp>
      <p:sp>
        <p:nvSpPr>
          <p:cNvPr id="1081" name="Google Shape;1081;p52"/>
          <p:cNvSpPr txBox="1"/>
          <p:nvPr/>
        </p:nvSpPr>
        <p:spPr>
          <a:xfrm>
            <a:off x="530352" y="5687568"/>
            <a:ext cx="11155680" cy="48768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Indicativo: scanner, amostra e unidade diferem.</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6" name="Shape 1086"/>
        <p:cNvGrpSpPr/>
        <p:nvPr/>
      </p:nvGrpSpPr>
      <p:grpSpPr>
        <a:xfrm>
          <a:off x="0" y="0"/>
          <a:ext cx="0" cy="0"/>
          <a:chOff x="0" y="0"/>
          <a:chExt cx="0" cy="0"/>
        </a:xfrm>
      </p:grpSpPr>
      <p:pic>
        <p:nvPicPr>
          <p:cNvPr descr="sbseg2026_rodape.png" id="1087" name="Google Shape;1087;p53"/>
          <p:cNvPicPr preferRelativeResize="0"/>
          <p:nvPr/>
        </p:nvPicPr>
        <p:blipFill rotWithShape="1">
          <a:blip r:embed="rId3">
            <a:alphaModFix/>
          </a:blip>
          <a:srcRect b="0" l="0" r="0" t="0"/>
          <a:stretch/>
        </p:blipFill>
        <p:spPr>
          <a:xfrm>
            <a:off x="146304" y="6217920"/>
            <a:ext cx="1024128" cy="566928"/>
          </a:xfrm>
          <a:prstGeom prst="rect">
            <a:avLst/>
          </a:prstGeom>
          <a:noFill/>
          <a:ln>
            <a:noFill/>
          </a:ln>
        </p:spPr>
      </p:pic>
      <p:sp>
        <p:nvSpPr>
          <p:cNvPr id="1088" name="Google Shape;1088;p53"/>
          <p:cNvSpPr txBox="1"/>
          <p:nvPr/>
        </p:nvSpPr>
        <p:spPr>
          <a:xfrm>
            <a:off x="11219688" y="6364224"/>
            <a:ext cx="822960" cy="365760"/>
          </a:xfrm>
          <a:prstGeom prst="rect">
            <a:avLst/>
          </a:prstGeom>
          <a:noFill/>
          <a:ln>
            <a:noFill/>
          </a:ln>
        </p:spPr>
        <p:txBody>
          <a:bodyPr anchorCtr="0" anchor="t" bIns="0" lIns="0" spcFirstLastPara="1" rIns="0" wrap="square" tIns="0">
            <a:spAutoFit/>
          </a:bodyPr>
          <a:lstStyle/>
          <a:p>
            <a:pPr indent="0" lvl="0" marL="0" marR="0" rtl="0" algn="r">
              <a:lnSpc>
                <a:spcPct val="100000"/>
              </a:lnSpc>
              <a:spcBef>
                <a:spcPts val="0"/>
              </a:spcBef>
              <a:spcAft>
                <a:spcPts val="0"/>
              </a:spcAft>
              <a:buClr>
                <a:srgbClr val="000000"/>
              </a:buClr>
              <a:buSzPts val="2100"/>
              <a:buFont typeface="Arial"/>
              <a:buNone/>
            </a:pPr>
            <a:r>
              <a:rPr b="0" i="0" lang="en-US" sz="2100" u="none" cap="none" strike="noStrike">
                <a:solidFill>
                  <a:srgbClr val="00153C"/>
                </a:solidFill>
                <a:latin typeface="JetBrains Mono"/>
                <a:ea typeface="JetBrains Mono"/>
                <a:cs typeface="JetBrains Mono"/>
                <a:sym typeface="JetBrains Mono"/>
              </a:rPr>
              <a:t>50</a:t>
            </a:r>
            <a:endParaRPr b="0" i="0" sz="1400" u="none" cap="none" strike="noStrike">
              <a:solidFill>
                <a:srgbClr val="000000"/>
              </a:solidFill>
              <a:latin typeface="Arial"/>
              <a:ea typeface="Arial"/>
              <a:cs typeface="Arial"/>
              <a:sym typeface="Arial"/>
            </a:endParaRPr>
          </a:p>
        </p:txBody>
      </p:sp>
      <p:sp>
        <p:nvSpPr>
          <p:cNvPr id="1089" name="Google Shape;1089;p53"/>
          <p:cNvSpPr txBox="1"/>
          <p:nvPr/>
        </p:nvSpPr>
        <p:spPr>
          <a:xfrm>
            <a:off x="731520" y="164592"/>
            <a:ext cx="10881360" cy="32918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2100"/>
              <a:buFont typeface="Arial"/>
              <a:buNone/>
            </a:pPr>
            <a:r>
              <a:rPr b="1" i="0" lang="en-US" sz="2100" u="none" cap="none" strike="noStrike">
                <a:solidFill>
                  <a:srgbClr val="2560FF"/>
                </a:solidFill>
                <a:latin typeface="Inter"/>
                <a:ea typeface="Inter"/>
                <a:cs typeface="Inter"/>
                <a:sym typeface="Inter"/>
              </a:rPr>
              <a:t>RESERVA</a:t>
            </a:r>
            <a:endParaRPr b="0" i="0" sz="1400" u="none" cap="none" strike="noStrike">
              <a:solidFill>
                <a:srgbClr val="000000"/>
              </a:solidFill>
              <a:latin typeface="Arial"/>
              <a:ea typeface="Arial"/>
              <a:cs typeface="Arial"/>
              <a:sym typeface="Arial"/>
            </a:endParaRPr>
          </a:p>
        </p:txBody>
      </p:sp>
      <p:sp>
        <p:nvSpPr>
          <p:cNvPr id="1090" name="Google Shape;1090;p53"/>
          <p:cNvSpPr txBox="1"/>
          <p:nvPr/>
        </p:nvSpPr>
        <p:spPr>
          <a:xfrm>
            <a:off x="713232" y="566928"/>
            <a:ext cx="10881360" cy="100584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Clr>
                <a:srgbClr val="000000"/>
              </a:buClr>
              <a:buSzPts val="4400"/>
              <a:buFont typeface="Arial"/>
              <a:buNone/>
            </a:pPr>
            <a:r>
              <a:rPr b="1" i="0" lang="en-US" sz="4400" u="none" cap="none" strike="noStrike">
                <a:solidFill>
                  <a:srgbClr val="00153C"/>
                </a:solidFill>
                <a:latin typeface="Space Grotesk"/>
                <a:ea typeface="Space Grotesk"/>
                <a:cs typeface="Space Grotesk"/>
                <a:sym typeface="Space Grotesk"/>
              </a:rPr>
              <a:t>Direções</a:t>
            </a:r>
            <a:endParaRPr b="0" i="0" sz="1400" u="none" cap="none" strike="noStrike">
              <a:solidFill>
                <a:srgbClr val="000000"/>
              </a:solidFill>
              <a:latin typeface="Arial"/>
              <a:ea typeface="Arial"/>
              <a:cs typeface="Arial"/>
              <a:sym typeface="Arial"/>
            </a:endParaRPr>
          </a:p>
        </p:txBody>
      </p:sp>
      <p:sp>
        <p:nvSpPr>
          <p:cNvPr id="1091" name="Google Shape;1091;p53"/>
          <p:cNvSpPr/>
          <p:nvPr/>
        </p:nvSpPr>
        <p:spPr>
          <a:xfrm>
            <a:off x="566928" y="179222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2" name="Google Shape;1092;p53"/>
          <p:cNvSpPr txBox="1"/>
          <p:nvPr/>
        </p:nvSpPr>
        <p:spPr>
          <a:xfrm>
            <a:off x="960120" y="162763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Longitudinal</a:t>
            </a:r>
            <a:r>
              <a:rPr b="0" i="0" lang="en-US" sz="3200" u="none" cap="none" strike="noStrike">
                <a:solidFill>
                  <a:srgbClr val="00153C"/>
                </a:solidFill>
                <a:latin typeface="Inter"/>
                <a:ea typeface="Inter"/>
                <a:cs typeface="Inter"/>
                <a:sym typeface="Inter"/>
              </a:rPr>
              <a:t> separa queda de abandono</a:t>
            </a:r>
            <a:endParaRPr b="0" i="0" sz="1400" u="none" cap="none" strike="noStrike">
              <a:solidFill>
                <a:srgbClr val="000000"/>
              </a:solidFill>
              <a:latin typeface="Arial"/>
              <a:ea typeface="Arial"/>
              <a:cs typeface="Arial"/>
              <a:sym typeface="Arial"/>
            </a:endParaRPr>
          </a:p>
        </p:txBody>
      </p:sp>
      <p:sp>
        <p:nvSpPr>
          <p:cNvPr id="1093" name="Google Shape;1093;p53"/>
          <p:cNvSpPr/>
          <p:nvPr/>
        </p:nvSpPr>
        <p:spPr>
          <a:xfrm>
            <a:off x="566928" y="252374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4" name="Google Shape;1094;p53"/>
          <p:cNvSpPr txBox="1"/>
          <p:nvPr/>
        </p:nvSpPr>
        <p:spPr>
          <a:xfrm>
            <a:off x="960120" y="235915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Base e data</a:t>
            </a:r>
            <a:r>
              <a:rPr b="0" i="0" lang="en-US" sz="3200" u="none" cap="none" strike="noStrike">
                <a:solidFill>
                  <a:srgbClr val="00153C"/>
                </a:solidFill>
                <a:latin typeface="Inter"/>
                <a:ea typeface="Inter"/>
                <a:cs typeface="Inter"/>
                <a:sym typeface="Inter"/>
              </a:rPr>
              <a:t> testaria a herança, hoje inferida</a:t>
            </a:r>
            <a:endParaRPr b="0" i="0" sz="1400" u="none" cap="none" strike="noStrike">
              <a:solidFill>
                <a:srgbClr val="000000"/>
              </a:solidFill>
              <a:latin typeface="Arial"/>
              <a:ea typeface="Arial"/>
              <a:cs typeface="Arial"/>
              <a:sym typeface="Arial"/>
            </a:endParaRPr>
          </a:p>
        </p:txBody>
      </p:sp>
      <p:sp>
        <p:nvSpPr>
          <p:cNvPr id="1095" name="Google Shape;1095;p53"/>
          <p:cNvSpPr/>
          <p:nvPr/>
        </p:nvSpPr>
        <p:spPr>
          <a:xfrm>
            <a:off x="566928" y="3255264"/>
            <a:ext cx="182880" cy="182880"/>
          </a:xfrm>
          <a:prstGeom prst="ellipse">
            <a:avLst/>
          </a:prstGeom>
          <a:solidFill>
            <a:srgbClr val="2560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6" name="Google Shape;1096;p53"/>
          <p:cNvSpPr txBox="1"/>
          <p:nvPr/>
        </p:nvSpPr>
        <p:spPr>
          <a:xfrm>
            <a:off x="960120" y="3090672"/>
            <a:ext cx="10789920" cy="536448"/>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Clr>
                <a:srgbClr val="000000"/>
              </a:buClr>
              <a:buSzPts val="3200"/>
              <a:buFont typeface="Arial"/>
              <a:buNone/>
            </a:pPr>
            <a:r>
              <a:rPr b="1" i="0" lang="en-US" sz="3200" u="none" cap="none" strike="noStrike">
                <a:solidFill>
                  <a:srgbClr val="2560FF"/>
                </a:solidFill>
                <a:latin typeface="Inter"/>
                <a:ea typeface="Inter"/>
                <a:cs typeface="Inter"/>
                <a:sym typeface="Inter"/>
              </a:rPr>
              <a:t>Ponderado</a:t>
            </a:r>
            <a:r>
              <a:rPr b="0" i="0" lang="en-US" sz="3200" u="none" cap="none" strike="noStrike">
                <a:solidFill>
                  <a:srgbClr val="00153C"/>
                </a:solidFill>
                <a:latin typeface="Inter"/>
                <a:ea typeface="Inter"/>
                <a:cs typeface="Inter"/>
                <a:sym typeface="Inter"/>
              </a:rPr>
              <a:t> prevalência e alcance num estimador</a:t>
            </a:r>
            <a:endParaRPr b="0" i="0" sz="1400" u="none" cap="none" strike="noStrike">
              <a:solidFill>
                <a:srgbClr val="000000"/>
              </a:solidFill>
              <a:latin typeface="Arial"/>
              <a:ea typeface="Arial"/>
              <a:cs typeface="Arial"/>
              <a:sym typeface="Arial"/>
            </a:endParaRPr>
          </a:p>
        </p:txBody>
      </p:sp>
      <p:sp>
        <p:nvSpPr>
          <p:cNvPr id="1097" name="Google Shape;1097;p53"/>
          <p:cNvSpPr/>
          <p:nvPr/>
        </p:nvSpPr>
        <p:spPr>
          <a:xfrm>
            <a:off x="548640" y="3877056"/>
            <a:ext cx="11201400" cy="958291"/>
          </a:xfrm>
          <a:prstGeom prst="roundRect">
            <a:avLst>
              <a:gd fmla="val 5000" name="adj"/>
            </a:avLst>
          </a:prstGeom>
          <a:solidFill>
            <a:srgbClr val="FFFFFF"/>
          </a:solidFill>
          <a:ln cap="flat" cmpd="sng" w="28575">
            <a:solidFill>
              <a:srgbClr val="2560FF"/>
            </a:solidFill>
            <a:prstDash val="dash"/>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sp>
        <p:nvSpPr>
          <p:cNvPr id="1098" name="Google Shape;1098;p53"/>
          <p:cNvSpPr txBox="1"/>
          <p:nvPr/>
        </p:nvSpPr>
        <p:spPr>
          <a:xfrm>
            <a:off x="868680" y="4078224"/>
            <a:ext cx="10561320" cy="555955"/>
          </a:xfrm>
          <a:prstGeom prst="rect">
            <a:avLst/>
          </a:prstGeom>
          <a:noFill/>
          <a:ln>
            <a:noFill/>
          </a:ln>
        </p:spPr>
        <p:txBody>
          <a:bodyPr anchorCtr="0" anchor="t" bIns="0" lIns="0" spcFirstLastPara="1" rIns="0" wrap="square" tIns="0">
            <a:spAutoFit/>
          </a:bodyPr>
          <a:lstStyle/>
          <a:p>
            <a:pPr indent="0" lvl="0" marL="0" marR="0" rtl="0" algn="l">
              <a:lnSpc>
                <a:spcPct val="114000"/>
              </a:lnSpc>
              <a:spcBef>
                <a:spcPts val="0"/>
              </a:spcBef>
              <a:spcAft>
                <a:spcPts val="0"/>
              </a:spcAft>
              <a:buClr>
                <a:srgbClr val="000000"/>
              </a:buClr>
              <a:buSzPts val="3200"/>
              <a:buFont typeface="Arial"/>
              <a:buNone/>
            </a:pPr>
            <a:r>
              <a:rPr b="1" i="0" lang="en-US" sz="3200" u="none" cap="none" strike="noStrike">
                <a:solidFill>
                  <a:srgbClr val="00153C"/>
                </a:solidFill>
                <a:latin typeface="Inter"/>
                <a:ea typeface="Inter"/>
                <a:cs typeface="Inter"/>
                <a:sym typeface="Inter"/>
              </a:rPr>
              <a:t>Nenhuma das duas amostras dá os dois hoje.</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
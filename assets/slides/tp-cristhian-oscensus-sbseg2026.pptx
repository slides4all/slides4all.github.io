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1675"/>
  <p:notesSz cx="6858000" cy="9144000"/>
  <p:embeddedFontLst>
    <p:embeddedFont>
      <p:font typeface="Inter"/>
      <p:regular r:id="rId55"/>
      <p:bold r:id="rId56"/>
      <p:italic r:id="rId57"/>
      <p:boldItalic r:id="rId58"/>
    </p:embeddedFont>
    <p:embeddedFont>
      <p:font typeface="JetBrains Mono"/>
      <p:regular r:id="rId59"/>
      <p:bold r:id="rId60"/>
      <p:italic r:id="rId61"/>
      <p:boldItalic r:id="rId62"/>
    </p:embeddedFont>
    <p:embeddedFont>
      <p:font typeface="Space Grotesk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5" roundtripDataSignature="AMtx7mh1mKlIjVTXZd/9dpShPvnaZVHO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JetBrainsMono-boldItalic.fntdata"/><Relationship Id="rId61" Type="http://schemas.openxmlformats.org/officeDocument/2006/relationships/font" Target="fonts/JetBrainsMono-italic.fntdata"/><Relationship Id="rId20" Type="http://schemas.openxmlformats.org/officeDocument/2006/relationships/slide" Target="slides/slide15.xml"/><Relationship Id="rId64" Type="http://schemas.openxmlformats.org/officeDocument/2006/relationships/font" Target="fonts/SpaceGrotesk-bold.fntdata"/><Relationship Id="rId63" Type="http://schemas.openxmlformats.org/officeDocument/2006/relationships/font" Target="fonts/SpaceGrotesk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JetBrainsMono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Inter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Inter-italic.fntdata"/><Relationship Id="rId12" Type="http://schemas.openxmlformats.org/officeDocument/2006/relationships/slide" Target="slides/slide7.xml"/><Relationship Id="rId56" Type="http://schemas.openxmlformats.org/officeDocument/2006/relationships/font" Target="fonts/Inter-bold.fntdata"/><Relationship Id="rId15" Type="http://schemas.openxmlformats.org/officeDocument/2006/relationships/slide" Target="slides/slide10.xml"/><Relationship Id="rId59" Type="http://schemas.openxmlformats.org/officeDocument/2006/relationships/font" Target="fonts/JetBrainsMono-regular.fntdata"/><Relationship Id="rId14" Type="http://schemas.openxmlformats.org/officeDocument/2006/relationships/slide" Target="slides/slide9.xml"/><Relationship Id="rId58" Type="http://schemas.openxmlformats.org/officeDocument/2006/relationships/font" Target="fonts/Int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[28 s] FALA Boa tarde. Cristhian Kapelinski, da UNIPAMPA, com Diego Kreutz, no AI Horizon Labs. O trabalho é um censo: cinco mil seiscentas e seis imagens base de sistema operacional do Docker Hub, de vinte distribuições, passadas por quatorze scanners de código aberto. A pergunta é uma só, e eu repito no fim: do que a postura de segurança de uma imagem base depende de verdade, e quanto dela é apenas efeito da ferramenta que mede?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Imagem base de sistema operacional: a imagem que aparece na primeira linha de um Dockerfile, depois do FROM, e sobre a qual todo o resto é construído. Ela é definida com calma no slide 2. Censo: medir a população inteira que se delimitou, e não uma amostra dela. Scanner: ferramenta que inspeciona a imagem e relata achados; aqui em quatro eixos, vulnerabilidade de pacote, segredo, malware e configuração. Postura de segurança: o retrato de exposição de uma imagem, que neste trabalho é o conjunto de achados relatados sobre ela. Trilha principal, artigo curto: a trilha do SBSeg em que a contribuição é o artigo. O artigo curto tem 7 páginas e slot de cerca de 12 minutos, contra os 20 do trabalho completo.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ordem dos nomes é a do artigo, e não a de quem apresenta. Enunciar a pergunta já na capa e repeti-la na conclusão fecha o arco da apresentação. O título oficial vale em inglês no camera-ready, mas a plateia é brasileira: sem a tradução por baixo, os primeiros segundos são gastos traduzindo de cabeça em vez de ouvir a abertura. Financiamento, se perguntarem: CAPES, CNPq (409743/2025-9) e FAPERGS (24/2551-0001368-7 e 24/2551-0000726-1), e está no slide final. Dado e código abertos em github.com/ChimangoScan/os-census.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[18 s] FALA Na pesquisa da Docker de 2025, 92% dos profissionais de TI já usavam contêiner. E o Docker Hub, o maior registro público de imagens, já tinha 8,3 milhões de repositórios em 2021. As duas manchetes embaixo são as fontes, cada uma com o seu QR.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TERMOS Docker Survey: a pesquisa anual da Docker com profissionais de TI. Repositório: o nome sob o qual alguém publica no registro, por exemplo biblioteca barra nginx, e que pode conter muitas versões da mesma imagem. Docker Index: o relatório da Docker sobre volume de repositórios e de downloads do Hub.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POR QUE Os dois números são a mesma ideia: contêiner é onipresente e o Docker Hub é onde as imagens estão. Em telas separadas, a mesma ideia gastava duas. Lado a lado, aponto um de cada vez e a comparação das duas datas fica visível de uma vez. Os 8,3 milhões são de 2021, e eu digo a data em voz alta porque é dado de cinco anos atrás: o número real hoje é maior, e usar o de 2021 é o limite inferior honesto.</a:t>
            </a:r>
            <a:endParaRPr/>
          </a:p>
        </p:txBody>
      </p:sp>
      <p:sp>
        <p:nvSpPr>
          <p:cNvPr id="112" name="Google Shape;11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[8 s] FALA Toda imagem de contêiner é construída sobre outra, a imagem-base.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Imagem-base: a imagem sobre a qual outra é construída, indicada pela instrução FROM do Dockerfile. Aqui são as imagens de sistema operacional: debian, ubuntu, alpine e as outras dezessete.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tela não escreve a frase porque eu vou dizê-la: escrita, eu leio, e foi isso que o orientador marcou na prévia.</a:t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[8 s] FALA E uma falha na base é herdada, sem alteração, por tudo que se constrói em cima dela.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É essa cadeia que torna medir a BASE, e não só a imagem final, a pergunta certa. Se perguntarem por que não uso FROM scratch ou distroless como contraexemplo: existem, e o corpus é a categoria de sistemas operacionais do Hub.</a:t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[10 s] FALA E falhas não faltam: em 2025 foram publicadas 48.185 vulnerabilidades com identificador CVE, o maior total anual já registrado. A fonte é a revisão anual do Jerry Gamblin.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CVE, Common Vulnerabilities and Exposures: o identificador público de uma vulnerabilidade específica, no formato CVE-ano-número.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As 48 mil CVE são o total publicado no mundo em 2025, e eu NÃO digo que elas estão nessas imagens: são o pano de fundo, o volume de falha disponível para ser herdado.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[38 s] FALA A Tabela 1 do artigo, agrupada por família. Os censos de escala: Shu e colegas em 2017, Liu em 2020, e o nosso trabalho anterior de 2026, que chegou a 52.895 imagens com seis ferramentas. Nenhum deles olhou para a imagem-base. As comparações de scanner: Mills em 2023 com seis ferramentas, Boles em 2024 com duas, mas em 380 e 927 imagens. E quem olhou para a base foi Haque, em 2022, com 261 imagens e um detector só. A última fila é este trabalho, e é a única com sim nas duas colunas: 5.606 imagens-base, catorze ferramentas.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As colunas: Imagens é o tamanho do corpus medido. Base? pergunta se o corpus é de imagens-base de sistema operacional, e não de imagens de aplicação. Compara? pergunta se o trabalho põe as saídas de duas ou mais ferramentas lado a lado e mede a divergência entre elas; não basta rodar várias, é preciso medir o desacordo. Eu meço com o índice de Jaccard sobre pares imagem-CVE.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Eram quatro telas: duas tabelas e duas frases que liam as tabelas em voz alta. As frases sairam porque, com elas na tela, a apresentação vira leitura. Nenhuma linha da Tabela 1 se perdeu: as sete estão nas quatro famílias. Kapelinski et al., 2026 é trabalho nosso, e eu digo isso em voz alta: é o Uniform Random-Sample, com o mesmo motor de orquestração. Se perguntarem por que o corpus dele é maior e o deste menor: 5.606 é a população inteira das bases, não uma amostra dela. Censo pequeno não é amostra pequena. Se perguntarem por que catorze e não seis: as oito novas cobrem segredo, malware e configuração, que os censos de vulnerabilidade não olham.</a:t>
            </a:r>
            <a:endParaRPr/>
          </a:p>
        </p:txBody>
      </p:sp>
      <p:sp>
        <p:nvSpPr>
          <p:cNvPr id="157" name="Google Shape;15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[9 s] FALA O desenho é um censo: contar todas as bases da categoria, com a bateria inteira, e não uma amostra delas com um detector.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Divisória de seção. As três seções são Censo, Achados e Conclusões.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Divisória existe para a plateia saber onde está. Passar rápido.</a:t>
            </a:r>
            <a:endParaRPr/>
          </a:p>
        </p:txBody>
      </p:sp>
      <p:sp>
        <p:nvSpPr>
          <p:cNvPr id="194" name="Google Shape;19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 FALA O corpus são as imagens que o Docker Hub lista na categoria de sistemas operacionais, varridas em 2026. São vinte distribuições com imagem para linux/amd64. Elas ocupam vinte e um repositórios, porque o rockylinux publica em dois. E depois de eliminar as repetições pelo digest, sobram 5.606 imagens únicas na fila.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Distribuição: a família do sistema operacional, por exemplo Debian ou Alpine. Repositório: o nome sob o qual as tags são publicadas. Digest: o identificador da imagem pelo hash do conteúdo; duas tags que apontam para o mesmo digest são a mesma imagem, e entram uma vez só. amd64: a arquitetura; imagem multiplataforma tem uma variante por arquitetura, e eu fixo linux/amd64 para todos os scanners lerem os mesmos bytes.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Eram três telas, uma por número, cada uma com a frase inteira escrita em cima. Os três são o mesmo funil, então cabem juntos. A categoria Operating systems é como o Docker Hub rotula as imagens-base de sistema operacional, e é o recorte que este trabalho mede. Se perguntarem por que 21 e não 20: o rockylinux tem library/rockylinux e rockylinux/rockylinux, e os dois entram.</a:t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[17 s] FALA A bateria tem catorze ferramentas abertas, em cinco eixos; os três primeiros. Inventário de pacotes, com Syft e cdxgen. Vulnerabilidade de pacote, com Trivy, Grype, OSV-Scanner e Clair: quatro scanners, e é o eixo que sustenta a comparação entre ferramentas. Configuração, com Dockle e Checkov.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Inventário de pacotes: listar o que está instalado, produzindo um SBOM, Software Bill of Materials, a lista de componentes de um artefato. Vulnerabilidade de pacote: casar a versão de cada pacote instalado contra bases de avisos e reportar as CVEs que se aplicam. Configuração, ou misconfiguration: checar propriedades do manifesto e do sistema de arquivos contra boas práticas, por exemplo se há usuário não-root declarado.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Toda ferramenta é aberta, e vai fixada por versão no artefato: sem isso a medição não é reproduzível, porque as bases de aviso mudam toda semana. A frase que eu não coloco na tela, e digo aqui, é que o eixo de vulnerabilidade tem quatro scanners exatamente para poder medir o desacordo entre eles; nos outros eixos múltiplos detectores servem para cobertura, não para comparação. Escolhi eixos que cabem em um sistema de arquivos estático; o resto exigiria aplicação ou serviço no ar. Se perguntarem por que não há análise estática de código, teste dinâmico ou scan de rede: não há o que analisar em um sistema de arquivos parado, sem aplicação e sem processo.</a:t>
            </a:r>
            <a:endParaRPr/>
          </a:p>
        </p:txBody>
      </p:sp>
      <p:sp>
        <p:nvSpPr>
          <p:cNvPr id="221" name="Google Shape;22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[13 s] FALA Os outros dois eixos. Segredos, com quatro detectores. E malware, com ClamAV e YARA-Hunter. São os dois eixos em que eu rotulei uma amostra à mão, porque são os que mais acusam base limpa.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Segredos: procurar credenciais, chaves e tokens escritos no sistema de arquivos. IOC, indicator of compromise: padrão que indica comprometimento, como o hash de um binário malicioso ou uma regra YARA que casa com uma família.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Estes dois eixos abrem os dois próximos slides, cada um com a taxa de verdadeiro positivo medida à mão. Adiantar aqui que a checagem existe evita que a plateia leia os números de segredo e malware como definitivos antes de ver a rotulagem.</a:t>
            </a:r>
            <a:endParaRPr/>
          </a:p>
        </p:txBody>
      </p:sp>
      <p:sp>
        <p:nvSpPr>
          <p:cNvPr id="253" name="Google Shape;25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[36 s] FALA Etapa 1 de 5: resolver a tag até o digest amd64.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Digest: o identificador da imagem pelo hash do conteúdo, que não se move. Tar: o arquivo único com o sistema de arquivos achatado.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Mesma tela, com o anel na etapa que está sendo falada. Nada muda entre elas além do anel: a plateia não perde de vista onde esta etapa fica na sequência, e não há tela nova repetindo o que esta já mostra. O passo que dá validade à comparação entre os catorze scanners é o terceiro: todos leem o mesmo tar, então a diferença entre eles vem da ferramenta e não do download.</a:t>
            </a:r>
            <a:endParaRPr/>
          </a:p>
        </p:txBody>
      </p:sp>
      <p:sp>
        <p:nvSpPr>
          <p:cNvPr id="279" name="Google Shape;279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[36 s] FALA Etapa 2 de 5: fixar a imagem naquele digest.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Digest: o identificador da imagem pelo hash do conteúdo, que não se move. Tar: o arquivo único com o sistema de arquivos achatado.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Mesma tela, com o anel na etapa que está sendo falada. Nada muda entre elas além do anel: a plateia não perde de vista onde esta etapa fica na sequência, e não há tela nova repetindo o que esta já mostra. O passo que dá validade à comparação entre os catorze scanners é o terceiro: todos leem o mesmo tar, então a diferença entre eles vem da ferramenta e não do download.</a:t>
            </a:r>
            <a:endParaRPr/>
          </a:p>
        </p:txBody>
      </p:sp>
      <p:sp>
        <p:nvSpPr>
          <p:cNvPr id="309" name="Google Shape;30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[36 s] FALA Etapa 3 de 5: exportar o sistema de arquivos em um tar.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Digest: o identificador da imagem pelo hash do conteúdo, que não se move. Tar: o arquivo único com o sistema de arquivos achatado.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Mesma tela, com o anel na etapa que está sendo falada. Nada muda entre elas além do anel: a plateia não perde de vista onde esta etapa fica na sequência, e não há tela nova repetindo o que esta já mostra. O passo que dá validade à comparação entre os catorze scanners é o terceiro: todos leem o mesmo tar, então a diferença entre eles vem da ferramenta e não do download.</a:t>
            </a:r>
            <a:endParaRPr/>
          </a:p>
        </p:txBody>
      </p:sp>
      <p:sp>
        <p:nvSpPr>
          <p:cNvPr id="339" name="Google Shape;33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[36 s] FALA Etapa 4 de 5: analisar o tar com as catorze ferramentas.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Digest: o identificador da imagem pelo hash do conteúdo, que não se move. Tar: o arquivo único com o sistema de arquivos achatado.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Mesma tela, com o anel na etapa que está sendo falada. Nada muda entre elas além do anel: a plateia não perde de vista onde esta etapa fica na sequência, e não há tela nova repetindo o que esta já mostra. O passo que dá validade à comparação entre os catorze scanners é o terceiro: todos leem o mesmo tar, então a diferença entre eles vem da ferramenta e não do download.</a:t>
            </a:r>
            <a:endParaRPr/>
          </a:p>
        </p:txBody>
      </p:sp>
      <p:sp>
        <p:nvSpPr>
          <p:cNvPr id="369" name="Google Shape;36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[12 s] FALA O processo inteiro, em cinco passos. Resolve a tag até o digest de amd64; puxa a imagem fixada nesse digest; exporta o sistema de arquivos uma vez, para um tar; roda as catorze ferramentas sobre esse mesmo tar; e registra as saídas brutas mais o relatório consolidado. O passo que dá validade a tudo é o terceiro.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Digest: o identificador da imagem pelo hash do conteúdo, que não se move. Tar: o arquivo único com o sistema de arquivos achatado.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Esta tela substitui as cinco que existiam, uma por passo. Elas repetiam o verbo e o complemento que já estão aqui, e a fala não acrescentava nada em cima. Falar sobre os cinco cartões desta tela é o que dá o mesmo conteúdo em um sexto do tempo.</a:t>
            </a:r>
            <a:endParaRPr/>
          </a:p>
        </p:txBody>
      </p:sp>
      <p:sp>
        <p:nvSpPr>
          <p:cNvPr id="399" name="Google Shape;399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[10 s] FALA A campanha não roda em uma máquina só. A estação principal é um Ryzen 5 de seis núcleos com 32 GB de RAM, e mais quatro máquinas do laboratório, iguais entre si: Core i7-9700 de oito núcleos, também com 32 GB cada. A principal roda quatro imagens ao mesmo tempo e cada máquina do laboratório roda uma, porque ali o gargalo é a rede: oito imagens em paralelo. Somando a duração dos 5.606 scans dá 147 horas de máquina ocupada, e elas saíram em 26,8 horas de relógio, cerca de dezessete segundos por imagem.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Fila de scan: a lista de imagens a analisar, de onde cada máquina puxa a próxima assim que termina a anterior. Túnel reverso: a máquina do laboratório abre a conexão para o coordenador, e não o contrário, o que dispensa abrir porta na rede do laboratório.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As 26,8 horas são do primeiro início ao último término registrados na fila, e o paralelismo vem dos arquivos de configuração da campanha, não de estimativa. As 147 horas são a UNIÃO dos intervalos de cada máquina, recomputada de work/os.db, e é assim que eu digo: é tempo de máquina ocupada, não tempo de CPU. Somar finished_at menos started_at daria um número inflado, porque dentro de um mesmo worker há até vinte execuções com intervalo sobreposto, e o mesmo trecho de relógio seria contado várias vezes. 147,4 dividido por 26,8 dá 5,5 vezes, que fecha com as oito execuções em paralelo. Divisão de trabalho, se perguntarem: 4.008 imagens na estação principal e 1.598 nas quatro do laboratório.</a:t>
            </a:r>
            <a:endParaRPr/>
          </a:p>
        </p:txBody>
      </p:sp>
      <p:sp>
        <p:nvSpPr>
          <p:cNvPr id="429" name="Google Shape;429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[27 s] FALA O que entrou e o que saiu. Entraram 5.606 imagens únicas na fila e saíram 5.142 relatórios. Ficaram sem relatório 464, e a grande maioria delas porque a imagem não baixa.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Fila: a lista de imagens a analisar, uma entrada por digest único. Execução: uma passagem do pipeline por uma imagem. Relatório: o report.json consolidado daquela imagem.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Eu mostro a perda explicitamente porque ela reaparece como achado na segunda parte: boa parte das 463 são exatamente as imagens de manifesto aposentado, que o Docker Engine atual recusa. O que em um pipeline comum seria erro de coleta, aqui é resultado, e eu tenho um slide só para isso. A taxa de perda é de 8,3%, 463 de 5.606, e ela é medida sobre as 5.606 e não sobre as 5.142. Se perguntarem se a perda enviesa as médias: enviesa para baixo nas distribuições com muita imagem histórica, porque as que não baixam tendem a ser as mais velhas, que são as que teriam mais achado. As médias que eu mostro são, nesse sentido, conservadoras.</a:t>
            </a:r>
            <a:endParaRPr/>
          </a:p>
        </p:txBody>
      </p:sp>
      <p:sp>
        <p:nvSpPr>
          <p:cNvPr id="444" name="Google Shape;444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 FALA Segunda parte: o que as catorze ferramentas encontraram. Cinco perguntas de pesquisa, uma por vez, e no fim os três eixos que não são de vulnerabilidade.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Pergunta de pesquisa, ou RQ: a pergunta que a seção de resultados responde. São cinco no artigo, e a ordem aqui é RQ1, RQ2, RQ4, RQ5 e RQ3, porque RQ3 fecha melhor a sequência.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Passar rápido. Quinze segundos.</a:t>
            </a:r>
            <a:endParaRPr/>
          </a:p>
        </p:txBody>
      </p:sp>
      <p:sp>
        <p:nvSpPr>
          <p:cNvPr id="462" name="Google Shape;462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[9 s] FALA A primeira pergunta: quanto os achados variam entre distribuições. A diferença entre os extremos é de quase cinco vezes. O Debian carrega em média 329 achados críticos e altos por imagem. CentOS vem com 206, OracleLinux 190, Photon 174, AmazonLinux 160. Alpine, Ubuntu e AlmaLinux caem para 84, 79 e 69, e o Archlinux para 28. A leitura prática: escolher a base é uma decisão de segurança, não de gosto.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Crítica e alta: as duas faixas de severidade mais graves da escala CVSS, Common Vulnerability Scoring System. Eu somo as duas e ignoro média e baixa, que dominam a contagem bruta e afogam o sinal. Média por imagem: a soma dos achados de todas as imagens daquela distribuição dividida pelo número de imagens dela. Desvio padrão: quanto as imagens de uma mesma distribuição se afastam da média dela.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Duas ressalvas que eu faço questão de dizer em voz alta, porque quem perguntar já vai ouvir a resposta antes. Primeira: a variação dentro da própria distribuição é grande. O desvio padrão do Debian é 375, maior que a média de 329, o que quer dizer que existe imagem Debian limpa e imagem Debian péssima. Segunda: alguns repositórios são pequenos, o CentOS tem dez imagens, então aquela barra é tendência e não estimativa apertada. O gráfico mostra as dez maiores; a lista completa das vinte está em um slide de reserva. Se perguntarem por que o Debian lidera: não é porque o Debian seja pior mantido, é porque o repositório dele concentra imagem histórica e porque a cobertura de avisos do Debian é das mais completas, então o scanner tem mais o que casar. Isso está no slide de reserva sobre variação dentro da distribuição.</a:t>
            </a:r>
            <a:endParaRPr/>
          </a:p>
        </p:txBody>
      </p:sp>
      <p:sp>
        <p:nvSpPr>
          <p:cNvPr id="474" name="Google Shape;47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[7 s] FALA A segunda: a idade da imagem pesa? As imagens reconstruídas nos últimos seis meses têm em média 289 achados. Isso sobe para 366, 381, 548, e chega a 1.118 nas de mais de quatro anos. A fração com achado crítico também é maior nas velhas, 95,8% contra 86,8% nas novas, sem subir sempre.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Idade da imagem: dias entre a última reconstrução daquele digest e a data da scan, em 2026. Não é a idade da tag nem a da distribuição. Correlação de Spearman: mede se duas grandezas sobem juntas em ORDEM, sem supor relação linear; vale de menos um a mais um, e 0,27 é positiva e fraca. Monótona: que só sobe, sem voltar atrás em nenhuma faixa.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número que eu não ponho na tela e digo aqui é a correlação por imagem: Spearman 0,27, positiva e modesta. Ou seja, a idade acompanha a contagem no agregado das vinte distribuições, mas não determina a contagem de uma imagem individual. Essa distinção é o que separa este slide de uma afirmação forte demais, e é a resposta para quem levantar a mão dizendo que conhece imagem velha e limpa: conhece mesmo, e o 0,27 diz exatamente isso. O mecanismo por trás é simples e vale dizer se perguntarem: imagem antiga não é atacada com o tempo, ela apenas deixa de receber os pacotes corrigidos, enquanto o mundo continua publicando CVE sobre as versões que ela congelou.</a:t>
            </a:r>
            <a:endParaRPr/>
          </a:p>
        </p:txBody>
      </p:sp>
      <p:sp>
        <p:nvSpPr>
          <p:cNvPr id="484" name="Google Shape;48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[41 s] FALA Distribuição e idade agora num modelo só, com o tamanho e a popularidade juntos. A idade domina: coeficiente zero vírgula quarenta e quatro.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Coeficiente padronizado, o beta: o efeito expresso em desvios padrão, para que preditores de unidades diferentes, dias e megabytes, sejam comparáveis entre si.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Mesma figura nas três telas; só o anel muda de barra. Assim eu falo de um preditor por vez sem que a plateia perca o gráfico inteiro de vista.</a:t>
            </a:r>
            <a:endParaRPr/>
          </a:p>
        </p:txBody>
      </p:sp>
      <p:sp>
        <p:nvSpPr>
          <p:cNvPr id="494" name="Google Shape;49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[22 s] FALA O número de pacotes pesa, mas bem menos: zero vírgula quinze contra zero vírgula quarenta e quatro da idade.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Ver a tela anterior para o que é o coeficiente padronizado.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É o par do slide anterior: mais pacotes não implicam mais vulnerabilidade, e este é o número que sustenta isso.</a:t>
            </a:r>
            <a:endParaRPr/>
          </a:p>
        </p:txBody>
      </p:sp>
      <p:sp>
        <p:nvSpPr>
          <p:cNvPr id="504" name="Google Shape;504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[26 s] FALA Distribuição e idade agora num modelo só, com o tamanho e a popularidade juntos. Este é o achado central. A suposição comum, imagem menor é mais segura, não se sustenta. Em uma regressão com idade e pacotes padronizados, a idade domina: coeficiente 0,44 contra 0,15. Com o tamanho como terceiro preditor, o coeficiente é NEGATIVO, menos 0,23: imagem maior não significa mais achados. E a popularidade não explica quase nada, menos 0,07 para downloads. Exemplo: o BusyBox tem um pacote e um punhado de achados; o Mageia tem uns 250 pacotes e uma dúzia; e o Debian carrega centenas de críticas com MENOS pacotes que o Mageia.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Regressão múltipla: ajustar uma reta que prevê a contagem de achados a partir de vários preditores ao mesmo tempo, de modo que o efeito de cada um seja medido mantendo os outros fixos. Coeficiente padronizado, o beta: o efeito expresso em desvios padrão, para que preditores de unidades diferentes, dias e megabytes, sejam comparáveis entre si. Controlar por uma variável: medir o efeito dos outros preditores dentro de faixas em que aquela variável é constante. Preditor: a grandeza de entrada do modelo, aqui idade, pacotes, tamanho e downloads.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ressalva importante, e eu a digo antes que perguntem: DENTRO de distribuições específicas o número de pacotes assume, com beta 0,53 no Ubuntu e 0,65 no AlmaLinux. É a variação ENTRE distribuições que domina o resultado agregado. Isso está em um slide de reserva. O sinal negativo do tamanho não quer dizer que inchar a imagem seja bom; quer dizer que, entre as bases deste corpus, as maiores tendem a ser as de distribuição com cadência de correção melhor. Se perguntarem sobre causalidade: não há nenhuma aqui, é regressão observacional sobre um censo, e a afirmação que ela sustenta é negativa, que a suposição comum não se verifica.</a:t>
            </a:r>
            <a:endParaRPr/>
          </a:p>
        </p:txBody>
      </p:sp>
      <p:sp>
        <p:nvSpPr>
          <p:cNvPr id="514" name="Google Shape;514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[19 s] FALA Fechada a questão do que determina a carga, um achado de outra natureza: longevidade. Estas imagens usam o formato de manifesto que foi aposentado, e por isso não baixam em um Docker Engine atual. A taxa passa da metade no centos e no busybox, fica perto de um terço no ubuntu, e cai a 5% no alpine.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Manifesto: o documento JSON que descreve a imagem, listando as camadas e a configuração. Schema 1 é o formato antigo do Docker Registry; o Docker Engine moderno recusa puxá-lo por padrão.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Este é o achado que mais surpreende quem opera, e é o mais barato de agir: não precisa de scanner nenhum para descobrir que uma imagem não baixa mais. O grafico é por distribuição, então o título fala do que está na tela; o total do corpus vem na tela seguinte, onde ele é o próprio conteúdo.</a:t>
            </a:r>
            <a:endParaRPr/>
          </a:p>
        </p:txBody>
      </p:sp>
      <p:sp>
        <p:nvSpPr>
          <p:cNvPr id="524" name="Google Shape;52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[7 s] FALA Faltam os dois eixos que o artigo marca como resultado secundário, e eu passo rápido por eles. Os quatro scanners de vulnerabilidade concordam pouco. Medindo por Jaccard, o par que mais concorda é Trivy com Grype, em 0,36; os outros pares ficam entre zero e 0,13. A maioria dos pares imagem-CVE aparece em um scanner só. Uma contagem de um scanner não mede a imagem, mede aquele scanner.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Índice de Jaccard: o tamanho da interseção dividido pelo tamanho da união de dois conjuntos. Vale de zero, nenhum elemento em comum, a um, conjuntos idênticos. Aqui os conjuntos são os pares imagem-CVE que cada scanner reporta. Par imagem-CVE: a unidade de comparação, uma CVE específica encontrada em uma imagem específica. Scanner: o scanner de vulnerabilidade, Trivy, Grype, OSV-Scanner ou Clair.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escolha de comparar pares imagem-CVE, e não pacotes, é metodológica e eu digo em voz alta: o Clair nomeia o pacote de ORIGEM enquanto Trivy e Grype nomeiam o pacote BINÁRIO, então comparar por nome de pacote mediria a convenção de nomenclatura e não o desacordo real. A CVE é o identificador que os quatro compartilham. Se perguntarem qual está certo: a pergunta não tem resposta com os dados que eu tenho, porque adjudicar exigiria confirmar cada CVE contra o pacote instalado, item a item, e eu só conferi à mão os eixos de segredo e malware. O que o número sustenta é mais fraco e mais útil: quem publica contagem de vulnerabilidade de imagem precisa dizer com qual scanner mediu, e comparar duas medições de scanners diferentes não significa nada.</a:t>
            </a:r>
            <a:endParaRPr/>
          </a:p>
        </p:txBody>
      </p:sp>
      <p:sp>
        <p:nvSpPr>
          <p:cNvPr id="534" name="Google Shape;534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5" name="Google Shape;545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[28 s] FALA Os dois eixos que sobram contam a mesma história. TruffleHog e Gitleaks acusam 83,4% das imagens; o YARA-Hunter acusa 84,7%. Eu rotulei à mão mil e cem detecções de cada eixo, e nenhuma era verdadeira. Nenhuma. A taxa que uma ferramenta sozinha reporta é, em boa parte, propriedade da ferramenta.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Verdadeiro positivo: a detecção que de fato é uma credencial utilizável, ou código malicioso de fato. O que apareceu foi chave de teste, soma de verificação de pacote (o TruffleHog marcou a soma MD5 do libc6), exemplo de documentação, e regra de YARA batendo em binário de sistema benigno. O ClamAV não reporta nada. Limite superior de 0,35% com 95% de confiança, no apêndice A do artigo.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artigo marca este achado como resultado SECUNDÁRIO, e o artigo companheiro, da amostra aleatória, o traz como resultado principal. Por isso ele ocupa uma tela aqui e não quatro. Se perguntarem por que rotular à mão em vez de usar a validação automática do detector: o TruffleHog tem verificação ativa, que tenta USAR a credencial, e é justamente o que não se pode rodar contra serviços de terceiros numa medição de 5.606 imagens. Se perguntarem a comparação: Dahlmanns e colegas acharam 8,5% válidos, e o Dr. Docker cerca de 0,7%.</a:t>
            </a:r>
            <a:endParaRPr/>
          </a:p>
        </p:txBody>
      </p:sp>
      <p:sp>
        <p:nvSpPr>
          <p:cNvPr id="546" name="Google Shape;546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[15 s] FALA E o último eixo, configuração: das imagens em que Dockle e Checkov rodaram os dois, 100% têm achado, com mediana de quatro achados por imagem. Mas isso não é descuido de quem publicou: uma imagem-base é um sistema de arquivos estático, sem serviço em execução, então ela não sabe que serviço vai rodar em cima dela e não tem como declarar uma sonda de saúde nem escolher o usuário. São achados estruturais, e é por isso que a taxa quase universal se sustenta enquanto as de segredo e malware não.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TERMOS Base: sistema de arquivos estático, sem código de aplicação e sem serviço rodando; a definição completa está no slide de abertura. Os três achados dominantes são os mesmos em quase toda imagem: falta do HEALTHCHECK, a sonda de saúde que o orquestrador usa para detectar um contêiner doente; content trust desligado; e execução como root. Achado de configuração: aponta uma escolha de construção da imagem que aumenta risco, e não uma falha de software.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POR QUE O risco de mostrar 100% sozinho é a plateia sair achando que os publicadores são descuidados. A correção é a definição de base, e por isso ela está na MESMA tela, embaixo do número, e não numa tela à parte: o número em cima é o achado, o cartão embaixo é a razão. É o que este trabalho acrescenta: quem herda a base é que declara sonda de saúde e usuário.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SE PERGUNTAREM de onde sai o 100%, e qual imagem escapou: das 5.143 imagens com relatório, o Dockle e o Checkov rodaram os dois em 5.079, e TODAS as 5.079 têm achado de configuração. Em 62 nenhum dos dois deixou registro de execução, e em 2 só um rodou. A única imagem que passou por um dos dois e não teve achado é a do Photon: ali o Checkov rodou e não achou nada, mas o Dockle caiu com exit 125, erro do daemon do Docker no overlay2, mesma família da falha que derrubou o rockylinux 8.5. Contando quem rodou pelo menos um scanner, a taxa é 99,98%. Nenhuma imagem deste corpus foi declarada limpa pelos dois.</a:t>
            </a:r>
            <a:endParaRPr/>
          </a:p>
        </p:txBody>
      </p:sp>
      <p:sp>
        <p:nvSpPr>
          <p:cNvPr id="560" name="Google Shape;56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[20 s] FALA Para fechar: como estes resultados mudam a escolha e a medição de uma imagem-base.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Divisória da terceira e última seção.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Passar rápido.</a:t>
            </a:r>
            <a:endParaRPr/>
          </a:p>
        </p:txBody>
      </p:sp>
      <p:sp>
        <p:nvSpPr>
          <p:cNvPr id="573" name="Google Shape;573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4" name="Google Shape;584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[16 s] FALA A contribuição é um censo atual das imagens-base Linux do Docker Hub: 5.606 imagens de vinte distribuições sob catorze ferramentas, com o dataset por imagem publicado, para reanalisar sem repetir o scan.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Dataset por imagem: um registro por imagem com a saída de cada uma das catorze ferramentas, publicado junto ao artefato. Reanalisar: responder uma pergunta nova sobre os mesmos dados sem baixar nem varrer imagem nenhuma.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dataset é a parte do trabalho com vida mais longa, e por isso ele está na lista de contribuição e não em uma nota de rodapé: o scan levou semanas de máquina, e ninguém vai repeti-la para testar uma hipótese lateral. Se perguntarem o que há de novo em relação ao nosso trabalho anterior: lá o corpus era amostra aleatória do Hub inteiro com seis ferramentas; aqui é a população inteira das bases com catorze, e os eixos de segredo, malware e configuração são novos.</a:t>
            </a:r>
            <a:endParaRPr/>
          </a:p>
        </p:txBody>
      </p:sp>
      <p:sp>
        <p:nvSpPr>
          <p:cNvPr id="585" name="Google Shape;585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[12 s] FALA A evidência central: mais pacotes não implicam mais vulnerabilidade. A idade da imagem pesa mais que a contagem de pacotes, com beta zero vírgula quarenta e quatro contra zero vírgula quinze; e o tamanho aponta ao contrário. A popularidade, que saiu da tela, explica quase nada: beta menos zero vírgula zero sete.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Beta: o coeficiente padronizado, definido com calma no slide do achado central.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beta 0,44 contra 0,15 é o número que eu repito de propósito, porque é o mesmo do slide do achado central; a plateia ouvir duas vezes é o que faz ele grudar.</a:t>
            </a:r>
            <a:endParaRPr/>
          </a:p>
        </p:txBody>
      </p:sp>
      <p:sp>
        <p:nvSpPr>
          <p:cNvPr id="595" name="Google Shape;595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[21 s] FALA O impacto prático é como se escolhe uma base: pela data da última reconstrução e por a distribuição ainda ter suporte, não por ela ser pequena ou popular. E medindo com scanners combinados, porque a concordância máxima entre dois scanners foi 0,36.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Reconstrução recente: quantos dias faz que aquele digest foi construído pela última vez. Com suporte: a distribuição ainda publica correção para aquela versão, que é o oposto de estar fora de suporte.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que eu NÃO digo, e é verdade, é que a recomendação de combinar scanners custa tempo de máquina: se alguém perguntar o preço, a resposta é que rodar Trivy e Grype juntos é barato perto de rodar os quatro, e é o par que mais concorda, então é o ponto de partida razoável.</a:t>
            </a:r>
            <a:endParaRPr/>
          </a:p>
        </p:txBody>
      </p:sp>
      <p:sp>
        <p:nvSpPr>
          <p:cNvPr id="605" name="Google Shape;605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[10 s] FALA Os limites: o corpus é só a categoria de sistemas operacionais do Docker Hub, em linux/amd64; e os achados de pacote não foram conferidos à mão, só segredo e malware passaram.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Conferir à mão: abrir cada achado e decidir se é verdadeiro ou falso positivo.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Dizer os limites em voz alta, antes da rodada de perguntas, é a diferença entre parecer honesto e parecer pego. Os três que estão aqui são os que um revisor levantaria. Se perguntarem o que eu faria diferente com mais tempo: adjudicação de uma amostra de achados de pacote, que é o único eixo sem validação humana neste trabalho.</a:t>
            </a:r>
            <a:endParaRPr/>
          </a:p>
        </p:txBody>
      </p:sp>
      <p:sp>
        <p:nvSpPr>
          <p:cNvPr id="615" name="Google Shape;615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7" name="Google Shape;627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[21 s] FALA O CTA, Comitê de Artefatos, avalia o artefato de cada trabalho aceito, em processo separado da revisão do artigo, e concede até quatro selos: Artefatos Disponíveis, Funcionais, Sustentáveis e Experimentos Reprodutíveis. Este trabalho recebeu os quatro. Na prática, os números que eu mostrei foram recomputados por outra pessoa, do zero, sem a minha ajuda.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Artefatos Disponíveis: pede repositório público e estável, com documentação mínima ligando o artefato ao artigo. Artefatos Funcionais: exige que o avaliador consiga instalar, executar e ver a funcionalidade descrita. Artefatos Sustentáveis: cobra código modularizado, legível e documentado, a ponto de o avaliador achar no código as reivindicações do artigo. Experimentos Reprodutíveis: exige que o avaliador recompute os números do artigo a partir do repositório.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 selo mais caro dos quatro é o de reprodutibilidade, e é o que sustenta tudo que eu disse nos vinte minutos anteriores: outra pessoa rodou o pipeline e chegou aos mesmos 5.606, 5.142 e 0,36. Se perguntarem quanto custa reproduzir: o artefato tem um caminho curto, que recomputa as análises a partir do dataset publicado em minutos, e um caminho longo, que refaz o scan e leva semanas.</a:t>
            </a:r>
            <a:endParaRPr/>
          </a:p>
        </p:txBody>
      </p:sp>
      <p:sp>
        <p:nvSpPr>
          <p:cNvPr id="628" name="Google Shape;628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8" name="Google Shape;638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[10 s] FALA Obrigado. Os dois QR levam ao artefato, com o pipeline e o dataset por imagem, e ao site do laboratório. Fico à disposição para as perguntas.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Artefato: o repositório público com o pipeline, as versões fixadas das catorze ferramentas, o dataset por imagem e os scripts que recomputam cada número do artigo.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QR estão grandes, 1,90 polegada de lado, porque QR pequeno projetado não lê do fundo da sala, e ler é o único propósito deles. A arte de fundo que havia neste slide saiu: ela competia com o QR e obrigava uma placa branca por baixo do número do slide. Deixar o slide de contato no ar durante as perguntas é de propósito: quem quiser o link tem os vinte minutos da discussão para fotografar.</a:t>
            </a:r>
            <a:endParaRPr/>
          </a:p>
        </p:txBody>
      </p:sp>
      <p:sp>
        <p:nvSpPr>
          <p:cNvPr id="639" name="Google Shape;639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Divisória. Não mostrar na apresentação; só se perguntarem.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Nenhum.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Os cinco slides seguintes cobrem as perguntas que já foram feitas em ensaio: a lista completa por distribuição, se os números estão inflados pela sobreposição entre scanners, o limite do achado central dentro de cada distribuição, como a validação manual foi feita e o que o trabalho não sustenta.</a:t>
            </a:r>
            <a:endParaRPr/>
          </a:p>
        </p:txBody>
      </p:sp>
      <p:sp>
        <p:nvSpPr>
          <p:cNvPr id="665" name="Google Shape;665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4" name="Google Shape;674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As quatro distribuições com mais achados, em média de críticas e altas por imagem. Debian 329, sobre 2.641 imagens e com desvio padrão de 375. CentOS 206, mas sobre dez imagens só, então é estimativa frágil. OracleLinux 190, Photon 174.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n: quantas imagens daquela distribuição entraram na média. dp: desvio padrão das contagens dentro daquela distribuição.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Este slide e os dois seguintes existem para a pergunta 'e a distribuição X?'. Eu mostro n e desvio padrão junto porque a pergunta seguinte é sempre sobre confiança no número, e no caso do CentOS e do Debian a resposta está no próprio slide: dez imagens é pouco, e desvio maior que a média quer dizer que a média descreve mal o caso típico. Era uma tela só com dez linhas a 18 pt; virou três a 27 pt.</a:t>
            </a:r>
            <a:endParaRPr/>
          </a:p>
        </p:txBody>
      </p:sp>
      <p:sp>
        <p:nvSpPr>
          <p:cNvPr id="675" name="Google Shape;675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Mais quatro. AmazonLinux 160. RockyLinux 128, medido no repositório oficial library/rockylinux, porque ele é publicado em dois namespaces e eu uso o oficial. Alpine 84, Ubuntu 79.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Namespace: o prefixo do repositório. library é o das imagens oficiais do Docker Hub; o mesmo rockylinux também é publicado sob o namespace do projeto.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regra de desempate entre namespaces é declarada no artigo e vale a pena dizer se perguntarem: quando a mesma distribuição aparece em dois repositórios, a média usa o oficial. Sem essa regra o rockylinux entraria duas vezes e pesaria o dobro na comparação entre distribuições.</a:t>
            </a:r>
            <a:endParaRPr/>
          </a:p>
        </p:txBody>
      </p:sp>
      <p:sp>
        <p:nvSpPr>
          <p:cNvPr id="698" name="Google Shape;698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7" name="Google Shape;717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As duas últimas. AlmaLinux 69, Archlinux 28. E as que sobraram, Fedora, Kali, Mageia e Tumbleweed, têm poucas imagens ou não reportam achado crítico nenhum.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Achado crítico ou alto: a classificação de severidade que o scanner atribui ao CVE, nas duas faixas mais graves da escala.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Fechar a lista completa das vinte distribuições evita a pergunta 'e as demais?' ficar sem resposta: a resposta é que a maioria delas tem poucas imagens ou nenhum achado crítico registrado.</a:t>
            </a:r>
            <a:endParaRPr/>
          </a:p>
        </p:txBody>
      </p:sp>
      <p:sp>
        <p:nvSpPr>
          <p:cNvPr id="718" name="Google Shape;718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3" name="Google Shape;733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A resposta para 'esses números não estão inflados?'. Somando o que os quatro motores reportam, são 1.025.210 pares imagem-CVE. Contando cada CVE uma vez por imagem, são 710.739. A razão entre os dois é 1,44, que é a inflação por sobreposição. A correlação de Spearman entre as duas contagens é 0,86, ou seja, o ranqueamento das distribuições quase não muda; e a RQ3, a da concordância, usa os pares deduplicados.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Par somado: cada motor contribui com os seus pares, e o mesmo par contado por dois motores entra duas vezes. Par deduplicado: cada combinação de imagem e CVE entra uma vez, independentemente de quantos motores a reportaram. Inflação: a razão entre a contagem somada e a deduplicada.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Esta é a checagem de sanidade do trabalho inteiro e está na seção de metodologia, no parágrafo de contagem. Se a inflação fosse alta e a correlação baixa, todos os rankings do artigo dependeriam da escolha de contagem, e o trabalho seria frágil. Com 1,44 e 0,86 a escolha muda a magnitude e não a ordem, o que é o que os slides afirmam.</a:t>
            </a:r>
            <a:endParaRPr/>
          </a:p>
        </p:txBody>
      </p:sp>
      <p:sp>
        <p:nvSpPr>
          <p:cNvPr id="734" name="Google Shape;734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Este é o limite do achado central, e eu prefiro mostrá-lo do que ser pego por ele. Dentro de distribuições específicas o número de pacotes assume: no Ubuntu o coeficiente é 0,53 e no AlmaLinux 0,65, bem acima do 0,15 agregado. O que domina o resultado agregado é a variação ENTRE distribuições, não dentro delas. Os dois exemplos concretos: o BusyBox tem um pacote e um punhado de achados, e o Debian carrega centenas de críticas com menos pacotes que o Mageia.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Efeito agregado: o coeficiente estimado sobre as 5.142 imagens de todas as distribuições juntas. Efeito dentro do grupo: o mesmo coeficiente estimado só sobre as imagens de uma distribuição. Paradoxo de Simpson é o nome geral do fenômeno de o sinal dentro dos grupos diferir do sinal no agregado.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explicação mecânica, se pedirem: a carga de vulnerabilidade é governada mais pela cobertura de avisos da distribuição e pela cadência com que ela publica correção do que pelo tamanho da imagem. Distribuição que documenta bem dá mais o que casar ao scanner; distribuição que corrige devagar deixa mais aberto. Dentro de uma mesma distribuição essas duas coisas são constantes, e aí sobra o número de pacotes para explicar a variação, que é exatamente o que os betas de 0,53 e 0,65 mostram.</a:t>
            </a:r>
            <a:endParaRPr/>
          </a:p>
        </p:txBody>
      </p:sp>
      <p:sp>
        <p:nvSpPr>
          <p:cNvPr id="754" name="Google Shape;754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0" name="Google Shape;770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Como a validação manual foi feita, em detalhe. Duas amostras estratificadas, com semente fixa 42 para que o sorteio seja refazível: 1.100 das 26.892 detecções de segredo e 1.100 das 13.348 correspondências do YARA-Hunter. Cada item foi rotulado à mão. Todas falsas nos dois eixos, e o limite superior de Wilson para a taxa de verdadeiros é 0,35%. O censo final tem 44.339 detecções de segredo e 20.157 do YARA.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Estratificar: sortear dentro de cada fatia, aqui por distribuição e por detector, para que nenhuma fatia fique de fora da amostra. Semente 42: a inicialização do sorteador, publicada no artefato. Limite superior de Wilson: o topo do intervalo de confiança de uma proporção, calculado por um método que continua válido quando a contagem observada é zero.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 diferença entre os números da amostra e os do censo final é de execução: as amostras saíram de uma passada anterior do pipeline, com 26.892 e 13.348, e o censo final, com mais imagens processadas, chegou a 44.339 e 20.157. Eu digo isso explicitamente porque a diferença é visível para quem ler o artigo e o artefato lado a lado, e omiti-la pareceria descuido. O que ela não muda é a conclusão: a amostra é representativa da mesma população de detecções.</a:t>
            </a:r>
            <a:endParaRPr/>
          </a:p>
        </p:txBody>
      </p:sp>
      <p:sp>
        <p:nvSpPr>
          <p:cNvPr id="771" name="Google Shape;771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7" name="Google Shape;787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O que o trabalho NÃO sustenta, item a item. Repositório pequeno dá tendência e não estimativa apertada, e o CentOS com dez imagens é o exemplo. O corpus é só a categoria de sistemas operacionais do Docker Hub, em linux/amd64, então nada aqui fala de imagem de aplicação nem de arm64. Os achados de pacote não foram conferidos à mão, só os de segredo e de malware passaram. E tags flutuantes mais bases de aviso que mudam toda semana impedem replay exato: quem rodar de novo daqui a um ano não vai obter os mesmos números.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Tag flutuante: tag que passa a apontar para outro digest quando a imagem é reconstruída, latest sendo o caso óbvio. Replay exato: obter os mesmos números rodando o mesmo pipeline outra vez. Adjudicação manual: rotular cada achado à mão para decidir se é verdadeiro.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Antecipar limitação reduz pergunta hostil, e este slide existe para ser mostrado no meio da discussão, não durante a fala. O ponto que fecha, e que eu digo se a discussão azedar, é que nenhuma afirmação do deck depende de um único scanner: as conclusões de idade, tamanho e popularidade vêm de regressão sobre pares deduplicados dos quatro motores, e a conclusão sobre segredo e malware vem de rotulagem humana, não de contagem de ferramenta. O que fica dependente de scanner é a magnitude absoluta das contagens, e é justamente sobre ela que eu não faço afirmação forte.</a:t>
            </a:r>
            <a:endParaRPr/>
          </a:p>
        </p:txBody>
      </p:sp>
      <p:sp>
        <p:nvSpPr>
          <p:cNvPr id="788" name="Google Shape;788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Quantas das 5.142 imagens cada ferramenta conseguiu analisar. Estas sete rodaram em praticamente todas: o que falta são duas ou três imagens em que o daemon do Docker não conseguiu montar o sistema de arquivos. O Grype não perdeu nenhuma.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Rodou: execução com status ok, ok-cached ou nonzero-ok no banco do pipeline, work/os.db. Falhou: o complemento sobre as 5.142 imagens do corpus analisado.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Este slide existe porque a pergunta ‘a bateria toda rodou em tudo?’ é honesta e a resposta é não. O que sustenta as conclusões do trabalho não depende das quatro ferramentas com perda alta: os eixos de segredo e de malware saem de ferramentas que rodaram em 5.140, e a regressão usa pares deduplicados dos quatro motores de vulnerabilidade.</a:t>
            </a:r>
            <a:endParaRPr/>
          </a:p>
        </p:txBody>
      </p:sp>
      <p:sp>
        <p:nvSpPr>
          <p:cNvPr id="805" name="Google Shape;805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4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Quantas das 5.142 imagens cada ferramenta conseguiu analisar. Aqui estão as que perderam imagem de verdade. Syft, Dockle e cdxgen perdem três ou quatro; Trivy perde 128; o OSV-Scanner perde um quinto; o Clair perde mais da metade; e o Whispers perde três quartos. Os quatro últimos têm um slide cada com o motivo.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TERMOS Rodou: execução com status ok, ok-cached ou nonzero-ok no banco do pipeline, work/os.db. Falhou: o complemento sobre as 5.142 imagens do corpus analisado.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Este slide existe porque a pergunta ‘a bateria toda rodou em tudo?’ é honesta e a resposta é não. O que sustenta as conclusões do trabalho não depende das quatro ferramentas com perda alta: os eixos de segredo e de malware saem de ferramentas que rodaram em 5.140, e a regressão usa pares deduplicados dos quatro motores de vulnerabilidade.</a:t>
            </a:r>
            <a:endParaRPr/>
          </a:p>
        </p:txBody>
      </p:sp>
      <p:sp>
        <p:nvSpPr>
          <p:cNvPr id="841" name="Google Shape;841;p4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6" name="Google Shape;876;p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O Whispers falhou em três quartos das imagens por um motivo que não é do corpus: a imagem multiscan/whispers:1 deixou de ser acessível no Docker Hub no meio da campanha. O erro é pull access denied, repository does not exist. As 1.294 que rodaram são as que pegaram a imagem ainda em cache local.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Isso não muda o eixo de segredos: TruffleHog, Gitleaks e detect-secrets rodaram em 5.140, e a taxa de 83,4% e a validação manual saem deles. O Whispers entrava como quarto detector de redundância.</a:t>
            </a:r>
            <a:endParaRPr/>
          </a:p>
        </p:txBody>
      </p:sp>
      <p:sp>
        <p:nvSpPr>
          <p:cNvPr id="877" name="Google Shape;877;p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8" name="Google Shape;888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O Clair falhou em mais da metade das imagens, e o motivo é de arquitetura da ferramenta: o clairctl resolve o manifesto direto no registro em vez de ler o tar local, então cada execução era uma consulta anônima ao Docker Hub. O erro é TOOMANYREQUESTS, limite de pull não autenticado.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Vale dizer em voz alta que essa perda é de método e tem conserto: bastaria autenticar o clairctl. Ela afeta a concordância entre scanners, que é resultado secundário, e não afeta as contagens mescladas, que já são conservadoras por construção.</a:t>
            </a:r>
            <a:endParaRPr/>
          </a:p>
        </p:txBody>
      </p:sp>
      <p:sp>
        <p:nvSpPr>
          <p:cNvPr id="889" name="Google Shape;889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0" name="Google Shape;900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O OSV-Scanner falhou num quinto das imagens com a mensagem no package sources found. Não é erro de infraestrutura: ele procura arquivo de dependência de linguagem, lockfile e manifesto, e imagem-base de sistema operacional muitas vezes não tem nenhum. Ele varreu o tar, não achou nada que soubesse ler, e saiu.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Esta é a única das quatro em que a perda é do ESCOPO da ferramenta e não de infraestrutura, e por isso ela é informativa: diz que um scanner de dependência de aplicação tem pouco a dizer sobre imagem-base.</a:t>
            </a:r>
            <a:endParaRPr/>
          </a:p>
        </p:txBody>
      </p:sp>
      <p:sp>
        <p:nvSpPr>
          <p:cNvPr id="901" name="Google Shape;901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2" name="Google Shape;912;p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O Trivy perdeu 128 imagens, e 122 delas pelo mesmo erro: unable to initialize cache, cache may be in use by another process. É contenção entre duas execuções paralelas no mesmo diretório de cache. As outras seis são a imagem do próprio Trivy que não baixou na hora.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É a falha mais fácil de corrigir das quatro, com um diretório de cache por trabalhador, e é a que menos pesa: 2,5% de perda mantém o Trivy como o motor com melhor cobertura entre os quatro de vulnerabilidade.</a:t>
            </a:r>
            <a:endParaRPr/>
          </a:p>
        </p:txBody>
      </p:sp>
      <p:sp>
        <p:nvSpPr>
          <p:cNvPr id="913" name="Google Shape;913;p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4" name="Google Shape;924;p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[reserva] FALA As outras dez ferramentas perderam entre zero e quatro imagens. O erro é sempre do daemon do Docker escrevendo no overlay2, mkdir ou write negado, que é pressão de disco na máquina, não defeito da ferramenta. As exceções são o Syft, com três source indeterminada, e o cdxgen, com quatro erros de node:fs.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POR QUE Perda nessa ordem de grandeza não move nenhum número do trabalho, e é por isso que ela não aparece no corpo do deck.</a:t>
            </a:r>
            <a:endParaRPr/>
          </a:p>
        </p:txBody>
      </p:sp>
      <p:sp>
        <p:nvSpPr>
          <p:cNvPr id="925" name="Google Shape;925;p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11" Type="http://schemas.openxmlformats.org/officeDocument/2006/relationships/image" Target="../media/image3.png"/><Relationship Id="rId10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11" Type="http://schemas.openxmlformats.org/officeDocument/2006/relationships/image" Target="../media/image27.png"/><Relationship Id="rId10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8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45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4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image" Target="../media/image4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jpg"/><Relationship Id="rId4" Type="http://schemas.openxmlformats.org/officeDocument/2006/relationships/image" Target="../media/image12.png"/><Relationship Id="rId11" Type="http://schemas.openxmlformats.org/officeDocument/2006/relationships/image" Target="../media/image33.png"/><Relationship Id="rId10" Type="http://schemas.openxmlformats.org/officeDocument/2006/relationships/image" Target="../media/image31.png"/><Relationship Id="rId12" Type="http://schemas.openxmlformats.org/officeDocument/2006/relationships/image" Target="../media/image32.png"/><Relationship Id="rId9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44.png"/><Relationship Id="rId8" Type="http://schemas.openxmlformats.org/officeDocument/2006/relationships/image" Target="../media/image3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9171432" y="3840480"/>
            <a:ext cx="6035040" cy="603504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902952" y="4572000"/>
            <a:ext cx="4572000" cy="457200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634472" y="5303520"/>
            <a:ext cx="3108960" cy="3108960"/>
          </a:xfrm>
          <a:prstGeom prst="ellipse">
            <a:avLst/>
          </a:prstGeom>
          <a:noFill/>
          <a:ln cap="flat" cmpd="sng" w="19050">
            <a:solidFill>
              <a:srgbClr val="142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58368" y="347472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8AB0FF"/>
                </a:solidFill>
                <a:latin typeface="Inter"/>
                <a:ea typeface="Inter"/>
                <a:cs typeface="Inter"/>
                <a:sym typeface="Inter"/>
              </a:rPr>
              <a:t>SBSEG 2026  ·  BÚZIOS, RJ  ·  1 A 4 DE SETEMBRO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58368" y="822960"/>
            <a:ext cx="8503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OSCensus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8368" y="1847088"/>
            <a:ext cx="8503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Um censo com múltiplos scanners das imagens-base Linux do Docker 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58368" y="4041648"/>
            <a:ext cx="1463040" cy="54864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658368" y="4187952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Cristhian Kapelinski  ·  Diego Kreutz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58368" y="4645152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D9E5FC"/>
                </a:solidFill>
                <a:latin typeface="Inter"/>
                <a:ea typeface="Inter"/>
                <a:cs typeface="Inter"/>
                <a:sym typeface="Inter"/>
              </a:rPr>
              <a:t>AI Horizon Labs  ·  UNIPAMPA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58368" y="5102352"/>
            <a:ext cx="8503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AB0FF"/>
                </a:solidFill>
                <a:latin typeface="Inter"/>
                <a:ea typeface="Inter"/>
                <a:cs typeface="Inter"/>
                <a:sym typeface="Inter"/>
              </a:rPr>
              <a:t>Trilha principal  ·  artigo curto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9720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2368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99" name="Google Shape;9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5016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100" name="Google Shape;10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56692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/>
          <p:nvPr/>
        </p:nvSpPr>
        <p:spPr>
          <a:xfrm>
            <a:off x="9189720" y="1463040"/>
            <a:ext cx="2340864" cy="2340864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.png" id="102" name="Google Shape;10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8320" y="2111049"/>
            <a:ext cx="1883664" cy="10448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ihorizonlabs.png" id="104" name="Google Shape;10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368" y="5888736"/>
            <a:ext cx="3442106" cy="8412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105" name="Google Shape;10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57674" y="5806440"/>
            <a:ext cx="1527386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.png" id="106" name="Google Shape;106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69715" y="5875020"/>
            <a:ext cx="1566070" cy="868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ff.png" id="107" name="Google Shape;107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19834" y="5861304"/>
            <a:ext cx="872836" cy="896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c.png" id="108" name="Google Shape;108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719" y="5843016"/>
            <a:ext cx="619040" cy="93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11402568" y="6364224"/>
            <a:ext cx="64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58368" y="201168"/>
            <a:ext cx="10908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58368" y="1371600"/>
            <a:ext cx="51389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92%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58368" y="2743200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dos profissionais de TI usam contêiner ·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11402568" y="6364224"/>
            <a:ext cx="64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58368" y="201168"/>
            <a:ext cx="109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391656" y="1371600"/>
            <a:ext cx="513892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8,3 milhões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391656" y="2743200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repositórios no Docker Hub · 2021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3" name="Google Shape;12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305" y="4389120"/>
            <a:ext cx="4973052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8135" y="4389120"/>
            <a:ext cx="4685968" cy="1097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t01.jpg"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627632"/>
            <a:ext cx="10469880" cy="3849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39" name="Google Shape;1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t02.jp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" y="1993392"/>
            <a:ext cx="10415016" cy="3337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O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640080" y="1828800"/>
            <a:ext cx="10908792" cy="1289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48.185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640080" y="3346704"/>
            <a:ext cx="10908792" cy="612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CVEs 2025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nte_gamblin.png"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8648" y="4974336"/>
            <a:ext cx="6400800" cy="1173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159" name="Google Shape;1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8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TRABALHOS RELACIONADOS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Ninguém juntou base e bateria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365760" y="1920240"/>
            <a:ext cx="55595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Família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6035040" y="1920240"/>
            <a:ext cx="22677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8412480" y="1920240"/>
            <a:ext cx="144475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9966960" y="1920240"/>
            <a:ext cx="1746503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65760" y="2468880"/>
            <a:ext cx="11347704" cy="27432"/>
          </a:xfrm>
          <a:prstGeom prst="rect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365760" y="2633472"/>
            <a:ext cx="55595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Censos de escala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6035040" y="2633472"/>
            <a:ext cx="226771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até 2,2 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8412480" y="2633472"/>
            <a:ext cx="14447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B22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9966960" y="2633472"/>
            <a:ext cx="1746503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B22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365760" y="3529584"/>
            <a:ext cx="55595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Comparação de scanners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 txBox="1"/>
          <p:nvPr/>
        </p:nvSpPr>
        <p:spPr>
          <a:xfrm>
            <a:off x="6035040" y="3529584"/>
            <a:ext cx="226771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até 52.895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8412480" y="3529584"/>
            <a:ext cx="14447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B22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9966960" y="3529584"/>
            <a:ext cx="1746503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7A33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365760" y="4425696"/>
            <a:ext cx="55595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Foco na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6035040" y="4425696"/>
            <a:ext cx="226771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261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8412480" y="4425696"/>
            <a:ext cx="14447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7A33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9966960" y="4425696"/>
            <a:ext cx="1746503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1B22"/>
                </a:solidFill>
                <a:latin typeface="Inter"/>
                <a:ea typeface="Inter"/>
                <a:cs typeface="Inter"/>
                <a:sym typeface="Inter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01168" y="5166360"/>
            <a:ext cx="11567159" cy="1005840"/>
          </a:xfrm>
          <a:prstGeom prst="roundRect">
            <a:avLst>
              <a:gd fmla="val 22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365760" y="5321808"/>
            <a:ext cx="55595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Este trabalho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6035040" y="5321808"/>
            <a:ext cx="226771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5.606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8412480" y="5321808"/>
            <a:ext cx="1444752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7A33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9966960" y="5321808"/>
            <a:ext cx="1746503" cy="8412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7A33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65760" y="3465576"/>
            <a:ext cx="11347704" cy="41148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4361688"/>
            <a:ext cx="11347704" cy="41148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5760" y="5257800"/>
            <a:ext cx="11347704" cy="41148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980176" y="1920240"/>
            <a:ext cx="41148" cy="4242816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357616" y="1920240"/>
            <a:ext cx="41148" cy="4242816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912096" y="1920240"/>
            <a:ext cx="41148" cy="4242816"/>
          </a:xfrm>
          <a:prstGeom prst="rect">
            <a:avLst/>
          </a:prstGeom>
          <a:solidFill>
            <a:srgbClr val="3F6C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160520" y="868680"/>
            <a:ext cx="763524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3_justo.jpg" id="200" name="Google Shape;2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2004593"/>
            <a:ext cx="7086600" cy="284881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9"/>
          <p:cNvSpPr txBox="1"/>
          <p:nvPr/>
        </p:nvSpPr>
        <p:spPr>
          <a:xfrm>
            <a:off x="777240" y="1188720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777240" y="2487168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640080" y="1517904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3749039" y="1517904"/>
            <a:ext cx="7799831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distribuições · linux/amd64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640080" y="2907791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 txBox="1"/>
          <p:nvPr/>
        </p:nvSpPr>
        <p:spPr>
          <a:xfrm>
            <a:off x="3749039" y="2907791"/>
            <a:ext cx="7799831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repositórios · rockylinux usa dois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640080" y="4297679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5.606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3749039" y="4297679"/>
            <a:ext cx="7799831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imagens únicas na fila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23" name="Google Shape;2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 · EIXOS 1 A 3 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bateria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502920" y="1426464"/>
            <a:ext cx="11183112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 txBox="1"/>
          <p:nvPr/>
        </p:nvSpPr>
        <p:spPr>
          <a:xfrm>
            <a:off x="822960" y="1591056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Inventário de pacotes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10469880" y="1591056"/>
            <a:ext cx="621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yft.png" id="230" name="Google Shape;23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2139696"/>
            <a:ext cx="356945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1"/>
          <p:cNvSpPr txBox="1"/>
          <p:nvPr/>
        </p:nvSpPr>
        <p:spPr>
          <a:xfrm>
            <a:off x="1289633" y="2139696"/>
            <a:ext cx="122529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Syft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dxgen.png" id="232" name="Google Shape;2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657" y="213969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3209873" y="2139696"/>
            <a:ext cx="1755647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cdxgen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02920" y="3054096"/>
            <a:ext cx="11183112" cy="148132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822960" y="3218688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Vulnerabilidades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10469880" y="3218688"/>
            <a:ext cx="621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ivy.png" id="237" name="Google Shape;23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76732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 txBox="1"/>
          <p:nvPr/>
        </p:nvSpPr>
        <p:spPr>
          <a:xfrm>
            <a:off x="1408176" y="3767328"/>
            <a:ext cx="1490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ype.png" id="239" name="Google Shape;23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08375" y="3767328"/>
            <a:ext cx="314305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1"/>
          <p:cNvSpPr txBox="1"/>
          <p:nvPr/>
        </p:nvSpPr>
        <p:spPr>
          <a:xfrm>
            <a:off x="3432409" y="3767328"/>
            <a:ext cx="14904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Grype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sv-icon.png" id="241" name="Google Shape;24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32609" y="3767328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1"/>
          <p:cNvSpPr txBox="1"/>
          <p:nvPr/>
        </p:nvSpPr>
        <p:spPr>
          <a:xfrm>
            <a:off x="5617825" y="3767328"/>
            <a:ext cx="308152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OSV-Scanner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air.png" id="243" name="Google Shape;24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09081" y="3767328"/>
            <a:ext cx="1493329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502920" y="4681728"/>
            <a:ext cx="11183112" cy="1481328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 txBox="1"/>
          <p:nvPr/>
        </p:nvSpPr>
        <p:spPr>
          <a:xfrm>
            <a:off x="822960" y="4846320"/>
            <a:ext cx="90525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Configuração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10469880" y="4846320"/>
            <a:ext cx="621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ockle.png" id="247" name="Google Shape;24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2960" y="5394960"/>
            <a:ext cx="448687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1"/>
          <p:cNvSpPr txBox="1"/>
          <p:nvPr/>
        </p:nvSpPr>
        <p:spPr>
          <a:xfrm>
            <a:off x="1381375" y="5394960"/>
            <a:ext cx="1755647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Dockle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heckov.png" id="249" name="Google Shape;24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46751" y="5394960"/>
            <a:ext cx="2375582" cy="47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 · EIXOS 4 E 5 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bateria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21207" y="1545300"/>
            <a:ext cx="11183100" cy="21579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841247" y="1709893"/>
            <a:ext cx="90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Segredos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10488168" y="1709893"/>
            <a:ext cx="62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ufflehog.png" id="262" name="Google Shape;2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248" y="2258533"/>
            <a:ext cx="75285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 txBox="1"/>
          <p:nvPr/>
        </p:nvSpPr>
        <p:spPr>
          <a:xfrm>
            <a:off x="1703831" y="2258533"/>
            <a:ext cx="281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TruffleHog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itleaks.png" id="264" name="Google Shape;26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9912" y="2258532"/>
            <a:ext cx="529351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 txBox="1"/>
          <p:nvPr/>
        </p:nvSpPr>
        <p:spPr>
          <a:xfrm>
            <a:off x="5268991" y="2258533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Gitleaks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 txBox="1"/>
          <p:nvPr/>
        </p:nvSpPr>
        <p:spPr>
          <a:xfrm>
            <a:off x="841247" y="2935189"/>
            <a:ext cx="387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detect-secrets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hispers.png" id="267" name="Google Shape;2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8032" y="2935188"/>
            <a:ext cx="1134856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/>
        </p:nvSpPr>
        <p:spPr>
          <a:xfrm>
            <a:off x="6072616" y="2935189"/>
            <a:ext cx="22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Whispers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21207" y="3886165"/>
            <a:ext cx="11183100" cy="1481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 txBox="1"/>
          <p:nvPr/>
        </p:nvSpPr>
        <p:spPr>
          <a:xfrm>
            <a:off x="841247" y="4050757"/>
            <a:ext cx="905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Malware e IOC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10488168" y="4050757"/>
            <a:ext cx="62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amav.png" id="272" name="Google Shape;27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1248" y="459939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2"/>
          <p:cNvSpPr txBox="1"/>
          <p:nvPr/>
        </p:nvSpPr>
        <p:spPr>
          <a:xfrm>
            <a:off x="1426464" y="4599397"/>
            <a:ext cx="175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ClamAV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yara-hunter.png" id="274" name="Google Shape;27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91839" y="4599397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2"/>
          <p:cNvSpPr txBox="1"/>
          <p:nvPr/>
        </p:nvSpPr>
        <p:spPr>
          <a:xfrm>
            <a:off x="3877056" y="4599397"/>
            <a:ext cx="308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YARA-Hunter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tem cinco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365760" y="15544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658368" y="17739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1243584" y="18013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3657600" y="17830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tag até o digest 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65760" y="24688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658368" y="26883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1243584" y="27157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 txBox="1"/>
          <p:nvPr/>
        </p:nvSpPr>
        <p:spPr>
          <a:xfrm>
            <a:off x="3657600" y="26974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naquele digest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65760" y="33832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658368" y="36027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1243584" y="36301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3657600" y="36118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sistema de arquivos em um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65760" y="42976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658368" y="4517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1243584" y="45445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3657600" y="45262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tar com as catorze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365760" y="52120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658368" y="54315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1243584" y="54589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3657600" y="54406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saídas de cada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201168" y="1389888"/>
            <a:ext cx="11786615" cy="1188719"/>
          </a:xfrm>
          <a:prstGeom prst="roundRect">
            <a:avLst>
              <a:gd fmla="val 30000" name="adj"/>
            </a:avLst>
          </a:prstGeom>
          <a:noFill/>
          <a:ln cap="flat" cmpd="sng" w="2286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11" name="Google Shape;3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tem cinco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365760" y="15544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658368" y="17739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1243584" y="18013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3657600" y="17830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tag até o digest 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365760" y="24688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658368" y="26883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1243584" y="27157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3657600" y="26974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naquele digest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65760" y="33832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 txBox="1"/>
          <p:nvPr/>
        </p:nvSpPr>
        <p:spPr>
          <a:xfrm>
            <a:off x="658368" y="36027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1243584" y="36301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3657600" y="36118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sistema de arquivos em um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365760" y="42976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658368" y="4517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1243584" y="45445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 txBox="1"/>
          <p:nvPr/>
        </p:nvSpPr>
        <p:spPr>
          <a:xfrm>
            <a:off x="3657600" y="45262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tar com as catorze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65760" y="52120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658368" y="54315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1243584" y="54589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 txBox="1"/>
          <p:nvPr/>
        </p:nvSpPr>
        <p:spPr>
          <a:xfrm>
            <a:off x="3657600" y="54406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saídas de cada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201168" y="2304288"/>
            <a:ext cx="11786615" cy="1188719"/>
          </a:xfrm>
          <a:prstGeom prst="roundRect">
            <a:avLst>
              <a:gd fmla="val 30000" name="adj"/>
            </a:avLst>
          </a:prstGeom>
          <a:noFill/>
          <a:ln cap="flat" cmpd="sng" w="2286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41" name="Google Shape;3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5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tem cinco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365760" y="15544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 txBox="1"/>
          <p:nvPr/>
        </p:nvSpPr>
        <p:spPr>
          <a:xfrm>
            <a:off x="658368" y="17739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 txBox="1"/>
          <p:nvPr/>
        </p:nvSpPr>
        <p:spPr>
          <a:xfrm>
            <a:off x="1243584" y="18013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3657600" y="17830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tag até o digest 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365760" y="24688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658368" y="26883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1243584" y="27157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3657600" y="26974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naquele digest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65760" y="33832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658368" y="36027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1243584" y="36301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3657600" y="36118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sistema de arquivos em um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365760" y="42976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658368" y="4517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1243584" y="45445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 txBox="1"/>
          <p:nvPr/>
        </p:nvSpPr>
        <p:spPr>
          <a:xfrm>
            <a:off x="3657600" y="45262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tar com as catorze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365760" y="52120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 txBox="1"/>
          <p:nvPr/>
        </p:nvSpPr>
        <p:spPr>
          <a:xfrm>
            <a:off x="658368" y="54315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1243584" y="54589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3657600" y="54406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saídas de cada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201168" y="3218688"/>
            <a:ext cx="11786615" cy="1188719"/>
          </a:xfrm>
          <a:prstGeom prst="roundRect">
            <a:avLst>
              <a:gd fmla="val 30000" name="adj"/>
            </a:avLst>
          </a:prstGeom>
          <a:noFill/>
          <a:ln cap="flat" cmpd="sng" w="2286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371" name="Google Shape;37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6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tem cinco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365760" y="15544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658368" y="17739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1243584" y="18013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3657600" y="17830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tag até o digest 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365760" y="24688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6"/>
          <p:cNvSpPr txBox="1"/>
          <p:nvPr/>
        </p:nvSpPr>
        <p:spPr>
          <a:xfrm>
            <a:off x="658368" y="26883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 txBox="1"/>
          <p:nvPr/>
        </p:nvSpPr>
        <p:spPr>
          <a:xfrm>
            <a:off x="1243584" y="27157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3657600" y="26974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naquele digest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365760" y="33832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 txBox="1"/>
          <p:nvPr/>
        </p:nvSpPr>
        <p:spPr>
          <a:xfrm>
            <a:off x="658368" y="36027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1243584" y="36301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3657600" y="36118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sistema de arquivos em um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365760" y="42976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658368" y="4517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1243584" y="45445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 txBox="1"/>
          <p:nvPr/>
        </p:nvSpPr>
        <p:spPr>
          <a:xfrm>
            <a:off x="3657600" y="45262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tar com as catorze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365760" y="52120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658368" y="54315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 txBox="1"/>
          <p:nvPr/>
        </p:nvSpPr>
        <p:spPr>
          <a:xfrm>
            <a:off x="1243584" y="54589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 txBox="1"/>
          <p:nvPr/>
        </p:nvSpPr>
        <p:spPr>
          <a:xfrm>
            <a:off x="3657600" y="54406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saídas de cada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6"/>
          <p:cNvSpPr/>
          <p:nvPr/>
        </p:nvSpPr>
        <p:spPr>
          <a:xfrm>
            <a:off x="201168" y="4133088"/>
            <a:ext cx="11786615" cy="1188719"/>
          </a:xfrm>
          <a:prstGeom prst="roundRect">
            <a:avLst>
              <a:gd fmla="val 30000" name="adj"/>
            </a:avLst>
          </a:prstGeom>
          <a:noFill/>
          <a:ln cap="flat" cmpd="sng" w="2286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01" name="Google Shape;4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7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análise tem cinco etapas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365760" y="15544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658368" y="17739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1243584" y="18013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 txBox="1"/>
          <p:nvPr/>
        </p:nvSpPr>
        <p:spPr>
          <a:xfrm>
            <a:off x="3657600" y="17830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tag até o digest 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365760" y="24688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658368" y="26883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1243584" y="27157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Fixar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3657600" y="26974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naquele digest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365760" y="33832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7"/>
          <p:cNvSpPr txBox="1"/>
          <p:nvPr/>
        </p:nvSpPr>
        <p:spPr>
          <a:xfrm>
            <a:off x="658368" y="36027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 txBox="1"/>
          <p:nvPr/>
        </p:nvSpPr>
        <p:spPr>
          <a:xfrm>
            <a:off x="1243584" y="36301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Exportar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3657600" y="36118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sistema de arquivos em um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365760" y="42976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 txBox="1"/>
          <p:nvPr/>
        </p:nvSpPr>
        <p:spPr>
          <a:xfrm>
            <a:off x="658368" y="45171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1243584" y="45445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Analisar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3657600" y="45262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tar com as catorze ferramentas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365760" y="5212080"/>
            <a:ext cx="11457432" cy="859536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658368" y="5431536"/>
            <a:ext cx="4572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1243584" y="5458968"/>
            <a:ext cx="2331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Registrar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3657600" y="5440680"/>
            <a:ext cx="80467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as saídas de cada ferramenta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201168" y="5047488"/>
            <a:ext cx="11786615" cy="1188719"/>
          </a:xfrm>
          <a:prstGeom prst="roundRect">
            <a:avLst>
              <a:gd fmla="val 30000" name="adj"/>
            </a:avLst>
          </a:prstGeom>
          <a:noFill/>
          <a:ln cap="flat" cmpd="sng" w="228600">
            <a:solidFill>
              <a:srgbClr val="0E7C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31" name="Google Shape;4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8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640080" y="1627632"/>
            <a:ext cx="10908792" cy="104241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896112" y="1856232"/>
            <a:ext cx="103967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1×  Ryzen 5 8600G, 6 núcleos, 32 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640080" y="2834640"/>
            <a:ext cx="10908792" cy="1042415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896112" y="3063240"/>
            <a:ext cx="10396728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4×  Core i7-9700, 8 núcleos, 32 GB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3785034" y="4206240"/>
            <a:ext cx="16390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1240C8"/>
                </a:solidFill>
                <a:latin typeface="Space Grotesk"/>
                <a:ea typeface="Space Grotesk"/>
                <a:cs typeface="Space Grotesk"/>
                <a:sym typeface="Space Grotesk"/>
              </a:rPr>
              <a:t>147h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 txBox="1"/>
          <p:nvPr/>
        </p:nvSpPr>
        <p:spPr>
          <a:xfrm>
            <a:off x="5720315" y="4206240"/>
            <a:ext cx="6288499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de máquina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46" name="Google Shape;44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9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9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01 · CENSO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9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corpus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9"/>
          <p:cNvSpPr txBox="1"/>
          <p:nvPr/>
        </p:nvSpPr>
        <p:spPr>
          <a:xfrm>
            <a:off x="640080" y="164592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5.606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9"/>
          <p:cNvSpPr txBox="1"/>
          <p:nvPr/>
        </p:nvSpPr>
        <p:spPr>
          <a:xfrm>
            <a:off x="2651760" y="1609344"/>
            <a:ext cx="8897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imagens únicas na fila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9"/>
          <p:cNvSpPr txBox="1"/>
          <p:nvPr/>
        </p:nvSpPr>
        <p:spPr>
          <a:xfrm>
            <a:off x="2651760" y="2103120"/>
            <a:ext cx="88971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 txBox="1"/>
          <p:nvPr/>
        </p:nvSpPr>
        <p:spPr>
          <a:xfrm>
            <a:off x="640080" y="310896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9"/>
          <p:cNvSpPr txBox="1"/>
          <p:nvPr/>
        </p:nvSpPr>
        <p:spPr>
          <a:xfrm>
            <a:off x="2651760" y="3072384"/>
            <a:ext cx="8897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relatórios produzidos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9"/>
          <p:cNvSpPr txBox="1"/>
          <p:nvPr/>
        </p:nvSpPr>
        <p:spPr>
          <a:xfrm>
            <a:off x="2651760" y="3566160"/>
            <a:ext cx="88971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9"/>
          <p:cNvSpPr txBox="1"/>
          <p:nvPr/>
        </p:nvSpPr>
        <p:spPr>
          <a:xfrm>
            <a:off x="640080" y="4572000"/>
            <a:ext cx="2011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2651760" y="4535424"/>
            <a:ext cx="88971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imagens ficaram sem relatório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9"/>
          <p:cNvSpPr txBox="1"/>
          <p:nvPr/>
        </p:nvSpPr>
        <p:spPr>
          <a:xfrm>
            <a:off x="2651760" y="5029200"/>
            <a:ext cx="889711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465" name="Google Shape;4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0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160520" y="868680"/>
            <a:ext cx="763524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5_justo.jpg" id="468" name="Google Shape;4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1647901"/>
            <a:ext cx="7086600" cy="3562197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0"/>
          <p:cNvSpPr txBox="1"/>
          <p:nvPr/>
        </p:nvSpPr>
        <p:spPr>
          <a:xfrm>
            <a:off x="777240" y="1188720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0"/>
          <p:cNvSpPr txBox="1"/>
          <p:nvPr/>
        </p:nvSpPr>
        <p:spPr>
          <a:xfrm>
            <a:off x="777240" y="2487168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76" name="Google Shape;4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21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1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 base escolhida muda os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Média de críticas e altas por imagem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distro.png" id="480" name="Google Shape;4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337" y="1700784"/>
            <a:ext cx="10119020" cy="475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86" name="Google Shape;4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22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2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Imagem antiga acumula mais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2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Vulnerabilidades por faixa de 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idade.png" id="490" name="Google Shape;4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55" y="1700784"/>
            <a:ext cx="11639184" cy="475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496" name="Google Shape;4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3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3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3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Coeficiente padronizado de cada preditor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drivers_idade.png" id="500" name="Google Shape;5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387" y="2051800"/>
            <a:ext cx="11932920" cy="405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06" name="Google Shape;5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4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4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4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Coeficiente padronizado de cada preditor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drivers_pacotes.png" id="510" name="Google Shape;51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387" y="2051800"/>
            <a:ext cx="11932920" cy="405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16" name="Google Shape;5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25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5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Preditores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5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Coeficiente padronizado de cada preditor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drivers.png" id="520" name="Google Shape;5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387" y="2051800"/>
            <a:ext cx="11932920" cy="4052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26" name="Google Shape;5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26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6"/>
          <p:cNvSpPr txBox="1"/>
          <p:nvPr/>
        </p:nvSpPr>
        <p:spPr>
          <a:xfrm>
            <a:off x="640080" y="18288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Mais da metade, no centos e busybox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6"/>
          <p:cNvSpPr txBox="1"/>
          <p:nvPr/>
        </p:nvSpPr>
        <p:spPr>
          <a:xfrm>
            <a:off x="640080" y="1115568"/>
            <a:ext cx="1090879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Imagens que o Docker Engine atual recusa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_eol.png" id="530" name="Google Shape;53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398" y="1700784"/>
            <a:ext cx="10502897" cy="475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36" name="Google Shape;5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27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 scanners concordam pouco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7"/>
          <p:cNvSpPr txBox="1"/>
          <p:nvPr/>
        </p:nvSpPr>
        <p:spPr>
          <a:xfrm>
            <a:off x="1137782" y="2286000"/>
            <a:ext cx="177511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7"/>
          <p:cNvSpPr txBox="1"/>
          <p:nvPr/>
        </p:nvSpPr>
        <p:spPr>
          <a:xfrm>
            <a:off x="3201846" y="2286000"/>
            <a:ext cx="880696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Trivy e Grype, o par que mais concorda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7"/>
          <p:cNvSpPr txBox="1"/>
          <p:nvPr/>
        </p:nvSpPr>
        <p:spPr>
          <a:xfrm>
            <a:off x="2929075" y="3749039"/>
            <a:ext cx="271600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Space Grotesk"/>
                <a:ea typeface="Space Grotesk"/>
                <a:cs typeface="Space Grotesk"/>
                <a:sym typeface="Space Grotesk"/>
              </a:rPr>
              <a:t>0 a 0,13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883629" y="3749039"/>
            <a:ext cx="612518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 demais pares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48" name="Google Shape;5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28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8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02 · ACHADOS · SEGREDOS E MALWARE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 txBox="1"/>
          <p:nvPr/>
        </p:nvSpPr>
        <p:spPr>
          <a:xfrm>
            <a:off x="1417047" y="1828800"/>
            <a:ext cx="22188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83,4%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8"/>
          <p:cNvSpPr txBox="1"/>
          <p:nvPr/>
        </p:nvSpPr>
        <p:spPr>
          <a:xfrm>
            <a:off x="3901114" y="1828800"/>
            <a:ext cx="81077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imagens, positivo em segredo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 txBox="1"/>
          <p:nvPr/>
        </p:nvSpPr>
        <p:spPr>
          <a:xfrm>
            <a:off x="1384354" y="3200400"/>
            <a:ext cx="22188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84,7%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3868422" y="3200400"/>
            <a:ext cx="81403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imagens, positivo em malware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 txBox="1"/>
          <p:nvPr/>
        </p:nvSpPr>
        <p:spPr>
          <a:xfrm>
            <a:off x="1105469" y="4572000"/>
            <a:ext cx="443777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8"/>
          <p:cNvSpPr txBox="1"/>
          <p:nvPr/>
        </p:nvSpPr>
        <p:spPr>
          <a:xfrm>
            <a:off x="1909521" y="4572000"/>
            <a:ext cx="10251281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verdadeiros positivos em 1.100 revisões à mão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62" name="Google Shape;5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0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0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02 · ACHADOS · CONFIGURAÇÃO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0"/>
          <p:cNvSpPr txBox="1"/>
          <p:nvPr/>
        </p:nvSpPr>
        <p:spPr>
          <a:xfrm>
            <a:off x="640080" y="868680"/>
            <a:ext cx="10908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Dockle e Checkov acusam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0"/>
          <p:cNvSpPr txBox="1"/>
          <p:nvPr/>
        </p:nvSpPr>
        <p:spPr>
          <a:xfrm>
            <a:off x="640080" y="1536192"/>
            <a:ext cx="1090879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-US" sz="88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0"/>
          <p:cNvSpPr txBox="1"/>
          <p:nvPr/>
        </p:nvSpPr>
        <p:spPr>
          <a:xfrm>
            <a:off x="640080" y="3035808"/>
            <a:ext cx="1090879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das imagens em que rodaram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640080" y="3977639"/>
            <a:ext cx="10908792" cy="1874519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 txBox="1"/>
          <p:nvPr/>
        </p:nvSpPr>
        <p:spPr>
          <a:xfrm>
            <a:off x="868680" y="4224528"/>
            <a:ext cx="1045159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Uma imagem-base é um sistema de arquivos estático, sem serviço em execução.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576" name="Google Shape;57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1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4160520" y="868680"/>
            <a:ext cx="7635240" cy="51206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31750">
            <a:solidFill>
              <a:srgbClr val="D9E5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g07_justo.jpg" id="579" name="Google Shape;57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4840" y="1836877"/>
            <a:ext cx="7086600" cy="3184245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1"/>
          <p:cNvSpPr txBox="1"/>
          <p:nvPr/>
        </p:nvSpPr>
        <p:spPr>
          <a:xfrm>
            <a:off x="777240" y="1188720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777240" y="2487168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87" name="Google Shape;58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2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2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2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Contribuição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2"/>
          <p:cNvSpPr txBox="1"/>
          <p:nvPr/>
        </p:nvSpPr>
        <p:spPr>
          <a:xfrm>
            <a:off x="1005840" y="1956816"/>
            <a:ext cx="10177272" cy="3054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5.606 imagens-base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20 distribuições 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14 ferramentas, cinco eixos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Conjunto de dados publicado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597" name="Google Shape;5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3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3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3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3"/>
          <p:cNvSpPr txBox="1"/>
          <p:nvPr/>
        </p:nvSpPr>
        <p:spPr>
          <a:xfrm>
            <a:off x="1005840" y="2139696"/>
            <a:ext cx="101772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Idade pesa mais que pacotes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Tamanho aponta ao contrário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07" name="Google Shape;6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34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4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4"/>
          <p:cNvSpPr txBox="1"/>
          <p:nvPr/>
        </p:nvSpPr>
        <p:spPr>
          <a:xfrm>
            <a:off x="1005840" y="2322576"/>
            <a:ext cx="101772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Atualização recente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Inter"/>
                <a:ea typeface="Inter"/>
                <a:cs typeface="Inter"/>
                <a:sym typeface="Inter"/>
              </a:rPr>
              <a:t>•  </a:t>
            </a: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Tamanho e popularidade não predizem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4"/>
          <p:cNvSpPr txBox="1"/>
          <p:nvPr/>
        </p:nvSpPr>
        <p:spPr>
          <a:xfrm>
            <a:off x="658368" y="201168"/>
            <a:ext cx="1090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17" name="Google Shape;6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5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5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03 · 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5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Limitações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/>
          <p:nvPr/>
        </p:nvSpPr>
        <p:spPr>
          <a:xfrm>
            <a:off x="640080" y="249631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5"/>
          <p:cNvSpPr txBox="1"/>
          <p:nvPr/>
        </p:nvSpPr>
        <p:spPr>
          <a:xfrm>
            <a:off x="1042415" y="237744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linux/amd64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640080" y="368503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5"/>
          <p:cNvSpPr txBox="1"/>
          <p:nvPr/>
        </p:nvSpPr>
        <p:spPr>
          <a:xfrm>
            <a:off x="1042415" y="356616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Pacotes e vulnerabilidades não conferidos à mão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30" name="Google Shape;63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36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sponiveis.png" id="632" name="Google Shape;63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uncionais.png" id="633" name="Google Shape;63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4093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ustentaveis.png" id="634" name="Google Shape;63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9268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produziveis.png" id="635" name="Google Shape;635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37599" y="2116836"/>
            <a:ext cx="2761488" cy="2761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08_fecho.jpg" id="641" name="Google Shape;6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bseg2026_rodape.png" id="642" name="Google Shape;64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37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7"/>
          <p:cNvSpPr txBox="1"/>
          <p:nvPr/>
        </p:nvSpPr>
        <p:spPr>
          <a:xfrm>
            <a:off x="640080" y="914400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Obrigado!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37"/>
          <p:cNvSpPr txBox="1"/>
          <p:nvPr/>
        </p:nvSpPr>
        <p:spPr>
          <a:xfrm>
            <a:off x="640080" y="178308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Perguntas são bem-vindas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7"/>
          <p:cNvSpPr txBox="1"/>
          <p:nvPr/>
        </p:nvSpPr>
        <p:spPr>
          <a:xfrm>
            <a:off x="640080" y="2359152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AUTOR DE CONTATO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7"/>
          <p:cNvSpPr txBox="1"/>
          <p:nvPr/>
        </p:nvSpPr>
        <p:spPr>
          <a:xfrm>
            <a:off x="640080" y="2706624"/>
            <a:ext cx="603504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Cristhian Kapelinski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7"/>
          <p:cNvSpPr txBox="1"/>
          <p:nvPr/>
        </p:nvSpPr>
        <p:spPr>
          <a:xfrm>
            <a:off x="640080" y="3246120"/>
            <a:ext cx="11155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cristhianavila.aluno@unipampa.edu.br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horizonlabs.png" id="649" name="Google Shape;64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73" y="4078223"/>
            <a:ext cx="2619060" cy="64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pampa.png" id="650" name="Google Shape;65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75750" y="4005072"/>
            <a:ext cx="1374673" cy="90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r_artigo.png" id="651" name="Google Shape;651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0216" y="868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37"/>
          <p:cNvSpPr txBox="1"/>
          <p:nvPr/>
        </p:nvSpPr>
        <p:spPr>
          <a:xfrm>
            <a:off x="5751576" y="213055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Artigo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r_artefato.png" id="653" name="Google Shape;653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3296" y="868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37"/>
          <p:cNvSpPr txBox="1"/>
          <p:nvPr/>
        </p:nvSpPr>
        <p:spPr>
          <a:xfrm>
            <a:off x="7534656" y="213055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Artefato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qr_lab.png" id="655" name="Google Shape;655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96144" y="8686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37"/>
          <p:cNvSpPr txBox="1"/>
          <p:nvPr/>
        </p:nvSpPr>
        <p:spPr>
          <a:xfrm>
            <a:off x="9747504" y="2130552"/>
            <a:ext cx="2286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AI Horizon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621792" y="5029200"/>
            <a:ext cx="6492240" cy="76809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7"/>
          <p:cNvSpPr txBox="1"/>
          <p:nvPr/>
        </p:nvSpPr>
        <p:spPr>
          <a:xfrm>
            <a:off x="859536" y="522122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Apoio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es.png" id="659" name="Google Shape;659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82468" y="5212080"/>
            <a:ext cx="511063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npq.png" id="660" name="Google Shape;660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864321" y="5212080"/>
            <a:ext cx="1275329" cy="384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pergs.png" id="661" name="Google Shape;661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10440" y="5212080"/>
            <a:ext cx="2468210" cy="38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bseg2026_rodape_branco.png" id="668" name="Google Shape;66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38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8"/>
          <p:cNvSpPr txBox="1"/>
          <p:nvPr/>
        </p:nvSpPr>
        <p:spPr>
          <a:xfrm>
            <a:off x="777240" y="2651760"/>
            <a:ext cx="9144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Slides de 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8"/>
          <p:cNvSpPr txBox="1"/>
          <p:nvPr/>
        </p:nvSpPr>
        <p:spPr>
          <a:xfrm>
            <a:off x="777240" y="363931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AB0FF"/>
                </a:solidFill>
                <a:latin typeface="Inter"/>
                <a:ea typeface="Inter"/>
                <a:cs typeface="Inter"/>
                <a:sym typeface="Inter"/>
              </a:rPr>
              <a:t>Material de apoio: achados por distribuição, contagem e validações manuais.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677" name="Google Shape;67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9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9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Achados por distribuição (1 de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9"/>
          <p:cNvSpPr/>
          <p:nvPr/>
        </p:nvSpPr>
        <p:spPr>
          <a:xfrm>
            <a:off x="502920" y="1499616"/>
            <a:ext cx="11183112" cy="85953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868680" y="16093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Debian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9"/>
          <p:cNvSpPr txBox="1"/>
          <p:nvPr/>
        </p:nvSpPr>
        <p:spPr>
          <a:xfrm>
            <a:off x="5577840" y="159105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7406640" y="1645920"/>
            <a:ext cx="3931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 = 2.641 · dp 375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868680" y="254203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39"/>
          <p:cNvSpPr txBox="1"/>
          <p:nvPr/>
        </p:nvSpPr>
        <p:spPr>
          <a:xfrm>
            <a:off x="5577840" y="2523744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9"/>
          <p:cNvSpPr txBox="1"/>
          <p:nvPr/>
        </p:nvSpPr>
        <p:spPr>
          <a:xfrm>
            <a:off x="7406640" y="2578608"/>
            <a:ext cx="3931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 = 10, frágil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9"/>
          <p:cNvSpPr/>
          <p:nvPr/>
        </p:nvSpPr>
        <p:spPr>
          <a:xfrm>
            <a:off x="502920" y="3364991"/>
            <a:ext cx="11183112" cy="85953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9"/>
          <p:cNvSpPr txBox="1"/>
          <p:nvPr/>
        </p:nvSpPr>
        <p:spPr>
          <a:xfrm>
            <a:off x="868680" y="347472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OracleLinux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5577840" y="345643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9"/>
          <p:cNvSpPr txBox="1"/>
          <p:nvPr/>
        </p:nvSpPr>
        <p:spPr>
          <a:xfrm>
            <a:off x="868680" y="4407408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Photon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9"/>
          <p:cNvSpPr txBox="1"/>
          <p:nvPr/>
        </p:nvSpPr>
        <p:spPr>
          <a:xfrm>
            <a:off x="5577840" y="43891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174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502920" y="5386832"/>
            <a:ext cx="11183112" cy="922528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822960" y="5459984"/>
            <a:ext cx="10543032" cy="776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Média de achados críticos e altos por imagem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00" name="Google Shape;70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40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0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0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Achados por distribuição (2 de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0"/>
          <p:cNvSpPr/>
          <p:nvPr/>
        </p:nvSpPr>
        <p:spPr>
          <a:xfrm>
            <a:off x="502920" y="1499616"/>
            <a:ext cx="11183112" cy="85953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0"/>
          <p:cNvSpPr txBox="1"/>
          <p:nvPr/>
        </p:nvSpPr>
        <p:spPr>
          <a:xfrm>
            <a:off x="868680" y="16093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AmazonLinux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0"/>
          <p:cNvSpPr txBox="1"/>
          <p:nvPr/>
        </p:nvSpPr>
        <p:spPr>
          <a:xfrm>
            <a:off x="5577840" y="159105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40"/>
          <p:cNvSpPr txBox="1"/>
          <p:nvPr/>
        </p:nvSpPr>
        <p:spPr>
          <a:xfrm>
            <a:off x="868680" y="254203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RockyLinux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0"/>
          <p:cNvSpPr txBox="1"/>
          <p:nvPr/>
        </p:nvSpPr>
        <p:spPr>
          <a:xfrm>
            <a:off x="5577840" y="2523744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40"/>
          <p:cNvSpPr txBox="1"/>
          <p:nvPr/>
        </p:nvSpPr>
        <p:spPr>
          <a:xfrm>
            <a:off x="7406640" y="2578608"/>
            <a:ext cx="3931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library/rockylinux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0"/>
          <p:cNvSpPr/>
          <p:nvPr/>
        </p:nvSpPr>
        <p:spPr>
          <a:xfrm>
            <a:off x="502920" y="3364991"/>
            <a:ext cx="11183112" cy="85953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0"/>
          <p:cNvSpPr txBox="1"/>
          <p:nvPr/>
        </p:nvSpPr>
        <p:spPr>
          <a:xfrm>
            <a:off x="868680" y="347472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Alpine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40"/>
          <p:cNvSpPr txBox="1"/>
          <p:nvPr/>
        </p:nvSpPr>
        <p:spPr>
          <a:xfrm>
            <a:off x="5577840" y="345643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40"/>
          <p:cNvSpPr txBox="1"/>
          <p:nvPr/>
        </p:nvSpPr>
        <p:spPr>
          <a:xfrm>
            <a:off x="868680" y="4407408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Ubuntu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5577840" y="4389120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20" name="Google Shape;72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1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1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1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Achados por distribuição (3 de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1"/>
          <p:cNvSpPr/>
          <p:nvPr/>
        </p:nvSpPr>
        <p:spPr>
          <a:xfrm>
            <a:off x="502920" y="1499616"/>
            <a:ext cx="11183112" cy="859536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1"/>
          <p:cNvSpPr txBox="1"/>
          <p:nvPr/>
        </p:nvSpPr>
        <p:spPr>
          <a:xfrm>
            <a:off x="868680" y="16093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AlmaLinux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1"/>
          <p:cNvSpPr txBox="1"/>
          <p:nvPr/>
        </p:nvSpPr>
        <p:spPr>
          <a:xfrm>
            <a:off x="5577840" y="1591056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1"/>
          <p:cNvSpPr txBox="1"/>
          <p:nvPr/>
        </p:nvSpPr>
        <p:spPr>
          <a:xfrm>
            <a:off x="868680" y="254203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Archlinux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1"/>
          <p:cNvSpPr txBox="1"/>
          <p:nvPr/>
        </p:nvSpPr>
        <p:spPr>
          <a:xfrm>
            <a:off x="5577840" y="2523744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1"/>
          <p:cNvSpPr/>
          <p:nvPr/>
        </p:nvSpPr>
        <p:spPr>
          <a:xfrm>
            <a:off x="502920" y="5074920"/>
            <a:ext cx="11183112" cy="9601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1"/>
          <p:cNvSpPr txBox="1"/>
          <p:nvPr/>
        </p:nvSpPr>
        <p:spPr>
          <a:xfrm>
            <a:off x="822960" y="5148072"/>
            <a:ext cx="10543032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Fedora, Kali, Mageia e Tumbleweed quase não têm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36" name="Google Shape;73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2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2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2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contamos as vulnerabilidades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2"/>
          <p:cNvSpPr txBox="1"/>
          <p:nvPr/>
        </p:nvSpPr>
        <p:spPr>
          <a:xfrm>
            <a:off x="640080" y="160020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1.025.210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2"/>
          <p:cNvSpPr txBox="1"/>
          <p:nvPr/>
        </p:nvSpPr>
        <p:spPr>
          <a:xfrm>
            <a:off x="3931920" y="1563624"/>
            <a:ext cx="76169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pares somados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2"/>
          <p:cNvSpPr txBox="1"/>
          <p:nvPr/>
        </p:nvSpPr>
        <p:spPr>
          <a:xfrm>
            <a:off x="3931920" y="2057400"/>
            <a:ext cx="76169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Soma dos motores, com severidade.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2"/>
          <p:cNvSpPr txBox="1"/>
          <p:nvPr/>
        </p:nvSpPr>
        <p:spPr>
          <a:xfrm>
            <a:off x="640080" y="292608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710.739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2"/>
          <p:cNvSpPr txBox="1"/>
          <p:nvPr/>
        </p:nvSpPr>
        <p:spPr>
          <a:xfrm>
            <a:off x="3931920" y="2889504"/>
            <a:ext cx="76169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pares deduplicados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2"/>
          <p:cNvSpPr txBox="1"/>
          <p:nvPr/>
        </p:nvSpPr>
        <p:spPr>
          <a:xfrm>
            <a:off x="3931920" y="3383280"/>
            <a:ext cx="76169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Cada CVE, uma vez por imagem.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2"/>
          <p:cNvSpPr txBox="1"/>
          <p:nvPr/>
        </p:nvSpPr>
        <p:spPr>
          <a:xfrm>
            <a:off x="640080" y="4251960"/>
            <a:ext cx="3291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0,86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2"/>
          <p:cNvSpPr txBox="1"/>
          <p:nvPr/>
        </p:nvSpPr>
        <p:spPr>
          <a:xfrm>
            <a:off x="3931920" y="4215384"/>
            <a:ext cx="7616952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 correlação de Spearman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2"/>
          <p:cNvSpPr txBox="1"/>
          <p:nvPr/>
        </p:nvSpPr>
        <p:spPr>
          <a:xfrm>
            <a:off x="3931920" y="4709160"/>
            <a:ext cx="76169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 ranqueamento quase não muda.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2"/>
          <p:cNvSpPr/>
          <p:nvPr/>
        </p:nvSpPr>
        <p:spPr>
          <a:xfrm>
            <a:off x="502920" y="5230368"/>
            <a:ext cx="11183112" cy="9601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2"/>
          <p:cNvSpPr txBox="1"/>
          <p:nvPr/>
        </p:nvSpPr>
        <p:spPr>
          <a:xfrm>
            <a:off x="822960" y="5303520"/>
            <a:ext cx="10543032" cy="813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1,44 vez de inflação por sobreposição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56" name="Google Shape;7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3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3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3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Dentro da distribuição, pacotes importam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43"/>
          <p:cNvSpPr/>
          <p:nvPr/>
        </p:nvSpPr>
        <p:spPr>
          <a:xfrm>
            <a:off x="640080" y="190195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3"/>
          <p:cNvSpPr txBox="1"/>
          <p:nvPr/>
        </p:nvSpPr>
        <p:spPr>
          <a:xfrm>
            <a:off x="1042415" y="1783080"/>
            <a:ext cx="1050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No Ubuntu o coeficiente de pacotes é 0,53; no AlmaLinux, 0,65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640080" y="299923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3"/>
          <p:cNvSpPr txBox="1"/>
          <p:nvPr/>
        </p:nvSpPr>
        <p:spPr>
          <a:xfrm>
            <a:off x="1042415" y="2880360"/>
            <a:ext cx="1050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É a variação ENTRE distribuições que domina o agregado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640080" y="4096511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43"/>
          <p:cNvSpPr txBox="1"/>
          <p:nvPr/>
        </p:nvSpPr>
        <p:spPr>
          <a:xfrm>
            <a:off x="1042415" y="3977639"/>
            <a:ext cx="1050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BusyBox: um pacote e um punhado de achados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640080" y="519379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3"/>
          <p:cNvSpPr txBox="1"/>
          <p:nvPr/>
        </p:nvSpPr>
        <p:spPr>
          <a:xfrm>
            <a:off x="1042415" y="5074920"/>
            <a:ext cx="1050645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Debian: mais críticas que o Mageia, com menos pacotes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73" name="Google Shape;77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44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4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44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Como as detecções foram validadas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4"/>
          <p:cNvSpPr/>
          <p:nvPr/>
        </p:nvSpPr>
        <p:spPr>
          <a:xfrm>
            <a:off x="640080" y="158191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4"/>
          <p:cNvSpPr txBox="1"/>
          <p:nvPr/>
        </p:nvSpPr>
        <p:spPr>
          <a:xfrm>
            <a:off x="1042415" y="146304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Amostras estratificadas de semente fixa (semente 42)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4"/>
          <p:cNvSpPr/>
          <p:nvPr/>
        </p:nvSpPr>
        <p:spPr>
          <a:xfrm>
            <a:off x="640080" y="277063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4"/>
          <p:cNvSpPr txBox="1"/>
          <p:nvPr/>
        </p:nvSpPr>
        <p:spPr>
          <a:xfrm>
            <a:off x="1042415" y="265176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1.100 de 26.892 detecções de segredo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4"/>
          <p:cNvSpPr/>
          <p:nvPr/>
        </p:nvSpPr>
        <p:spPr>
          <a:xfrm>
            <a:off x="640080" y="395935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4"/>
          <p:cNvSpPr txBox="1"/>
          <p:nvPr/>
        </p:nvSpPr>
        <p:spPr>
          <a:xfrm>
            <a:off x="1042415" y="384048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1.100 de 13.348 correspondências do YARA-Hunter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640080" y="514807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4"/>
          <p:cNvSpPr txBox="1"/>
          <p:nvPr/>
        </p:nvSpPr>
        <p:spPr>
          <a:xfrm>
            <a:off x="1042415" y="502920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Todas falsas nos dois eixos; limite de Wilson de 0,35%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790" name="Google Shape;7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5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5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 que o trabalho não sustenta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5"/>
          <p:cNvSpPr/>
          <p:nvPr/>
        </p:nvSpPr>
        <p:spPr>
          <a:xfrm>
            <a:off x="640080" y="158191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5"/>
          <p:cNvSpPr txBox="1"/>
          <p:nvPr/>
        </p:nvSpPr>
        <p:spPr>
          <a:xfrm>
            <a:off x="1042415" y="146304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Repositório pequeno dá tendência, não estimativa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5"/>
          <p:cNvSpPr/>
          <p:nvPr/>
        </p:nvSpPr>
        <p:spPr>
          <a:xfrm>
            <a:off x="640080" y="277063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5"/>
          <p:cNvSpPr txBox="1"/>
          <p:nvPr/>
        </p:nvSpPr>
        <p:spPr>
          <a:xfrm>
            <a:off x="1042415" y="265176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Só sistemas operacionais, em linux/amd64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640080" y="395935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5"/>
          <p:cNvSpPr txBox="1"/>
          <p:nvPr/>
        </p:nvSpPr>
        <p:spPr>
          <a:xfrm>
            <a:off x="1042415" y="384048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Os achados de pacote não foram conferidos à mão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640080" y="5148072"/>
            <a:ext cx="173736" cy="173736"/>
          </a:xfrm>
          <a:prstGeom prst="ellipse">
            <a:avLst/>
          </a:prstGeom>
          <a:solidFill>
            <a:srgbClr val="256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5"/>
          <p:cNvSpPr txBox="1"/>
          <p:nvPr/>
        </p:nvSpPr>
        <p:spPr>
          <a:xfrm>
            <a:off x="1042415" y="5029200"/>
            <a:ext cx="1050645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Tags flutuantes e bases atualizadas impedem replay exato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807" name="Google Shape;80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46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6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6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Quanto cada ferramenta rodou (1 de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6"/>
          <p:cNvSpPr txBox="1"/>
          <p:nvPr/>
        </p:nvSpPr>
        <p:spPr>
          <a:xfrm>
            <a:off x="5760720" y="11887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Rodou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46"/>
          <p:cNvSpPr txBox="1"/>
          <p:nvPr/>
        </p:nvSpPr>
        <p:spPr>
          <a:xfrm>
            <a:off x="8412480" y="1188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Falhou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6"/>
          <p:cNvSpPr/>
          <p:nvPr/>
        </p:nvSpPr>
        <p:spPr>
          <a:xfrm>
            <a:off x="502920" y="1673352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46"/>
          <p:cNvSpPr txBox="1"/>
          <p:nvPr/>
        </p:nvSpPr>
        <p:spPr>
          <a:xfrm>
            <a:off x="868680" y="178308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6"/>
          <p:cNvSpPr txBox="1"/>
          <p:nvPr/>
        </p:nvSpPr>
        <p:spPr>
          <a:xfrm>
            <a:off x="5760720" y="17647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6"/>
          <p:cNvSpPr txBox="1"/>
          <p:nvPr/>
        </p:nvSpPr>
        <p:spPr>
          <a:xfrm>
            <a:off x="8412480" y="1764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868680" y="242316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Checkov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6"/>
          <p:cNvSpPr txBox="1"/>
          <p:nvPr/>
        </p:nvSpPr>
        <p:spPr>
          <a:xfrm>
            <a:off x="5760720" y="24048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6"/>
          <p:cNvSpPr txBox="1"/>
          <p:nvPr/>
        </p:nvSpPr>
        <p:spPr>
          <a:xfrm>
            <a:off x="8412480" y="24048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6"/>
          <p:cNvSpPr/>
          <p:nvPr/>
        </p:nvSpPr>
        <p:spPr>
          <a:xfrm>
            <a:off x="502920" y="2953511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6"/>
          <p:cNvSpPr txBox="1"/>
          <p:nvPr/>
        </p:nvSpPr>
        <p:spPr>
          <a:xfrm>
            <a:off x="868680" y="3063239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TruffleHog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6"/>
          <p:cNvSpPr txBox="1"/>
          <p:nvPr/>
        </p:nvSpPr>
        <p:spPr>
          <a:xfrm>
            <a:off x="5760720" y="3044951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46"/>
          <p:cNvSpPr txBox="1"/>
          <p:nvPr/>
        </p:nvSpPr>
        <p:spPr>
          <a:xfrm>
            <a:off x="8412480" y="3044951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46"/>
          <p:cNvSpPr txBox="1"/>
          <p:nvPr/>
        </p:nvSpPr>
        <p:spPr>
          <a:xfrm>
            <a:off x="868680" y="370332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Gitleaks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6"/>
          <p:cNvSpPr txBox="1"/>
          <p:nvPr/>
        </p:nvSpPr>
        <p:spPr>
          <a:xfrm>
            <a:off x="5760720" y="368503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6"/>
          <p:cNvSpPr txBox="1"/>
          <p:nvPr/>
        </p:nvSpPr>
        <p:spPr>
          <a:xfrm>
            <a:off x="8412480" y="3685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46"/>
          <p:cNvSpPr/>
          <p:nvPr/>
        </p:nvSpPr>
        <p:spPr>
          <a:xfrm>
            <a:off x="502920" y="4233672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46"/>
          <p:cNvSpPr txBox="1"/>
          <p:nvPr/>
        </p:nvSpPr>
        <p:spPr>
          <a:xfrm>
            <a:off x="868680" y="434340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detect-secrets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6"/>
          <p:cNvSpPr txBox="1"/>
          <p:nvPr/>
        </p:nvSpPr>
        <p:spPr>
          <a:xfrm>
            <a:off x="5760720" y="432511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6"/>
          <p:cNvSpPr txBox="1"/>
          <p:nvPr/>
        </p:nvSpPr>
        <p:spPr>
          <a:xfrm>
            <a:off x="8412480" y="43251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6"/>
          <p:cNvSpPr txBox="1"/>
          <p:nvPr/>
        </p:nvSpPr>
        <p:spPr>
          <a:xfrm>
            <a:off x="868680" y="498348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ClamAV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6"/>
          <p:cNvSpPr txBox="1"/>
          <p:nvPr/>
        </p:nvSpPr>
        <p:spPr>
          <a:xfrm>
            <a:off x="5760720" y="49651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6"/>
          <p:cNvSpPr txBox="1"/>
          <p:nvPr/>
        </p:nvSpPr>
        <p:spPr>
          <a:xfrm>
            <a:off x="8412480" y="49651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46"/>
          <p:cNvSpPr/>
          <p:nvPr/>
        </p:nvSpPr>
        <p:spPr>
          <a:xfrm>
            <a:off x="502920" y="5513831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46"/>
          <p:cNvSpPr txBox="1"/>
          <p:nvPr/>
        </p:nvSpPr>
        <p:spPr>
          <a:xfrm>
            <a:off x="868680" y="5623559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YARA-Hunter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6"/>
          <p:cNvSpPr txBox="1"/>
          <p:nvPr/>
        </p:nvSpPr>
        <p:spPr>
          <a:xfrm>
            <a:off x="5760720" y="56052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6"/>
          <p:cNvSpPr txBox="1"/>
          <p:nvPr/>
        </p:nvSpPr>
        <p:spPr>
          <a:xfrm>
            <a:off x="8412480" y="56052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843" name="Google Shape;8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47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47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7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Quanto cada ferramenta rodou (2 de 2)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7"/>
          <p:cNvSpPr txBox="1"/>
          <p:nvPr/>
        </p:nvSpPr>
        <p:spPr>
          <a:xfrm>
            <a:off x="5760720" y="118872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Rodou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7"/>
          <p:cNvSpPr txBox="1"/>
          <p:nvPr/>
        </p:nvSpPr>
        <p:spPr>
          <a:xfrm>
            <a:off x="8412480" y="1188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2560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Falhou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502920" y="1673352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7"/>
          <p:cNvSpPr txBox="1"/>
          <p:nvPr/>
        </p:nvSpPr>
        <p:spPr>
          <a:xfrm>
            <a:off x="868680" y="178308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7"/>
          <p:cNvSpPr txBox="1"/>
          <p:nvPr/>
        </p:nvSpPr>
        <p:spPr>
          <a:xfrm>
            <a:off x="5760720" y="17647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7"/>
          <p:cNvSpPr txBox="1"/>
          <p:nvPr/>
        </p:nvSpPr>
        <p:spPr>
          <a:xfrm>
            <a:off x="8412480" y="17647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7"/>
          <p:cNvSpPr txBox="1"/>
          <p:nvPr/>
        </p:nvSpPr>
        <p:spPr>
          <a:xfrm>
            <a:off x="868680" y="242316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Dockle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7"/>
          <p:cNvSpPr txBox="1"/>
          <p:nvPr/>
        </p:nvSpPr>
        <p:spPr>
          <a:xfrm>
            <a:off x="5760720" y="240487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5.139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7"/>
          <p:cNvSpPr txBox="1"/>
          <p:nvPr/>
        </p:nvSpPr>
        <p:spPr>
          <a:xfrm>
            <a:off x="8412480" y="24048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7"/>
          <p:cNvSpPr/>
          <p:nvPr/>
        </p:nvSpPr>
        <p:spPr>
          <a:xfrm>
            <a:off x="502920" y="2953511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7"/>
          <p:cNvSpPr txBox="1"/>
          <p:nvPr/>
        </p:nvSpPr>
        <p:spPr>
          <a:xfrm>
            <a:off x="868680" y="3063239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cdxgen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7"/>
          <p:cNvSpPr txBox="1"/>
          <p:nvPr/>
        </p:nvSpPr>
        <p:spPr>
          <a:xfrm>
            <a:off x="5760720" y="3044951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5.138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7"/>
          <p:cNvSpPr txBox="1"/>
          <p:nvPr/>
        </p:nvSpPr>
        <p:spPr>
          <a:xfrm>
            <a:off x="8412480" y="3044951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7"/>
          <p:cNvSpPr txBox="1"/>
          <p:nvPr/>
        </p:nvSpPr>
        <p:spPr>
          <a:xfrm>
            <a:off x="868680" y="370332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7"/>
          <p:cNvSpPr txBox="1"/>
          <p:nvPr/>
        </p:nvSpPr>
        <p:spPr>
          <a:xfrm>
            <a:off x="5760720" y="368503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5.014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7"/>
          <p:cNvSpPr txBox="1"/>
          <p:nvPr/>
        </p:nvSpPr>
        <p:spPr>
          <a:xfrm>
            <a:off x="8412480" y="368503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7"/>
          <p:cNvSpPr/>
          <p:nvPr/>
        </p:nvSpPr>
        <p:spPr>
          <a:xfrm>
            <a:off x="502920" y="4233672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7"/>
          <p:cNvSpPr txBox="1"/>
          <p:nvPr/>
        </p:nvSpPr>
        <p:spPr>
          <a:xfrm>
            <a:off x="868680" y="434340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OSV-Scanner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7"/>
          <p:cNvSpPr txBox="1"/>
          <p:nvPr/>
        </p:nvSpPr>
        <p:spPr>
          <a:xfrm>
            <a:off x="5760720" y="432511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4.070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7"/>
          <p:cNvSpPr txBox="1"/>
          <p:nvPr/>
        </p:nvSpPr>
        <p:spPr>
          <a:xfrm>
            <a:off x="8412480" y="432511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1.072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7"/>
          <p:cNvSpPr txBox="1"/>
          <p:nvPr/>
        </p:nvSpPr>
        <p:spPr>
          <a:xfrm>
            <a:off x="868680" y="4983480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47"/>
          <p:cNvSpPr txBox="1"/>
          <p:nvPr/>
        </p:nvSpPr>
        <p:spPr>
          <a:xfrm>
            <a:off x="5760720" y="4965192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2.357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47"/>
          <p:cNvSpPr txBox="1"/>
          <p:nvPr/>
        </p:nvSpPr>
        <p:spPr>
          <a:xfrm>
            <a:off x="8412480" y="496519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2.785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47"/>
          <p:cNvSpPr/>
          <p:nvPr/>
        </p:nvSpPr>
        <p:spPr>
          <a:xfrm>
            <a:off x="502920" y="5513831"/>
            <a:ext cx="11183112" cy="731520"/>
          </a:xfrm>
          <a:prstGeom prst="roundRect">
            <a:avLst>
              <a:gd fmla="val 6000" name="adj"/>
            </a:avLst>
          </a:prstGeom>
          <a:solidFill>
            <a:srgbClr val="D9E5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7"/>
          <p:cNvSpPr txBox="1"/>
          <p:nvPr/>
        </p:nvSpPr>
        <p:spPr>
          <a:xfrm>
            <a:off x="868680" y="5623559"/>
            <a:ext cx="47548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Whispers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7"/>
          <p:cNvSpPr txBox="1"/>
          <p:nvPr/>
        </p:nvSpPr>
        <p:spPr>
          <a:xfrm>
            <a:off x="5760720" y="5605272"/>
            <a:ext cx="2103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240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1.294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7"/>
          <p:cNvSpPr txBox="1"/>
          <p:nvPr/>
        </p:nvSpPr>
        <p:spPr>
          <a:xfrm>
            <a:off x="8412480" y="56052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3.848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879" name="Google Shape;87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48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8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48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Whispers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8"/>
          <p:cNvSpPr txBox="1"/>
          <p:nvPr/>
        </p:nvSpPr>
        <p:spPr>
          <a:xfrm>
            <a:off x="1459041" y="2377440"/>
            <a:ext cx="22188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74,8%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8"/>
          <p:cNvSpPr txBox="1"/>
          <p:nvPr/>
        </p:nvSpPr>
        <p:spPr>
          <a:xfrm>
            <a:off x="3943109" y="2377440"/>
            <a:ext cx="8065705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a imagem do scanner saiu do 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8"/>
          <p:cNvSpPr txBox="1"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3.848 de 5.142 execuções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891" name="Google Shape;8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49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9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9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Clair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9"/>
          <p:cNvSpPr txBox="1"/>
          <p:nvPr/>
        </p:nvSpPr>
        <p:spPr>
          <a:xfrm>
            <a:off x="2418288" y="2377440"/>
            <a:ext cx="22188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54,2%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9"/>
          <p:cNvSpPr txBox="1"/>
          <p:nvPr/>
        </p:nvSpPr>
        <p:spPr>
          <a:xfrm>
            <a:off x="4902356" y="2377440"/>
            <a:ext cx="7106459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rate limit do Docker 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9"/>
          <p:cNvSpPr txBox="1"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2.781 das 2.785 falhas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03" name="Google Shape;90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50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50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50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OSV-Scanner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50"/>
          <p:cNvSpPr txBox="1"/>
          <p:nvPr/>
        </p:nvSpPr>
        <p:spPr>
          <a:xfrm>
            <a:off x="2150274" y="2377440"/>
            <a:ext cx="221888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20,8%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50"/>
          <p:cNvSpPr txBox="1"/>
          <p:nvPr/>
        </p:nvSpPr>
        <p:spPr>
          <a:xfrm>
            <a:off x="4634341" y="2377440"/>
            <a:ext cx="737447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sem fonte de pacote no tar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50"/>
          <p:cNvSpPr txBox="1"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1.050 das 1.072 falhas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15" name="Google Shape;91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51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1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1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Trivy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1"/>
          <p:cNvSpPr txBox="1"/>
          <p:nvPr/>
        </p:nvSpPr>
        <p:spPr>
          <a:xfrm>
            <a:off x="1710944" y="2377440"/>
            <a:ext cx="177511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2,5%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1"/>
          <p:cNvSpPr txBox="1"/>
          <p:nvPr/>
        </p:nvSpPr>
        <p:spPr>
          <a:xfrm>
            <a:off x="3775007" y="2377440"/>
            <a:ext cx="8233807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cache em uso por outro processo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1"/>
          <p:cNvSpPr txBox="1"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122 das 128 falhas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bseg2026_rodape.png" id="927" name="Google Shape;92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304" y="6217920"/>
            <a:ext cx="10241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52"/>
          <p:cNvSpPr txBox="1"/>
          <p:nvPr/>
        </p:nvSpPr>
        <p:spPr>
          <a:xfrm>
            <a:off x="11402568" y="636422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0153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2"/>
          <p:cNvSpPr txBox="1"/>
          <p:nvPr/>
        </p:nvSpPr>
        <p:spPr>
          <a:xfrm>
            <a:off x="658368" y="201168"/>
            <a:ext cx="10908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40C8"/>
                </a:solidFill>
                <a:latin typeface="Inter"/>
                <a:ea typeface="Inter"/>
                <a:cs typeface="Inter"/>
                <a:sym typeface="Inter"/>
              </a:rPr>
              <a:t>RESERVA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2"/>
          <p:cNvSpPr txBox="1"/>
          <p:nvPr/>
        </p:nvSpPr>
        <p:spPr>
          <a:xfrm>
            <a:off x="640080" y="402336"/>
            <a:ext cx="10908792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b="1" i="0" lang="en-US" sz="4300" u="none" cap="none" strike="noStrike">
                <a:solidFill>
                  <a:srgbClr val="00153C"/>
                </a:solidFill>
                <a:latin typeface="Space Grotesk"/>
                <a:ea typeface="Space Grotesk"/>
                <a:cs typeface="Space Grotesk"/>
                <a:sym typeface="Space Grotesk"/>
              </a:rPr>
              <a:t>As outras dez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2"/>
          <p:cNvSpPr txBox="1"/>
          <p:nvPr/>
        </p:nvSpPr>
        <p:spPr>
          <a:xfrm>
            <a:off x="1798879" y="2377440"/>
            <a:ext cx="266266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-US" sz="5200" u="none" cap="none" strike="noStrike">
                <a:solidFill>
                  <a:srgbClr val="C01B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≤ 0,1%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2"/>
          <p:cNvSpPr txBox="1"/>
          <p:nvPr/>
        </p:nvSpPr>
        <p:spPr>
          <a:xfrm>
            <a:off x="4702951" y="2377440"/>
            <a:ext cx="730586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erro do daemon no overlay2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2"/>
          <p:cNvSpPr txBox="1"/>
          <p:nvPr/>
        </p:nvSpPr>
        <p:spPr>
          <a:xfrm>
            <a:off x="640080" y="3931920"/>
            <a:ext cx="1090879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153C"/>
                </a:solidFill>
                <a:latin typeface="Inter"/>
                <a:ea typeface="Inter"/>
                <a:cs typeface="Inter"/>
                <a:sym typeface="Inter"/>
              </a:rPr>
              <a:t>2 a 4 imagens cada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
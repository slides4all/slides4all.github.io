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6858000" cx="12191675"/>
  <p:notesSz cx="6858000" cy="9144000"/>
  <p:embeddedFontLst>
    <p:embeddedFont>
      <p:font typeface="Lexend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3" roundtripDataSignature="AMtx7mggm1kM26sRuUS1bh5LTadM+3AQ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5AAAF9-3A34-47B4-AA8D-7A25206B3E01}">
  <a:tblStyle styleId="{3A5AAAF9-3A34-47B4-AA8D-7A25206B3E0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Lexend-bold.fntdata"/><Relationship Id="rId41" Type="http://schemas.openxmlformats.org/officeDocument/2006/relationships/font" Target="fonts/Lexend-regular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customschemas.google.com/relationships/presentationmetadata" Target="meta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Capa. Da capa, vá direto para o problema: nada de slide de agenda.</a:t>
            </a:r>
            <a:endParaRPr/>
          </a:p>
        </p:txBody>
      </p:sp>
      <p:sp>
        <p:nvSpPr>
          <p:cNvPr id="83" name="Google Shape;8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Primeiro slide após a capa. Diga o problema em voz alta antes de mostrar os números. Cerca de 30% do tempo total cobre problema e fundamentação.</a:t>
            </a:r>
            <a:endParaRPr/>
          </a:p>
        </p:txBody>
      </p:sp>
      <p:sp>
        <p:nvSpPr>
          <p:cNvPr id="108" name="Google Shape;10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ae4172770_0_1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g3fae4172770_0_1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Detalhe técnico do problema. É aqui que a plateia especialista decide se vale prestar atenção.</a:t>
            </a:r>
            <a:endParaRPr/>
          </a:p>
        </p:txBody>
      </p:sp>
      <p:sp>
        <p:nvSpPr>
          <p:cNvPr id="143" name="Google Shape;143;g3fae4172770_0_1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Simplifique a tabela. Se ficar densa, quebre em dois slides.</a:t>
            </a:r>
            <a:endParaRPr/>
          </a:p>
        </p:txBody>
      </p:sp>
      <p:sp>
        <p:nvSpPr>
          <p:cNvPr id="180" name="Google Shape;18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3e2406a0a_0_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g3f3e2406a0a_0_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Simplifique a tabela. Se ficar densa, quebre em dois slides.</a:t>
            </a:r>
            <a:endParaRPr/>
          </a:p>
        </p:txBody>
      </p:sp>
      <p:sp>
        <p:nvSpPr>
          <p:cNvPr id="203" name="Google Shape;203;g3f3e2406a0a_0_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Divisória de seção. Use no máximo 15 a 20 segundos aqui.</a:t>
            </a:r>
            <a:endParaRPr/>
          </a:p>
        </p:txBody>
      </p:sp>
      <p:sp>
        <p:nvSpPr>
          <p:cNvPr id="236" name="Google Shape;23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4176477e0_0_37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g3f4176477e0_0_37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Duplique este slide e destaque uma etapa de cada vez.</a:t>
            </a:r>
            <a:endParaRPr/>
          </a:p>
        </p:txBody>
      </p:sp>
      <p:sp>
        <p:nvSpPr>
          <p:cNvPr id="251" name="Google Shape;251;g3f4176477e0_0_37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4176477e0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2" name="Google Shape;302;g3f4176477e0_0_4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4176477e0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g3f4176477e0_0_4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f4176477e0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4" name="Google Shape;404;g3f4176477e0_0_5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f4176477e0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5" name="Google Shape;455;g3f4176477e0_0_5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f4176477e0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6" name="Google Shape;506;g3f4176477e0_0_6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7" name="Google Shape;55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Contribuição e resultados devem ocupar cerca de 45% do tempo.</a:t>
            </a:r>
            <a:endParaRPr/>
          </a:p>
        </p:txBody>
      </p:sp>
      <p:sp>
        <p:nvSpPr>
          <p:cNvPr id="558" name="Google Shape;55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9" name="Google Shape;57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3" name="Google Shape;59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Informe tudo que um terceiro precisaria para repetir o experimento.</a:t>
            </a:r>
            <a:endParaRPr/>
          </a:p>
        </p:txBody>
      </p:sp>
      <p:sp>
        <p:nvSpPr>
          <p:cNvPr id="594" name="Google Shape;59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f4176477e0_0_88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8" name="Google Shape;618;g3f4176477e0_0_88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Diga em voz alta o que a plateia deve olhar no gráfico antes de explicar os eixos.</a:t>
            </a:r>
            <a:endParaRPr/>
          </a:p>
        </p:txBody>
      </p:sp>
      <p:sp>
        <p:nvSpPr>
          <p:cNvPr id="619" name="Google Shape;619;g3f4176477e0_0_88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f4176477e0_0_9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g3f4176477e0_0_9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f4176477e0_0_100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2" name="Google Shape;672;g3f4176477e0_0_100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Diga em voz alta o que a plateia deve olhar no gráfico antes de explicar os eixos.</a:t>
            </a:r>
            <a:endParaRPr/>
          </a:p>
        </p:txBody>
      </p:sp>
      <p:sp>
        <p:nvSpPr>
          <p:cNvPr id="673" name="Google Shape;673;g3f4176477e0_0_100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f4176477e0_0_1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4" name="Google Shape;744;g3f4176477e0_0_10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f4176477e0_0_1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g3f4176477e0_0_12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f4176477e0_0_1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g3f4176477e0_0_12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f4176477e0_0_1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5" name="Google Shape;865;g3f4176477e0_0_13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f4176477e0_0_1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g3f4176477e0_0_13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f4176477e0_0_1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0" name="Google Shape;910;g3f4176477e0_0_14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3f4176477e0_0_149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2" name="Google Shape;932;g3f4176477e0_0_149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Números grandes são lidos até no celular. Use este slide como fecho da avaliação.</a:t>
            </a:r>
            <a:endParaRPr/>
          </a:p>
        </p:txBody>
      </p:sp>
      <p:sp>
        <p:nvSpPr>
          <p:cNvPr id="933" name="Google Shape;933;g3f4176477e0_0_149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3f4176477e0_0_15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8" name="Google Shape;968;g3f4176477e0_0_15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Antecipar limitações fortalece a apresentação e reduz perguntas hostis.</a:t>
            </a:r>
            <a:endParaRPr/>
          </a:p>
        </p:txBody>
      </p:sp>
      <p:sp>
        <p:nvSpPr>
          <p:cNvPr id="969" name="Google Shape;969;g3f4176477e0_0_15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3f4176477e0_0_156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4" name="Google Shape;1004;g3f4176477e0_0_156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Antecipar limitações fortalece a apresentação e reduz perguntas hostis.</a:t>
            </a:r>
            <a:endParaRPr/>
          </a:p>
        </p:txBody>
      </p:sp>
      <p:sp>
        <p:nvSpPr>
          <p:cNvPr id="1005" name="Google Shape;1005;g3f4176477e0_0_156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7" name="Google Shape;102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3f4176477e0_0_166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1" name="Google Shape;1041;g3f4176477e0_0_166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Conclusões e trabalhos futuros: cerca de 10% do tempo. Repita a mensagem central.</a:t>
            </a:r>
            <a:endParaRPr/>
          </a:p>
        </p:txBody>
      </p:sp>
      <p:sp>
        <p:nvSpPr>
          <p:cNvPr id="1042" name="Google Shape;1042;g3f4176477e0_0_166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f4176477e0_0_169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1" name="Google Shape;1071;g3f4176477e0_0_169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Encerre com um convite claro à colaboração.</a:t>
            </a:r>
            <a:endParaRPr/>
          </a:p>
        </p:txBody>
      </p:sp>
      <p:sp>
        <p:nvSpPr>
          <p:cNvPr id="1072" name="Google Shape;1072;g3f4176477e0_0_169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3" name="Google Shape;1093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Deixe este slide na tela durante as perguntas. Substitua os quadrados brancos por QR Codes reais.</a:t>
            </a:r>
            <a:endParaRPr/>
          </a:p>
        </p:txBody>
      </p:sp>
      <p:sp>
        <p:nvSpPr>
          <p:cNvPr id="1094" name="Google Shape;1094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1" name="Google Shape;1121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Mantenha aqui os slides que você só mostra se perguntarem.</a:t>
            </a:r>
            <a:endParaRPr/>
          </a:p>
        </p:txBody>
      </p:sp>
      <p:sp>
        <p:nvSpPr>
          <p:cNvPr id="1122" name="Google Shape;1122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6.png"/><Relationship Id="rId8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10" Type="http://schemas.openxmlformats.org/officeDocument/2006/relationships/image" Target="../media/image21.png"/><Relationship Id="rId9" Type="http://schemas.openxmlformats.org/officeDocument/2006/relationships/image" Target="../media/image20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9174175" y="3840480"/>
            <a:ext cx="6035040" cy="603504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658368" y="475488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XXVI SIMPÓSIO BRASILEIRO DE CIBERSEGURANÇA  ·  SBSEG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658368" y="804672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1 a 4 de setembro de 2026  ·  Armação dos Búzios, 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658368" y="1353312"/>
            <a:ext cx="81381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Security-First Evaluation of Text-to-Terraform:</a:t>
            </a:r>
            <a:endParaRPr b="1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Benchmarking LLMs and SLMs for Secure IaC Generation</a:t>
            </a:r>
            <a:endParaRPr b="1" i="0" sz="3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658368" y="3602736"/>
            <a:ext cx="1463040" cy="54864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658368" y="3840480"/>
            <a:ext cx="841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Francis Vargas, Rodrigo Brandão Mansilha, Diego Kreutz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658376" y="4242825"/>
            <a:ext cx="967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AI Horizon Labs  ·  Universidade Federal do Pampa (UNIPAMPA)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Programa de Pós-Graduação em Engenharia de Software (PPGES)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9189720" y="1463040"/>
            <a:ext cx="2340864" cy="2340864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97" name="Google Shape;9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22892" y="2113585"/>
            <a:ext cx="1874519" cy="103977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99" name="Google Shape;9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77" y="5964240"/>
            <a:ext cx="3102724" cy="758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100" name="Google Shape;10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37925" y="5868500"/>
            <a:ext cx="1463025" cy="96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101" name="Google Shape;10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14147" y="5868497"/>
            <a:ext cx="963400" cy="96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c.png" id="102" name="Google Shape;102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229875" y="6080759"/>
            <a:ext cx="303451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f.png" id="103" name="Google Shape;103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73180" y="6089903"/>
            <a:ext cx="427511" cy="43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6_mark.png" id="104" name="Google Shape;1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5688" y="6099048"/>
            <a:ext cx="758308" cy="42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658368" y="365760"/>
            <a:ext cx="1087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ABERTURA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658368" y="621792"/>
            <a:ext cx="10874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658375" y="1737350"/>
            <a:ext cx="10998600" cy="15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IaC acelera a implantação, mas também escala configurações inseguras e exposições que podem permanecer meses sem detecção.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58368" y="3310128"/>
            <a:ext cx="1463040" cy="54864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58368" y="3621024"/>
            <a:ext cx="3442106" cy="2084831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58368" y="3621024"/>
            <a:ext cx="68580" cy="2084831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969264" y="3858768"/>
            <a:ext cx="2820300" cy="14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3B"/>
              </a:buClr>
              <a:buSzPts val="1400"/>
              <a:buFont typeface="Lexend"/>
              <a:buNone/>
            </a:pPr>
            <a:r>
              <a:rPr b="0" i="0" lang="en-US" sz="1400" u="none" cap="none" strike="noStrike">
                <a:solidFill>
                  <a:srgbClr val="22333B"/>
                </a:solidFill>
                <a:latin typeface="Lexend"/>
                <a:ea typeface="Lexend"/>
                <a:cs typeface="Lexend"/>
                <a:sym typeface="Lexend"/>
              </a:rPr>
              <a:t>dos incidentes de nuvem vêm de recursos mal configurados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374794" y="3621024"/>
            <a:ext cx="3442106" cy="2084831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4374794" y="3621024"/>
            <a:ext cx="68580" cy="2084831"/>
          </a:xfrm>
          <a:prstGeom prst="rect">
            <a:avLst/>
          </a:prstGeom>
          <a:solidFill>
            <a:srgbClr val="1279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4685690" y="3858768"/>
            <a:ext cx="2820300" cy="19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Threat </a:t>
            </a:r>
            <a:r>
              <a:rPr b="1" lang="en-US" sz="4000">
                <a:solidFill>
                  <a:schemeClr val="accent1"/>
                </a:solidFill>
              </a:rPr>
              <a:t>#1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Font typeface="Lexend"/>
              <a:buNone/>
            </a:pPr>
            <a:r>
              <a:rPr b="1" i="0" lang="en-US" sz="145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Top Threat #1 — Misconfiguration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8091220" y="3621024"/>
            <a:ext cx="3442106" cy="2084831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8091220" y="3621024"/>
            <a:ext cx="68580" cy="2084831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8402116" y="3858768"/>
            <a:ext cx="2820300" cy="16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De código vulnerável ainda é gerado por IA em cenários sensíveis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28" name="Google Shape;1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30" name="Google Shape;13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32" name="Google Shape;13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2369"/>
                </a:solidFill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35" name="Google Shape;13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 txBox="1"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78525" y="4883900"/>
            <a:ext cx="821949" cy="821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94950" y="4921899"/>
            <a:ext cx="821949" cy="821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711365" y="4883900"/>
            <a:ext cx="821949" cy="821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ae4172770_0_111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fae4172770_0_111"/>
          <p:cNvSpPr txBox="1"/>
          <p:nvPr/>
        </p:nvSpPr>
        <p:spPr>
          <a:xfrm>
            <a:off x="658368" y="365760"/>
            <a:ext cx="1087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DESAFIOS TÉCNICOS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fae4172770_0_111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Sintaxe válida não é sinônimo de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fae4172770_0_111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fae4172770_0_111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fae4172770_0_111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fae4172770_0_111"/>
          <p:cNvSpPr txBox="1"/>
          <p:nvPr/>
        </p:nvSpPr>
        <p:spPr>
          <a:xfrm>
            <a:off x="658368" y="1975104"/>
            <a:ext cx="6842400" cy="18918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t" bIns="91425" lIns="201150" spcFirstLastPara="1" rIns="164575" wrap="square" tIns="1280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8FA3C7"/>
                </a:solidFill>
                <a:latin typeface="Courier New"/>
                <a:ea typeface="Courier New"/>
                <a:cs typeface="Courier New"/>
                <a:sym typeface="Courier New"/>
              </a:rPr>
              <a:t># bucket_policy.tf — trecho do estudo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resource "aws_s3_bucket_public_access_block" "example"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F7A823"/>
                </a:solidFill>
                <a:latin typeface="Courier New"/>
                <a:ea typeface="Courier New"/>
                <a:cs typeface="Courier New"/>
                <a:sym typeface="Courier New"/>
              </a:rPr>
              <a:t>  ✕ block_public_acls       = false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F7A823"/>
                </a:solidFill>
                <a:latin typeface="Courier New"/>
                <a:ea typeface="Courier New"/>
                <a:cs typeface="Courier New"/>
                <a:sym typeface="Courier New"/>
              </a:rPr>
              <a:t>  ✕ block_public_policy     = false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F7A823"/>
                </a:solidFill>
                <a:latin typeface="Courier New"/>
                <a:ea typeface="Courier New"/>
                <a:cs typeface="Courier New"/>
                <a:sym typeface="Courier New"/>
              </a:rPr>
              <a:t>  ✕ ignore_public_acls      = false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F7A823"/>
                </a:solidFill>
                <a:latin typeface="Courier New"/>
                <a:ea typeface="Courier New"/>
                <a:cs typeface="Courier New"/>
                <a:sym typeface="Courier New"/>
              </a:rPr>
              <a:t>  ✕ restrict_public_buckets = false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152" name="Google Shape;152;g3fae4172770_0_111"/>
          <p:cNvSpPr/>
          <p:nvPr/>
        </p:nvSpPr>
        <p:spPr>
          <a:xfrm>
            <a:off x="7726679" y="1975104"/>
            <a:ext cx="3804000" cy="2962800"/>
          </a:xfrm>
          <a:prstGeom prst="roundRect">
            <a:avLst>
              <a:gd fmla="val 3000" name="adj"/>
            </a:avLst>
          </a:prstGeom>
          <a:solidFill>
            <a:srgbClr val="F4F6FA"/>
          </a:solidFill>
          <a:ln cap="flat" cmpd="sng" w="15875">
            <a:solidFill>
              <a:srgbClr val="DDE3E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fae4172770_0_111"/>
          <p:cNvSpPr txBox="1"/>
          <p:nvPr/>
        </p:nvSpPr>
        <p:spPr>
          <a:xfrm>
            <a:off x="7726679" y="2176272"/>
            <a:ext cx="3804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5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WizardCoder-33B · nível de segurança L3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fae4172770_0_111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55" name="Google Shape;155;g3fae4172770_0_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fae4172770_0_111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57" name="Google Shape;157;g3fae4172770_0_1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fae4172770_0_111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59" name="Google Shape;159;g3fae4172770_0_1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fae4172770_0_111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fae4172770_0_111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62" name="Google Shape;162;g3fae4172770_0_1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fae4172770_0_111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fae4172770_0_111"/>
          <p:cNvSpPr txBox="1"/>
          <p:nvPr/>
        </p:nvSpPr>
        <p:spPr>
          <a:xfrm>
            <a:off x="7726679" y="2487168"/>
            <a:ext cx="3804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77,8%</a:t>
            </a:r>
            <a:endParaRPr/>
          </a:p>
        </p:txBody>
      </p:sp>
      <p:sp>
        <p:nvSpPr>
          <p:cNvPr id="165" name="Google Shape;165;g3fae4172770_0_111"/>
          <p:cNvSpPr txBox="1"/>
          <p:nvPr/>
        </p:nvSpPr>
        <p:spPr>
          <a:xfrm>
            <a:off x="7726679" y="3273552"/>
            <a:ext cx="380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✓ terraform válido</a:t>
            </a:r>
            <a:endParaRPr/>
          </a:p>
        </p:txBody>
      </p:sp>
      <p:sp>
        <p:nvSpPr>
          <p:cNvPr id="166" name="Google Shape;166;g3fae4172770_0_111"/>
          <p:cNvSpPr txBox="1"/>
          <p:nvPr/>
        </p:nvSpPr>
        <p:spPr>
          <a:xfrm>
            <a:off x="7726679" y="3758184"/>
            <a:ext cx="380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fae4172770_0_111"/>
          <p:cNvSpPr txBox="1"/>
          <p:nvPr/>
        </p:nvSpPr>
        <p:spPr>
          <a:xfrm>
            <a:off x="7726679" y="3675888"/>
            <a:ext cx="3804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  <a:endParaRPr/>
          </a:p>
        </p:txBody>
      </p:sp>
      <p:sp>
        <p:nvSpPr>
          <p:cNvPr id="168" name="Google Shape;168;g3fae4172770_0_111"/>
          <p:cNvSpPr txBox="1"/>
          <p:nvPr/>
        </p:nvSpPr>
        <p:spPr>
          <a:xfrm>
            <a:off x="7726679" y="4462272"/>
            <a:ext cx="380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✕ conformidade Checkov</a:t>
            </a:r>
            <a:endParaRPr/>
          </a:p>
        </p:txBody>
      </p:sp>
      <p:sp>
        <p:nvSpPr>
          <p:cNvPr id="169" name="Google Shape;169;g3fae4172770_0_111"/>
          <p:cNvSpPr txBox="1"/>
          <p:nvPr/>
        </p:nvSpPr>
        <p:spPr>
          <a:xfrm>
            <a:off x="658368" y="1490472"/>
            <a:ext cx="1087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Terraform pode aceitar configurações que violam controles essenciais de segurança.</a:t>
            </a:r>
            <a:endParaRPr/>
          </a:p>
        </p:txBody>
      </p:sp>
      <p:sp>
        <p:nvSpPr>
          <p:cNvPr id="170" name="Google Shape;170;g3fae4172770_0_111"/>
          <p:cNvSpPr/>
          <p:nvPr/>
        </p:nvSpPr>
        <p:spPr>
          <a:xfrm>
            <a:off x="658368" y="4151376"/>
            <a:ext cx="3320700" cy="639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fae4172770_0_111"/>
          <p:cNvSpPr/>
          <p:nvPr/>
        </p:nvSpPr>
        <p:spPr>
          <a:xfrm>
            <a:off x="658375" y="4151375"/>
            <a:ext cx="3320700" cy="969600"/>
          </a:xfrm>
          <a:prstGeom prst="roundRect">
            <a:avLst>
              <a:gd fmla="val 10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146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terraform validate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✓ PASS</a:t>
            </a:r>
            <a:endParaRPr/>
          </a:p>
        </p:txBody>
      </p:sp>
      <p:sp>
        <p:nvSpPr>
          <p:cNvPr id="172" name="Google Shape;172;g3fae4172770_0_111"/>
          <p:cNvSpPr/>
          <p:nvPr/>
        </p:nvSpPr>
        <p:spPr>
          <a:xfrm>
            <a:off x="4180179" y="4151376"/>
            <a:ext cx="3320700" cy="639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fae4172770_0_111"/>
          <p:cNvSpPr/>
          <p:nvPr/>
        </p:nvSpPr>
        <p:spPr>
          <a:xfrm>
            <a:off x="4180175" y="4151375"/>
            <a:ext cx="3320700" cy="969600"/>
          </a:xfrm>
          <a:prstGeom prst="roundRect">
            <a:avLst>
              <a:gd fmla="val 10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146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security scanner · checkov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✕ FAIL</a:t>
            </a:r>
            <a:endParaRPr/>
          </a:p>
        </p:txBody>
      </p:sp>
      <p:sp>
        <p:nvSpPr>
          <p:cNvPr id="174" name="Google Shape;174;g3fae4172770_0_111"/>
          <p:cNvSpPr/>
          <p:nvPr/>
        </p:nvSpPr>
        <p:spPr>
          <a:xfrm>
            <a:off x="7726679" y="1975104"/>
            <a:ext cx="1902000" cy="822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fae4172770_0_111"/>
          <p:cNvSpPr/>
          <p:nvPr/>
        </p:nvSpPr>
        <p:spPr>
          <a:xfrm>
            <a:off x="9628632" y="1975104"/>
            <a:ext cx="1902000" cy="822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fae4172770_0_111"/>
          <p:cNvSpPr txBox="1"/>
          <p:nvPr/>
        </p:nvSpPr>
        <p:spPr>
          <a:xfrm>
            <a:off x="658368" y="5303520"/>
            <a:ext cx="10875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Mensagem-chave: </a:t>
            </a:r>
            <a:r>
              <a:rPr b="0" i="0" lang="en-US" sz="19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 código pode passar na validação do Terraform e, ainda assim, chegar ao deployment com falhas de segurança</a:t>
            </a:r>
            <a:r>
              <a:rPr lang="en-US" sz="1900">
                <a:solidFill>
                  <a:srgbClr val="0F2369"/>
                </a:solidFill>
              </a:rPr>
              <a:t>, </a:t>
            </a:r>
            <a:r>
              <a:rPr b="0" i="0" lang="en-US" sz="19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validade sintática e conformidade de segurança são propriedades independentes.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658368" y="365760"/>
            <a:ext cx="1087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DESAFIOS TÉCNICOS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658368" y="621792"/>
            <a:ext cx="10874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 que já existe e o que falta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8" name="Google Shape;188;p6"/>
          <p:cNvGraphicFramePr/>
          <p:nvPr/>
        </p:nvGraphicFramePr>
        <p:xfrm>
          <a:off x="658343" y="15316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{3A5AAAF9-3A34-47B4-AA8D-7A25206B3E01}</a:tableStyleId>
              </a:tblPr>
              <a:tblGrid>
                <a:gridCol w="2762675"/>
                <a:gridCol w="1636225"/>
                <a:gridCol w="2109000"/>
                <a:gridCol w="4564400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Trabalho</a:t>
                      </a:r>
                      <a:endParaRPr sz="23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Modelos</a:t>
                      </a:r>
                      <a:endParaRPr sz="23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Scanner(s)</a:t>
                      </a:r>
                      <a:endParaRPr sz="23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Lacuna que permanece</a:t>
                      </a:r>
                      <a:endParaRPr sz="23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3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IaC-Eval</a:t>
                      </a:r>
                      <a:endParaRPr sz="23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3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0"/>
                            </a:ext>
                          </a:extLst>
                        </a:rPr>
                        <a:t>LLM</a:t>
                      </a:r>
                      <a:r>
                        <a:rPr b="0" lang="en-US" sz="23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+SLM</a:t>
                      </a:r>
                      <a:endParaRPr sz="23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3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OPA</a:t>
                      </a:r>
                      <a:endParaRPr sz="23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3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Sem verificação de segurança</a:t>
                      </a:r>
                      <a:endParaRPr sz="23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3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DPIaC-Eval</a:t>
                      </a:r>
                      <a:endParaRPr sz="23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3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</a:t>
                      </a:r>
                      <a:endParaRPr sz="23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3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Checkov</a:t>
                      </a:r>
                      <a:endParaRPr sz="23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3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Só 8,4% de conformidade após correção</a:t>
                      </a:r>
                      <a:endParaRPr sz="23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3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Multi-IaC-Eval</a:t>
                      </a:r>
                      <a:endParaRPr sz="23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3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LLM+SLM</a:t>
                      </a:r>
                      <a:endParaRPr sz="23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3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CFN-Lint</a:t>
                      </a:r>
                      <a:endParaRPr sz="23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3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Sem scanner de segurança</a:t>
                      </a:r>
                      <a:endParaRPr sz="23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3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TerraFormer</a:t>
                      </a:r>
                      <a:endParaRPr sz="23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3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</a:t>
                      </a:r>
                      <a:endParaRPr sz="23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3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Checkov</a:t>
                      </a:r>
                      <a:endParaRPr sz="23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3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SLMs fora do foco de segurança</a:t>
                      </a:r>
                      <a:endParaRPr sz="23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0F23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Este trabalho</a:t>
                      </a:r>
                      <a:endParaRPr sz="2300" u="none" cap="none" strike="noStrike"/>
                    </a:p>
                  </a:txBody>
                  <a:tcPr marT="45725" marB="45725" marR="128025" marL="128025" anchor="ctr"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0F23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LLM+SLM</a:t>
                      </a:r>
                      <a:endParaRPr sz="2300" u="none" cap="none" strike="noStrike"/>
                    </a:p>
                  </a:txBody>
                  <a:tcPr marT="45725" marB="45725" marR="128025" marL="128025" anchor="ctr"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0F23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Checkov + Trivy</a:t>
                      </a:r>
                      <a:endParaRPr sz="2300" u="none" cap="none" strike="noStrike"/>
                    </a:p>
                  </a:txBody>
                  <a:tcPr marT="45725" marB="45725" marR="128025" marL="128025" anchor="ctr"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2300">
                          <a:solidFill>
                            <a:srgbClr val="0F2369"/>
                          </a:solidFill>
                        </a:rPr>
                        <a:t>Laboratório mais extenso de experimentação</a:t>
                      </a:r>
                      <a:endParaRPr sz="2300" u="none" cap="none" strike="noStrike"/>
                    </a:p>
                  </a:txBody>
                  <a:tcPr marT="45725" marB="45725" marR="128025" marL="128025" anchor="ctr">
                    <a:solidFill>
                      <a:srgbClr val="EAF2EE"/>
                    </a:solidFill>
                  </a:tcPr>
                </a:tc>
              </a:tr>
            </a:tbl>
          </a:graphicData>
        </a:graphic>
      </p:graphicFrame>
      <p:sp>
        <p:nvSpPr>
          <p:cNvPr id="189" name="Google Shape;189;p6"/>
          <p:cNvSpPr txBox="1"/>
          <p:nvPr/>
        </p:nvSpPr>
        <p:spPr>
          <a:xfrm>
            <a:off x="658381" y="5811021"/>
            <a:ext cx="1087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Nenhum trabalho anterior combina múltiplos modelos, múltiplos scanners e correção seletiva por feedback.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91" name="Google Shape;19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6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93" name="Google Shape;19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6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95" name="Google Shape;19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6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2369"/>
                </a:solidFill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98" name="Google Shape;19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6"/>
          <p:cNvSpPr txBox="1"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3e2406a0a_0_4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f3e2406a0a_0_4"/>
          <p:cNvSpPr txBox="1"/>
          <p:nvPr/>
        </p:nvSpPr>
        <p:spPr>
          <a:xfrm>
            <a:off x="658368" y="365760"/>
            <a:ext cx="1087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DESAFIOS TÉCNICOS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f3e2406a0a_0_4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Quatro perguntas de pesquisa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f3e2406a0a_0_4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f3e2406a0a_0_4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f3e2406a0a_0_4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f3e2406a0a_0_4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212" name="Google Shape;212;g3f3e2406a0a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3f3e2406a0a_0_4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214" name="Google Shape;214;g3f3e2406a0a_0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f3e2406a0a_0_4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216" name="Google Shape;216;g3f3e2406a0a_0_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f3e2406a0a_0_4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2369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f3e2406a0a_0_4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219" name="Google Shape;219;g3f3e2406a0a_0_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f3e2406a0a_0_4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f3e2406a0a_0_4"/>
          <p:cNvSpPr/>
          <p:nvPr/>
        </p:nvSpPr>
        <p:spPr>
          <a:xfrm>
            <a:off x="658368" y="1682496"/>
            <a:ext cx="5327751" cy="2185416"/>
          </a:xfrm>
          <a:prstGeom prst="roundRect">
            <a:avLst>
              <a:gd fmla="val 4000" name="adj"/>
            </a:avLst>
          </a:prstGeom>
          <a:solidFill>
            <a:srgbClr val="F4F6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f3e2406a0a_0_4"/>
          <p:cNvSpPr/>
          <p:nvPr/>
        </p:nvSpPr>
        <p:spPr>
          <a:xfrm>
            <a:off x="658368" y="1682496"/>
            <a:ext cx="68580" cy="2185416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f3e2406a0a_0_4"/>
          <p:cNvSpPr txBox="1"/>
          <p:nvPr/>
        </p:nvSpPr>
        <p:spPr>
          <a:xfrm>
            <a:off x="978368" y="1902496"/>
            <a:ext cx="4767900" cy="16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RQ1 · Validade e segurança</a:t>
            </a:r>
            <a:endParaRPr sz="2300">
              <a:extLst>
                <a:ext uri="http://customooxmlschemas.google.com/">
                  <go:slidesCustomData xmlns:go="http://customooxmlschemas.google.com/" textRoundtripDataId="2"/>
                </a:ext>
              </a:extLs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Validade sintática e conformidade de segurança são correlacionadas em LLMs e SLMs?</a:t>
            </a:r>
            <a:endParaRPr sz="2300"/>
          </a:p>
        </p:txBody>
      </p:sp>
      <p:sp>
        <p:nvSpPr>
          <p:cNvPr id="224" name="Google Shape;224;g3f3e2406a0a_0_4"/>
          <p:cNvSpPr/>
          <p:nvPr/>
        </p:nvSpPr>
        <p:spPr>
          <a:xfrm>
            <a:off x="6205575" y="1682496"/>
            <a:ext cx="5327751" cy="2185416"/>
          </a:xfrm>
          <a:prstGeom prst="roundRect">
            <a:avLst>
              <a:gd fmla="val 4000" name="adj"/>
            </a:avLst>
          </a:prstGeom>
          <a:solidFill>
            <a:srgbClr val="F4F6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f3e2406a0a_0_4"/>
          <p:cNvSpPr/>
          <p:nvPr/>
        </p:nvSpPr>
        <p:spPr>
          <a:xfrm>
            <a:off x="6205575" y="1682496"/>
            <a:ext cx="68580" cy="2185416"/>
          </a:xfrm>
          <a:prstGeom prst="rect">
            <a:avLst/>
          </a:prstGeom>
          <a:solidFill>
            <a:srgbClr val="1279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f3e2406a0a_0_4"/>
          <p:cNvSpPr txBox="1"/>
          <p:nvPr/>
        </p:nvSpPr>
        <p:spPr>
          <a:xfrm>
            <a:off x="6525575" y="1902496"/>
            <a:ext cx="4767900" cy="16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279BD"/>
                </a:solidFill>
                <a:latin typeface="Arial"/>
                <a:ea typeface="Arial"/>
                <a:cs typeface="Arial"/>
                <a:sym typeface="Arial"/>
              </a:rPr>
              <a:t>RQ2 · Especificidade do prompt</a:t>
            </a:r>
            <a:endParaRPr sz="2300"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Aumentar a especificidade do prompt melhora substancialmente a conformidade de segurança?</a:t>
            </a:r>
            <a:endParaRPr sz="2300"/>
          </a:p>
        </p:txBody>
      </p:sp>
      <p:sp>
        <p:nvSpPr>
          <p:cNvPr id="227" name="Google Shape;227;g3f3e2406a0a_0_4"/>
          <p:cNvSpPr/>
          <p:nvPr/>
        </p:nvSpPr>
        <p:spPr>
          <a:xfrm>
            <a:off x="658368" y="4087368"/>
            <a:ext cx="5327751" cy="2185416"/>
          </a:xfrm>
          <a:prstGeom prst="roundRect">
            <a:avLst>
              <a:gd fmla="val 4000" name="adj"/>
            </a:avLst>
          </a:prstGeom>
          <a:solidFill>
            <a:srgbClr val="F4F6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f3e2406a0a_0_4"/>
          <p:cNvSpPr/>
          <p:nvPr/>
        </p:nvSpPr>
        <p:spPr>
          <a:xfrm>
            <a:off x="658368" y="4087368"/>
            <a:ext cx="68580" cy="2185416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f3e2406a0a_0_4"/>
          <p:cNvSpPr txBox="1"/>
          <p:nvPr/>
        </p:nvSpPr>
        <p:spPr>
          <a:xfrm>
            <a:off x="978368" y="4307368"/>
            <a:ext cx="4767900" cy="19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RQ3 · Autocorreção por scanner</a:t>
            </a:r>
            <a:endParaRPr sz="2300"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Modelos conseguem se autocorrigir quando recebem feedback bruto de Checkov e Trivy?</a:t>
            </a:r>
            <a:endParaRPr sz="2300"/>
          </a:p>
        </p:txBody>
      </p:sp>
      <p:sp>
        <p:nvSpPr>
          <p:cNvPr id="230" name="Google Shape;230;g3f3e2406a0a_0_4"/>
          <p:cNvSpPr/>
          <p:nvPr/>
        </p:nvSpPr>
        <p:spPr>
          <a:xfrm>
            <a:off x="6205575" y="4087368"/>
            <a:ext cx="5327751" cy="2185416"/>
          </a:xfrm>
          <a:prstGeom prst="roundRect">
            <a:avLst>
              <a:gd fmla="val 4000" name="adj"/>
            </a:avLst>
          </a:prstGeom>
          <a:solidFill>
            <a:srgbClr val="F4F6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f3e2406a0a_0_4"/>
          <p:cNvSpPr/>
          <p:nvPr/>
        </p:nvSpPr>
        <p:spPr>
          <a:xfrm>
            <a:off x="6205575" y="4087368"/>
            <a:ext cx="68580" cy="2185416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f3e2406a0a_0_4"/>
          <p:cNvSpPr txBox="1"/>
          <p:nvPr/>
        </p:nvSpPr>
        <p:spPr>
          <a:xfrm>
            <a:off x="6525575" y="4307368"/>
            <a:ext cx="4767900" cy="16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RQ4 · Evolução longitudinal</a:t>
            </a:r>
            <a:endParaRPr sz="2300"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As SLMs evoluíram em segurança entre o IaC-Eval (2024) e esta avaliação (2026)?</a:t>
            </a:r>
            <a:endParaRPr sz="2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9174175" y="3840480"/>
            <a:ext cx="6035040" cy="603504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 txBox="1"/>
          <p:nvPr/>
        </p:nvSpPr>
        <p:spPr>
          <a:xfrm>
            <a:off x="658368" y="2304288"/>
            <a:ext cx="2011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n-US" sz="8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 txBox="1"/>
          <p:nvPr/>
        </p:nvSpPr>
        <p:spPr>
          <a:xfrm>
            <a:off x="2395728" y="2487168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Metodologia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2414015" y="3383280"/>
            <a:ext cx="1188720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 txBox="1"/>
          <p:nvPr/>
        </p:nvSpPr>
        <p:spPr>
          <a:xfrm>
            <a:off x="2395728" y="3584448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Como desenhamos um benchmark security-first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 txBox="1"/>
          <p:nvPr/>
        </p:nvSpPr>
        <p:spPr>
          <a:xfrm>
            <a:off x="10984687" y="6199632"/>
            <a:ext cx="54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AEBBDA"/>
                </a:solidFill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4176477e0_0_376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f4176477e0_0_376"/>
          <p:cNvSpPr txBox="1"/>
          <p:nvPr/>
        </p:nvSpPr>
        <p:spPr>
          <a:xfrm>
            <a:off x="658368" y="365760"/>
            <a:ext cx="1087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METODOLOGIA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f4176477e0_0_376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Pipeline do benchmark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f4176477e0_0_376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f4176477e0_0_376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f4176477e0_0_376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f4176477e0_0_376"/>
          <p:cNvSpPr txBox="1"/>
          <p:nvPr/>
        </p:nvSpPr>
        <p:spPr>
          <a:xfrm>
            <a:off x="658368" y="5303520"/>
            <a:ext cx="10875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9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Estágio 1 · Generate — </a:t>
            </a:r>
            <a:r>
              <a:rPr b="0" i="1" lang="en-US" sz="19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cada um dos 7 modelos gera Terraform via API, 5 vezes por cenário (pass@5)</a:t>
            </a:r>
            <a:r>
              <a:rPr i="1" lang="en-US" sz="1900">
                <a:solidFill>
                  <a:srgbClr val="0F2369"/>
                </a:solidFill>
              </a:rPr>
              <a:t>,</a:t>
            </a:r>
            <a:r>
              <a:rPr b="0" i="1" lang="en-US" sz="19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 3.570 avaliações no total.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f4176477e0_0_376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261" name="Google Shape;261;g3f4176477e0_0_3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f4176477e0_0_376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263" name="Google Shape;263;g3f4176477e0_0_3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f4176477e0_0_376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265" name="Google Shape;265;g3f4176477e0_0_3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g3f4176477e0_0_376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f4176477e0_0_376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268" name="Google Shape;268;g3f4176477e0_0_37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g3f4176477e0_0_376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f4176477e0_0_376"/>
          <p:cNvSpPr/>
          <p:nvPr/>
        </p:nvSpPr>
        <p:spPr>
          <a:xfrm>
            <a:off x="658368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f4176477e0_0_376"/>
          <p:cNvSpPr txBox="1"/>
          <p:nvPr/>
        </p:nvSpPr>
        <p:spPr>
          <a:xfrm>
            <a:off x="429768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API call · pass@5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f4176477e0_0_376"/>
          <p:cNvSpPr/>
          <p:nvPr/>
        </p:nvSpPr>
        <p:spPr>
          <a:xfrm>
            <a:off x="2885617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F9FAFB"/>
          </a:solidFill>
          <a:ln cap="flat" cmpd="sng" w="12700">
            <a:solidFill>
              <a:srgbClr val="EAE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f4176477e0_0_376"/>
          <p:cNvSpPr txBox="1"/>
          <p:nvPr/>
        </p:nvSpPr>
        <p:spPr>
          <a:xfrm>
            <a:off x="2657017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fmt · init · validate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f4176477e0_0_376"/>
          <p:cNvSpPr/>
          <p:nvPr/>
        </p:nvSpPr>
        <p:spPr>
          <a:xfrm>
            <a:off x="5112867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F9FAFB"/>
          </a:solidFill>
          <a:ln cap="flat" cmpd="sng" w="12700">
            <a:solidFill>
              <a:srgbClr val="EAE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Scan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f4176477e0_0_376"/>
          <p:cNvSpPr txBox="1"/>
          <p:nvPr/>
        </p:nvSpPr>
        <p:spPr>
          <a:xfrm>
            <a:off x="4884267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Checkov + Trivy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f4176477e0_0_376"/>
          <p:cNvSpPr/>
          <p:nvPr/>
        </p:nvSpPr>
        <p:spPr>
          <a:xfrm>
            <a:off x="7340117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F9FAFB"/>
          </a:solidFill>
          <a:ln cap="flat" cmpd="sng" w="12700">
            <a:solidFill>
              <a:srgbClr val="EAE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f4176477e0_0_376"/>
          <p:cNvSpPr txBox="1"/>
          <p:nvPr/>
        </p:nvSpPr>
        <p:spPr>
          <a:xfrm>
            <a:off x="7111517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summary.json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f4176477e0_0_376"/>
          <p:cNvSpPr/>
          <p:nvPr/>
        </p:nvSpPr>
        <p:spPr>
          <a:xfrm>
            <a:off x="9567367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F9FAFB"/>
          </a:solidFill>
          <a:ln cap="flat" cmpd="sng" w="19050">
            <a:solidFill>
              <a:srgbClr val="EAE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f4176477e0_0_376"/>
          <p:cNvSpPr txBox="1"/>
          <p:nvPr/>
        </p:nvSpPr>
        <p:spPr>
          <a:xfrm>
            <a:off x="9338767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métricas pass@5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f4176477e0_0_376"/>
          <p:cNvSpPr txBox="1"/>
          <p:nvPr/>
        </p:nvSpPr>
        <p:spPr>
          <a:xfrm>
            <a:off x="2624328" y="2633472"/>
            <a:ext cx="26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f4176477e0_0_376"/>
          <p:cNvSpPr txBox="1"/>
          <p:nvPr/>
        </p:nvSpPr>
        <p:spPr>
          <a:xfrm>
            <a:off x="4851577" y="2560320"/>
            <a:ext cx="2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7EAE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f4176477e0_0_376"/>
          <p:cNvSpPr txBox="1"/>
          <p:nvPr/>
        </p:nvSpPr>
        <p:spPr>
          <a:xfrm>
            <a:off x="7078827" y="2487168"/>
            <a:ext cx="261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7EAE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f4176477e0_0_376"/>
          <p:cNvSpPr txBox="1"/>
          <p:nvPr/>
        </p:nvSpPr>
        <p:spPr>
          <a:xfrm>
            <a:off x="9306077" y="2411729"/>
            <a:ext cx="26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E7EAE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f4176477e0_0_376"/>
          <p:cNvSpPr/>
          <p:nvPr/>
        </p:nvSpPr>
        <p:spPr>
          <a:xfrm>
            <a:off x="3809847" y="4114800"/>
            <a:ext cx="4572000" cy="1005900"/>
          </a:xfrm>
          <a:prstGeom prst="roundRect">
            <a:avLst>
              <a:gd fmla="val 10000" name="adj"/>
            </a:avLst>
          </a:prstGeom>
          <a:solidFill>
            <a:srgbClr val="F9FAFB"/>
          </a:solidFill>
          <a:ln cap="flat" cmpd="sng" w="19050">
            <a:solidFill>
              <a:srgbClr val="EAEDF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4 · Revise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manual · feedback loop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5" name="Google Shape;285;g3f4176477e0_0_376"/>
          <p:cNvCxnSpPr/>
          <p:nvPr/>
        </p:nvCxnSpPr>
        <p:spPr>
          <a:xfrm flipH="1" rot="-5400000">
            <a:off x="5378397" y="3853841"/>
            <a:ext cx="521100" cy="600"/>
          </a:xfrm>
          <a:prstGeom prst="bentConnector3">
            <a:avLst>
              <a:gd fmla="val 50000" name="adj1"/>
            </a:avLst>
          </a:prstGeom>
          <a:noFill/>
          <a:ln cap="flat" cmpd="sng" w="22225">
            <a:solidFill>
              <a:srgbClr val="E7EAEF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86" name="Google Shape;286;g3f4176477e0_0_376"/>
          <p:cNvSpPr txBox="1"/>
          <p:nvPr/>
        </p:nvSpPr>
        <p:spPr>
          <a:xfrm>
            <a:off x="3306927" y="3698748"/>
            <a:ext cx="219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falhas L3 &lt; 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7" name="Google Shape;287;g3f4176477e0_0_376"/>
          <p:cNvCxnSpPr/>
          <p:nvPr/>
        </p:nvCxnSpPr>
        <p:spPr>
          <a:xfrm rot="-5400000">
            <a:off x="6292797" y="3853949"/>
            <a:ext cx="521100" cy="600"/>
          </a:xfrm>
          <a:prstGeom prst="bentConnector3">
            <a:avLst>
              <a:gd fmla="val 50000" name="adj1"/>
            </a:avLst>
          </a:prstGeom>
          <a:noFill/>
          <a:ln cap="flat" cmpd="sng" w="22225">
            <a:solidFill>
              <a:srgbClr val="E7EAEF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88" name="Google Shape;288;g3f4176477e0_0_376"/>
          <p:cNvSpPr txBox="1"/>
          <p:nvPr/>
        </p:nvSpPr>
        <p:spPr>
          <a:xfrm>
            <a:off x="6690207" y="3698748"/>
            <a:ext cx="265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reenvia para o Estágio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f4176477e0_0_376"/>
          <p:cNvSpPr/>
          <p:nvPr/>
        </p:nvSpPr>
        <p:spPr>
          <a:xfrm>
            <a:off x="658368" y="1627632"/>
            <a:ext cx="1965900" cy="155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f4176477e0_0_376"/>
          <p:cNvSpPr/>
          <p:nvPr/>
        </p:nvSpPr>
        <p:spPr>
          <a:xfrm>
            <a:off x="2885617" y="1627632"/>
            <a:ext cx="1965900" cy="155400"/>
          </a:xfrm>
          <a:prstGeom prst="rect">
            <a:avLst/>
          </a:prstGeom>
          <a:solidFill>
            <a:srgbClr val="E7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f4176477e0_0_376"/>
          <p:cNvSpPr/>
          <p:nvPr/>
        </p:nvSpPr>
        <p:spPr>
          <a:xfrm>
            <a:off x="5112867" y="1627632"/>
            <a:ext cx="1965900" cy="155400"/>
          </a:xfrm>
          <a:prstGeom prst="rect">
            <a:avLst/>
          </a:prstGeom>
          <a:solidFill>
            <a:srgbClr val="E7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f4176477e0_0_376"/>
          <p:cNvSpPr/>
          <p:nvPr/>
        </p:nvSpPr>
        <p:spPr>
          <a:xfrm>
            <a:off x="7340117" y="1627632"/>
            <a:ext cx="1965900" cy="155400"/>
          </a:xfrm>
          <a:prstGeom prst="rect">
            <a:avLst/>
          </a:prstGeom>
          <a:solidFill>
            <a:srgbClr val="E7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f4176477e0_0_376"/>
          <p:cNvSpPr/>
          <p:nvPr/>
        </p:nvSpPr>
        <p:spPr>
          <a:xfrm>
            <a:off x="9567367" y="1627632"/>
            <a:ext cx="1965900" cy="155400"/>
          </a:xfrm>
          <a:prstGeom prst="rect">
            <a:avLst/>
          </a:prstGeom>
          <a:solidFill>
            <a:srgbClr val="E7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f4176477e0_0_376"/>
          <p:cNvSpPr/>
          <p:nvPr/>
        </p:nvSpPr>
        <p:spPr>
          <a:xfrm>
            <a:off x="9338767" y="361188"/>
            <a:ext cx="274200" cy="274200"/>
          </a:xfrm>
          <a:prstGeom prst="ellipse">
            <a:avLst/>
          </a:prstGeom>
          <a:solidFill>
            <a:srgbClr val="0F2369"/>
          </a:solidFill>
          <a:ln cap="flat" cmpd="sng" w="12700">
            <a:solidFill>
              <a:srgbClr val="0F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f4176477e0_0_376"/>
          <p:cNvSpPr/>
          <p:nvPr/>
        </p:nvSpPr>
        <p:spPr>
          <a:xfrm>
            <a:off x="9722815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f4176477e0_0_376"/>
          <p:cNvSpPr/>
          <p:nvPr/>
        </p:nvSpPr>
        <p:spPr>
          <a:xfrm>
            <a:off x="10106863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f4176477e0_0_376"/>
          <p:cNvSpPr/>
          <p:nvPr/>
        </p:nvSpPr>
        <p:spPr>
          <a:xfrm>
            <a:off x="10490911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f4176477e0_0_376"/>
          <p:cNvSpPr/>
          <p:nvPr/>
        </p:nvSpPr>
        <p:spPr>
          <a:xfrm>
            <a:off x="10874959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f4176477e0_0_376"/>
          <p:cNvSpPr/>
          <p:nvPr/>
        </p:nvSpPr>
        <p:spPr>
          <a:xfrm>
            <a:off x="11259007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4176477e0_0_427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f4176477e0_0_427"/>
          <p:cNvSpPr txBox="1"/>
          <p:nvPr/>
        </p:nvSpPr>
        <p:spPr>
          <a:xfrm>
            <a:off x="658368" y="365760"/>
            <a:ext cx="1087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METODOLOGIA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f4176477e0_0_427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Pipeline do benchmark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f4176477e0_0_427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f4176477e0_0_427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f4176477e0_0_427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f4176477e0_0_427"/>
          <p:cNvSpPr txBox="1"/>
          <p:nvPr/>
        </p:nvSpPr>
        <p:spPr>
          <a:xfrm>
            <a:off x="658368" y="5303520"/>
            <a:ext cx="10875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9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Estágio 2 · Validate — </a:t>
            </a:r>
            <a:r>
              <a:rPr b="0" i="1" lang="en-US" sz="19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terraform fmt, init e validate confirmam apenas a corretude sintática do código; nada aqui avalia segurança.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f4176477e0_0_427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312" name="Google Shape;312;g3f4176477e0_0_4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3f4176477e0_0_427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314" name="Google Shape;314;g3f4176477e0_0_4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3f4176477e0_0_427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316" name="Google Shape;316;g3f4176477e0_0_4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3f4176477e0_0_427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f4176477e0_0_427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319" name="Google Shape;319;g3f4176477e0_0_4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g3f4176477e0_0_427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f4176477e0_0_427"/>
          <p:cNvSpPr/>
          <p:nvPr/>
        </p:nvSpPr>
        <p:spPr>
          <a:xfrm>
            <a:off x="658368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F9FAFB"/>
          </a:solidFill>
          <a:ln cap="flat" cmpd="sng" w="12700">
            <a:solidFill>
              <a:srgbClr val="EAE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f4176477e0_0_427"/>
          <p:cNvSpPr txBox="1"/>
          <p:nvPr/>
        </p:nvSpPr>
        <p:spPr>
          <a:xfrm>
            <a:off x="429768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API call · pass@5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f4176477e0_0_427"/>
          <p:cNvSpPr/>
          <p:nvPr/>
        </p:nvSpPr>
        <p:spPr>
          <a:xfrm>
            <a:off x="2885617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f4176477e0_0_427"/>
          <p:cNvSpPr txBox="1"/>
          <p:nvPr/>
        </p:nvSpPr>
        <p:spPr>
          <a:xfrm>
            <a:off x="2657017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fmt · init · validate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f4176477e0_0_427"/>
          <p:cNvSpPr/>
          <p:nvPr/>
        </p:nvSpPr>
        <p:spPr>
          <a:xfrm>
            <a:off x="5112867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F9FAFB"/>
          </a:solidFill>
          <a:ln cap="flat" cmpd="sng" w="12700">
            <a:solidFill>
              <a:srgbClr val="EAE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Scan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f4176477e0_0_427"/>
          <p:cNvSpPr txBox="1"/>
          <p:nvPr/>
        </p:nvSpPr>
        <p:spPr>
          <a:xfrm>
            <a:off x="4884267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Checkov + Trivy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f4176477e0_0_427"/>
          <p:cNvSpPr/>
          <p:nvPr/>
        </p:nvSpPr>
        <p:spPr>
          <a:xfrm>
            <a:off x="7340117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F9FAFB"/>
          </a:solidFill>
          <a:ln cap="flat" cmpd="sng" w="12700">
            <a:solidFill>
              <a:srgbClr val="EAE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f4176477e0_0_427"/>
          <p:cNvSpPr txBox="1"/>
          <p:nvPr/>
        </p:nvSpPr>
        <p:spPr>
          <a:xfrm>
            <a:off x="7111517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summary.json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f4176477e0_0_427"/>
          <p:cNvSpPr/>
          <p:nvPr/>
        </p:nvSpPr>
        <p:spPr>
          <a:xfrm>
            <a:off x="9567367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F9FAFB"/>
          </a:solidFill>
          <a:ln cap="flat" cmpd="sng" w="19050">
            <a:solidFill>
              <a:srgbClr val="EAE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f4176477e0_0_427"/>
          <p:cNvSpPr txBox="1"/>
          <p:nvPr/>
        </p:nvSpPr>
        <p:spPr>
          <a:xfrm>
            <a:off x="9338767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métricas pass@5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f4176477e0_0_427"/>
          <p:cNvSpPr txBox="1"/>
          <p:nvPr/>
        </p:nvSpPr>
        <p:spPr>
          <a:xfrm>
            <a:off x="2624328" y="2633472"/>
            <a:ext cx="26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f4176477e0_0_427"/>
          <p:cNvSpPr txBox="1"/>
          <p:nvPr/>
        </p:nvSpPr>
        <p:spPr>
          <a:xfrm>
            <a:off x="4851577" y="2560320"/>
            <a:ext cx="2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f4176477e0_0_427"/>
          <p:cNvSpPr txBox="1"/>
          <p:nvPr/>
        </p:nvSpPr>
        <p:spPr>
          <a:xfrm>
            <a:off x="7078827" y="2487168"/>
            <a:ext cx="261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7EAE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f4176477e0_0_427"/>
          <p:cNvSpPr txBox="1"/>
          <p:nvPr/>
        </p:nvSpPr>
        <p:spPr>
          <a:xfrm>
            <a:off x="9306077" y="2411729"/>
            <a:ext cx="26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E7EAE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f4176477e0_0_427"/>
          <p:cNvSpPr/>
          <p:nvPr/>
        </p:nvSpPr>
        <p:spPr>
          <a:xfrm>
            <a:off x="3809847" y="4114800"/>
            <a:ext cx="4572000" cy="1005900"/>
          </a:xfrm>
          <a:prstGeom prst="roundRect">
            <a:avLst>
              <a:gd fmla="val 10000" name="adj"/>
            </a:avLst>
          </a:prstGeom>
          <a:solidFill>
            <a:srgbClr val="F9FAFB"/>
          </a:solidFill>
          <a:ln cap="flat" cmpd="sng" w="19050">
            <a:solidFill>
              <a:srgbClr val="EAEDF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4 · Revise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manual · feedback loop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6" name="Google Shape;336;g3f4176477e0_0_427"/>
          <p:cNvCxnSpPr/>
          <p:nvPr/>
        </p:nvCxnSpPr>
        <p:spPr>
          <a:xfrm flipH="1" rot="-5400000">
            <a:off x="5378397" y="3853841"/>
            <a:ext cx="521100" cy="600"/>
          </a:xfrm>
          <a:prstGeom prst="bentConnector3">
            <a:avLst>
              <a:gd fmla="val 50000" name="adj1"/>
            </a:avLst>
          </a:prstGeom>
          <a:noFill/>
          <a:ln cap="flat" cmpd="sng" w="22225">
            <a:solidFill>
              <a:srgbClr val="E7EAEF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337" name="Google Shape;337;g3f4176477e0_0_427"/>
          <p:cNvSpPr txBox="1"/>
          <p:nvPr/>
        </p:nvSpPr>
        <p:spPr>
          <a:xfrm>
            <a:off x="3306927" y="3698748"/>
            <a:ext cx="219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falhas L3 &lt; 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" name="Google Shape;338;g3f4176477e0_0_427"/>
          <p:cNvCxnSpPr/>
          <p:nvPr/>
        </p:nvCxnSpPr>
        <p:spPr>
          <a:xfrm rot="-5400000">
            <a:off x="6292797" y="3853949"/>
            <a:ext cx="521100" cy="600"/>
          </a:xfrm>
          <a:prstGeom prst="bentConnector3">
            <a:avLst>
              <a:gd fmla="val 50000" name="adj1"/>
            </a:avLst>
          </a:prstGeom>
          <a:noFill/>
          <a:ln cap="flat" cmpd="sng" w="22225">
            <a:solidFill>
              <a:srgbClr val="E7EAEF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339" name="Google Shape;339;g3f4176477e0_0_427"/>
          <p:cNvSpPr txBox="1"/>
          <p:nvPr/>
        </p:nvSpPr>
        <p:spPr>
          <a:xfrm>
            <a:off x="6690207" y="3698748"/>
            <a:ext cx="265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reenvia para o Estágio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f4176477e0_0_427"/>
          <p:cNvSpPr/>
          <p:nvPr/>
        </p:nvSpPr>
        <p:spPr>
          <a:xfrm>
            <a:off x="658368" y="1627632"/>
            <a:ext cx="1965900" cy="155400"/>
          </a:xfrm>
          <a:prstGeom prst="rect">
            <a:avLst/>
          </a:prstGeom>
          <a:solidFill>
            <a:srgbClr val="E7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f4176477e0_0_427"/>
          <p:cNvSpPr/>
          <p:nvPr/>
        </p:nvSpPr>
        <p:spPr>
          <a:xfrm>
            <a:off x="2885617" y="1627632"/>
            <a:ext cx="1965900" cy="155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f4176477e0_0_427"/>
          <p:cNvSpPr/>
          <p:nvPr/>
        </p:nvSpPr>
        <p:spPr>
          <a:xfrm>
            <a:off x="5112867" y="1627632"/>
            <a:ext cx="1965900" cy="155400"/>
          </a:xfrm>
          <a:prstGeom prst="rect">
            <a:avLst/>
          </a:prstGeom>
          <a:solidFill>
            <a:srgbClr val="E7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f4176477e0_0_427"/>
          <p:cNvSpPr/>
          <p:nvPr/>
        </p:nvSpPr>
        <p:spPr>
          <a:xfrm>
            <a:off x="7340117" y="1627632"/>
            <a:ext cx="1965900" cy="155400"/>
          </a:xfrm>
          <a:prstGeom prst="rect">
            <a:avLst/>
          </a:prstGeom>
          <a:solidFill>
            <a:srgbClr val="E7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f4176477e0_0_427"/>
          <p:cNvSpPr/>
          <p:nvPr/>
        </p:nvSpPr>
        <p:spPr>
          <a:xfrm>
            <a:off x="9567367" y="1627632"/>
            <a:ext cx="1965900" cy="155400"/>
          </a:xfrm>
          <a:prstGeom prst="rect">
            <a:avLst/>
          </a:prstGeom>
          <a:solidFill>
            <a:srgbClr val="E7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f4176477e0_0_427"/>
          <p:cNvSpPr/>
          <p:nvPr/>
        </p:nvSpPr>
        <p:spPr>
          <a:xfrm>
            <a:off x="9338767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f4176477e0_0_427"/>
          <p:cNvSpPr/>
          <p:nvPr/>
        </p:nvSpPr>
        <p:spPr>
          <a:xfrm>
            <a:off x="9722815" y="361188"/>
            <a:ext cx="274200" cy="274200"/>
          </a:xfrm>
          <a:prstGeom prst="ellipse">
            <a:avLst/>
          </a:prstGeom>
          <a:solidFill>
            <a:srgbClr val="0F2369"/>
          </a:solidFill>
          <a:ln cap="flat" cmpd="sng" w="12700">
            <a:solidFill>
              <a:srgbClr val="0F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f4176477e0_0_427"/>
          <p:cNvSpPr/>
          <p:nvPr/>
        </p:nvSpPr>
        <p:spPr>
          <a:xfrm>
            <a:off x="10106863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f4176477e0_0_427"/>
          <p:cNvSpPr/>
          <p:nvPr/>
        </p:nvSpPr>
        <p:spPr>
          <a:xfrm>
            <a:off x="10490911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f4176477e0_0_427"/>
          <p:cNvSpPr/>
          <p:nvPr/>
        </p:nvSpPr>
        <p:spPr>
          <a:xfrm>
            <a:off x="10874959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f4176477e0_0_427"/>
          <p:cNvSpPr/>
          <p:nvPr/>
        </p:nvSpPr>
        <p:spPr>
          <a:xfrm>
            <a:off x="11259007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4176477e0_0_477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3f4176477e0_0_477"/>
          <p:cNvSpPr txBox="1"/>
          <p:nvPr/>
        </p:nvSpPr>
        <p:spPr>
          <a:xfrm>
            <a:off x="658368" y="365760"/>
            <a:ext cx="1087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METODOLOGIA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g3f4176477e0_0_477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Pipeline do benchmark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f4176477e0_0_477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f4176477e0_0_477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3f4176477e0_0_477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f4176477e0_0_477"/>
          <p:cNvSpPr txBox="1"/>
          <p:nvPr/>
        </p:nvSpPr>
        <p:spPr>
          <a:xfrm>
            <a:off x="658368" y="5303520"/>
            <a:ext cx="10875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9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Estágio 3 · Scan — </a:t>
            </a:r>
            <a:r>
              <a:rPr b="0" i="1" lang="en-US" sz="19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Checkov (conformidade) e Trivy (CVEs) analisam o mesmo plano; um único scanner de segurança não basta.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3f4176477e0_0_477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363" name="Google Shape;363;g3f4176477e0_0_4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g3f4176477e0_0_477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365" name="Google Shape;365;g3f4176477e0_0_4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3f4176477e0_0_477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367" name="Google Shape;367;g3f4176477e0_0_4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g3f4176477e0_0_477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f4176477e0_0_477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370" name="Google Shape;370;g3f4176477e0_0_47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g3f4176477e0_0_477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f4176477e0_0_477"/>
          <p:cNvSpPr/>
          <p:nvPr/>
        </p:nvSpPr>
        <p:spPr>
          <a:xfrm>
            <a:off x="658368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F9FAFB"/>
          </a:solidFill>
          <a:ln cap="flat" cmpd="sng" w="12700">
            <a:solidFill>
              <a:srgbClr val="EAE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3f4176477e0_0_477"/>
          <p:cNvSpPr txBox="1"/>
          <p:nvPr/>
        </p:nvSpPr>
        <p:spPr>
          <a:xfrm>
            <a:off x="429768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API call · pass@5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3f4176477e0_0_477"/>
          <p:cNvSpPr/>
          <p:nvPr/>
        </p:nvSpPr>
        <p:spPr>
          <a:xfrm>
            <a:off x="2885617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F9FAFB"/>
          </a:solidFill>
          <a:ln cap="flat" cmpd="sng" w="12700">
            <a:solidFill>
              <a:srgbClr val="EAE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3f4176477e0_0_477"/>
          <p:cNvSpPr txBox="1"/>
          <p:nvPr/>
        </p:nvSpPr>
        <p:spPr>
          <a:xfrm>
            <a:off x="2657017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fmt · init · validate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f4176477e0_0_477"/>
          <p:cNvSpPr/>
          <p:nvPr/>
        </p:nvSpPr>
        <p:spPr>
          <a:xfrm>
            <a:off x="5112867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Scan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f4176477e0_0_477"/>
          <p:cNvSpPr txBox="1"/>
          <p:nvPr/>
        </p:nvSpPr>
        <p:spPr>
          <a:xfrm>
            <a:off x="4884267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Checkov + Trivy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f4176477e0_0_477"/>
          <p:cNvSpPr/>
          <p:nvPr/>
        </p:nvSpPr>
        <p:spPr>
          <a:xfrm>
            <a:off x="7340117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F9FAFB"/>
          </a:solidFill>
          <a:ln cap="flat" cmpd="sng" w="12700">
            <a:solidFill>
              <a:srgbClr val="EAE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3f4176477e0_0_477"/>
          <p:cNvSpPr txBox="1"/>
          <p:nvPr/>
        </p:nvSpPr>
        <p:spPr>
          <a:xfrm>
            <a:off x="7111517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summary.json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3f4176477e0_0_477"/>
          <p:cNvSpPr/>
          <p:nvPr/>
        </p:nvSpPr>
        <p:spPr>
          <a:xfrm>
            <a:off x="9567367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F9FAFB"/>
          </a:solidFill>
          <a:ln cap="flat" cmpd="sng" w="19050">
            <a:solidFill>
              <a:srgbClr val="EAE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f4176477e0_0_477"/>
          <p:cNvSpPr txBox="1"/>
          <p:nvPr/>
        </p:nvSpPr>
        <p:spPr>
          <a:xfrm>
            <a:off x="9338767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métricas pass@5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f4176477e0_0_477"/>
          <p:cNvSpPr txBox="1"/>
          <p:nvPr/>
        </p:nvSpPr>
        <p:spPr>
          <a:xfrm>
            <a:off x="2624328" y="2633472"/>
            <a:ext cx="26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E7EAE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f4176477e0_0_477"/>
          <p:cNvSpPr txBox="1"/>
          <p:nvPr/>
        </p:nvSpPr>
        <p:spPr>
          <a:xfrm>
            <a:off x="4851577" y="2560320"/>
            <a:ext cx="2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f4176477e0_0_477"/>
          <p:cNvSpPr txBox="1"/>
          <p:nvPr/>
        </p:nvSpPr>
        <p:spPr>
          <a:xfrm>
            <a:off x="7078827" y="2487168"/>
            <a:ext cx="261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f4176477e0_0_477"/>
          <p:cNvSpPr txBox="1"/>
          <p:nvPr/>
        </p:nvSpPr>
        <p:spPr>
          <a:xfrm>
            <a:off x="9306077" y="2411729"/>
            <a:ext cx="26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E7EAE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f4176477e0_0_477"/>
          <p:cNvSpPr/>
          <p:nvPr/>
        </p:nvSpPr>
        <p:spPr>
          <a:xfrm>
            <a:off x="3809847" y="4114800"/>
            <a:ext cx="4572000" cy="1005900"/>
          </a:xfrm>
          <a:prstGeom prst="roundRect">
            <a:avLst>
              <a:gd fmla="val 10000" name="adj"/>
            </a:avLst>
          </a:prstGeom>
          <a:solidFill>
            <a:srgbClr val="F9FAFB"/>
          </a:solidFill>
          <a:ln cap="flat" cmpd="sng" w="19050">
            <a:solidFill>
              <a:srgbClr val="EAEDF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4 · Revise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manual · feedback loop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7" name="Google Shape;387;g3f4176477e0_0_477"/>
          <p:cNvCxnSpPr/>
          <p:nvPr/>
        </p:nvCxnSpPr>
        <p:spPr>
          <a:xfrm flipH="1" rot="-5400000">
            <a:off x="5378397" y="3853841"/>
            <a:ext cx="521100" cy="600"/>
          </a:xfrm>
          <a:prstGeom prst="bentConnector3">
            <a:avLst>
              <a:gd fmla="val 50000" name="adj1"/>
            </a:avLst>
          </a:prstGeom>
          <a:noFill/>
          <a:ln cap="flat" cmpd="sng" w="22225">
            <a:solidFill>
              <a:srgbClr val="E7EAEF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388" name="Google Shape;388;g3f4176477e0_0_477"/>
          <p:cNvSpPr txBox="1"/>
          <p:nvPr/>
        </p:nvSpPr>
        <p:spPr>
          <a:xfrm>
            <a:off x="3306927" y="3698748"/>
            <a:ext cx="219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falhas L3 &lt; 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9" name="Google Shape;389;g3f4176477e0_0_477"/>
          <p:cNvCxnSpPr/>
          <p:nvPr/>
        </p:nvCxnSpPr>
        <p:spPr>
          <a:xfrm rot="-5400000">
            <a:off x="6292797" y="3853949"/>
            <a:ext cx="521100" cy="600"/>
          </a:xfrm>
          <a:prstGeom prst="bentConnector3">
            <a:avLst>
              <a:gd fmla="val 50000" name="adj1"/>
            </a:avLst>
          </a:prstGeom>
          <a:noFill/>
          <a:ln cap="flat" cmpd="sng" w="22225">
            <a:solidFill>
              <a:srgbClr val="E7EAEF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390" name="Google Shape;390;g3f4176477e0_0_477"/>
          <p:cNvSpPr txBox="1"/>
          <p:nvPr/>
        </p:nvSpPr>
        <p:spPr>
          <a:xfrm>
            <a:off x="6690207" y="3698748"/>
            <a:ext cx="265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reenvia para o Estágio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3f4176477e0_0_477"/>
          <p:cNvSpPr/>
          <p:nvPr/>
        </p:nvSpPr>
        <p:spPr>
          <a:xfrm>
            <a:off x="658368" y="1627632"/>
            <a:ext cx="1965900" cy="155400"/>
          </a:xfrm>
          <a:prstGeom prst="rect">
            <a:avLst/>
          </a:prstGeom>
          <a:solidFill>
            <a:srgbClr val="E7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g3f4176477e0_0_477"/>
          <p:cNvSpPr/>
          <p:nvPr/>
        </p:nvSpPr>
        <p:spPr>
          <a:xfrm>
            <a:off x="2885617" y="1627632"/>
            <a:ext cx="1965900" cy="155400"/>
          </a:xfrm>
          <a:prstGeom prst="rect">
            <a:avLst/>
          </a:prstGeom>
          <a:solidFill>
            <a:srgbClr val="E7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g3f4176477e0_0_477"/>
          <p:cNvSpPr/>
          <p:nvPr/>
        </p:nvSpPr>
        <p:spPr>
          <a:xfrm>
            <a:off x="5112867" y="1627632"/>
            <a:ext cx="1965900" cy="155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3f4176477e0_0_477"/>
          <p:cNvSpPr/>
          <p:nvPr/>
        </p:nvSpPr>
        <p:spPr>
          <a:xfrm>
            <a:off x="7340117" y="1627632"/>
            <a:ext cx="1965900" cy="155400"/>
          </a:xfrm>
          <a:prstGeom prst="rect">
            <a:avLst/>
          </a:prstGeom>
          <a:solidFill>
            <a:srgbClr val="E7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3f4176477e0_0_477"/>
          <p:cNvSpPr/>
          <p:nvPr/>
        </p:nvSpPr>
        <p:spPr>
          <a:xfrm>
            <a:off x="9567367" y="1627632"/>
            <a:ext cx="1965900" cy="155400"/>
          </a:xfrm>
          <a:prstGeom prst="rect">
            <a:avLst/>
          </a:prstGeom>
          <a:solidFill>
            <a:srgbClr val="E7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f4176477e0_0_477"/>
          <p:cNvSpPr/>
          <p:nvPr/>
        </p:nvSpPr>
        <p:spPr>
          <a:xfrm>
            <a:off x="9338767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f4176477e0_0_477"/>
          <p:cNvSpPr/>
          <p:nvPr/>
        </p:nvSpPr>
        <p:spPr>
          <a:xfrm>
            <a:off x="9722815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f4176477e0_0_477"/>
          <p:cNvSpPr/>
          <p:nvPr/>
        </p:nvSpPr>
        <p:spPr>
          <a:xfrm>
            <a:off x="10106863" y="361188"/>
            <a:ext cx="274200" cy="274200"/>
          </a:xfrm>
          <a:prstGeom prst="ellipse">
            <a:avLst/>
          </a:prstGeom>
          <a:solidFill>
            <a:srgbClr val="0F2369"/>
          </a:solidFill>
          <a:ln cap="flat" cmpd="sng" w="12700">
            <a:solidFill>
              <a:srgbClr val="0F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3f4176477e0_0_477"/>
          <p:cNvSpPr/>
          <p:nvPr/>
        </p:nvSpPr>
        <p:spPr>
          <a:xfrm>
            <a:off x="10490911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3f4176477e0_0_477"/>
          <p:cNvSpPr/>
          <p:nvPr/>
        </p:nvSpPr>
        <p:spPr>
          <a:xfrm>
            <a:off x="10874959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3f4176477e0_0_477"/>
          <p:cNvSpPr/>
          <p:nvPr/>
        </p:nvSpPr>
        <p:spPr>
          <a:xfrm>
            <a:off x="11259007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f4176477e0_0_527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3f4176477e0_0_527"/>
          <p:cNvSpPr txBox="1"/>
          <p:nvPr/>
        </p:nvSpPr>
        <p:spPr>
          <a:xfrm>
            <a:off x="658368" y="365760"/>
            <a:ext cx="1087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METODOLOGIA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3f4176477e0_0_527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Pipeline do benchmark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g3f4176477e0_0_527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f4176477e0_0_527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f4176477e0_0_527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f4176477e0_0_527"/>
          <p:cNvSpPr txBox="1"/>
          <p:nvPr/>
        </p:nvSpPr>
        <p:spPr>
          <a:xfrm>
            <a:off x="658368" y="5303520"/>
            <a:ext cx="10875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9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Estágio 4 · Revise — </a:t>
            </a:r>
            <a:r>
              <a:rPr b="0" i="1" lang="en-US" sz="19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acionado manualmente apenas quando a conformidade L3 fica abaixo de 5%; o código revisado reentra no Estágio 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f4176477e0_0_527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414" name="Google Shape;414;g3f4176477e0_0_5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g3f4176477e0_0_527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416" name="Google Shape;416;g3f4176477e0_0_5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g3f4176477e0_0_527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418" name="Google Shape;418;g3f4176477e0_0_5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g3f4176477e0_0_527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f4176477e0_0_527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421" name="Google Shape;421;g3f4176477e0_0_5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3f4176477e0_0_527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g3f4176477e0_0_527"/>
          <p:cNvSpPr/>
          <p:nvPr/>
        </p:nvSpPr>
        <p:spPr>
          <a:xfrm>
            <a:off x="658368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F9FAFB"/>
          </a:solidFill>
          <a:ln cap="flat" cmpd="sng" w="12700">
            <a:solidFill>
              <a:srgbClr val="EAE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f4176477e0_0_527"/>
          <p:cNvSpPr txBox="1"/>
          <p:nvPr/>
        </p:nvSpPr>
        <p:spPr>
          <a:xfrm>
            <a:off x="429768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API call · pass@5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f4176477e0_0_527"/>
          <p:cNvSpPr/>
          <p:nvPr/>
        </p:nvSpPr>
        <p:spPr>
          <a:xfrm>
            <a:off x="2885617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F9FAFB"/>
          </a:solidFill>
          <a:ln cap="flat" cmpd="sng" w="12700">
            <a:solidFill>
              <a:srgbClr val="EAE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3f4176477e0_0_527"/>
          <p:cNvSpPr txBox="1"/>
          <p:nvPr/>
        </p:nvSpPr>
        <p:spPr>
          <a:xfrm>
            <a:off x="2657017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fmt · init · validate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3f4176477e0_0_527"/>
          <p:cNvSpPr/>
          <p:nvPr/>
        </p:nvSpPr>
        <p:spPr>
          <a:xfrm>
            <a:off x="5112867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F9FAFB"/>
          </a:solidFill>
          <a:ln cap="flat" cmpd="sng" w="12700">
            <a:solidFill>
              <a:srgbClr val="EAE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Scan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g3f4176477e0_0_527"/>
          <p:cNvSpPr txBox="1"/>
          <p:nvPr/>
        </p:nvSpPr>
        <p:spPr>
          <a:xfrm>
            <a:off x="4884267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Checkov + Trivy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3f4176477e0_0_527"/>
          <p:cNvSpPr/>
          <p:nvPr/>
        </p:nvSpPr>
        <p:spPr>
          <a:xfrm>
            <a:off x="7340117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F9FAFB"/>
          </a:solidFill>
          <a:ln cap="flat" cmpd="sng" w="12700">
            <a:solidFill>
              <a:srgbClr val="EAE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g3f4176477e0_0_527"/>
          <p:cNvSpPr txBox="1"/>
          <p:nvPr/>
        </p:nvSpPr>
        <p:spPr>
          <a:xfrm>
            <a:off x="7111517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summary.json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3f4176477e0_0_527"/>
          <p:cNvSpPr/>
          <p:nvPr/>
        </p:nvSpPr>
        <p:spPr>
          <a:xfrm>
            <a:off x="9567367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F9FAFB"/>
          </a:solidFill>
          <a:ln cap="flat" cmpd="sng" w="19050">
            <a:solidFill>
              <a:srgbClr val="EAE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g3f4176477e0_0_527"/>
          <p:cNvSpPr txBox="1"/>
          <p:nvPr/>
        </p:nvSpPr>
        <p:spPr>
          <a:xfrm>
            <a:off x="9338767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métricas pass@5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3f4176477e0_0_527"/>
          <p:cNvSpPr txBox="1"/>
          <p:nvPr/>
        </p:nvSpPr>
        <p:spPr>
          <a:xfrm>
            <a:off x="2624328" y="2633472"/>
            <a:ext cx="26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E7EAE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f4176477e0_0_527"/>
          <p:cNvSpPr txBox="1"/>
          <p:nvPr/>
        </p:nvSpPr>
        <p:spPr>
          <a:xfrm>
            <a:off x="4851577" y="2560320"/>
            <a:ext cx="2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7EAE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f4176477e0_0_527"/>
          <p:cNvSpPr txBox="1"/>
          <p:nvPr/>
        </p:nvSpPr>
        <p:spPr>
          <a:xfrm>
            <a:off x="7078827" y="2487168"/>
            <a:ext cx="261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7EAE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g3f4176477e0_0_527"/>
          <p:cNvSpPr txBox="1"/>
          <p:nvPr/>
        </p:nvSpPr>
        <p:spPr>
          <a:xfrm>
            <a:off x="9306077" y="2411729"/>
            <a:ext cx="26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E7EAE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g3f4176477e0_0_527"/>
          <p:cNvSpPr/>
          <p:nvPr/>
        </p:nvSpPr>
        <p:spPr>
          <a:xfrm>
            <a:off x="3809847" y="4114800"/>
            <a:ext cx="4572000" cy="1005900"/>
          </a:xfrm>
          <a:prstGeom prst="roundRect">
            <a:avLst>
              <a:gd fmla="val 10000" name="adj"/>
            </a:avLst>
          </a:prstGeom>
          <a:solidFill>
            <a:srgbClr val="F4F6FA"/>
          </a:solidFill>
          <a:ln cap="flat" cmpd="sng" w="19050">
            <a:solidFill>
              <a:srgbClr val="F7A82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4 · Revise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manual · feedback loop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8" name="Google Shape;438;g3f4176477e0_0_527"/>
          <p:cNvCxnSpPr/>
          <p:nvPr/>
        </p:nvCxnSpPr>
        <p:spPr>
          <a:xfrm flipH="1" rot="-5400000">
            <a:off x="5378397" y="3853841"/>
            <a:ext cx="521100" cy="600"/>
          </a:xfrm>
          <a:prstGeom prst="bentConnector3">
            <a:avLst>
              <a:gd fmla="val 50000" name="adj1"/>
            </a:avLst>
          </a:prstGeom>
          <a:noFill/>
          <a:ln cap="flat" cmpd="sng" w="22225">
            <a:solidFill>
              <a:srgbClr val="F7A823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439" name="Google Shape;439;g3f4176477e0_0_527"/>
          <p:cNvSpPr txBox="1"/>
          <p:nvPr/>
        </p:nvSpPr>
        <p:spPr>
          <a:xfrm>
            <a:off x="3306927" y="3698748"/>
            <a:ext cx="219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falhas L3 &lt; 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0" name="Google Shape;440;g3f4176477e0_0_527"/>
          <p:cNvCxnSpPr/>
          <p:nvPr/>
        </p:nvCxnSpPr>
        <p:spPr>
          <a:xfrm rot="-5400000">
            <a:off x="6292797" y="3853949"/>
            <a:ext cx="521100" cy="600"/>
          </a:xfrm>
          <a:prstGeom prst="bentConnector3">
            <a:avLst>
              <a:gd fmla="val 50000" name="adj1"/>
            </a:avLst>
          </a:prstGeom>
          <a:noFill/>
          <a:ln cap="flat" cmpd="sng" w="22225">
            <a:solidFill>
              <a:srgbClr val="0A866E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441" name="Google Shape;441;g3f4176477e0_0_527"/>
          <p:cNvSpPr txBox="1"/>
          <p:nvPr/>
        </p:nvSpPr>
        <p:spPr>
          <a:xfrm>
            <a:off x="6690207" y="3698748"/>
            <a:ext cx="265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reenvia para o Estágio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f4176477e0_0_527"/>
          <p:cNvSpPr/>
          <p:nvPr/>
        </p:nvSpPr>
        <p:spPr>
          <a:xfrm>
            <a:off x="658368" y="1627632"/>
            <a:ext cx="1965900" cy="155400"/>
          </a:xfrm>
          <a:prstGeom prst="rect">
            <a:avLst/>
          </a:prstGeom>
          <a:solidFill>
            <a:srgbClr val="E7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3f4176477e0_0_527"/>
          <p:cNvSpPr/>
          <p:nvPr/>
        </p:nvSpPr>
        <p:spPr>
          <a:xfrm>
            <a:off x="2885617" y="1627632"/>
            <a:ext cx="1965900" cy="155400"/>
          </a:xfrm>
          <a:prstGeom prst="rect">
            <a:avLst/>
          </a:prstGeom>
          <a:solidFill>
            <a:srgbClr val="E7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g3f4176477e0_0_527"/>
          <p:cNvSpPr/>
          <p:nvPr/>
        </p:nvSpPr>
        <p:spPr>
          <a:xfrm>
            <a:off x="5112867" y="1627632"/>
            <a:ext cx="1965900" cy="155400"/>
          </a:xfrm>
          <a:prstGeom prst="rect">
            <a:avLst/>
          </a:prstGeom>
          <a:solidFill>
            <a:srgbClr val="E7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g3f4176477e0_0_527"/>
          <p:cNvSpPr/>
          <p:nvPr/>
        </p:nvSpPr>
        <p:spPr>
          <a:xfrm>
            <a:off x="7340117" y="1627632"/>
            <a:ext cx="1965900" cy="155400"/>
          </a:xfrm>
          <a:prstGeom prst="rect">
            <a:avLst/>
          </a:prstGeom>
          <a:solidFill>
            <a:srgbClr val="E7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g3f4176477e0_0_527"/>
          <p:cNvSpPr/>
          <p:nvPr/>
        </p:nvSpPr>
        <p:spPr>
          <a:xfrm>
            <a:off x="9567367" y="1627632"/>
            <a:ext cx="1965900" cy="155400"/>
          </a:xfrm>
          <a:prstGeom prst="rect">
            <a:avLst/>
          </a:prstGeom>
          <a:solidFill>
            <a:srgbClr val="E7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3f4176477e0_0_527"/>
          <p:cNvSpPr/>
          <p:nvPr/>
        </p:nvSpPr>
        <p:spPr>
          <a:xfrm>
            <a:off x="9338767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g3f4176477e0_0_527"/>
          <p:cNvSpPr/>
          <p:nvPr/>
        </p:nvSpPr>
        <p:spPr>
          <a:xfrm>
            <a:off x="9722815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g3f4176477e0_0_527"/>
          <p:cNvSpPr/>
          <p:nvPr/>
        </p:nvSpPr>
        <p:spPr>
          <a:xfrm>
            <a:off x="10106863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g3f4176477e0_0_527"/>
          <p:cNvSpPr/>
          <p:nvPr/>
        </p:nvSpPr>
        <p:spPr>
          <a:xfrm>
            <a:off x="10490911" y="361188"/>
            <a:ext cx="274200" cy="274200"/>
          </a:xfrm>
          <a:prstGeom prst="ellipse">
            <a:avLst/>
          </a:prstGeom>
          <a:solidFill>
            <a:srgbClr val="0F2369"/>
          </a:solidFill>
          <a:ln cap="flat" cmpd="sng" w="12700">
            <a:solidFill>
              <a:srgbClr val="0F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g3f4176477e0_0_527"/>
          <p:cNvSpPr/>
          <p:nvPr/>
        </p:nvSpPr>
        <p:spPr>
          <a:xfrm>
            <a:off x="10874959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3f4176477e0_0_527"/>
          <p:cNvSpPr/>
          <p:nvPr/>
        </p:nvSpPr>
        <p:spPr>
          <a:xfrm>
            <a:off x="11259007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f4176477e0_0_577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g3f4176477e0_0_577"/>
          <p:cNvSpPr txBox="1"/>
          <p:nvPr/>
        </p:nvSpPr>
        <p:spPr>
          <a:xfrm>
            <a:off x="658368" y="365760"/>
            <a:ext cx="1087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METODOLOGIA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g3f4176477e0_0_577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Pipeline do benchmark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3f4176477e0_0_577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3f4176477e0_0_577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3f4176477e0_0_577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g3f4176477e0_0_577"/>
          <p:cNvSpPr txBox="1"/>
          <p:nvPr/>
        </p:nvSpPr>
        <p:spPr>
          <a:xfrm>
            <a:off x="658368" y="5303520"/>
            <a:ext cx="10875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9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Estágio 5 · Evaluate — </a:t>
            </a:r>
            <a:r>
              <a:rPr b="0" i="1" lang="en-US" sz="19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os achados dos dois scanners são agregados por cenário e nível de segurança em summary.json.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g3f4176477e0_0_577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465" name="Google Shape;465;g3f4176477e0_0_5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g3f4176477e0_0_577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467" name="Google Shape;467;g3f4176477e0_0_5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g3f4176477e0_0_577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469" name="Google Shape;469;g3f4176477e0_0_5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g3f4176477e0_0_577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g3f4176477e0_0_577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472" name="Google Shape;472;g3f4176477e0_0_57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g3f4176477e0_0_577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g3f4176477e0_0_577"/>
          <p:cNvSpPr/>
          <p:nvPr/>
        </p:nvSpPr>
        <p:spPr>
          <a:xfrm>
            <a:off x="658368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F9FAFB"/>
          </a:solidFill>
          <a:ln cap="flat" cmpd="sng" w="12700">
            <a:solidFill>
              <a:srgbClr val="EAE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g3f4176477e0_0_577"/>
          <p:cNvSpPr txBox="1"/>
          <p:nvPr/>
        </p:nvSpPr>
        <p:spPr>
          <a:xfrm>
            <a:off x="429768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API call · pass@5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g3f4176477e0_0_577"/>
          <p:cNvSpPr/>
          <p:nvPr/>
        </p:nvSpPr>
        <p:spPr>
          <a:xfrm>
            <a:off x="2885617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F9FAFB"/>
          </a:solidFill>
          <a:ln cap="flat" cmpd="sng" w="12700">
            <a:solidFill>
              <a:srgbClr val="EAE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g3f4176477e0_0_577"/>
          <p:cNvSpPr txBox="1"/>
          <p:nvPr/>
        </p:nvSpPr>
        <p:spPr>
          <a:xfrm>
            <a:off x="2657017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fmt · init · validate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g3f4176477e0_0_577"/>
          <p:cNvSpPr/>
          <p:nvPr/>
        </p:nvSpPr>
        <p:spPr>
          <a:xfrm>
            <a:off x="5112867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F9FAFB"/>
          </a:solidFill>
          <a:ln cap="flat" cmpd="sng" w="12700">
            <a:solidFill>
              <a:srgbClr val="EAE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Scan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g3f4176477e0_0_577"/>
          <p:cNvSpPr txBox="1"/>
          <p:nvPr/>
        </p:nvSpPr>
        <p:spPr>
          <a:xfrm>
            <a:off x="4884267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Checkov + Trivy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g3f4176477e0_0_577"/>
          <p:cNvSpPr/>
          <p:nvPr/>
        </p:nvSpPr>
        <p:spPr>
          <a:xfrm>
            <a:off x="7340117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3f4176477e0_0_577"/>
          <p:cNvSpPr txBox="1"/>
          <p:nvPr/>
        </p:nvSpPr>
        <p:spPr>
          <a:xfrm>
            <a:off x="7111517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summary.json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3f4176477e0_0_577"/>
          <p:cNvSpPr/>
          <p:nvPr/>
        </p:nvSpPr>
        <p:spPr>
          <a:xfrm>
            <a:off x="9567367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F9FAFB"/>
          </a:solidFill>
          <a:ln cap="flat" cmpd="sng" w="19050">
            <a:solidFill>
              <a:srgbClr val="EAE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3f4176477e0_0_577"/>
          <p:cNvSpPr txBox="1"/>
          <p:nvPr/>
        </p:nvSpPr>
        <p:spPr>
          <a:xfrm>
            <a:off x="9338767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métricas pass@5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g3f4176477e0_0_577"/>
          <p:cNvSpPr txBox="1"/>
          <p:nvPr/>
        </p:nvSpPr>
        <p:spPr>
          <a:xfrm>
            <a:off x="2624328" y="2633472"/>
            <a:ext cx="26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E7EAE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g3f4176477e0_0_577"/>
          <p:cNvSpPr txBox="1"/>
          <p:nvPr/>
        </p:nvSpPr>
        <p:spPr>
          <a:xfrm>
            <a:off x="4851577" y="2560320"/>
            <a:ext cx="2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7EAE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g3f4176477e0_0_577"/>
          <p:cNvSpPr txBox="1"/>
          <p:nvPr/>
        </p:nvSpPr>
        <p:spPr>
          <a:xfrm>
            <a:off x="7078827" y="2487168"/>
            <a:ext cx="261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g3f4176477e0_0_577"/>
          <p:cNvSpPr txBox="1"/>
          <p:nvPr/>
        </p:nvSpPr>
        <p:spPr>
          <a:xfrm>
            <a:off x="9306077" y="2411729"/>
            <a:ext cx="26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g3f4176477e0_0_577"/>
          <p:cNvSpPr/>
          <p:nvPr/>
        </p:nvSpPr>
        <p:spPr>
          <a:xfrm>
            <a:off x="3809847" y="4114800"/>
            <a:ext cx="4572000" cy="1005900"/>
          </a:xfrm>
          <a:prstGeom prst="roundRect">
            <a:avLst>
              <a:gd fmla="val 10000" name="adj"/>
            </a:avLst>
          </a:prstGeom>
          <a:solidFill>
            <a:srgbClr val="F9FAFB"/>
          </a:solidFill>
          <a:ln cap="flat" cmpd="sng" w="19050">
            <a:solidFill>
              <a:srgbClr val="EAEDF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4 · Revise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manual · feedback loop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9" name="Google Shape;489;g3f4176477e0_0_577"/>
          <p:cNvCxnSpPr/>
          <p:nvPr/>
        </p:nvCxnSpPr>
        <p:spPr>
          <a:xfrm flipH="1" rot="-5400000">
            <a:off x="5378397" y="3853841"/>
            <a:ext cx="521100" cy="600"/>
          </a:xfrm>
          <a:prstGeom prst="bentConnector3">
            <a:avLst>
              <a:gd fmla="val 50000" name="adj1"/>
            </a:avLst>
          </a:prstGeom>
          <a:noFill/>
          <a:ln cap="flat" cmpd="sng" w="22225">
            <a:solidFill>
              <a:srgbClr val="E7EAEF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490" name="Google Shape;490;g3f4176477e0_0_577"/>
          <p:cNvSpPr txBox="1"/>
          <p:nvPr/>
        </p:nvSpPr>
        <p:spPr>
          <a:xfrm>
            <a:off x="3306927" y="3698748"/>
            <a:ext cx="219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falhas L3 &lt; 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1" name="Google Shape;491;g3f4176477e0_0_577"/>
          <p:cNvCxnSpPr/>
          <p:nvPr/>
        </p:nvCxnSpPr>
        <p:spPr>
          <a:xfrm rot="-5400000">
            <a:off x="6292797" y="3853949"/>
            <a:ext cx="521100" cy="600"/>
          </a:xfrm>
          <a:prstGeom prst="bentConnector3">
            <a:avLst>
              <a:gd fmla="val 50000" name="adj1"/>
            </a:avLst>
          </a:prstGeom>
          <a:noFill/>
          <a:ln cap="flat" cmpd="sng" w="22225">
            <a:solidFill>
              <a:srgbClr val="E7EAEF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492" name="Google Shape;492;g3f4176477e0_0_577"/>
          <p:cNvSpPr txBox="1"/>
          <p:nvPr/>
        </p:nvSpPr>
        <p:spPr>
          <a:xfrm>
            <a:off x="6690207" y="3698748"/>
            <a:ext cx="265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reenvia para o Estágio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g3f4176477e0_0_577"/>
          <p:cNvSpPr/>
          <p:nvPr/>
        </p:nvSpPr>
        <p:spPr>
          <a:xfrm>
            <a:off x="658368" y="1627632"/>
            <a:ext cx="1965900" cy="155400"/>
          </a:xfrm>
          <a:prstGeom prst="rect">
            <a:avLst/>
          </a:prstGeom>
          <a:solidFill>
            <a:srgbClr val="E7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g3f4176477e0_0_577"/>
          <p:cNvSpPr/>
          <p:nvPr/>
        </p:nvSpPr>
        <p:spPr>
          <a:xfrm>
            <a:off x="2885617" y="1627632"/>
            <a:ext cx="1965900" cy="155400"/>
          </a:xfrm>
          <a:prstGeom prst="rect">
            <a:avLst/>
          </a:prstGeom>
          <a:solidFill>
            <a:srgbClr val="E7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3f4176477e0_0_577"/>
          <p:cNvSpPr/>
          <p:nvPr/>
        </p:nvSpPr>
        <p:spPr>
          <a:xfrm>
            <a:off x="5112867" y="1627632"/>
            <a:ext cx="1965900" cy="155400"/>
          </a:xfrm>
          <a:prstGeom prst="rect">
            <a:avLst/>
          </a:prstGeom>
          <a:solidFill>
            <a:srgbClr val="E7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g3f4176477e0_0_577"/>
          <p:cNvSpPr/>
          <p:nvPr/>
        </p:nvSpPr>
        <p:spPr>
          <a:xfrm>
            <a:off x="7340117" y="1627632"/>
            <a:ext cx="1965900" cy="155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g3f4176477e0_0_577"/>
          <p:cNvSpPr/>
          <p:nvPr/>
        </p:nvSpPr>
        <p:spPr>
          <a:xfrm>
            <a:off x="9567367" y="1627632"/>
            <a:ext cx="1965900" cy="155400"/>
          </a:xfrm>
          <a:prstGeom prst="rect">
            <a:avLst/>
          </a:prstGeom>
          <a:solidFill>
            <a:srgbClr val="E7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g3f4176477e0_0_577"/>
          <p:cNvSpPr/>
          <p:nvPr/>
        </p:nvSpPr>
        <p:spPr>
          <a:xfrm>
            <a:off x="9338767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g3f4176477e0_0_577"/>
          <p:cNvSpPr/>
          <p:nvPr/>
        </p:nvSpPr>
        <p:spPr>
          <a:xfrm>
            <a:off x="9722815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g3f4176477e0_0_577"/>
          <p:cNvSpPr/>
          <p:nvPr/>
        </p:nvSpPr>
        <p:spPr>
          <a:xfrm>
            <a:off x="10106863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g3f4176477e0_0_577"/>
          <p:cNvSpPr/>
          <p:nvPr/>
        </p:nvSpPr>
        <p:spPr>
          <a:xfrm>
            <a:off x="10490911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f4176477e0_0_577"/>
          <p:cNvSpPr/>
          <p:nvPr/>
        </p:nvSpPr>
        <p:spPr>
          <a:xfrm>
            <a:off x="10874959" y="361188"/>
            <a:ext cx="274200" cy="274200"/>
          </a:xfrm>
          <a:prstGeom prst="ellipse">
            <a:avLst/>
          </a:prstGeom>
          <a:solidFill>
            <a:srgbClr val="0F2369"/>
          </a:solidFill>
          <a:ln cap="flat" cmpd="sng" w="12700">
            <a:solidFill>
              <a:srgbClr val="0F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g3f4176477e0_0_577"/>
          <p:cNvSpPr/>
          <p:nvPr/>
        </p:nvSpPr>
        <p:spPr>
          <a:xfrm>
            <a:off x="11259007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f4176477e0_0_627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g3f4176477e0_0_627"/>
          <p:cNvSpPr txBox="1"/>
          <p:nvPr/>
        </p:nvSpPr>
        <p:spPr>
          <a:xfrm>
            <a:off x="658368" y="365760"/>
            <a:ext cx="1087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METODOLOGIA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g3f4176477e0_0_627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Pipeline do benchmark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g3f4176477e0_0_627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g3f4176477e0_0_627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g3f4176477e0_0_627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g3f4176477e0_0_627"/>
          <p:cNvSpPr txBox="1"/>
          <p:nvPr/>
        </p:nvSpPr>
        <p:spPr>
          <a:xfrm>
            <a:off x="658368" y="5303520"/>
            <a:ext cx="10875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9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Estágio 6 · Report — </a:t>
            </a:r>
            <a:r>
              <a:rPr b="0" i="1" lang="en-US" sz="19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métricas finais de pass@5 por modelo, nível e scanner: o ponto de chegada do benchmark.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g3f4176477e0_0_627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516" name="Google Shape;516;g3f4176477e0_0_6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g3f4176477e0_0_627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518" name="Google Shape;518;g3f4176477e0_0_6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g3f4176477e0_0_627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520" name="Google Shape;520;g3f4176477e0_0_6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g3f4176477e0_0_627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g3f4176477e0_0_627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523" name="Google Shape;523;g3f4176477e0_0_6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g3f4176477e0_0_627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f4176477e0_0_627"/>
          <p:cNvSpPr/>
          <p:nvPr/>
        </p:nvSpPr>
        <p:spPr>
          <a:xfrm>
            <a:off x="658368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F9FAFB"/>
          </a:solidFill>
          <a:ln cap="flat" cmpd="sng" w="12700">
            <a:solidFill>
              <a:srgbClr val="EAE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3f4176477e0_0_627"/>
          <p:cNvSpPr txBox="1"/>
          <p:nvPr/>
        </p:nvSpPr>
        <p:spPr>
          <a:xfrm>
            <a:off x="429768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API call · pass@5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3f4176477e0_0_627"/>
          <p:cNvSpPr/>
          <p:nvPr/>
        </p:nvSpPr>
        <p:spPr>
          <a:xfrm>
            <a:off x="2885617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F9FAFB"/>
          </a:solidFill>
          <a:ln cap="flat" cmpd="sng" w="12700">
            <a:solidFill>
              <a:srgbClr val="EAE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g3f4176477e0_0_627"/>
          <p:cNvSpPr txBox="1"/>
          <p:nvPr/>
        </p:nvSpPr>
        <p:spPr>
          <a:xfrm>
            <a:off x="2657017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fmt · init · validate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g3f4176477e0_0_627"/>
          <p:cNvSpPr/>
          <p:nvPr/>
        </p:nvSpPr>
        <p:spPr>
          <a:xfrm>
            <a:off x="5112867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F9FAFB"/>
          </a:solidFill>
          <a:ln cap="flat" cmpd="sng" w="12700">
            <a:solidFill>
              <a:srgbClr val="EAE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Scan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g3f4176477e0_0_627"/>
          <p:cNvSpPr txBox="1"/>
          <p:nvPr/>
        </p:nvSpPr>
        <p:spPr>
          <a:xfrm>
            <a:off x="4884267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Checkov + Trivy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g3f4176477e0_0_627"/>
          <p:cNvSpPr/>
          <p:nvPr/>
        </p:nvSpPr>
        <p:spPr>
          <a:xfrm>
            <a:off x="7340117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F9FAFB"/>
          </a:solidFill>
          <a:ln cap="flat" cmpd="sng" w="12700">
            <a:solidFill>
              <a:srgbClr val="EAE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g3f4176477e0_0_627"/>
          <p:cNvSpPr txBox="1"/>
          <p:nvPr/>
        </p:nvSpPr>
        <p:spPr>
          <a:xfrm>
            <a:off x="7111517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summary.json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g3f4176477e0_0_627"/>
          <p:cNvSpPr/>
          <p:nvPr/>
        </p:nvSpPr>
        <p:spPr>
          <a:xfrm>
            <a:off x="9567367" y="1627632"/>
            <a:ext cx="1965900" cy="1965900"/>
          </a:xfrm>
          <a:prstGeom prst="roundRect">
            <a:avLst>
              <a:gd fmla="val 6000" name="adj"/>
            </a:avLst>
          </a:prstGeom>
          <a:solidFill>
            <a:srgbClr val="0F2369"/>
          </a:solidFill>
          <a:ln cap="flat" cmpd="sng" w="19050">
            <a:solidFill>
              <a:srgbClr val="F7A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0000" spcFirstLastPara="1" rIns="60000" wrap="square" tIns="30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g3f4176477e0_0_627"/>
          <p:cNvSpPr txBox="1"/>
          <p:nvPr/>
        </p:nvSpPr>
        <p:spPr>
          <a:xfrm>
            <a:off x="9338767" y="3191256"/>
            <a:ext cx="24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9D6EC"/>
                </a:solidFill>
                <a:latin typeface="Arial"/>
                <a:ea typeface="Arial"/>
                <a:cs typeface="Arial"/>
                <a:sym typeface="Arial"/>
              </a:rPr>
              <a:t>métricas pass@5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g3f4176477e0_0_627"/>
          <p:cNvSpPr txBox="1"/>
          <p:nvPr/>
        </p:nvSpPr>
        <p:spPr>
          <a:xfrm>
            <a:off x="2624328" y="2633472"/>
            <a:ext cx="26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E7EAE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g3f4176477e0_0_627"/>
          <p:cNvSpPr txBox="1"/>
          <p:nvPr/>
        </p:nvSpPr>
        <p:spPr>
          <a:xfrm>
            <a:off x="4851577" y="2560320"/>
            <a:ext cx="2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7EAE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g3f4176477e0_0_627"/>
          <p:cNvSpPr txBox="1"/>
          <p:nvPr/>
        </p:nvSpPr>
        <p:spPr>
          <a:xfrm>
            <a:off x="7078827" y="2487168"/>
            <a:ext cx="261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7EAE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g3f4176477e0_0_627"/>
          <p:cNvSpPr txBox="1"/>
          <p:nvPr/>
        </p:nvSpPr>
        <p:spPr>
          <a:xfrm>
            <a:off x="9306077" y="2411729"/>
            <a:ext cx="26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3f4176477e0_0_627"/>
          <p:cNvSpPr/>
          <p:nvPr/>
        </p:nvSpPr>
        <p:spPr>
          <a:xfrm>
            <a:off x="3809847" y="4114800"/>
            <a:ext cx="4572000" cy="1005900"/>
          </a:xfrm>
          <a:prstGeom prst="roundRect">
            <a:avLst>
              <a:gd fmla="val 10000" name="adj"/>
            </a:avLst>
          </a:prstGeom>
          <a:solidFill>
            <a:srgbClr val="F9FAFB"/>
          </a:solidFill>
          <a:ln cap="flat" cmpd="sng" w="19050">
            <a:solidFill>
              <a:srgbClr val="EAEDF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4 · Revise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manual · feedback loop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0" name="Google Shape;540;g3f4176477e0_0_627"/>
          <p:cNvCxnSpPr/>
          <p:nvPr/>
        </p:nvCxnSpPr>
        <p:spPr>
          <a:xfrm flipH="1" rot="-5400000">
            <a:off x="5378397" y="3853841"/>
            <a:ext cx="521100" cy="600"/>
          </a:xfrm>
          <a:prstGeom prst="bentConnector3">
            <a:avLst>
              <a:gd fmla="val 50000" name="adj1"/>
            </a:avLst>
          </a:prstGeom>
          <a:noFill/>
          <a:ln cap="flat" cmpd="sng" w="22225">
            <a:solidFill>
              <a:srgbClr val="E7EAEF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541" name="Google Shape;541;g3f4176477e0_0_627"/>
          <p:cNvSpPr txBox="1"/>
          <p:nvPr/>
        </p:nvSpPr>
        <p:spPr>
          <a:xfrm>
            <a:off x="3306927" y="3698748"/>
            <a:ext cx="219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falhas L3 &lt; 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2" name="Google Shape;542;g3f4176477e0_0_627"/>
          <p:cNvCxnSpPr/>
          <p:nvPr/>
        </p:nvCxnSpPr>
        <p:spPr>
          <a:xfrm rot="-5400000">
            <a:off x="6292797" y="3853949"/>
            <a:ext cx="521100" cy="600"/>
          </a:xfrm>
          <a:prstGeom prst="bentConnector3">
            <a:avLst>
              <a:gd fmla="val 50000" name="adj1"/>
            </a:avLst>
          </a:prstGeom>
          <a:noFill/>
          <a:ln cap="flat" cmpd="sng" w="22225">
            <a:solidFill>
              <a:srgbClr val="E7EAEF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543" name="Google Shape;543;g3f4176477e0_0_627"/>
          <p:cNvSpPr txBox="1"/>
          <p:nvPr/>
        </p:nvSpPr>
        <p:spPr>
          <a:xfrm>
            <a:off x="6690207" y="3698748"/>
            <a:ext cx="265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rgbClr val="C2C9D3"/>
                </a:solidFill>
                <a:latin typeface="Arial"/>
                <a:ea typeface="Arial"/>
                <a:cs typeface="Arial"/>
                <a:sym typeface="Arial"/>
              </a:rPr>
              <a:t>reenvia para o Estágio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g3f4176477e0_0_627"/>
          <p:cNvSpPr/>
          <p:nvPr/>
        </p:nvSpPr>
        <p:spPr>
          <a:xfrm>
            <a:off x="658368" y="1627632"/>
            <a:ext cx="1965900" cy="155400"/>
          </a:xfrm>
          <a:prstGeom prst="rect">
            <a:avLst/>
          </a:prstGeom>
          <a:solidFill>
            <a:srgbClr val="E7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g3f4176477e0_0_627"/>
          <p:cNvSpPr/>
          <p:nvPr/>
        </p:nvSpPr>
        <p:spPr>
          <a:xfrm>
            <a:off x="2885617" y="1627632"/>
            <a:ext cx="1965900" cy="155400"/>
          </a:xfrm>
          <a:prstGeom prst="rect">
            <a:avLst/>
          </a:prstGeom>
          <a:solidFill>
            <a:srgbClr val="E7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g3f4176477e0_0_627"/>
          <p:cNvSpPr/>
          <p:nvPr/>
        </p:nvSpPr>
        <p:spPr>
          <a:xfrm>
            <a:off x="5112867" y="1627632"/>
            <a:ext cx="1965900" cy="155400"/>
          </a:xfrm>
          <a:prstGeom prst="rect">
            <a:avLst/>
          </a:prstGeom>
          <a:solidFill>
            <a:srgbClr val="E7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g3f4176477e0_0_627"/>
          <p:cNvSpPr/>
          <p:nvPr/>
        </p:nvSpPr>
        <p:spPr>
          <a:xfrm>
            <a:off x="7340117" y="1627632"/>
            <a:ext cx="1965900" cy="155400"/>
          </a:xfrm>
          <a:prstGeom prst="rect">
            <a:avLst/>
          </a:prstGeom>
          <a:solidFill>
            <a:srgbClr val="E7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g3f4176477e0_0_627"/>
          <p:cNvSpPr/>
          <p:nvPr/>
        </p:nvSpPr>
        <p:spPr>
          <a:xfrm>
            <a:off x="9567367" y="1627632"/>
            <a:ext cx="1965900" cy="155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g3f4176477e0_0_627"/>
          <p:cNvSpPr/>
          <p:nvPr/>
        </p:nvSpPr>
        <p:spPr>
          <a:xfrm>
            <a:off x="9338767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3f4176477e0_0_627"/>
          <p:cNvSpPr/>
          <p:nvPr/>
        </p:nvSpPr>
        <p:spPr>
          <a:xfrm>
            <a:off x="9722815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3f4176477e0_0_627"/>
          <p:cNvSpPr/>
          <p:nvPr/>
        </p:nvSpPr>
        <p:spPr>
          <a:xfrm>
            <a:off x="10106863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g3f4176477e0_0_627"/>
          <p:cNvSpPr/>
          <p:nvPr/>
        </p:nvSpPr>
        <p:spPr>
          <a:xfrm>
            <a:off x="10490911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3f4176477e0_0_627"/>
          <p:cNvSpPr/>
          <p:nvPr/>
        </p:nvSpPr>
        <p:spPr>
          <a:xfrm>
            <a:off x="10874959" y="36118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g3f4176477e0_0_627"/>
          <p:cNvSpPr/>
          <p:nvPr/>
        </p:nvSpPr>
        <p:spPr>
          <a:xfrm>
            <a:off x="11259007" y="361188"/>
            <a:ext cx="274200" cy="274200"/>
          </a:xfrm>
          <a:prstGeom prst="ellipse">
            <a:avLst/>
          </a:prstGeom>
          <a:solidFill>
            <a:srgbClr val="0F2369"/>
          </a:solidFill>
          <a:ln cap="flat" cmpd="sng" w="12700">
            <a:solidFill>
              <a:srgbClr val="0F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9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9"/>
          <p:cNvSpPr txBox="1"/>
          <p:nvPr/>
        </p:nvSpPr>
        <p:spPr>
          <a:xfrm>
            <a:off x="658368" y="365760"/>
            <a:ext cx="1087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METODOLOGIA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9"/>
          <p:cNvSpPr txBox="1"/>
          <p:nvPr/>
        </p:nvSpPr>
        <p:spPr>
          <a:xfrm>
            <a:off x="658368" y="621792"/>
            <a:ext cx="10874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Modelos, cenários e níveis de segurança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9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9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9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9"/>
          <p:cNvSpPr txBox="1"/>
          <p:nvPr/>
        </p:nvSpPr>
        <p:spPr>
          <a:xfrm>
            <a:off x="658383" y="1773925"/>
            <a:ext cx="10875000" cy="4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2651" lvl="0" marL="310896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3000"/>
              <a:buFont typeface="Arial"/>
              <a:buChar char="▪"/>
            </a:pP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7 modelos: 3 LLMs fechados (GPT-5.4, Gemini 2.5 Pro, Claude Opus 4) + 4 SLMs abertas.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651" lvl="0" marL="310896" marR="0" rtl="0" algn="l">
              <a:lnSpc>
                <a:spcPct val="116000"/>
              </a:lnSpc>
              <a:spcBef>
                <a:spcPts val="1800"/>
              </a:spcBef>
              <a:spcAft>
                <a:spcPts val="0"/>
              </a:spcAft>
              <a:buClr>
                <a:srgbClr val="0A866E"/>
              </a:buClr>
              <a:buSzPts val="3000"/>
              <a:buFont typeface="Arial"/>
              <a:buChar char="▪"/>
            </a:pP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17 cenários AWS (S3, KMS, VPC), por consenso unânime de 6 LLMs avaliadores.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651" lvl="0" marL="310896" marR="0" rtl="0" algn="l">
              <a:lnSpc>
                <a:spcPct val="116000"/>
              </a:lnSpc>
              <a:spcBef>
                <a:spcPts val="1800"/>
              </a:spcBef>
              <a:spcAft>
                <a:spcPts val="0"/>
              </a:spcAft>
              <a:buClr>
                <a:srgbClr val="0A866E"/>
              </a:buClr>
              <a:buSzPts val="3000"/>
              <a:buFont typeface="Arial"/>
              <a:buChar char="▪"/>
            </a:pP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Zero-shot / few-shot × 3 níveis de segurança (L1, L2, L3 detalhado).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651" lvl="0" marL="310896" marR="0" rtl="0" algn="l">
              <a:lnSpc>
                <a:spcPct val="116000"/>
              </a:lnSpc>
              <a:spcBef>
                <a:spcPts val="1800"/>
              </a:spcBef>
              <a:spcAft>
                <a:spcPts val="0"/>
              </a:spcAft>
              <a:buClr>
                <a:srgbClr val="0A866E"/>
              </a:buClr>
              <a:buSzPts val="3000"/>
              <a:buFont typeface="Arial"/>
              <a:buChar char="▪"/>
            </a:pP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5 </a:t>
            </a:r>
            <a:r>
              <a:rPr lang="en-US" sz="3000">
                <a:solidFill>
                  <a:srgbClr val="1F2937"/>
                </a:solidFill>
              </a:rPr>
              <a:t>repetições</a:t>
            </a: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por célula</a:t>
            </a:r>
            <a:r>
              <a:rPr lang="en-US" sz="3000">
                <a:solidFill>
                  <a:srgbClr val="1F2937"/>
                </a:solidFill>
              </a:rPr>
              <a:t>,</a:t>
            </a: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3.570 avaliações no total.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9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568" name="Google Shape;56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9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570" name="Google Shape;57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9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572" name="Google Shape;57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9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2369"/>
                </a:solidFill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9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575" name="Google Shape;57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9"/>
          <p:cNvSpPr txBox="1"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0"/>
          <p:cNvSpPr/>
          <p:nvPr/>
        </p:nvSpPr>
        <p:spPr>
          <a:xfrm>
            <a:off x="9174175" y="3840480"/>
            <a:ext cx="6035040" cy="603504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10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10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10"/>
          <p:cNvSpPr txBox="1"/>
          <p:nvPr/>
        </p:nvSpPr>
        <p:spPr>
          <a:xfrm>
            <a:off x="658368" y="2304288"/>
            <a:ext cx="2011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n-US" sz="8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0"/>
          <p:cNvSpPr txBox="1"/>
          <p:nvPr/>
        </p:nvSpPr>
        <p:spPr>
          <a:xfrm>
            <a:off x="2395728" y="2487168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0"/>
          <p:cNvSpPr/>
          <p:nvPr/>
        </p:nvSpPr>
        <p:spPr>
          <a:xfrm>
            <a:off x="2414015" y="3383280"/>
            <a:ext cx="1188720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0"/>
          <p:cNvSpPr txBox="1"/>
          <p:nvPr/>
        </p:nvSpPr>
        <p:spPr>
          <a:xfrm>
            <a:off x="2395728" y="3584448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O que 3.570 avaliações revelam sobre segurança em IaC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0"/>
          <p:cNvSpPr txBox="1"/>
          <p:nvPr/>
        </p:nvSpPr>
        <p:spPr>
          <a:xfrm>
            <a:off x="10984687" y="6199632"/>
            <a:ext cx="54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AEBBDA"/>
                </a:solidFill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1"/>
          <p:cNvSpPr txBox="1"/>
          <p:nvPr/>
        </p:nvSpPr>
        <p:spPr>
          <a:xfrm>
            <a:off x="658368" y="365760"/>
            <a:ext cx="1087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1"/>
          <p:cNvSpPr txBox="1"/>
          <p:nvPr/>
        </p:nvSpPr>
        <p:spPr>
          <a:xfrm>
            <a:off x="658368" y="621792"/>
            <a:ext cx="10874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Configuração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1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1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1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02" name="Google Shape;602;p11"/>
          <p:cNvGraphicFramePr/>
          <p:nvPr/>
        </p:nvGraphicFramePr>
        <p:xfrm>
          <a:off x="1360043" y="17678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{3A5AAAF9-3A34-47B4-AA8D-7A25206B3E01}</a:tableStyleId>
              </a:tblPr>
              <a:tblGrid>
                <a:gridCol w="2979750"/>
                <a:gridCol w="1986525"/>
                <a:gridCol w="4505300"/>
              </a:tblGrid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Ferramenta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Versão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Papel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</a:tr>
              <a:tr h="6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Terraform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1.7.5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fmt, init, validate e plan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6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AWS Provider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5.100.0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Resolvido em terraform init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  <a:tr h="6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Checkov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3.2.527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Scanner de conformidade CKV_AWS_*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6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Trivy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0.69.3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Scanner de vulnerabilidades AVD-AWS-*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  <a:tr h="6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GitLab CE/EE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19.0.0-pre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Orquestração CI/CD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3" name="Google Shape;603;p11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604" name="Google Shape;60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11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606" name="Google Shape;60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11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608" name="Google Shape;60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11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2369"/>
                </a:solidFill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1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611" name="Google Shape;61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11"/>
          <p:cNvSpPr txBox="1"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po_qr.png" id="613" name="Google Shape;613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48049" y="187038"/>
            <a:ext cx="1458474" cy="1458474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11"/>
          <p:cNvSpPr txBox="1"/>
          <p:nvPr/>
        </p:nvSpPr>
        <p:spPr>
          <a:xfrm>
            <a:off x="7896898" y="316775"/>
            <a:ext cx="114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2300">
                <a:solidFill>
                  <a:srgbClr val="0F2369"/>
                </a:solidFill>
              </a:rPr>
              <a:t>Artefato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1"/>
          <p:cNvSpPr txBox="1"/>
          <p:nvPr/>
        </p:nvSpPr>
        <p:spPr>
          <a:xfrm>
            <a:off x="9039297" y="185975"/>
            <a:ext cx="66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f4176477e0_0_880"/>
          <p:cNvSpPr txBox="1"/>
          <p:nvPr/>
        </p:nvSpPr>
        <p:spPr>
          <a:xfrm>
            <a:off x="658368" y="365760"/>
            <a:ext cx="1087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g3f4176477e0_0_880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g3f4176477e0_0_880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g3f4176477e0_0_880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g3f4176477e0_0_880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g3f4176477e0_0_880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627" name="Google Shape;627;g3f4176477e0_0_8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g3f4176477e0_0_880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629" name="Google Shape;629;g3f4176477e0_0_8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g3f4176477e0_0_880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631" name="Google Shape;631;g3f4176477e0_0_8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g3f4176477e0_0_880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g3f4176477e0_0_880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634" name="Google Shape;634;g3f4176477e0_0_88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g3f4176477e0_0_880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6" name="Google Shape;636;g3f4176477e0_0_88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937" y="1513350"/>
            <a:ext cx="12191677" cy="3884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f4176477e0_0_900"/>
          <p:cNvSpPr txBox="1"/>
          <p:nvPr/>
        </p:nvSpPr>
        <p:spPr>
          <a:xfrm>
            <a:off x="658368" y="365760"/>
            <a:ext cx="1087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g3f4176477e0_0_900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g3f4176477e0_0_900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g3f4176477e0_0_900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g3f4176477e0_0_900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g3f4176477e0_0_900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647" name="Google Shape;647;g3f4176477e0_0_9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g3f4176477e0_0_900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649" name="Google Shape;649;g3f4176477e0_0_9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g3f4176477e0_0_900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651" name="Google Shape;651;g3f4176477e0_0_9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g3f4176477e0_0_900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g3f4176477e0_0_900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654" name="Google Shape;654;g3f4176477e0_0_90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g3f4176477e0_0_900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6" name="Google Shape;656;g3f4176477e0_0_90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" y="1233425"/>
            <a:ext cx="12191677" cy="3884467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g3f4176477e0_0_900"/>
          <p:cNvSpPr/>
          <p:nvPr/>
        </p:nvSpPr>
        <p:spPr>
          <a:xfrm>
            <a:off x="658350" y="5333627"/>
            <a:ext cx="5287500" cy="705000"/>
          </a:xfrm>
          <a:prstGeom prst="roundRect">
            <a:avLst>
              <a:gd fmla="val 9000" name="adj"/>
            </a:avLst>
          </a:prstGeom>
          <a:solidFill>
            <a:schemeClr val="accent4"/>
          </a:solidFill>
          <a:ln cap="flat" cmpd="sng" w="12700">
            <a:solidFill>
              <a:srgbClr val="E5E9F0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1F2937">
                <a:alpha val="321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F23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g3f4176477e0_0_900"/>
          <p:cNvSpPr/>
          <p:nvPr/>
        </p:nvSpPr>
        <p:spPr>
          <a:xfrm>
            <a:off x="658356" y="5333617"/>
            <a:ext cx="62100" cy="549900"/>
          </a:xfrm>
          <a:prstGeom prst="roundRect">
            <a:avLst>
              <a:gd fmla="val 16667" name="adj"/>
            </a:avLst>
          </a:prstGeom>
          <a:solidFill>
            <a:srgbClr val="F7A82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g3f4176477e0_0_900"/>
          <p:cNvSpPr txBox="1"/>
          <p:nvPr/>
        </p:nvSpPr>
        <p:spPr>
          <a:xfrm>
            <a:off x="918356" y="5408617"/>
            <a:ext cx="48276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Claude Opus 4</a:t>
            </a:r>
            <a:endParaRPr>
              <a:solidFill>
                <a:srgbClr val="0F2369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92,5%</a:t>
            </a:r>
            <a:r>
              <a:rPr b="0" i="0" lang="en-US" sz="1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  Trivy   ·   </a:t>
            </a:r>
            <a:r>
              <a:rPr b="1" i="0" lang="en-US" sz="2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23,1%</a:t>
            </a:r>
            <a:r>
              <a:rPr b="0" i="0" lang="en-US" sz="1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  Checkov</a:t>
            </a:r>
            <a:endParaRPr>
              <a:solidFill>
                <a:srgbClr val="0F2369"/>
              </a:solidFill>
            </a:endParaRPr>
          </a:p>
        </p:txBody>
      </p:sp>
      <p:sp>
        <p:nvSpPr>
          <p:cNvPr id="660" name="Google Shape;660;g3f4176477e0_0_900"/>
          <p:cNvSpPr/>
          <p:nvPr/>
        </p:nvSpPr>
        <p:spPr>
          <a:xfrm>
            <a:off x="6245825" y="5333625"/>
            <a:ext cx="5287500" cy="705000"/>
          </a:xfrm>
          <a:prstGeom prst="roundRect">
            <a:avLst>
              <a:gd fmla="val 9000" name="adj"/>
            </a:avLst>
          </a:prstGeom>
          <a:solidFill>
            <a:schemeClr val="accent4"/>
          </a:solidFill>
          <a:ln cap="flat" cmpd="sng" w="12700">
            <a:solidFill>
              <a:srgbClr val="E5E9F0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1F2937">
                <a:alpha val="321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F23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g3f4176477e0_0_900"/>
          <p:cNvSpPr/>
          <p:nvPr/>
        </p:nvSpPr>
        <p:spPr>
          <a:xfrm>
            <a:off x="6245818" y="5333617"/>
            <a:ext cx="62100" cy="549900"/>
          </a:xfrm>
          <a:prstGeom prst="roundRect">
            <a:avLst>
              <a:gd fmla="val 16667" name="adj"/>
            </a:avLst>
          </a:prstGeom>
          <a:solidFill>
            <a:srgbClr val="F7A82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F23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g3f4176477e0_0_900"/>
          <p:cNvSpPr txBox="1"/>
          <p:nvPr/>
        </p:nvSpPr>
        <p:spPr>
          <a:xfrm>
            <a:off x="6505818" y="5408617"/>
            <a:ext cx="48276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Magicoder-7B</a:t>
            </a:r>
            <a:endParaRPr>
              <a:solidFill>
                <a:srgbClr val="0F2369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0,0%</a:t>
            </a:r>
            <a:r>
              <a:rPr b="0" i="0" lang="en-US" sz="1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  Trivy   ·   </a:t>
            </a:r>
            <a:r>
              <a:rPr b="1" i="0" lang="en-US" sz="2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0,0%</a:t>
            </a:r>
            <a:r>
              <a:rPr b="0" i="0" lang="en-US" sz="1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  Checkov</a:t>
            </a:r>
            <a:endParaRPr>
              <a:solidFill>
                <a:srgbClr val="0F2369"/>
              </a:solidFill>
            </a:endParaRPr>
          </a:p>
        </p:txBody>
      </p:sp>
      <p:sp>
        <p:nvSpPr>
          <p:cNvPr id="663" name="Google Shape;663;g3f4176477e0_0_900"/>
          <p:cNvSpPr/>
          <p:nvPr/>
        </p:nvSpPr>
        <p:spPr>
          <a:xfrm>
            <a:off x="2320529" y="1597139"/>
            <a:ext cx="1360200" cy="3520800"/>
          </a:xfrm>
          <a:prstGeom prst="rect">
            <a:avLst/>
          </a:prstGeom>
          <a:solidFill>
            <a:srgbClr val="FFFFFF">
              <a:alpha val="6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g3f4176477e0_0_900"/>
          <p:cNvSpPr/>
          <p:nvPr/>
        </p:nvSpPr>
        <p:spPr>
          <a:xfrm>
            <a:off x="4000885" y="1597139"/>
            <a:ext cx="1345800" cy="3520800"/>
          </a:xfrm>
          <a:prstGeom prst="rect">
            <a:avLst/>
          </a:prstGeom>
          <a:solidFill>
            <a:srgbClr val="FFFFFF">
              <a:alpha val="6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g3f4176477e0_0_900"/>
          <p:cNvSpPr/>
          <p:nvPr/>
        </p:nvSpPr>
        <p:spPr>
          <a:xfrm>
            <a:off x="5673967" y="1597139"/>
            <a:ext cx="1323900" cy="3520800"/>
          </a:xfrm>
          <a:prstGeom prst="rect">
            <a:avLst/>
          </a:prstGeom>
          <a:solidFill>
            <a:srgbClr val="FFFFFF">
              <a:alpha val="6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g3f4176477e0_0_900"/>
          <p:cNvSpPr/>
          <p:nvPr/>
        </p:nvSpPr>
        <p:spPr>
          <a:xfrm>
            <a:off x="7310678" y="1597139"/>
            <a:ext cx="1360200" cy="3520800"/>
          </a:xfrm>
          <a:prstGeom prst="rect">
            <a:avLst/>
          </a:prstGeom>
          <a:solidFill>
            <a:srgbClr val="FFFFFF">
              <a:alpha val="6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g3f4176477e0_0_900"/>
          <p:cNvSpPr/>
          <p:nvPr/>
        </p:nvSpPr>
        <p:spPr>
          <a:xfrm>
            <a:off x="8991035" y="1597139"/>
            <a:ext cx="1360200" cy="3520800"/>
          </a:xfrm>
          <a:prstGeom prst="rect">
            <a:avLst/>
          </a:prstGeom>
          <a:solidFill>
            <a:srgbClr val="FFFFFF">
              <a:alpha val="6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g3f4176477e0_0_900"/>
          <p:cNvSpPr/>
          <p:nvPr/>
        </p:nvSpPr>
        <p:spPr>
          <a:xfrm>
            <a:off x="646671" y="1635702"/>
            <a:ext cx="1390200" cy="3520800"/>
          </a:xfrm>
          <a:prstGeom prst="roundRect">
            <a:avLst>
              <a:gd fmla="val 4000" name="adj"/>
            </a:avLst>
          </a:prstGeom>
          <a:noFill/>
          <a:ln cap="flat" cmpd="sng" w="38100">
            <a:solidFill>
              <a:srgbClr val="F7A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g3f4176477e0_0_900"/>
          <p:cNvSpPr/>
          <p:nvPr/>
        </p:nvSpPr>
        <p:spPr>
          <a:xfrm>
            <a:off x="10671367" y="1635702"/>
            <a:ext cx="1390200" cy="3520800"/>
          </a:xfrm>
          <a:prstGeom prst="roundRect">
            <a:avLst>
              <a:gd fmla="val 4000" name="adj"/>
            </a:avLst>
          </a:prstGeom>
          <a:noFill/>
          <a:ln cap="flat" cmpd="sng" w="38100">
            <a:solidFill>
              <a:srgbClr val="F7A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f4176477e0_0_1008"/>
          <p:cNvSpPr txBox="1"/>
          <p:nvPr/>
        </p:nvSpPr>
        <p:spPr>
          <a:xfrm>
            <a:off x="658368" y="365760"/>
            <a:ext cx="1087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g3f4176477e0_0_1008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Validade Sintática × Executabilidade do Plan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g3f4176477e0_0_1008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g3f4176477e0_0_1008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g3f4176477e0_0_1008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g3f4176477e0_0_1008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681" name="Google Shape;681;g3f4176477e0_0_10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g3f4176477e0_0_1008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683" name="Google Shape;683;g3f4176477e0_0_10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g3f4176477e0_0_1008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685" name="Google Shape;685;g3f4176477e0_0_100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g3f4176477e0_0_1008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g3f4176477e0_0_1008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688" name="Google Shape;688;g3f4176477e0_0_100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g3f4176477e0_0_1008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g3f4176477e0_0_1008"/>
          <p:cNvSpPr txBox="1"/>
          <p:nvPr/>
        </p:nvSpPr>
        <p:spPr>
          <a:xfrm>
            <a:off x="658368" y="5300000"/>
            <a:ext cx="10875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Achado-chave: </a:t>
            </a:r>
            <a:r>
              <a:rPr b="0" i="0" lang="en-US" sz="20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GPT-5.4 lidera em validate (85,3%), mas tem o menor plan% entre LLMs (73,1%); CodeLlama-13B é o oposto (25,9% validate, 93,9% plan).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g3f4176477e0_0_1008"/>
          <p:cNvSpPr/>
          <p:nvPr/>
        </p:nvSpPr>
        <p:spPr>
          <a:xfrm>
            <a:off x="4919691" y="1705013"/>
            <a:ext cx="153900" cy="1539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7975" lIns="95975" spcFirstLastPara="1" rIns="95975" wrap="square" tIns="47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70"/>
              <a:buFont typeface="Arial"/>
              <a:buNone/>
            </a:pPr>
            <a:r>
              <a:t/>
            </a:r>
            <a:endParaRPr b="0" i="0" sz="14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g3f4176477e0_0_1008"/>
          <p:cNvSpPr txBox="1"/>
          <p:nvPr/>
        </p:nvSpPr>
        <p:spPr>
          <a:xfrm>
            <a:off x="5130863" y="1685815"/>
            <a:ext cx="12000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7"/>
              <a:buFont typeface="Arial"/>
              <a:buNone/>
            </a:pPr>
            <a:r>
              <a:rPr b="1" i="0" lang="en-US" sz="14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Validate %</a:t>
            </a:r>
            <a:endParaRPr b="0" i="0" sz="14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g3f4176477e0_0_1008"/>
          <p:cNvSpPr/>
          <p:nvPr/>
        </p:nvSpPr>
        <p:spPr>
          <a:xfrm>
            <a:off x="6657065" y="1705013"/>
            <a:ext cx="153900" cy="1539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7975" lIns="95975" spcFirstLastPara="1" rIns="95975" wrap="square" tIns="47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70"/>
              <a:buFont typeface="Arial"/>
              <a:buNone/>
            </a:pPr>
            <a:r>
              <a:t/>
            </a:r>
            <a:endParaRPr b="0" i="0" sz="14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g3f4176477e0_0_1008"/>
          <p:cNvSpPr txBox="1"/>
          <p:nvPr/>
        </p:nvSpPr>
        <p:spPr>
          <a:xfrm>
            <a:off x="6868237" y="1685815"/>
            <a:ext cx="7773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7"/>
              <a:buFont typeface="Arial"/>
              <a:buNone/>
            </a:pPr>
            <a:r>
              <a:rPr b="1" i="0" lang="en-US" sz="14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 %</a:t>
            </a:r>
            <a:endParaRPr b="0" i="0" sz="14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g3f4176477e0_0_1008"/>
          <p:cNvSpPr/>
          <p:nvPr/>
        </p:nvSpPr>
        <p:spPr>
          <a:xfrm>
            <a:off x="682193" y="4710248"/>
            <a:ext cx="11458800" cy="13800"/>
          </a:xfrm>
          <a:prstGeom prst="rect">
            <a:avLst/>
          </a:prstGeom>
          <a:solidFill>
            <a:srgbClr val="9CA6B4"/>
          </a:solidFill>
          <a:ln>
            <a:noFill/>
          </a:ln>
        </p:spPr>
        <p:txBody>
          <a:bodyPr anchorCtr="0" anchor="ctr" bIns="50700" lIns="101450" spcFirstLastPara="1" rIns="101450" wrap="square" tIns="50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4"/>
              <a:buFont typeface="Arial"/>
              <a:buNone/>
            </a:pPr>
            <a:r>
              <a:t/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g3f4176477e0_0_1008"/>
          <p:cNvSpPr txBox="1"/>
          <p:nvPr/>
        </p:nvSpPr>
        <p:spPr>
          <a:xfrm>
            <a:off x="124119" y="4598633"/>
            <a:ext cx="4767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2"/>
              <a:buFont typeface="Arial"/>
              <a:buNone/>
            </a:pPr>
            <a:r>
              <a:rPr b="0" i="0" lang="en-US" sz="1332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g3f4176477e0_0_1008"/>
          <p:cNvSpPr/>
          <p:nvPr/>
        </p:nvSpPr>
        <p:spPr>
          <a:xfrm>
            <a:off x="682193" y="4182244"/>
            <a:ext cx="11458800" cy="10800"/>
          </a:xfrm>
          <a:prstGeom prst="rect">
            <a:avLst/>
          </a:prstGeom>
          <a:solidFill>
            <a:srgbClr val="E3E7EE"/>
          </a:solidFill>
          <a:ln>
            <a:noFill/>
          </a:ln>
        </p:spPr>
        <p:txBody>
          <a:bodyPr anchorCtr="0" anchor="ctr" bIns="50700" lIns="101450" spcFirstLastPara="1" rIns="101450" wrap="square" tIns="50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4"/>
              <a:buFont typeface="Arial"/>
              <a:buNone/>
            </a:pPr>
            <a:r>
              <a:t/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g3f4176477e0_0_1008"/>
          <p:cNvSpPr txBox="1"/>
          <p:nvPr/>
        </p:nvSpPr>
        <p:spPr>
          <a:xfrm>
            <a:off x="124119" y="4070629"/>
            <a:ext cx="4767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2"/>
              <a:buFont typeface="Arial"/>
              <a:buNone/>
            </a:pPr>
            <a:r>
              <a:rPr b="0" i="0" lang="en-US" sz="1332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g3f4176477e0_0_1008"/>
          <p:cNvSpPr/>
          <p:nvPr/>
        </p:nvSpPr>
        <p:spPr>
          <a:xfrm>
            <a:off x="682193" y="3654241"/>
            <a:ext cx="11458800" cy="10800"/>
          </a:xfrm>
          <a:prstGeom prst="rect">
            <a:avLst/>
          </a:prstGeom>
          <a:solidFill>
            <a:srgbClr val="E3E7EE"/>
          </a:solidFill>
          <a:ln>
            <a:noFill/>
          </a:ln>
        </p:spPr>
        <p:txBody>
          <a:bodyPr anchorCtr="0" anchor="ctr" bIns="50700" lIns="101450" spcFirstLastPara="1" rIns="101450" wrap="square" tIns="50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4"/>
              <a:buFont typeface="Arial"/>
              <a:buNone/>
            </a:pPr>
            <a:r>
              <a:t/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g3f4176477e0_0_1008"/>
          <p:cNvSpPr txBox="1"/>
          <p:nvPr/>
        </p:nvSpPr>
        <p:spPr>
          <a:xfrm>
            <a:off x="124119" y="3542626"/>
            <a:ext cx="4767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2"/>
              <a:buFont typeface="Arial"/>
              <a:buNone/>
            </a:pPr>
            <a:r>
              <a:rPr b="0" i="0" lang="en-US" sz="1332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g3f4176477e0_0_1008"/>
          <p:cNvSpPr/>
          <p:nvPr/>
        </p:nvSpPr>
        <p:spPr>
          <a:xfrm>
            <a:off x="682193" y="3126236"/>
            <a:ext cx="11458800" cy="10800"/>
          </a:xfrm>
          <a:prstGeom prst="rect">
            <a:avLst/>
          </a:prstGeom>
          <a:solidFill>
            <a:srgbClr val="E3E7EE"/>
          </a:solidFill>
          <a:ln>
            <a:noFill/>
          </a:ln>
        </p:spPr>
        <p:txBody>
          <a:bodyPr anchorCtr="0" anchor="ctr" bIns="50700" lIns="101450" spcFirstLastPara="1" rIns="101450" wrap="square" tIns="50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4"/>
              <a:buFont typeface="Arial"/>
              <a:buNone/>
            </a:pPr>
            <a:r>
              <a:t/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g3f4176477e0_0_1008"/>
          <p:cNvSpPr txBox="1"/>
          <p:nvPr/>
        </p:nvSpPr>
        <p:spPr>
          <a:xfrm>
            <a:off x="124119" y="3014621"/>
            <a:ext cx="4767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2"/>
              <a:buFont typeface="Arial"/>
              <a:buNone/>
            </a:pPr>
            <a:r>
              <a:rPr b="0" i="0" lang="en-US" sz="1332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g3f4176477e0_0_1008"/>
          <p:cNvSpPr/>
          <p:nvPr/>
        </p:nvSpPr>
        <p:spPr>
          <a:xfrm>
            <a:off x="682193" y="2598233"/>
            <a:ext cx="11458800" cy="10800"/>
          </a:xfrm>
          <a:prstGeom prst="rect">
            <a:avLst/>
          </a:prstGeom>
          <a:solidFill>
            <a:srgbClr val="E3E7EE"/>
          </a:solidFill>
          <a:ln>
            <a:noFill/>
          </a:ln>
        </p:spPr>
        <p:txBody>
          <a:bodyPr anchorCtr="0" anchor="ctr" bIns="50700" lIns="101450" spcFirstLastPara="1" rIns="101450" wrap="square" tIns="50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4"/>
              <a:buFont typeface="Arial"/>
              <a:buNone/>
            </a:pPr>
            <a:r>
              <a:t/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g3f4176477e0_0_1008"/>
          <p:cNvSpPr txBox="1"/>
          <p:nvPr/>
        </p:nvSpPr>
        <p:spPr>
          <a:xfrm>
            <a:off x="124119" y="2486618"/>
            <a:ext cx="4767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2"/>
              <a:buFont typeface="Arial"/>
              <a:buNone/>
            </a:pPr>
            <a:r>
              <a:rPr b="0" i="0" lang="en-US" sz="1332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g3f4176477e0_0_1008"/>
          <p:cNvSpPr/>
          <p:nvPr/>
        </p:nvSpPr>
        <p:spPr>
          <a:xfrm>
            <a:off x="682193" y="2070228"/>
            <a:ext cx="11458800" cy="10800"/>
          </a:xfrm>
          <a:prstGeom prst="rect">
            <a:avLst/>
          </a:prstGeom>
          <a:solidFill>
            <a:srgbClr val="E3E7EE"/>
          </a:solidFill>
          <a:ln>
            <a:noFill/>
          </a:ln>
        </p:spPr>
        <p:txBody>
          <a:bodyPr anchorCtr="0" anchor="ctr" bIns="50700" lIns="101450" spcFirstLastPara="1" rIns="101450" wrap="square" tIns="50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4"/>
              <a:buFont typeface="Arial"/>
              <a:buNone/>
            </a:pPr>
            <a:r>
              <a:t/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g3f4176477e0_0_1008"/>
          <p:cNvSpPr txBox="1"/>
          <p:nvPr/>
        </p:nvSpPr>
        <p:spPr>
          <a:xfrm>
            <a:off x="124119" y="1958613"/>
            <a:ext cx="4767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2"/>
              <a:buFont typeface="Arial"/>
              <a:buNone/>
            </a:pPr>
            <a:r>
              <a:rPr b="0" i="0" lang="en-US" sz="1332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g3f4176477e0_0_1008"/>
          <p:cNvSpPr/>
          <p:nvPr/>
        </p:nvSpPr>
        <p:spPr>
          <a:xfrm>
            <a:off x="960477" y="2458311"/>
            <a:ext cx="491100" cy="22521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50700" lIns="101450" spcFirstLastPara="1" rIns="101450" wrap="square" tIns="50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4"/>
              <a:buFont typeface="Arial"/>
              <a:buNone/>
            </a:pPr>
            <a:r>
              <a:t/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g3f4176477e0_0_1008"/>
          <p:cNvSpPr txBox="1"/>
          <p:nvPr/>
        </p:nvSpPr>
        <p:spPr>
          <a:xfrm>
            <a:off x="838716" y="2214787"/>
            <a:ext cx="7347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1"/>
              <a:buFont typeface="Arial"/>
              <a:buNone/>
            </a:pPr>
            <a:r>
              <a:rPr b="1" i="0" lang="en-US" sz="1221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85,3%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g3f4176477e0_0_1008"/>
          <p:cNvSpPr/>
          <p:nvPr/>
        </p:nvSpPr>
        <p:spPr>
          <a:xfrm>
            <a:off x="1549785" y="2780394"/>
            <a:ext cx="491100" cy="19296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50700" lIns="101450" spcFirstLastPara="1" rIns="101450" wrap="square" tIns="50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4"/>
              <a:buFont typeface="Arial"/>
              <a:buNone/>
            </a:pPr>
            <a:r>
              <a:t/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g3f4176477e0_0_1008"/>
          <p:cNvSpPr txBox="1"/>
          <p:nvPr/>
        </p:nvSpPr>
        <p:spPr>
          <a:xfrm>
            <a:off x="1428023" y="2536870"/>
            <a:ext cx="7347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1"/>
              <a:buFont typeface="Arial"/>
              <a:buNone/>
            </a:pPr>
            <a:r>
              <a:rPr b="1" i="0" lang="en-US" sz="1221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73,1%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g3f4176477e0_0_1008"/>
          <p:cNvSpPr txBox="1"/>
          <p:nvPr/>
        </p:nvSpPr>
        <p:spPr>
          <a:xfrm>
            <a:off x="631459" y="4791423"/>
            <a:ext cx="1738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8"/>
              <a:buFont typeface="Arial"/>
              <a:buNone/>
            </a:pPr>
            <a:r>
              <a:rPr b="0" i="0" lang="en-US" sz="1498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GPT-5.4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g3f4176477e0_0_1008"/>
          <p:cNvSpPr/>
          <p:nvPr/>
        </p:nvSpPr>
        <p:spPr>
          <a:xfrm>
            <a:off x="2597445" y="2587672"/>
            <a:ext cx="491100" cy="21225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50700" lIns="101450" spcFirstLastPara="1" rIns="101450" wrap="square" tIns="50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4"/>
              <a:buFont typeface="Arial"/>
              <a:buNone/>
            </a:pPr>
            <a:r>
              <a:t/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g3f4176477e0_0_1008"/>
          <p:cNvSpPr txBox="1"/>
          <p:nvPr/>
        </p:nvSpPr>
        <p:spPr>
          <a:xfrm>
            <a:off x="2475683" y="2344148"/>
            <a:ext cx="7347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1"/>
              <a:buFont typeface="Arial"/>
              <a:buNone/>
            </a:pPr>
            <a:r>
              <a:rPr b="1" i="0" lang="en-US" sz="1221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80,4%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g3f4176477e0_0_1008"/>
          <p:cNvSpPr/>
          <p:nvPr/>
        </p:nvSpPr>
        <p:spPr>
          <a:xfrm>
            <a:off x="3186754" y="2373831"/>
            <a:ext cx="491100" cy="23361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50700" lIns="101450" spcFirstLastPara="1" rIns="101450" wrap="square" tIns="50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4"/>
              <a:buFont typeface="Arial"/>
              <a:buNone/>
            </a:pPr>
            <a:r>
              <a:t/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g3f4176477e0_0_1008"/>
          <p:cNvSpPr txBox="1"/>
          <p:nvPr/>
        </p:nvSpPr>
        <p:spPr>
          <a:xfrm>
            <a:off x="3064992" y="2130307"/>
            <a:ext cx="7347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1"/>
              <a:buFont typeface="Arial"/>
              <a:buNone/>
            </a:pPr>
            <a:r>
              <a:rPr b="1" i="0" lang="en-US" sz="1221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88,5%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g3f4176477e0_0_1008"/>
          <p:cNvSpPr txBox="1"/>
          <p:nvPr/>
        </p:nvSpPr>
        <p:spPr>
          <a:xfrm>
            <a:off x="2268426" y="4791423"/>
            <a:ext cx="17385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8"/>
              <a:buFont typeface="Arial"/>
              <a:buNone/>
            </a:pPr>
            <a:r>
              <a:rPr b="0" i="0" lang="en-US" sz="1498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Claude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8"/>
              <a:buFont typeface="Arial"/>
              <a:buNone/>
            </a:pPr>
            <a:r>
              <a:rPr b="0" i="0" lang="en-US" sz="1498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Opus 4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g3f4176477e0_0_1008"/>
          <p:cNvSpPr/>
          <p:nvPr/>
        </p:nvSpPr>
        <p:spPr>
          <a:xfrm>
            <a:off x="4234412" y="2635193"/>
            <a:ext cx="491100" cy="20745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50700" lIns="101450" spcFirstLastPara="1" rIns="101450" wrap="square" tIns="50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4"/>
              <a:buFont typeface="Arial"/>
              <a:buNone/>
            </a:pPr>
            <a:r>
              <a:t/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g3f4176477e0_0_1008"/>
          <p:cNvSpPr txBox="1"/>
          <p:nvPr/>
        </p:nvSpPr>
        <p:spPr>
          <a:xfrm>
            <a:off x="4112651" y="2391669"/>
            <a:ext cx="7347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1"/>
              <a:buFont typeface="Arial"/>
              <a:buNone/>
            </a:pPr>
            <a:r>
              <a:rPr b="1" i="0" lang="en-US" sz="1221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78,6%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g3f4176477e0_0_1008"/>
          <p:cNvSpPr/>
          <p:nvPr/>
        </p:nvSpPr>
        <p:spPr>
          <a:xfrm>
            <a:off x="4823721" y="2714393"/>
            <a:ext cx="491100" cy="19956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50700" lIns="101450" spcFirstLastPara="1" rIns="101450" wrap="square" tIns="50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4"/>
              <a:buFont typeface="Arial"/>
              <a:buNone/>
            </a:pPr>
            <a:r>
              <a:t/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g3f4176477e0_0_1008"/>
          <p:cNvSpPr txBox="1"/>
          <p:nvPr/>
        </p:nvSpPr>
        <p:spPr>
          <a:xfrm>
            <a:off x="4701959" y="2470869"/>
            <a:ext cx="7347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1"/>
              <a:buFont typeface="Arial"/>
              <a:buNone/>
            </a:pPr>
            <a:r>
              <a:rPr b="1" i="0" lang="en-US" sz="1221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75,6%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g3f4176477e0_0_1008"/>
          <p:cNvSpPr txBox="1"/>
          <p:nvPr/>
        </p:nvSpPr>
        <p:spPr>
          <a:xfrm>
            <a:off x="3905394" y="4791423"/>
            <a:ext cx="17385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8"/>
              <a:buFont typeface="Arial"/>
              <a:buNone/>
            </a:pPr>
            <a:r>
              <a:rPr b="0" i="0" lang="en-US" sz="1498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Gemini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8"/>
              <a:buFont typeface="Arial"/>
              <a:buNone/>
            </a:pPr>
            <a:r>
              <a:rPr b="0" i="0" lang="en-US" sz="1498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2.5 Pro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g3f4176477e0_0_1008"/>
          <p:cNvSpPr/>
          <p:nvPr/>
        </p:nvSpPr>
        <p:spPr>
          <a:xfrm>
            <a:off x="5871381" y="2656313"/>
            <a:ext cx="491100" cy="20541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50700" lIns="101450" spcFirstLastPara="1" rIns="101450" wrap="square" tIns="50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4"/>
              <a:buFont typeface="Arial"/>
              <a:buNone/>
            </a:pPr>
            <a:r>
              <a:t/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g3f4176477e0_0_1008"/>
          <p:cNvSpPr txBox="1"/>
          <p:nvPr/>
        </p:nvSpPr>
        <p:spPr>
          <a:xfrm>
            <a:off x="5749619" y="2412789"/>
            <a:ext cx="7347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1"/>
              <a:buFont typeface="Arial"/>
              <a:buNone/>
            </a:pPr>
            <a:r>
              <a:rPr b="1" i="0" lang="en-US" sz="1221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77,8%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g3f4176477e0_0_1008"/>
          <p:cNvSpPr/>
          <p:nvPr/>
        </p:nvSpPr>
        <p:spPr>
          <a:xfrm>
            <a:off x="6460690" y="2555992"/>
            <a:ext cx="491100" cy="21543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50700" lIns="101450" spcFirstLastPara="1" rIns="101450" wrap="square" tIns="50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4"/>
              <a:buFont typeface="Arial"/>
              <a:buNone/>
            </a:pPr>
            <a:r>
              <a:t/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g3f4176477e0_0_1008"/>
          <p:cNvSpPr txBox="1"/>
          <p:nvPr/>
        </p:nvSpPr>
        <p:spPr>
          <a:xfrm>
            <a:off x="6338928" y="2312468"/>
            <a:ext cx="7347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1"/>
              <a:buFont typeface="Arial"/>
              <a:buNone/>
            </a:pPr>
            <a:r>
              <a:rPr b="1" i="0" lang="en-US" sz="1221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81,6%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g3f4176477e0_0_1008"/>
          <p:cNvSpPr txBox="1"/>
          <p:nvPr/>
        </p:nvSpPr>
        <p:spPr>
          <a:xfrm>
            <a:off x="5542362" y="4791423"/>
            <a:ext cx="17385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8"/>
              <a:buFont typeface="Arial"/>
              <a:buNone/>
            </a:pPr>
            <a:r>
              <a:rPr b="0" i="0" lang="en-US" sz="1498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Wizard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8"/>
              <a:buFont typeface="Arial"/>
              <a:buNone/>
            </a:pPr>
            <a:r>
              <a:rPr b="0" i="0" lang="en-US" sz="1498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Coder-33B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g3f4176477e0_0_1008"/>
          <p:cNvSpPr/>
          <p:nvPr/>
        </p:nvSpPr>
        <p:spPr>
          <a:xfrm>
            <a:off x="7508348" y="3421919"/>
            <a:ext cx="491100" cy="12882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50700" lIns="101450" spcFirstLastPara="1" rIns="101450" wrap="square" tIns="50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4"/>
              <a:buFont typeface="Arial"/>
              <a:buNone/>
            </a:pPr>
            <a:r>
              <a:t/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g3f4176477e0_0_1008"/>
          <p:cNvSpPr txBox="1"/>
          <p:nvPr/>
        </p:nvSpPr>
        <p:spPr>
          <a:xfrm>
            <a:off x="7386587" y="3178395"/>
            <a:ext cx="7347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1"/>
              <a:buFont typeface="Arial"/>
              <a:buNone/>
            </a:pPr>
            <a:r>
              <a:rPr b="1" i="0" lang="en-US" sz="1221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48,8%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g3f4176477e0_0_1008"/>
          <p:cNvSpPr/>
          <p:nvPr/>
        </p:nvSpPr>
        <p:spPr>
          <a:xfrm>
            <a:off x="8097657" y="2537512"/>
            <a:ext cx="491100" cy="21729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50700" lIns="101450" spcFirstLastPara="1" rIns="101450" wrap="square" tIns="50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4"/>
              <a:buFont typeface="Arial"/>
              <a:buNone/>
            </a:pPr>
            <a:r>
              <a:t/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g3f4176477e0_0_1008"/>
          <p:cNvSpPr txBox="1"/>
          <p:nvPr/>
        </p:nvSpPr>
        <p:spPr>
          <a:xfrm>
            <a:off x="7975896" y="2293988"/>
            <a:ext cx="7347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1"/>
              <a:buFont typeface="Arial"/>
              <a:buNone/>
            </a:pPr>
            <a:r>
              <a:rPr b="1" i="0" lang="en-US" sz="1221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82,3%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g3f4176477e0_0_1008"/>
          <p:cNvSpPr txBox="1"/>
          <p:nvPr/>
        </p:nvSpPr>
        <p:spPr>
          <a:xfrm>
            <a:off x="7179330" y="4791423"/>
            <a:ext cx="17385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8"/>
              <a:buFont typeface="Arial"/>
              <a:buNone/>
            </a:pPr>
            <a:r>
              <a:rPr b="0" i="0" lang="en-US" sz="1498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Qwen2.5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8"/>
              <a:buFont typeface="Arial"/>
              <a:buNone/>
            </a:pPr>
            <a:r>
              <a:rPr b="0" i="0" lang="en-US" sz="1498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Coder-14B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g3f4176477e0_0_1008"/>
          <p:cNvSpPr/>
          <p:nvPr/>
        </p:nvSpPr>
        <p:spPr>
          <a:xfrm>
            <a:off x="9145317" y="4026483"/>
            <a:ext cx="491100" cy="6837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50700" lIns="101450" spcFirstLastPara="1" rIns="101450" wrap="square" tIns="50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4"/>
              <a:buFont typeface="Arial"/>
              <a:buNone/>
            </a:pPr>
            <a:r>
              <a:t/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g3f4176477e0_0_1008"/>
          <p:cNvSpPr txBox="1"/>
          <p:nvPr/>
        </p:nvSpPr>
        <p:spPr>
          <a:xfrm>
            <a:off x="9023555" y="3782959"/>
            <a:ext cx="7347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1"/>
              <a:buFont typeface="Arial"/>
              <a:buNone/>
            </a:pPr>
            <a:r>
              <a:rPr b="1" i="0" lang="en-US" sz="1221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25,9%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g3f4176477e0_0_1008"/>
          <p:cNvSpPr/>
          <p:nvPr/>
        </p:nvSpPr>
        <p:spPr>
          <a:xfrm>
            <a:off x="9734626" y="2231269"/>
            <a:ext cx="491100" cy="24789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50700" lIns="101450" spcFirstLastPara="1" rIns="101450" wrap="square" tIns="50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4"/>
              <a:buFont typeface="Arial"/>
              <a:buNone/>
            </a:pPr>
            <a:r>
              <a:t/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g3f4176477e0_0_1008"/>
          <p:cNvSpPr txBox="1"/>
          <p:nvPr/>
        </p:nvSpPr>
        <p:spPr>
          <a:xfrm>
            <a:off x="9612864" y="1987746"/>
            <a:ext cx="7347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1"/>
              <a:buFont typeface="Arial"/>
              <a:buNone/>
            </a:pPr>
            <a:r>
              <a:rPr b="1" i="0" lang="en-US" sz="1221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93,9%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g3f4176477e0_0_1008"/>
          <p:cNvSpPr txBox="1"/>
          <p:nvPr/>
        </p:nvSpPr>
        <p:spPr>
          <a:xfrm>
            <a:off x="8816298" y="4791423"/>
            <a:ext cx="17385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8"/>
              <a:buFont typeface="Arial"/>
              <a:buNone/>
            </a:pPr>
            <a:r>
              <a:rPr b="0" i="0" lang="en-US" sz="1498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CodeLlama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8"/>
              <a:buFont typeface="Arial"/>
              <a:buNone/>
            </a:pPr>
            <a:r>
              <a:rPr b="0" i="0" lang="en-US" sz="1498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13B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g3f4176477e0_0_1008"/>
          <p:cNvSpPr/>
          <p:nvPr/>
        </p:nvSpPr>
        <p:spPr>
          <a:xfrm>
            <a:off x="10782284" y="4150564"/>
            <a:ext cx="491100" cy="5598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50700" lIns="101450" spcFirstLastPara="1" rIns="101450" wrap="square" tIns="50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4"/>
              <a:buFont typeface="Arial"/>
              <a:buNone/>
            </a:pPr>
            <a:r>
              <a:t/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g3f4176477e0_0_1008"/>
          <p:cNvSpPr txBox="1"/>
          <p:nvPr/>
        </p:nvSpPr>
        <p:spPr>
          <a:xfrm>
            <a:off x="10660523" y="3907040"/>
            <a:ext cx="7347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1"/>
              <a:buFont typeface="Arial"/>
              <a:buNone/>
            </a:pPr>
            <a:r>
              <a:rPr b="1" i="0" lang="en-US" sz="1221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21,2%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g3f4176477e0_0_1008"/>
          <p:cNvSpPr/>
          <p:nvPr/>
        </p:nvSpPr>
        <p:spPr>
          <a:xfrm>
            <a:off x="11371593" y="2706473"/>
            <a:ext cx="491100" cy="20037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50700" lIns="101450" spcFirstLastPara="1" rIns="101450" wrap="square" tIns="50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4"/>
              <a:buFont typeface="Arial"/>
              <a:buNone/>
            </a:pPr>
            <a:r>
              <a:t/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g3f4176477e0_0_1008"/>
          <p:cNvSpPr txBox="1"/>
          <p:nvPr/>
        </p:nvSpPr>
        <p:spPr>
          <a:xfrm>
            <a:off x="11249832" y="2462950"/>
            <a:ext cx="7347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1"/>
              <a:buFont typeface="Arial"/>
              <a:buNone/>
            </a:pPr>
            <a:r>
              <a:rPr b="1" i="0" lang="en-US" sz="1221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75,9%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g3f4176477e0_0_1008"/>
          <p:cNvSpPr txBox="1"/>
          <p:nvPr/>
        </p:nvSpPr>
        <p:spPr>
          <a:xfrm>
            <a:off x="10453266" y="4791423"/>
            <a:ext cx="17385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8"/>
              <a:buFont typeface="Arial"/>
              <a:buNone/>
            </a:pPr>
            <a:r>
              <a:rPr b="0" i="0" lang="en-US" sz="1498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Magicoder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8"/>
              <a:buFont typeface="Arial"/>
              <a:buNone/>
            </a:pPr>
            <a:r>
              <a:rPr b="0" i="0" lang="en-US" sz="1498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7B</a:t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f4176477e0_0_1080"/>
          <p:cNvSpPr txBox="1"/>
          <p:nvPr/>
        </p:nvSpPr>
        <p:spPr>
          <a:xfrm>
            <a:off x="658368" y="365760"/>
            <a:ext cx="1087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g3f4176477e0_0_1080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Validade Sintática × Executabilidade do Plan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f4176477e0_0_1080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g3f4176477e0_0_1080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g3f4176477e0_0_1080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g3f4176477e0_0_1080"/>
          <p:cNvSpPr/>
          <p:nvPr/>
        </p:nvSpPr>
        <p:spPr>
          <a:xfrm>
            <a:off x="654068" y="6115322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752" name="Google Shape;752;g3f4176477e0_0_10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g3f4176477e0_0_1080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754" name="Google Shape;754;g3f4176477e0_0_10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g3f4176477e0_0_1080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756" name="Google Shape;756;g3f4176477e0_0_10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g3f4176477e0_0_1080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g3f4176477e0_0_1080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759" name="Google Shape;759;g3f4176477e0_0_108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g3f4176477e0_0_1080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g3f4176477e0_0_1080"/>
          <p:cNvSpPr/>
          <p:nvPr/>
        </p:nvSpPr>
        <p:spPr>
          <a:xfrm>
            <a:off x="571582" y="4581370"/>
            <a:ext cx="11736600" cy="14400"/>
          </a:xfrm>
          <a:prstGeom prst="rect">
            <a:avLst/>
          </a:prstGeom>
          <a:solidFill>
            <a:srgbClr val="9CA6B4"/>
          </a:solidFill>
          <a:ln>
            <a:noFill/>
          </a:ln>
        </p:spPr>
        <p:txBody>
          <a:bodyPr anchorCtr="0" anchor="ctr" bIns="51950" lIns="103875" spcFirstLastPara="1" rIns="103875" wrap="square" tIns="51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1"/>
              <a:buFont typeface="Arial"/>
              <a:buNone/>
            </a:pPr>
            <a:r>
              <a:t/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g3f4176477e0_0_1080"/>
          <p:cNvSpPr txBox="1"/>
          <p:nvPr/>
        </p:nvSpPr>
        <p:spPr>
          <a:xfrm>
            <a:off x="0" y="4467054"/>
            <a:ext cx="4887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rPr b="0" i="0" lang="en-US" sz="1364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g3f4176477e0_0_1080"/>
          <p:cNvSpPr/>
          <p:nvPr/>
        </p:nvSpPr>
        <p:spPr>
          <a:xfrm>
            <a:off x="571582" y="4040590"/>
            <a:ext cx="11736600" cy="10500"/>
          </a:xfrm>
          <a:prstGeom prst="rect">
            <a:avLst/>
          </a:prstGeom>
          <a:solidFill>
            <a:srgbClr val="E3E7EE"/>
          </a:solidFill>
          <a:ln>
            <a:noFill/>
          </a:ln>
        </p:spPr>
        <p:txBody>
          <a:bodyPr anchorCtr="0" anchor="ctr" bIns="51950" lIns="103875" spcFirstLastPara="1" rIns="103875" wrap="square" tIns="51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1"/>
              <a:buFont typeface="Arial"/>
              <a:buNone/>
            </a:pPr>
            <a:r>
              <a:t/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g3f4176477e0_0_1080"/>
          <p:cNvSpPr txBox="1"/>
          <p:nvPr/>
        </p:nvSpPr>
        <p:spPr>
          <a:xfrm>
            <a:off x="0" y="3926274"/>
            <a:ext cx="4887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rPr b="0" i="0" lang="en-US" sz="1364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g3f4176477e0_0_1080"/>
          <p:cNvSpPr/>
          <p:nvPr/>
        </p:nvSpPr>
        <p:spPr>
          <a:xfrm>
            <a:off x="571582" y="3499810"/>
            <a:ext cx="11736600" cy="10500"/>
          </a:xfrm>
          <a:prstGeom prst="rect">
            <a:avLst/>
          </a:prstGeom>
          <a:solidFill>
            <a:srgbClr val="E3E7EE"/>
          </a:solidFill>
          <a:ln>
            <a:noFill/>
          </a:ln>
        </p:spPr>
        <p:txBody>
          <a:bodyPr anchorCtr="0" anchor="ctr" bIns="51950" lIns="103875" spcFirstLastPara="1" rIns="103875" wrap="square" tIns="51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1"/>
              <a:buFont typeface="Arial"/>
              <a:buNone/>
            </a:pPr>
            <a:r>
              <a:t/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g3f4176477e0_0_1080"/>
          <p:cNvSpPr txBox="1"/>
          <p:nvPr/>
        </p:nvSpPr>
        <p:spPr>
          <a:xfrm>
            <a:off x="0" y="3385495"/>
            <a:ext cx="4887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rPr b="0" i="0" lang="en-US" sz="1364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g3f4176477e0_0_1080"/>
          <p:cNvSpPr/>
          <p:nvPr/>
        </p:nvSpPr>
        <p:spPr>
          <a:xfrm>
            <a:off x="571582" y="2959030"/>
            <a:ext cx="11736600" cy="10500"/>
          </a:xfrm>
          <a:prstGeom prst="rect">
            <a:avLst/>
          </a:prstGeom>
          <a:solidFill>
            <a:srgbClr val="E3E7EE"/>
          </a:solidFill>
          <a:ln>
            <a:noFill/>
          </a:ln>
        </p:spPr>
        <p:txBody>
          <a:bodyPr anchorCtr="0" anchor="ctr" bIns="51950" lIns="103875" spcFirstLastPara="1" rIns="103875" wrap="square" tIns="51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1"/>
              <a:buFont typeface="Arial"/>
              <a:buNone/>
            </a:pPr>
            <a:r>
              <a:t/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g3f4176477e0_0_1080"/>
          <p:cNvSpPr txBox="1"/>
          <p:nvPr/>
        </p:nvSpPr>
        <p:spPr>
          <a:xfrm>
            <a:off x="0" y="2844714"/>
            <a:ext cx="4887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rPr b="0" i="0" lang="en-US" sz="1364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g3f4176477e0_0_1080"/>
          <p:cNvSpPr/>
          <p:nvPr/>
        </p:nvSpPr>
        <p:spPr>
          <a:xfrm>
            <a:off x="571582" y="2418251"/>
            <a:ext cx="11736600" cy="10500"/>
          </a:xfrm>
          <a:prstGeom prst="rect">
            <a:avLst/>
          </a:prstGeom>
          <a:solidFill>
            <a:srgbClr val="E3E7EE"/>
          </a:solidFill>
          <a:ln>
            <a:noFill/>
          </a:ln>
        </p:spPr>
        <p:txBody>
          <a:bodyPr anchorCtr="0" anchor="ctr" bIns="51950" lIns="103875" spcFirstLastPara="1" rIns="103875" wrap="square" tIns="51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1"/>
              <a:buFont typeface="Arial"/>
              <a:buNone/>
            </a:pPr>
            <a:r>
              <a:t/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g3f4176477e0_0_1080"/>
          <p:cNvSpPr txBox="1"/>
          <p:nvPr/>
        </p:nvSpPr>
        <p:spPr>
          <a:xfrm>
            <a:off x="0" y="2303935"/>
            <a:ext cx="4887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rPr b="0" i="0" lang="en-US" sz="1364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g3f4176477e0_0_1080"/>
          <p:cNvSpPr/>
          <p:nvPr/>
        </p:nvSpPr>
        <p:spPr>
          <a:xfrm>
            <a:off x="571582" y="1877470"/>
            <a:ext cx="11736600" cy="10500"/>
          </a:xfrm>
          <a:prstGeom prst="rect">
            <a:avLst/>
          </a:prstGeom>
          <a:solidFill>
            <a:srgbClr val="E3E7EE"/>
          </a:solidFill>
          <a:ln>
            <a:noFill/>
          </a:ln>
        </p:spPr>
        <p:txBody>
          <a:bodyPr anchorCtr="0" anchor="ctr" bIns="51950" lIns="103875" spcFirstLastPara="1" rIns="103875" wrap="square" tIns="51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1"/>
              <a:buFont typeface="Arial"/>
              <a:buNone/>
            </a:pPr>
            <a:r>
              <a:t/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g3f4176477e0_0_1080"/>
          <p:cNvSpPr txBox="1"/>
          <p:nvPr/>
        </p:nvSpPr>
        <p:spPr>
          <a:xfrm>
            <a:off x="0" y="1763154"/>
            <a:ext cx="4887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rPr b="0" i="0" lang="en-US" sz="1364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g3f4176477e0_0_1080"/>
          <p:cNvSpPr/>
          <p:nvPr/>
        </p:nvSpPr>
        <p:spPr>
          <a:xfrm>
            <a:off x="856602" y="2274943"/>
            <a:ext cx="502800" cy="2307000"/>
          </a:xfrm>
          <a:prstGeom prst="rect">
            <a:avLst/>
          </a:prstGeom>
          <a:solidFill>
            <a:srgbClr val="0F2369"/>
          </a:solidFill>
          <a:ln cap="flat" cmpd="sng" w="21650">
            <a:solidFill>
              <a:srgbClr val="0F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950" lIns="103875" spcFirstLastPara="1" rIns="103875" wrap="square" tIns="51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1"/>
              <a:buFont typeface="Arial"/>
              <a:buNone/>
            </a:pPr>
            <a:r>
              <a:t/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g3f4176477e0_0_1080"/>
          <p:cNvSpPr txBox="1"/>
          <p:nvPr/>
        </p:nvSpPr>
        <p:spPr>
          <a:xfrm>
            <a:off x="731893" y="2025527"/>
            <a:ext cx="7527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2"/>
              <a:buFont typeface="Arial"/>
              <a:buNone/>
            </a:pPr>
            <a:r>
              <a:rPr b="1" i="0" lang="en-US" sz="1932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85,3%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g3f4176477e0_0_1080"/>
          <p:cNvSpPr/>
          <p:nvPr/>
        </p:nvSpPr>
        <p:spPr>
          <a:xfrm>
            <a:off x="1460174" y="2604820"/>
            <a:ext cx="502800" cy="1976400"/>
          </a:xfrm>
          <a:prstGeom prst="rect">
            <a:avLst/>
          </a:prstGeom>
          <a:solidFill>
            <a:srgbClr val="F7A823"/>
          </a:solidFill>
          <a:ln cap="flat" cmpd="sng" w="21650">
            <a:solidFill>
              <a:srgbClr val="F7A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950" lIns="103875" spcFirstLastPara="1" rIns="103875" wrap="square" tIns="51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1"/>
              <a:buFont typeface="Arial"/>
              <a:buNone/>
            </a:pPr>
            <a:r>
              <a:t/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g3f4176477e0_0_1080"/>
          <p:cNvSpPr txBox="1"/>
          <p:nvPr/>
        </p:nvSpPr>
        <p:spPr>
          <a:xfrm>
            <a:off x="1335465" y="2355403"/>
            <a:ext cx="7527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2"/>
              <a:buFont typeface="Arial"/>
              <a:buNone/>
            </a:pPr>
            <a:r>
              <a:rPr b="1" i="0" lang="en-US" sz="1932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73,1%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g3f4176477e0_0_1080"/>
          <p:cNvSpPr txBox="1"/>
          <p:nvPr/>
        </p:nvSpPr>
        <p:spPr>
          <a:xfrm>
            <a:off x="519620" y="4664509"/>
            <a:ext cx="17805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5"/>
              <a:buFont typeface="Arial"/>
              <a:buNone/>
            </a:pPr>
            <a:r>
              <a:rPr b="1" i="0" lang="en-US" sz="1705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GPT-5.4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g3f4176477e0_0_1080"/>
          <p:cNvSpPr/>
          <p:nvPr/>
        </p:nvSpPr>
        <p:spPr>
          <a:xfrm>
            <a:off x="2533192" y="2407434"/>
            <a:ext cx="502800" cy="2174100"/>
          </a:xfrm>
          <a:prstGeom prst="rect">
            <a:avLst/>
          </a:prstGeom>
          <a:solidFill>
            <a:srgbClr val="0F2369">
              <a:alpha val="30200"/>
            </a:srgbClr>
          </a:solidFill>
          <a:ln>
            <a:noFill/>
          </a:ln>
        </p:spPr>
        <p:txBody>
          <a:bodyPr anchorCtr="0" anchor="ctr" bIns="51950" lIns="103875" spcFirstLastPara="1" rIns="103875" wrap="square" tIns="51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1"/>
              <a:buFont typeface="Arial"/>
              <a:buNone/>
            </a:pPr>
            <a:r>
              <a:t/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g3f4176477e0_0_1080"/>
          <p:cNvSpPr txBox="1"/>
          <p:nvPr/>
        </p:nvSpPr>
        <p:spPr>
          <a:xfrm>
            <a:off x="2408483" y="2158018"/>
            <a:ext cx="752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80,4%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g3f4176477e0_0_1080"/>
          <p:cNvSpPr/>
          <p:nvPr/>
        </p:nvSpPr>
        <p:spPr>
          <a:xfrm>
            <a:off x="3136765" y="2188419"/>
            <a:ext cx="502800" cy="2393100"/>
          </a:xfrm>
          <a:prstGeom prst="rect">
            <a:avLst/>
          </a:prstGeom>
          <a:solidFill>
            <a:srgbClr val="F7A823">
              <a:alpha val="30200"/>
            </a:srgbClr>
          </a:solidFill>
          <a:ln>
            <a:noFill/>
          </a:ln>
        </p:spPr>
        <p:txBody>
          <a:bodyPr anchorCtr="0" anchor="ctr" bIns="51950" lIns="103875" spcFirstLastPara="1" rIns="103875" wrap="square" tIns="51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1"/>
              <a:buFont typeface="Arial"/>
              <a:buNone/>
            </a:pPr>
            <a:r>
              <a:t/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g3f4176477e0_0_1080"/>
          <p:cNvSpPr txBox="1"/>
          <p:nvPr/>
        </p:nvSpPr>
        <p:spPr>
          <a:xfrm>
            <a:off x="3012056" y="1939003"/>
            <a:ext cx="752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88,5%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g3f4176477e0_0_1080"/>
          <p:cNvSpPr txBox="1"/>
          <p:nvPr/>
        </p:nvSpPr>
        <p:spPr>
          <a:xfrm>
            <a:off x="2196210" y="4664509"/>
            <a:ext cx="1780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4"/>
              <a:buFont typeface="Arial"/>
              <a:buNone/>
            </a:pPr>
            <a:r>
              <a:rPr b="0" i="0" lang="en-US" sz="1534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Claude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4"/>
              <a:buFont typeface="Arial"/>
              <a:buNone/>
            </a:pPr>
            <a:r>
              <a:rPr b="0" i="0" lang="en-US" sz="1534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Opus 4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g3f4176477e0_0_1080"/>
          <p:cNvSpPr/>
          <p:nvPr/>
        </p:nvSpPr>
        <p:spPr>
          <a:xfrm>
            <a:off x="4209782" y="2456105"/>
            <a:ext cx="502800" cy="2124900"/>
          </a:xfrm>
          <a:prstGeom prst="rect">
            <a:avLst/>
          </a:prstGeom>
          <a:solidFill>
            <a:srgbClr val="0F2369">
              <a:alpha val="30200"/>
            </a:srgbClr>
          </a:solidFill>
          <a:ln>
            <a:noFill/>
          </a:ln>
        </p:spPr>
        <p:txBody>
          <a:bodyPr anchorCtr="0" anchor="ctr" bIns="51950" lIns="103875" spcFirstLastPara="1" rIns="103875" wrap="square" tIns="51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1"/>
              <a:buFont typeface="Arial"/>
              <a:buNone/>
            </a:pPr>
            <a:r>
              <a:t/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g3f4176477e0_0_1080"/>
          <p:cNvSpPr txBox="1"/>
          <p:nvPr/>
        </p:nvSpPr>
        <p:spPr>
          <a:xfrm>
            <a:off x="4085073" y="2206688"/>
            <a:ext cx="752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78,6%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g3f4176477e0_0_1080"/>
          <p:cNvSpPr/>
          <p:nvPr/>
        </p:nvSpPr>
        <p:spPr>
          <a:xfrm>
            <a:off x="4813355" y="2537222"/>
            <a:ext cx="502800" cy="2043900"/>
          </a:xfrm>
          <a:prstGeom prst="rect">
            <a:avLst/>
          </a:prstGeom>
          <a:solidFill>
            <a:srgbClr val="F7A823">
              <a:alpha val="30200"/>
            </a:srgbClr>
          </a:solidFill>
          <a:ln>
            <a:noFill/>
          </a:ln>
        </p:spPr>
        <p:txBody>
          <a:bodyPr anchorCtr="0" anchor="ctr" bIns="51950" lIns="103875" spcFirstLastPara="1" rIns="103875" wrap="square" tIns="51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1"/>
              <a:buFont typeface="Arial"/>
              <a:buNone/>
            </a:pPr>
            <a:r>
              <a:t/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g3f4176477e0_0_1080"/>
          <p:cNvSpPr txBox="1"/>
          <p:nvPr/>
        </p:nvSpPr>
        <p:spPr>
          <a:xfrm>
            <a:off x="4688646" y="2287805"/>
            <a:ext cx="752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75,6%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g3f4176477e0_0_1080"/>
          <p:cNvSpPr txBox="1"/>
          <p:nvPr/>
        </p:nvSpPr>
        <p:spPr>
          <a:xfrm>
            <a:off x="3872800" y="4664509"/>
            <a:ext cx="1780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4"/>
              <a:buFont typeface="Arial"/>
              <a:buNone/>
            </a:pPr>
            <a:r>
              <a:rPr b="0" i="0" lang="en-US" sz="1534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Gemini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4"/>
              <a:buFont typeface="Arial"/>
              <a:buNone/>
            </a:pPr>
            <a:r>
              <a:rPr b="0" i="0" lang="en-US" sz="1534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2.5 Pro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g3f4176477e0_0_1080"/>
          <p:cNvSpPr/>
          <p:nvPr/>
        </p:nvSpPr>
        <p:spPr>
          <a:xfrm>
            <a:off x="5886373" y="2477736"/>
            <a:ext cx="502800" cy="2104200"/>
          </a:xfrm>
          <a:prstGeom prst="rect">
            <a:avLst/>
          </a:prstGeom>
          <a:solidFill>
            <a:srgbClr val="0F2369">
              <a:alpha val="30200"/>
            </a:srgbClr>
          </a:solidFill>
          <a:ln>
            <a:noFill/>
          </a:ln>
        </p:spPr>
        <p:txBody>
          <a:bodyPr anchorCtr="0" anchor="ctr" bIns="51950" lIns="103875" spcFirstLastPara="1" rIns="103875" wrap="square" tIns="51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1"/>
              <a:buFont typeface="Arial"/>
              <a:buNone/>
            </a:pPr>
            <a:r>
              <a:t/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g3f4176477e0_0_1080"/>
          <p:cNvSpPr txBox="1"/>
          <p:nvPr/>
        </p:nvSpPr>
        <p:spPr>
          <a:xfrm>
            <a:off x="5761664" y="2228320"/>
            <a:ext cx="752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77,8%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g3f4176477e0_0_1080"/>
          <p:cNvSpPr/>
          <p:nvPr/>
        </p:nvSpPr>
        <p:spPr>
          <a:xfrm>
            <a:off x="6489945" y="2374988"/>
            <a:ext cx="502800" cy="2206200"/>
          </a:xfrm>
          <a:prstGeom prst="rect">
            <a:avLst/>
          </a:prstGeom>
          <a:solidFill>
            <a:srgbClr val="F7A823">
              <a:alpha val="30200"/>
            </a:srgbClr>
          </a:solidFill>
          <a:ln>
            <a:noFill/>
          </a:ln>
        </p:spPr>
        <p:txBody>
          <a:bodyPr anchorCtr="0" anchor="ctr" bIns="51950" lIns="103875" spcFirstLastPara="1" rIns="103875" wrap="square" tIns="51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1"/>
              <a:buFont typeface="Arial"/>
              <a:buNone/>
            </a:pPr>
            <a:r>
              <a:t/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g3f4176477e0_0_1080"/>
          <p:cNvSpPr txBox="1"/>
          <p:nvPr/>
        </p:nvSpPr>
        <p:spPr>
          <a:xfrm>
            <a:off x="6365237" y="2125572"/>
            <a:ext cx="752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81,6%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g3f4176477e0_0_1080"/>
          <p:cNvSpPr txBox="1"/>
          <p:nvPr/>
        </p:nvSpPr>
        <p:spPr>
          <a:xfrm>
            <a:off x="5549390" y="4664509"/>
            <a:ext cx="1780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4"/>
              <a:buFont typeface="Arial"/>
              <a:buNone/>
            </a:pPr>
            <a:r>
              <a:rPr b="0" i="0" lang="en-US" sz="1534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Wizard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4"/>
              <a:buFont typeface="Arial"/>
              <a:buNone/>
            </a:pPr>
            <a:r>
              <a:rPr b="0" i="0" lang="en-US" sz="1534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Coder-33B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g3f4176477e0_0_1080"/>
          <p:cNvSpPr/>
          <p:nvPr/>
        </p:nvSpPr>
        <p:spPr>
          <a:xfrm>
            <a:off x="7562963" y="3261867"/>
            <a:ext cx="502800" cy="1319700"/>
          </a:xfrm>
          <a:prstGeom prst="rect">
            <a:avLst/>
          </a:prstGeom>
          <a:solidFill>
            <a:srgbClr val="0F2369">
              <a:alpha val="30200"/>
            </a:srgbClr>
          </a:solidFill>
          <a:ln>
            <a:noFill/>
          </a:ln>
        </p:spPr>
        <p:txBody>
          <a:bodyPr anchorCtr="0" anchor="ctr" bIns="51950" lIns="103875" spcFirstLastPara="1" rIns="103875" wrap="square" tIns="51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1"/>
              <a:buFont typeface="Arial"/>
              <a:buNone/>
            </a:pPr>
            <a:r>
              <a:t/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g3f4176477e0_0_1080"/>
          <p:cNvSpPr txBox="1"/>
          <p:nvPr/>
        </p:nvSpPr>
        <p:spPr>
          <a:xfrm>
            <a:off x="7438254" y="3012451"/>
            <a:ext cx="752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48,8%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g3f4176477e0_0_1080"/>
          <p:cNvSpPr/>
          <p:nvPr/>
        </p:nvSpPr>
        <p:spPr>
          <a:xfrm>
            <a:off x="8166535" y="2356060"/>
            <a:ext cx="502800" cy="2226000"/>
          </a:xfrm>
          <a:prstGeom prst="rect">
            <a:avLst/>
          </a:prstGeom>
          <a:solidFill>
            <a:srgbClr val="F7A823">
              <a:alpha val="30200"/>
            </a:srgbClr>
          </a:solidFill>
          <a:ln>
            <a:noFill/>
          </a:ln>
        </p:spPr>
        <p:txBody>
          <a:bodyPr anchorCtr="0" anchor="ctr" bIns="51950" lIns="103875" spcFirstLastPara="1" rIns="103875" wrap="square" tIns="51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1"/>
              <a:buFont typeface="Arial"/>
              <a:buNone/>
            </a:pPr>
            <a:r>
              <a:t/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g3f4176477e0_0_1080"/>
          <p:cNvSpPr txBox="1"/>
          <p:nvPr/>
        </p:nvSpPr>
        <p:spPr>
          <a:xfrm>
            <a:off x="8041827" y="2106644"/>
            <a:ext cx="752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82,3%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g3f4176477e0_0_1080"/>
          <p:cNvSpPr txBox="1"/>
          <p:nvPr/>
        </p:nvSpPr>
        <p:spPr>
          <a:xfrm>
            <a:off x="7225980" y="4664509"/>
            <a:ext cx="1780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4"/>
              <a:buFont typeface="Arial"/>
              <a:buNone/>
            </a:pPr>
            <a:r>
              <a:rPr b="0" i="0" lang="en-US" sz="1534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Qwen2.5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4"/>
              <a:buFont typeface="Arial"/>
              <a:buNone/>
            </a:pPr>
            <a:r>
              <a:rPr b="0" i="0" lang="en-US" sz="1534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Coder-14B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g3f4176477e0_0_1080"/>
          <p:cNvSpPr/>
          <p:nvPr/>
        </p:nvSpPr>
        <p:spPr>
          <a:xfrm>
            <a:off x="9239554" y="3881060"/>
            <a:ext cx="502800" cy="700500"/>
          </a:xfrm>
          <a:prstGeom prst="rect">
            <a:avLst/>
          </a:prstGeom>
          <a:solidFill>
            <a:srgbClr val="0F2369"/>
          </a:solidFill>
          <a:ln cap="flat" cmpd="sng" w="21650">
            <a:solidFill>
              <a:srgbClr val="0F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950" lIns="103875" spcFirstLastPara="1" rIns="103875" wrap="square" tIns="51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1"/>
              <a:buFont typeface="Arial"/>
              <a:buNone/>
            </a:pPr>
            <a:r>
              <a:t/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g3f4176477e0_0_1080"/>
          <p:cNvSpPr txBox="1"/>
          <p:nvPr/>
        </p:nvSpPr>
        <p:spPr>
          <a:xfrm>
            <a:off x="9114845" y="3631643"/>
            <a:ext cx="7527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2"/>
              <a:buFont typeface="Arial"/>
              <a:buNone/>
            </a:pPr>
            <a:r>
              <a:rPr b="1" i="0" lang="en-US" sz="1932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25,9%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g3f4176477e0_0_1080"/>
          <p:cNvSpPr/>
          <p:nvPr/>
        </p:nvSpPr>
        <p:spPr>
          <a:xfrm>
            <a:off x="9843126" y="2042408"/>
            <a:ext cx="502800" cy="2539200"/>
          </a:xfrm>
          <a:prstGeom prst="rect">
            <a:avLst/>
          </a:prstGeom>
          <a:solidFill>
            <a:srgbClr val="F7A823"/>
          </a:solidFill>
          <a:ln cap="flat" cmpd="sng" w="21650">
            <a:solidFill>
              <a:srgbClr val="F7A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950" lIns="103875" spcFirstLastPara="1" rIns="103875" wrap="square" tIns="51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1"/>
              <a:buFont typeface="Arial"/>
              <a:buNone/>
            </a:pPr>
            <a:r>
              <a:t/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g3f4176477e0_0_1080"/>
          <p:cNvSpPr txBox="1"/>
          <p:nvPr/>
        </p:nvSpPr>
        <p:spPr>
          <a:xfrm>
            <a:off x="9718417" y="1792991"/>
            <a:ext cx="7527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2"/>
              <a:buFont typeface="Arial"/>
              <a:buNone/>
            </a:pPr>
            <a:r>
              <a:rPr b="1" i="0" lang="en-US" sz="1932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93,9%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g3f4176477e0_0_1080"/>
          <p:cNvSpPr txBox="1"/>
          <p:nvPr/>
        </p:nvSpPr>
        <p:spPr>
          <a:xfrm>
            <a:off x="8902571" y="4664509"/>
            <a:ext cx="17805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5"/>
              <a:buFont typeface="Arial"/>
              <a:buNone/>
            </a:pPr>
            <a:r>
              <a:rPr b="1" i="0" lang="en-US" sz="1705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CodeLlama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5"/>
              <a:buFont typeface="Arial"/>
              <a:buNone/>
            </a:pPr>
            <a:r>
              <a:rPr b="1" i="0" lang="en-US" sz="1705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13B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g3f4176477e0_0_1080"/>
          <p:cNvSpPr/>
          <p:nvPr/>
        </p:nvSpPr>
        <p:spPr>
          <a:xfrm>
            <a:off x="10916143" y="4008143"/>
            <a:ext cx="502800" cy="572700"/>
          </a:xfrm>
          <a:prstGeom prst="rect">
            <a:avLst/>
          </a:prstGeom>
          <a:solidFill>
            <a:srgbClr val="0F2369">
              <a:alpha val="30200"/>
            </a:srgbClr>
          </a:solidFill>
          <a:ln>
            <a:noFill/>
          </a:ln>
        </p:spPr>
        <p:txBody>
          <a:bodyPr anchorCtr="0" anchor="ctr" bIns="51950" lIns="103875" spcFirstLastPara="1" rIns="103875" wrap="square" tIns="51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1"/>
              <a:buFont typeface="Arial"/>
              <a:buNone/>
            </a:pPr>
            <a:r>
              <a:t/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g3f4176477e0_0_1080"/>
          <p:cNvSpPr txBox="1"/>
          <p:nvPr/>
        </p:nvSpPr>
        <p:spPr>
          <a:xfrm>
            <a:off x="10791435" y="3758727"/>
            <a:ext cx="752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21,2%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g3f4176477e0_0_1080"/>
          <p:cNvSpPr/>
          <p:nvPr/>
        </p:nvSpPr>
        <p:spPr>
          <a:xfrm>
            <a:off x="11519716" y="2529110"/>
            <a:ext cx="502800" cy="2052300"/>
          </a:xfrm>
          <a:prstGeom prst="rect">
            <a:avLst/>
          </a:prstGeom>
          <a:solidFill>
            <a:srgbClr val="F7A823">
              <a:alpha val="30200"/>
            </a:srgbClr>
          </a:solidFill>
          <a:ln>
            <a:noFill/>
          </a:ln>
        </p:spPr>
        <p:txBody>
          <a:bodyPr anchorCtr="0" anchor="ctr" bIns="51950" lIns="103875" spcFirstLastPara="1" rIns="103875" wrap="square" tIns="51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1"/>
              <a:buFont typeface="Arial"/>
              <a:buNone/>
            </a:pPr>
            <a:r>
              <a:t/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g3f4176477e0_0_1080"/>
          <p:cNvSpPr txBox="1"/>
          <p:nvPr/>
        </p:nvSpPr>
        <p:spPr>
          <a:xfrm>
            <a:off x="11395007" y="2279694"/>
            <a:ext cx="752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75,9%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g3f4176477e0_0_1080"/>
          <p:cNvSpPr txBox="1"/>
          <p:nvPr/>
        </p:nvSpPr>
        <p:spPr>
          <a:xfrm>
            <a:off x="10579161" y="4664509"/>
            <a:ext cx="1780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4"/>
              <a:buFont typeface="Arial"/>
              <a:buNone/>
            </a:pPr>
            <a:r>
              <a:rPr b="0" i="0" lang="en-US" sz="1534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Magicoder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4"/>
              <a:buFont typeface="Arial"/>
              <a:buNone/>
            </a:pPr>
            <a:r>
              <a:rPr b="0" i="0" lang="en-US" sz="1534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7B</a:t>
            </a:r>
            <a:endParaRPr b="0" i="0" sz="15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g3f4176477e0_0_1080"/>
          <p:cNvSpPr/>
          <p:nvPr/>
        </p:nvSpPr>
        <p:spPr>
          <a:xfrm>
            <a:off x="1192095" y="5258671"/>
            <a:ext cx="263700" cy="152100"/>
          </a:xfrm>
          <a:prstGeom prst="triangle">
            <a:avLst>
              <a:gd fmla="val 50000" name="adj"/>
            </a:avLst>
          </a:prstGeom>
          <a:solidFill>
            <a:srgbClr val="F7A823"/>
          </a:solidFill>
          <a:ln>
            <a:noFill/>
          </a:ln>
        </p:spPr>
        <p:txBody>
          <a:bodyPr anchorCtr="0" anchor="t" bIns="46350" lIns="92725" spcFirstLastPara="1" rIns="92725" wrap="square" tIns="46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g3f4176477e0_0_1080"/>
          <p:cNvSpPr/>
          <p:nvPr/>
        </p:nvSpPr>
        <p:spPr>
          <a:xfrm>
            <a:off x="488691" y="5362645"/>
            <a:ext cx="5362200" cy="709800"/>
          </a:xfrm>
          <a:prstGeom prst="roundRect">
            <a:avLst>
              <a:gd fmla="val 9000" name="adj"/>
            </a:avLst>
          </a:prstGeom>
          <a:solidFill>
            <a:srgbClr val="F7A823"/>
          </a:solidFill>
          <a:ln>
            <a:noFill/>
          </a:ln>
          <a:effectLst>
            <a:outerShdw blurRad="50707" rotWithShape="0" dir="5400000" dist="25353">
              <a:srgbClr val="1F2937">
                <a:alpha val="32160"/>
              </a:srgbClr>
            </a:outerShdw>
          </a:effectLst>
        </p:spPr>
        <p:txBody>
          <a:bodyPr anchorCtr="0" anchor="t" bIns="46350" lIns="92725" spcFirstLastPara="1" rIns="92725" wrap="square" tIns="46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g3f4176477e0_0_1080"/>
          <p:cNvSpPr txBox="1"/>
          <p:nvPr/>
        </p:nvSpPr>
        <p:spPr>
          <a:xfrm>
            <a:off x="752366" y="5438705"/>
            <a:ext cx="48957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1"/>
              <a:buFont typeface="Arial"/>
              <a:buNone/>
            </a:pPr>
            <a:r>
              <a:rPr b="1" i="0" lang="en-US" sz="1521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GPT-5.4</a:t>
            </a:r>
            <a:endParaRPr sz="1420"/>
          </a:p>
          <a:p>
            <a:pPr indent="0" lvl="0" marL="0" marR="0" rtl="0" algn="l">
              <a:lnSpc>
                <a:spcPct val="105000"/>
              </a:lnSpc>
              <a:spcBef>
                <a:spcPts val="355"/>
              </a:spcBef>
              <a:spcAft>
                <a:spcPts val="0"/>
              </a:spcAft>
              <a:buClr>
                <a:srgbClr val="000000"/>
              </a:buClr>
              <a:buSzPts val="2231"/>
              <a:buFont typeface="Arial"/>
              <a:buNone/>
            </a:pPr>
            <a:r>
              <a:rPr b="1" i="0" lang="en-US" sz="2231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85,3%</a:t>
            </a:r>
            <a:r>
              <a:rPr b="0" i="0" lang="en-US" sz="1217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validate   ·   </a:t>
            </a:r>
            <a:r>
              <a:rPr b="1" i="0" lang="en-US" sz="2231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73,1%</a:t>
            </a:r>
            <a:r>
              <a:rPr b="0" i="0" lang="en-US" sz="1217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plan</a:t>
            </a:r>
            <a:endParaRPr sz="1420"/>
          </a:p>
        </p:txBody>
      </p:sp>
      <p:sp>
        <p:nvSpPr>
          <p:cNvPr id="811" name="Google Shape;811;g3f4176477e0_0_1080"/>
          <p:cNvSpPr/>
          <p:nvPr/>
        </p:nvSpPr>
        <p:spPr>
          <a:xfrm>
            <a:off x="6155167" y="5362645"/>
            <a:ext cx="5362200" cy="709800"/>
          </a:xfrm>
          <a:prstGeom prst="roundRect">
            <a:avLst>
              <a:gd fmla="val 9000" name="adj"/>
            </a:avLst>
          </a:prstGeom>
          <a:solidFill>
            <a:srgbClr val="F7A823"/>
          </a:solidFill>
          <a:ln>
            <a:noFill/>
          </a:ln>
          <a:effectLst>
            <a:outerShdw blurRad="50707" rotWithShape="0" dir="5400000" dist="25353">
              <a:srgbClr val="1F2937">
                <a:alpha val="32160"/>
              </a:srgbClr>
            </a:outerShdw>
          </a:effectLst>
        </p:spPr>
        <p:txBody>
          <a:bodyPr anchorCtr="0" anchor="t" bIns="46350" lIns="92725" spcFirstLastPara="1" rIns="92725" wrap="square" tIns="46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g3f4176477e0_0_1080"/>
          <p:cNvSpPr txBox="1"/>
          <p:nvPr/>
        </p:nvSpPr>
        <p:spPr>
          <a:xfrm>
            <a:off x="6418842" y="5438705"/>
            <a:ext cx="48957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1"/>
              <a:buFont typeface="Arial"/>
              <a:buNone/>
            </a:pPr>
            <a:r>
              <a:rPr b="1" i="0" lang="en-US" sz="1521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CodeLlama-13B</a:t>
            </a:r>
            <a:endParaRPr sz="1420"/>
          </a:p>
          <a:p>
            <a:pPr indent="0" lvl="0" marL="0" marR="0" rtl="0" algn="l">
              <a:lnSpc>
                <a:spcPct val="105000"/>
              </a:lnSpc>
              <a:spcBef>
                <a:spcPts val="355"/>
              </a:spcBef>
              <a:spcAft>
                <a:spcPts val="0"/>
              </a:spcAft>
              <a:buClr>
                <a:srgbClr val="000000"/>
              </a:buClr>
              <a:buSzPts val="2231"/>
              <a:buFont typeface="Arial"/>
              <a:buNone/>
            </a:pPr>
            <a:r>
              <a:rPr b="1" i="0" lang="en-US" sz="2231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25,9%</a:t>
            </a:r>
            <a:r>
              <a:rPr b="0" i="0" lang="en-US" sz="1217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validate   ·   </a:t>
            </a:r>
            <a:r>
              <a:rPr b="1" i="0" lang="en-US" sz="2231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93,9%</a:t>
            </a:r>
            <a:r>
              <a:rPr b="0" i="0" lang="en-US" sz="1217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plan</a:t>
            </a:r>
            <a:endParaRPr sz="1420"/>
          </a:p>
        </p:txBody>
      </p:sp>
      <p:sp>
        <p:nvSpPr>
          <p:cNvPr id="813" name="Google Shape;813;g3f4176477e0_0_1080"/>
          <p:cNvSpPr/>
          <p:nvPr/>
        </p:nvSpPr>
        <p:spPr>
          <a:xfrm>
            <a:off x="9738154" y="5210525"/>
            <a:ext cx="263700" cy="152100"/>
          </a:xfrm>
          <a:prstGeom prst="triangle">
            <a:avLst>
              <a:gd fmla="val 50000" name="adj"/>
            </a:avLst>
          </a:prstGeom>
          <a:solidFill>
            <a:srgbClr val="F7A823"/>
          </a:solidFill>
          <a:ln>
            <a:noFill/>
          </a:ln>
        </p:spPr>
        <p:txBody>
          <a:bodyPr anchorCtr="0" anchor="t" bIns="46350" lIns="92725" spcFirstLastPara="1" rIns="92725" wrap="square" tIns="46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g3f4176477e0_0_1080"/>
          <p:cNvSpPr/>
          <p:nvPr/>
        </p:nvSpPr>
        <p:spPr>
          <a:xfrm>
            <a:off x="4919691" y="1530125"/>
            <a:ext cx="153900" cy="1539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7975" lIns="95975" spcFirstLastPara="1" rIns="95975" wrap="square" tIns="47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70"/>
              <a:buFont typeface="Arial"/>
              <a:buNone/>
            </a:pPr>
            <a:r>
              <a:t/>
            </a:r>
            <a:endParaRPr b="0" i="0" sz="14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g3f4176477e0_0_1080"/>
          <p:cNvSpPr txBox="1"/>
          <p:nvPr/>
        </p:nvSpPr>
        <p:spPr>
          <a:xfrm>
            <a:off x="5130863" y="1510928"/>
            <a:ext cx="12000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7"/>
              <a:buFont typeface="Arial"/>
              <a:buNone/>
            </a:pPr>
            <a:r>
              <a:rPr b="1" i="0" lang="en-US" sz="14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Validate %</a:t>
            </a:r>
            <a:endParaRPr b="0" i="0" sz="14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g3f4176477e0_0_1080"/>
          <p:cNvSpPr/>
          <p:nvPr/>
        </p:nvSpPr>
        <p:spPr>
          <a:xfrm>
            <a:off x="6657065" y="1530125"/>
            <a:ext cx="153900" cy="1539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7975" lIns="95975" spcFirstLastPara="1" rIns="95975" wrap="square" tIns="47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70"/>
              <a:buFont typeface="Arial"/>
              <a:buNone/>
            </a:pPr>
            <a:r>
              <a:t/>
            </a:r>
            <a:endParaRPr b="0" i="0" sz="14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g3f4176477e0_0_1080"/>
          <p:cNvSpPr txBox="1"/>
          <p:nvPr/>
        </p:nvSpPr>
        <p:spPr>
          <a:xfrm>
            <a:off x="6868237" y="1510928"/>
            <a:ext cx="7773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7"/>
              <a:buFont typeface="Arial"/>
              <a:buNone/>
            </a:pPr>
            <a:r>
              <a:rPr b="1" i="0" lang="en-US" sz="14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 %</a:t>
            </a:r>
            <a:endParaRPr b="0" i="0" sz="14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f4176477e0_0_1232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g3f4176477e0_0_1232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MATERIAL DE APOIO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g3f4176477e0_0_1232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RQ2</a:t>
            </a: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 · Efeito da especificidade do prompt (RQ2)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g3f4176477e0_0_1232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g3f4176477e0_0_1232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g3f4176477e0_0_1232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28" name="Google Shape;828;g3f4176477e0_0_1232"/>
          <p:cNvGraphicFramePr/>
          <p:nvPr/>
        </p:nvGraphicFramePr>
        <p:xfrm>
          <a:off x="658368" y="16824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{3A5AAAF9-3A34-47B4-AA8D-7A25206B3E01}</a:tableStyleId>
              </a:tblPr>
              <a:tblGrid>
                <a:gridCol w="3100000"/>
                <a:gridCol w="900000"/>
                <a:gridCol w="3400000"/>
                <a:gridCol w="3474925"/>
              </a:tblGrid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Modelo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Checkov  L1 → L2 → L3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Trivy  L1 → L2 → L3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GPT-5.4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→ 0 → 2 (1,4%)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→ 51 → 24 (16,4%)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Claude Opus 4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→ 4 → 31 (23,1%)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→ 102 → 124 (92,5%)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Gemini 2.5 Pro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→ 0 → 2 (1,9%)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 → 78 → 84 (79,2%)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WizardCoder-33B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SLM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→ 0 → 0 (0,0%)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→ 1 → 1 (0,8%)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Qwen2.5-Coder-14B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SLM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→ 0 → 0 (0,0%)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→ 2 → 6 (7,3%)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CodeLlama-13B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SLM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→ 0 → 1 (7,1%)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→ 1 → 1 (7,1%)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Magicoder-7B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SLM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→ 0 → 0 (0,0%)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→ 0 → 0 (0,0%)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29" name="Google Shape;829;g3f4176477e0_0_1232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830" name="Google Shape;830;g3f4176477e0_0_12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g3f4176477e0_0_1232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832" name="Google Shape;832;g3f4176477e0_0_12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g3f4176477e0_0_1232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834" name="Google Shape;834;g3f4176477e0_0_12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g3f4176477e0_0_1232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2369"/>
                </a:solidFill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g3f4176477e0_0_1232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837" name="Google Shape;837;g3f4176477e0_0_12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g3f4176477e0_0_1232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f4176477e0_0_1252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g3f4176477e0_0_1252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MATERIAL DE APOIO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g3f4176477e0_0_1252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RQ2</a:t>
            </a: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 · Efeito da especificidade do prompt (RQ2)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g3f4176477e0_0_1252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g3f4176477e0_0_1252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g3f4176477e0_0_1252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49" name="Google Shape;849;g3f4176477e0_0_1252"/>
          <p:cNvGraphicFramePr/>
          <p:nvPr/>
        </p:nvGraphicFramePr>
        <p:xfrm>
          <a:off x="658368" y="16824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{3A5AAAF9-3A34-47B4-AA8D-7A25206B3E01}</a:tableStyleId>
              </a:tblPr>
              <a:tblGrid>
                <a:gridCol w="3100000"/>
                <a:gridCol w="900000"/>
                <a:gridCol w="3400000"/>
                <a:gridCol w="3474925"/>
              </a:tblGrid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Modelo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Checkov  L1 → L2 → L3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Trivy  L1 → L2 → L3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GPT-5.4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→ 0 → 2 (1,4%)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→ 51 → 24 (16,4%)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0F23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Claude Opus 4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7A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0F23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7A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0F23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→ 4 → 31 (23,1%)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7A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0F23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→ 102 → 124 (92,5%)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7A823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Gemini 2.5 Pro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→ 0 → 2 (1,9%)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 → 78 → 84 (79,2%)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WizardCoder-33B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SLM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→ 0 → 0 (0,0%)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→ 1 → 1 (0,8%)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Qwen2.5-Coder-14B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SLM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→ 0 → 0 (0,0%)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→ 2 → 6 (7,3%)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CodeLlama-13B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SLM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→ 0 → 1 (7,1%)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→ 1 → 1 (7,1%)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Magicoder-7B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SLM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→ 0 → 0 (0,0%)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→ 0 → 0 (0,0%)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0" name="Google Shape;850;g3f4176477e0_0_1252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851" name="Google Shape;851;g3f4176477e0_0_12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g3f4176477e0_0_1252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853" name="Google Shape;853;g3f4176477e0_0_12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g3f4176477e0_0_1252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855" name="Google Shape;855;g3f4176477e0_0_12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g3f4176477e0_0_1252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2369"/>
                </a:solidFill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g3f4176477e0_0_1252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858" name="Google Shape;858;g3f4176477e0_0_12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g3f4176477e0_0_1252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g3f4176477e0_0_1252"/>
          <p:cNvSpPr/>
          <p:nvPr/>
        </p:nvSpPr>
        <p:spPr>
          <a:xfrm>
            <a:off x="4658368" y="4105179"/>
            <a:ext cx="6675000" cy="1299900"/>
          </a:xfrm>
          <a:prstGeom prst="roundRect">
            <a:avLst>
              <a:gd fmla="val 8000" name="adj"/>
            </a:avLst>
          </a:prstGeom>
          <a:solidFill>
            <a:srgbClr val="F7A823"/>
          </a:solidFill>
          <a:ln>
            <a:noFill/>
          </a:ln>
          <a:effectLst>
            <a:outerShdw blurRad="60000" rotWithShape="0" dir="5400000" dist="25000">
              <a:srgbClr val="1F2937">
                <a:alpha val="3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g3f4176477e0_0_1252"/>
          <p:cNvSpPr/>
          <p:nvPr/>
        </p:nvSpPr>
        <p:spPr>
          <a:xfrm>
            <a:off x="5866851" y="3755179"/>
            <a:ext cx="519900" cy="350100"/>
          </a:xfrm>
          <a:prstGeom prst="triangle">
            <a:avLst>
              <a:gd fmla="val 50000" name="adj"/>
            </a:avLst>
          </a:prstGeom>
          <a:solidFill>
            <a:srgbClr val="F7A82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g3f4176477e0_0_1252"/>
          <p:cNvSpPr txBox="1"/>
          <p:nvPr/>
        </p:nvSpPr>
        <p:spPr>
          <a:xfrm>
            <a:off x="4938368" y="4325179"/>
            <a:ext cx="6154800" cy="8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•  Checkov: 0 → 4 → 31 (23,1%)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•  Trivy: 4 → 102 → 124 (92,5%)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•  Maior salto do L1 ao L3 entre os 7 modelos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f4176477e0_0_1350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g3f4176477e0_0_1350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MATERIAL DE APOIO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g3f4176477e0_0_1350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RQ3</a:t>
            </a: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 · Correção por feedback de scanner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g3f4176477e0_0_1350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g3f4176477e0_0_1350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g3f4176477e0_0_1350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73" name="Google Shape;873;g3f4176477e0_0_1350"/>
          <p:cNvGraphicFramePr/>
          <p:nvPr/>
        </p:nvGraphicFramePr>
        <p:xfrm>
          <a:off x="564643" y="16824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{3A5AAAF9-3A34-47B4-AA8D-7A25206B3E01}</a:tableStyleId>
              </a:tblPr>
              <a:tblGrid>
                <a:gridCol w="2793475"/>
                <a:gridCol w="3122100"/>
                <a:gridCol w="3122100"/>
                <a:gridCol w="1930975"/>
              </a:tblGrid>
              <a:tr h="68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Modelo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Trivy R1 → Revisão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Checkov R1 → Revisão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Δ Trivy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</a:tr>
              <a:tr h="577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GPT-5.4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17,7% → 61,4%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0,5% → 2,8%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+43,7pp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577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WizardCoder-33B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0,5% → 42,1%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0,0% → 0,0%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+41,6pp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  <a:tr h="577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CodeLlama-13B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3,8% → 26,9%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3,0% → 3,8%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+23,1pp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68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Claude Opus 4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56,8% → 49,7%*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8,5% → 20,8%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+12,3pp Chk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  <a:tr h="577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Gemini 2.5 Pro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42,9% → 39,0%*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0,5% → 10,0%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+9,5pp Chk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577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Magicoder-7B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0,9% → 13,2%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0,0% → 2,6%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+12,3pp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874" name="Google Shape;874;g3f4176477e0_0_1350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875" name="Google Shape;875;g3f4176477e0_0_13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g3f4176477e0_0_1350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877" name="Google Shape;877;g3f4176477e0_0_13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g3f4176477e0_0_1350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879" name="Google Shape;879;g3f4176477e0_0_13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g3f4176477e0_0_1350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2369"/>
                </a:solidFill>
              </a:rPr>
              <a:t>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g3f4176477e0_0_1350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882" name="Google Shape;882;g3f4176477e0_0_13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g3f4176477e0_0_1350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f4176477e0_0_1370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g3f4176477e0_0_1370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MATERIAL DE APOIO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g3f4176477e0_0_1370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RQ3</a:t>
            </a: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 · Correção por feedback de scanner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g3f4176477e0_0_1370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g3f4176477e0_0_1370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g3f4176477e0_0_1370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94" name="Google Shape;894;g3f4176477e0_0_1370"/>
          <p:cNvGraphicFramePr/>
          <p:nvPr/>
        </p:nvGraphicFramePr>
        <p:xfrm>
          <a:off x="564643" y="16824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{3A5AAAF9-3A34-47B4-AA8D-7A25206B3E01}</a:tableStyleId>
              </a:tblPr>
              <a:tblGrid>
                <a:gridCol w="2793475"/>
                <a:gridCol w="3122100"/>
                <a:gridCol w="3122100"/>
                <a:gridCol w="1930975"/>
              </a:tblGrid>
              <a:tr h="68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Modelo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Trivy R1 → Revisão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Checkov R1 → Revisão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Δ Trivy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</a:tr>
              <a:tr h="577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0F23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GPT-5.4</a:t>
                      </a:r>
                      <a:endParaRPr sz="2700" u="none" cap="none" strike="noStrike"/>
                    </a:p>
                  </a:txBody>
                  <a:tcPr marT="45725" marB="45725" marR="128025" marL="128025" anchor="ctr">
                    <a:solidFill>
                      <a:srgbClr val="F7A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0F23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17,7% → 61,4%</a:t>
                      </a:r>
                      <a:endParaRPr sz="2700" u="none" cap="none" strike="noStrike"/>
                    </a:p>
                  </a:txBody>
                  <a:tcPr marT="45725" marB="45725" marR="128025" marL="128025" anchor="ctr">
                    <a:solidFill>
                      <a:srgbClr val="F7A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0F23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0,5% → 2,8%</a:t>
                      </a:r>
                      <a:endParaRPr sz="2700" u="none" cap="none" strike="noStrike"/>
                    </a:p>
                  </a:txBody>
                  <a:tcPr marT="45725" marB="45725" marR="128025" marL="128025" anchor="ctr">
                    <a:solidFill>
                      <a:srgbClr val="F7A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0F23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+43,7pp</a:t>
                      </a:r>
                      <a:endParaRPr sz="2700" u="none" cap="none" strike="noStrike"/>
                    </a:p>
                  </a:txBody>
                  <a:tcPr marT="45725" marB="45725" marR="128025" marL="128025" anchor="ctr">
                    <a:solidFill>
                      <a:srgbClr val="F7A823"/>
                    </a:solidFill>
                  </a:tcPr>
                </a:tc>
              </a:tr>
              <a:tr h="577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WizardCoder-33B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0,5% → 42,1%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0,0% → 0,0%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+41,6pp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  <a:tr h="577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CodeLlama-13B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3,8% → 26,9%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3,0% → 3,8%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+23,1pp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68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Claude Opus 4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56,8% → 49,7%*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8,5% → 20,8%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+12,3pp Chk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  <a:tr h="577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Gemini 2.5 Pro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42,9% → 39,0%*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0,5% → 10,0%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+9,5pp Chk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577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Magicoder-7B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0,9% → 13,2%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0,0% → 2,6%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ADB3B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+12,3pp</a:t>
                      </a:r>
                      <a:endParaRPr sz="19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895" name="Google Shape;895;g3f4176477e0_0_1370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896" name="Google Shape;896;g3f4176477e0_0_13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g3f4176477e0_0_1370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898" name="Google Shape;898;g3f4176477e0_0_13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g3f4176477e0_0_1370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900" name="Google Shape;900;g3f4176477e0_0_13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g3f4176477e0_0_1370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2369"/>
                </a:solidFill>
              </a:rPr>
              <a:t>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g3f4176477e0_0_1370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903" name="Google Shape;903;g3f4176477e0_0_137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g3f4176477e0_0_1370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g3f4176477e0_0_1370"/>
          <p:cNvSpPr/>
          <p:nvPr/>
        </p:nvSpPr>
        <p:spPr>
          <a:xfrm>
            <a:off x="3451843" y="3358673"/>
            <a:ext cx="6044100" cy="1299900"/>
          </a:xfrm>
          <a:prstGeom prst="roundRect">
            <a:avLst>
              <a:gd fmla="val 8000" name="adj"/>
            </a:avLst>
          </a:prstGeom>
          <a:solidFill>
            <a:srgbClr val="F7A823"/>
          </a:solidFill>
          <a:ln>
            <a:noFill/>
          </a:ln>
          <a:effectLst>
            <a:outerShdw blurRad="60000" rotWithShape="0" dir="5400000" dist="25000">
              <a:srgbClr val="1F2937">
                <a:alpha val="3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g3f4176477e0_0_1370"/>
          <p:cNvSpPr/>
          <p:nvPr/>
        </p:nvSpPr>
        <p:spPr>
          <a:xfrm>
            <a:off x="4521567" y="3008673"/>
            <a:ext cx="519900" cy="350100"/>
          </a:xfrm>
          <a:prstGeom prst="triangle">
            <a:avLst>
              <a:gd fmla="val 50000" name="adj"/>
            </a:avLst>
          </a:prstGeom>
          <a:solidFill>
            <a:srgbClr val="F7A82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g3f4176477e0_0_1370"/>
          <p:cNvSpPr txBox="1"/>
          <p:nvPr/>
        </p:nvSpPr>
        <p:spPr>
          <a:xfrm>
            <a:off x="3731843" y="3578673"/>
            <a:ext cx="5524200" cy="8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•  17,7% → 61,4% em Trivy após revisão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•  Maior ganho entre os 7 modelos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•  Checkov quase não muda (0,5%→2,8%)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f4176477e0_0_1477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g3f4176477e0_0_1477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MATERIAL DE APOIO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g3f4176477e0_0_1477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RQ3</a:t>
            </a: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 · Correção por feedback de scanner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g3f4176477e0_0_1477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g3f4176477e0_0_1477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g3f4176477e0_0_1477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18" name="Google Shape;918;g3f4176477e0_0_1477"/>
          <p:cNvGraphicFramePr/>
          <p:nvPr/>
        </p:nvGraphicFramePr>
        <p:xfrm>
          <a:off x="564643" y="16824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{3A5AAAF9-3A34-47B4-AA8D-7A25206B3E01}</a:tableStyleId>
              </a:tblPr>
              <a:tblGrid>
                <a:gridCol w="2793475"/>
                <a:gridCol w="3122100"/>
                <a:gridCol w="3122100"/>
                <a:gridCol w="1930975"/>
              </a:tblGrid>
              <a:tr h="68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Modelo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Trivy R1 → Revisão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Checkov R1 → Revisão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Δ Trivy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</a:tr>
              <a:tr h="577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GPT-5.4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17,7% → 61,4%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0,5% → 2,8%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+43,7pp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577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WizardCoder-33B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0,5% → 42,1%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0,0% → 0,0%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+41,6pp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  <a:tr h="577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CodeLlama-13B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3,8% → 26,9%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3,0% → 3,8%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+23,1pp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68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Claude Opus 4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56,8% → 49,7%*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8,5% → 20,8%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+12,3pp Chk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  <a:tr h="577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Gemini 2.5 Pro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42,9% → 39,0%*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0,5% → 10,0%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+9,5pp Chk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577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Magicoder-7B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0,9% → 13,2%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0,0% → 2,6%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+12,3pp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919" name="Google Shape;919;g3f4176477e0_0_1477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920" name="Google Shape;920;g3f4176477e0_0_14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g3f4176477e0_0_1477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922" name="Google Shape;922;g3f4176477e0_0_14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g3f4176477e0_0_1477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924" name="Google Shape;924;g3f4176477e0_0_14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g3f4176477e0_0_1477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2369"/>
                </a:solidFill>
              </a:rPr>
              <a:t>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g3f4176477e0_0_1477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927" name="Google Shape;927;g3f4176477e0_0_147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g3f4176477e0_0_1477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g3f4176477e0_0_1477"/>
          <p:cNvSpPr/>
          <p:nvPr/>
        </p:nvSpPr>
        <p:spPr>
          <a:xfrm>
            <a:off x="9678075" y="1408175"/>
            <a:ext cx="2075100" cy="4902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f4176477e0_0_1498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g3f4176477e0_0_1498"/>
          <p:cNvSpPr txBox="1"/>
          <p:nvPr/>
        </p:nvSpPr>
        <p:spPr>
          <a:xfrm>
            <a:off x="658368" y="365760"/>
            <a:ext cx="1087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g3f4176477e0_0_1498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Resultados em três números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g3f4176477e0_0_1498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g3f4176477e0_0_1498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g3f4176477e0_0_1498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g3f4176477e0_0_1498"/>
          <p:cNvSpPr/>
          <p:nvPr/>
        </p:nvSpPr>
        <p:spPr>
          <a:xfrm>
            <a:off x="658368" y="1993392"/>
            <a:ext cx="3442200" cy="41295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g3f4176477e0_0_1498"/>
          <p:cNvSpPr/>
          <p:nvPr/>
        </p:nvSpPr>
        <p:spPr>
          <a:xfrm>
            <a:off x="658368" y="1993392"/>
            <a:ext cx="3442200" cy="687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g3f4176477e0_0_1498"/>
          <p:cNvSpPr txBox="1"/>
          <p:nvPr/>
        </p:nvSpPr>
        <p:spPr>
          <a:xfrm>
            <a:off x="950976" y="2269344"/>
            <a:ext cx="2856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92,5%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g3f4176477e0_0_1498"/>
          <p:cNvSpPr txBox="1"/>
          <p:nvPr/>
        </p:nvSpPr>
        <p:spPr>
          <a:xfrm>
            <a:off x="896051" y="3172288"/>
            <a:ext cx="285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Trivy (Claude Opus 4)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g3f4176477e0_0_1498"/>
          <p:cNvSpPr txBox="1"/>
          <p:nvPr/>
        </p:nvSpPr>
        <p:spPr>
          <a:xfrm>
            <a:off x="950976" y="4255576"/>
            <a:ext cx="28569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Maior taxa de conformidade de segurança do benchmark.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g3f4176477e0_0_1498"/>
          <p:cNvSpPr/>
          <p:nvPr/>
        </p:nvSpPr>
        <p:spPr>
          <a:xfrm>
            <a:off x="4374794" y="1993392"/>
            <a:ext cx="3442200" cy="41295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g3f4176477e0_0_1498"/>
          <p:cNvSpPr/>
          <p:nvPr/>
        </p:nvSpPr>
        <p:spPr>
          <a:xfrm>
            <a:off x="4374794" y="1993392"/>
            <a:ext cx="3442200" cy="68700"/>
          </a:xfrm>
          <a:prstGeom prst="rect">
            <a:avLst/>
          </a:prstGeom>
          <a:solidFill>
            <a:srgbClr val="1279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g3f4176477e0_0_1498"/>
          <p:cNvSpPr txBox="1"/>
          <p:nvPr/>
        </p:nvSpPr>
        <p:spPr>
          <a:xfrm>
            <a:off x="4667402" y="2269344"/>
            <a:ext cx="2856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1279BD"/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g3f4176477e0_0_1498"/>
          <p:cNvSpPr txBox="1"/>
          <p:nvPr/>
        </p:nvSpPr>
        <p:spPr>
          <a:xfrm>
            <a:off x="4667452" y="3121201"/>
            <a:ext cx="285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Checkov (WizardCoder)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g3f4176477e0_0_1498"/>
          <p:cNvSpPr txBox="1"/>
          <p:nvPr/>
        </p:nvSpPr>
        <p:spPr>
          <a:xfrm>
            <a:off x="4667402" y="4255576"/>
            <a:ext cx="2856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77,8% validate, porém nenhuma geração é compliant.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g3f4176477e0_0_1498"/>
          <p:cNvSpPr/>
          <p:nvPr/>
        </p:nvSpPr>
        <p:spPr>
          <a:xfrm>
            <a:off x="8091220" y="1993392"/>
            <a:ext cx="3442200" cy="41295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g3f4176477e0_0_1498"/>
          <p:cNvSpPr/>
          <p:nvPr/>
        </p:nvSpPr>
        <p:spPr>
          <a:xfrm>
            <a:off x="8091220" y="1993392"/>
            <a:ext cx="3442200" cy="687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g3f4176477e0_0_1498"/>
          <p:cNvSpPr txBox="1"/>
          <p:nvPr/>
        </p:nvSpPr>
        <p:spPr>
          <a:xfrm>
            <a:off x="8383828" y="2269344"/>
            <a:ext cx="2856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8,7×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g3f4176477e0_0_1498"/>
          <p:cNvSpPr txBox="1"/>
          <p:nvPr/>
        </p:nvSpPr>
        <p:spPr>
          <a:xfrm>
            <a:off x="8383928" y="3090301"/>
            <a:ext cx="285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Validade · 2024 → 2026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g3f4176477e0_0_1498"/>
          <p:cNvSpPr txBox="1"/>
          <p:nvPr/>
        </p:nvSpPr>
        <p:spPr>
          <a:xfrm>
            <a:off x="8383828" y="4255576"/>
            <a:ext cx="28569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WizardCoder-33B: de 8,9% (IaC-Eval) a 77,8% (este trabalho)</a:t>
            </a:r>
            <a:r>
              <a:rPr lang="en-US" sz="2400">
                <a:solidFill>
                  <a:srgbClr val="6B7280"/>
                </a:solidFill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g3f4176477e0_0_1498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957" name="Google Shape;957;g3f4176477e0_0_14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g3f4176477e0_0_1498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959" name="Google Shape;959;g3f4176477e0_0_14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g3f4176477e0_0_1498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961" name="Google Shape;961;g3f4176477e0_0_14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g3f4176477e0_0_1498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2369"/>
                </a:solidFill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g3f4176477e0_0_1498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964" name="Google Shape;964;g3f4176477e0_0_149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g3f4176477e0_0_1498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3f4176477e0_0_1533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g3f4176477e0_0_1533"/>
          <p:cNvSpPr txBox="1"/>
          <p:nvPr/>
        </p:nvSpPr>
        <p:spPr>
          <a:xfrm>
            <a:off x="658368" y="365760"/>
            <a:ext cx="1087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g3f4176477e0_0_1533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Discussão dos 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g3f4176477e0_0_1533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g3f4176477e0_0_1533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g3f4176477e0_0_1533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g3f4176477e0_0_1533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978" name="Google Shape;978;g3f4176477e0_0_15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g3f4176477e0_0_1533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980" name="Google Shape;980;g3f4176477e0_0_15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g3f4176477e0_0_1533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982" name="Google Shape;982;g3f4176477e0_0_15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g3f4176477e0_0_1533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2369"/>
                </a:solidFill>
              </a:rPr>
              <a:t>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g3f4176477e0_0_1533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985" name="Google Shape;985;g3f4176477e0_0_15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g3f4176477e0_0_1533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g3f4176477e0_0_1533"/>
          <p:cNvSpPr/>
          <p:nvPr/>
        </p:nvSpPr>
        <p:spPr>
          <a:xfrm>
            <a:off x="658350" y="1752351"/>
            <a:ext cx="3441900" cy="42018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g3f4176477e0_0_1533"/>
          <p:cNvSpPr/>
          <p:nvPr/>
        </p:nvSpPr>
        <p:spPr>
          <a:xfrm>
            <a:off x="658343" y="1752345"/>
            <a:ext cx="3441900" cy="687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g3f4176477e0_0_1533"/>
          <p:cNvSpPr txBox="1"/>
          <p:nvPr/>
        </p:nvSpPr>
        <p:spPr>
          <a:xfrm>
            <a:off x="949901" y="1909340"/>
            <a:ext cx="2856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3 dimensões</a:t>
            </a:r>
            <a:br>
              <a:rPr b="1" i="0" lang="en-US" sz="30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0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independentes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g3f4176477e0_0_1533"/>
          <p:cNvSpPr txBox="1"/>
          <p:nvPr/>
        </p:nvSpPr>
        <p:spPr>
          <a:xfrm>
            <a:off x="949901" y="2909752"/>
            <a:ext cx="285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2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Validade · Plan · Segurança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g3f4176477e0_0_1533"/>
          <p:cNvSpPr txBox="1"/>
          <p:nvPr/>
        </p:nvSpPr>
        <p:spPr>
          <a:xfrm>
            <a:off x="895925" y="3725675"/>
            <a:ext cx="31266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 mesmo código pode ser válido, executável e ainda assim inseguro</a:t>
            </a:r>
            <a:r>
              <a:rPr lang="en-US" sz="2400">
                <a:solidFill>
                  <a:srgbClr val="6B7280"/>
                </a:solidFill>
              </a:rPr>
              <a:t> </a:t>
            </a:r>
            <a:r>
              <a:rPr b="0" i="0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as três propriedades não se implicam.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g3f4176477e0_0_1533"/>
          <p:cNvSpPr/>
          <p:nvPr/>
        </p:nvSpPr>
        <p:spPr>
          <a:xfrm>
            <a:off x="4374250" y="1752351"/>
            <a:ext cx="3441900" cy="42018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g3f4176477e0_0_1533"/>
          <p:cNvSpPr/>
          <p:nvPr/>
        </p:nvSpPr>
        <p:spPr>
          <a:xfrm>
            <a:off x="4374254" y="1752345"/>
            <a:ext cx="3441900" cy="68700"/>
          </a:xfrm>
          <a:prstGeom prst="rect">
            <a:avLst/>
          </a:prstGeom>
          <a:solidFill>
            <a:srgbClr val="1279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g3f4176477e0_0_1533"/>
          <p:cNvSpPr txBox="1"/>
          <p:nvPr/>
        </p:nvSpPr>
        <p:spPr>
          <a:xfrm>
            <a:off x="4666862" y="2063240"/>
            <a:ext cx="285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279BD"/>
                </a:solidFill>
                <a:latin typeface="Arial"/>
                <a:ea typeface="Arial"/>
                <a:cs typeface="Arial"/>
                <a:sym typeface="Arial"/>
              </a:rPr>
              <a:t>+89,6pp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g3f4176477e0_0_1533"/>
          <p:cNvSpPr txBox="1"/>
          <p:nvPr/>
        </p:nvSpPr>
        <p:spPr>
          <a:xfrm>
            <a:off x="4667487" y="2801985"/>
            <a:ext cx="285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2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Claude Opus 4 · L1 → L3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g3f4176477e0_0_1533"/>
          <p:cNvSpPr txBox="1"/>
          <p:nvPr/>
        </p:nvSpPr>
        <p:spPr>
          <a:xfrm>
            <a:off x="4644813" y="3807375"/>
            <a:ext cx="3071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Especificidade de prompt eleva LLMs: +23,1pp também em Checkov no mesmo intervalo.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g3f4176477e0_0_1533"/>
          <p:cNvSpPr/>
          <p:nvPr/>
        </p:nvSpPr>
        <p:spPr>
          <a:xfrm>
            <a:off x="8091300" y="1752351"/>
            <a:ext cx="3441900" cy="42018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g3f4176477e0_0_1533"/>
          <p:cNvSpPr/>
          <p:nvPr/>
        </p:nvSpPr>
        <p:spPr>
          <a:xfrm>
            <a:off x="8091290" y="1752345"/>
            <a:ext cx="3441900" cy="687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g3f4176477e0_0_1533"/>
          <p:cNvSpPr txBox="1"/>
          <p:nvPr/>
        </p:nvSpPr>
        <p:spPr>
          <a:xfrm>
            <a:off x="8383898" y="2063240"/>
            <a:ext cx="285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+43,7pp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g3f4176477e0_0_1533"/>
          <p:cNvSpPr txBox="1"/>
          <p:nvPr/>
        </p:nvSpPr>
        <p:spPr>
          <a:xfrm>
            <a:off x="8383898" y="2986785"/>
            <a:ext cx="285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2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GPT-5.4 · Trivy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g3f4176477e0_0_1533"/>
          <p:cNvSpPr txBox="1"/>
          <p:nvPr/>
        </p:nvSpPr>
        <p:spPr>
          <a:xfrm>
            <a:off x="8260798" y="3807385"/>
            <a:ext cx="2856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Autocorreção via feedback do scanner funciona bem para Trivy, na maioria dos modelos.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f4176477e0_0_1569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g3f4176477e0_0_1569"/>
          <p:cNvSpPr txBox="1"/>
          <p:nvPr/>
        </p:nvSpPr>
        <p:spPr>
          <a:xfrm>
            <a:off x="658368" y="365760"/>
            <a:ext cx="1087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g3f4176477e0_0_1569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4"/>
                  </a:ext>
                </a:extLst>
              </a:rPr>
              <a:t>meaças à validade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g3f4176477e0_0_1569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g3f4176477e0_0_1569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g3f4176477e0_0_1569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g3f4176477e0_0_1569"/>
          <p:cNvSpPr txBox="1"/>
          <p:nvPr/>
        </p:nvSpPr>
        <p:spPr>
          <a:xfrm>
            <a:off x="658368" y="1682496"/>
            <a:ext cx="523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F23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g3f4176477e0_0_1569"/>
          <p:cNvSpPr txBox="1"/>
          <p:nvPr/>
        </p:nvSpPr>
        <p:spPr>
          <a:xfrm>
            <a:off x="658383" y="2176275"/>
            <a:ext cx="108750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3700" lvl="0" marL="4572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600"/>
              <a:buFont typeface="Arial"/>
              <a:buChar char="▪"/>
            </a:pPr>
            <a:r>
              <a:rPr b="1" i="0" lang="en-US" sz="2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Poder estatístico baixo</a:t>
            </a:r>
            <a:r>
              <a:rPr b="0" i="0" lang="en-US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em CodeLlama-13B e Magicoder-7B (n=14 e n=10).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Clr>
                <a:srgbClr val="0A866E"/>
              </a:buClr>
              <a:buSzPts val="2600"/>
              <a:buFont typeface="Arial"/>
              <a:buChar char="▪"/>
            </a:pPr>
            <a:r>
              <a:rPr b="0" i="0" lang="en-US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Cenários por consenso de LLMs podem </a:t>
            </a:r>
            <a:r>
              <a:rPr b="1" i="0" lang="en-US" sz="2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sobrerrepresentar padrões</a:t>
            </a:r>
            <a:r>
              <a:rPr b="0" i="0" lang="en-US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dos dados de treinamento.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2600"/>
              <a:buFont typeface="Arial"/>
              <a:buChar char="▪"/>
            </a:pPr>
            <a:r>
              <a:rPr b="0" i="0" lang="en-US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Resultados refletem versões específicas dos modelos em maio de 2026, </a:t>
            </a:r>
            <a:r>
              <a:rPr b="1" i="0" lang="en-US" sz="2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sem seed fixa</a:t>
            </a:r>
            <a:r>
              <a:rPr b="0" i="0" lang="en-US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600" u="none" cap="none" strike="noStrike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g3f4176477e0_0_1569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016" name="Google Shape;1016;g3f4176477e0_0_15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g3f4176477e0_0_1569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018" name="Google Shape;1018;g3f4176477e0_0_15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g3f4176477e0_0_1569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020" name="Google Shape;1020;g3f4176477e0_0_15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g3f4176477e0_0_1569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2369"/>
                </a:solidFill>
              </a:rPr>
              <a:t>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g3f4176477e0_0_1569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023" name="Google Shape;1023;g3f4176477e0_0_15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g3f4176477e0_0_1569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15"/>
          <p:cNvSpPr/>
          <p:nvPr/>
        </p:nvSpPr>
        <p:spPr>
          <a:xfrm>
            <a:off x="9174175" y="3840480"/>
            <a:ext cx="6035040" cy="603504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15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15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1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15"/>
          <p:cNvSpPr txBox="1"/>
          <p:nvPr/>
        </p:nvSpPr>
        <p:spPr>
          <a:xfrm>
            <a:off x="658368" y="2304288"/>
            <a:ext cx="2011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n-US" sz="8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15"/>
          <p:cNvSpPr txBox="1"/>
          <p:nvPr/>
        </p:nvSpPr>
        <p:spPr>
          <a:xfrm>
            <a:off x="2395728" y="2487168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15"/>
          <p:cNvSpPr/>
          <p:nvPr/>
        </p:nvSpPr>
        <p:spPr>
          <a:xfrm>
            <a:off x="2414015" y="3383280"/>
            <a:ext cx="1188720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15"/>
          <p:cNvSpPr txBox="1"/>
          <p:nvPr/>
        </p:nvSpPr>
        <p:spPr>
          <a:xfrm>
            <a:off x="2395728" y="3584448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O que aprendemos sobre segurança em IaC gerada por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15"/>
          <p:cNvSpPr txBox="1"/>
          <p:nvPr/>
        </p:nvSpPr>
        <p:spPr>
          <a:xfrm>
            <a:off x="10984687" y="6199632"/>
            <a:ext cx="54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AEBBDA"/>
                </a:solidFill>
              </a:rPr>
              <a:t>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3f4176477e0_0_1666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g3f4176477e0_0_1666"/>
          <p:cNvSpPr txBox="1"/>
          <p:nvPr/>
        </p:nvSpPr>
        <p:spPr>
          <a:xfrm>
            <a:off x="658368" y="365760"/>
            <a:ext cx="1087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03 · CONCLUSÕES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g3f4176477e0_0_1666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Considerações finais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g3f4176477e0_0_1666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g3f4176477e0_0_1666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g3f4176477e0_0_1666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g3f4176477e0_0_1666"/>
          <p:cNvSpPr/>
          <p:nvPr/>
        </p:nvSpPr>
        <p:spPr>
          <a:xfrm>
            <a:off x="658368" y="2066544"/>
            <a:ext cx="3442200" cy="40563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g3f4176477e0_0_1666"/>
          <p:cNvSpPr/>
          <p:nvPr/>
        </p:nvSpPr>
        <p:spPr>
          <a:xfrm>
            <a:off x="658368" y="2066544"/>
            <a:ext cx="68700" cy="40563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g3f4176477e0_0_1666"/>
          <p:cNvSpPr txBox="1"/>
          <p:nvPr/>
        </p:nvSpPr>
        <p:spPr>
          <a:xfrm>
            <a:off x="969264" y="2304288"/>
            <a:ext cx="2820300" cy="29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3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Contribuição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2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Primeiro benchmark dual-scanner: </a:t>
            </a:r>
            <a:r>
              <a:rPr b="1" i="0" lang="en-US" sz="28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Checkov + Trivy</a:t>
            </a:r>
            <a:r>
              <a:rPr b="0" i="0" lang="en-US" sz="2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7 modelos.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g3f4176477e0_0_1666"/>
          <p:cNvSpPr/>
          <p:nvPr/>
        </p:nvSpPr>
        <p:spPr>
          <a:xfrm>
            <a:off x="4374794" y="2066544"/>
            <a:ext cx="3442200" cy="40563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g3f4176477e0_0_1666"/>
          <p:cNvSpPr/>
          <p:nvPr/>
        </p:nvSpPr>
        <p:spPr>
          <a:xfrm>
            <a:off x="4374794" y="2066544"/>
            <a:ext cx="68700" cy="4056300"/>
          </a:xfrm>
          <a:prstGeom prst="rect">
            <a:avLst/>
          </a:prstGeom>
          <a:solidFill>
            <a:srgbClr val="1279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g3f4176477e0_0_1666"/>
          <p:cNvSpPr txBox="1"/>
          <p:nvPr/>
        </p:nvSpPr>
        <p:spPr>
          <a:xfrm>
            <a:off x="4685690" y="2304288"/>
            <a:ext cx="2820300" cy="3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3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Evidência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2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WizardCoder-33B: </a:t>
            </a:r>
            <a:r>
              <a:rPr b="1" i="0" lang="en-US" sz="28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77,8% válido, 0% seguro</a:t>
            </a:r>
            <a:r>
              <a:rPr b="0" i="0" lang="en-US" sz="2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. Validade não implica segurança.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g3f4176477e0_0_1666"/>
          <p:cNvSpPr/>
          <p:nvPr/>
        </p:nvSpPr>
        <p:spPr>
          <a:xfrm>
            <a:off x="8091220" y="2066544"/>
            <a:ext cx="3442200" cy="40563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g3f4176477e0_0_1666"/>
          <p:cNvSpPr/>
          <p:nvPr/>
        </p:nvSpPr>
        <p:spPr>
          <a:xfrm>
            <a:off x="8091220" y="2066544"/>
            <a:ext cx="68700" cy="40563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g3f4176477e0_0_1666"/>
          <p:cNvSpPr txBox="1"/>
          <p:nvPr/>
        </p:nvSpPr>
        <p:spPr>
          <a:xfrm>
            <a:off x="8402116" y="2304288"/>
            <a:ext cx="2820300" cy="25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3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Impacto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2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Scanner multi-ferramenta: de complemento a </a:t>
            </a:r>
            <a:r>
              <a:rPr b="1" i="0" lang="en-US" sz="28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pré-requisito</a:t>
            </a:r>
            <a:r>
              <a:rPr b="0" i="0" lang="en-US" sz="2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g3f4176477e0_0_1666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060" name="Google Shape;1060;g3f4176477e0_0_16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g3f4176477e0_0_1666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062" name="Google Shape;1062;g3f4176477e0_0_16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g3f4176477e0_0_1666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064" name="Google Shape;1064;g3f4176477e0_0_16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65" name="Google Shape;1065;g3f4176477e0_0_1666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2369"/>
                </a:solidFill>
              </a:rPr>
              <a:t>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g3f4176477e0_0_1666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067" name="Google Shape;1067;g3f4176477e0_0_16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g3f4176477e0_0_1666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3f4176477e0_0_1695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g3f4176477e0_0_1695"/>
          <p:cNvSpPr txBox="1"/>
          <p:nvPr/>
        </p:nvSpPr>
        <p:spPr>
          <a:xfrm>
            <a:off x="658368" y="365760"/>
            <a:ext cx="1087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03 · CONCLUSÕES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g3f4176477e0_0_1695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Trabalhos futuros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g3f4176477e0_0_1695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g3f4176477e0_0_1695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g3f4176477e0_0_1695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g3f4176477e0_0_1695"/>
          <p:cNvSpPr txBox="1"/>
          <p:nvPr/>
        </p:nvSpPr>
        <p:spPr>
          <a:xfrm>
            <a:off x="658375" y="1773925"/>
            <a:ext cx="11200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6296" lvl="0" marL="310896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600"/>
              <a:buFont typeface="Arial"/>
              <a:buChar char="▪"/>
            </a:pPr>
            <a:r>
              <a:rPr b="0" i="0" lang="en-US" sz="2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Expandir para </a:t>
            </a:r>
            <a:r>
              <a:rPr b="1" i="0" lang="en-US" sz="2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outras linguagens de IaC</a:t>
            </a:r>
            <a:r>
              <a:rPr b="0" i="0" lang="en-US" sz="2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, provedores de nuvem e módulos oficiais como referência.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textRoundtripDataId="5"/>
                </a:ext>
              </a:extLst>
            </a:endParaRPr>
          </a:p>
          <a:p>
            <a:pPr indent="-336296" lvl="0" marL="310896" marR="0" rtl="0" algn="l">
              <a:lnSpc>
                <a:spcPct val="116000"/>
              </a:lnSpc>
              <a:spcBef>
                <a:spcPts val="2000"/>
              </a:spcBef>
              <a:spcAft>
                <a:spcPts val="0"/>
              </a:spcAft>
              <a:buClr>
                <a:srgbClr val="0A866E"/>
              </a:buClr>
              <a:buSzPts val="2600"/>
              <a:buFont typeface="Arial"/>
              <a:buChar char="▪"/>
            </a:pPr>
            <a:r>
              <a:rPr b="0" i="0" lang="en-US" sz="2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Investigar </a:t>
            </a:r>
            <a:r>
              <a:rPr b="1" i="0" lang="en-US" sz="2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fine-tuning específico, RAG</a:t>
            </a:r>
            <a:r>
              <a:rPr b="0" i="0" lang="en-US" sz="2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e orientação por políticas para reduzir a lacuna sintaxe×segurança.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textRoundtripDataId="6"/>
                </a:ext>
              </a:extLst>
            </a:endParaRPr>
          </a:p>
          <a:p>
            <a:pPr indent="-336296" lvl="0" marL="310896" marR="0" rtl="0" algn="l">
              <a:lnSpc>
                <a:spcPct val="116000"/>
              </a:lnSpc>
              <a:spcBef>
                <a:spcPts val="2000"/>
              </a:spcBef>
              <a:spcAft>
                <a:spcPts val="0"/>
              </a:spcAft>
              <a:buClr>
                <a:srgbClr val="0A866E"/>
              </a:buClr>
              <a:buSzPts val="2600"/>
              <a:buFont typeface="Arial"/>
              <a:buChar char="▪"/>
            </a:pPr>
            <a:r>
              <a:rPr b="0" i="0" lang="en-US" sz="2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Aumentar k por célula para fortalecer a </a:t>
            </a:r>
            <a:r>
              <a:rPr b="1" i="0" lang="en-US" sz="2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significância estatística</a:t>
            </a:r>
            <a:r>
              <a:rPr b="0" i="0" lang="en-US" sz="2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em modelos de baixa conformidade.</a:t>
            </a:r>
            <a:endParaRPr b="0" i="0" sz="2600" u="none" cap="none" strike="noStrike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296" lvl="0" marL="310896" marR="0" rtl="0" algn="l">
              <a:lnSpc>
                <a:spcPct val="116000"/>
              </a:lnSpc>
              <a:spcBef>
                <a:spcPts val="200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Arial"/>
              <a:buChar char="▪"/>
            </a:pPr>
            <a:r>
              <a:rPr b="0" i="0" lang="en-US" sz="2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Avaliar como artefatos das ferramentas podem ser </a:t>
            </a:r>
            <a:r>
              <a:rPr b="1" i="0" lang="en-US" sz="2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otimizados para Modelos de IA</a:t>
            </a:r>
            <a:r>
              <a:rPr b="0" i="0" lang="en-US" sz="2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600" u="none" cap="none" strike="noStrike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g3f4176477e0_0_1695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082" name="Google Shape;1082;g3f4176477e0_0_16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g3f4176477e0_0_1695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084" name="Google Shape;1084;g3f4176477e0_0_16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85" name="Google Shape;1085;g3f4176477e0_0_1695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086" name="Google Shape;1086;g3f4176477e0_0_16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87" name="Google Shape;1087;g3f4176477e0_0_1695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2369"/>
                </a:solidFill>
              </a:rPr>
              <a:t>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g3f4176477e0_0_1695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089" name="Google Shape;1089;g3f4176477e0_0_169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g3f4176477e0_0_1695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18"/>
          <p:cNvSpPr/>
          <p:nvPr/>
        </p:nvSpPr>
        <p:spPr>
          <a:xfrm>
            <a:off x="9174175" y="3840480"/>
            <a:ext cx="6035040" cy="603504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18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18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1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18"/>
          <p:cNvSpPr txBox="1"/>
          <p:nvPr/>
        </p:nvSpPr>
        <p:spPr>
          <a:xfrm>
            <a:off x="658368" y="123444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Obrigado!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18"/>
          <p:cNvSpPr/>
          <p:nvPr/>
        </p:nvSpPr>
        <p:spPr>
          <a:xfrm>
            <a:off x="658368" y="2395728"/>
            <a:ext cx="1463040" cy="54864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18"/>
          <p:cNvSpPr txBox="1"/>
          <p:nvPr/>
        </p:nvSpPr>
        <p:spPr>
          <a:xfrm>
            <a:off x="658368" y="2670048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Perguntas são bem-vindas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18"/>
          <p:cNvSpPr txBox="1"/>
          <p:nvPr/>
        </p:nvSpPr>
        <p:spPr>
          <a:xfrm>
            <a:off x="658368" y="3310128"/>
            <a:ext cx="4937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FA3D0"/>
                </a:solidFill>
                <a:latin typeface="Arial"/>
                <a:ea typeface="Arial"/>
                <a:cs typeface="Arial"/>
                <a:sym typeface="Arial"/>
              </a:rPr>
              <a:t>AUTOR DE CONTATO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18"/>
          <p:cNvSpPr txBox="1"/>
          <p:nvPr/>
        </p:nvSpPr>
        <p:spPr>
          <a:xfrm>
            <a:off x="658368" y="3602736"/>
            <a:ext cx="5120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Francis Vargas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francisvargas.aluno@unipampa.edu.br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Horizon Labs · UNIPAMPA · PPGES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18"/>
          <p:cNvSpPr/>
          <p:nvPr/>
        </p:nvSpPr>
        <p:spPr>
          <a:xfrm>
            <a:off x="6492240" y="3246120"/>
            <a:ext cx="1572768" cy="1572768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18"/>
          <p:cNvSpPr txBox="1"/>
          <p:nvPr/>
        </p:nvSpPr>
        <p:spPr>
          <a:xfrm>
            <a:off x="6492240" y="384048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QR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do artigo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18"/>
          <p:cNvSpPr/>
          <p:nvPr/>
        </p:nvSpPr>
        <p:spPr>
          <a:xfrm>
            <a:off x="8412480" y="3246120"/>
            <a:ext cx="1572768" cy="1572768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18"/>
          <p:cNvSpPr txBox="1"/>
          <p:nvPr/>
        </p:nvSpPr>
        <p:spPr>
          <a:xfrm>
            <a:off x="8412480" y="384048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QR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do repositório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18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111" name="Google Shape;111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172199"/>
            <a:ext cx="1122426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1112" name="Google Shape;111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6554" y="6108192"/>
            <a:ext cx="610954" cy="4023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1113" name="Google Shape;111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23268" y="6099048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c.png" id="1114" name="Google Shape;111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29875" y="6080759"/>
            <a:ext cx="303451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f.png" id="1115" name="Google Shape;111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73180" y="6089903"/>
            <a:ext cx="427511" cy="43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6_mark.png" id="1116" name="Google Shape;111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85688" y="6099048"/>
            <a:ext cx="758308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7" name="Google Shape;1117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63742" y="3165363"/>
            <a:ext cx="1670250" cy="167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1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443500" y="3165375"/>
            <a:ext cx="1670249" cy="1670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2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20"/>
          <p:cNvSpPr txBox="1"/>
          <p:nvPr/>
        </p:nvSpPr>
        <p:spPr>
          <a:xfrm>
            <a:off x="658368" y="27889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Slides reserva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20"/>
          <p:cNvSpPr/>
          <p:nvPr/>
        </p:nvSpPr>
        <p:spPr>
          <a:xfrm>
            <a:off x="658368" y="3401568"/>
            <a:ext cx="1188720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20"/>
          <p:cNvSpPr txBox="1"/>
          <p:nvPr/>
        </p:nvSpPr>
        <p:spPr>
          <a:xfrm>
            <a:off x="658368" y="36118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Material de apoio para responder perguntas: detalhes de método, tabelas completas e provas.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19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19"/>
          <p:cNvSpPr txBox="1"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MATERIAL DE APOIO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19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Categorias de falha de validação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19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19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19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19"/>
          <p:cNvSpPr txBox="1"/>
          <p:nvPr/>
        </p:nvSpPr>
        <p:spPr>
          <a:xfrm>
            <a:off x="658368" y="1507249"/>
            <a:ext cx="523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Por que os modelos falham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19"/>
          <p:cNvSpPr txBox="1"/>
          <p:nvPr/>
        </p:nvSpPr>
        <p:spPr>
          <a:xfrm>
            <a:off x="658418" y="1845950"/>
            <a:ext cx="5236200" cy="44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6296" lvl="0" marL="310896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100"/>
              <a:buFont typeface="Arial"/>
              <a:buChar char="▪"/>
            </a:pPr>
            <a:r>
              <a:rPr b="0" i="0" lang="en-US" sz="2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Erros semânticos de dependência (Claude, GPT-5.4): referências a recursos corretas na intenção, ausentes na config.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296" lvl="0" marL="310896" marR="0" rtl="0" algn="l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Clr>
                <a:srgbClr val="0A866E"/>
              </a:buClr>
              <a:buSzPts val="2100"/>
              <a:buFont typeface="Arial"/>
              <a:buChar char="▪"/>
            </a:pPr>
            <a:r>
              <a:rPr b="0" i="0" lang="en-US" sz="2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Versões de provider desatualizadas (Gemini, WizardCoder, Qwen): sintaxe AWS provider &lt; v4, atributos depreciados.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296" lvl="0" marL="310896" marR="0" rtl="0" algn="l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Clr>
                <a:srgbClr val="0A866E"/>
              </a:buClr>
              <a:buSzPts val="2100"/>
              <a:buFont typeface="Arial"/>
              <a:buChar char="▪"/>
            </a:pPr>
            <a:r>
              <a:rPr b="0" i="0" lang="en-US" sz="2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Erros estruturais de HCL (CodeLlama, Magicoder): blocos inválidos, markdown vazado, sintaxe Terraform 0.11/0.12.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19"/>
          <p:cNvSpPr txBox="1"/>
          <p:nvPr/>
        </p:nvSpPr>
        <p:spPr>
          <a:xfrm>
            <a:off x="6297015" y="1507249"/>
            <a:ext cx="523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Por que isso importa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19"/>
          <p:cNvSpPr txBox="1"/>
          <p:nvPr/>
        </p:nvSpPr>
        <p:spPr>
          <a:xfrm>
            <a:off x="6297065" y="1845950"/>
            <a:ext cx="5236200" cy="42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9946" lvl="0" marL="310896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F7A823"/>
              </a:buClr>
              <a:buSzPts val="2000"/>
              <a:buFont typeface="Arial"/>
              <a:buChar char="▪"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Falhas se concentram nos cenários mais sensíveis (KMS, VPC+CloudWatch) — nem penalizados, nem premiados.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9946" lvl="0" marL="310896" marR="0" rtl="0" algn="l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Clr>
                <a:srgbClr val="F7A823"/>
              </a:buClr>
              <a:buSzPts val="2000"/>
              <a:buFont typeface="Arial"/>
              <a:buChar char="▪"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GPT-5.4: Resource cycle entre aws_kms_key e aws_cloudwatch_log_group — padrão seguro que o Terraform não instancia sem data source.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9946" lvl="0" marL="310896" marR="0" rtl="0" algn="l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Clr>
                <a:srgbClr val="F7A823"/>
              </a:buClr>
              <a:buSzPts val="2000"/>
              <a:buFont typeface="Arial"/>
              <a:buChar char="▪"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Truncamento: CodeLlama-13B atinge o limite de contexto em 32,7% das gerações (4.096 tokens).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19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144" name="Google Shape;114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19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146" name="Google Shape;114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47" name="Google Shape;1147;p19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148" name="Google Shape;114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19"/>
          <p:cNvSpPr txBox="1"/>
          <p:nvPr/>
        </p:nvSpPr>
        <p:spPr>
          <a:xfrm>
            <a:off x="11030407" y="6373368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19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151" name="Google Shape;115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19"/>
          <p:cNvSpPr txBox="1"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3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33"/>
          <p:cNvSpPr txBox="1"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MATERIAL DE APOIO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33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Concordância Checkov × Trivy (L3)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33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33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33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63" name="Google Shape;1163;p33"/>
          <p:cNvGraphicFramePr/>
          <p:nvPr/>
        </p:nvGraphicFramePr>
        <p:xfrm>
          <a:off x="658368" y="16824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{3A5AAAF9-3A34-47B4-AA8D-7A25206B3E01}</a:tableStyleId>
              </a:tblPr>
              <a:tblGrid>
                <a:gridCol w="3421275"/>
                <a:gridCol w="2443775"/>
                <a:gridCol w="2443775"/>
                <a:gridCol w="2566150"/>
              </a:tblGrid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Modelo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Ambos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Só Trivy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Nenhum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6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Claude Opus 4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6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23,1%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6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69,4%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6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7,5%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6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Gemini 2.5 Pro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6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1,9%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6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77,4%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6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20,8%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6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GPT-5.4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6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1,4%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6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15,1%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6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83,6%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6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WizardCoder-33B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6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0,0%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6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0,8%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6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99,2%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6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Qwen2.5-Coder-14B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6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0,0%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6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6,4%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6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93,6%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6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CodeLlama-13B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6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4,3%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6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4,3%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6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91,3%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6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Magicoder-7B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6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0,0%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6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0,0%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6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 sz="26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64" name="Google Shape;1164;p33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165" name="Google Shape;11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p33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167" name="Google Shape;116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33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169" name="Google Shape;1169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33"/>
          <p:cNvSpPr txBox="1"/>
          <p:nvPr/>
        </p:nvSpPr>
        <p:spPr>
          <a:xfrm>
            <a:off x="11030407" y="6373368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33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172" name="Google Shape;1172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33"/>
          <p:cNvSpPr txBox="1"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BSeg 2026 · AI Horizon Labs">
  <a:themeElements>
    <a:clrScheme name="SBSeg 2026">
      <a:dk1>
        <a:srgbClr val="000000"/>
      </a:dk1>
      <a:lt1>
        <a:srgbClr val="FFFFFF"/>
      </a:lt1>
      <a:dk2>
        <a:srgbClr val="1F2937"/>
      </a:dk2>
      <a:lt2>
        <a:srgbClr val="F4F6FA"/>
      </a:lt2>
      <a:accent1>
        <a:srgbClr val="0F2369"/>
      </a:accent1>
      <a:accent2>
        <a:srgbClr val="0A866E"/>
      </a:accent2>
      <a:accent3>
        <a:srgbClr val="1279BD"/>
      </a:accent3>
      <a:accent4>
        <a:srgbClr val="F7A823"/>
      </a:accent4>
      <a:accent5>
        <a:srgbClr val="6B7280"/>
      </a:accent5>
      <a:accent6>
        <a:srgbClr val="DDE3EC"/>
      </a:accent6>
      <a:hlink>
        <a:srgbClr val="1279BD"/>
      </a:hlink>
      <a:folHlink>
        <a:srgbClr val="0A866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
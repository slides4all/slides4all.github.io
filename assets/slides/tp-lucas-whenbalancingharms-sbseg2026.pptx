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y="6858000" cx="12191675"/>
  <p:notesSz cx="6858000" cy="9144000"/>
  <p:embeddedFontLst>
    <p:embeddedFont>
      <p:font typeface="Lexend"/>
      <p:regular r:id="rId62"/>
      <p:bold r:id="rId63"/>
    </p:embeddedFont>
    <p:embeddedFont>
      <p:font typeface="Oswald"/>
      <p:regular r:id="rId64"/>
      <p:bold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6" roundtripDataSignature="AMtx7mg85v7T/pU5ZkD/lAvt/cMGP51Gr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9" name="Diego Luis Kreut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7BC0A1-B633-4078-8491-F1605408C9A9}">
  <a:tblStyle styleId="{017BC0A1-B633-4078-8491-F1605408C9A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Lexend-regular.fntdata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font" Target="fonts/Oswald-regular.fntdata"/><Relationship Id="rId63" Type="http://schemas.openxmlformats.org/officeDocument/2006/relationships/font" Target="fonts/Lexend-bold.fntdata"/><Relationship Id="rId22" Type="http://schemas.openxmlformats.org/officeDocument/2006/relationships/slide" Target="slides/slide15.xml"/><Relationship Id="rId66" Type="http://customschemas.google.com/relationships/presentationmetadata" Target="metadata"/><Relationship Id="rId21" Type="http://schemas.openxmlformats.org/officeDocument/2006/relationships/slide" Target="slides/slide14.xml"/><Relationship Id="rId65" Type="http://schemas.openxmlformats.org/officeDocument/2006/relationships/font" Target="fonts/Oswald-bold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0T13:38:59.864">
    <p:pos x="1726" y="1619"/>
    <p:text>qual o problema disso? dá pra comparar resultados de modelos de datasets balanceados versus desbalanceados?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4I"/>
      </p:ext>
    </p:extLst>
  </p:cm>
  <p:cm authorId="0" idx="2" dt="2026-08-20T13:38:25.919">
    <p:pos x="1726" y="1619"/>
    <p:text>é justo ter datasets balanceados e desbalanceados no mesmo conjunto e comparar os resultados dos modelos?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CFAQ7W4M"/>
      </p:ext>
    </p:extLst>
  </p:cm>
  <p:cm authorId="0" idx="3" dt="2026-08-20T13:38:59.864">
    <p:pos x="1726" y="1619"/>
    <p:text>esse é o tipo de pergunta que vocês precisam responder e ver se não faz parte da motivação/problema que levou a análise de técnicas de balanceamento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CFAQ7W4Q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8-20T13:32:47.886">
    <p:pos x="1726" y="1619"/>
    <p:text>isso aqui, sim, pode ser o primeiro problema, que motiva o balanceamento. o resto (slides anteriores) não sustentam/justificam o trabalho.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0w6I"/>
      </p:ext>
    </p:extLst>
  </p:cm>
  <p:cm authorId="0" idx="5" dt="2026-08-20T13:32:47.886">
    <p:pos x="1726" y="1619"/>
    <p:text>eu acho que já discutimos em alguma reunião a motivação para o balancamento. acho que foi quando o Lucas estava preparando a apresentação final da dissertação dele.</p:text>
    <p:extLst>
      <p:ext uri="{C676402C-5697-4E1C-873F-D02D1690AC5C}">
        <p15:threadingInfo timeZoneBias="0">
          <p15:parentCm authorId="0" idx="4"/>
        </p15:threadingInfo>
      </p:ext>
      <p:ext uri="http://customooxmlschemas.google.com/">
        <go:slidesCustomData xmlns:go="http://customooxmlschemas.google.com/" commentPostId="AAACFAQ0w6Q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8-20T13:52:46.673">
    <p:pos x="414" y="391"/>
    <p:text>slide deslocado. não faz sentido mostra solução (slide anterior) e depois o que falta na literatura. o que falta na literatura é parte do problema. podem ser limitações da literatura.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5I"/>
      </p:ext>
    </p:extLst>
  </p:cm>
  <p:cm authorId="0" idx="7" dt="2026-08-20T13:52:46.673">
    <p:pos x="414" y="391"/>
    <p:text>destaquem na tabela as principais limitações técnicas dos outros trabalhos.</p:text>
    <p:extLst>
      <p:ext uri="{C676402C-5697-4E1C-873F-D02D1690AC5C}">
        <p15:threadingInfo timeZoneBias="0">
          <p15:parentCm authorId="0" idx="6"/>
        </p15:threadingInfo>
      </p:ext>
      <p:ext uri="http://customooxmlschemas.google.com/">
        <go:slidesCustomData xmlns:go="http://customooxmlschemas.google.com/" commentPostId="AAACFAUGbqo"/>
      </p:ext>
    </p:extLst>
  </p:cm>
  <p:cm authorId="0" idx="8" dt="2026-08-20T13:52:19.708">
    <p:pos x="414" y="1059"/>
    <p:text>eu não consigo ver muito bem o que falta na literatura com essa tabela. quais métodos/técnicas de unver e over cada trabalho avalia? há algum trabalho que avalia "todas" as técnicas de over e under e híbrido? isso me parece ser o mais importante, mas não está na tabela.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5Q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8-20T13:52:46.673">
    <p:pos x="414" y="391"/>
    <p:text>slide deslocado. não faz sentido mostra solução (slide anterior) e depois o que falta na literatura. o que falta na literatura é parte do problema. podem ser limitações da literatura.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5I"/>
      </p:ext>
    </p:extLst>
  </p:cm>
  <p:cm authorId="0" idx="10" dt="2026-08-20T13:52:46.673">
    <p:pos x="414" y="391"/>
    <p:text>destaquem na tabela as principais limitações técnicas dos outros trabalhos.</p:text>
    <p:extLst>
      <p:ext uri="{C676402C-5697-4E1C-873F-D02D1690AC5C}">
        <p15:threadingInfo timeZoneBias="0">
          <p15:parentCm authorId="0" idx="9"/>
        </p15:threadingInfo>
      </p:ext>
      <p:ext uri="http://customooxmlschemas.google.com/">
        <go:slidesCustomData xmlns:go="http://customooxmlschemas.google.com/" commentPostId="AAACFAUGbqo"/>
      </p:ext>
    </p:extLst>
  </p:cm>
  <p:cm authorId="0" idx="11" dt="2026-08-20T13:52:19.708">
    <p:pos x="414" y="1059"/>
    <p:text>eu não consigo ver muito bem o que falta na literatura com essa tabela. quais métodos/técnicas de unver e over cada trabalho avalia? há algum trabalho que avalia "todas" as técnicas de over e under e híbrido? isso me parece ser o mais importante, mas não está na tabela.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5Q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6-08-20T13:52:46.673">
    <p:pos x="414" y="391"/>
    <p:text>slide deslocado. não faz sentido mostra solução (slide anterior) e depois o que falta na literatura. o que falta na literatura é parte do problema. podem ser limitações da literatura.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5I"/>
      </p:ext>
    </p:extLst>
  </p:cm>
  <p:cm authorId="0" idx="13" dt="2026-08-20T13:52:46.673">
    <p:pos x="414" y="391"/>
    <p:text>destaquem na tabela as principais limitações técnicas dos outros trabalhos.</p:text>
    <p:extLst>
      <p:ext uri="{C676402C-5697-4E1C-873F-D02D1690AC5C}">
        <p15:threadingInfo timeZoneBias="0">
          <p15:parentCm authorId="0" idx="12"/>
        </p15:threadingInfo>
      </p:ext>
      <p:ext uri="http://customooxmlschemas.google.com/">
        <go:slidesCustomData xmlns:go="http://customooxmlschemas.google.com/" commentPostId="AAACFAUGbqo"/>
      </p:ext>
    </p:extLst>
  </p:cm>
  <p:cm authorId="0" idx="14" dt="2026-08-20T13:52:19.708">
    <p:pos x="414" y="1059"/>
    <p:text>eu não consigo ver muito bem o que falta na literatura com essa tabela. quais métodos/técnicas de unver e over cada trabalho avalia? há algum trabalho que avalia "todas" as técnicas de over e under e híbrido? isso me parece ser o mais importante, mas não está na tabela.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5Q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5" dt="2026-08-20T13:52:46.673">
    <p:pos x="414" y="391"/>
    <p:text>slide deslocado. não faz sentido mostra solução (slide anterior) e depois o que falta na literatura. o que falta na literatura é parte do problema. podem ser limitações da literatura.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5I"/>
      </p:ext>
    </p:extLst>
  </p:cm>
  <p:cm authorId="0" idx="16" dt="2026-08-20T13:52:46.673">
    <p:pos x="414" y="391"/>
    <p:text>destaquem na tabela as principais limitações técnicas dos outros trabalhos.</p:text>
    <p:extLst>
      <p:ext uri="{C676402C-5697-4E1C-873F-D02D1690AC5C}">
        <p15:threadingInfo timeZoneBias="0">
          <p15:parentCm authorId="0" idx="15"/>
        </p15:threadingInfo>
      </p:ext>
      <p:ext uri="http://customooxmlschemas.google.com/">
        <go:slidesCustomData xmlns:go="http://customooxmlschemas.google.com/" commentPostId="AAACFAUGbqo"/>
      </p:ext>
    </p:extLst>
  </p:cm>
  <p:cm authorId="0" idx="17" dt="2026-08-20T13:52:19.708">
    <p:pos x="414" y="1059"/>
    <p:text>eu não consigo ver muito bem o que falta na literatura com essa tabela. quais métodos/técnicas de unver e over cada trabalho avalia? há algum trabalho que avalia "todas" as técnicas de over e under e híbrido? isso me parece ser o mais importante, mas não está na tabela.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5Q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8" dt="2026-08-20T13:58:27.911">
    <p:pos x="1509" y="1566"/>
    <p:text>método? primero é o experimento, certo? preferencialmente com o desenho de um pipeline legal. depois, o método que foi criado, motivado pelos experimentos / resultados.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UI45Q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9" dt="2026-08-20T13:48:15.978">
    <p:pos x="453" y="624"/>
    <p:text>isso aqui não é solução. isso aqui é resultados + configurações de experimentos. repensar até o titulo do slide. é solução? ou é uma experimentação extensiva? a experimentação/solução não tem um pipeline de execução? por que esse pipeline / benchmark não é mostrado? por que não tem uma figura?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AQ7W44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Capa. Da capa, vá direto para o problema: nada de slide de agenda.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7428e8dcb_0_6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f7428e8dcb_0_6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05" name="Google Shape;105;g3f7428e8dcb_0_6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9b7f95bdc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g3f9b7f95bdc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27" name="Google Shape;127;g3f9b7f95bdc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b7f95bdc_0_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f9b7f95bdc_0_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54" name="Google Shape;154;g3f9b7f95bdc_0_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9b7f95bdc_0_1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g3f9b7f95bdc_0_1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82" name="Google Shape;182;g3f9b7f95bdc_0_1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898105a18_0_1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f898105a18_0_1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211" name="Google Shape;211;g3f898105a18_0_1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9b7f95bdc_0_1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f9b7f95bdc_0_1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241" name="Google Shape;241;g3f9b7f95bdc_0_1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9b7f95bdc_0_1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3f9b7f95bdc_0_1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271" name="Google Shape;271;g3f9b7f95bdc_0_1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9b7f95bdc_0_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g3f9b7f95bdc_0_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301" name="Google Shape;301;g3f9b7f95bdc_0_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7428e8dcb_0_30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7428e8dcb_0_30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329" name="Google Shape;329;g3f7428e8dcb_0_30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7428e8dcb_0_4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g3f7428e8dcb_0_4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399" name="Google Shape;399;g3f7428e8dcb_0_4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7428e8dcb_0_2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g3f7428e8dcb_0_2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469" name="Google Shape;469;g3f7428e8dcb_0_2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83fd16906_0_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g3f83fd16906_0_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488" name="Google Shape;488;g3f83fd16906_0_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Simplifique a tabela. Se ficar densa, quebre em dois slides.</a:t>
            </a:r>
            <a:endParaRPr/>
          </a:p>
        </p:txBody>
      </p:sp>
      <p:sp>
        <p:nvSpPr>
          <p:cNvPr id="507" name="Google Shape;50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83fd16906_6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f83fd16906_6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Simplifique a tabela. Se ficar densa, quebre em dois slides.</a:t>
            </a:r>
            <a:endParaRPr/>
          </a:p>
        </p:txBody>
      </p:sp>
      <p:sp>
        <p:nvSpPr>
          <p:cNvPr id="529" name="Google Shape;529;g3f83fd16906_6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83fd16906_6_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g3f83fd16906_6_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Simplifique a tabela. Se ficar densa, quebre em dois slides.</a:t>
            </a:r>
            <a:endParaRPr/>
          </a:p>
        </p:txBody>
      </p:sp>
      <p:sp>
        <p:nvSpPr>
          <p:cNvPr id="552" name="Google Shape;552;g3f83fd16906_6_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83fd16906_6_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g3f83fd16906_6_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Simplifique a tabela. Se ficar densa, quebre em dois slides.</a:t>
            </a:r>
            <a:endParaRPr/>
          </a:p>
        </p:txBody>
      </p:sp>
      <p:sp>
        <p:nvSpPr>
          <p:cNvPr id="575" name="Google Shape;575;g3f83fd16906_6_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Divisória de seção. Use no máximo 15 a 20 segundos aqui.</a:t>
            </a:r>
            <a:endParaRPr/>
          </a:p>
        </p:txBody>
      </p:sp>
      <p:sp>
        <p:nvSpPr>
          <p:cNvPr id="599" name="Google Shape;59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7428e8dcb_0_5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" name="Google Shape;613;g3f7428e8dcb_0_5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614" name="Google Shape;614;g3f7428e8dcb_0_5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83fd16906_0_1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4" name="Google Shape;644;g3f83fd16906_0_1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645" name="Google Shape;645;g3f83fd16906_0_1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6" name="Google Shape;67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Contribuição e resultados devem ocupar cerca de 45% do tempo.</a:t>
            </a:r>
            <a:endParaRPr/>
          </a:p>
        </p:txBody>
      </p:sp>
      <p:sp>
        <p:nvSpPr>
          <p:cNvPr id="677" name="Google Shape;67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f7428e8dcb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f7428e8dcb_0_6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83fd16906_0_2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8" name="Google Shape;718;g3f83fd16906_0_2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719" name="Google Shape;719;g3f83fd16906_0_2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0" name="Google Shape;75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751" name="Google Shape;75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f83fd16906_0_2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3" name="Google Shape;773;g3f83fd16906_0_2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774" name="Google Shape;774;g3f83fd16906_0_2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f83fd16906_0_3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6" name="Google Shape;796;g3f83fd16906_0_3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797" name="Google Shape;797;g3f83fd16906_0_3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f83fd16906_0_3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8" name="Google Shape;828;g3f83fd16906_0_3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829" name="Google Shape;829;g3f83fd16906_0_3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f83fd16906_0_3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g3f83fd16906_0_3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853" name="Google Shape;853;g3f83fd16906_0_3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f83fd16906_0_4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7" name="Google Shape;877;g3f83fd16906_0_4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878" name="Google Shape;878;g3f83fd16906_0_4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f83fd16906_0_4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2" name="Google Shape;902;g3f83fd16906_0_4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903" name="Google Shape;903;g3f83fd16906_0_4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f83fd16906_0_4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7" name="Google Shape;927;g3f83fd16906_0_4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928" name="Google Shape;928;g3f83fd16906_0_4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f83fd16906_0_5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9" name="Google Shape;959;g3f83fd16906_0_5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960" name="Google Shape;960;g3f83fd16906_0_5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1" name="Google Shape;9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f7428e8dcb_0_79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5" name="Google Shape;995;g3f7428e8dcb_0_79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996" name="Google Shape;996;g3f7428e8dcb_0_7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f83fd16906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g3f83fd16906_0_6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f83fd16906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g3f83fd16906_0_5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f83fd16906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g3f83fd16906_0_6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f7428e8dcb_0_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9" name="Google Shape;1079;g3f7428e8dcb_0_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080" name="Google Shape;1080;g3f7428e8dcb_0_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3" name="Google Shape;110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Detalhe técnico do problema. É aqui que a plateia especialista decide se vale prestar atenção.</a:t>
            </a:r>
            <a:endParaRPr/>
          </a:p>
        </p:txBody>
      </p:sp>
      <p:sp>
        <p:nvSpPr>
          <p:cNvPr id="1104" name="Google Shape;110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5" name="Google Shape;112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1126" name="Google Shape;112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f83fd16906_0_8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7" name="Google Shape;1147;g3f83fd16906_0_8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1148" name="Google Shape;1148;g3f83fd16906_0_8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f83fd16906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g3f83fd16906_0_8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f898105a1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g3f898105a1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f83fd16906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g3f83fd16906_0_6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f83fd16906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g3f83fd16906_0_9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f847060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g3f84706093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f7428e8dcb_0_5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8" name="Google Shape;1338;g3f7428e8dcb_0_5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Conclusões e trabalhos futuros: cerca de 10% do tempo. Repita a mensagem central.</a:t>
            </a:r>
            <a:endParaRPr/>
          </a:p>
        </p:txBody>
      </p:sp>
      <p:sp>
        <p:nvSpPr>
          <p:cNvPr id="1339" name="Google Shape;1339;g3f7428e8dcb_0_5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3" name="Google Shape;13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7" name="Google Shape;138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Encerre com um convite claro à colaboração.</a:t>
            </a:r>
            <a:endParaRPr/>
          </a:p>
        </p:txBody>
      </p:sp>
      <p:sp>
        <p:nvSpPr>
          <p:cNvPr id="1388" name="Google Shape;138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f873dab25f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9" name="Google Shape;1409;g3f873dab25f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Encerre com um convite claro à colaboração.</a:t>
            </a:r>
            <a:endParaRPr/>
          </a:p>
        </p:txBody>
      </p:sp>
      <p:sp>
        <p:nvSpPr>
          <p:cNvPr id="1410" name="Google Shape;1410;g3f873dab25f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f9b7f95bdc_0_1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1" name="Google Shape;1431;g3f9b7f95bdc_0_1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Encerre com um convite claro à colaboração.</a:t>
            </a:r>
            <a:endParaRPr/>
          </a:p>
        </p:txBody>
      </p:sp>
      <p:sp>
        <p:nvSpPr>
          <p:cNvPr id="1432" name="Google Shape;1432;g3f9b7f95bdc_0_1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8" name="Google Shape;144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Deixe este slide na tela durante as perguntas. Substitua os quadrados brancos por QR Codes reais.</a:t>
            </a:r>
            <a:endParaRPr/>
          </a:p>
        </p:txBody>
      </p:sp>
      <p:sp>
        <p:nvSpPr>
          <p:cNvPr id="1449" name="Google Shape;144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C3A8F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C3A8F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C3A8F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C3A8F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C3A8F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C3A8F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C3A8F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C3A8F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C3A8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2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2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3.xml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4.xml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5.xml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6.xml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7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omments" Target="../comments/comment8.xml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2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10" Type="http://schemas.openxmlformats.org/officeDocument/2006/relationships/image" Target="../media/image24.png"/><Relationship Id="rId9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58368" y="47548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XXVI SIMPÓSIO BRASILEIRO DE CIBERSEGURANÇA  ·  SBSEG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58368" y="8046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 a 4 de setembro de 2026  ·  Armação dos Búzios, 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58368" y="1353312"/>
            <a:ext cx="8138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Balancing Harms: condições estruturais que degradam a detecção de malware Android após o balanceamento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58368" y="3602736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58375" y="3820000"/>
            <a:ext cx="8727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Lucas Ferreira · Anna Luiza Gomes · Angelo Diniz · Diego Kreutz · Dionatan R. Schmidt · Rodrigo Mansilha · Kayuã Oleques Paim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58368" y="4720000"/>
            <a:ext cx="81381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1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AI Horizon Labs · UNIPAMPA (PPGES) · UFRGS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1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SBSeg 2026 · Trilha Principal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9189720" y="1463040"/>
            <a:ext cx="2340864" cy="234086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2892" y="2113585"/>
            <a:ext cx="1874519" cy="10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172199"/>
            <a:ext cx="1122426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6554" y="6108192"/>
            <a:ext cx="610954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98" name="Google Shape;98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23268" y="609904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99" name="Google Shape;99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0" name="Google Shape;100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428e8dcb_0_68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7428e8dcb_0_687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Abertura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7428e8dcb_0_68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7428e8dcb_0_68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7428e8dcb_0_68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7428e8dcb_0_68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7428e8dcb_0_687"/>
          <p:cNvSpPr txBox="1"/>
          <p:nvPr/>
        </p:nvSpPr>
        <p:spPr>
          <a:xfrm>
            <a:off x="658375" y="2602339"/>
            <a:ext cx="11165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F2369"/>
                </a:solidFill>
              </a:rPr>
              <a:t>O desbalanceamento das classes constitui um desafio para o treinamento dos modelos generativos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7428e8dcb_0_68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5" name="Google Shape;115;g3f7428e8dcb_0_6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f7428e8dcb_0_68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17" name="Google Shape;117;g3f7428e8dcb_0_6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7428e8dcb_0_68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19" name="Google Shape;119;g3f7428e8dcb_0_6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f7428e8dcb_0_68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21" name="Google Shape;121;g3f7428e8dcb_0_6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7428e8dcb_0_68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7428e8dcb_0_687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9b7f95bdc_0_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9b7f95bdc_0_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Motivação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9b7f95bdc_0_0"/>
          <p:cNvSpPr txBox="1"/>
          <p:nvPr/>
        </p:nvSpPr>
        <p:spPr>
          <a:xfrm>
            <a:off x="658368" y="621792"/>
            <a:ext cx="10875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Do MalSynGen ao problema de comparação</a:t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132" name="Google Shape;132;g3f9b7f95bdc_0_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9b7f95bdc_0_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9b7f95bdc_0_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9b7f95bdc_0_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36" name="Google Shape;136;g3f9b7f95bd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f9b7f95bdc_0_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38" name="Google Shape;138;g3f9b7f95bd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f9b7f95bdc_0_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40" name="Google Shape;140;g3f9b7f95bdc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f9b7f95bdc_0_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42" name="Google Shape;142;g3f9b7f95bdc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9b7f95bdc_0_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9b7f95bdc_0_0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5" name="Google Shape;145;g3f9b7f95bdc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600" y="1833200"/>
            <a:ext cx="5595549" cy="40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f9b7f95bdc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3725" y="1833200"/>
            <a:ext cx="5595549" cy="40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f9b7f95bdc_0_0"/>
          <p:cNvSpPr txBox="1"/>
          <p:nvPr/>
        </p:nvSpPr>
        <p:spPr>
          <a:xfrm>
            <a:off x="649775" y="3030950"/>
            <a:ext cx="51492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A866E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Metodologia de geração de dados sintéticos para malware Android.</a:t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A866E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Busca preservar as propriedades dos dados reais.</a:t>
            </a:r>
            <a:endParaRPr sz="2400">
              <a:solidFill>
                <a:srgbClr val="1A2233"/>
              </a:solidFill>
            </a:endParaRPr>
          </a:p>
        </p:txBody>
      </p:sp>
      <p:sp>
        <p:nvSpPr>
          <p:cNvPr id="148" name="Google Shape;148;g3f9b7f95bdc_0_0"/>
          <p:cNvSpPr txBox="1"/>
          <p:nvPr/>
        </p:nvSpPr>
        <p:spPr>
          <a:xfrm>
            <a:off x="1211002" y="2141726"/>
            <a:ext cx="423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69"/>
                </a:solidFill>
              </a:rPr>
              <a:t>O que é o MalSynGen</a:t>
            </a:r>
            <a:endParaRPr b="1" sz="2400">
              <a:solidFill>
                <a:srgbClr val="0F2369"/>
              </a:solidFill>
            </a:endParaRPr>
          </a:p>
        </p:txBody>
      </p:sp>
      <p:sp>
        <p:nvSpPr>
          <p:cNvPr id="149" name="Google Shape;149;g3f9b7f95bdc_0_0"/>
          <p:cNvSpPr txBox="1"/>
          <p:nvPr/>
        </p:nvSpPr>
        <p:spPr>
          <a:xfrm>
            <a:off x="7247918" y="2151317"/>
            <a:ext cx="423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69"/>
                </a:solidFill>
              </a:rPr>
              <a:t>O problema de comparação</a:t>
            </a:r>
            <a:endParaRPr b="1" sz="2400">
              <a:solidFill>
                <a:srgbClr val="0F2369"/>
              </a:solidFill>
            </a:endParaRPr>
          </a:p>
        </p:txBody>
      </p:sp>
      <p:sp>
        <p:nvSpPr>
          <p:cNvPr id="150" name="Google Shape;150;g3f9b7f95bdc_0_0"/>
          <p:cNvSpPr txBox="1"/>
          <p:nvPr/>
        </p:nvSpPr>
        <p:spPr>
          <a:xfrm>
            <a:off x="6626425" y="3122475"/>
            <a:ext cx="52467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2369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Existem datasets com diferentes níveis de balanceamento.</a:t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2369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Compará-las diretamente não é trivial</a:t>
            </a:r>
            <a:endParaRPr sz="2400">
              <a:solidFill>
                <a:srgbClr val="1A223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b7f95bdc_0_3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9b7f95bdc_0_3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Motivação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9b7f95bdc_0_34"/>
          <p:cNvSpPr txBox="1"/>
          <p:nvPr/>
        </p:nvSpPr>
        <p:spPr>
          <a:xfrm>
            <a:off x="658368" y="621792"/>
            <a:ext cx="10875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Do MalSynGen ao problema de comparação</a:t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159" name="Google Shape;159;g3f9b7f95bdc_0_3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9b7f95bdc_0_3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9b7f95bdc_0_3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9b7f95bdc_0_3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63" name="Google Shape;163;g3f9b7f95bdc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f9b7f95bdc_0_3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65" name="Google Shape;165;g3f9b7f95bdc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f9b7f95bdc_0_3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67" name="Google Shape;167;g3f9b7f95bdc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9b7f95bdc_0_3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69" name="Google Shape;169;g3f9b7f95bdc_0_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f9b7f95bdc_0_3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9b7f95bdc_0_34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2" name="Google Shape;172;g3f9b7f95bdc_0_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600" y="1833200"/>
            <a:ext cx="5595549" cy="40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f9b7f95bdc_0_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3725" y="1833200"/>
            <a:ext cx="5595549" cy="40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f9b7f95bdc_0_34"/>
          <p:cNvSpPr txBox="1"/>
          <p:nvPr/>
        </p:nvSpPr>
        <p:spPr>
          <a:xfrm>
            <a:off x="649775" y="3030950"/>
            <a:ext cx="51492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A866E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Metodologia de geração de dados sintéticos para malware Android.</a:t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A866E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Busca preservar as propriedades dos dados reais.</a:t>
            </a:r>
            <a:endParaRPr sz="2400">
              <a:solidFill>
                <a:srgbClr val="1A2233"/>
              </a:solidFill>
            </a:endParaRPr>
          </a:p>
        </p:txBody>
      </p:sp>
      <p:sp>
        <p:nvSpPr>
          <p:cNvPr id="175" name="Google Shape;175;g3f9b7f95bdc_0_34"/>
          <p:cNvSpPr txBox="1"/>
          <p:nvPr/>
        </p:nvSpPr>
        <p:spPr>
          <a:xfrm>
            <a:off x="1211002" y="2141726"/>
            <a:ext cx="423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69"/>
                </a:solidFill>
              </a:rPr>
              <a:t>O que é o MalSynGen</a:t>
            </a:r>
            <a:endParaRPr b="1" sz="2400">
              <a:solidFill>
                <a:srgbClr val="0F2369"/>
              </a:solidFill>
            </a:endParaRPr>
          </a:p>
        </p:txBody>
      </p:sp>
      <p:sp>
        <p:nvSpPr>
          <p:cNvPr id="176" name="Google Shape;176;g3f9b7f95bdc_0_34"/>
          <p:cNvSpPr txBox="1"/>
          <p:nvPr/>
        </p:nvSpPr>
        <p:spPr>
          <a:xfrm>
            <a:off x="7247918" y="2151317"/>
            <a:ext cx="423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69"/>
                </a:solidFill>
              </a:rPr>
              <a:t>O problema de comparação</a:t>
            </a:r>
            <a:endParaRPr b="1" sz="2400">
              <a:solidFill>
                <a:srgbClr val="0F2369"/>
              </a:solidFill>
            </a:endParaRPr>
          </a:p>
        </p:txBody>
      </p:sp>
      <p:sp>
        <p:nvSpPr>
          <p:cNvPr id="177" name="Google Shape;177;g3f9b7f95bdc_0_34"/>
          <p:cNvSpPr txBox="1"/>
          <p:nvPr/>
        </p:nvSpPr>
        <p:spPr>
          <a:xfrm>
            <a:off x="6626425" y="3122475"/>
            <a:ext cx="52467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2369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Existem datasets com diferentes níveis de balanceamento.</a:t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2369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Compará-las diretamente não é trivial</a:t>
            </a:r>
            <a:endParaRPr sz="2400">
              <a:solidFill>
                <a:srgbClr val="1A2233"/>
              </a:solidFill>
            </a:endParaRPr>
          </a:p>
        </p:txBody>
      </p:sp>
      <p:sp>
        <p:nvSpPr>
          <p:cNvPr id="178" name="Google Shape;178;g3f9b7f95bdc_0_34"/>
          <p:cNvSpPr/>
          <p:nvPr/>
        </p:nvSpPr>
        <p:spPr>
          <a:xfrm>
            <a:off x="274200" y="1721450"/>
            <a:ext cx="5872800" cy="4203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9b7f95bdc_0_12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9b7f95bdc_0_126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2"/>
                </a:solidFill>
              </a:rPr>
              <a:t>Motivação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f9b7f95bdc_0_126"/>
          <p:cNvSpPr txBox="1"/>
          <p:nvPr/>
        </p:nvSpPr>
        <p:spPr>
          <a:xfrm>
            <a:off x="658368" y="621792"/>
            <a:ext cx="10875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Modelos generativos</a:t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187" name="Google Shape;187;g3f9b7f95bdc_0_12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f9b7f95bdc_0_12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f9b7f95bdc_0_12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9b7f95bdc_0_126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91" name="Google Shape;191;g3f9b7f95bdc_0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f9b7f95bdc_0_126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93" name="Google Shape;193;g3f9b7f95bdc_0_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f9b7f95bdc_0_126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95" name="Google Shape;195;g3f9b7f95bdc_0_1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f9b7f95bdc_0_12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97" name="Google Shape;197;g3f9b7f95bdc_0_1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f9b7f95bdc_0_126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9b7f95bdc_0_126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0" name="Google Shape;200;g3f9b7f95bdc_0_126"/>
          <p:cNvGrpSpPr/>
          <p:nvPr/>
        </p:nvGrpSpPr>
        <p:grpSpPr>
          <a:xfrm>
            <a:off x="353525" y="1298200"/>
            <a:ext cx="11703818" cy="4751300"/>
            <a:chOff x="353525" y="1298200"/>
            <a:chExt cx="11703818" cy="4751300"/>
          </a:xfrm>
        </p:grpSpPr>
        <p:pic>
          <p:nvPicPr>
            <p:cNvPr id="201" name="Google Shape;201;g3f9b7f95bdc_0_126" title="8f710685-45ea-4194-b53b-b3f2c6070ad7.jpg"/>
            <p:cNvPicPr preferRelativeResize="0"/>
            <p:nvPr/>
          </p:nvPicPr>
          <p:blipFill rotWithShape="1">
            <a:blip r:embed="rId7">
              <a:alphaModFix/>
            </a:blip>
            <a:srcRect b="18349" l="4604" r="2571" t="18292"/>
            <a:stretch/>
          </p:blipFill>
          <p:spPr>
            <a:xfrm>
              <a:off x="353525" y="1298200"/>
              <a:ext cx="11703818" cy="4751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g3f9b7f95bdc_0_126"/>
            <p:cNvSpPr/>
            <p:nvPr/>
          </p:nvSpPr>
          <p:spPr>
            <a:xfrm>
              <a:off x="8899650" y="5617800"/>
              <a:ext cx="3050100" cy="4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" name="Google Shape;203;g3f9b7f95bdc_0_126"/>
          <p:cNvGrpSpPr/>
          <p:nvPr/>
        </p:nvGrpSpPr>
        <p:grpSpPr>
          <a:xfrm>
            <a:off x="5542575" y="3169350"/>
            <a:ext cx="6559575" cy="3032550"/>
            <a:chOff x="5390175" y="3016950"/>
            <a:chExt cx="6559575" cy="3032550"/>
          </a:xfrm>
        </p:grpSpPr>
        <p:pic>
          <p:nvPicPr>
            <p:cNvPr id="204" name="Google Shape;204;g3f9b7f95bdc_0_126" title="8f710685-45ea-4194-b53b-b3f2c6070ad7.jpg"/>
            <p:cNvPicPr preferRelativeResize="0"/>
            <p:nvPr/>
          </p:nvPicPr>
          <p:blipFill rotWithShape="1">
            <a:blip r:embed="rId7">
              <a:alphaModFix/>
            </a:blip>
            <a:srcRect b="51626" l="45237" r="42515" t="46839"/>
            <a:stretch/>
          </p:blipFill>
          <p:spPr>
            <a:xfrm>
              <a:off x="5390175" y="3016950"/>
              <a:ext cx="1544251" cy="11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g3f9b7f95bdc_0_126"/>
            <p:cNvSpPr/>
            <p:nvPr/>
          </p:nvSpPr>
          <p:spPr>
            <a:xfrm>
              <a:off x="8899650" y="5617800"/>
              <a:ext cx="3050100" cy="4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6" name="Google Shape;206;g3f9b7f95bdc_0_126" title="8f710685-45ea-4194-b53b-b3f2c6070ad7.jpg"/>
          <p:cNvPicPr preferRelativeResize="0"/>
          <p:nvPr/>
        </p:nvPicPr>
        <p:blipFill rotWithShape="1">
          <a:blip r:embed="rId7">
            <a:alphaModFix/>
          </a:blip>
          <a:srcRect b="51626" l="45237" r="42515" t="46839"/>
          <a:stretch/>
        </p:blipFill>
        <p:spPr>
          <a:xfrm>
            <a:off x="5542575" y="3245000"/>
            <a:ext cx="1544251" cy="11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f9b7f95bdc_0_126" title="8f710685-45ea-4194-b53b-b3f2c6070ad7.jpg"/>
          <p:cNvPicPr preferRelativeResize="0"/>
          <p:nvPr/>
        </p:nvPicPr>
        <p:blipFill rotWithShape="1">
          <a:blip r:embed="rId7">
            <a:alphaModFix/>
          </a:blip>
          <a:srcRect b="51626" l="45237" r="42515" t="46839"/>
          <a:stretch/>
        </p:blipFill>
        <p:spPr>
          <a:xfrm>
            <a:off x="5504200" y="3313900"/>
            <a:ext cx="1544251" cy="11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98105a18_0_12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f898105a18_0_12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2"/>
                </a:solidFill>
              </a:rPr>
              <a:t>Motivação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f898105a18_0_120"/>
          <p:cNvSpPr txBox="1"/>
          <p:nvPr/>
        </p:nvSpPr>
        <p:spPr>
          <a:xfrm>
            <a:off x="658368" y="621792"/>
            <a:ext cx="10875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Modelos generativos</a:t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216" name="Google Shape;216;g3f898105a18_0_12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898105a18_0_12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898105a18_0_12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898105a18_0_12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20" name="Google Shape;220;g3f898105a18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898105a18_0_12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22" name="Google Shape;222;g3f898105a18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898105a18_0_12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24" name="Google Shape;224;g3f898105a18_0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f898105a18_0_12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26" name="Google Shape;226;g3f898105a18_0_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f898105a18_0_12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898105a18_0_120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9" name="Google Shape;229;g3f898105a18_0_120"/>
          <p:cNvGrpSpPr/>
          <p:nvPr/>
        </p:nvGrpSpPr>
        <p:grpSpPr>
          <a:xfrm>
            <a:off x="353525" y="1298200"/>
            <a:ext cx="11703818" cy="4751300"/>
            <a:chOff x="353525" y="1298200"/>
            <a:chExt cx="11703818" cy="4751300"/>
          </a:xfrm>
        </p:grpSpPr>
        <p:pic>
          <p:nvPicPr>
            <p:cNvPr id="230" name="Google Shape;230;g3f898105a18_0_120" title="8f710685-45ea-4194-b53b-b3f2c6070ad7.jpg"/>
            <p:cNvPicPr preferRelativeResize="0"/>
            <p:nvPr/>
          </p:nvPicPr>
          <p:blipFill rotWithShape="1">
            <a:blip r:embed="rId7">
              <a:alphaModFix/>
            </a:blip>
            <a:srcRect b="18349" l="4604" r="2571" t="18292"/>
            <a:stretch/>
          </p:blipFill>
          <p:spPr>
            <a:xfrm>
              <a:off x="353525" y="1298200"/>
              <a:ext cx="11703818" cy="4751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g3f898105a18_0_120"/>
            <p:cNvSpPr/>
            <p:nvPr/>
          </p:nvSpPr>
          <p:spPr>
            <a:xfrm>
              <a:off x="8899650" y="5617800"/>
              <a:ext cx="3050100" cy="4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" name="Google Shape;232;g3f898105a18_0_120"/>
          <p:cNvGrpSpPr/>
          <p:nvPr/>
        </p:nvGrpSpPr>
        <p:grpSpPr>
          <a:xfrm>
            <a:off x="5542575" y="3169350"/>
            <a:ext cx="6559575" cy="3032550"/>
            <a:chOff x="5390175" y="3016950"/>
            <a:chExt cx="6559575" cy="3032550"/>
          </a:xfrm>
        </p:grpSpPr>
        <p:pic>
          <p:nvPicPr>
            <p:cNvPr id="233" name="Google Shape;233;g3f898105a18_0_120" title="8f710685-45ea-4194-b53b-b3f2c6070ad7.jpg"/>
            <p:cNvPicPr preferRelativeResize="0"/>
            <p:nvPr/>
          </p:nvPicPr>
          <p:blipFill rotWithShape="1">
            <a:blip r:embed="rId7">
              <a:alphaModFix/>
            </a:blip>
            <a:srcRect b="51626" l="45237" r="42515" t="46839"/>
            <a:stretch/>
          </p:blipFill>
          <p:spPr>
            <a:xfrm>
              <a:off x="5390175" y="3016950"/>
              <a:ext cx="1544251" cy="11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g3f898105a18_0_120"/>
            <p:cNvSpPr/>
            <p:nvPr/>
          </p:nvSpPr>
          <p:spPr>
            <a:xfrm>
              <a:off x="8899650" y="5617800"/>
              <a:ext cx="3050100" cy="4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35" name="Google Shape;235;g3f898105a18_0_120" title="8f710685-45ea-4194-b53b-b3f2c6070ad7.jpg"/>
          <p:cNvPicPr preferRelativeResize="0"/>
          <p:nvPr/>
        </p:nvPicPr>
        <p:blipFill rotWithShape="1">
          <a:blip r:embed="rId7">
            <a:alphaModFix/>
          </a:blip>
          <a:srcRect b="51626" l="45237" r="42515" t="46839"/>
          <a:stretch/>
        </p:blipFill>
        <p:spPr>
          <a:xfrm>
            <a:off x="5542575" y="3245000"/>
            <a:ext cx="1544251" cy="11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f898105a18_0_120" title="8f710685-45ea-4194-b53b-b3f2c6070ad7.jpg"/>
          <p:cNvPicPr preferRelativeResize="0"/>
          <p:nvPr/>
        </p:nvPicPr>
        <p:blipFill rotWithShape="1">
          <a:blip r:embed="rId7">
            <a:alphaModFix/>
          </a:blip>
          <a:srcRect b="51626" l="45237" r="42515" t="46839"/>
          <a:stretch/>
        </p:blipFill>
        <p:spPr>
          <a:xfrm>
            <a:off x="5504200" y="3313900"/>
            <a:ext cx="1544251" cy="1150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f898105a18_0_120"/>
          <p:cNvSpPr/>
          <p:nvPr/>
        </p:nvSpPr>
        <p:spPr>
          <a:xfrm>
            <a:off x="274200" y="1337575"/>
            <a:ext cx="3344100" cy="4587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b7f95bdc_0_15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9b7f95bdc_0_155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2"/>
                </a:solidFill>
              </a:rPr>
              <a:t>Motivação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f9b7f95bdc_0_155"/>
          <p:cNvSpPr txBox="1"/>
          <p:nvPr/>
        </p:nvSpPr>
        <p:spPr>
          <a:xfrm>
            <a:off x="658368" y="621792"/>
            <a:ext cx="10875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Modelos generativos</a:t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246" name="Google Shape;246;g3f9b7f95bdc_0_15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f9b7f95bdc_0_15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9b7f95bdc_0_15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f9b7f95bdc_0_15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50" name="Google Shape;250;g3f9b7f95bdc_0_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f9b7f95bdc_0_15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52" name="Google Shape;252;g3f9b7f95bdc_0_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f9b7f95bdc_0_15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54" name="Google Shape;254;g3f9b7f95bdc_0_1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f9b7f95bdc_0_15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56" name="Google Shape;256;g3f9b7f95bdc_0_1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f9b7f95bdc_0_15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f9b7f95bdc_0_155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9" name="Google Shape;259;g3f9b7f95bdc_0_155"/>
          <p:cNvGrpSpPr/>
          <p:nvPr/>
        </p:nvGrpSpPr>
        <p:grpSpPr>
          <a:xfrm>
            <a:off x="353525" y="1298200"/>
            <a:ext cx="11703818" cy="4751300"/>
            <a:chOff x="353525" y="1298200"/>
            <a:chExt cx="11703818" cy="4751300"/>
          </a:xfrm>
        </p:grpSpPr>
        <p:pic>
          <p:nvPicPr>
            <p:cNvPr id="260" name="Google Shape;260;g3f9b7f95bdc_0_155" title="8f710685-45ea-4194-b53b-b3f2c6070ad7.jpg"/>
            <p:cNvPicPr preferRelativeResize="0"/>
            <p:nvPr/>
          </p:nvPicPr>
          <p:blipFill rotWithShape="1">
            <a:blip r:embed="rId7">
              <a:alphaModFix/>
            </a:blip>
            <a:srcRect b="18349" l="4604" r="2571" t="18292"/>
            <a:stretch/>
          </p:blipFill>
          <p:spPr>
            <a:xfrm>
              <a:off x="353525" y="1298200"/>
              <a:ext cx="11703818" cy="4751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g3f9b7f95bdc_0_155"/>
            <p:cNvSpPr/>
            <p:nvPr/>
          </p:nvSpPr>
          <p:spPr>
            <a:xfrm>
              <a:off x="8899650" y="5617800"/>
              <a:ext cx="3050100" cy="4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" name="Google Shape;262;g3f9b7f95bdc_0_155"/>
          <p:cNvGrpSpPr/>
          <p:nvPr/>
        </p:nvGrpSpPr>
        <p:grpSpPr>
          <a:xfrm>
            <a:off x="5542575" y="3169350"/>
            <a:ext cx="6559575" cy="3032550"/>
            <a:chOff x="5390175" y="3016950"/>
            <a:chExt cx="6559575" cy="3032550"/>
          </a:xfrm>
        </p:grpSpPr>
        <p:pic>
          <p:nvPicPr>
            <p:cNvPr id="263" name="Google Shape;263;g3f9b7f95bdc_0_155" title="8f710685-45ea-4194-b53b-b3f2c6070ad7.jpg"/>
            <p:cNvPicPr preferRelativeResize="0"/>
            <p:nvPr/>
          </p:nvPicPr>
          <p:blipFill rotWithShape="1">
            <a:blip r:embed="rId7">
              <a:alphaModFix/>
            </a:blip>
            <a:srcRect b="51626" l="45237" r="42515" t="46839"/>
            <a:stretch/>
          </p:blipFill>
          <p:spPr>
            <a:xfrm>
              <a:off x="5390175" y="3016950"/>
              <a:ext cx="1544251" cy="11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g3f9b7f95bdc_0_155"/>
            <p:cNvSpPr/>
            <p:nvPr/>
          </p:nvSpPr>
          <p:spPr>
            <a:xfrm>
              <a:off x="8899650" y="5617800"/>
              <a:ext cx="3050100" cy="4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5" name="Google Shape;265;g3f9b7f95bdc_0_155" title="8f710685-45ea-4194-b53b-b3f2c6070ad7.jpg"/>
          <p:cNvPicPr preferRelativeResize="0"/>
          <p:nvPr/>
        </p:nvPicPr>
        <p:blipFill rotWithShape="1">
          <a:blip r:embed="rId7">
            <a:alphaModFix/>
          </a:blip>
          <a:srcRect b="51626" l="45237" r="42515" t="46839"/>
          <a:stretch/>
        </p:blipFill>
        <p:spPr>
          <a:xfrm>
            <a:off x="5542575" y="3245000"/>
            <a:ext cx="1544251" cy="11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f9b7f95bdc_0_155" title="8f710685-45ea-4194-b53b-b3f2c6070ad7.jpg"/>
          <p:cNvPicPr preferRelativeResize="0"/>
          <p:nvPr/>
        </p:nvPicPr>
        <p:blipFill rotWithShape="1">
          <a:blip r:embed="rId7">
            <a:alphaModFix/>
          </a:blip>
          <a:srcRect b="51626" l="45237" r="42515" t="46839"/>
          <a:stretch/>
        </p:blipFill>
        <p:spPr>
          <a:xfrm>
            <a:off x="5504200" y="3313900"/>
            <a:ext cx="1544251" cy="11509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f9b7f95bdc_0_155"/>
          <p:cNvSpPr/>
          <p:nvPr/>
        </p:nvSpPr>
        <p:spPr>
          <a:xfrm>
            <a:off x="3426975" y="2480575"/>
            <a:ext cx="5640300" cy="3675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9b7f95bdc_0_18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9b7f95bdc_0_18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2"/>
                </a:solidFill>
              </a:rPr>
              <a:t>Motivação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9b7f95bdc_0_184"/>
          <p:cNvSpPr txBox="1"/>
          <p:nvPr/>
        </p:nvSpPr>
        <p:spPr>
          <a:xfrm>
            <a:off x="658368" y="621792"/>
            <a:ext cx="10875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Modelos generativos</a:t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276" name="Google Shape;276;g3f9b7f95bdc_0_18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9b7f95bdc_0_18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9b7f95bdc_0_18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9b7f95bdc_0_18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80" name="Google Shape;280;g3f9b7f95bdc_0_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f9b7f95bdc_0_18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82" name="Google Shape;282;g3f9b7f95bdc_0_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f9b7f95bdc_0_18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84" name="Google Shape;284;g3f9b7f95bdc_0_1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f9b7f95bdc_0_18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86" name="Google Shape;286;g3f9b7f95bdc_0_1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f9b7f95bdc_0_18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9b7f95bdc_0_184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89" name="Google Shape;289;g3f9b7f95bdc_0_184"/>
          <p:cNvGrpSpPr/>
          <p:nvPr/>
        </p:nvGrpSpPr>
        <p:grpSpPr>
          <a:xfrm>
            <a:off x="353525" y="1298200"/>
            <a:ext cx="11703818" cy="4751300"/>
            <a:chOff x="353525" y="1298200"/>
            <a:chExt cx="11703818" cy="4751300"/>
          </a:xfrm>
        </p:grpSpPr>
        <p:pic>
          <p:nvPicPr>
            <p:cNvPr id="290" name="Google Shape;290;g3f9b7f95bdc_0_184" title="8f710685-45ea-4194-b53b-b3f2c6070ad7.jpg"/>
            <p:cNvPicPr preferRelativeResize="0"/>
            <p:nvPr/>
          </p:nvPicPr>
          <p:blipFill rotWithShape="1">
            <a:blip r:embed="rId7">
              <a:alphaModFix/>
            </a:blip>
            <a:srcRect b="18349" l="4604" r="2571" t="18292"/>
            <a:stretch/>
          </p:blipFill>
          <p:spPr>
            <a:xfrm>
              <a:off x="353525" y="1298200"/>
              <a:ext cx="11703818" cy="4751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g3f9b7f95bdc_0_184"/>
            <p:cNvSpPr/>
            <p:nvPr/>
          </p:nvSpPr>
          <p:spPr>
            <a:xfrm>
              <a:off x="8899650" y="5617800"/>
              <a:ext cx="3050100" cy="4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" name="Google Shape;292;g3f9b7f95bdc_0_184"/>
          <p:cNvGrpSpPr/>
          <p:nvPr/>
        </p:nvGrpSpPr>
        <p:grpSpPr>
          <a:xfrm>
            <a:off x="5542575" y="3169350"/>
            <a:ext cx="6559575" cy="3032550"/>
            <a:chOff x="5390175" y="3016950"/>
            <a:chExt cx="6559575" cy="3032550"/>
          </a:xfrm>
        </p:grpSpPr>
        <p:pic>
          <p:nvPicPr>
            <p:cNvPr id="293" name="Google Shape;293;g3f9b7f95bdc_0_184" title="8f710685-45ea-4194-b53b-b3f2c6070ad7.jpg"/>
            <p:cNvPicPr preferRelativeResize="0"/>
            <p:nvPr/>
          </p:nvPicPr>
          <p:blipFill rotWithShape="1">
            <a:blip r:embed="rId7">
              <a:alphaModFix/>
            </a:blip>
            <a:srcRect b="51626" l="45237" r="42515" t="46839"/>
            <a:stretch/>
          </p:blipFill>
          <p:spPr>
            <a:xfrm>
              <a:off x="5390175" y="3016950"/>
              <a:ext cx="1544251" cy="11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g3f9b7f95bdc_0_184"/>
            <p:cNvSpPr/>
            <p:nvPr/>
          </p:nvSpPr>
          <p:spPr>
            <a:xfrm>
              <a:off x="8899650" y="5617800"/>
              <a:ext cx="3050100" cy="4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95" name="Google Shape;295;g3f9b7f95bdc_0_184" title="8f710685-45ea-4194-b53b-b3f2c6070ad7.jpg"/>
          <p:cNvPicPr preferRelativeResize="0"/>
          <p:nvPr/>
        </p:nvPicPr>
        <p:blipFill rotWithShape="1">
          <a:blip r:embed="rId7">
            <a:alphaModFix/>
          </a:blip>
          <a:srcRect b="51626" l="45237" r="42515" t="46839"/>
          <a:stretch/>
        </p:blipFill>
        <p:spPr>
          <a:xfrm>
            <a:off x="5542575" y="3245000"/>
            <a:ext cx="1544251" cy="11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f9b7f95bdc_0_184" title="8f710685-45ea-4194-b53b-b3f2c6070ad7.jpg"/>
          <p:cNvPicPr preferRelativeResize="0"/>
          <p:nvPr/>
        </p:nvPicPr>
        <p:blipFill rotWithShape="1">
          <a:blip r:embed="rId7">
            <a:alphaModFix/>
          </a:blip>
          <a:srcRect b="51626" l="45237" r="42515" t="46839"/>
          <a:stretch/>
        </p:blipFill>
        <p:spPr>
          <a:xfrm>
            <a:off x="5504200" y="3313900"/>
            <a:ext cx="1544251" cy="1150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f9b7f95bdc_0_184"/>
          <p:cNvSpPr/>
          <p:nvPr/>
        </p:nvSpPr>
        <p:spPr>
          <a:xfrm>
            <a:off x="8812083" y="3023500"/>
            <a:ext cx="3325200" cy="2733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9b7f95bdc_0_6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f9b7f95bdc_0_61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Motivação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9b7f95bdc_0_61"/>
          <p:cNvSpPr txBox="1"/>
          <p:nvPr/>
        </p:nvSpPr>
        <p:spPr>
          <a:xfrm>
            <a:off x="658368" y="621792"/>
            <a:ext cx="10875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Do MalSynGen ao problema de comparação</a:t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306" name="Google Shape;306;g3f9b7f95bdc_0_6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9b7f95bdc_0_6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f9b7f95bdc_0_6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9b7f95bdc_0_6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10" name="Google Shape;310;g3f9b7f95bdc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f9b7f95bdc_0_6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12" name="Google Shape;312;g3f9b7f95bdc_0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f9b7f95bdc_0_6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14" name="Google Shape;314;g3f9b7f95bdc_0_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f9b7f95bdc_0_6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16" name="Google Shape;316;g3f9b7f95bdc_0_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f9b7f95bdc_0_6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9b7f95bdc_0_61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9" name="Google Shape;319;g3f9b7f95bdc_0_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600" y="1833200"/>
            <a:ext cx="5595549" cy="40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f9b7f95bdc_0_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3725" y="1833200"/>
            <a:ext cx="5595549" cy="40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f9b7f95bdc_0_61"/>
          <p:cNvSpPr txBox="1"/>
          <p:nvPr/>
        </p:nvSpPr>
        <p:spPr>
          <a:xfrm>
            <a:off x="649775" y="3030950"/>
            <a:ext cx="51492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A866E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Metodologia de geração de dados sintéticos para malware Android.</a:t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A866E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Busca preservar as propriedades dos dados reais.</a:t>
            </a:r>
            <a:endParaRPr sz="2400">
              <a:solidFill>
                <a:srgbClr val="1A2233"/>
              </a:solidFill>
            </a:endParaRPr>
          </a:p>
        </p:txBody>
      </p:sp>
      <p:sp>
        <p:nvSpPr>
          <p:cNvPr id="322" name="Google Shape;322;g3f9b7f95bdc_0_61"/>
          <p:cNvSpPr txBox="1"/>
          <p:nvPr/>
        </p:nvSpPr>
        <p:spPr>
          <a:xfrm>
            <a:off x="1211002" y="2141726"/>
            <a:ext cx="423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69"/>
                </a:solidFill>
              </a:rPr>
              <a:t>O que é o MalSynGen</a:t>
            </a:r>
            <a:endParaRPr b="1" sz="2400">
              <a:solidFill>
                <a:srgbClr val="0F2369"/>
              </a:solidFill>
            </a:endParaRPr>
          </a:p>
        </p:txBody>
      </p:sp>
      <p:sp>
        <p:nvSpPr>
          <p:cNvPr id="323" name="Google Shape;323;g3f9b7f95bdc_0_61"/>
          <p:cNvSpPr txBox="1"/>
          <p:nvPr/>
        </p:nvSpPr>
        <p:spPr>
          <a:xfrm>
            <a:off x="7247918" y="2151317"/>
            <a:ext cx="423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69"/>
                </a:solidFill>
              </a:rPr>
              <a:t>O problema de comparação</a:t>
            </a:r>
            <a:endParaRPr b="1" sz="2400">
              <a:solidFill>
                <a:srgbClr val="0F2369"/>
              </a:solidFill>
            </a:endParaRPr>
          </a:p>
        </p:txBody>
      </p:sp>
      <p:sp>
        <p:nvSpPr>
          <p:cNvPr id="324" name="Google Shape;324;g3f9b7f95bdc_0_61"/>
          <p:cNvSpPr txBox="1"/>
          <p:nvPr/>
        </p:nvSpPr>
        <p:spPr>
          <a:xfrm>
            <a:off x="6626425" y="3122475"/>
            <a:ext cx="52467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2369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Existem datasets com diferentes níveis de balanceamento.</a:t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2233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2369"/>
                </a:solidFill>
              </a:rPr>
              <a:t>•</a:t>
            </a:r>
            <a:r>
              <a:rPr lang="en-US" sz="2400">
                <a:solidFill>
                  <a:srgbClr val="1A2233"/>
                </a:solidFill>
              </a:rPr>
              <a:t>Compará-las diretamente não é trivial</a:t>
            </a:r>
            <a:endParaRPr sz="2400">
              <a:solidFill>
                <a:srgbClr val="1A2233"/>
              </a:solidFill>
            </a:endParaRPr>
          </a:p>
        </p:txBody>
      </p:sp>
      <p:sp>
        <p:nvSpPr>
          <p:cNvPr id="325" name="Google Shape;325;g3f9b7f95bdc_0_61"/>
          <p:cNvSpPr/>
          <p:nvPr/>
        </p:nvSpPr>
        <p:spPr>
          <a:xfrm>
            <a:off x="6240180" y="1721450"/>
            <a:ext cx="5872800" cy="4203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7428e8dcb_0_30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f7428e8dcb_0_301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MOTIVAÇÃO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7428e8dcb_0_30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34" name="Google Shape;334;g3f7428e8dcb_0_3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f7428e8dcb_0_30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36" name="Google Shape;336;g3f7428e8dcb_0_3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f7428e8dcb_0_30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38" name="Google Shape;338;g3f7428e8dcb_0_3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f7428e8dcb_0_30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40" name="Google Shape;340;g3f7428e8dcb_0_3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f7428e8dcb_0_30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g3f7428e8dcb_0_301"/>
          <p:cNvGrpSpPr/>
          <p:nvPr/>
        </p:nvGrpSpPr>
        <p:grpSpPr>
          <a:xfrm>
            <a:off x="363360" y="274572"/>
            <a:ext cx="11315703" cy="5762634"/>
            <a:chOff x="480073" y="877824"/>
            <a:chExt cx="6652383" cy="3387792"/>
          </a:xfrm>
        </p:grpSpPr>
        <p:sp>
          <p:nvSpPr>
            <p:cNvPr id="343" name="Google Shape;343;g3f7428e8dcb_0_301"/>
            <p:cNvSpPr/>
            <p:nvPr/>
          </p:nvSpPr>
          <p:spPr>
            <a:xfrm>
              <a:off x="3809337" y="877824"/>
              <a:ext cx="5487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5AA8"/>
                </a:buClr>
                <a:buSzPts val="1531"/>
                <a:buFont typeface="Arial"/>
                <a:buNone/>
              </a:pPr>
              <a:r>
                <a:rPr b="1" i="0" lang="en-US" sz="1531" u="none" cap="none" strike="noStrike">
                  <a:solidFill>
                    <a:srgbClr val="1E5AA8"/>
                  </a:solidFill>
                  <a:latin typeface="Arial"/>
                  <a:ea typeface="Arial"/>
                  <a:cs typeface="Arial"/>
                  <a:sym typeface="Arial"/>
                </a:rPr>
                <a:t>Benignos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f7428e8dcb_0_301"/>
            <p:cNvSpPr/>
            <p:nvPr/>
          </p:nvSpPr>
          <p:spPr>
            <a:xfrm>
              <a:off x="4766437" y="877824"/>
              <a:ext cx="685800" cy="137100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59B00"/>
                </a:buClr>
                <a:buSzPts val="1531"/>
                <a:buFont typeface="Arial"/>
                <a:buNone/>
              </a:pPr>
              <a:r>
                <a:rPr b="1" i="0" lang="en-US" sz="1531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Maliciosos</a:t>
              </a:r>
              <a:endParaRPr b="0" i="0" sz="1531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3f7428e8dcb_0_301"/>
            <p:cNvSpPr/>
            <p:nvPr/>
          </p:nvSpPr>
          <p:spPr>
            <a:xfrm>
              <a:off x="3535010" y="891540"/>
              <a:ext cx="192000" cy="822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g3f7428e8dcb_0_301"/>
            <p:cNvSpPr/>
            <p:nvPr/>
          </p:nvSpPr>
          <p:spPr>
            <a:xfrm>
              <a:off x="4492110" y="891540"/>
              <a:ext cx="192000" cy="822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g3f7428e8dcb_0_301"/>
            <p:cNvSpPr/>
            <p:nvPr/>
          </p:nvSpPr>
          <p:spPr>
            <a:xfrm>
              <a:off x="480073" y="1179576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lang="en-US" sz="1701">
                  <a:solidFill>
                    <a:srgbClr val="082044"/>
                  </a:solidFill>
                </a:rPr>
                <a:t>MH</a:t>
              </a: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100k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f7428e8dcb_0_301"/>
            <p:cNvSpPr/>
            <p:nvPr/>
          </p:nvSpPr>
          <p:spPr>
            <a:xfrm>
              <a:off x="2160328" y="1152144"/>
              <a:ext cx="35649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g3f7428e8dcb_0_301"/>
            <p:cNvSpPr/>
            <p:nvPr/>
          </p:nvSpPr>
          <p:spPr>
            <a:xfrm>
              <a:off x="5725211" y="1152144"/>
              <a:ext cx="3786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g3f7428e8dcb_0_301"/>
            <p:cNvSpPr/>
            <p:nvPr/>
          </p:nvSpPr>
          <p:spPr>
            <a:xfrm>
              <a:off x="6206655" y="1165860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90,4% / 9,6%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f7428e8dcb_0_301"/>
            <p:cNvSpPr/>
            <p:nvPr/>
          </p:nvSpPr>
          <p:spPr>
            <a:xfrm>
              <a:off x="480073" y="1474470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KronoDroid Real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f7428e8dcb_0_301"/>
            <p:cNvSpPr/>
            <p:nvPr/>
          </p:nvSpPr>
          <p:spPr>
            <a:xfrm>
              <a:off x="2160328" y="1447038"/>
              <a:ext cx="18534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g3f7428e8dcb_0_301"/>
            <p:cNvSpPr/>
            <p:nvPr/>
          </p:nvSpPr>
          <p:spPr>
            <a:xfrm>
              <a:off x="4013751" y="1447038"/>
              <a:ext cx="20901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g3f7428e8dcb_0_301"/>
            <p:cNvSpPr/>
            <p:nvPr/>
          </p:nvSpPr>
          <p:spPr>
            <a:xfrm>
              <a:off x="6206655" y="1460754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47,0% / 53,0%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f7428e8dcb_0_301"/>
            <p:cNvSpPr/>
            <p:nvPr/>
          </p:nvSpPr>
          <p:spPr>
            <a:xfrm>
              <a:off x="480073" y="1769364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KronoDroid Emul.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f7428e8dcb_0_301"/>
            <p:cNvSpPr/>
            <p:nvPr/>
          </p:nvSpPr>
          <p:spPr>
            <a:xfrm>
              <a:off x="2160328" y="1741932"/>
              <a:ext cx="21729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g3f7428e8dcb_0_301"/>
            <p:cNvSpPr/>
            <p:nvPr/>
          </p:nvSpPr>
          <p:spPr>
            <a:xfrm>
              <a:off x="4333172" y="1741932"/>
              <a:ext cx="17706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g3f7428e8dcb_0_301"/>
            <p:cNvSpPr/>
            <p:nvPr/>
          </p:nvSpPr>
          <p:spPr>
            <a:xfrm>
              <a:off x="6206655" y="1755648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55,1% / 44,9%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f7428e8dcb_0_301"/>
            <p:cNvSpPr/>
            <p:nvPr/>
          </p:nvSpPr>
          <p:spPr>
            <a:xfrm>
              <a:off x="480073" y="2064258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DREBIN-215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f7428e8dcb_0_301"/>
            <p:cNvSpPr/>
            <p:nvPr/>
          </p:nvSpPr>
          <p:spPr>
            <a:xfrm>
              <a:off x="2160328" y="2036826"/>
              <a:ext cx="24843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g3f7428e8dcb_0_301"/>
            <p:cNvSpPr/>
            <p:nvPr/>
          </p:nvSpPr>
          <p:spPr>
            <a:xfrm>
              <a:off x="4644704" y="2036826"/>
              <a:ext cx="14592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g3f7428e8dcb_0_301"/>
            <p:cNvSpPr/>
            <p:nvPr/>
          </p:nvSpPr>
          <p:spPr>
            <a:xfrm>
              <a:off x="6206655" y="2050542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63,0% / 37,0%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3f7428e8dcb_0_301"/>
            <p:cNvSpPr/>
            <p:nvPr/>
          </p:nvSpPr>
          <p:spPr>
            <a:xfrm>
              <a:off x="480073" y="2359152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DefenseDroid PRS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3f7428e8dcb_0_301"/>
            <p:cNvSpPr/>
            <p:nvPr/>
          </p:nvSpPr>
          <p:spPr>
            <a:xfrm>
              <a:off x="2160328" y="2331720"/>
              <a:ext cx="19677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g3f7428e8dcb_0_301"/>
            <p:cNvSpPr/>
            <p:nvPr/>
          </p:nvSpPr>
          <p:spPr>
            <a:xfrm>
              <a:off x="4128112" y="2331720"/>
              <a:ext cx="19758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g3f7428e8dcb_0_301"/>
            <p:cNvSpPr/>
            <p:nvPr/>
          </p:nvSpPr>
          <p:spPr>
            <a:xfrm>
              <a:off x="6206655" y="2345436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49,9% / 50,1%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3f7428e8dcb_0_301"/>
            <p:cNvSpPr/>
            <p:nvPr/>
          </p:nvSpPr>
          <p:spPr>
            <a:xfrm>
              <a:off x="480073" y="2654046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DD API Katz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3f7428e8dcb_0_301"/>
            <p:cNvSpPr/>
            <p:nvPr/>
          </p:nvSpPr>
          <p:spPr>
            <a:xfrm>
              <a:off x="2160328" y="2626614"/>
              <a:ext cx="19638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g3f7428e8dcb_0_301"/>
            <p:cNvSpPr/>
            <p:nvPr/>
          </p:nvSpPr>
          <p:spPr>
            <a:xfrm>
              <a:off x="4124168" y="2626614"/>
              <a:ext cx="19797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g3f7428e8dcb_0_301"/>
            <p:cNvSpPr/>
            <p:nvPr/>
          </p:nvSpPr>
          <p:spPr>
            <a:xfrm>
              <a:off x="6206655" y="2640330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49,8% / 50,2%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3f7428e8dcb_0_301"/>
            <p:cNvSpPr/>
            <p:nvPr/>
          </p:nvSpPr>
          <p:spPr>
            <a:xfrm>
              <a:off x="480073" y="2948940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DD API Degree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3f7428e8dcb_0_301"/>
            <p:cNvSpPr/>
            <p:nvPr/>
          </p:nvSpPr>
          <p:spPr>
            <a:xfrm>
              <a:off x="2160328" y="2921508"/>
              <a:ext cx="19638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g3f7428e8dcb_0_301"/>
            <p:cNvSpPr/>
            <p:nvPr/>
          </p:nvSpPr>
          <p:spPr>
            <a:xfrm>
              <a:off x="4124168" y="2921508"/>
              <a:ext cx="19797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g3f7428e8dcb_0_301"/>
            <p:cNvSpPr/>
            <p:nvPr/>
          </p:nvSpPr>
          <p:spPr>
            <a:xfrm>
              <a:off x="6206655" y="2935224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49,8% / 50,2%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f7428e8dcb_0_301"/>
            <p:cNvSpPr/>
            <p:nvPr/>
          </p:nvSpPr>
          <p:spPr>
            <a:xfrm>
              <a:off x="480073" y="3243834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DD API Closeness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3f7428e8dcb_0_301"/>
            <p:cNvSpPr/>
            <p:nvPr/>
          </p:nvSpPr>
          <p:spPr>
            <a:xfrm>
              <a:off x="2160328" y="3216402"/>
              <a:ext cx="19638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g3f7428e8dcb_0_301"/>
            <p:cNvSpPr/>
            <p:nvPr/>
          </p:nvSpPr>
          <p:spPr>
            <a:xfrm>
              <a:off x="4124168" y="3216402"/>
              <a:ext cx="19797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g3f7428e8dcb_0_301"/>
            <p:cNvSpPr/>
            <p:nvPr/>
          </p:nvSpPr>
          <p:spPr>
            <a:xfrm>
              <a:off x="6206655" y="3230118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49,8% / 50,2%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3f7428e8dcb_0_301"/>
            <p:cNvSpPr/>
            <p:nvPr/>
          </p:nvSpPr>
          <p:spPr>
            <a:xfrm>
              <a:off x="480073" y="3538728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Android Perm.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f7428e8dcb_0_301"/>
            <p:cNvSpPr/>
            <p:nvPr/>
          </p:nvSpPr>
          <p:spPr>
            <a:xfrm>
              <a:off x="2160328" y="3511296"/>
              <a:ext cx="13329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g3f7428e8dcb_0_301"/>
            <p:cNvSpPr/>
            <p:nvPr/>
          </p:nvSpPr>
          <p:spPr>
            <a:xfrm>
              <a:off x="3493215" y="3511296"/>
              <a:ext cx="26106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g3f7428e8dcb_0_301"/>
            <p:cNvSpPr/>
            <p:nvPr/>
          </p:nvSpPr>
          <p:spPr>
            <a:xfrm>
              <a:off x="6206655" y="3525012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33,8% / 66,2%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f7428e8dcb_0_301"/>
            <p:cNvSpPr/>
            <p:nvPr/>
          </p:nvSpPr>
          <p:spPr>
            <a:xfrm>
              <a:off x="480073" y="3833622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AndroCrawl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f7428e8dcb_0_301"/>
            <p:cNvSpPr/>
            <p:nvPr/>
          </p:nvSpPr>
          <p:spPr>
            <a:xfrm>
              <a:off x="2160328" y="3806190"/>
              <a:ext cx="35295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g3f7428e8dcb_0_301"/>
            <p:cNvSpPr/>
            <p:nvPr/>
          </p:nvSpPr>
          <p:spPr>
            <a:xfrm>
              <a:off x="5689720" y="3806190"/>
              <a:ext cx="4140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g3f7428e8dcb_0_301"/>
            <p:cNvSpPr/>
            <p:nvPr/>
          </p:nvSpPr>
          <p:spPr>
            <a:xfrm>
              <a:off x="6206655" y="3819906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89,5% / 10,5%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f7428e8dcb_0_301"/>
            <p:cNvSpPr/>
            <p:nvPr/>
          </p:nvSpPr>
          <p:spPr>
            <a:xfrm>
              <a:off x="480073" y="4128516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Adroit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f7428e8dcb_0_301"/>
            <p:cNvSpPr/>
            <p:nvPr/>
          </p:nvSpPr>
          <p:spPr>
            <a:xfrm>
              <a:off x="2160328" y="4101084"/>
              <a:ext cx="27684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g3f7428e8dcb_0_301"/>
            <p:cNvSpPr/>
            <p:nvPr/>
          </p:nvSpPr>
          <p:spPr>
            <a:xfrm>
              <a:off x="4928633" y="4101084"/>
              <a:ext cx="11751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g3f7428e8dcb_0_301"/>
            <p:cNvSpPr/>
            <p:nvPr/>
          </p:nvSpPr>
          <p:spPr>
            <a:xfrm>
              <a:off x="6206655" y="4114800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70,2% / 29,8%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" name="Google Shape;391;g3f7428e8dcb_0_301"/>
          <p:cNvSpPr/>
          <p:nvPr/>
        </p:nvSpPr>
        <p:spPr>
          <a:xfrm>
            <a:off x="2740975" y="2570225"/>
            <a:ext cx="3414600" cy="1962000"/>
          </a:xfrm>
          <a:prstGeom prst="wedgeRoundRectCallout">
            <a:avLst>
              <a:gd fmla="val 72216" name="adj1"/>
              <a:gd fmla="val -54174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142875" rotWithShape="0" algn="bl" dir="780000" dist="85725">
              <a:srgbClr val="000000">
                <a:alpha val="502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Muitos datasets são desbalanceados </a:t>
            </a:r>
            <a:endParaRPr b="1" i="0" sz="27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92" name="Google Shape;392;g3f7428e8dcb_0_301"/>
          <p:cNvSpPr/>
          <p:nvPr/>
        </p:nvSpPr>
        <p:spPr>
          <a:xfrm>
            <a:off x="2971550" y="581150"/>
            <a:ext cx="7175100" cy="2064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g3f7428e8dcb_0_301"/>
          <p:cNvSpPr/>
          <p:nvPr/>
        </p:nvSpPr>
        <p:spPr>
          <a:xfrm>
            <a:off x="2771000" y="4506000"/>
            <a:ext cx="7175100" cy="1588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g3f7428e8dcb_0_301"/>
          <p:cNvSpPr/>
          <p:nvPr/>
        </p:nvSpPr>
        <p:spPr>
          <a:xfrm>
            <a:off x="2740975" y="2570225"/>
            <a:ext cx="3414600" cy="1962000"/>
          </a:xfrm>
          <a:prstGeom prst="wedgeRoundRectCallout">
            <a:avLst>
              <a:gd fmla="val 72498" name="adj1"/>
              <a:gd fmla="val 55333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142875" rotWithShape="0" algn="bl" dir="780000" dist="85725">
              <a:srgbClr val="000000">
                <a:alpha val="502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  <a:extLst>
                <a:ext uri="http://customooxmlschemas.google.com/">
                  <go:slidesCustomData xmlns:go="http://customooxmlschemas.google.com/" textRoundtripDataId="0"/>
                </a:ext>
              </a:extLs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Muitos datasets são desbalanceados </a:t>
            </a:r>
            <a:endParaRPr b="1" i="0" sz="27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  <a:extLst>
                <a:ext uri="http://customooxmlschemas.google.com/">
                  <go:slidesCustomData xmlns:go="http://customooxmlschemas.google.com/" textRoundtripDataId="2"/>
                </a:ext>
              </a:extLs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95" name="Google Shape;395;g3f7428e8dcb_0_301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7428e8dcb_0_47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f7428e8dcb_0_471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MOTIVAÇÃO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7428e8dcb_0_47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04" name="Google Shape;404;g3f7428e8dcb_0_4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f7428e8dcb_0_47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06" name="Google Shape;406;g3f7428e8dcb_0_4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f7428e8dcb_0_47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08" name="Google Shape;408;g3f7428e8dcb_0_4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f7428e8dcb_0_47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10" name="Google Shape;410;g3f7428e8dcb_0_4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f7428e8dcb_0_47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2" name="Google Shape;412;g3f7428e8dcb_0_471"/>
          <p:cNvGrpSpPr/>
          <p:nvPr/>
        </p:nvGrpSpPr>
        <p:grpSpPr>
          <a:xfrm>
            <a:off x="363360" y="274572"/>
            <a:ext cx="11315703" cy="5762634"/>
            <a:chOff x="480073" y="877824"/>
            <a:chExt cx="6652383" cy="3387792"/>
          </a:xfrm>
        </p:grpSpPr>
        <p:sp>
          <p:nvSpPr>
            <p:cNvPr id="413" name="Google Shape;413;g3f7428e8dcb_0_471"/>
            <p:cNvSpPr/>
            <p:nvPr/>
          </p:nvSpPr>
          <p:spPr>
            <a:xfrm>
              <a:off x="3809337" y="877824"/>
              <a:ext cx="5487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5AA8"/>
                </a:buClr>
                <a:buSzPts val="1531"/>
                <a:buFont typeface="Arial"/>
                <a:buNone/>
              </a:pPr>
              <a:r>
                <a:rPr b="1" i="0" lang="en-US" sz="1531" u="none" cap="none" strike="noStrike">
                  <a:solidFill>
                    <a:srgbClr val="1E5AA8"/>
                  </a:solidFill>
                  <a:latin typeface="Arial"/>
                  <a:ea typeface="Arial"/>
                  <a:cs typeface="Arial"/>
                  <a:sym typeface="Arial"/>
                </a:rPr>
                <a:t>Benignos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f7428e8dcb_0_471"/>
            <p:cNvSpPr/>
            <p:nvPr/>
          </p:nvSpPr>
          <p:spPr>
            <a:xfrm>
              <a:off x="4766437" y="877824"/>
              <a:ext cx="685800" cy="137100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59B00"/>
                </a:buClr>
                <a:buSzPts val="1531"/>
                <a:buFont typeface="Arial"/>
                <a:buNone/>
              </a:pPr>
              <a:r>
                <a:rPr b="1" i="0" lang="en-US" sz="1531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Maliciosos</a:t>
              </a:r>
              <a:endParaRPr b="0" i="0" sz="1531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f7428e8dcb_0_471"/>
            <p:cNvSpPr/>
            <p:nvPr/>
          </p:nvSpPr>
          <p:spPr>
            <a:xfrm>
              <a:off x="3535010" y="891540"/>
              <a:ext cx="192000" cy="822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g3f7428e8dcb_0_471"/>
            <p:cNvSpPr/>
            <p:nvPr/>
          </p:nvSpPr>
          <p:spPr>
            <a:xfrm>
              <a:off x="4492110" y="891540"/>
              <a:ext cx="192000" cy="822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g3f7428e8dcb_0_471"/>
            <p:cNvSpPr/>
            <p:nvPr/>
          </p:nvSpPr>
          <p:spPr>
            <a:xfrm>
              <a:off x="480073" y="1179576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lang="en-US" sz="1701">
                  <a:solidFill>
                    <a:srgbClr val="082044"/>
                  </a:solidFill>
                </a:rPr>
                <a:t>MH</a:t>
              </a: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100k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f7428e8dcb_0_471"/>
            <p:cNvSpPr/>
            <p:nvPr/>
          </p:nvSpPr>
          <p:spPr>
            <a:xfrm>
              <a:off x="2160328" y="1152144"/>
              <a:ext cx="35649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g3f7428e8dcb_0_471"/>
            <p:cNvSpPr/>
            <p:nvPr/>
          </p:nvSpPr>
          <p:spPr>
            <a:xfrm>
              <a:off x="5725211" y="1152144"/>
              <a:ext cx="3786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g3f7428e8dcb_0_471"/>
            <p:cNvSpPr/>
            <p:nvPr/>
          </p:nvSpPr>
          <p:spPr>
            <a:xfrm>
              <a:off x="6206655" y="1165860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90,4% / 9,6%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f7428e8dcb_0_471"/>
            <p:cNvSpPr/>
            <p:nvPr/>
          </p:nvSpPr>
          <p:spPr>
            <a:xfrm>
              <a:off x="480073" y="1474470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KronoDroid Real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f7428e8dcb_0_471"/>
            <p:cNvSpPr/>
            <p:nvPr/>
          </p:nvSpPr>
          <p:spPr>
            <a:xfrm>
              <a:off x="2160328" y="1447038"/>
              <a:ext cx="18534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g3f7428e8dcb_0_471"/>
            <p:cNvSpPr/>
            <p:nvPr/>
          </p:nvSpPr>
          <p:spPr>
            <a:xfrm>
              <a:off x="4013751" y="1447038"/>
              <a:ext cx="20901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g3f7428e8dcb_0_471"/>
            <p:cNvSpPr/>
            <p:nvPr/>
          </p:nvSpPr>
          <p:spPr>
            <a:xfrm>
              <a:off x="6206655" y="1460754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47,0% / 53,0%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f7428e8dcb_0_471"/>
            <p:cNvSpPr/>
            <p:nvPr/>
          </p:nvSpPr>
          <p:spPr>
            <a:xfrm>
              <a:off x="480073" y="1769364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KronoDroid Emul.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f7428e8dcb_0_471"/>
            <p:cNvSpPr/>
            <p:nvPr/>
          </p:nvSpPr>
          <p:spPr>
            <a:xfrm>
              <a:off x="2160328" y="1741932"/>
              <a:ext cx="21729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g3f7428e8dcb_0_471"/>
            <p:cNvSpPr/>
            <p:nvPr/>
          </p:nvSpPr>
          <p:spPr>
            <a:xfrm>
              <a:off x="4333172" y="1741932"/>
              <a:ext cx="17706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g3f7428e8dcb_0_471"/>
            <p:cNvSpPr/>
            <p:nvPr/>
          </p:nvSpPr>
          <p:spPr>
            <a:xfrm>
              <a:off x="6206655" y="1755648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55,1% / 44,9%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f7428e8dcb_0_471"/>
            <p:cNvSpPr/>
            <p:nvPr/>
          </p:nvSpPr>
          <p:spPr>
            <a:xfrm>
              <a:off x="480073" y="2064258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DREBIN-215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f7428e8dcb_0_471"/>
            <p:cNvSpPr/>
            <p:nvPr/>
          </p:nvSpPr>
          <p:spPr>
            <a:xfrm>
              <a:off x="2160328" y="2036826"/>
              <a:ext cx="24843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g3f7428e8dcb_0_471"/>
            <p:cNvSpPr/>
            <p:nvPr/>
          </p:nvSpPr>
          <p:spPr>
            <a:xfrm>
              <a:off x="4644704" y="2036826"/>
              <a:ext cx="14592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g3f7428e8dcb_0_471"/>
            <p:cNvSpPr/>
            <p:nvPr/>
          </p:nvSpPr>
          <p:spPr>
            <a:xfrm>
              <a:off x="6206655" y="2050542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63,0% / 37,0%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f7428e8dcb_0_471"/>
            <p:cNvSpPr/>
            <p:nvPr/>
          </p:nvSpPr>
          <p:spPr>
            <a:xfrm>
              <a:off x="480073" y="2359152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DefenseDroid PRS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f7428e8dcb_0_471"/>
            <p:cNvSpPr/>
            <p:nvPr/>
          </p:nvSpPr>
          <p:spPr>
            <a:xfrm>
              <a:off x="2160328" y="2331720"/>
              <a:ext cx="19677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g3f7428e8dcb_0_471"/>
            <p:cNvSpPr/>
            <p:nvPr/>
          </p:nvSpPr>
          <p:spPr>
            <a:xfrm>
              <a:off x="4128112" y="2331720"/>
              <a:ext cx="19758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g3f7428e8dcb_0_471"/>
            <p:cNvSpPr/>
            <p:nvPr/>
          </p:nvSpPr>
          <p:spPr>
            <a:xfrm>
              <a:off x="6206655" y="2345436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49,9% / 50,1%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f7428e8dcb_0_471"/>
            <p:cNvSpPr/>
            <p:nvPr/>
          </p:nvSpPr>
          <p:spPr>
            <a:xfrm>
              <a:off x="480073" y="2654046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DD API Katz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f7428e8dcb_0_471"/>
            <p:cNvSpPr/>
            <p:nvPr/>
          </p:nvSpPr>
          <p:spPr>
            <a:xfrm>
              <a:off x="2160328" y="2626614"/>
              <a:ext cx="19638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g3f7428e8dcb_0_471"/>
            <p:cNvSpPr/>
            <p:nvPr/>
          </p:nvSpPr>
          <p:spPr>
            <a:xfrm>
              <a:off x="4124168" y="2626614"/>
              <a:ext cx="19797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g3f7428e8dcb_0_471"/>
            <p:cNvSpPr/>
            <p:nvPr/>
          </p:nvSpPr>
          <p:spPr>
            <a:xfrm>
              <a:off x="6206655" y="2640330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49,8% / 50,2%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3f7428e8dcb_0_471"/>
            <p:cNvSpPr/>
            <p:nvPr/>
          </p:nvSpPr>
          <p:spPr>
            <a:xfrm>
              <a:off x="480073" y="2948940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DD API Degree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3f7428e8dcb_0_471"/>
            <p:cNvSpPr/>
            <p:nvPr/>
          </p:nvSpPr>
          <p:spPr>
            <a:xfrm>
              <a:off x="2160328" y="2921508"/>
              <a:ext cx="19638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g3f7428e8dcb_0_471"/>
            <p:cNvSpPr/>
            <p:nvPr/>
          </p:nvSpPr>
          <p:spPr>
            <a:xfrm>
              <a:off x="4124168" y="2921508"/>
              <a:ext cx="19797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g3f7428e8dcb_0_471"/>
            <p:cNvSpPr/>
            <p:nvPr/>
          </p:nvSpPr>
          <p:spPr>
            <a:xfrm>
              <a:off x="6206655" y="2935224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49,8% / 50,2%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f7428e8dcb_0_471"/>
            <p:cNvSpPr/>
            <p:nvPr/>
          </p:nvSpPr>
          <p:spPr>
            <a:xfrm>
              <a:off x="480073" y="3243834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DD API Closeness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f7428e8dcb_0_471"/>
            <p:cNvSpPr/>
            <p:nvPr/>
          </p:nvSpPr>
          <p:spPr>
            <a:xfrm>
              <a:off x="2160328" y="3216402"/>
              <a:ext cx="19638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g3f7428e8dcb_0_471"/>
            <p:cNvSpPr/>
            <p:nvPr/>
          </p:nvSpPr>
          <p:spPr>
            <a:xfrm>
              <a:off x="4124168" y="3216402"/>
              <a:ext cx="19797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g3f7428e8dcb_0_471"/>
            <p:cNvSpPr/>
            <p:nvPr/>
          </p:nvSpPr>
          <p:spPr>
            <a:xfrm>
              <a:off x="6206655" y="3230118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49,8% / 50,2%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f7428e8dcb_0_471"/>
            <p:cNvSpPr/>
            <p:nvPr/>
          </p:nvSpPr>
          <p:spPr>
            <a:xfrm>
              <a:off x="480073" y="3538728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Android Perm.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f7428e8dcb_0_471"/>
            <p:cNvSpPr/>
            <p:nvPr/>
          </p:nvSpPr>
          <p:spPr>
            <a:xfrm>
              <a:off x="2160328" y="3511296"/>
              <a:ext cx="13329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g3f7428e8dcb_0_471"/>
            <p:cNvSpPr/>
            <p:nvPr/>
          </p:nvSpPr>
          <p:spPr>
            <a:xfrm>
              <a:off x="3493215" y="3511296"/>
              <a:ext cx="26106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g3f7428e8dcb_0_471"/>
            <p:cNvSpPr/>
            <p:nvPr/>
          </p:nvSpPr>
          <p:spPr>
            <a:xfrm>
              <a:off x="6206655" y="3525012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33,8% / 66,2%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f7428e8dcb_0_471"/>
            <p:cNvSpPr/>
            <p:nvPr/>
          </p:nvSpPr>
          <p:spPr>
            <a:xfrm>
              <a:off x="480073" y="3833622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AndroCrawl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3f7428e8dcb_0_471"/>
            <p:cNvSpPr/>
            <p:nvPr/>
          </p:nvSpPr>
          <p:spPr>
            <a:xfrm>
              <a:off x="2160328" y="3806190"/>
              <a:ext cx="35295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g3f7428e8dcb_0_471"/>
            <p:cNvSpPr/>
            <p:nvPr/>
          </p:nvSpPr>
          <p:spPr>
            <a:xfrm>
              <a:off x="5689720" y="3806190"/>
              <a:ext cx="4140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g3f7428e8dcb_0_471"/>
            <p:cNvSpPr/>
            <p:nvPr/>
          </p:nvSpPr>
          <p:spPr>
            <a:xfrm>
              <a:off x="6206655" y="3819906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89,5% / 10,5%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3f7428e8dcb_0_471"/>
            <p:cNvSpPr/>
            <p:nvPr/>
          </p:nvSpPr>
          <p:spPr>
            <a:xfrm>
              <a:off x="480073" y="4128516"/>
              <a:ext cx="14745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044"/>
                </a:buClr>
                <a:buSzPts val="1701"/>
                <a:buFont typeface="Arial"/>
                <a:buNone/>
              </a:pPr>
              <a:r>
                <a:rPr b="1" i="0" lang="en-US" sz="1701" u="none" cap="none" strike="noStrike">
                  <a:solidFill>
                    <a:srgbClr val="082044"/>
                  </a:solidFill>
                  <a:latin typeface="Arial"/>
                  <a:ea typeface="Arial"/>
                  <a:cs typeface="Arial"/>
                  <a:sym typeface="Arial"/>
                </a:rPr>
                <a:t>Adroit</a:t>
              </a:r>
              <a:endParaRPr b="0" i="0" sz="17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3f7428e8dcb_0_471"/>
            <p:cNvSpPr/>
            <p:nvPr/>
          </p:nvSpPr>
          <p:spPr>
            <a:xfrm>
              <a:off x="2160328" y="4101084"/>
              <a:ext cx="2768400" cy="150900"/>
            </a:xfrm>
            <a:prstGeom prst="rect">
              <a:avLst/>
            </a:prstGeom>
            <a:solidFill>
              <a:srgbClr val="1E5AA8"/>
            </a:solidFill>
            <a:ln cap="flat" cmpd="sng" w="21575">
              <a:solidFill>
                <a:srgbClr val="1E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g3f7428e8dcb_0_471"/>
            <p:cNvSpPr/>
            <p:nvPr/>
          </p:nvSpPr>
          <p:spPr>
            <a:xfrm>
              <a:off x="4928633" y="4101084"/>
              <a:ext cx="1175100" cy="150900"/>
            </a:xfrm>
            <a:prstGeom prst="rect">
              <a:avLst/>
            </a:prstGeom>
            <a:solidFill>
              <a:srgbClr val="A5A5A5"/>
            </a:solidFill>
            <a:ln cap="flat" cmpd="sng" w="21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75" lIns="116675" spcFirstLastPara="1" rIns="116675" wrap="square" tIns="116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g3f7428e8dcb_0_471"/>
            <p:cNvSpPr/>
            <p:nvPr/>
          </p:nvSpPr>
          <p:spPr>
            <a:xfrm>
              <a:off x="6206655" y="4114800"/>
              <a:ext cx="925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31"/>
                <a:buFont typeface="Arial"/>
                <a:buNone/>
              </a:pPr>
              <a:r>
                <a:rPr b="0" i="0" lang="en-US" sz="1531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70,2% / 29,8%</a:t>
              </a:r>
              <a:endParaRPr b="0" i="0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g3f7428e8dcb_0_471"/>
          <p:cNvSpPr/>
          <p:nvPr/>
        </p:nvSpPr>
        <p:spPr>
          <a:xfrm>
            <a:off x="2740975" y="2570225"/>
            <a:ext cx="3414600" cy="1962000"/>
          </a:xfrm>
          <a:prstGeom prst="wedgeRoundRectCallout">
            <a:avLst>
              <a:gd fmla="val 72216" name="adj1"/>
              <a:gd fmla="val -54174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142875" rotWithShape="0" algn="bl" dir="780000" dist="85725">
              <a:srgbClr val="000000">
                <a:alpha val="502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Muitos datasets são desbalanceados </a:t>
            </a:r>
            <a:endParaRPr b="1" i="0" sz="27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2" name="Google Shape;462;g3f7428e8dcb_0_471"/>
          <p:cNvSpPr/>
          <p:nvPr/>
        </p:nvSpPr>
        <p:spPr>
          <a:xfrm>
            <a:off x="2771000" y="4506000"/>
            <a:ext cx="7175100" cy="1588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g3f7428e8dcb_0_471"/>
          <p:cNvSpPr/>
          <p:nvPr/>
        </p:nvSpPr>
        <p:spPr>
          <a:xfrm>
            <a:off x="2740975" y="2570225"/>
            <a:ext cx="3414600" cy="1962000"/>
          </a:xfrm>
          <a:prstGeom prst="wedgeRoundRectCallout">
            <a:avLst>
              <a:gd fmla="val 72498" name="adj1"/>
              <a:gd fmla="val 55333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142875" rotWithShape="0" algn="bl" dir="780000" dist="85725">
              <a:srgbClr val="000000">
                <a:alpha val="502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  <a:extLst>
                <a:ext uri="http://customooxmlschemas.google.com/">
                  <go:slidesCustomData xmlns:go="http://customooxmlschemas.google.com/" textRoundtripDataId="3"/>
                </a:ext>
              </a:extLs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O que pode enviesar o modelo</a:t>
            </a:r>
            <a:endParaRPr b="1" sz="2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  <a:extLst>
                <a:ext uri="http://customooxmlschemas.google.com/">
                  <go:slidesCustomData xmlns:go="http://customooxmlschemas.google.com/" textRoundtripDataId="5"/>
                </a:ext>
              </a:extLs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4" name="Google Shape;464;g3f7428e8dcb_0_471"/>
          <p:cNvSpPr/>
          <p:nvPr/>
        </p:nvSpPr>
        <p:spPr>
          <a:xfrm>
            <a:off x="2971550" y="581150"/>
            <a:ext cx="7175100" cy="2064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g3f7428e8dcb_0_471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7428e8dcb_0_21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f7428e8dcb_0_21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73" name="Google Shape;473;g3f7428e8dcb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f7428e8dcb_0_21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75" name="Google Shape;475;g3f7428e8dcb_0_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f7428e8dcb_0_21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77" name="Google Shape;477;g3f7428e8dcb_0_2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f7428e8dcb_0_21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79" name="Google Shape;479;g3f7428e8dcb_0_2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f7428e8dcb_0_21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7428e8dcb_0_217"/>
          <p:cNvSpPr/>
          <p:nvPr/>
        </p:nvSpPr>
        <p:spPr>
          <a:xfrm>
            <a:off x="418800" y="227568"/>
            <a:ext cx="109707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Undersampling (Subamostragem)</a:t>
            </a:r>
            <a:endParaRPr b="1" sz="2700">
              <a:solidFill>
                <a:srgbClr val="082044"/>
              </a:solidFill>
            </a:endParaRPr>
          </a:p>
        </p:txBody>
      </p:sp>
      <p:sp>
        <p:nvSpPr>
          <p:cNvPr id="482" name="Google Shape;482;g3f7428e8dcb_0_217"/>
          <p:cNvSpPr txBox="1"/>
          <p:nvPr/>
        </p:nvSpPr>
        <p:spPr>
          <a:xfrm>
            <a:off x="659525" y="1356275"/>
            <a:ext cx="49557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O que faz:</a:t>
            </a:r>
            <a:r>
              <a:rPr lang="en-US" sz="2700">
                <a:solidFill>
                  <a:schemeClr val="dk1"/>
                </a:solidFill>
              </a:rPr>
              <a:t> Reduz o número de instâncias da classe majoritária.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Objetivo:</a:t>
            </a:r>
            <a:r>
              <a:rPr lang="en-US" sz="2700">
                <a:solidFill>
                  <a:schemeClr val="dk1"/>
                </a:solidFill>
              </a:rPr>
              <a:t> Equalizar a proporção em relação à classe minoritária.</a:t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483" name="Google Shape;483;g3f7428e8dcb_0_217" title="Gemini_Generated_Image_2n70se2n70se2n70.jpg"/>
          <p:cNvPicPr preferRelativeResize="0"/>
          <p:nvPr/>
        </p:nvPicPr>
        <p:blipFill rotWithShape="1">
          <a:blip r:embed="rId7">
            <a:alphaModFix/>
          </a:blip>
          <a:srcRect b="0" l="0" r="51607" t="25788"/>
          <a:stretch/>
        </p:blipFill>
        <p:spPr>
          <a:xfrm>
            <a:off x="5879525" y="1432763"/>
            <a:ext cx="5898598" cy="4276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f7428e8dcb_0_217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83fd16906_0_5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f83fd16906_0_5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92" name="Google Shape;492;g3f83fd16906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g3f83fd16906_0_5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94" name="Google Shape;494;g3f83fd16906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f83fd16906_0_5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96" name="Google Shape;496;g3f83fd16906_0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f83fd16906_0_5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98" name="Google Shape;498;g3f83fd16906_0_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f83fd16906_0_5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83fd16906_0_52"/>
          <p:cNvSpPr/>
          <p:nvPr/>
        </p:nvSpPr>
        <p:spPr>
          <a:xfrm>
            <a:off x="418800" y="227568"/>
            <a:ext cx="109707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982"/>
              <a:buFont typeface="Trebuchet MS"/>
              <a:buNone/>
            </a:pPr>
            <a:r>
              <a:rPr b="1" lang="en-US" sz="2982">
                <a:solidFill>
                  <a:srgbClr val="1F2328"/>
                </a:solidFill>
              </a:rPr>
              <a:t>Oversampling (Sobreamostragem)</a:t>
            </a:r>
            <a:endParaRPr b="1" sz="2700">
              <a:solidFill>
                <a:srgbClr val="082044"/>
              </a:solidFill>
            </a:endParaRPr>
          </a:p>
        </p:txBody>
      </p:sp>
      <p:sp>
        <p:nvSpPr>
          <p:cNvPr id="501" name="Google Shape;501;g3f83fd16906_0_52"/>
          <p:cNvSpPr txBox="1"/>
          <p:nvPr/>
        </p:nvSpPr>
        <p:spPr>
          <a:xfrm>
            <a:off x="577874" y="1397875"/>
            <a:ext cx="52590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O que faz:</a:t>
            </a:r>
            <a:r>
              <a:rPr lang="en-US" sz="2700">
                <a:solidFill>
                  <a:schemeClr val="dk1"/>
                </a:solidFill>
              </a:rPr>
              <a:t> Aumenta ou gera novas instâncias sintéticas da classe minoritária.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Objetivo:</a:t>
            </a:r>
            <a:r>
              <a:rPr lang="en-US" sz="2700">
                <a:solidFill>
                  <a:schemeClr val="dk1"/>
                </a:solidFill>
              </a:rPr>
              <a:t> Garantir maior representatividade de amostras críticas.</a:t>
            </a:r>
            <a:endParaRPr b="1" sz="2700">
              <a:solidFill>
                <a:schemeClr val="dk1"/>
              </a:solidFill>
            </a:endParaRPr>
          </a:p>
        </p:txBody>
      </p:sp>
      <p:pic>
        <p:nvPicPr>
          <p:cNvPr id="502" name="Google Shape;502;g3f83fd16906_0_52" title="Gemini_Generated_Image_2n70se2n70se2n70.jpg"/>
          <p:cNvPicPr preferRelativeResize="0"/>
          <p:nvPr/>
        </p:nvPicPr>
        <p:blipFill rotWithShape="1">
          <a:blip r:embed="rId7">
            <a:alphaModFix/>
          </a:blip>
          <a:srcRect b="0" l="51814" r="0" t="27949"/>
          <a:stretch/>
        </p:blipFill>
        <p:spPr>
          <a:xfrm>
            <a:off x="5945890" y="1397875"/>
            <a:ext cx="6037484" cy="426792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g3f83fd16906_0_52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O que falta na literatura de balanceamento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4" name="Google Shape;514;p4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{017BC0A1-B633-4078-8491-F1605408C9A9}</a:tableStyleId>
              </a:tblPr>
              <a:tblGrid>
                <a:gridCol w="2254600"/>
                <a:gridCol w="1690950"/>
                <a:gridCol w="1434750"/>
                <a:gridCol w="2640175"/>
                <a:gridCol w="3124375"/>
              </a:tblGrid>
              <a:tr h="60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"/>
                            </a:ext>
                          </a:extLst>
                        </a:rPr>
                        <a:t>Trabalho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8"/>
                            </a:ext>
                          </a:extLst>
                        </a:rPr>
                        <a:t>Domínio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9"/>
                            </a:ext>
                          </a:extLst>
                        </a:rPr>
                        <a:t>Datasets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0"/>
                            </a:ext>
                          </a:extLst>
                        </a:rPr>
                        <a:t>Estratégias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1"/>
                            </a:ext>
                          </a:extLst>
                        </a:rPr>
                        <a:t>Lacuna que permanece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2"/>
                            </a:ext>
                          </a:extLst>
                        </a:rPr>
                        <a:t>Akintola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3"/>
                            </a:ext>
                          </a:extLst>
                        </a:rPr>
                        <a:t>Android malware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4"/>
                            </a:ext>
                          </a:extLst>
                        </a:rPr>
                        <a:t>2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5"/>
                            </a:ext>
                          </a:extLst>
                        </a:rPr>
                        <a:t>Over + under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Bases limitadas; ausência de estratégias híbridas</a:t>
                      </a:r>
                      <a:endParaRPr sz="19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16"/>
                            </a:ext>
                          </a:extLst>
                        </a:rPr>
                        <a:t>Guan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17"/>
                            </a:ext>
                          </a:extLst>
                        </a:rPr>
                        <a:t>Android malware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7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18"/>
                            </a:ext>
                          </a:extLst>
                        </a:rPr>
                        <a:t>Over + under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</a:rPr>
                        <a:t>Bases limitadas; ausência de estratégias híbridas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9"/>
                            </a:ext>
                          </a:extLst>
                        </a:rPr>
                        <a:t>Haluška / Vairetti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0"/>
                            </a:ext>
                          </a:extLst>
                        </a:rPr>
                        <a:t>Geral / big data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1"/>
                            </a:ext>
                          </a:extLst>
                        </a:rPr>
                        <a:t>23 e 35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2"/>
                            </a:ext>
                          </a:extLst>
                        </a:rPr>
                        <a:t>Over/under/híbrida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3"/>
                            </a:ext>
                          </a:extLst>
                        </a:rPr>
                        <a:t>Domínio geral / big data, não malware Android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4"/>
                            </a:ext>
                          </a:extLst>
                        </a:rPr>
                        <a:t>Este trabalho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5"/>
                            </a:ext>
                          </a:extLst>
                        </a:rPr>
                        <a:t>Android malware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6"/>
                            </a:ext>
                          </a:extLst>
                        </a:rPr>
                        <a:t>11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7"/>
                            </a:ext>
                          </a:extLst>
                        </a:rPr>
                        <a:t>Over/under/híbrida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8"/>
                            </a:ext>
                          </a:extLst>
                        </a:rPr>
                        <a:t>11 datasets Android + diagnóstico por dataset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15" name="Google Shape;515;p4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16" name="Google Shape;5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18" name="Google Shape;5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20" name="Google Shape;52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22" name="Google Shape;52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1" name="Google Shape;531;g3f83fd16906_6_0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{017BC0A1-B633-4078-8491-F1605408C9A9}</a:tableStyleId>
              </a:tblPr>
              <a:tblGrid>
                <a:gridCol w="2254600"/>
                <a:gridCol w="1690950"/>
                <a:gridCol w="1434750"/>
                <a:gridCol w="2640175"/>
                <a:gridCol w="3124375"/>
              </a:tblGrid>
              <a:tr h="60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9"/>
                            </a:ext>
                          </a:extLst>
                        </a:rPr>
                        <a:t>Trabalho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0"/>
                            </a:ext>
                          </a:extLst>
                        </a:rPr>
                        <a:t>Domínio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1"/>
                            </a:ext>
                          </a:extLst>
                        </a:rPr>
                        <a:t>Datasets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2"/>
                            </a:ext>
                          </a:extLst>
                        </a:rPr>
                        <a:t>Estratégias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3"/>
                            </a:ext>
                          </a:extLst>
                        </a:rPr>
                        <a:t>Lacuna que permanece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4"/>
                            </a:ext>
                          </a:extLst>
                        </a:rPr>
                        <a:t>Akintola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5"/>
                            </a:ext>
                          </a:extLst>
                        </a:rPr>
                        <a:t>Android malware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6"/>
                            </a:ext>
                          </a:extLst>
                        </a:rPr>
                        <a:t>2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7"/>
                            </a:ext>
                          </a:extLst>
                        </a:rPr>
                        <a:t>Over + under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Bases limitadas; ausência de estratégias híbridas</a:t>
                      </a:r>
                      <a:endParaRPr sz="19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38"/>
                            </a:ext>
                          </a:extLst>
                        </a:rPr>
                        <a:t>Guan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39"/>
                            </a:ext>
                          </a:extLst>
                        </a:rPr>
                        <a:t>Android malware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7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40"/>
                            </a:ext>
                          </a:extLst>
                        </a:rPr>
                        <a:t>Over + under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</a:rPr>
                        <a:t>Bases limitadas; ausência de estratégias híbridas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1"/>
                            </a:ext>
                          </a:extLst>
                        </a:rPr>
                        <a:t>Haluška / Vairetti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2"/>
                            </a:ext>
                          </a:extLst>
                        </a:rPr>
                        <a:t>Geral / big data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3"/>
                            </a:ext>
                          </a:extLst>
                        </a:rPr>
                        <a:t>23 e 35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4"/>
                            </a:ext>
                          </a:extLst>
                        </a:rPr>
                        <a:t>Over/under/híbrida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5"/>
                            </a:ext>
                          </a:extLst>
                        </a:rPr>
                        <a:t>Domínio geral / big data, não malware Android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6"/>
                            </a:ext>
                          </a:extLst>
                        </a:rPr>
                        <a:t>Este trabalho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7"/>
                            </a:ext>
                          </a:extLst>
                        </a:rPr>
                        <a:t>Android malware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8"/>
                            </a:ext>
                          </a:extLst>
                        </a:rPr>
                        <a:t>11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9"/>
                            </a:ext>
                          </a:extLst>
                        </a:rPr>
                        <a:t>Over/under/híbrida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0"/>
                            </a:ext>
                          </a:extLst>
                        </a:rPr>
                        <a:t>11 datasets Android + diagnóstico por dataset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32" name="Google Shape;532;g3f83fd16906_6_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83fd16906_6_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51"/>
                  </a:ext>
                </a:extLst>
              </a:rPr>
              <a:t>O que falta na literatura de balanceamento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f83fd16906_6_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f83fd16906_6_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83fd16906_6_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83fd16906_6_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38" name="Google Shape;538;g3f83fd16906_6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f83fd16906_6_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40" name="Google Shape;540;g3f83fd16906_6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f83fd16906_6_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42" name="Google Shape;542;g3f83fd16906_6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3f83fd16906_6_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44" name="Google Shape;544;g3f83fd16906_6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f83fd16906_6_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83fd16906_6_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f83fd16906_6_0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g3f83fd16906_6_0"/>
          <p:cNvSpPr/>
          <p:nvPr/>
        </p:nvSpPr>
        <p:spPr>
          <a:xfrm>
            <a:off x="2912975" y="2288350"/>
            <a:ext cx="3125700" cy="2126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4" name="Google Shape;554;g3f83fd16906_6_22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{017BC0A1-B633-4078-8491-F1605408C9A9}</a:tableStyleId>
              </a:tblPr>
              <a:tblGrid>
                <a:gridCol w="2254600"/>
                <a:gridCol w="1690950"/>
                <a:gridCol w="1434750"/>
                <a:gridCol w="2640175"/>
                <a:gridCol w="3124375"/>
              </a:tblGrid>
              <a:tr h="60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2"/>
                            </a:ext>
                          </a:extLst>
                        </a:rPr>
                        <a:t>Trabalho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3"/>
                            </a:ext>
                          </a:extLst>
                        </a:rPr>
                        <a:t>Domínio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4"/>
                            </a:ext>
                          </a:extLst>
                        </a:rPr>
                        <a:t>Datasets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5"/>
                            </a:ext>
                          </a:extLst>
                        </a:rPr>
                        <a:t>Estratégias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6"/>
                            </a:ext>
                          </a:extLst>
                        </a:rPr>
                        <a:t>Lacuna que permanece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7"/>
                            </a:ext>
                          </a:extLst>
                        </a:rPr>
                        <a:t>Akintola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8"/>
                            </a:ext>
                          </a:extLst>
                        </a:rPr>
                        <a:t>Android malware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9"/>
                            </a:ext>
                          </a:extLst>
                        </a:rPr>
                        <a:t>2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60"/>
                            </a:ext>
                          </a:extLst>
                        </a:rPr>
                        <a:t>Over + under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Bases limitadas; ausência de estratégias híbridas</a:t>
                      </a:r>
                      <a:endParaRPr sz="19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61"/>
                            </a:ext>
                          </a:extLst>
                        </a:rPr>
                        <a:t>Guan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62"/>
                            </a:ext>
                          </a:extLst>
                        </a:rPr>
                        <a:t>Android malware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7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63"/>
                            </a:ext>
                          </a:extLst>
                        </a:rPr>
                        <a:t>Over + under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</a:rPr>
                        <a:t>Bases limitadas; ausência de estratégias híbridas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64"/>
                            </a:ext>
                          </a:extLst>
                        </a:rPr>
                        <a:t>Haluška / Vairetti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65"/>
                            </a:ext>
                          </a:extLst>
                        </a:rPr>
                        <a:t>Geral / big data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66"/>
                            </a:ext>
                          </a:extLst>
                        </a:rPr>
                        <a:t>23 e 35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67"/>
                            </a:ext>
                          </a:extLst>
                        </a:rPr>
                        <a:t>Over/under/híbrida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68"/>
                            </a:ext>
                          </a:extLst>
                        </a:rPr>
                        <a:t>Domínio geral / big data, não malware Android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69"/>
                            </a:ext>
                          </a:extLst>
                        </a:rPr>
                        <a:t>Este trabalho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0"/>
                            </a:ext>
                          </a:extLst>
                        </a:rPr>
                        <a:t>Android malware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1"/>
                            </a:ext>
                          </a:extLst>
                        </a:rPr>
                        <a:t>11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2"/>
                            </a:ext>
                          </a:extLst>
                        </a:rPr>
                        <a:t>Over/under/híbrida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3"/>
                            </a:ext>
                          </a:extLst>
                        </a:rPr>
                        <a:t>11 datasets Android + diagnóstico por dataset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55" name="Google Shape;555;g3f83fd16906_6_2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f83fd16906_6_22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74"/>
                  </a:ext>
                </a:extLst>
              </a:rPr>
              <a:t>O que falta na literatura de balanceamento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f83fd16906_6_2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f83fd16906_6_2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83fd16906_6_2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f83fd16906_6_2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61" name="Google Shape;561;g3f83fd16906_6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g3f83fd16906_6_2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63" name="Google Shape;563;g3f83fd16906_6_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f83fd16906_6_2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65" name="Google Shape;565;g3f83fd16906_6_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f83fd16906_6_2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67" name="Google Shape;567;g3f83fd16906_6_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f83fd16906_6_2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f83fd16906_6_2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f83fd16906_6_22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1" name="Google Shape;571;g3f83fd16906_6_22"/>
          <p:cNvSpPr/>
          <p:nvPr/>
        </p:nvSpPr>
        <p:spPr>
          <a:xfrm>
            <a:off x="8678850" y="2288350"/>
            <a:ext cx="3050400" cy="2134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7" name="Google Shape;577;g3f83fd16906_6_44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{017BC0A1-B633-4078-8491-F1605408C9A9}</a:tableStyleId>
              </a:tblPr>
              <a:tblGrid>
                <a:gridCol w="2254600"/>
                <a:gridCol w="1690950"/>
                <a:gridCol w="1434750"/>
                <a:gridCol w="2640175"/>
                <a:gridCol w="3124375"/>
              </a:tblGrid>
              <a:tr h="60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5"/>
                            </a:ext>
                          </a:extLst>
                        </a:rPr>
                        <a:t>Trabalho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6"/>
                            </a:ext>
                          </a:extLst>
                        </a:rPr>
                        <a:t>Domínio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7"/>
                            </a:ext>
                          </a:extLst>
                        </a:rPr>
                        <a:t>Datasets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8"/>
                            </a:ext>
                          </a:extLst>
                        </a:rPr>
                        <a:t>Estratégias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79"/>
                            </a:ext>
                          </a:extLst>
                        </a:rPr>
                        <a:t>Lacuna que permanece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80"/>
                            </a:ext>
                          </a:extLst>
                        </a:rPr>
                        <a:t>Akintola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81"/>
                            </a:ext>
                          </a:extLst>
                        </a:rPr>
                        <a:t>Android malware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82"/>
                            </a:ext>
                          </a:extLst>
                        </a:rPr>
                        <a:t>2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83"/>
                            </a:ext>
                          </a:extLst>
                        </a:rPr>
                        <a:t>Over + under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Bases limitadas; ausência de estratégias híbridas</a:t>
                      </a:r>
                      <a:endParaRPr sz="19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84"/>
                            </a:ext>
                          </a:extLst>
                        </a:rPr>
                        <a:t>Guan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85"/>
                            </a:ext>
                          </a:extLst>
                        </a:rPr>
                        <a:t>Android malware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7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86"/>
                            </a:ext>
                          </a:extLst>
                        </a:rPr>
                        <a:t>Over + under</a:t>
                      </a:r>
                      <a:endParaRPr b="0" sz="19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2"/>
                          </a:solidFill>
                        </a:rPr>
                        <a:t>Bases limitadas; ausência de estratégias híbridas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87"/>
                            </a:ext>
                          </a:extLst>
                        </a:rPr>
                        <a:t>Haluška / Vairetti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88"/>
                            </a:ext>
                          </a:extLst>
                        </a:rPr>
                        <a:t>Geral / big data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89"/>
                            </a:ext>
                          </a:extLst>
                        </a:rPr>
                        <a:t>23 e 35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90"/>
                            </a:ext>
                          </a:extLst>
                        </a:rPr>
                        <a:t>Over/under/híbrida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91"/>
                            </a:ext>
                          </a:extLst>
                        </a:rPr>
                        <a:t>Domínio geral / big data, não malware Android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71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92"/>
                            </a:ext>
                          </a:extLst>
                        </a:rPr>
                        <a:t>Este trabalho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93"/>
                            </a:ext>
                          </a:extLst>
                        </a:rPr>
                        <a:t>Android malware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94"/>
                            </a:ext>
                          </a:extLst>
                        </a:rPr>
                        <a:t>11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95"/>
                            </a:ext>
                          </a:extLst>
                        </a:rPr>
                        <a:t>Over/under/híbrida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96"/>
                            </a:ext>
                          </a:extLst>
                        </a:rPr>
                        <a:t>11 datasets Android + diagnóstico por dataset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78" name="Google Shape;578;g3f83fd16906_6_4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f83fd16906_6_4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97"/>
                  </a:ext>
                </a:extLst>
              </a:rPr>
              <a:t>O que falta na literatura de balanceamento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f83fd16906_6_4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f83fd16906_6_4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f83fd16906_6_4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f83fd16906_6_4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84" name="Google Shape;584;g3f83fd16906_6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g3f83fd16906_6_4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86" name="Google Shape;586;g3f83fd16906_6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g3f83fd16906_6_4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88" name="Google Shape;588;g3f83fd16906_6_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g3f83fd16906_6_4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90" name="Google Shape;590;g3f83fd16906_6_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g3f83fd16906_6_4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83fd16906_6_4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3f83fd16906_6_44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4" name="Google Shape;594;g3f83fd16906_6_44"/>
          <p:cNvSpPr/>
          <p:nvPr/>
        </p:nvSpPr>
        <p:spPr>
          <a:xfrm>
            <a:off x="727975" y="4438150"/>
            <a:ext cx="10953900" cy="716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g3f83fd16906_6_44"/>
          <p:cNvSpPr/>
          <p:nvPr/>
        </p:nvSpPr>
        <p:spPr>
          <a:xfrm>
            <a:off x="2037275" y="1970400"/>
            <a:ext cx="4979700" cy="2334000"/>
          </a:xfrm>
          <a:prstGeom prst="wedgeRoundRectCallout">
            <a:avLst>
              <a:gd fmla="val 71303" name="adj1"/>
              <a:gd fmla="val 63415" name="adj2"/>
              <a:gd fmla="val 0" name="adj3"/>
            </a:avLst>
          </a:prstGeom>
          <a:solidFill>
            <a:srgbClr val="006D8E"/>
          </a:solidFill>
          <a:ln>
            <a:noFill/>
          </a:ln>
          <a:effectLst>
            <a:outerShdw blurRad="142875" rotWithShape="0" algn="bl" dir="780000" dist="85725">
              <a:srgbClr val="000000">
                <a:alpha val="502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exend"/>
              <a:buChar char="●"/>
            </a:pPr>
            <a:r>
              <a:rPr b="1" lang="en-US" sz="2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Específico ao domínio</a:t>
            </a:r>
            <a:endParaRPr b="1" sz="2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exend"/>
              <a:buChar char="●"/>
            </a:pPr>
            <a:r>
              <a:rPr b="1" lang="en-US" sz="2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Multiplas estratégias</a:t>
            </a:r>
            <a:endParaRPr b="1" sz="2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exend"/>
              <a:buChar char="●"/>
            </a:pPr>
            <a:r>
              <a:rPr b="1" lang="en-US" sz="2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11 datasets </a:t>
            </a:r>
            <a:endParaRPr b="1" sz="2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exend"/>
              <a:buChar char="●"/>
            </a:pPr>
            <a:r>
              <a:rPr b="1" lang="en-US" sz="2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Avaliação individualizada</a:t>
            </a:r>
            <a:endParaRPr b="1" i="0" sz="2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"/>
          <p:cNvSpPr/>
          <p:nvPr/>
        </p:nvSpPr>
        <p:spPr>
          <a:xfrm>
            <a:off x="0" y="23486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"/>
          <p:cNvSpPr txBox="1"/>
          <p:nvPr/>
        </p:nvSpPr>
        <p:spPr>
          <a:xfrm>
            <a:off x="2395728" y="2487168"/>
            <a:ext cx="7863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98"/>
                  </a:ext>
                </a:extLst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Protocolo experimental em 11 datasets Android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7428e8dcb_0_59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7428e8dcb_0_596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7428e8dcb_0_596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99"/>
                  </a:ext>
                </a:extLst>
              </a:rPr>
              <a:t>Pipeline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f7428e8dcb_0_59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7428e8dcb_0_59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f7428e8dcb_0_59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f7428e8dcb_0_596"/>
          <p:cNvSpPr/>
          <p:nvPr/>
        </p:nvSpPr>
        <p:spPr>
          <a:xfrm>
            <a:off x="695493" y="2244800"/>
            <a:ext cx="10875000" cy="1980000"/>
          </a:xfrm>
          <a:prstGeom prst="roundRect">
            <a:avLst>
              <a:gd fmla="val 3000" name="adj"/>
            </a:avLst>
          </a:prstGeom>
          <a:solidFill>
            <a:srgbClr val="F4F6FA"/>
          </a:solidFill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f7428e8dcb_0_596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24" name="Google Shape;624;g3f7428e8dcb_0_5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g3f7428e8dcb_0_596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26" name="Google Shape;626;g3f7428e8dcb_0_5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g3f7428e8dcb_0_596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28" name="Google Shape;628;g3f7428e8dcb_0_5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f7428e8dcb_0_59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30" name="Google Shape;630;g3f7428e8dcb_0_5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g3f7428e8dcb_0_596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f7428e8dcb_0_596"/>
          <p:cNvSpPr/>
          <p:nvPr/>
        </p:nvSpPr>
        <p:spPr>
          <a:xfrm>
            <a:off x="995493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 sz="2100"/>
          </a:p>
        </p:txBody>
      </p:sp>
      <p:sp>
        <p:nvSpPr>
          <p:cNvPr id="633" name="Google Shape;633;g3f7428e8dcb_0_596"/>
          <p:cNvSpPr/>
          <p:nvPr/>
        </p:nvSpPr>
        <p:spPr>
          <a:xfrm>
            <a:off x="2872484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f7428e8dcb_0_596"/>
          <p:cNvSpPr/>
          <p:nvPr/>
        </p:nvSpPr>
        <p:spPr>
          <a:xfrm>
            <a:off x="3102484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REDUÇÃO DE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sz="2100"/>
          </a:p>
        </p:txBody>
      </p:sp>
      <p:sp>
        <p:nvSpPr>
          <p:cNvPr id="635" name="Google Shape;635;g3f7428e8dcb_0_596"/>
          <p:cNvSpPr/>
          <p:nvPr/>
        </p:nvSpPr>
        <p:spPr>
          <a:xfrm>
            <a:off x="4979475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f7428e8dcb_0_596"/>
          <p:cNvSpPr/>
          <p:nvPr/>
        </p:nvSpPr>
        <p:spPr>
          <a:xfrm>
            <a:off x="5209475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BALANCEAMENTO</a:t>
            </a:r>
            <a:endParaRPr b="1" i="0" sz="135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F2369"/>
              </a:solidFill>
            </a:endParaRPr>
          </a:p>
        </p:txBody>
      </p:sp>
      <p:sp>
        <p:nvSpPr>
          <p:cNvPr id="637" name="Google Shape;637;g3f7428e8dcb_0_596"/>
          <p:cNvSpPr/>
          <p:nvPr/>
        </p:nvSpPr>
        <p:spPr>
          <a:xfrm>
            <a:off x="7086466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f7428e8dcb_0_596"/>
          <p:cNvSpPr/>
          <p:nvPr/>
        </p:nvSpPr>
        <p:spPr>
          <a:xfrm>
            <a:off x="7316466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0"/>
                  </a:ext>
                </a:extLst>
              </a:rPr>
              <a:t>CLASSIF</a:t>
            </a:r>
            <a:r>
              <a:rPr b="1" lang="en-US" sz="1550">
                <a:solidFill>
                  <a:srgbClr val="0F2369"/>
                </a:solidFill>
              </a:rPr>
              <a:t>ICAÇÃO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39" name="Google Shape;639;g3f7428e8dcb_0_596"/>
          <p:cNvSpPr/>
          <p:nvPr/>
        </p:nvSpPr>
        <p:spPr>
          <a:xfrm>
            <a:off x="9193457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f7428e8dcb_0_596"/>
          <p:cNvSpPr/>
          <p:nvPr/>
        </p:nvSpPr>
        <p:spPr>
          <a:xfrm>
            <a:off x="9423457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(Recall/F1/tempo)</a:t>
            </a:r>
            <a:endParaRPr sz="1900"/>
          </a:p>
        </p:txBody>
      </p:sp>
      <p:sp>
        <p:nvSpPr>
          <p:cNvPr id="641" name="Google Shape;641;g3f7428e8dcb_0_596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83fd16906_0_19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f83fd16906_0_196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f83fd16906_0_196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1"/>
                  </a:ext>
                </a:extLst>
              </a:rPr>
              <a:t>Pipeline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f83fd16906_0_19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f83fd16906_0_19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f83fd16906_0_19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f83fd16906_0_196"/>
          <p:cNvSpPr/>
          <p:nvPr/>
        </p:nvSpPr>
        <p:spPr>
          <a:xfrm>
            <a:off x="695493" y="2244800"/>
            <a:ext cx="10875000" cy="1980000"/>
          </a:xfrm>
          <a:prstGeom prst="roundRect">
            <a:avLst>
              <a:gd fmla="val 3000" name="adj"/>
            </a:avLst>
          </a:prstGeom>
          <a:solidFill>
            <a:srgbClr val="F4F6FA"/>
          </a:solidFill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f83fd16906_0_196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55" name="Google Shape;655;g3f83fd16906_0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g3f83fd16906_0_196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57" name="Google Shape;657;g3f83fd16906_0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g3f83fd16906_0_196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59" name="Google Shape;659;g3f83fd16906_0_1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f83fd16906_0_19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61" name="Google Shape;661;g3f83fd16906_0_1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f83fd16906_0_196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f83fd16906_0_196"/>
          <p:cNvSpPr/>
          <p:nvPr/>
        </p:nvSpPr>
        <p:spPr>
          <a:xfrm>
            <a:off x="995493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 sz="2100"/>
          </a:p>
        </p:txBody>
      </p:sp>
      <p:sp>
        <p:nvSpPr>
          <p:cNvPr id="664" name="Google Shape;664;g3f83fd16906_0_196"/>
          <p:cNvSpPr/>
          <p:nvPr/>
        </p:nvSpPr>
        <p:spPr>
          <a:xfrm>
            <a:off x="2872484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f83fd16906_0_196"/>
          <p:cNvSpPr/>
          <p:nvPr/>
        </p:nvSpPr>
        <p:spPr>
          <a:xfrm>
            <a:off x="3102484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REDUÇÃO DE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sz="2100"/>
          </a:p>
        </p:txBody>
      </p:sp>
      <p:sp>
        <p:nvSpPr>
          <p:cNvPr id="666" name="Google Shape;666;g3f83fd16906_0_196"/>
          <p:cNvSpPr/>
          <p:nvPr/>
        </p:nvSpPr>
        <p:spPr>
          <a:xfrm>
            <a:off x="4979475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f83fd16906_0_196"/>
          <p:cNvSpPr/>
          <p:nvPr/>
        </p:nvSpPr>
        <p:spPr>
          <a:xfrm>
            <a:off x="5209475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BALANCEAMENTO</a:t>
            </a:r>
            <a:endParaRPr b="1" i="0" sz="135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F2369"/>
              </a:solidFill>
            </a:endParaRPr>
          </a:p>
        </p:txBody>
      </p:sp>
      <p:sp>
        <p:nvSpPr>
          <p:cNvPr id="668" name="Google Shape;668;g3f83fd16906_0_196"/>
          <p:cNvSpPr/>
          <p:nvPr/>
        </p:nvSpPr>
        <p:spPr>
          <a:xfrm>
            <a:off x="7086466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f83fd16906_0_196"/>
          <p:cNvSpPr/>
          <p:nvPr/>
        </p:nvSpPr>
        <p:spPr>
          <a:xfrm>
            <a:off x="7316466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2"/>
                  </a:ext>
                </a:extLst>
              </a:rPr>
              <a:t>CLASSIF</a:t>
            </a:r>
            <a:r>
              <a:rPr b="1" lang="en-US" sz="1550">
                <a:solidFill>
                  <a:srgbClr val="0F2369"/>
                </a:solidFill>
              </a:rPr>
              <a:t>ICAÇÃO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70" name="Google Shape;670;g3f83fd16906_0_196"/>
          <p:cNvSpPr/>
          <p:nvPr/>
        </p:nvSpPr>
        <p:spPr>
          <a:xfrm>
            <a:off x="9193457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f83fd16906_0_196"/>
          <p:cNvSpPr/>
          <p:nvPr/>
        </p:nvSpPr>
        <p:spPr>
          <a:xfrm>
            <a:off x="9423457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(Recall/F1/tempo)</a:t>
            </a:r>
            <a:endParaRPr sz="1900"/>
          </a:p>
        </p:txBody>
      </p:sp>
      <p:sp>
        <p:nvSpPr>
          <p:cNvPr id="672" name="Google Shape;672;g3f83fd16906_0_196"/>
          <p:cNvSpPr/>
          <p:nvPr/>
        </p:nvSpPr>
        <p:spPr>
          <a:xfrm>
            <a:off x="2872475" y="2285600"/>
            <a:ext cx="2258700" cy="2081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g3f83fd16906_0_196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Insumo: redução de dimensionalidade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6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"/>
          <p:cNvSpPr txBox="1"/>
          <p:nvPr/>
        </p:nvSpPr>
        <p:spPr>
          <a:xfrm>
            <a:off x="658368" y="1773936"/>
            <a:ext cx="5236200" cy="3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64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370"/>
              <a:buFont typeface="Arial"/>
              <a:buChar char="▪"/>
            </a:pPr>
            <a:r>
              <a:rPr b="0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Custo alto: MH100k tem 24.833 atributos (~2,53 bi de valores).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646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2370"/>
              <a:buFont typeface="Arial"/>
              <a:buChar char="▪"/>
            </a:pPr>
            <a:r>
              <a:rPr b="0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Seleção via MH-FSF (RFE, Semidroid, Lasso) + ranqueamento estatístico.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6"/>
          <p:cNvSpPr/>
          <p:nvPr/>
        </p:nvSpPr>
        <p:spPr>
          <a:xfrm>
            <a:off x="6297015" y="1682496"/>
            <a:ext cx="5236311" cy="393192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6"/>
          <p:cNvSpPr/>
          <p:nvPr/>
        </p:nvSpPr>
        <p:spPr>
          <a:xfrm>
            <a:off x="6297015" y="1682496"/>
            <a:ext cx="68580" cy="393192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6"/>
          <p:cNvSpPr txBox="1"/>
          <p:nvPr/>
        </p:nvSpPr>
        <p:spPr>
          <a:xfrm>
            <a:off x="6607911" y="1920240"/>
            <a:ext cx="4614600" cy="26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isso importa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a redução, aplicar </a:t>
            </a:r>
            <a:r>
              <a:rPr lang="en-US" sz="2400">
                <a:solidFill>
                  <a:schemeClr val="dk1"/>
                </a:solidFill>
              </a:rPr>
              <a:t>diferentes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técnicas de balanceamento a todos os atributos seria inviável.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6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90" name="Google Shape;6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92" name="Google Shape;6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6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94" name="Google Shape;69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96" name="Google Shape;69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6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f7428e8dcb_0_64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4" name="Google Shape;704;g3f7428e8dcb_0_647"/>
          <p:cNvGraphicFramePr/>
          <p:nvPr/>
        </p:nvGraphicFramePr>
        <p:xfrm>
          <a:off x="658368" y="23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{017BC0A1-B633-4078-8491-F1605408C9A9}</a:tableStyleId>
              </a:tblPr>
              <a:tblGrid>
                <a:gridCol w="2050000"/>
                <a:gridCol w="620000"/>
                <a:gridCol w="1250000"/>
                <a:gridCol w="1180000"/>
                <a:gridCol w="1120000"/>
                <a:gridCol w="1120000"/>
                <a:gridCol w="2154975"/>
                <a:gridCol w="1380000"/>
              </a:tblGrid>
              <a:tr h="60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Ano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Amostras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Feat. orig.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Feat. red.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Redução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Benign/Malware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Método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MH100k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101.934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24.833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99,63%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92.134 / 9.800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Statistical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KronoDroid Real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78.137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89,86%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36.755 / 41.382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Statistical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KronoDroid Emul.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63.991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90,94%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35.246 / 28.745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Statistical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DREBIN-215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2018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15.031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215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70,23%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9.476 / 5.555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RFE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DefenseDroid PRS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11.975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2.877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144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94,99%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5.975 / 6.000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Semidroid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DD API Katz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10.476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6.002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95,00%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5.222 / 5.254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RFE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DD API Degree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10.476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6.002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95,00%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5.222 / 5.254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RFE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DD API Closeness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10.476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4.274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213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95,02%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5.222 / 5.254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RFE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Android Perm.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26.864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69,54%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9.077 / 17.787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Semidroid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AndroCrawl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2012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96.744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141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91,49%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86.574 / 10.170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Statistical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6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Adroit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11.476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60,24%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8.058 / 3.418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RFE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5" name="Google Shape;705;g3f7428e8dcb_0_64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06" name="Google Shape;706;g3f7428e8dcb_0_6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g3f7428e8dcb_0_64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08" name="Google Shape;708;g3f7428e8dcb_0_6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g3f7428e8dcb_0_64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10" name="Google Shape;710;g3f7428e8dcb_0_6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g3f7428e8dcb_0_64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12" name="Google Shape;712;g3f7428e8dcb_0_6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g3f7428e8dcb_0_64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3f7428e8dcb_0_647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5" name="Google Shape;715;g3f7428e8dcb_0_6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663" y="4473100"/>
            <a:ext cx="1732929" cy="1743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f83fd16906_0_273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g3f83fd16906_0_273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f83fd16906_0_273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3"/>
                  </a:ext>
                </a:extLst>
              </a:rPr>
              <a:t>Pipeline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g3f83fd16906_0_273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g3f83fd16906_0_273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g3f83fd16906_0_273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f83fd16906_0_273"/>
          <p:cNvSpPr/>
          <p:nvPr/>
        </p:nvSpPr>
        <p:spPr>
          <a:xfrm>
            <a:off x="695493" y="2244800"/>
            <a:ext cx="10875000" cy="1980000"/>
          </a:xfrm>
          <a:prstGeom prst="roundRect">
            <a:avLst>
              <a:gd fmla="val 3000" name="adj"/>
            </a:avLst>
          </a:prstGeom>
          <a:solidFill>
            <a:srgbClr val="F4F6FA"/>
          </a:solidFill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g3f83fd16906_0_27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29" name="Google Shape;729;g3f83fd16906_0_2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g3f83fd16906_0_273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31" name="Google Shape;731;g3f83fd16906_0_2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g3f83fd16906_0_273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33" name="Google Shape;733;g3f83fd16906_0_2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g3f83fd16906_0_273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35" name="Google Shape;735;g3f83fd16906_0_2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g3f83fd16906_0_273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f83fd16906_0_273"/>
          <p:cNvSpPr/>
          <p:nvPr/>
        </p:nvSpPr>
        <p:spPr>
          <a:xfrm>
            <a:off x="995493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 sz="2100"/>
          </a:p>
        </p:txBody>
      </p:sp>
      <p:sp>
        <p:nvSpPr>
          <p:cNvPr id="738" name="Google Shape;738;g3f83fd16906_0_273"/>
          <p:cNvSpPr/>
          <p:nvPr/>
        </p:nvSpPr>
        <p:spPr>
          <a:xfrm>
            <a:off x="2872484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f83fd16906_0_273"/>
          <p:cNvSpPr/>
          <p:nvPr/>
        </p:nvSpPr>
        <p:spPr>
          <a:xfrm>
            <a:off x="3102484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REDUÇÃO DE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sz="2100"/>
          </a:p>
        </p:txBody>
      </p:sp>
      <p:sp>
        <p:nvSpPr>
          <p:cNvPr id="740" name="Google Shape;740;g3f83fd16906_0_273"/>
          <p:cNvSpPr/>
          <p:nvPr/>
        </p:nvSpPr>
        <p:spPr>
          <a:xfrm>
            <a:off x="4979475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f83fd16906_0_273"/>
          <p:cNvSpPr/>
          <p:nvPr/>
        </p:nvSpPr>
        <p:spPr>
          <a:xfrm>
            <a:off x="5209475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BALANCEAMENTO</a:t>
            </a:r>
            <a:endParaRPr b="1" i="0" sz="135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F2369"/>
              </a:solidFill>
            </a:endParaRPr>
          </a:p>
        </p:txBody>
      </p:sp>
      <p:sp>
        <p:nvSpPr>
          <p:cNvPr id="742" name="Google Shape;742;g3f83fd16906_0_273"/>
          <p:cNvSpPr/>
          <p:nvPr/>
        </p:nvSpPr>
        <p:spPr>
          <a:xfrm>
            <a:off x="7086466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3f83fd16906_0_273"/>
          <p:cNvSpPr/>
          <p:nvPr/>
        </p:nvSpPr>
        <p:spPr>
          <a:xfrm>
            <a:off x="7316466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4"/>
                  </a:ext>
                </a:extLst>
              </a:rPr>
              <a:t>CLASSIF</a:t>
            </a:r>
            <a:r>
              <a:rPr b="1" lang="en-US" sz="1550">
                <a:solidFill>
                  <a:srgbClr val="0F2369"/>
                </a:solidFill>
              </a:rPr>
              <a:t>ICAÇÃO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44" name="Google Shape;744;g3f83fd16906_0_273"/>
          <p:cNvSpPr/>
          <p:nvPr/>
        </p:nvSpPr>
        <p:spPr>
          <a:xfrm>
            <a:off x="9193457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f83fd16906_0_273"/>
          <p:cNvSpPr/>
          <p:nvPr/>
        </p:nvSpPr>
        <p:spPr>
          <a:xfrm>
            <a:off x="9423457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(Recall/F1/tempo)</a:t>
            </a:r>
            <a:endParaRPr sz="1900"/>
          </a:p>
        </p:txBody>
      </p:sp>
      <p:sp>
        <p:nvSpPr>
          <p:cNvPr id="746" name="Google Shape;746;g3f83fd16906_0_273"/>
          <p:cNvSpPr/>
          <p:nvPr/>
        </p:nvSpPr>
        <p:spPr>
          <a:xfrm>
            <a:off x="4950657" y="2285600"/>
            <a:ext cx="2258700" cy="2081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g3f83fd16906_0_273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9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9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  <a:extLst>
                  <a:ext uri="http://customooxmlschemas.google.com/">
                    <go:slidesCustomData xmlns:go="http://customooxmlschemas.google.com/" textRoundtripDataId="105"/>
                  </a:ext>
                </a:extLst>
              </a:rPr>
              <a:t>Técnicas comparadas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9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9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9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9"/>
          <p:cNvSpPr txBox="1"/>
          <p:nvPr/>
        </p:nvSpPr>
        <p:spPr>
          <a:xfrm>
            <a:off x="658368" y="1440000"/>
            <a:ext cx="10875000" cy="29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i="0" lang="en-US" sz="2700" u="none" cap="none" strike="noStrike">
                <a:solidFill>
                  <a:schemeClr val="dk1"/>
                </a:solidFill>
              </a:rPr>
              <a:t>Undersampling: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RandomUnder, NearMiss, ENN, Tomek</a:t>
            </a:r>
            <a:r>
              <a:rPr lang="en-US" sz="2700">
                <a:solidFill>
                  <a:schemeClr val="dk1"/>
                </a:solidFill>
              </a:rPr>
              <a:t>,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ENN+RandomUnder, Tomek+RandomUnder  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-4000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i="0" lang="en-US" sz="2700" u="none" cap="none" strike="noStrike">
                <a:solidFill>
                  <a:schemeClr val="dk1"/>
                </a:solidFill>
              </a:rPr>
              <a:t>Oversampling: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RandomOver, SMOTE, Borderline-SMOTE, ADASYN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9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61" name="Google Shape;7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9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63" name="Google Shape;7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9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65" name="Google Shape;76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9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67" name="Google Shape;76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9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9"/>
          <p:cNvSpPr/>
          <p:nvPr/>
        </p:nvSpPr>
        <p:spPr>
          <a:xfrm>
            <a:off x="658375" y="1458475"/>
            <a:ext cx="9881700" cy="1485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9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f83fd16906_0_22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3f83fd16906_0_229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3f83fd16906_0_22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  <a:extLst>
                  <a:ext uri="http://customooxmlschemas.google.com/">
                    <go:slidesCustomData xmlns:go="http://customooxmlschemas.google.com/" textRoundtripDataId="106"/>
                  </a:ext>
                </a:extLst>
              </a:rPr>
              <a:t>Técnicas comparadas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3f83fd16906_0_229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g3f83fd16906_0_229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f83fd16906_0_229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3f83fd16906_0_229"/>
          <p:cNvSpPr txBox="1"/>
          <p:nvPr/>
        </p:nvSpPr>
        <p:spPr>
          <a:xfrm>
            <a:off x="658368" y="1440000"/>
            <a:ext cx="10875000" cy="29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i="0" lang="en-US" sz="2700" u="none" cap="none" strike="noStrike">
                <a:solidFill>
                  <a:schemeClr val="dk1"/>
                </a:solidFill>
              </a:rPr>
              <a:t>Undersampling: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RandomUnder, NearMiss, ENN, Tomek</a:t>
            </a:r>
            <a:r>
              <a:rPr lang="en-US" sz="2700">
                <a:solidFill>
                  <a:schemeClr val="dk1"/>
                </a:solidFill>
              </a:rPr>
              <a:t>,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ENN+RandomUnder, Tomek+RandomUnder  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-4000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i="0" lang="en-US" sz="2700" u="none" cap="none" strike="noStrike">
                <a:solidFill>
                  <a:schemeClr val="dk1"/>
                </a:solidFill>
              </a:rPr>
              <a:t>Oversampling: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RandomOver, SMOTE, Borderline-SMOTE, ADASYN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g3f83fd16906_0_229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84" name="Google Shape;784;g3f83fd16906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g3f83fd16906_0_22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86" name="Google Shape;786;g3f83fd16906_0_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g3f83fd16906_0_22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88" name="Google Shape;788;g3f83fd16906_0_2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g3f83fd16906_0_22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90" name="Google Shape;790;g3f83fd16906_0_2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g3f83fd16906_0_22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f83fd16906_0_229"/>
          <p:cNvSpPr/>
          <p:nvPr/>
        </p:nvSpPr>
        <p:spPr>
          <a:xfrm>
            <a:off x="658375" y="3118546"/>
            <a:ext cx="9881700" cy="1485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g3f83fd16906_0_229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f83fd16906_0_30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f83fd16906_0_306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f83fd16906_0_306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7"/>
                  </a:ext>
                </a:extLst>
              </a:rPr>
              <a:t>Pipeline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3f83fd16906_0_30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f83fd16906_0_30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f83fd16906_0_30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f83fd16906_0_306"/>
          <p:cNvSpPr/>
          <p:nvPr/>
        </p:nvSpPr>
        <p:spPr>
          <a:xfrm>
            <a:off x="695493" y="2244800"/>
            <a:ext cx="10875000" cy="1980000"/>
          </a:xfrm>
          <a:prstGeom prst="roundRect">
            <a:avLst>
              <a:gd fmla="val 3000" name="adj"/>
            </a:avLst>
          </a:prstGeom>
          <a:solidFill>
            <a:srgbClr val="F4F6FA"/>
          </a:solidFill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f83fd16906_0_306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07" name="Google Shape;807;g3f83fd16906_0_3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g3f83fd16906_0_306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09" name="Google Shape;809;g3f83fd16906_0_3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g3f83fd16906_0_306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11" name="Google Shape;811;g3f83fd16906_0_3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g3f83fd16906_0_30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13" name="Google Shape;813;g3f83fd16906_0_3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g3f83fd16906_0_306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g3f83fd16906_0_306"/>
          <p:cNvSpPr/>
          <p:nvPr/>
        </p:nvSpPr>
        <p:spPr>
          <a:xfrm>
            <a:off x="995493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 sz="2100"/>
          </a:p>
        </p:txBody>
      </p:sp>
      <p:sp>
        <p:nvSpPr>
          <p:cNvPr id="816" name="Google Shape;816;g3f83fd16906_0_306"/>
          <p:cNvSpPr/>
          <p:nvPr/>
        </p:nvSpPr>
        <p:spPr>
          <a:xfrm>
            <a:off x="2872484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3f83fd16906_0_306"/>
          <p:cNvSpPr/>
          <p:nvPr/>
        </p:nvSpPr>
        <p:spPr>
          <a:xfrm>
            <a:off x="3102484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REDUÇÃO DE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sz="2100"/>
          </a:p>
        </p:txBody>
      </p:sp>
      <p:sp>
        <p:nvSpPr>
          <p:cNvPr id="818" name="Google Shape;818;g3f83fd16906_0_306"/>
          <p:cNvSpPr/>
          <p:nvPr/>
        </p:nvSpPr>
        <p:spPr>
          <a:xfrm>
            <a:off x="4979475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3f83fd16906_0_306"/>
          <p:cNvSpPr/>
          <p:nvPr/>
        </p:nvSpPr>
        <p:spPr>
          <a:xfrm>
            <a:off x="5209475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BALANCEAMENTO</a:t>
            </a:r>
            <a:endParaRPr b="1" i="0" sz="135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F2369"/>
              </a:solidFill>
            </a:endParaRPr>
          </a:p>
        </p:txBody>
      </p:sp>
      <p:sp>
        <p:nvSpPr>
          <p:cNvPr id="820" name="Google Shape;820;g3f83fd16906_0_306"/>
          <p:cNvSpPr/>
          <p:nvPr/>
        </p:nvSpPr>
        <p:spPr>
          <a:xfrm>
            <a:off x="7086466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f83fd16906_0_306"/>
          <p:cNvSpPr/>
          <p:nvPr/>
        </p:nvSpPr>
        <p:spPr>
          <a:xfrm>
            <a:off x="7316466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8"/>
                  </a:ext>
                </a:extLst>
              </a:rPr>
              <a:t>CLASSIF</a:t>
            </a:r>
            <a:r>
              <a:rPr b="1" lang="en-US" sz="1550">
                <a:solidFill>
                  <a:srgbClr val="0F2369"/>
                </a:solidFill>
              </a:rPr>
              <a:t>ICAÇÃO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22" name="Google Shape;822;g3f83fd16906_0_306"/>
          <p:cNvSpPr/>
          <p:nvPr/>
        </p:nvSpPr>
        <p:spPr>
          <a:xfrm>
            <a:off x="9193457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f83fd16906_0_306"/>
          <p:cNvSpPr/>
          <p:nvPr/>
        </p:nvSpPr>
        <p:spPr>
          <a:xfrm>
            <a:off x="9423457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(Recall/F1/tempo)</a:t>
            </a:r>
            <a:endParaRPr sz="1900"/>
          </a:p>
        </p:txBody>
      </p:sp>
      <p:sp>
        <p:nvSpPr>
          <p:cNvPr id="824" name="Google Shape;824;g3f83fd16906_0_306"/>
          <p:cNvSpPr/>
          <p:nvPr/>
        </p:nvSpPr>
        <p:spPr>
          <a:xfrm>
            <a:off x="7100998" y="2285600"/>
            <a:ext cx="2258700" cy="2081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g3f83fd16906_0_306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f83fd16906_0_33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f83fd16906_0_337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f83fd16906_0_33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MalSynGen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f83fd16906_0_33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f83fd16906_0_33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f83fd16906_0_33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f83fd16906_0_33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38" name="Google Shape;838;g3f83fd16906_0_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g3f83fd16906_0_33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40" name="Google Shape;840;g3f83fd16906_0_3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g3f83fd16906_0_33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42" name="Google Shape;842;g3f83fd16906_0_3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g3f83fd16906_0_33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44" name="Google Shape;844;g3f83fd16906_0_3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g3f83fd16906_0_33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6" name="Google Shape;846;g3f83fd16906_0_337" title="Diagrama sem nome.drawio (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200" y="1304900"/>
            <a:ext cx="11232276" cy="400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g3f83fd16906_0_3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9234" y="4996534"/>
            <a:ext cx="1156220" cy="115622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g3f83fd16906_0_337"/>
          <p:cNvSpPr/>
          <p:nvPr/>
        </p:nvSpPr>
        <p:spPr>
          <a:xfrm>
            <a:off x="2106282" y="1041738"/>
            <a:ext cx="7406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044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000000"/>
              </a:solidFill>
            </a:endParaRPr>
          </a:p>
        </p:txBody>
      </p:sp>
      <p:sp>
        <p:nvSpPr>
          <p:cNvPr id="849" name="Google Shape;849;g3f83fd16906_0_337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g3f83fd16906_0_377" title="Diagrama sem nome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200" y="1304900"/>
            <a:ext cx="11232276" cy="400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g3f83fd16906_0_3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234" y="4996534"/>
            <a:ext cx="1156220" cy="115622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g3f83fd16906_0_37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3f83fd16906_0_377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f83fd16906_0_37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MalSynGen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f83fd16906_0_37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3f83fd16906_0_37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3f83fd16906_0_37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3f83fd16906_0_37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64" name="Google Shape;864;g3f83fd16906_0_3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g3f83fd16906_0_37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66" name="Google Shape;866;g3f83fd16906_0_3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g3f83fd16906_0_37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68" name="Google Shape;868;g3f83fd16906_0_3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g3f83fd16906_0_37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70" name="Google Shape;870;g3f83fd16906_0_37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g3f83fd16906_0_37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f83fd16906_0_377"/>
          <p:cNvSpPr/>
          <p:nvPr/>
        </p:nvSpPr>
        <p:spPr>
          <a:xfrm>
            <a:off x="2106282" y="1041738"/>
            <a:ext cx="7406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044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000000"/>
              </a:solidFill>
            </a:endParaRPr>
          </a:p>
        </p:txBody>
      </p:sp>
      <p:sp>
        <p:nvSpPr>
          <p:cNvPr id="873" name="Google Shape;873;g3f83fd16906_0_377"/>
          <p:cNvSpPr/>
          <p:nvPr/>
        </p:nvSpPr>
        <p:spPr>
          <a:xfrm>
            <a:off x="658375" y="1879450"/>
            <a:ext cx="1821300" cy="2902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g3f83fd16906_0_377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g3f83fd16906_0_402" title="Diagrama sem nome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200" y="1304900"/>
            <a:ext cx="11232276" cy="400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g3f83fd16906_0_4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234" y="4996534"/>
            <a:ext cx="1156220" cy="115622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g3f83fd16906_0_40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3f83fd16906_0_40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3f83fd16906_0_402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MalSynGen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f83fd16906_0_40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g3f83fd16906_0_40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g3f83fd16906_0_40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g3f83fd16906_0_40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89" name="Google Shape;889;g3f83fd16906_0_4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g3f83fd16906_0_40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91" name="Google Shape;891;g3f83fd16906_0_4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g3f83fd16906_0_40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93" name="Google Shape;893;g3f83fd16906_0_40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g3f83fd16906_0_40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95" name="Google Shape;895;g3f83fd16906_0_40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g3f83fd16906_0_40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g3f83fd16906_0_402"/>
          <p:cNvSpPr/>
          <p:nvPr/>
        </p:nvSpPr>
        <p:spPr>
          <a:xfrm>
            <a:off x="2106282" y="1041738"/>
            <a:ext cx="7406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044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000000"/>
              </a:solidFill>
            </a:endParaRPr>
          </a:p>
        </p:txBody>
      </p:sp>
      <p:sp>
        <p:nvSpPr>
          <p:cNvPr id="898" name="Google Shape;898;g3f83fd16906_0_402"/>
          <p:cNvSpPr/>
          <p:nvPr/>
        </p:nvSpPr>
        <p:spPr>
          <a:xfrm>
            <a:off x="2955025" y="1975713"/>
            <a:ext cx="5953200" cy="2902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g3f83fd16906_0_402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Google Shape;905;g3f83fd16906_0_452" title="Diagrama sem nome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200" y="1304900"/>
            <a:ext cx="11232276" cy="400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g3f83fd16906_0_4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234" y="4996534"/>
            <a:ext cx="1156220" cy="115622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g3f83fd16906_0_45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f83fd16906_0_45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f83fd16906_0_452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MalSynGen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f83fd16906_0_45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3f83fd16906_0_45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3f83fd16906_0_45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3f83fd16906_0_45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14" name="Google Shape;914;g3f83fd16906_0_4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3f83fd16906_0_45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16" name="Google Shape;916;g3f83fd16906_0_4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g3f83fd16906_0_45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18" name="Google Shape;918;g3f83fd16906_0_4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g3f83fd16906_0_45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20" name="Google Shape;920;g3f83fd16906_0_4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g3f83fd16906_0_45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f83fd16906_0_452"/>
          <p:cNvSpPr/>
          <p:nvPr/>
        </p:nvSpPr>
        <p:spPr>
          <a:xfrm>
            <a:off x="2106282" y="1041738"/>
            <a:ext cx="7406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044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000000"/>
              </a:solidFill>
            </a:endParaRPr>
          </a:p>
        </p:txBody>
      </p:sp>
      <p:sp>
        <p:nvSpPr>
          <p:cNvPr id="923" name="Google Shape;923;g3f83fd16906_0_452"/>
          <p:cNvSpPr/>
          <p:nvPr/>
        </p:nvSpPr>
        <p:spPr>
          <a:xfrm>
            <a:off x="8708875" y="1733425"/>
            <a:ext cx="3120300" cy="3575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g3f83fd16906_0_452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f83fd16906_0_47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3f83fd16906_0_477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3f83fd16906_0_47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9"/>
                  </a:ext>
                </a:extLst>
              </a:rPr>
              <a:t>Pipeline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3f83fd16906_0_47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3f83fd16906_0_47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3f83fd16906_0_47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f83fd16906_0_477"/>
          <p:cNvSpPr/>
          <p:nvPr/>
        </p:nvSpPr>
        <p:spPr>
          <a:xfrm>
            <a:off x="695493" y="2244800"/>
            <a:ext cx="10875000" cy="1980000"/>
          </a:xfrm>
          <a:prstGeom prst="roundRect">
            <a:avLst>
              <a:gd fmla="val 3000" name="adj"/>
            </a:avLst>
          </a:prstGeom>
          <a:solidFill>
            <a:srgbClr val="F4F6FA"/>
          </a:solidFill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f83fd16906_0_47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38" name="Google Shape;938;g3f83fd16906_0_4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g3f83fd16906_0_47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40" name="Google Shape;940;g3f83fd16906_0_4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g3f83fd16906_0_47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42" name="Google Shape;942;g3f83fd16906_0_4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g3f83fd16906_0_47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44" name="Google Shape;944;g3f83fd16906_0_4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g3f83fd16906_0_47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f83fd16906_0_477"/>
          <p:cNvSpPr/>
          <p:nvPr/>
        </p:nvSpPr>
        <p:spPr>
          <a:xfrm>
            <a:off x="995493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 sz="2100"/>
          </a:p>
        </p:txBody>
      </p:sp>
      <p:sp>
        <p:nvSpPr>
          <p:cNvPr id="947" name="Google Shape;947;g3f83fd16906_0_477"/>
          <p:cNvSpPr/>
          <p:nvPr/>
        </p:nvSpPr>
        <p:spPr>
          <a:xfrm>
            <a:off x="2872484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3f83fd16906_0_477"/>
          <p:cNvSpPr/>
          <p:nvPr/>
        </p:nvSpPr>
        <p:spPr>
          <a:xfrm>
            <a:off x="3102484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REDUÇÃO DE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sz="2100"/>
          </a:p>
        </p:txBody>
      </p:sp>
      <p:sp>
        <p:nvSpPr>
          <p:cNvPr id="949" name="Google Shape;949;g3f83fd16906_0_477"/>
          <p:cNvSpPr/>
          <p:nvPr/>
        </p:nvSpPr>
        <p:spPr>
          <a:xfrm>
            <a:off x="4979475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3f83fd16906_0_477"/>
          <p:cNvSpPr/>
          <p:nvPr/>
        </p:nvSpPr>
        <p:spPr>
          <a:xfrm>
            <a:off x="5209475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BALANCEAMENTO</a:t>
            </a:r>
            <a:endParaRPr b="1" i="0" sz="135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F2369"/>
              </a:solidFill>
            </a:endParaRPr>
          </a:p>
        </p:txBody>
      </p:sp>
      <p:sp>
        <p:nvSpPr>
          <p:cNvPr id="951" name="Google Shape;951;g3f83fd16906_0_477"/>
          <p:cNvSpPr/>
          <p:nvPr/>
        </p:nvSpPr>
        <p:spPr>
          <a:xfrm>
            <a:off x="7086466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f83fd16906_0_477"/>
          <p:cNvSpPr/>
          <p:nvPr/>
        </p:nvSpPr>
        <p:spPr>
          <a:xfrm>
            <a:off x="7316466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10"/>
                  </a:ext>
                </a:extLst>
              </a:rPr>
              <a:t>CLASSIF</a:t>
            </a:r>
            <a:r>
              <a:rPr b="1" lang="en-US" sz="1550">
                <a:solidFill>
                  <a:srgbClr val="0F2369"/>
                </a:solidFill>
              </a:rPr>
              <a:t>ICAÇÃO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53" name="Google Shape;953;g3f83fd16906_0_477"/>
          <p:cNvSpPr/>
          <p:nvPr/>
        </p:nvSpPr>
        <p:spPr>
          <a:xfrm>
            <a:off x="9193457" y="31648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23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f83fd16906_0_477"/>
          <p:cNvSpPr/>
          <p:nvPr/>
        </p:nvSpPr>
        <p:spPr>
          <a:xfrm>
            <a:off x="9423457" y="2634800"/>
            <a:ext cx="1847100" cy="120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(Recall/F1</a:t>
            </a: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/tempo</a:t>
            </a:r>
            <a:r>
              <a:rPr b="1" i="0" lang="en-US" sz="15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900"/>
          </a:p>
        </p:txBody>
      </p:sp>
      <p:sp>
        <p:nvSpPr>
          <p:cNvPr id="955" name="Google Shape;955;g3f83fd16906_0_477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6" name="Google Shape;956;g3f83fd16906_0_477"/>
          <p:cNvSpPr/>
          <p:nvPr/>
        </p:nvSpPr>
        <p:spPr>
          <a:xfrm>
            <a:off x="9224279" y="2285600"/>
            <a:ext cx="2258700" cy="2081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f83fd16906_0_54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3f83fd16906_0_54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f83fd16906_0_540"/>
          <p:cNvSpPr txBox="1"/>
          <p:nvPr/>
        </p:nvSpPr>
        <p:spPr>
          <a:xfrm>
            <a:off x="658368" y="621792"/>
            <a:ext cx="1087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Avaliação das métricas</a:t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965" name="Google Shape;965;g3f83fd16906_0_54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f83fd16906_0_54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f83fd16906_0_54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g3f83fd16906_0_54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69" name="Google Shape;969;g3f83fd16906_0_5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g3f83fd16906_0_54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71" name="Google Shape;971;g3f83fd16906_0_5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g3f83fd16906_0_54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73" name="Google Shape;973;g3f83fd16906_0_5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g3f83fd16906_0_54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75" name="Google Shape;975;g3f83fd16906_0_5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g3f83fd16906_0_54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3f83fd16906_0_540"/>
          <p:cNvSpPr txBox="1"/>
          <p:nvPr/>
        </p:nvSpPr>
        <p:spPr>
          <a:xfrm>
            <a:off x="340475" y="1661546"/>
            <a:ext cx="113535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chemeClr val="dk1"/>
                </a:solidFill>
              </a:rPr>
              <a:t>Optamos por priorizar Recall</a:t>
            </a:r>
            <a:endParaRPr sz="2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O F1-score foi utilizado como métrica de validação complementar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978" name="Google Shape;978;g3f83fd16906_0_540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0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10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10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10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10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0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0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Quando balancear ajuda, quando prejudica e a que custo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10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f7428e8dcb_0_79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g3f7428e8dcb_0_799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00" name="Google Shape;1000;g3f7428e8dcb_0_7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g3f7428e8dcb_0_79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002" name="Google Shape;1002;g3f7428e8dcb_0_7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g3f7428e8dcb_0_79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004" name="Google Shape;1004;g3f7428e8dcb_0_7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g3f7428e8dcb_0_79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006" name="Google Shape;1006;g3f7428e8dcb_0_7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g3f7428e8dcb_0_79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3f7428e8dcb_0_799"/>
          <p:cNvSpPr txBox="1"/>
          <p:nvPr/>
        </p:nvSpPr>
        <p:spPr>
          <a:xfrm>
            <a:off x="658368" y="365760"/>
            <a:ext cx="1087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3000">
                <a:solidFill>
                  <a:srgbClr val="0A866E"/>
                </a:solidFill>
              </a:rPr>
              <a:t>Resultados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3f7428e8dcb_0_799"/>
          <p:cNvSpPr txBox="1"/>
          <p:nvPr/>
        </p:nvSpPr>
        <p:spPr>
          <a:xfrm>
            <a:off x="720325" y="991575"/>
            <a:ext cx="10751100" cy="5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300" lIns="117300" spcFirstLastPara="1" rIns="117300" wrap="square" tIns="117300">
            <a:normAutofit/>
          </a:bodyPr>
          <a:lstStyle/>
          <a:p>
            <a:pPr indent="-488859" lvl="0" marL="586631" rtl="0" algn="l">
              <a:lnSpc>
                <a:spcPct val="200000"/>
              </a:lnSpc>
              <a:spcBef>
                <a:spcPts val="1540"/>
              </a:spcBef>
              <a:spcAft>
                <a:spcPts val="0"/>
              </a:spcAft>
              <a:buClr>
                <a:srgbClr val="000000"/>
              </a:buClr>
              <a:buSzPts val="3079"/>
              <a:buChar char="●"/>
            </a:pPr>
            <a:r>
              <a:rPr lang="en-US" sz="3079">
                <a:solidFill>
                  <a:srgbClr val="000000"/>
                </a:solidFill>
                <a:extLst>
                  <a:ext uri="http://customooxmlschemas.google.com/">
                    <go:slidesCustomData xmlns:go="http://customooxmlschemas.google.com/" textRoundtripDataId="111"/>
                  </a:ext>
                </a:extLst>
              </a:rPr>
              <a:t>130 variações de datasets (Datasets × Reduções × Balanceamentos)</a:t>
            </a:r>
            <a:endParaRPr sz="3079">
              <a:extLst>
                <a:ext uri="http://customooxmlschemas.google.com/">
                  <go:slidesCustomData xmlns:go="http://customooxmlschemas.google.com/" textRoundtripDataId="112"/>
                </a:ext>
              </a:extLst>
            </a:endParaRPr>
          </a:p>
          <a:p>
            <a:pPr indent="-488859" lvl="0" marL="586631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9"/>
              <a:buChar char="●"/>
            </a:pPr>
            <a:r>
              <a:rPr lang="en-US" sz="3079">
                <a:solidFill>
                  <a:srgbClr val="000000"/>
                </a:solidFill>
                <a:extLst>
                  <a:ext uri="http://customooxmlschemas.google.com/">
                    <go:slidesCustomData xmlns:go="http://customooxmlschemas.google.com/" textRoundtripDataId="113"/>
                  </a:ext>
                </a:extLst>
              </a:rPr>
              <a:t>~230 execuções de experimentos</a:t>
            </a:r>
            <a:endParaRPr sz="3079">
              <a:solidFill>
                <a:srgbClr val="000000"/>
              </a:solidFill>
              <a:extLst>
                <a:ext uri="http://customooxmlschemas.google.com/">
                  <go:slidesCustomData xmlns:go="http://customooxmlschemas.google.com/" textRoundtripDataId="114"/>
                </a:ext>
              </a:extLst>
            </a:endParaRPr>
          </a:p>
          <a:p>
            <a:pPr indent="-488859" lvl="0" marL="586631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9"/>
              <a:buChar char="●"/>
            </a:pPr>
            <a:r>
              <a:rPr lang="en-US" sz="3079">
                <a:solidFill>
                  <a:srgbClr val="000000"/>
                </a:solidFill>
                <a:extLst>
                  <a:ext uri="http://customooxmlschemas.google.com/">
                    <go:slidesCustomData xmlns:go="http://customooxmlschemas.google.com/" textRoundtripDataId="115"/>
                  </a:ext>
                </a:extLst>
              </a:rPr>
              <a:t>~1 mês de execução contínua</a:t>
            </a:r>
            <a:endParaRPr sz="3079">
              <a:solidFill>
                <a:srgbClr val="000000"/>
              </a:solidFill>
            </a:endParaRPr>
          </a:p>
        </p:txBody>
      </p:sp>
      <p:pic>
        <p:nvPicPr>
          <p:cNvPr id="1010" name="Google Shape;1010;g3f7428e8dcb_0_79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21579" y="3608992"/>
            <a:ext cx="2349796" cy="2414111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g3f7428e8dcb_0_799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f83fd16906_0_60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g3f83fd16906_0_605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g3f83fd16906_0_605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Datasets balanceados: distribuição de classes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g3f83fd16906_0_60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g3f83fd16906_0_60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g3f83fd16906_0_60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2" name="Google Shape;1022;g3f83fd16906_0_605"/>
          <p:cNvGraphicFramePr/>
          <p:nvPr/>
        </p:nvGraphicFramePr>
        <p:xfrm>
          <a:off x="274318" y="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{017BC0A1-B633-4078-8491-F1605408C9A9}</a:tableStyleId>
              </a:tblPr>
              <a:tblGrid>
                <a:gridCol w="2016525"/>
                <a:gridCol w="2591050"/>
                <a:gridCol w="3825375"/>
                <a:gridCol w="3343175"/>
              </a:tblGrid>
              <a:tr h="572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(B/M)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Undersampling (B/M · técnica)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Oversampling (B/M · técnica)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MH100k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92.134 / 9.800 (9,4:1)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9.800 / 9.800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92.134 / 92.134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7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KronoDroid Real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36.755 / 41.382 (1:1,1)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36.755 / 36.7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55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40.873 / 41.382 · ADASYN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7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KronoDroid Emul.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35.246 / 28.745 (1,2:1)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28.745 / 28.7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45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35.246 / 35.246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DREBIN-215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9.476 / 5.555 (1,7:1)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5.555 / 5.555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9.476 / 9.476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7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DefenseDroid PRS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5.975 / 6.000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4.827 / 4.827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6.000 / 6.000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DD API Katz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5.222 / 5.254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5.200 / 5.200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5.254 / 5.254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DD API Degree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5.222 / 5.254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5.200 / 5.200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5.254 / 5.254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DD API Closeness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5.222 / 5.254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5.200 / 5.200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5.254 / 5.254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Android Perm.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9.077 / 17.787 (1:2)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7.379 / 7.379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17.787 / 17.787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AndroCrawl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86.574 / 10.170 (8,5:1)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10.170 / 10.170 · NearMiss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86.574 / 86.574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Adroit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8.058 / 3.418 (2,4:1)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3.418 / 3.418 · NearMiss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8.058 / 8.058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3" name="Google Shape;1023;g3f83fd16906_0_60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24" name="Google Shape;1024;g3f83fd16906_0_6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g3f83fd16906_0_60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026" name="Google Shape;1026;g3f83fd16906_0_6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g3f83fd16906_0_60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028" name="Google Shape;1028;g3f83fd16906_0_6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g3f83fd16906_0_60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030" name="Google Shape;1030;g3f83fd16906_0_6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g3f83fd16906_0_60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3f83fd16906_0_605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f83fd16906_0_56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3f83fd16906_0_561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g3f83fd16906_0_561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Datasets balanceados: distribuição de classes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g3f83fd16906_0_56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g3f83fd16906_0_56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g3f83fd16906_0_56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43" name="Google Shape;1043;g3f83fd16906_0_561"/>
          <p:cNvGraphicFramePr/>
          <p:nvPr/>
        </p:nvGraphicFramePr>
        <p:xfrm>
          <a:off x="274318" y="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{017BC0A1-B633-4078-8491-F1605408C9A9}</a:tableStyleId>
              </a:tblPr>
              <a:tblGrid>
                <a:gridCol w="2016525"/>
                <a:gridCol w="2591050"/>
                <a:gridCol w="3825375"/>
                <a:gridCol w="3343175"/>
              </a:tblGrid>
              <a:tr h="572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(B/M)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Undersampling (B/M · técnica)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Oversampling (B/M · técnica)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MH100k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92.134 / 9.800 (9,4:1)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9.800 / 9.800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92.134 / 92.134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7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KronoDroid Real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36.755 / 41.382 (1:1,1)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36.755 / 36.755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40.873 / 41.382 · ADASYN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7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KronoDroid Emul.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35.246 / 28.745 (1,2:1)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28.745 / 28.745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35.246 / 35.246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DREBIN-215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9.476 / 5.555 (1,7:1)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5.555 / 5.555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9.476 / 9.476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7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DefenseDroid PRS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5.975 / 6.000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4.827 / 4.827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6.000 / 6.000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DD API Katz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5.222 / 5.254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5.200 / 5.200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5.254 / 5.254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DD API Degree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5.222 / 5.254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5.200 / 5.200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5.254 / 5.254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DD API Closeness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5.222 / 5.254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5.200 / 5.200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5.254 / 5.254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Android Perm.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9.077 / 17.787 (1:2)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7.379 / 7.379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17.787 / 17.787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AndroCrawl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86.574 / 10.170 (8,5:1)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10.170 / 10.170 · NearMiss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86.574 / 86.574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Adroit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8.058 / 3.418 (2,4:1)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3.418 / 3.418 · NearMiss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8.058 / 8.058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4" name="Google Shape;1044;g3f83fd16906_0_56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45" name="Google Shape;1045;g3f83fd16906_0_5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g3f83fd16906_0_56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047" name="Google Shape;1047;g3f83fd16906_0_5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g3f83fd16906_0_56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049" name="Google Shape;1049;g3f83fd16906_0_5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g3f83fd16906_0_56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051" name="Google Shape;1051;g3f83fd16906_0_5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g3f83fd16906_0_56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g3f83fd16906_0_561"/>
          <p:cNvSpPr/>
          <p:nvPr/>
        </p:nvSpPr>
        <p:spPr>
          <a:xfrm>
            <a:off x="6094425" y="572875"/>
            <a:ext cx="2439000" cy="5684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g3f83fd16906_0_561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f83fd16906_0_62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g3f83fd16906_0_626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3f83fd16906_0_626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Datasets balanceados: distribuição de classes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3f83fd16906_0_62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3f83fd16906_0_62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3f83fd16906_0_62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5" name="Google Shape;1065;g3f83fd16906_0_626"/>
          <p:cNvGraphicFramePr/>
          <p:nvPr/>
        </p:nvGraphicFramePr>
        <p:xfrm>
          <a:off x="274318" y="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{017BC0A1-B633-4078-8491-F1605408C9A9}</a:tableStyleId>
              </a:tblPr>
              <a:tblGrid>
                <a:gridCol w="2016525"/>
                <a:gridCol w="2591050"/>
                <a:gridCol w="3825375"/>
                <a:gridCol w="3343175"/>
              </a:tblGrid>
              <a:tr h="572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(B/M)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Undersampling (B/M · técnica)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Oversampling (B/M · técnica)</a:t>
                      </a:r>
                      <a:endParaRPr sz="1900" u="none" cap="none" strike="noStrike"/>
                    </a:p>
                  </a:txBody>
                  <a:tcPr marT="27425" marB="27425" marR="82300" marL="82300" anchor="ctr">
                    <a:solidFill>
                      <a:srgbClr val="0F2369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MH100k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92.134 / 9.800 (9,4:1)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9.800 / 9.800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92.134 / 92.134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7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KronoDroid Real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36.755 / 41.382 (1:1,1)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36.755 / 36.755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40.873 / 41.382 · ADASYN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7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KronoDroid Emul.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35.246 / 28.745 (1,2:1)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28.745 / 28.745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35.246 / 35.246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DREBIN-215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9.476 / 5.555 (1,7:1)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5.555 / 5.555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9.476 / 9.476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7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DefenseDroid PRS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5.975 / 6.000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4.827 / 4.827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6.000 / 6.000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DD API Katz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5.222 / 5.254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5.200 / 5.200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5.254 / 5.254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DD API Degree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5.222 / 5.254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5.200 / 5.200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5.254 / 5.254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DD API Closeness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5.222 / 5.254 (~1:1)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5.200 / 5.200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5.254 / 5.254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Android Perm.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9.077 / 17.787 (1:2)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7.379 / 7.379 · ENN+RandomUnder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17.787 / 17.787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AndroCrawl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86.574 / 10.170 (8,5:1)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10.170 / 10.170 · NearMiss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86.574 / 86.574 · SMOTE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EEF1F6"/>
                    </a:solidFill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Adroit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8.058 / 3.418 (2,4:1)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3.418 / 3.418 · NearMiss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8.058 / 8.058 · RandomOver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82300" marL="82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6" name="Google Shape;1066;g3f83fd16906_0_626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67" name="Google Shape;1067;g3f83fd16906_0_6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g3f83fd16906_0_626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069" name="Google Shape;1069;g3f83fd16906_0_6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g3f83fd16906_0_626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071" name="Google Shape;1071;g3f83fd16906_0_6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g3f83fd16906_0_62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073" name="Google Shape;1073;g3f83fd16906_0_6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g3f83fd16906_0_626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g3f83fd16906_0_626"/>
          <p:cNvSpPr/>
          <p:nvPr/>
        </p:nvSpPr>
        <p:spPr>
          <a:xfrm>
            <a:off x="9817850" y="599175"/>
            <a:ext cx="2136000" cy="5684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g3f83fd16906_0_626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f7428e8dcb_0_7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g3f7428e8dcb_0_71"/>
          <p:cNvSpPr txBox="1"/>
          <p:nvPr/>
        </p:nvSpPr>
        <p:spPr>
          <a:xfrm>
            <a:off x="658368" y="912482"/>
            <a:ext cx="10332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F2369"/>
                </a:solidFill>
              </a:rPr>
              <a:t>E</a:t>
            </a: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 11 datasets de malware Android, ele ajudou em 7 e prejudicou em 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g3f7428e8dcb_0_71"/>
          <p:cNvSpPr/>
          <p:nvPr/>
        </p:nvSpPr>
        <p:spPr>
          <a:xfrm>
            <a:off x="658368" y="3051155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g3f7428e8dcb_0_71"/>
          <p:cNvSpPr/>
          <p:nvPr/>
        </p:nvSpPr>
        <p:spPr>
          <a:xfrm>
            <a:off x="1492838" y="3362051"/>
            <a:ext cx="3442200" cy="20847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3f7428e8dcb_0_71"/>
          <p:cNvSpPr/>
          <p:nvPr/>
        </p:nvSpPr>
        <p:spPr>
          <a:xfrm>
            <a:off x="1492838" y="3362051"/>
            <a:ext cx="68700" cy="20847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f7428e8dcb_0_71"/>
          <p:cNvSpPr txBox="1"/>
          <p:nvPr/>
        </p:nvSpPr>
        <p:spPr>
          <a:xfrm>
            <a:off x="1803734" y="3599795"/>
            <a:ext cx="28203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Datasets com ganho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3f7428e8dcb_0_71"/>
          <p:cNvSpPr/>
          <p:nvPr/>
        </p:nvSpPr>
        <p:spPr>
          <a:xfrm>
            <a:off x="6686371" y="3362051"/>
            <a:ext cx="3442200" cy="20847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3f7428e8dcb_0_71"/>
          <p:cNvSpPr/>
          <p:nvPr/>
        </p:nvSpPr>
        <p:spPr>
          <a:xfrm>
            <a:off x="6686371" y="3362051"/>
            <a:ext cx="68700" cy="20847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3f7428e8dcb_0_71"/>
          <p:cNvSpPr txBox="1"/>
          <p:nvPr/>
        </p:nvSpPr>
        <p:spPr>
          <a:xfrm>
            <a:off x="6997267" y="3599795"/>
            <a:ext cx="2820300" cy="17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4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Datasets com degradação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g3f7428e8dcb_0_7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92" name="Google Shape;1092;g3f7428e8dcb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g3f7428e8dcb_0_7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094" name="Google Shape;1094;g3f7428e8dcb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g3f7428e8dcb_0_7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096" name="Google Shape;1096;g3f7428e8dcb_0_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g3f7428e8dcb_0_7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098" name="Google Shape;1098;g3f7428e8dcb_0_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g3f7428e8dcb_0_7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g3f7428e8dcb_0_71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2"/>
                </a:solidFill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não assumir que balancear ajuda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"/>
          <p:cNvSpPr txBox="1"/>
          <p:nvPr/>
        </p:nvSpPr>
        <p:spPr>
          <a:xfrm>
            <a:off x="658368" y="1773936"/>
            <a:ext cx="10875000" cy="28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6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7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Datasets de malware Android são muito heterogêneos.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544" lvl="0" marL="658368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Clr>
                <a:srgbClr val="6B7280"/>
              </a:buClr>
              <a:buSzPts val="2415"/>
              <a:buFont typeface="Arial"/>
              <a:buChar char="–"/>
            </a:pPr>
            <a:r>
              <a:rPr b="0" i="0" lang="en-US" sz="2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MH100k: 9,4:1 (benigno/malware); DefenseDroid: já ~1:1.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696" lvl="0" marL="310896" marR="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Clr>
                <a:srgbClr val="0A866E"/>
              </a:buClr>
              <a:buSzPts val="267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efeito do balanceamento depende de cada dataset.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544" lvl="0" marL="658368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Clr>
                <a:srgbClr val="6B7280"/>
              </a:buClr>
              <a:buSzPts val="2415"/>
              <a:buFont typeface="Arial"/>
              <a:buChar char="–"/>
            </a:pPr>
            <a:r>
              <a:rPr b="0" i="0" lang="en-US" sz="2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mesma técnica ajuda em uns datasets e prejudica em outros.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3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14" name="Google Shape;1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3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116" name="Google Shape;11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3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118" name="Google Shape;1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3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120" name="Google Shape;1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3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Quando balancear ajuda (Recall)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1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11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11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35" name="Google Shape;11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11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137" name="Google Shape;113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11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139" name="Google Shape;113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11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141" name="Google Shape;114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11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3" name="Google Shape;1143;p11" title="recallv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050" y="2252400"/>
            <a:ext cx="11273277" cy="3341253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11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f83fd16906_0_88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g3f83fd16906_0_885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g3f83fd16906_0_885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Quando balancear ajuda (Recall)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g3f83fd16906_0_88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g3f83fd16906_0_88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g3f83fd16906_0_88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f83fd16906_0_88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57" name="Google Shape;1157;g3f83fd16906_0_8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g3f83fd16906_0_88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159" name="Google Shape;1159;g3f83fd16906_0_8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g3f83fd16906_0_88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161" name="Google Shape;1161;g3f83fd16906_0_8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g3f83fd16906_0_88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163" name="Google Shape;1163;g3f83fd16906_0_8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g3f83fd16906_0_88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5" name="Google Shape;1165;g3f83fd16906_0_885" title="recallv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050" y="2252400"/>
            <a:ext cx="11273277" cy="3341253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g3f83fd16906_0_885"/>
          <p:cNvSpPr/>
          <p:nvPr/>
        </p:nvSpPr>
        <p:spPr>
          <a:xfrm>
            <a:off x="4644488" y="5880550"/>
            <a:ext cx="4400100" cy="896700"/>
          </a:xfrm>
          <a:prstGeom prst="wedgeRoundRectCallout">
            <a:avLst>
              <a:gd fmla="val -19674" name="adj1"/>
              <a:gd fmla="val -90371" name="adj2"/>
              <a:gd fmla="val 16667" name="adj3"/>
            </a:avLst>
          </a:prstGeom>
          <a:solidFill>
            <a:srgbClr val="0F2369">
              <a:alpha val="941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000000">
                <a:alpha val="30200"/>
              </a:srgbClr>
            </a:outerShdw>
          </a:effectLst>
        </p:spPr>
        <p:txBody>
          <a:bodyPr anchorCtr="0" anchor="ctr" bIns="63500" lIns="100000" spcFirstLastPara="1" rIns="1000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 &lt; 0,60 → ~0,80</a:t>
            </a:r>
            <a:endParaRPr sz="2400"/>
          </a:p>
        </p:txBody>
      </p:sp>
      <p:sp>
        <p:nvSpPr>
          <p:cNvPr id="1167" name="Google Shape;1167;g3f83fd16906_0_885"/>
          <p:cNvSpPr/>
          <p:nvPr/>
        </p:nvSpPr>
        <p:spPr>
          <a:xfrm>
            <a:off x="7650000" y="1008700"/>
            <a:ext cx="4050000" cy="1091400"/>
          </a:xfrm>
          <a:prstGeom prst="wedgeRoundRectCallout">
            <a:avLst>
              <a:gd fmla="val 27046" name="adj1"/>
              <a:gd fmla="val 89447" name="adj2"/>
              <a:gd fmla="val 16667" name="adj3"/>
            </a:avLst>
          </a:prstGeom>
          <a:solidFill>
            <a:srgbClr val="0F2369">
              <a:alpha val="941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000000">
                <a:alpha val="30200"/>
              </a:srgbClr>
            </a:outerShdw>
          </a:effectLst>
        </p:spPr>
        <p:txBody>
          <a:bodyPr anchorCtr="0" anchor="ctr" bIns="63500" lIns="100000" spcFirstLastPara="1" rIns="1000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 0,</a:t>
            </a:r>
            <a:r>
              <a:rPr lang="en-US" sz="2400">
                <a:solidFill>
                  <a:srgbClr val="FFFFFF"/>
                </a:solidFill>
              </a:rPr>
              <a:t>86  </a:t>
            </a:r>
            <a:r>
              <a:rPr lang="en-US" sz="2400">
                <a:solidFill>
                  <a:schemeClr val="lt1"/>
                </a:solidFill>
              </a:rPr>
              <a:t>→ ~0.98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/>
          </a:p>
        </p:txBody>
      </p:sp>
      <p:sp>
        <p:nvSpPr>
          <p:cNvPr id="1168" name="Google Shape;1168;g3f83fd16906_0_885"/>
          <p:cNvSpPr/>
          <p:nvPr/>
        </p:nvSpPr>
        <p:spPr>
          <a:xfrm>
            <a:off x="3980800" y="2572050"/>
            <a:ext cx="2803500" cy="3162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g3f83fd16906_0_885"/>
          <p:cNvSpPr/>
          <p:nvPr/>
        </p:nvSpPr>
        <p:spPr>
          <a:xfrm>
            <a:off x="10380400" y="2527650"/>
            <a:ext cx="1080600" cy="3162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g3f83fd16906_0_885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1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2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Quando balancear prejudica (F1)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2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2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2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12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82" name="Google Shape;11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2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184" name="Google Shape;118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12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186" name="Google Shape;118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2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188" name="Google Shape;118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12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0" name="Google Shape;1190;p12" title="f1scorev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513" y="2064725"/>
            <a:ext cx="11770010" cy="348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12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f83fd16906_0_86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g3f83fd16906_0_86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g3f83fd16906_0_86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Quando balancear prejudica (F1)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g3f83fd16906_0_86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g3f83fd16906_0_86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g3f83fd16906_0_86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g3f83fd16906_0_86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203" name="Google Shape;1203;g3f83fd16906_0_8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g3f83fd16906_0_86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205" name="Google Shape;1205;g3f83fd16906_0_8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g3f83fd16906_0_86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207" name="Google Shape;1207;g3f83fd16906_0_8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g3f83fd16906_0_86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209" name="Google Shape;1209;g3f83fd16906_0_8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g3f83fd16906_0_86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1" name="Google Shape;1211;g3f83fd16906_0_860" title="f1scorev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513" y="2064725"/>
            <a:ext cx="11770010" cy="348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g3f83fd16906_0_860"/>
          <p:cNvSpPr/>
          <p:nvPr/>
        </p:nvSpPr>
        <p:spPr>
          <a:xfrm flipH="1">
            <a:off x="1081700" y="2691500"/>
            <a:ext cx="3028500" cy="286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g3f83fd16906_0_860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4" name="Google Shape;1214;g3f83fd16906_0_860"/>
          <p:cNvSpPr/>
          <p:nvPr/>
        </p:nvSpPr>
        <p:spPr>
          <a:xfrm flipH="1">
            <a:off x="6913481" y="2843900"/>
            <a:ext cx="897900" cy="286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g3f83fd16906_0_860"/>
          <p:cNvSpPr/>
          <p:nvPr/>
        </p:nvSpPr>
        <p:spPr>
          <a:xfrm>
            <a:off x="3432150" y="1393950"/>
            <a:ext cx="4515600" cy="1029300"/>
          </a:xfrm>
          <a:prstGeom prst="wedgeRoundRectCallout">
            <a:avLst>
              <a:gd fmla="val 33300" name="adj1"/>
              <a:gd fmla="val 77847" name="adj2"/>
              <a:gd fmla="val 16667" name="adj3"/>
            </a:avLst>
          </a:prstGeom>
          <a:solidFill>
            <a:srgbClr val="0F2369">
              <a:alpha val="941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000000">
                <a:alpha val="30200"/>
              </a:srgbClr>
            </a:outerShdw>
          </a:effectLst>
        </p:spPr>
        <p:txBody>
          <a:bodyPr anchorCtr="0" anchor="ctr" bIns="63500" lIns="100000" spcFirstLastPara="1" rIns="1000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 muito abaixo de 0,70 nas versões balanceadas.</a:t>
            </a:r>
            <a:endParaRPr sz="2400"/>
          </a:p>
        </p:txBody>
      </p:sp>
      <p:sp>
        <p:nvSpPr>
          <p:cNvPr id="1216" name="Google Shape;1216;g3f83fd16906_0_860"/>
          <p:cNvSpPr/>
          <p:nvPr/>
        </p:nvSpPr>
        <p:spPr>
          <a:xfrm>
            <a:off x="3432150" y="1388300"/>
            <a:ext cx="4515600" cy="1029300"/>
          </a:xfrm>
          <a:prstGeom prst="wedgeRoundRectCallout">
            <a:avLst>
              <a:gd fmla="val -31739" name="adj1"/>
              <a:gd fmla="val 82250" name="adj2"/>
              <a:gd fmla="val 16667" name="adj3"/>
            </a:avLst>
          </a:prstGeom>
          <a:solidFill>
            <a:srgbClr val="0F2369">
              <a:alpha val="941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000000">
                <a:alpha val="30200"/>
              </a:srgbClr>
            </a:outerShdw>
          </a:effectLst>
        </p:spPr>
        <p:txBody>
          <a:bodyPr anchorCtr="0" anchor="ctr" bIns="63500" lIns="100000" spcFirstLastPara="1" rIns="1000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 </a:t>
            </a:r>
            <a:r>
              <a:rPr lang="en-US" sz="2400">
                <a:solidFill>
                  <a:srgbClr val="FFFFFF"/>
                </a:solidFill>
              </a:rPr>
              <a:t>próximo</a:t>
            </a:r>
            <a:r>
              <a:rPr lang="en-US" sz="2400">
                <a:solidFill>
                  <a:srgbClr val="FFFFFF"/>
                </a:solidFill>
              </a:rPr>
              <a:t> de zero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nas versões balanceadas.</a:t>
            </a:r>
            <a:endParaRPr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f898105a18_0_2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g3f898105a18_0_2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R</a:t>
            </a: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g3f898105a18_0_2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Indicadores estruturais: sparsity e diversity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g3f898105a18_0_2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g3f898105a18_0_2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g3f898105a18_0_2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g3f898105a18_0_2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228" name="Google Shape;1228;g3f898105a18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g3f898105a18_0_2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230" name="Google Shape;1230;g3f898105a18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g3f898105a18_0_2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232" name="Google Shape;1232;g3f898105a18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g3f898105a18_0_2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234" name="Google Shape;1234;g3f898105a18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g3f898105a18_0_2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g3f898105a18_0_24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37" name="Google Shape;1237;g3f898105a18_0_24"/>
          <p:cNvGrpSpPr/>
          <p:nvPr/>
        </p:nvGrpSpPr>
        <p:grpSpPr>
          <a:xfrm>
            <a:off x="3060460" y="188060"/>
            <a:ext cx="8674359" cy="6084724"/>
            <a:chOff x="350000" y="1776775"/>
            <a:chExt cx="5825627" cy="4086450"/>
          </a:xfrm>
        </p:grpSpPr>
        <p:pic>
          <p:nvPicPr>
            <p:cNvPr id="1238" name="Google Shape;1238;g3f898105a18_0_24"/>
            <p:cNvPicPr preferRelativeResize="0"/>
            <p:nvPr/>
          </p:nvPicPr>
          <p:blipFill rotWithShape="1">
            <a:blip r:embed="rId7">
              <a:alphaModFix/>
            </a:blip>
            <a:srcRect b="0" l="0" r="49561" t="0"/>
            <a:stretch/>
          </p:blipFill>
          <p:spPr>
            <a:xfrm>
              <a:off x="350000" y="1776775"/>
              <a:ext cx="5825627" cy="4086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9" name="Google Shape;1239;g3f898105a18_0_2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38552" y="4444775"/>
              <a:ext cx="761575" cy="205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0" name="Google Shape;1240;g3f898105a18_0_24"/>
          <p:cNvSpPr/>
          <p:nvPr/>
        </p:nvSpPr>
        <p:spPr>
          <a:xfrm>
            <a:off x="494675" y="2024750"/>
            <a:ext cx="3206400" cy="1988700"/>
          </a:xfrm>
          <a:prstGeom prst="wedgeRoundRectCallout">
            <a:avLst>
              <a:gd fmla="val 79612" name="adj1"/>
              <a:gd fmla="val 1285" name="adj2"/>
              <a:gd fmla="val 16667" name="adj3"/>
            </a:avLst>
          </a:prstGeom>
          <a:solidFill>
            <a:srgbClr val="C0392B">
              <a:alpha val="941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000000">
                <a:alpha val="30200"/>
              </a:srgbClr>
            </a:outerShdw>
          </a:effectLst>
        </p:spPr>
        <p:txBody>
          <a:bodyPr anchorCtr="0" anchor="ctr" bIns="63500" lIns="100000" spcFirstLastPara="1" rIns="1000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Sparsity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Vermelho intenso = esparsidade persistente → risco de degradação.</a:t>
            </a:r>
            <a:endParaRPr sz="2400"/>
          </a:p>
        </p:txBody>
      </p:sp>
      <p:sp>
        <p:nvSpPr>
          <p:cNvPr id="1241" name="Google Shape;1241;g3f898105a18_0_24"/>
          <p:cNvSpPr/>
          <p:nvPr/>
        </p:nvSpPr>
        <p:spPr>
          <a:xfrm flipH="1">
            <a:off x="5138800" y="324350"/>
            <a:ext cx="5241600" cy="1243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g3f898105a18_0_24"/>
          <p:cNvSpPr/>
          <p:nvPr/>
        </p:nvSpPr>
        <p:spPr>
          <a:xfrm flipH="1">
            <a:off x="5138800" y="2594250"/>
            <a:ext cx="5241600" cy="386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g3f898105a18_0_24"/>
          <p:cNvSpPr/>
          <p:nvPr/>
        </p:nvSpPr>
        <p:spPr>
          <a:xfrm>
            <a:off x="494675" y="2024750"/>
            <a:ext cx="3206400" cy="1988700"/>
          </a:xfrm>
          <a:prstGeom prst="wedgeRoundRectCallout">
            <a:avLst>
              <a:gd fmla="val 83202" name="adj1"/>
              <a:gd fmla="val -73473" name="adj2"/>
              <a:gd fmla="val 16667" name="adj3"/>
            </a:avLst>
          </a:prstGeom>
          <a:solidFill>
            <a:srgbClr val="C0392B">
              <a:alpha val="941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000000">
                <a:alpha val="30200"/>
              </a:srgbClr>
            </a:outerShdw>
          </a:effectLst>
        </p:spPr>
        <p:txBody>
          <a:bodyPr anchorCtr="0" anchor="ctr" bIns="63500" lIns="100000" spcFirstLastPara="1" rIns="1000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Sparsity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Vermelho intenso = esparsidade persistente → risco de degradação.</a:t>
            </a:r>
            <a:endParaRPr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3f83fd16906_0_673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g3f83fd16906_0_673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R</a:t>
            </a: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g3f83fd16906_0_673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Indicadores estruturais: sparsity e diversity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g3f83fd16906_0_673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g3f83fd16906_0_673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g3f83fd16906_0_673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g3f83fd16906_0_67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255" name="Google Shape;1255;g3f83fd16906_0_6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g3f83fd16906_0_673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257" name="Google Shape;1257;g3f83fd16906_0_6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g3f83fd16906_0_673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259" name="Google Shape;1259;g3f83fd16906_0_6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g3f83fd16906_0_673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261" name="Google Shape;1261;g3f83fd16906_0_6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g3f83fd16906_0_673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3" name="Google Shape;1263;g3f83fd16906_0_673"/>
          <p:cNvGrpSpPr/>
          <p:nvPr/>
        </p:nvGrpSpPr>
        <p:grpSpPr>
          <a:xfrm>
            <a:off x="3058155" y="116074"/>
            <a:ext cx="8199393" cy="5824008"/>
            <a:chOff x="6146851" y="1776775"/>
            <a:chExt cx="5753153" cy="4086450"/>
          </a:xfrm>
        </p:grpSpPr>
        <p:pic>
          <p:nvPicPr>
            <p:cNvPr id="1264" name="Google Shape;1264;g3f83fd16906_0_673"/>
            <p:cNvPicPr preferRelativeResize="0"/>
            <p:nvPr/>
          </p:nvPicPr>
          <p:blipFill rotWithShape="1">
            <a:blip r:embed="rId7">
              <a:alphaModFix/>
            </a:blip>
            <a:srcRect b="0" l="50189" r="0" t="0"/>
            <a:stretch/>
          </p:blipFill>
          <p:spPr>
            <a:xfrm>
              <a:off x="6146851" y="1776775"/>
              <a:ext cx="5753153" cy="4086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5" name="Google Shape;1265;g3f83fd16906_0_67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726719" y="4444775"/>
              <a:ext cx="761575" cy="205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6" name="Google Shape;1266;g3f83fd16906_0_673"/>
          <p:cNvSpPr/>
          <p:nvPr/>
        </p:nvSpPr>
        <p:spPr>
          <a:xfrm>
            <a:off x="274200" y="1853300"/>
            <a:ext cx="2582700" cy="2332800"/>
          </a:xfrm>
          <a:prstGeom prst="wedgeRoundRectCallout">
            <a:avLst>
              <a:gd fmla="val 86025" name="adj1"/>
              <a:gd fmla="val -90620" name="adj2"/>
              <a:gd fmla="val 16667" name="adj3"/>
            </a:avLst>
          </a:prstGeom>
          <a:solidFill>
            <a:srgbClr val="0A866E">
              <a:alpha val="941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000000">
                <a:alpha val="30200"/>
              </a:srgbClr>
            </a:outerShdw>
          </a:effectLst>
        </p:spPr>
        <p:txBody>
          <a:bodyPr anchorCtr="0" anchor="ctr" bIns="63500" lIns="100000" spcFirstLastPara="1" rIns="1000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Diversity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Verde claro = diversidade colapsada (ex.: AndroCrawl &lt; 1%).</a:t>
            </a:r>
            <a:endParaRPr sz="2400"/>
          </a:p>
        </p:txBody>
      </p:sp>
      <p:sp>
        <p:nvSpPr>
          <p:cNvPr id="1267" name="Google Shape;1267;g3f83fd16906_0_673"/>
          <p:cNvSpPr/>
          <p:nvPr/>
        </p:nvSpPr>
        <p:spPr>
          <a:xfrm flipH="1">
            <a:off x="4993800" y="651500"/>
            <a:ext cx="5085600" cy="433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g3f83fd16906_0_673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4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Custo computacional (escala log)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4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4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4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4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279" name="Google Shape;12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14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281" name="Google Shape;12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14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283" name="Google Shape;128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4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285" name="Google Shape;128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14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7" name="Google Shape;128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725" y="1589325"/>
            <a:ext cx="11417651" cy="42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4"/>
          <p:cNvSpPr/>
          <p:nvPr/>
        </p:nvSpPr>
        <p:spPr>
          <a:xfrm>
            <a:off x="10234150" y="1764500"/>
            <a:ext cx="1435200" cy="3969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R</a:t>
            </a: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4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f83fd16906_0_933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g3f83fd16906_0_933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Custo computacional (escala log)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g3f83fd16906_0_933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g3f83fd16906_0_933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g3f83fd16906_0_933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g3f83fd16906_0_93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301" name="Google Shape;1301;g3f83fd16906_0_9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g3f83fd16906_0_933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303" name="Google Shape;1303;g3f83fd16906_0_9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g3f83fd16906_0_933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305" name="Google Shape;1305;g3f83fd16906_0_9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g3f83fd16906_0_933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307" name="Google Shape;1307;g3f83fd16906_0_9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g3f83fd16906_0_933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9" name="Google Shape;1309;g3f83fd16906_0_9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725" y="1589325"/>
            <a:ext cx="11417651" cy="42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g3f83fd16906_0_933"/>
          <p:cNvSpPr/>
          <p:nvPr/>
        </p:nvSpPr>
        <p:spPr>
          <a:xfrm>
            <a:off x="3691775" y="1408175"/>
            <a:ext cx="3999900" cy="1659000"/>
          </a:xfrm>
          <a:prstGeom prst="wedgeRoundRectCallout">
            <a:avLst>
              <a:gd fmla="val 20000" name="adj1"/>
              <a:gd fmla="val 62000" name="adj2"/>
              <a:gd fmla="val 16667" name="adj3"/>
            </a:avLst>
          </a:prstGeom>
          <a:solidFill>
            <a:srgbClr val="0A866E">
              <a:alpha val="941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000000">
                <a:alpha val="30200"/>
              </a:srgbClr>
            </a:outerShdw>
          </a:effectLst>
        </p:spPr>
        <p:txBody>
          <a:bodyPr anchorCtr="0" anchor="ctr" bIns="63500" lIns="100000" spcFirstLastPara="1" rIns="1000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Redução média de tempo de ~70% nos datasets que preservaram o desempenho</a:t>
            </a:r>
            <a:endParaRPr sz="2400"/>
          </a:p>
        </p:txBody>
      </p:sp>
      <p:sp>
        <p:nvSpPr>
          <p:cNvPr id="1311" name="Google Shape;1311;g3f83fd16906_0_933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R</a:t>
            </a: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g3f83fd16906_0_933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f847060934_0_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g3f847060934_0_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Custo computacional (escala log)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g3f847060934_0_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g3f847060934_0_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g3f847060934_0_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g3f847060934_0_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323" name="Google Shape;1323;g3f84706093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g3f847060934_0_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325" name="Google Shape;1325;g3f84706093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g3f847060934_0_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327" name="Google Shape;1327;g3f84706093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g3f847060934_0_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329" name="Google Shape;1329;g3f847060934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g3f847060934_0_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1" name="Google Shape;1331;g3f847060934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725" y="1589325"/>
            <a:ext cx="11417651" cy="42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g3f847060934_0_0"/>
          <p:cNvSpPr/>
          <p:nvPr/>
        </p:nvSpPr>
        <p:spPr>
          <a:xfrm>
            <a:off x="10463075" y="1764500"/>
            <a:ext cx="1206300" cy="3969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6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g3f847060934_0_0"/>
          <p:cNvSpPr/>
          <p:nvPr/>
        </p:nvSpPr>
        <p:spPr>
          <a:xfrm>
            <a:off x="7691675" y="275275"/>
            <a:ext cx="4500000" cy="1183200"/>
          </a:xfrm>
          <a:prstGeom prst="wedgeRoundRectCallout">
            <a:avLst>
              <a:gd fmla="val 25317" name="adj1"/>
              <a:gd fmla="val 87238" name="adj2"/>
              <a:gd fmla="val 16667" name="adj3"/>
            </a:avLst>
          </a:prstGeom>
          <a:solidFill>
            <a:srgbClr val="0F2369">
              <a:alpha val="941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000000">
                <a:alpha val="30200"/>
              </a:srgbClr>
            </a:outerShdw>
          </a:effectLst>
        </p:spPr>
        <p:txBody>
          <a:bodyPr anchorCtr="0" anchor="ctr" bIns="63500" lIns="100000" spcFirstLastPara="1" rIns="1000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MH100k: 28.583 h → ~130 h (redução + undersampling): queda &gt; 99%</a:t>
            </a:r>
            <a:endParaRPr sz="2400"/>
          </a:p>
        </p:txBody>
      </p:sp>
      <p:sp>
        <p:nvSpPr>
          <p:cNvPr id="1334" name="Google Shape;1334;g3f847060934_0_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R</a:t>
            </a: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g3f847060934_0_0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f7428e8dcb_0_54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g3f7428e8dcb_0_548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g3f7428e8dcb_0_54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344" name="Google Shape;1344;g3f7428e8dcb_0_5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g3f7428e8dcb_0_54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346" name="Google Shape;1346;g3f7428e8dcb_0_5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g3f7428e8dcb_0_54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348" name="Google Shape;1348;g3f7428e8dcb_0_5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g3f7428e8dcb_0_54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350" name="Google Shape;1350;g3f7428e8dcb_0_5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g3f7428e8dcb_0_54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g3f7428e8dcb_0_548"/>
          <p:cNvSpPr/>
          <p:nvPr/>
        </p:nvSpPr>
        <p:spPr>
          <a:xfrm>
            <a:off x="1166162" y="1342233"/>
            <a:ext cx="10308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294"/>
              <a:buFont typeface="Arial"/>
              <a:buNone/>
            </a:pPr>
            <a:r>
              <a:rPr lang="en-US" sz="3040">
                <a:solidFill>
                  <a:srgbClr val="2B2B2B"/>
                </a:solidFill>
              </a:rPr>
              <a:t>Dataset reduzido + Undersampling</a:t>
            </a:r>
            <a:r>
              <a:rPr i="0" lang="en-US" sz="3040" u="none" cap="none" strike="noStrike">
                <a:solidFill>
                  <a:srgbClr val="2B2B2B"/>
                </a:solidFill>
              </a:rPr>
              <a:t> </a:t>
            </a:r>
            <a:r>
              <a:rPr lang="en-US" sz="3040">
                <a:solidFill>
                  <a:srgbClr val="2B2B2B"/>
                </a:solidFill>
              </a:rPr>
              <a:t>reduziu </a:t>
            </a:r>
            <a:r>
              <a:rPr i="0" lang="en-US" sz="3040" u="none" cap="none" strike="noStrike">
                <a:solidFill>
                  <a:srgbClr val="2B2B2B"/>
                </a:solidFill>
              </a:rPr>
              <a:t>o custo computacional sig</a:t>
            </a:r>
            <a:r>
              <a:rPr lang="en-US" sz="3040">
                <a:solidFill>
                  <a:srgbClr val="2B2B2B"/>
                </a:solidFill>
              </a:rPr>
              <a:t>nificativamente</a:t>
            </a:r>
            <a:endParaRPr i="0" sz="3040" u="none" cap="none" strike="noStrike">
              <a:solidFill>
                <a:srgbClr val="000000"/>
              </a:solidFill>
            </a:endParaRPr>
          </a:p>
        </p:txBody>
      </p:sp>
      <p:sp>
        <p:nvSpPr>
          <p:cNvPr id="1353" name="Google Shape;1353;g3f7428e8dcb_0_548"/>
          <p:cNvSpPr/>
          <p:nvPr/>
        </p:nvSpPr>
        <p:spPr>
          <a:xfrm>
            <a:off x="1166162" y="2392347"/>
            <a:ext cx="76449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53B"/>
              </a:buClr>
              <a:buSzPts val="3800"/>
              <a:buFont typeface="Arial"/>
              <a:buNone/>
            </a:pPr>
            <a:r>
              <a:rPr b="1" i="0" lang="en-US" sz="3800" u="none" cap="none" strike="sngStrike">
                <a:solidFill>
                  <a:srgbClr val="C0453B"/>
                </a:solidFill>
                <a:latin typeface="Arial"/>
                <a:ea typeface="Arial"/>
                <a:cs typeface="Arial"/>
                <a:sym typeface="Arial"/>
              </a:rPr>
              <a:t>28.583 h</a:t>
            </a:r>
            <a:r>
              <a:rPr b="1" i="0" lang="en-US" sz="3294" u="none" cap="none" strike="noStrike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   →   </a:t>
            </a:r>
            <a:r>
              <a:rPr b="1" i="0" lang="en-US" sz="7347" u="none" cap="none" strike="noStrike">
                <a:solidFill>
                  <a:srgbClr val="0C4E5D"/>
                </a:solidFill>
                <a:latin typeface="Arial"/>
                <a:ea typeface="Arial"/>
                <a:cs typeface="Arial"/>
                <a:sym typeface="Arial"/>
              </a:rPr>
              <a:t>130 h</a:t>
            </a:r>
            <a:endParaRPr b="0" i="0" sz="3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g3f7428e8dcb_0_548"/>
          <p:cNvSpPr/>
          <p:nvPr/>
        </p:nvSpPr>
        <p:spPr>
          <a:xfrm>
            <a:off x="7884284" y="2638099"/>
            <a:ext cx="2895600" cy="718200"/>
          </a:xfrm>
          <a:prstGeom prst="roundRect">
            <a:avLst>
              <a:gd fmla="val 50000" name="adj"/>
            </a:avLst>
          </a:prstGeom>
          <a:solidFill>
            <a:srgbClr val="E4F1F2"/>
          </a:solidFill>
          <a:ln>
            <a:noFill/>
          </a:ln>
        </p:spPr>
        <p:txBody>
          <a:bodyPr anchorCtr="0" anchor="ctr" bIns="115800" lIns="115800" spcFirstLastPara="1" rIns="115800" wrap="square" tIns="11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g3f7428e8dcb_0_548"/>
          <p:cNvSpPr/>
          <p:nvPr/>
        </p:nvSpPr>
        <p:spPr>
          <a:xfrm>
            <a:off x="7884284" y="2638099"/>
            <a:ext cx="2895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E5D"/>
              </a:buClr>
              <a:buSzPts val="1900"/>
              <a:buFont typeface="Arial"/>
              <a:buNone/>
            </a:pPr>
            <a:r>
              <a:rPr b="1" i="0" lang="en-US" sz="2280" u="none" cap="none" strike="noStrike">
                <a:solidFill>
                  <a:srgbClr val="0C4E5D"/>
                </a:solidFill>
                <a:latin typeface="Arial"/>
                <a:ea typeface="Arial"/>
                <a:cs typeface="Arial"/>
                <a:sym typeface="Arial"/>
              </a:rPr>
              <a:t>≈ 220× mais rápido</a:t>
            </a:r>
            <a:endParaRPr b="0" i="0" sz="2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g3f7428e8dcb_0_548"/>
          <p:cNvSpPr/>
          <p:nvPr/>
        </p:nvSpPr>
        <p:spPr>
          <a:xfrm>
            <a:off x="1189328" y="3657401"/>
            <a:ext cx="69498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20"/>
              <a:buFont typeface="Arial"/>
              <a:buNone/>
            </a:pPr>
            <a:r>
              <a:rPr b="0" i="0" lang="en-US" sz="304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MH100k — maior dataset, maior ganho</a:t>
            </a:r>
            <a:endParaRPr b="0" i="0" sz="30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g3f7428e8dcb_0_548"/>
          <p:cNvSpPr/>
          <p:nvPr/>
        </p:nvSpPr>
        <p:spPr>
          <a:xfrm>
            <a:off x="1166162" y="4410295"/>
            <a:ext cx="103089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73"/>
              <a:buFont typeface="Arial"/>
              <a:buNone/>
            </a:pPr>
            <a:r>
              <a:rPr b="1" i="0" lang="en-US" sz="304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 mesmo padrão se repete nos 11 datasets: de centenas de horas para dezenas.</a:t>
            </a:r>
            <a:endParaRPr b="0" i="0" sz="30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g3f7428e8dcb_0_548"/>
          <p:cNvSpPr/>
          <p:nvPr/>
        </p:nvSpPr>
        <p:spPr>
          <a:xfrm>
            <a:off x="1035664" y="5105268"/>
            <a:ext cx="2528400" cy="1065600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607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800" lIns="115800" spcFirstLastPara="1" rIns="115800" wrap="square" tIns="11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g3f7428e8dcb_0_548"/>
          <p:cNvSpPr/>
          <p:nvPr/>
        </p:nvSpPr>
        <p:spPr>
          <a:xfrm>
            <a:off x="1254084" y="5244260"/>
            <a:ext cx="22470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203"/>
              <a:buFont typeface="Arial"/>
              <a:buNone/>
            </a:pPr>
            <a:r>
              <a:rPr b="0" i="0" lang="en-US" sz="2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apicalls_degree</a:t>
            </a:r>
            <a:endParaRPr b="0" i="0" sz="2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g3f7428e8dcb_0_548"/>
          <p:cNvSpPr/>
          <p:nvPr/>
        </p:nvSpPr>
        <p:spPr>
          <a:xfrm>
            <a:off x="1316741" y="5591759"/>
            <a:ext cx="2096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53B"/>
              </a:buClr>
              <a:buSzPts val="1900"/>
              <a:buFont typeface="Arial"/>
              <a:buNone/>
            </a:pPr>
            <a:r>
              <a:rPr b="1" i="0" lang="en-US" sz="2280" u="none" cap="none" strike="sngStrike">
                <a:solidFill>
                  <a:srgbClr val="C0453B"/>
                </a:solidFill>
                <a:latin typeface="Arial"/>
                <a:ea typeface="Arial"/>
                <a:cs typeface="Arial"/>
                <a:sym typeface="Arial"/>
              </a:rPr>
              <a:t>736 h</a:t>
            </a:r>
            <a:r>
              <a:rPr b="1" i="0" lang="en-US" sz="2280" u="none" cap="none" strike="noStrike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2280" u="none" cap="none" strike="noStrike">
                <a:solidFill>
                  <a:srgbClr val="0C4E5D"/>
                </a:solidFill>
                <a:latin typeface="Arial"/>
                <a:ea typeface="Arial"/>
                <a:cs typeface="Arial"/>
                <a:sym typeface="Arial"/>
              </a:rPr>
              <a:t>63 h</a:t>
            </a:r>
            <a:endParaRPr b="0" i="0" sz="2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g3f7428e8dcb_0_548"/>
          <p:cNvSpPr/>
          <p:nvPr/>
        </p:nvSpPr>
        <p:spPr>
          <a:xfrm>
            <a:off x="3795486" y="5105268"/>
            <a:ext cx="2528400" cy="1065600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607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800" lIns="115800" spcFirstLastPara="1" rIns="115800" wrap="square" tIns="11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g3f7428e8dcb_0_548"/>
          <p:cNvSpPr/>
          <p:nvPr/>
        </p:nvSpPr>
        <p:spPr>
          <a:xfrm>
            <a:off x="3817274" y="5244260"/>
            <a:ext cx="26076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203"/>
              <a:buFont typeface="Arial"/>
              <a:buNone/>
            </a:pPr>
            <a:r>
              <a:rPr b="0" i="0" lang="en-US" sz="2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apicalls_closeness</a:t>
            </a:r>
            <a:endParaRPr b="0" i="0" sz="2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g3f7428e8dcb_0_548"/>
          <p:cNvSpPr/>
          <p:nvPr/>
        </p:nvSpPr>
        <p:spPr>
          <a:xfrm>
            <a:off x="3946075" y="5591759"/>
            <a:ext cx="2096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53B"/>
              </a:buClr>
              <a:buSzPts val="1900"/>
              <a:buFont typeface="Arial"/>
              <a:buNone/>
            </a:pPr>
            <a:r>
              <a:rPr b="1" i="0" lang="en-US" sz="2280" u="none" cap="none" strike="sngStrike">
                <a:solidFill>
                  <a:srgbClr val="C0453B"/>
                </a:solidFill>
                <a:latin typeface="Arial"/>
                <a:ea typeface="Arial"/>
                <a:cs typeface="Arial"/>
                <a:sym typeface="Arial"/>
              </a:rPr>
              <a:t>532 h</a:t>
            </a:r>
            <a:r>
              <a:rPr b="1" i="0" lang="en-US" sz="2280" u="none" cap="none" strike="noStrike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2280" u="none" cap="none" strike="noStrike">
                <a:solidFill>
                  <a:srgbClr val="0C4E5D"/>
                </a:solidFill>
                <a:latin typeface="Arial"/>
                <a:ea typeface="Arial"/>
                <a:cs typeface="Arial"/>
                <a:sym typeface="Arial"/>
              </a:rPr>
              <a:t>53 h</a:t>
            </a:r>
            <a:endParaRPr b="0" i="0" sz="2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g3f7428e8dcb_0_548"/>
          <p:cNvSpPr/>
          <p:nvPr/>
        </p:nvSpPr>
        <p:spPr>
          <a:xfrm>
            <a:off x="6424830" y="5105274"/>
            <a:ext cx="2397600" cy="1065600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607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800" lIns="115800" spcFirstLastPara="1" rIns="115800" wrap="square" tIns="11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g3f7428e8dcb_0_548"/>
          <p:cNvSpPr/>
          <p:nvPr/>
        </p:nvSpPr>
        <p:spPr>
          <a:xfrm>
            <a:off x="6424930" y="5244260"/>
            <a:ext cx="238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203"/>
              <a:buFont typeface="Arial"/>
              <a:buNone/>
            </a:pPr>
            <a:r>
              <a:rPr b="0" i="0" lang="en-US" sz="2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defensedroid_prs</a:t>
            </a:r>
            <a:endParaRPr b="0" i="0" sz="2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g3f7428e8dcb_0_548"/>
          <p:cNvSpPr/>
          <p:nvPr/>
        </p:nvSpPr>
        <p:spPr>
          <a:xfrm>
            <a:off x="6575409" y="5591759"/>
            <a:ext cx="2096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53B"/>
              </a:buClr>
              <a:buSzPts val="1900"/>
              <a:buFont typeface="Arial"/>
              <a:buNone/>
            </a:pPr>
            <a:r>
              <a:rPr b="1" i="0" lang="en-US" sz="2280" u="none" cap="none" strike="sngStrike">
                <a:solidFill>
                  <a:srgbClr val="C0453B"/>
                </a:solidFill>
                <a:latin typeface="Arial"/>
                <a:ea typeface="Arial"/>
                <a:cs typeface="Arial"/>
                <a:sym typeface="Arial"/>
              </a:rPr>
              <a:t>416 h</a:t>
            </a:r>
            <a:r>
              <a:rPr b="1" i="0" lang="en-US" sz="2280" u="none" cap="none" strike="noStrike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2280" u="none" cap="none" strike="noStrike">
                <a:solidFill>
                  <a:srgbClr val="0C4E5D"/>
                </a:solidFill>
                <a:latin typeface="Arial"/>
                <a:ea typeface="Arial"/>
                <a:cs typeface="Arial"/>
                <a:sym typeface="Arial"/>
              </a:rPr>
              <a:t>47 h</a:t>
            </a:r>
            <a:endParaRPr b="0" i="0" sz="2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g3f7428e8dcb_0_548"/>
          <p:cNvSpPr/>
          <p:nvPr/>
        </p:nvSpPr>
        <p:spPr>
          <a:xfrm>
            <a:off x="9054164" y="5105274"/>
            <a:ext cx="2397600" cy="1065600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607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800" lIns="115800" spcFirstLastPara="1" rIns="115800" wrap="square" tIns="11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g3f7428e8dcb_0_548"/>
          <p:cNvSpPr/>
          <p:nvPr/>
        </p:nvSpPr>
        <p:spPr>
          <a:xfrm>
            <a:off x="9204743" y="5244269"/>
            <a:ext cx="20967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203"/>
              <a:buFont typeface="Arial"/>
              <a:buNone/>
            </a:pPr>
            <a:r>
              <a:rPr b="0" i="0" lang="en-US" sz="2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kronodroid_real</a:t>
            </a:r>
            <a:endParaRPr b="0" i="0" sz="2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g3f7428e8dcb_0_548"/>
          <p:cNvSpPr/>
          <p:nvPr/>
        </p:nvSpPr>
        <p:spPr>
          <a:xfrm>
            <a:off x="9204743" y="5591759"/>
            <a:ext cx="2096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53B"/>
              </a:buClr>
              <a:buSzPts val="1900"/>
              <a:buFont typeface="Arial"/>
              <a:buNone/>
            </a:pPr>
            <a:r>
              <a:rPr b="1" i="0" lang="en-US" sz="2280" u="none" cap="none" strike="sngStrike">
                <a:solidFill>
                  <a:srgbClr val="C0453B"/>
                </a:solidFill>
                <a:latin typeface="Arial"/>
                <a:ea typeface="Arial"/>
                <a:cs typeface="Arial"/>
                <a:sym typeface="Arial"/>
              </a:rPr>
              <a:t>280 h</a:t>
            </a:r>
            <a:r>
              <a:rPr b="1" i="0" lang="en-US" sz="2280" u="none" cap="none" strike="noStrike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2280" u="none" cap="none" strike="noStrike">
                <a:solidFill>
                  <a:srgbClr val="0C4E5D"/>
                </a:solidFill>
                <a:latin typeface="Arial"/>
                <a:ea typeface="Arial"/>
                <a:cs typeface="Arial"/>
                <a:sym typeface="Arial"/>
              </a:rPr>
              <a:t>54 h</a:t>
            </a:r>
            <a:endParaRPr b="0" i="0" sz="2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g3f7428e8dcb_0_548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5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15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15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15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5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15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15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O balanceamento é uma decisão dependente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15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7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7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C</a:t>
            </a: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1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Principais achados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17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17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17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7"/>
          <p:cNvSpPr txBox="1"/>
          <p:nvPr/>
        </p:nvSpPr>
        <p:spPr>
          <a:xfrm>
            <a:off x="658379" y="1773925"/>
            <a:ext cx="105450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A866E"/>
                </a:solidFill>
              </a:rPr>
              <a:t>▪</a:t>
            </a:r>
            <a:r>
              <a:rPr lang="en-US" sz="2400">
                <a:solidFill>
                  <a:srgbClr val="1F2937"/>
                </a:solidFill>
              </a:rPr>
              <a:t>O balanceamento não é universalmente benéfico: seu efeito depende do conjunto de dados.</a:t>
            </a:r>
            <a:endParaRPr sz="2400"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A866E"/>
                </a:solidFill>
              </a:rPr>
              <a:t>▪</a:t>
            </a:r>
            <a:r>
              <a:rPr lang="en-US" sz="2400">
                <a:solidFill>
                  <a:srgbClr val="1F2937"/>
                </a:solidFill>
              </a:rPr>
              <a:t>Esparsidade e diversidade dos dados podem atuar como preditores estruturais.</a:t>
            </a:r>
            <a:endParaRPr sz="2400"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A866E"/>
                </a:solidFill>
              </a:rPr>
              <a:t>▪</a:t>
            </a:r>
            <a:r>
              <a:rPr lang="en-US" sz="2400">
                <a:solidFill>
                  <a:srgbClr val="1F2937"/>
                </a:solidFill>
              </a:rPr>
              <a:t>O balanceamento deve ser decidido caso a caso, guiado pelas características do dataset.</a:t>
            </a:r>
            <a:endParaRPr sz="2400">
              <a:solidFill>
                <a:srgbClr val="1F2937"/>
              </a:solidFill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F2937"/>
              </a:solidFill>
            </a:endParaRPr>
          </a:p>
        </p:txBody>
      </p:sp>
      <p:sp>
        <p:nvSpPr>
          <p:cNvPr id="1397" name="Google Shape;1397;p17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398" name="Google Shape;13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7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400" name="Google Shape;14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17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402" name="Google Shape;140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7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404" name="Google Shape;140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7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7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f873dab25f_0_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g3f873dab25f_0_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C</a:t>
            </a: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g3f873dab25f_0_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Trabalhos futuros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g3f873dab25f_0_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g3f873dab25f_0_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g3f873dab25f_0_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g3f873dab25f_0_0"/>
          <p:cNvSpPr txBox="1"/>
          <p:nvPr/>
        </p:nvSpPr>
        <p:spPr>
          <a:xfrm>
            <a:off x="658379" y="1773925"/>
            <a:ext cx="105450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4551" lvl="0" marL="31089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Critérios automáticos de triagem baseados em indicadores estruturais.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551" lvl="0" marL="310896" marR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Comparação direta com abordagens sensíveis a custo.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551" lvl="0" marL="310896" marR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Replicar o oversampling sob protocolo estritamente intra-fold.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g3f873dab25f_0_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420" name="Google Shape;1420;g3f873dab25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g3f873dab25f_0_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422" name="Google Shape;1422;g3f873dab25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g3f873dab25f_0_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424" name="Google Shape;1424;g3f873dab25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g3f873dab25f_0_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426" name="Google Shape;1426;g3f873dab25f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g3f873dab25f_0_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g3f873dab25f_0_0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f9b7f95bdc_0_10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g3f9b7f95bdc_0_10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436" name="Google Shape;1436;g3f9b7f95bdc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g3f9b7f95bdc_0_10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438" name="Google Shape;1438;g3f9b7f95bdc_0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g3f9b7f95bdc_0_10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440" name="Google Shape;1440;g3f9b7f95bdc_0_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g3f9b7f95bdc_0_10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442" name="Google Shape;1442;g3f9b7f95bdc_0_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g3f9b7f95bdc_0_10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g3f9b7f95bdc_0_104"/>
          <p:cNvSpPr txBox="1"/>
          <p:nvPr>
            <p:ph idx="12" type="sldNum"/>
          </p:nvPr>
        </p:nvSpPr>
        <p:spPr>
          <a:xfrm>
            <a:off x="11177825" y="6356350"/>
            <a:ext cx="406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45" name="Google Shape;1445;g3f9b7f95bdc_0_104"/>
          <p:cNvPicPr preferRelativeResize="0"/>
          <p:nvPr/>
        </p:nvPicPr>
        <p:blipFill rotWithShape="1">
          <a:blip r:embed="rId7">
            <a:alphaModFix/>
          </a:blip>
          <a:srcRect b="9894" l="0" r="0" t="0"/>
          <a:stretch/>
        </p:blipFill>
        <p:spPr>
          <a:xfrm>
            <a:off x="426600" y="152400"/>
            <a:ext cx="11613800" cy="59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8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18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18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18"/>
          <p:cNvSpPr txBox="1"/>
          <p:nvPr/>
        </p:nvSpPr>
        <p:spPr>
          <a:xfrm>
            <a:off x="658368" y="123444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8"/>
          <p:cNvSpPr/>
          <p:nvPr/>
        </p:nvSpPr>
        <p:spPr>
          <a:xfrm>
            <a:off x="658368" y="2395728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18"/>
          <p:cNvSpPr txBox="1"/>
          <p:nvPr/>
        </p:nvSpPr>
        <p:spPr>
          <a:xfrm>
            <a:off x="658368" y="267004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Perguntas são bem-vindas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18"/>
          <p:cNvSpPr txBox="1"/>
          <p:nvPr/>
        </p:nvSpPr>
        <p:spPr>
          <a:xfrm>
            <a:off x="658368" y="3310128"/>
            <a:ext cx="493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FA3D0"/>
                </a:solidFill>
                <a:latin typeface="Arial"/>
                <a:ea typeface="Arial"/>
                <a:cs typeface="Arial"/>
                <a:sym typeface="Arial"/>
              </a:rPr>
              <a:t>CONTATO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18"/>
          <p:cNvSpPr txBox="1"/>
          <p:nvPr/>
        </p:nvSpPr>
        <p:spPr>
          <a:xfrm>
            <a:off x="658368" y="3602736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Lucas Ferreira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lucasareias.aluno@unipampa.edu.br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Horizon Labs · UNIPAMPA (PPGES) · UFRGS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18"/>
          <p:cNvSpPr/>
          <p:nvPr/>
        </p:nvSpPr>
        <p:spPr>
          <a:xfrm>
            <a:off x="8412480" y="3246120"/>
            <a:ext cx="1572768" cy="157276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18"/>
          <p:cNvSpPr txBox="1"/>
          <p:nvPr/>
        </p:nvSpPr>
        <p:spPr>
          <a:xfrm>
            <a:off x="8412480" y="38404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 repositório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1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464" name="Google Shape;14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172199"/>
            <a:ext cx="1122426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465" name="Google Shape;14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6554" y="6108192"/>
            <a:ext cx="610954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466" name="Google Shape;14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3268" y="609904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467" name="Google Shape;146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468" name="Google Shape;146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1469" name="Google Shape;146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2480" y="3286120"/>
            <a:ext cx="1492768" cy="1492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58625" y="3246125"/>
            <a:ext cx="1572775" cy="1588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BSeg 2026 · AI Horizon Labs">
  <a:themeElements>
    <a:clrScheme name="SBSeg 2026">
      <a:dk1>
        <a:srgbClr val="000000"/>
      </a:dk1>
      <a:lt1>
        <a:srgbClr val="FFFFFF"/>
      </a:lt1>
      <a:dk2>
        <a:srgbClr val="1F2937"/>
      </a:dk2>
      <a:lt2>
        <a:srgbClr val="F4F6FA"/>
      </a:lt2>
      <a:accent1>
        <a:srgbClr val="0F2369"/>
      </a:accent1>
      <a:accent2>
        <a:srgbClr val="0A866E"/>
      </a:accent2>
      <a:accent3>
        <a:srgbClr val="1279BD"/>
      </a:accent3>
      <a:accent4>
        <a:srgbClr val="F7A823"/>
      </a:accent4>
      <a:accent5>
        <a:srgbClr val="6B7280"/>
      </a:accent5>
      <a:accent6>
        <a:srgbClr val="DDE3EC"/>
      </a:accent6>
      <a:hlink>
        <a:srgbClr val="1279BD"/>
      </a:hlink>
      <a:folHlink>
        <a:srgbClr val="0A86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
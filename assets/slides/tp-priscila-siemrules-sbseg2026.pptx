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1675"/>
  <p:notesSz cx="6858000" cy="9144000"/>
  <p:embeddedFontLst>
    <p:embeddedFont>
      <p:font typeface="Inter"/>
      <p:regular r:id="rId29"/>
      <p:bold r:id="rId30"/>
      <p:italic r:id="rId31"/>
      <p:boldItalic r:id="rId32"/>
    </p:embeddedFont>
    <p:embeddedFont>
      <p:font typeface="JetBrains Mono"/>
      <p:regular r:id="rId33"/>
      <p:bold r:id="rId34"/>
      <p:italic r:id="rId35"/>
      <p:boldItalic r:id="rId36"/>
    </p:embeddedFont>
    <p:embeddedFont>
      <p:font typeface="Space Grotesk"/>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9" roundtripDataSignature="AMtx7miqjB3kI26ErT6oiYEzEnpLeMS5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italic.fntdata"/><Relationship Id="rId30" Type="http://schemas.openxmlformats.org/officeDocument/2006/relationships/font" Target="fonts/Inter-bold.fntdata"/><Relationship Id="rId11" Type="http://schemas.openxmlformats.org/officeDocument/2006/relationships/slide" Target="slides/slide6.xml"/><Relationship Id="rId33" Type="http://schemas.openxmlformats.org/officeDocument/2006/relationships/font" Target="fonts/JetBrainsMono-regular.fntdata"/><Relationship Id="rId10" Type="http://schemas.openxmlformats.org/officeDocument/2006/relationships/slide" Target="slides/slide5.xml"/><Relationship Id="rId32" Type="http://schemas.openxmlformats.org/officeDocument/2006/relationships/font" Target="fonts/Inter-boldItalic.fntdata"/><Relationship Id="rId13" Type="http://schemas.openxmlformats.org/officeDocument/2006/relationships/slide" Target="slides/slide8.xml"/><Relationship Id="rId35" Type="http://schemas.openxmlformats.org/officeDocument/2006/relationships/font" Target="fonts/JetBrainsMono-italic.fntdata"/><Relationship Id="rId12" Type="http://schemas.openxmlformats.org/officeDocument/2006/relationships/slide" Target="slides/slide7.xml"/><Relationship Id="rId34" Type="http://schemas.openxmlformats.org/officeDocument/2006/relationships/font" Target="fonts/JetBrainsMono-bold.fntdata"/><Relationship Id="rId15" Type="http://schemas.openxmlformats.org/officeDocument/2006/relationships/slide" Target="slides/slide10.xml"/><Relationship Id="rId37" Type="http://schemas.openxmlformats.org/officeDocument/2006/relationships/font" Target="fonts/SpaceGrotesk-regular.fntdata"/><Relationship Id="rId14" Type="http://schemas.openxmlformats.org/officeDocument/2006/relationships/slide" Target="slides/slide9.xml"/><Relationship Id="rId36" Type="http://schemas.openxmlformats.org/officeDocument/2006/relationships/font" Target="fonts/JetBrainsMono-boldItalic.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SpaceGrotesk-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 s] Boa tarde. Cristhian Kapelinski, UNIPAMPA, apresentando o trabalho da Priscila Schafhauzer, do Marcio Pohlmann e do Diego Kreutz. A pergunta deste trabalho é curta: uma LLM consegue escrever regra de SIEM que reflita o contexto da organização que vai rodar a regra? Vou direto ao problema.</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 As organizações usam plataformas de SIEM para juntar evento de segurança e dirigir a atenção do analista num parque grande. O Wazuh relata mais de 15 milhões de endpoints protegidos e 100 mil usuários corporativos, número de 2026. Nessa escala, decisão genérica de severidade decide o que chega ao centro de operações. E o conjunto de regras que vem de fábrica não sabe nada sobre a casa que vai rodá-lo: todo login bem-sucedido casa a regra 5715 e sai como alerta de nível 3, mesmo quando é rotina pela política do site; e uma tentativa isolada com usuário inválido casa a 5710, nível 5, embora o analista modelado trate esse ruído da Internet como severidade baixa. As regras não estão erradas em abstrato: estão mal casadas com a casa.</a:t>
            </a:r>
            <a:endParaRPr/>
          </a:p>
        </p:txBody>
      </p:sp>
      <p:sp>
        <p:nvSpPr>
          <p:cNvPr id="112" name="Google Shape;11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[47 s] A saída óbvia é escrever regra local que expresse o que cada organização espera, e isso é trabalhoso: alguém tem de traduzir a política interna em XML, regra por regra. Trabalhos recentes mostram que modelo de linguagem sabe escrever lógica de detecção. Schwartz et al. compilam regra Sigma a partir de relatório de inteligência; o RuleGenie detecta regra redundante num SIEM já implantado; o RAM mapeia regra existente para o MITRE ATT&amp;CK; e Bertiger et al. avaliam detecção escrita por modelo. Todos partem de conteúdo de ameaça, de mapeamento de arcabouço ou de regra que já existe. Nenhum parte do perfil da organização que vai rodar a regra. O slide de reserva traz a tabela de posicionamento, se alguém quiser o detalhe.</a:t>
            </a:r>
            <a:endParaRPr/>
          </a:p>
        </p:txBody>
      </p:sp>
      <p:sp>
        <p:nvSpPr>
          <p:cNvPr id="133" name="Google Shape;133;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[26 s] A pergunta que fazemos é outra. Dado só uma descrição curta da organização e o catálogo de identificadores de regra que ela já herda, um modelo atual consegue escrever regra local que aproxime a classificação automática do julgamento do analista daquela organização? É a única formulação da literatura que condiciona a geração ao site. Adianto que o resultado é negativo, e vou mostrar exatamente onde ele quebra.</a:t>
            </a:r>
            <a:endParaRPr/>
          </a:p>
        </p:txBody>
      </p:sp>
      <p:sp>
        <p:nvSpPr>
          <p:cNvPr id="153" name="Google Shape;153;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[39 s] Os dados são linhas de auth.log de dois servidores SSH expostos da UNIPAMPA, coletadas em cinco dias consecutivos de maio de 2026, cerca de 325 mil linhas. Uma amostra uniforme seria dominada por ruído: cerca de quarenta por cento de sessão do systemd-logind e vinte por cento de fechamento antes da autenticação. Então a amostra é estratificada, com mil linhas e cota por comportamento, dimensionada para cada classe ter exemplo suficiente para métrica por classe. De cada estrato sai a cada k-ésima linha em ordem de tempo, sem semente aleatória, o que torna a seleção reproduzível e cobre a janela inteira.</a:t>
            </a:r>
            <a:endParaRPr/>
          </a:p>
        </p:txBody>
      </p:sp>
      <p:sp>
        <p:nvSpPr>
          <p:cNvPr id="172" name="Google Shape;17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[56 s] As cotas por comportamento são estas seis. Cento e noventa e oito logins aceitos, duzentas tentativas com usuário inválido, cento e cinquenta senhas incorretas, quarenta e cinco escaladas de privilégio por su ou sudo, cento e vinte e três desconexões, e o resto, duzentos e oitenta e quatro, é ruído de sessão e de conexão. As quarenta e cinco escaladas merecem uma observação: elas não são uma cota, são o censo completo de todos os usos de su e sudo da janela. E atenção, porque a pergunta vem: esses quarenta e cinco não são quarenta e cinco escaladas para root. Só quinze dos mil eventos levam o rótulo alta, e o rótulo alta é exatamente escalada a root por su ou sudo. A amostra liberada troca IP por faixa da RFC 5737, usuário por substituto, exceto root, e nome de máquina por srv01 e srv02.</a:t>
            </a:r>
            <a:endParaRPr/>
          </a:p>
        </p:txBody>
      </p:sp>
      <p:sp>
        <p:nvSpPr>
          <p:cNvPr id="190" name="Google Shape;190;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[38 s] O perfil da organização é hipotético e fica congelado no prompt. Ele diz que o servidor tem IP público, recebe tráfego externo contínuo, opera sem restrição de horário comercial e aceita SSH legítimo só das faixas institucionais do país. Os quatro princípios entregues ao modelo são estes quatro, e guardem o primeiro e o terceiro, porque a briga entre eles é o resultado deste trabalho. E é importante dizer: o perfil é inspirado num ambiente acadêmico, não descreve a infraestrutura da UNIPAMPA nem a política real daqueles dois servidores. O experimento mede concordância com essa política assumida, sobre evento real.</a:t>
            </a:r>
            <a:endParaRPr/>
          </a:p>
        </p:txBody>
      </p:sp>
      <p:sp>
        <p:nvSpPr>
          <p:cNvPr id="211" name="Google Shape;21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[44 s] O padrão-ouro é manual, um rótulo de severidade por evento, e evento do mesmo padrão recebe a mesma decisão. Login bem-sucedido de IP institucional é nenhum; de IP do país mas fora da instituição é média; de fora do país seria crítico, embora nenhum caso desses apareça na amostra. Tentativa isolada com usuário inválido é baixa, e uma sequência sustentada, dez ou mais por máquina, é média. Escalada para root via su ou sudo é alta. Sessão e desconexão são nenhum. E um ponto de credibilidade: um coautor que não participou do desenho do prompt rotulou os mesmos mil eventos de forma independente, seguindo o mesmo perfil, e as divergências foram resolvidas por consenso.</a:t>
            </a:r>
            <a:endParaRPr/>
          </a:p>
        </p:txBody>
      </p:sp>
      <p:sp>
        <p:nvSpPr>
          <p:cNvPr id="234" name="Google Shape;234;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A distribuição fica em 644 nenhum, 92 baixa, 249 média, 15 alta e zero crítico. A severidade usa os níveis numéricos do Wazuh agrupados em quatro faixas, mais a categoria nenhum, para o que não deve escalar. E reparem no zero da direita: não há nenhum login bem-sucedido de fora do país na janela, então a classe crítico fica sem suporte. Não injetamos caso sintético, porque o padrão-ouro é para representar evento observado, e não incidente construído.</a:t>
            </a:r>
            <a:endParaRPr/>
          </a:p>
        </p:txBody>
      </p:sp>
      <p:sp>
        <p:nvSpPr>
          <p:cNvPr id="254" name="Google Shape;254;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[37 s] As regras são geradas pelo Claude Opus 4.7, em sessão isolada, com o prompt base congelado, em 2026. O prompt entrega a persona, o perfil da organização e os quatro princípios, a escala de severidade, um catálogo de dezessete identificadores de regra nativos do Wazuh, distribuídos em quinze entradas, para uso em if_sid e if_matched_sid, e as convenções de sintaxe da regra local: identificador de cem mil para cima, que é o que separa a regra gerada do conjunto nativo, frequência, janela de tempo e same_srcip. A saída é XML dentro de um único group.</a:t>
            </a:r>
            <a:endParaRPr/>
          </a:p>
        </p:txBody>
      </p:sp>
      <p:sp>
        <p:nvSpPr>
          <p:cNvPr id="285" name="Google Shape;28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[30 s] E o prompt omite duas coisas de propósito: nenhum mapeamento de severidade por cenário e nenhum exemplo de linha de log. O modelo tem de inferir quais comportamentos merecem regra e em que nível, que é exatamente o que queremos medir. Rodamos quatro variantes: o prompt base duas vezes, para medir a variabilidade entre execuções; uma ablação mínima, que tira o exemplo de XML mas mantém o catálogo; e uma com quatro linhas de log de exemplo.</a:t>
            </a:r>
            <a:endParaRPr/>
          </a:p>
        </p:txBody>
      </p:sp>
      <p:sp>
        <p:nvSpPr>
          <p:cNvPr id="304" name="Google Shape;304;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[38 s] O resultado é negativo, então vou dizê-lo direto. As quatro configurações com regra gerada perdem para a linha de base nativa do Wazuh. A acurácia cai 4,4 pontos percentuais, de 0,633 para 0,589. O F1 ponderado cai 3,1 pontos, de 0,695 para 0,665, e o macro-F1 cai bem mais, de 0,486 para 0,362. Um detalhe que importa para a credibilidade: com o prompt congelado, a variabilidade entre execuções é zero. As execuções A e B produzem classificação idêntica, e as duas ablações diferem por um único evento. Não é ruído de amostragem do modelo, é o comportamento do modelo.</a:t>
            </a:r>
            <a:endParaRPr/>
          </a:p>
        </p:txBody>
      </p:sp>
      <p:sp>
        <p:nvSpPr>
          <p:cNvPr id="319" name="Google Shape;319;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[47 s] E a perda inteira cabe numa linha da matriz. As duas matrizes de confusão são quase idênticas: mesma linha de nenhum, mesma linha de alta. A diferença está na linha de média. No nativo, 247 dos 249 eventos de média saem como média. Com a regra gerada, 203 continuam média, 45 são escalados para alta e um vai para crítico. Quarenta e seis superescalações, e elas têm cara: são tentativa de login vinda de fora que NÃO deu certo, usuário inválido e senha errada em sequência, que o analista trata como média porque não houve impacto. É isso, e só isso, que derruba os 4,4 pontos. Um resultado negativo com modo de falha único e localizável vale muito mais que uma queda difusa.</a:t>
            </a:r>
            <a:endParaRPr/>
          </a:p>
        </p:txBody>
      </p:sp>
      <p:sp>
        <p:nvSpPr>
          <p:cNvPr id="336" name="Google Shape;336;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[44 s] A causa é identificável no XML gerado, não é caixa-preta. O modelo tratou o primeiro princípio, o de que geografia é o sinal mais forte, como um multiplicador global: a maioria das regras que casam IP externo atribui nível 9 a 14, tenha a tentativa dado certo ou não. Isso sobrepesa a origem e subpesa o impacto efetivo, que era o terceiro princípio. O efeito aparece direto na precisão da classe alta, que cai de 0,923 no nativo para 0,203. O recall de alta não muda, continua 0,800: o modelo não perdeu escalada verdadeira, ele passou a chamar de alta muita coisa que não é. Ele obedeceu ao primeiro princípio e atropelou o terceiro.</a:t>
            </a:r>
            <a:endParaRPr/>
          </a:p>
        </p:txBody>
      </p:sp>
      <p:sp>
        <p:nvSpPr>
          <p:cNvPr id="357" name="Google Shape;357;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[42 s] Há uma segunda restrição, e ela é tão instrutiva quanto a primeira. As métricas da classe nenhum são idênticas em todas as configurações, recall 0,581 em todas, e a razão é estrutural: regra local entra POR CIMA do conjunto nativo. Para reproduzir o rótulo nenhum num evento que o nativo alerta seria preciso uma regra filha de nível zero, ou supressão equivalente. O prompt especifica sintaxe e severidade, mas não pede nem exemplifica supressão, e nenhum dos quatro conjuntos gerados tem regra de nível zero. Por isso os 270 logins institucionais continuam alertando. Isso caracteriza o que foi produzido, não o teto do que regra gerada por LLM conseguiria fazer.</a:t>
            </a:r>
            <a:endParaRPr/>
          </a:p>
        </p:txBody>
      </p:sp>
      <p:sp>
        <p:nvSpPr>
          <p:cNvPr id="380" name="Google Shape;380;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[78 s] A pergunta mais difícil deste trabalho não é se o modelo escreve regra: é como avaliar a regra que ele escreve. O achado metodológico é que F1 sobre faixa de severidade é um proxy numérico útil, mas não isola as propriedades que importam num centro de operações, e nenhum escalar sozinho captura a interação entre elas. A primeira vista é reinjetar log novo: o mesmo procedimento que fizemos, mas numa janela de log POSTERIOR, que não foi usada nem para escrever a regra nem para rotular, e relatar total de alertas, distribuição de severidade, alerta duplicado e disparo por regra gerada, e não só o acerto por evento. A segunda é a revisão cega por especialista: sintaxe, plausibilidade do limiar e risco operacional, inclusive das regras que nunca disparam na amostra. Regra que não dispara não aparece em métrica nenhuma, e ainda assim vai para produção. E a terceira é o teste de cobertura de comportamento: login externo, movimentação lateral, força bruta lenta e pulverização de senha. E o arcabouço tem de testar as quatro operações, criação, escalada, rebaixamento e supressão de nível zero, senão regra aditiva nunca reproduz a decisão nenhum do analista. Melhorar essa triangulação informa mais que otimizar F1 agregado.</a:t>
            </a:r>
            <a:endParaRPr/>
          </a:p>
        </p:txBody>
      </p:sp>
      <p:sp>
        <p:nvSpPr>
          <p:cNvPr id="401" name="Google Shape;401;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[51 s] Os limites, ditos por nós. A amostra é de cinco dias e dois hosts, e não contém nenhum login bem-sucedido de fora do país, então a classe crítico fica sem suporte. Todas as gerações usam um modelo só, o Claude Opus 4.7, então a variação entre famílias de modelo fica sem medida. E prompts e rótulos foram desenhados pelos autores, então o risco de contaminação não pode ser descartado, apesar da rotulagem independente. Há mais duas no artigo: o perfil hipotético não reproduz a política heterogênea dos hosts reais, e a anonimização preserva a distinção institucional contra externo mas apaga a geolocalização fina. Dentro desse escopo, a conclusão é a que os números sustentam: a regra gerada piora a classificação, por superescalar tentativa externa malsucedida e por não conseguir silenciar o alerta nativo.</a:t>
            </a:r>
            <a:endParaRPr/>
          </a:p>
        </p:txBody>
      </p:sp>
      <p:sp>
        <p:nvSpPr>
          <p:cNvPr id="417" name="Google Shape;417;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s] Este é o slide do Comitê de Artefatos. O CTA avalia o artefato de cada trabalho aceito, num processo separado da revisão do artigo, e concede até quatro selos. Da esquerda para a direita: Artefatos Disponíveis, que pede repositório público e estável com documentação mínima ligando o artefato ao artigo; Artefatos Funcionais, que exige que o avaliador consiga instalar, executar e ver a funcionalidade descrita; Artefatos Sustentáveis, que cobra código modularizado, legível e documentado, a ponto de o avaliador achar no código as reivindicações do artigo; e Experimentos Reprodutíveis, que exige que o avaliador recompute os números do artigo a partir do repositório. Este artefato recebeu os quatro. Na prática isso quer dizer que os números que mostrei foram recomputados por outra pessoa, do zero, sem ajuda dos autores.</a:t>
            </a:r>
            <a:endParaRPr/>
          </a:p>
        </p:txBody>
      </p:sp>
      <p:sp>
        <p:nvSpPr>
          <p:cNvPr id="437" name="Google Shape;437;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[10 s] Obrigado. O artefato traz o conjunto de dados rotulado, os prompts, as regras geradas e os scripts de avaliação, para reexecução independente. Fico à disposição.</a:t>
            </a:r>
            <a:endParaRPr/>
          </a:p>
        </p:txBody>
      </p:sp>
      <p:sp>
        <p:nvSpPr>
          <p:cNvPr id="450" name="Google Shape;45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de reserva. A classe baixa não está na tela porque é 0,000 em precisão, recall e F1 nas duas configurações. A classe nenhum é idêntica nas duas, pela ausência de regra de supressão. A média perde recall. E a alta é onde tudo acontece: o recall continua 0,800, mas a precisão cai de 0,923 para 0,203.</a:t>
            </a:r>
            <a:endParaRPr/>
          </a:p>
        </p:txBody>
      </p:sp>
      <p:sp>
        <p:nvSpPr>
          <p:cNvPr id="478" name="Google Shape;478;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de reserva, a Tabela 1 do artigo. A coluna de avaliação ficou na fala: as quatro primeiras linhas relatam precisão, recall e F1, a de NetFlow relata AUC, o Bertiger et al. relata precisão e custo, e a nossa relata F1 contra o padrão-ouro. A fila do DeepLog representa a linha inteira de detector de anomalia sobre sequência de log: DeepLog de 2017, LogBERT de 2021 e LogGPT de 2023. As linhas de cima detectam anomalia mas não geram regra implantável. As do meio geram, mas a partir de conteúdo de ameaça ou de regra já existente. A última linha é este trabalho, e é a única que condiciona a geração ao perfil do site.</a:t>
            </a:r>
            <a:endParaRPr/>
          </a:p>
        </p:txBody>
      </p:sp>
      <p:sp>
        <p:nvSpPr>
          <p:cNvPr id="524" name="Google Shape;524;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de reserva. É a Figura 1 do artigo. O mesmo conjunto de mil eventos passa por todas as configurações, e a linha bruta de log serve de chave para juntar as execuções. ERRATA: a figura diz "15 native IDs"; o número correto, já corrigido no texto do artigo, é 17 identificadores nativos em 15 entradas de catálogo.</a:t>
            </a:r>
            <a:endParaRPr/>
          </a:p>
        </p:txBody>
      </p:sp>
      <p:sp>
        <p:nvSpPr>
          <p:cNvPr id="559" name="Google Shape;559;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de reserva. É a Figura 2 do artigo. ERRATA: a figura diz "4 days"; a coleta foi de cinco dias consecutivos, 17 a 21 de maio de 2026, como diz o texto. A amostra é injetada acrescentando linha a um localfile que o manager lê continuamente, então a ingestão é idêntica à entrega por agente. Com logall_json ligado, todo evento decodificado fica registrado mesmo quando nenhum alerta é gerado, e é isso que dá rótulo para os 644 casos de nenhum.</a:t>
            </a:r>
            <a:endParaRPr/>
          </a:p>
        </p:txBody>
      </p:sp>
      <p:sp>
        <p:nvSpPr>
          <p:cNvPr id="570" name="Google Shape;57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11" Type="http://schemas.openxmlformats.org/officeDocument/2006/relationships/image" Target="../media/image8.png"/><Relationship Id="rId10" Type="http://schemas.openxmlformats.org/officeDocument/2006/relationships/image" Target="../media/image9.png"/><Relationship Id="rId9"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jpg"/><Relationship Id="rId4" Type="http://schemas.openxmlformats.org/officeDocument/2006/relationships/image" Target="../media/image10.png"/><Relationship Id="rId9"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141B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0"/>
            <a:ext cx="12191695" cy="91440"/>
          </a:xfrm>
          <a:prstGeom prst="rect">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9171432" y="3840480"/>
            <a:ext cx="6035040" cy="6035040"/>
          </a:xfrm>
          <a:prstGeom prst="ellipse">
            <a:avLst/>
          </a:prstGeom>
          <a:noFill/>
          <a:ln cap="flat" cmpd="sng" w="19050">
            <a:solidFill>
              <a:srgbClr val="242E4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p:nvPr/>
        </p:nvSpPr>
        <p:spPr>
          <a:xfrm>
            <a:off x="9902952" y="4572000"/>
            <a:ext cx="4572000" cy="4572000"/>
          </a:xfrm>
          <a:prstGeom prst="ellipse">
            <a:avLst/>
          </a:prstGeom>
          <a:noFill/>
          <a:ln cap="flat" cmpd="sng" w="19050">
            <a:solidFill>
              <a:srgbClr val="242E4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p:nvPr/>
        </p:nvSpPr>
        <p:spPr>
          <a:xfrm>
            <a:off x="10634472" y="5303520"/>
            <a:ext cx="3108960" cy="3108960"/>
          </a:xfrm>
          <a:prstGeom prst="ellipse">
            <a:avLst/>
          </a:prstGeom>
          <a:noFill/>
          <a:ln cap="flat" cmpd="sng" w="19050">
            <a:solidFill>
              <a:srgbClr val="242E4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658368" y="310896"/>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XXVI SIMPÓSIO BRASILEIRO DE CIBERSEGURANÇA  ·  SBSEG 2026</a:t>
            </a:r>
            <a:endParaRPr/>
          </a:p>
        </p:txBody>
      </p:sp>
      <p:sp>
        <p:nvSpPr>
          <p:cNvPr id="91" name="Google Shape;91;p1"/>
          <p:cNvSpPr txBox="1"/>
          <p:nvPr/>
        </p:nvSpPr>
        <p:spPr>
          <a:xfrm>
            <a:off x="658368" y="658368"/>
            <a:ext cx="10881360" cy="3474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FDEBD9"/>
                </a:solidFill>
                <a:latin typeface="Inter"/>
                <a:ea typeface="Inter"/>
                <a:cs typeface="Inter"/>
                <a:sym typeface="Inter"/>
              </a:rPr>
              <a:t>1 a 4 de setembro de 2026  ·  Armação dos Búzios, RJ</a:t>
            </a:r>
            <a:endParaRPr/>
          </a:p>
        </p:txBody>
      </p:sp>
      <p:sp>
        <p:nvSpPr>
          <p:cNvPr id="92" name="Google Shape;92;p1"/>
          <p:cNvSpPr txBox="1"/>
          <p:nvPr/>
        </p:nvSpPr>
        <p:spPr>
          <a:xfrm>
            <a:off x="658368" y="1078992"/>
            <a:ext cx="10881360" cy="233172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1" i="0" lang="en-US" sz="4000" u="none" cap="none" strike="noStrike">
                <a:solidFill>
                  <a:srgbClr val="FFFFFF"/>
                </a:solidFill>
                <a:latin typeface="Space Grotesk"/>
                <a:ea typeface="Space Grotesk"/>
                <a:cs typeface="Space Grotesk"/>
                <a:sym typeface="Space Grotesk"/>
              </a:rPr>
              <a:t>Context-Aware SIEM Rule Generation</a:t>
            </a:r>
            <a:endParaRPr/>
          </a:p>
          <a:p>
            <a:pPr indent="0" lvl="0" marL="0" marR="0" rtl="0" algn="l">
              <a:lnSpc>
                <a:spcPct val="118000"/>
              </a:lnSpc>
              <a:spcBef>
                <a:spcPts val="0"/>
              </a:spcBef>
              <a:spcAft>
                <a:spcPts val="0"/>
              </a:spcAft>
              <a:buNone/>
            </a:pPr>
            <a:r>
              <a:rPr b="1" i="0" lang="en-US" sz="4000" u="none" cap="none" strike="noStrike">
                <a:solidFill>
                  <a:srgbClr val="FFFFFF"/>
                </a:solidFill>
                <a:latin typeface="Space Grotesk"/>
                <a:ea typeface="Space Grotesk"/>
                <a:cs typeface="Space Grotesk"/>
                <a:sym typeface="Space Grotesk"/>
              </a:rPr>
              <a:t>with LLMs:</a:t>
            </a:r>
            <a:endParaRPr/>
          </a:p>
          <a:p>
            <a:pPr indent="0" lvl="0" marL="0" marR="0" rtl="0" algn="l">
              <a:lnSpc>
                <a:spcPct val="118000"/>
              </a:lnSpc>
              <a:spcBef>
                <a:spcPts val="0"/>
              </a:spcBef>
              <a:spcAft>
                <a:spcPts val="0"/>
              </a:spcAft>
              <a:buNone/>
            </a:pPr>
            <a:r>
              <a:rPr b="1" i="0" lang="en-US" sz="4000" u="none" cap="none" strike="noStrike">
                <a:solidFill>
                  <a:srgbClr val="FFFFFF"/>
                </a:solidFill>
                <a:latin typeface="Space Grotesk"/>
                <a:ea typeface="Space Grotesk"/>
                <a:cs typeface="Space Grotesk"/>
                <a:sym typeface="Space Grotesk"/>
              </a:rPr>
              <a:t>When Site Profiles Are Not Enough</a:t>
            </a:r>
            <a:endParaRPr/>
          </a:p>
        </p:txBody>
      </p:sp>
      <p:sp>
        <p:nvSpPr>
          <p:cNvPr id="93" name="Google Shape;93;p1"/>
          <p:cNvSpPr txBox="1"/>
          <p:nvPr/>
        </p:nvSpPr>
        <p:spPr>
          <a:xfrm>
            <a:off x="658368" y="3456432"/>
            <a:ext cx="10881360"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FDEBD9"/>
                </a:solidFill>
                <a:latin typeface="Inter"/>
                <a:ea typeface="Inter"/>
                <a:cs typeface="Inter"/>
                <a:sym typeface="Inter"/>
              </a:rPr>
              <a:t>Geração de regras de SIEM sensível ao contexto organizacional com LLMs</a:t>
            </a:r>
            <a:endParaRPr/>
          </a:p>
        </p:txBody>
      </p:sp>
      <p:sp>
        <p:nvSpPr>
          <p:cNvPr id="94" name="Google Shape;94;p1"/>
          <p:cNvSpPr/>
          <p:nvPr/>
        </p:nvSpPr>
        <p:spPr>
          <a:xfrm>
            <a:off x="658368" y="3986784"/>
            <a:ext cx="1463040" cy="54864"/>
          </a:xfrm>
          <a:prstGeom prst="rect">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 name="Google Shape;95;p1"/>
          <p:cNvSpPr txBox="1"/>
          <p:nvPr/>
        </p:nvSpPr>
        <p:spPr>
          <a:xfrm>
            <a:off x="658368" y="4169663"/>
            <a:ext cx="7772400" cy="105156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600" u="none" cap="none" strike="noStrike">
                <a:solidFill>
                  <a:srgbClr val="FFFFFF"/>
                </a:solidFill>
                <a:latin typeface="Inter"/>
                <a:ea typeface="Inter"/>
                <a:cs typeface="Inter"/>
                <a:sym typeface="Inter"/>
              </a:rPr>
              <a:t>Priscila Schafhauzer  ·  Cristhian Kapelinski</a:t>
            </a:r>
            <a:endParaRPr/>
          </a:p>
          <a:p>
            <a:pPr indent="0" lvl="0" marL="0" marR="0" rtl="0" algn="l">
              <a:lnSpc>
                <a:spcPct val="120000"/>
              </a:lnSpc>
              <a:spcBef>
                <a:spcPts val="0"/>
              </a:spcBef>
              <a:spcAft>
                <a:spcPts val="0"/>
              </a:spcAft>
              <a:buNone/>
            </a:pPr>
            <a:r>
              <a:rPr b="1" i="0" lang="en-US" sz="2600" u="none" cap="none" strike="noStrike">
                <a:solidFill>
                  <a:srgbClr val="FFFFFF"/>
                </a:solidFill>
                <a:latin typeface="Inter"/>
                <a:ea typeface="Inter"/>
                <a:cs typeface="Inter"/>
                <a:sym typeface="Inter"/>
              </a:rPr>
              <a:t>Marcio Pohlmann  ·  Diego Kreutz</a:t>
            </a:r>
            <a:endParaRPr/>
          </a:p>
        </p:txBody>
      </p:sp>
      <p:sp>
        <p:nvSpPr>
          <p:cNvPr id="96" name="Google Shape;96;p1"/>
          <p:cNvSpPr txBox="1"/>
          <p:nvPr/>
        </p:nvSpPr>
        <p:spPr>
          <a:xfrm>
            <a:off x="658368" y="5376672"/>
            <a:ext cx="10881360"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FDEBD9"/>
                </a:solidFill>
                <a:latin typeface="Inter"/>
                <a:ea typeface="Inter"/>
                <a:cs typeface="Inter"/>
                <a:sym typeface="Inter"/>
              </a:rPr>
              <a:t>AI Horizon Labs  ·  PPGES  ·  Universidade Federal do Pampa (UNIPAMPA)</a:t>
            </a:r>
            <a:endParaRPr/>
          </a:p>
        </p:txBody>
      </p:sp>
      <p:pic>
        <p:nvPicPr>
          <p:cNvPr descr="disponiveis.png" id="97" name="Google Shape;97;p1"/>
          <p:cNvPicPr preferRelativeResize="0"/>
          <p:nvPr/>
        </p:nvPicPr>
        <p:blipFill rotWithShape="1">
          <a:blip r:embed="rId3">
            <a:alphaModFix/>
          </a:blip>
          <a:srcRect b="0" l="0" r="0" t="0"/>
          <a:stretch/>
        </p:blipFill>
        <p:spPr>
          <a:xfrm>
            <a:off x="8686800" y="4096512"/>
            <a:ext cx="566928" cy="566928"/>
          </a:xfrm>
          <a:prstGeom prst="rect">
            <a:avLst/>
          </a:prstGeom>
          <a:noFill/>
          <a:ln>
            <a:noFill/>
          </a:ln>
        </p:spPr>
      </p:pic>
      <p:pic>
        <p:nvPicPr>
          <p:cNvPr descr="funcionais.png" id="98" name="Google Shape;98;p1"/>
          <p:cNvPicPr preferRelativeResize="0"/>
          <p:nvPr/>
        </p:nvPicPr>
        <p:blipFill rotWithShape="1">
          <a:blip r:embed="rId4">
            <a:alphaModFix/>
          </a:blip>
          <a:srcRect b="0" l="0" r="0" t="0"/>
          <a:stretch/>
        </p:blipFill>
        <p:spPr>
          <a:xfrm>
            <a:off x="9345168" y="4096512"/>
            <a:ext cx="566928" cy="566928"/>
          </a:xfrm>
          <a:prstGeom prst="rect">
            <a:avLst/>
          </a:prstGeom>
          <a:noFill/>
          <a:ln>
            <a:noFill/>
          </a:ln>
        </p:spPr>
      </p:pic>
      <p:pic>
        <p:nvPicPr>
          <p:cNvPr descr="sustentaveis.png" id="99" name="Google Shape;99;p1"/>
          <p:cNvPicPr preferRelativeResize="0"/>
          <p:nvPr/>
        </p:nvPicPr>
        <p:blipFill rotWithShape="1">
          <a:blip r:embed="rId5">
            <a:alphaModFix/>
          </a:blip>
          <a:srcRect b="0" l="0" r="0" t="0"/>
          <a:stretch/>
        </p:blipFill>
        <p:spPr>
          <a:xfrm>
            <a:off x="8686800" y="4754880"/>
            <a:ext cx="566928" cy="566928"/>
          </a:xfrm>
          <a:prstGeom prst="rect">
            <a:avLst/>
          </a:prstGeom>
          <a:noFill/>
          <a:ln>
            <a:noFill/>
          </a:ln>
        </p:spPr>
      </p:pic>
      <p:pic>
        <p:nvPicPr>
          <p:cNvPr descr="reproduziveis.png" id="100" name="Google Shape;100;p1"/>
          <p:cNvPicPr preferRelativeResize="0"/>
          <p:nvPr/>
        </p:nvPicPr>
        <p:blipFill rotWithShape="1">
          <a:blip r:embed="rId6">
            <a:alphaModFix/>
          </a:blip>
          <a:srcRect b="0" l="0" r="0" t="0"/>
          <a:stretch/>
        </p:blipFill>
        <p:spPr>
          <a:xfrm>
            <a:off x="9345168" y="4754880"/>
            <a:ext cx="566928" cy="566928"/>
          </a:xfrm>
          <a:prstGeom prst="rect">
            <a:avLst/>
          </a:prstGeom>
          <a:noFill/>
          <a:ln>
            <a:noFill/>
          </a:ln>
        </p:spPr>
      </p:pic>
      <p:sp>
        <p:nvSpPr>
          <p:cNvPr id="101" name="Google Shape;101;p1"/>
          <p:cNvSpPr/>
          <p:nvPr/>
        </p:nvSpPr>
        <p:spPr>
          <a:xfrm>
            <a:off x="10241280" y="4041648"/>
            <a:ext cx="1298448" cy="1298448"/>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bseg2026.png" id="102" name="Google Shape;102;p1"/>
          <p:cNvPicPr preferRelativeResize="0"/>
          <p:nvPr/>
        </p:nvPicPr>
        <p:blipFill rotWithShape="1">
          <a:blip r:embed="rId7">
            <a:alphaModFix/>
          </a:blip>
          <a:srcRect b="0" l="0" r="0" t="0"/>
          <a:stretch/>
        </p:blipFill>
        <p:spPr>
          <a:xfrm>
            <a:off x="10369296" y="4401764"/>
            <a:ext cx="1042415" cy="578215"/>
          </a:xfrm>
          <a:prstGeom prst="rect">
            <a:avLst/>
          </a:prstGeom>
          <a:noFill/>
          <a:ln>
            <a:noFill/>
          </a:ln>
        </p:spPr>
      </p:pic>
      <p:sp>
        <p:nvSpPr>
          <p:cNvPr id="103" name="Google Shape;103;p1"/>
          <p:cNvSpPr/>
          <p:nvPr/>
        </p:nvSpPr>
        <p:spPr>
          <a:xfrm>
            <a:off x="0" y="5833872"/>
            <a:ext cx="12191695" cy="102412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aihorizonlabs.png" id="104" name="Google Shape;104;p1"/>
          <p:cNvPicPr preferRelativeResize="0"/>
          <p:nvPr/>
        </p:nvPicPr>
        <p:blipFill rotWithShape="1">
          <a:blip r:embed="rId8">
            <a:alphaModFix/>
          </a:blip>
          <a:srcRect b="0" l="0" r="0" t="0"/>
          <a:stretch/>
        </p:blipFill>
        <p:spPr>
          <a:xfrm>
            <a:off x="-4" y="5916172"/>
            <a:ext cx="3853558" cy="941825"/>
          </a:xfrm>
          <a:prstGeom prst="rect">
            <a:avLst/>
          </a:prstGeom>
          <a:noFill/>
          <a:ln>
            <a:noFill/>
          </a:ln>
        </p:spPr>
      </p:pic>
      <p:pic>
        <p:nvPicPr>
          <p:cNvPr descr="unipampa.png" id="105" name="Google Shape;105;p1"/>
          <p:cNvPicPr preferRelativeResize="0"/>
          <p:nvPr/>
        </p:nvPicPr>
        <p:blipFill rotWithShape="1">
          <a:blip r:embed="rId9">
            <a:alphaModFix/>
          </a:blip>
          <a:srcRect b="0" l="0" r="0" t="0"/>
          <a:stretch/>
        </p:blipFill>
        <p:spPr>
          <a:xfrm>
            <a:off x="3969169" y="5828075"/>
            <a:ext cx="1596807" cy="1051550"/>
          </a:xfrm>
          <a:prstGeom prst="rect">
            <a:avLst/>
          </a:prstGeom>
          <a:noFill/>
          <a:ln>
            <a:noFill/>
          </a:ln>
        </p:spPr>
      </p:pic>
      <p:pic>
        <p:nvPicPr>
          <p:cNvPr descr="sbseg2026.png" id="106" name="Google Shape;106;p1"/>
          <p:cNvPicPr preferRelativeResize="0"/>
          <p:nvPr/>
        </p:nvPicPr>
        <p:blipFill rotWithShape="1">
          <a:blip r:embed="rId7">
            <a:alphaModFix/>
          </a:blip>
          <a:srcRect b="0" l="0" r="0" t="0"/>
          <a:stretch/>
        </p:blipFill>
        <p:spPr>
          <a:xfrm>
            <a:off x="8293773" y="5815600"/>
            <a:ext cx="1846303" cy="1024125"/>
          </a:xfrm>
          <a:prstGeom prst="rect">
            <a:avLst/>
          </a:prstGeom>
          <a:noFill/>
          <a:ln>
            <a:noFill/>
          </a:ln>
        </p:spPr>
      </p:pic>
      <p:pic>
        <p:nvPicPr>
          <p:cNvPr descr="uff.png" id="107" name="Google Shape;107;p1"/>
          <p:cNvPicPr preferRelativeResize="0"/>
          <p:nvPr/>
        </p:nvPicPr>
        <p:blipFill rotWithShape="1">
          <a:blip r:embed="rId10">
            <a:alphaModFix/>
          </a:blip>
          <a:srcRect b="0" l="0" r="0" t="0"/>
          <a:stretch/>
        </p:blipFill>
        <p:spPr>
          <a:xfrm>
            <a:off x="10318693" y="5797295"/>
            <a:ext cx="1042400" cy="1070196"/>
          </a:xfrm>
          <a:prstGeom prst="rect">
            <a:avLst/>
          </a:prstGeom>
          <a:noFill/>
          <a:ln>
            <a:noFill/>
          </a:ln>
        </p:spPr>
      </p:pic>
      <p:pic>
        <p:nvPicPr>
          <p:cNvPr descr="sbc.png" id="108" name="Google Shape;108;p1"/>
          <p:cNvPicPr preferRelativeResize="0"/>
          <p:nvPr/>
        </p:nvPicPr>
        <p:blipFill rotWithShape="1">
          <a:blip r:embed="rId11">
            <a:alphaModFix/>
          </a:blip>
          <a:srcRect b="0" l="0" r="0" t="0"/>
          <a:stretch/>
        </p:blipFill>
        <p:spPr>
          <a:xfrm>
            <a:off x="11539725" y="5797301"/>
            <a:ext cx="679723" cy="1024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115" name="Google Shape;115;p2"/>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02</a:t>
            </a:r>
            <a:endParaRPr/>
          </a:p>
        </p:txBody>
      </p:sp>
      <p:sp>
        <p:nvSpPr>
          <p:cNvPr id="116" name="Google Shape;116;p2"/>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O PROBLEMA</a:t>
            </a:r>
            <a:endParaRPr/>
          </a:p>
        </p:txBody>
      </p:sp>
      <p:sp>
        <p:nvSpPr>
          <p:cNvPr id="117" name="Google Shape;117;p2"/>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Do evento ao contexto</a:t>
            </a:r>
            <a:endParaRPr/>
          </a:p>
        </p:txBody>
      </p:sp>
      <p:sp>
        <p:nvSpPr>
          <p:cNvPr id="118" name="Google Shape;118;p2"/>
          <p:cNvSpPr/>
          <p:nvPr/>
        </p:nvSpPr>
        <p:spPr>
          <a:xfrm>
            <a:off x="502920" y="1874519"/>
            <a:ext cx="3246120" cy="124358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2"/>
          <p:cNvSpPr txBox="1"/>
          <p:nvPr/>
        </p:nvSpPr>
        <p:spPr>
          <a:xfrm>
            <a:off x="649224" y="1874519"/>
            <a:ext cx="2953512" cy="1243584"/>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EVENTOS</a:t>
            </a:r>
            <a:endParaRPr/>
          </a:p>
        </p:txBody>
      </p:sp>
      <p:sp>
        <p:nvSpPr>
          <p:cNvPr id="120" name="Google Shape;120;p2"/>
          <p:cNvSpPr txBox="1"/>
          <p:nvPr/>
        </p:nvSpPr>
        <p:spPr>
          <a:xfrm>
            <a:off x="3749040" y="1874519"/>
            <a:ext cx="731520" cy="12435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E8833A"/>
                </a:solidFill>
                <a:latin typeface="Inter"/>
                <a:ea typeface="Inter"/>
                <a:cs typeface="Inter"/>
                <a:sym typeface="Inter"/>
              </a:rPr>
              <a:t>→</a:t>
            </a:r>
            <a:endParaRPr/>
          </a:p>
        </p:txBody>
      </p:sp>
      <p:sp>
        <p:nvSpPr>
          <p:cNvPr id="121" name="Google Shape;121;p2"/>
          <p:cNvSpPr/>
          <p:nvPr/>
        </p:nvSpPr>
        <p:spPr>
          <a:xfrm>
            <a:off x="4480560" y="1874519"/>
            <a:ext cx="3246120" cy="124358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2"/>
          <p:cNvSpPr txBox="1"/>
          <p:nvPr/>
        </p:nvSpPr>
        <p:spPr>
          <a:xfrm>
            <a:off x="4626864" y="1874519"/>
            <a:ext cx="2953512" cy="1243584"/>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WAZUH</a:t>
            </a:r>
            <a:endParaRPr/>
          </a:p>
        </p:txBody>
      </p:sp>
      <p:sp>
        <p:nvSpPr>
          <p:cNvPr id="123" name="Google Shape;123;p2"/>
          <p:cNvSpPr txBox="1"/>
          <p:nvPr/>
        </p:nvSpPr>
        <p:spPr>
          <a:xfrm>
            <a:off x="7726680" y="1874519"/>
            <a:ext cx="731520" cy="124358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E8833A"/>
                </a:solidFill>
                <a:latin typeface="Inter"/>
                <a:ea typeface="Inter"/>
                <a:cs typeface="Inter"/>
                <a:sym typeface="Inter"/>
              </a:rPr>
              <a:t>→</a:t>
            </a:r>
            <a:endParaRPr/>
          </a:p>
        </p:txBody>
      </p:sp>
      <p:sp>
        <p:nvSpPr>
          <p:cNvPr id="124" name="Google Shape;124;p2"/>
          <p:cNvSpPr/>
          <p:nvPr/>
        </p:nvSpPr>
        <p:spPr>
          <a:xfrm>
            <a:off x="8458200" y="1874519"/>
            <a:ext cx="3246120" cy="124358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2"/>
          <p:cNvSpPr txBox="1"/>
          <p:nvPr/>
        </p:nvSpPr>
        <p:spPr>
          <a:xfrm>
            <a:off x="8604504" y="1874519"/>
            <a:ext cx="2953512" cy="1243584"/>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ALERTAS</a:t>
            </a:r>
            <a:endParaRPr/>
          </a:p>
        </p:txBody>
      </p:sp>
      <p:sp>
        <p:nvSpPr>
          <p:cNvPr id="126" name="Google Shape;126;p2"/>
          <p:cNvSpPr/>
          <p:nvPr/>
        </p:nvSpPr>
        <p:spPr>
          <a:xfrm>
            <a:off x="1133856" y="3529584"/>
            <a:ext cx="9930384" cy="1042415"/>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2"/>
          <p:cNvSpPr txBox="1"/>
          <p:nvPr/>
        </p:nvSpPr>
        <p:spPr>
          <a:xfrm>
            <a:off x="1371600" y="3529584"/>
            <a:ext cx="9454896" cy="1042415"/>
          </a:xfrm>
          <a:prstGeom prst="rect">
            <a:avLst/>
          </a:prstGeom>
          <a:noFill/>
          <a:ln>
            <a:noFill/>
          </a:ln>
        </p:spPr>
        <p:txBody>
          <a:bodyPr anchorCtr="0" anchor="ctr" bIns="0" lIns="0" spcFirstLastPara="1" rIns="0" wrap="square" tIns="0">
            <a:spAutoFit/>
          </a:bodyPr>
          <a:lstStyle/>
          <a:p>
            <a:pPr indent="0" lvl="0" marL="0" marR="0" rtl="0" algn="ctr">
              <a:lnSpc>
                <a:spcPct val="114000"/>
              </a:lnSpc>
              <a:spcBef>
                <a:spcPts val="0"/>
              </a:spcBef>
              <a:spcAft>
                <a:spcPts val="0"/>
              </a:spcAft>
              <a:buNone/>
            </a:pPr>
            <a:r>
              <a:rPr b="1" i="0" lang="en-US" sz="4000" u="none" cap="none" strike="noStrike">
                <a:solidFill>
                  <a:srgbClr val="14161A"/>
                </a:solidFill>
                <a:latin typeface="Inter"/>
                <a:ea typeface="Inter"/>
                <a:cs typeface="Inter"/>
                <a:sym typeface="Inter"/>
              </a:rPr>
              <a:t>A regra nativa é genérica</a:t>
            </a:r>
            <a:endParaRPr/>
          </a:p>
        </p:txBody>
      </p:sp>
      <p:sp>
        <p:nvSpPr>
          <p:cNvPr id="128" name="Google Shape;128;p2"/>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2"/>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Mesmo evento, peso diferente por organização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136" name="Google Shape;136;p3"/>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03</a:t>
            </a:r>
            <a:endParaRPr/>
          </a:p>
        </p:txBody>
      </p:sp>
      <p:sp>
        <p:nvSpPr>
          <p:cNvPr id="137" name="Google Shape;137;p3"/>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O PROBLEMA</a:t>
            </a:r>
            <a:endParaRPr/>
          </a:p>
        </p:txBody>
      </p:sp>
      <p:sp>
        <p:nvSpPr>
          <p:cNvPr id="138" name="Google Shape;138;p3"/>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Contextualizar a regra é manual</a:t>
            </a:r>
            <a:endParaRPr/>
          </a:p>
        </p:txBody>
      </p:sp>
      <p:sp>
        <p:nvSpPr>
          <p:cNvPr id="139" name="Google Shape;139;p3"/>
          <p:cNvSpPr/>
          <p:nvPr/>
        </p:nvSpPr>
        <p:spPr>
          <a:xfrm>
            <a:off x="502920" y="1828800"/>
            <a:ext cx="11201400" cy="106070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3"/>
          <p:cNvSpPr txBox="1"/>
          <p:nvPr/>
        </p:nvSpPr>
        <p:spPr>
          <a:xfrm>
            <a:off x="777240" y="1828800"/>
            <a:ext cx="2011680" cy="10607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HOJE</a:t>
            </a:r>
            <a:endParaRPr/>
          </a:p>
        </p:txBody>
      </p:sp>
      <p:sp>
        <p:nvSpPr>
          <p:cNvPr id="141" name="Google Shape;141;p3"/>
          <p:cNvSpPr txBox="1"/>
          <p:nvPr/>
        </p:nvSpPr>
        <p:spPr>
          <a:xfrm>
            <a:off x="3337560" y="1828800"/>
            <a:ext cx="8092440" cy="1060704"/>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Tradução manual da política</a:t>
            </a:r>
            <a:endParaRPr/>
          </a:p>
        </p:txBody>
      </p:sp>
      <p:sp>
        <p:nvSpPr>
          <p:cNvPr id="142" name="Google Shape;142;p3"/>
          <p:cNvSpPr/>
          <p:nvPr/>
        </p:nvSpPr>
        <p:spPr>
          <a:xfrm>
            <a:off x="502920" y="2980944"/>
            <a:ext cx="11201400" cy="106070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3"/>
          <p:cNvSpPr txBox="1"/>
          <p:nvPr/>
        </p:nvSpPr>
        <p:spPr>
          <a:xfrm>
            <a:off x="777240" y="2980944"/>
            <a:ext cx="2619216" cy="10607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LLM JÁ FAZ</a:t>
            </a:r>
            <a:endParaRPr/>
          </a:p>
        </p:txBody>
      </p:sp>
      <p:sp>
        <p:nvSpPr>
          <p:cNvPr id="144" name="Google Shape;144;p3"/>
          <p:cNvSpPr txBox="1"/>
          <p:nvPr/>
        </p:nvSpPr>
        <p:spPr>
          <a:xfrm>
            <a:off x="3945096" y="2980944"/>
            <a:ext cx="7484903" cy="1060704"/>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Detecção, MITRE ATT&amp;CK, redundância</a:t>
            </a:r>
            <a:endParaRPr/>
          </a:p>
        </p:txBody>
      </p:sp>
      <p:sp>
        <p:nvSpPr>
          <p:cNvPr id="145" name="Google Shape;145;p3"/>
          <p:cNvSpPr/>
          <p:nvPr/>
        </p:nvSpPr>
        <p:spPr>
          <a:xfrm>
            <a:off x="502920" y="4133087"/>
            <a:ext cx="11201400" cy="106070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3"/>
          <p:cNvSpPr txBox="1"/>
          <p:nvPr/>
        </p:nvSpPr>
        <p:spPr>
          <a:xfrm>
            <a:off x="777240" y="4133087"/>
            <a:ext cx="2382242" cy="10607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A LACUNA</a:t>
            </a:r>
            <a:endParaRPr/>
          </a:p>
        </p:txBody>
      </p:sp>
      <p:sp>
        <p:nvSpPr>
          <p:cNvPr id="147" name="Google Shape;147;p3"/>
          <p:cNvSpPr txBox="1"/>
          <p:nvPr/>
        </p:nvSpPr>
        <p:spPr>
          <a:xfrm>
            <a:off x="3708122" y="4133087"/>
            <a:ext cx="7721877" cy="1060704"/>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O contexto da organização</a:t>
            </a:r>
            <a:endParaRPr/>
          </a:p>
        </p:txBody>
      </p:sp>
      <p:sp>
        <p:nvSpPr>
          <p:cNvPr id="148" name="Google Shape;148;p3"/>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3"/>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A regra deve refletir o ambiente organizacional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4"/>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156" name="Google Shape;156;p4"/>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04</a:t>
            </a:r>
            <a:endParaRPr/>
          </a:p>
        </p:txBody>
      </p:sp>
      <p:sp>
        <p:nvSpPr>
          <p:cNvPr id="157" name="Google Shape;157;p4"/>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O PROBLEMA</a:t>
            </a:r>
            <a:endParaRPr/>
          </a:p>
        </p:txBody>
      </p:sp>
      <p:sp>
        <p:nvSpPr>
          <p:cNvPr id="158" name="Google Shape;158;p4"/>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A pergunta deste trabalho</a:t>
            </a:r>
            <a:endParaRPr/>
          </a:p>
        </p:txBody>
      </p:sp>
      <p:sp>
        <p:nvSpPr>
          <p:cNvPr id="159" name="Google Shape;159;p4"/>
          <p:cNvSpPr/>
          <p:nvPr/>
        </p:nvSpPr>
        <p:spPr>
          <a:xfrm>
            <a:off x="1133856" y="1828800"/>
            <a:ext cx="9930384" cy="2322575"/>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4"/>
          <p:cNvSpPr txBox="1"/>
          <p:nvPr/>
        </p:nvSpPr>
        <p:spPr>
          <a:xfrm>
            <a:off x="1371600" y="1828800"/>
            <a:ext cx="9454896" cy="2322575"/>
          </a:xfrm>
          <a:prstGeom prst="rect">
            <a:avLst/>
          </a:prstGeom>
          <a:noFill/>
          <a:ln>
            <a:noFill/>
          </a:ln>
        </p:spPr>
        <p:txBody>
          <a:bodyPr anchorCtr="0" anchor="ctr" bIns="0" lIns="0" spcFirstLastPara="1" rIns="0" wrap="square" tIns="0">
            <a:spAutoFit/>
          </a:bodyPr>
          <a:lstStyle/>
          <a:p>
            <a:pPr indent="0" lvl="0" marL="0" marR="0" rtl="0" algn="ctr">
              <a:lnSpc>
                <a:spcPct val="114000"/>
              </a:lnSpc>
              <a:spcBef>
                <a:spcPts val="0"/>
              </a:spcBef>
              <a:spcAft>
                <a:spcPts val="0"/>
              </a:spcAft>
              <a:buNone/>
            </a:pPr>
            <a:r>
              <a:rPr b="1" i="0" lang="en-US" sz="4000" u="none" cap="none" strike="noStrike">
                <a:solidFill>
                  <a:srgbClr val="14161A"/>
                </a:solidFill>
                <a:latin typeface="Inter"/>
                <a:ea typeface="Inter"/>
                <a:cs typeface="Inter"/>
                <a:sym typeface="Inter"/>
              </a:rPr>
              <a:t>Uma LLM consegue usar o contexto da organização para gerar regra Wazuh alinhada ao analista?</a:t>
            </a:r>
            <a:endParaRPr/>
          </a:p>
        </p:txBody>
      </p:sp>
      <p:sp>
        <p:nvSpPr>
          <p:cNvPr id="161" name="Google Shape;161;p4"/>
          <p:cNvSpPr/>
          <p:nvPr/>
        </p:nvSpPr>
        <p:spPr>
          <a:xfrm>
            <a:off x="502920" y="4370832"/>
            <a:ext cx="3246120" cy="111556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4"/>
          <p:cNvSpPr txBox="1"/>
          <p:nvPr/>
        </p:nvSpPr>
        <p:spPr>
          <a:xfrm>
            <a:off x="649224" y="4370832"/>
            <a:ext cx="2953512" cy="111556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CONTEXTO</a:t>
            </a:r>
            <a:endParaRPr/>
          </a:p>
        </p:txBody>
      </p:sp>
      <p:sp>
        <p:nvSpPr>
          <p:cNvPr id="163" name="Google Shape;163;p4"/>
          <p:cNvSpPr txBox="1"/>
          <p:nvPr/>
        </p:nvSpPr>
        <p:spPr>
          <a:xfrm>
            <a:off x="3749040" y="4370832"/>
            <a:ext cx="731520" cy="111556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E8833A"/>
                </a:solidFill>
                <a:latin typeface="Inter"/>
                <a:ea typeface="Inter"/>
                <a:cs typeface="Inter"/>
                <a:sym typeface="Inter"/>
              </a:rPr>
              <a:t>→</a:t>
            </a:r>
            <a:endParaRPr/>
          </a:p>
        </p:txBody>
      </p:sp>
      <p:sp>
        <p:nvSpPr>
          <p:cNvPr id="164" name="Google Shape;164;p4"/>
          <p:cNvSpPr/>
          <p:nvPr/>
        </p:nvSpPr>
        <p:spPr>
          <a:xfrm>
            <a:off x="4480560" y="4370832"/>
            <a:ext cx="3246120" cy="111556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4"/>
          <p:cNvSpPr txBox="1"/>
          <p:nvPr/>
        </p:nvSpPr>
        <p:spPr>
          <a:xfrm>
            <a:off x="4626864" y="4370832"/>
            <a:ext cx="2953512" cy="111556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LLM</a:t>
            </a:r>
            <a:endParaRPr/>
          </a:p>
        </p:txBody>
      </p:sp>
      <p:sp>
        <p:nvSpPr>
          <p:cNvPr id="166" name="Google Shape;166;p4"/>
          <p:cNvSpPr txBox="1"/>
          <p:nvPr/>
        </p:nvSpPr>
        <p:spPr>
          <a:xfrm>
            <a:off x="7726680" y="4370832"/>
            <a:ext cx="731520" cy="111556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E8833A"/>
                </a:solidFill>
                <a:latin typeface="Inter"/>
                <a:ea typeface="Inter"/>
                <a:cs typeface="Inter"/>
                <a:sym typeface="Inter"/>
              </a:rPr>
              <a:t>→</a:t>
            </a:r>
            <a:endParaRPr/>
          </a:p>
        </p:txBody>
      </p:sp>
      <p:sp>
        <p:nvSpPr>
          <p:cNvPr id="167" name="Google Shape;167;p4"/>
          <p:cNvSpPr/>
          <p:nvPr/>
        </p:nvSpPr>
        <p:spPr>
          <a:xfrm>
            <a:off x="8458200" y="4370832"/>
            <a:ext cx="3246120" cy="111556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4"/>
          <p:cNvSpPr txBox="1"/>
          <p:nvPr/>
        </p:nvSpPr>
        <p:spPr>
          <a:xfrm>
            <a:off x="8604504" y="4370832"/>
            <a:ext cx="2953512" cy="1115568"/>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REGRAS WAZUH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175" name="Google Shape;175;p5"/>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05</a:t>
            </a:r>
            <a:endParaRPr/>
          </a:p>
        </p:txBody>
      </p:sp>
      <p:sp>
        <p:nvSpPr>
          <p:cNvPr id="176" name="Google Shape;176;p5"/>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01 · O ESTUDO</a:t>
            </a:r>
            <a:endParaRPr/>
          </a:p>
        </p:txBody>
      </p:sp>
      <p:sp>
        <p:nvSpPr>
          <p:cNvPr id="177" name="Google Shape;177;p5"/>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Coleta e amostragem</a:t>
            </a:r>
            <a:endParaRPr/>
          </a:p>
        </p:txBody>
      </p:sp>
      <p:sp>
        <p:nvSpPr>
          <p:cNvPr id="178" name="Google Shape;178;p5"/>
          <p:cNvSpPr/>
          <p:nvPr/>
        </p:nvSpPr>
        <p:spPr>
          <a:xfrm>
            <a:off x="502920" y="1828800"/>
            <a:ext cx="11201400" cy="233172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5"/>
          <p:cNvSpPr txBox="1"/>
          <p:nvPr/>
        </p:nvSpPr>
        <p:spPr>
          <a:xfrm>
            <a:off x="731520" y="2048256"/>
            <a:ext cx="4754880" cy="12252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7200" u="none" cap="none" strike="noStrike">
                <a:solidFill>
                  <a:srgbClr val="14161A"/>
                </a:solidFill>
                <a:latin typeface="JetBrains Mono"/>
                <a:ea typeface="JetBrains Mono"/>
                <a:cs typeface="JetBrains Mono"/>
                <a:sym typeface="JetBrains Mono"/>
              </a:rPr>
              <a:t>325 mil</a:t>
            </a:r>
            <a:endParaRPr/>
          </a:p>
        </p:txBody>
      </p:sp>
      <p:sp>
        <p:nvSpPr>
          <p:cNvPr id="180" name="Google Shape;180;p5"/>
          <p:cNvSpPr txBox="1"/>
          <p:nvPr/>
        </p:nvSpPr>
        <p:spPr>
          <a:xfrm>
            <a:off x="731520" y="3310128"/>
            <a:ext cx="4754880"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linhas de auth.log</a:t>
            </a:r>
            <a:endParaRPr/>
          </a:p>
        </p:txBody>
      </p:sp>
      <p:sp>
        <p:nvSpPr>
          <p:cNvPr id="181" name="Google Shape;181;p5"/>
          <p:cNvSpPr txBox="1"/>
          <p:nvPr/>
        </p:nvSpPr>
        <p:spPr>
          <a:xfrm>
            <a:off x="5577840" y="2048256"/>
            <a:ext cx="1005840" cy="12252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E8833A"/>
                </a:solidFill>
                <a:latin typeface="Inter"/>
                <a:ea typeface="Inter"/>
                <a:cs typeface="Inter"/>
                <a:sym typeface="Inter"/>
              </a:rPr>
              <a:t>→</a:t>
            </a:r>
            <a:endParaRPr/>
          </a:p>
        </p:txBody>
      </p:sp>
      <p:sp>
        <p:nvSpPr>
          <p:cNvPr id="182" name="Google Shape;182;p5"/>
          <p:cNvSpPr txBox="1"/>
          <p:nvPr/>
        </p:nvSpPr>
        <p:spPr>
          <a:xfrm>
            <a:off x="6720840" y="2048256"/>
            <a:ext cx="4754880" cy="12252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7200" u="none" cap="none" strike="noStrike">
                <a:solidFill>
                  <a:srgbClr val="14161A"/>
                </a:solidFill>
                <a:latin typeface="JetBrains Mono"/>
                <a:ea typeface="JetBrains Mono"/>
                <a:cs typeface="JetBrains Mono"/>
                <a:sym typeface="JetBrains Mono"/>
              </a:rPr>
              <a:t>1.000</a:t>
            </a:r>
            <a:endParaRPr/>
          </a:p>
        </p:txBody>
      </p:sp>
      <p:sp>
        <p:nvSpPr>
          <p:cNvPr id="183" name="Google Shape;183;p5"/>
          <p:cNvSpPr txBox="1"/>
          <p:nvPr/>
        </p:nvSpPr>
        <p:spPr>
          <a:xfrm>
            <a:off x="6720840" y="3310128"/>
            <a:ext cx="4754880"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eventos amostrados</a:t>
            </a:r>
            <a:endParaRPr/>
          </a:p>
        </p:txBody>
      </p:sp>
      <p:sp>
        <p:nvSpPr>
          <p:cNvPr id="184" name="Google Shape;184;p5"/>
          <p:cNvSpPr txBox="1"/>
          <p:nvPr/>
        </p:nvSpPr>
        <p:spPr>
          <a:xfrm>
            <a:off x="502920" y="4389120"/>
            <a:ext cx="11201400"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2 servidores SSH · 5 dias · maio de 2026</a:t>
            </a:r>
            <a:endParaRPr/>
          </a:p>
        </p:txBody>
      </p:sp>
      <p:sp>
        <p:nvSpPr>
          <p:cNvPr id="185" name="Google Shape;185;p5"/>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5"/>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Estratificada: a uniforme só daria ruído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6"/>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193" name="Google Shape;193;p6"/>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06</a:t>
            </a:r>
            <a:endParaRPr/>
          </a:p>
        </p:txBody>
      </p:sp>
      <p:sp>
        <p:nvSpPr>
          <p:cNvPr id="194" name="Google Shape;194;p6"/>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01 · O ESTUDO</a:t>
            </a:r>
            <a:endParaRPr/>
          </a:p>
        </p:txBody>
      </p:sp>
      <p:sp>
        <p:nvSpPr>
          <p:cNvPr id="195" name="Google Shape;195;p6"/>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Extrato da amostra por comportamento</a:t>
            </a:r>
            <a:endParaRPr/>
          </a:p>
        </p:txBody>
      </p:sp>
      <p:sp>
        <p:nvSpPr>
          <p:cNvPr id="196" name="Google Shape;196;p6"/>
          <p:cNvSpPr txBox="1"/>
          <p:nvPr/>
        </p:nvSpPr>
        <p:spPr>
          <a:xfrm>
            <a:off x="640080" y="1993392"/>
            <a:ext cx="1554480" cy="89154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5400" u="none" cap="none" strike="noStrike">
                <a:solidFill>
                  <a:srgbClr val="14161A"/>
                </a:solidFill>
                <a:latin typeface="JetBrains Mono"/>
                <a:ea typeface="JetBrains Mono"/>
                <a:cs typeface="JetBrains Mono"/>
                <a:sym typeface="JetBrains Mono"/>
              </a:rPr>
              <a:t>198</a:t>
            </a:r>
            <a:endParaRPr/>
          </a:p>
        </p:txBody>
      </p:sp>
      <p:sp>
        <p:nvSpPr>
          <p:cNvPr id="197" name="Google Shape;197;p6"/>
          <p:cNvSpPr txBox="1"/>
          <p:nvPr/>
        </p:nvSpPr>
        <p:spPr>
          <a:xfrm>
            <a:off x="2505456" y="1993392"/>
            <a:ext cx="3529584" cy="8915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141B2D"/>
                </a:solidFill>
                <a:latin typeface="Inter"/>
                <a:ea typeface="Inter"/>
                <a:cs typeface="Inter"/>
                <a:sym typeface="Inter"/>
              </a:rPr>
              <a:t>logins aceitos</a:t>
            </a:r>
            <a:endParaRPr/>
          </a:p>
        </p:txBody>
      </p:sp>
      <p:sp>
        <p:nvSpPr>
          <p:cNvPr id="198" name="Google Shape;198;p6"/>
          <p:cNvSpPr txBox="1"/>
          <p:nvPr/>
        </p:nvSpPr>
        <p:spPr>
          <a:xfrm>
            <a:off x="6309360" y="1993392"/>
            <a:ext cx="1554480" cy="89154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5400" u="none" cap="none" strike="noStrike">
                <a:solidFill>
                  <a:srgbClr val="14161A"/>
                </a:solidFill>
                <a:latin typeface="JetBrains Mono"/>
                <a:ea typeface="JetBrains Mono"/>
                <a:cs typeface="JetBrains Mono"/>
                <a:sym typeface="JetBrains Mono"/>
              </a:rPr>
              <a:t>200</a:t>
            </a:r>
            <a:endParaRPr/>
          </a:p>
        </p:txBody>
      </p:sp>
      <p:sp>
        <p:nvSpPr>
          <p:cNvPr id="199" name="Google Shape;199;p6"/>
          <p:cNvSpPr txBox="1"/>
          <p:nvPr/>
        </p:nvSpPr>
        <p:spPr>
          <a:xfrm>
            <a:off x="8174736" y="1993392"/>
            <a:ext cx="3529584" cy="8915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141B2D"/>
                </a:solidFill>
                <a:latin typeface="Inter"/>
                <a:ea typeface="Inter"/>
                <a:cs typeface="Inter"/>
                <a:sym typeface="Inter"/>
              </a:rPr>
              <a:t>usuário inválido</a:t>
            </a:r>
            <a:endParaRPr/>
          </a:p>
        </p:txBody>
      </p:sp>
      <p:sp>
        <p:nvSpPr>
          <p:cNvPr id="200" name="Google Shape;200;p6"/>
          <p:cNvSpPr txBox="1"/>
          <p:nvPr/>
        </p:nvSpPr>
        <p:spPr>
          <a:xfrm>
            <a:off x="640080" y="3163824"/>
            <a:ext cx="1554480" cy="89154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5400" u="none" cap="none" strike="noStrike">
                <a:solidFill>
                  <a:srgbClr val="14161A"/>
                </a:solidFill>
                <a:latin typeface="JetBrains Mono"/>
                <a:ea typeface="JetBrains Mono"/>
                <a:cs typeface="JetBrains Mono"/>
                <a:sym typeface="JetBrains Mono"/>
              </a:rPr>
              <a:t>150</a:t>
            </a:r>
            <a:endParaRPr/>
          </a:p>
        </p:txBody>
      </p:sp>
      <p:sp>
        <p:nvSpPr>
          <p:cNvPr id="201" name="Google Shape;201;p6"/>
          <p:cNvSpPr txBox="1"/>
          <p:nvPr/>
        </p:nvSpPr>
        <p:spPr>
          <a:xfrm>
            <a:off x="2505456" y="3163824"/>
            <a:ext cx="3529584" cy="8915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141B2D"/>
                </a:solidFill>
                <a:latin typeface="Inter"/>
                <a:ea typeface="Inter"/>
                <a:cs typeface="Inter"/>
                <a:sym typeface="Inter"/>
              </a:rPr>
              <a:t>senha incorreta</a:t>
            </a:r>
            <a:endParaRPr/>
          </a:p>
        </p:txBody>
      </p:sp>
      <p:sp>
        <p:nvSpPr>
          <p:cNvPr id="202" name="Google Shape;202;p6"/>
          <p:cNvSpPr txBox="1"/>
          <p:nvPr/>
        </p:nvSpPr>
        <p:spPr>
          <a:xfrm>
            <a:off x="6309360" y="3163824"/>
            <a:ext cx="1554480" cy="89154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5400" u="none" cap="none" strike="noStrike">
                <a:solidFill>
                  <a:srgbClr val="14161A"/>
                </a:solidFill>
                <a:latin typeface="JetBrains Mono"/>
                <a:ea typeface="JetBrains Mono"/>
                <a:cs typeface="JetBrains Mono"/>
                <a:sym typeface="JetBrains Mono"/>
              </a:rPr>
              <a:t>45</a:t>
            </a:r>
            <a:endParaRPr/>
          </a:p>
        </p:txBody>
      </p:sp>
      <p:sp>
        <p:nvSpPr>
          <p:cNvPr id="203" name="Google Shape;203;p6"/>
          <p:cNvSpPr txBox="1"/>
          <p:nvPr/>
        </p:nvSpPr>
        <p:spPr>
          <a:xfrm>
            <a:off x="8174736" y="3163824"/>
            <a:ext cx="3529584" cy="8915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141B2D"/>
                </a:solidFill>
                <a:latin typeface="Inter"/>
                <a:ea typeface="Inter"/>
                <a:cs typeface="Inter"/>
                <a:sym typeface="Inter"/>
              </a:rPr>
              <a:t>su ou sudo</a:t>
            </a:r>
            <a:endParaRPr/>
          </a:p>
        </p:txBody>
      </p:sp>
      <p:sp>
        <p:nvSpPr>
          <p:cNvPr id="204" name="Google Shape;204;p6"/>
          <p:cNvSpPr txBox="1"/>
          <p:nvPr/>
        </p:nvSpPr>
        <p:spPr>
          <a:xfrm>
            <a:off x="640080" y="4334256"/>
            <a:ext cx="1554480" cy="89154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5400" u="none" cap="none" strike="noStrike">
                <a:solidFill>
                  <a:srgbClr val="14161A"/>
                </a:solidFill>
                <a:latin typeface="JetBrains Mono"/>
                <a:ea typeface="JetBrains Mono"/>
                <a:cs typeface="JetBrains Mono"/>
                <a:sym typeface="JetBrains Mono"/>
              </a:rPr>
              <a:t>123</a:t>
            </a:r>
            <a:endParaRPr/>
          </a:p>
        </p:txBody>
      </p:sp>
      <p:sp>
        <p:nvSpPr>
          <p:cNvPr id="205" name="Google Shape;205;p6"/>
          <p:cNvSpPr txBox="1"/>
          <p:nvPr/>
        </p:nvSpPr>
        <p:spPr>
          <a:xfrm>
            <a:off x="2505456" y="4334256"/>
            <a:ext cx="3529584" cy="8915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141B2D"/>
                </a:solidFill>
                <a:latin typeface="Inter"/>
                <a:ea typeface="Inter"/>
                <a:cs typeface="Inter"/>
                <a:sym typeface="Inter"/>
              </a:rPr>
              <a:t>desconexões</a:t>
            </a:r>
            <a:endParaRPr/>
          </a:p>
        </p:txBody>
      </p:sp>
      <p:sp>
        <p:nvSpPr>
          <p:cNvPr id="206" name="Google Shape;206;p6"/>
          <p:cNvSpPr txBox="1"/>
          <p:nvPr/>
        </p:nvSpPr>
        <p:spPr>
          <a:xfrm>
            <a:off x="6309360" y="4334256"/>
            <a:ext cx="1554480" cy="89154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1" i="0" lang="en-US" sz="5400" u="none" cap="none" strike="noStrike">
                <a:solidFill>
                  <a:srgbClr val="14161A"/>
                </a:solidFill>
                <a:latin typeface="JetBrains Mono"/>
                <a:ea typeface="JetBrains Mono"/>
                <a:cs typeface="JetBrains Mono"/>
                <a:sym typeface="JetBrains Mono"/>
              </a:rPr>
              <a:t>284</a:t>
            </a:r>
            <a:endParaRPr/>
          </a:p>
        </p:txBody>
      </p:sp>
      <p:sp>
        <p:nvSpPr>
          <p:cNvPr id="207" name="Google Shape;207;p6"/>
          <p:cNvSpPr txBox="1"/>
          <p:nvPr/>
        </p:nvSpPr>
        <p:spPr>
          <a:xfrm>
            <a:off x="8174736" y="4334256"/>
            <a:ext cx="3529584" cy="89154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1" i="0" lang="en-US" sz="3200" u="none" cap="none" strike="noStrike">
                <a:solidFill>
                  <a:srgbClr val="141B2D"/>
                </a:solidFill>
                <a:latin typeface="Inter"/>
                <a:ea typeface="Inter"/>
                <a:cs typeface="Inter"/>
                <a:sym typeface="Inter"/>
              </a:rPr>
              <a:t>ruído de sessão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7"/>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214" name="Google Shape;214;p7"/>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07</a:t>
            </a:r>
            <a:endParaRPr/>
          </a:p>
        </p:txBody>
      </p:sp>
      <p:sp>
        <p:nvSpPr>
          <p:cNvPr id="215" name="Google Shape;215;p7"/>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01 · O ESTUDO</a:t>
            </a:r>
            <a:endParaRPr/>
          </a:p>
        </p:txBody>
      </p:sp>
      <p:sp>
        <p:nvSpPr>
          <p:cNvPr id="216" name="Google Shape;216;p7"/>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O contexto da organização</a:t>
            </a:r>
            <a:endParaRPr/>
          </a:p>
        </p:txBody>
      </p:sp>
      <p:sp>
        <p:nvSpPr>
          <p:cNvPr id="217" name="Google Shape;217;p7"/>
          <p:cNvSpPr/>
          <p:nvPr/>
        </p:nvSpPr>
        <p:spPr>
          <a:xfrm>
            <a:off x="502920" y="1783080"/>
            <a:ext cx="11201400" cy="84124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7"/>
          <p:cNvSpPr txBox="1"/>
          <p:nvPr/>
        </p:nvSpPr>
        <p:spPr>
          <a:xfrm>
            <a:off x="777240" y="1783080"/>
            <a:ext cx="2683891" cy="8412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GEOGRAFIA</a:t>
            </a:r>
            <a:endParaRPr/>
          </a:p>
        </p:txBody>
      </p:sp>
      <p:sp>
        <p:nvSpPr>
          <p:cNvPr id="219" name="Google Shape;219;p7"/>
          <p:cNvSpPr txBox="1"/>
          <p:nvPr/>
        </p:nvSpPr>
        <p:spPr>
          <a:xfrm>
            <a:off x="4009771" y="1783080"/>
            <a:ext cx="7420228" cy="841248"/>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IP fora da faixa institucional, anômalo</a:t>
            </a:r>
            <a:endParaRPr/>
          </a:p>
        </p:txBody>
      </p:sp>
      <p:sp>
        <p:nvSpPr>
          <p:cNvPr id="220" name="Google Shape;220;p7"/>
          <p:cNvSpPr/>
          <p:nvPr/>
        </p:nvSpPr>
        <p:spPr>
          <a:xfrm>
            <a:off x="502920" y="2715768"/>
            <a:ext cx="11201400" cy="84124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7"/>
          <p:cNvSpPr txBox="1"/>
          <p:nvPr/>
        </p:nvSpPr>
        <p:spPr>
          <a:xfrm>
            <a:off x="777240" y="2715768"/>
            <a:ext cx="2106930" cy="8412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HORÁRIO</a:t>
            </a:r>
            <a:endParaRPr/>
          </a:p>
        </p:txBody>
      </p:sp>
      <p:sp>
        <p:nvSpPr>
          <p:cNvPr id="222" name="Google Shape;222;p7"/>
          <p:cNvSpPr txBox="1"/>
          <p:nvPr/>
        </p:nvSpPr>
        <p:spPr>
          <a:xfrm>
            <a:off x="3432810" y="2715768"/>
            <a:ext cx="7997189" cy="841248"/>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Não eleva severidade</a:t>
            </a:r>
            <a:endParaRPr/>
          </a:p>
        </p:txBody>
      </p:sp>
      <p:sp>
        <p:nvSpPr>
          <p:cNvPr id="223" name="Google Shape;223;p7"/>
          <p:cNvSpPr/>
          <p:nvPr/>
        </p:nvSpPr>
        <p:spPr>
          <a:xfrm>
            <a:off x="502920" y="3648456"/>
            <a:ext cx="11201400" cy="84124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7"/>
          <p:cNvSpPr txBox="1"/>
          <p:nvPr/>
        </p:nvSpPr>
        <p:spPr>
          <a:xfrm>
            <a:off x="777240" y="3648456"/>
            <a:ext cx="2106374" cy="8412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IMPACTO</a:t>
            </a:r>
            <a:endParaRPr/>
          </a:p>
        </p:txBody>
      </p:sp>
      <p:sp>
        <p:nvSpPr>
          <p:cNvPr id="225" name="Google Shape;225;p7"/>
          <p:cNvSpPr txBox="1"/>
          <p:nvPr/>
        </p:nvSpPr>
        <p:spPr>
          <a:xfrm>
            <a:off x="3432254" y="3648456"/>
            <a:ext cx="7997745" cy="841248"/>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Sucesso no login pesa mais que falha</a:t>
            </a:r>
            <a:endParaRPr/>
          </a:p>
        </p:txBody>
      </p:sp>
      <p:sp>
        <p:nvSpPr>
          <p:cNvPr id="226" name="Google Shape;226;p7"/>
          <p:cNvSpPr/>
          <p:nvPr/>
        </p:nvSpPr>
        <p:spPr>
          <a:xfrm>
            <a:off x="502920" y="4581144"/>
            <a:ext cx="11201400" cy="84124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7"/>
          <p:cNvSpPr txBox="1"/>
          <p:nvPr/>
        </p:nvSpPr>
        <p:spPr>
          <a:xfrm>
            <a:off x="777240" y="4581144"/>
            <a:ext cx="3288411" cy="8412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RECORRÊNCIA</a:t>
            </a:r>
            <a:endParaRPr/>
          </a:p>
        </p:txBody>
      </p:sp>
      <p:sp>
        <p:nvSpPr>
          <p:cNvPr id="228" name="Google Shape;228;p7"/>
          <p:cNvSpPr txBox="1"/>
          <p:nvPr/>
        </p:nvSpPr>
        <p:spPr>
          <a:xfrm>
            <a:off x="3942588" y="4769188"/>
            <a:ext cx="7554600" cy="492600"/>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Mesma origem aumenta severidade</a:t>
            </a:r>
            <a:endParaRPr/>
          </a:p>
        </p:txBody>
      </p:sp>
      <p:sp>
        <p:nvSpPr>
          <p:cNvPr id="229" name="Google Shape;229;p7"/>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7"/>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Perfil hipotético, de ambiente acadêmico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8"/>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237" name="Google Shape;237;p8"/>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08</a:t>
            </a:r>
            <a:endParaRPr/>
          </a:p>
        </p:txBody>
      </p:sp>
      <p:sp>
        <p:nvSpPr>
          <p:cNvPr id="238" name="Google Shape;238;p8"/>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01 · O ESTUDO</a:t>
            </a:r>
            <a:endParaRPr/>
          </a:p>
        </p:txBody>
      </p:sp>
      <p:sp>
        <p:nvSpPr>
          <p:cNvPr id="239" name="Google Shape;239;p8"/>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Padrão-ouro: a regra de rotulagem</a:t>
            </a:r>
            <a:endParaRPr/>
          </a:p>
        </p:txBody>
      </p:sp>
      <p:sp>
        <p:nvSpPr>
          <p:cNvPr id="240" name="Google Shape;240;p8"/>
          <p:cNvSpPr txBox="1"/>
          <p:nvPr/>
        </p:nvSpPr>
        <p:spPr>
          <a:xfrm>
            <a:off x="502920" y="1572768"/>
            <a:ext cx="1120140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Rótulos: sem alerta, baixa, média, alta, crítica</a:t>
            </a:r>
            <a:endParaRPr/>
          </a:p>
        </p:txBody>
      </p:sp>
      <p:sp>
        <p:nvSpPr>
          <p:cNvPr id="241" name="Google Shape;241;p8"/>
          <p:cNvSpPr/>
          <p:nvPr/>
        </p:nvSpPr>
        <p:spPr>
          <a:xfrm>
            <a:off x="713232" y="2249424"/>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2" name="Google Shape;242;p8"/>
          <p:cNvSpPr txBox="1"/>
          <p:nvPr/>
        </p:nvSpPr>
        <p:spPr>
          <a:xfrm>
            <a:off x="1078992" y="2139696"/>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IP institucional → sem alerta</a:t>
            </a:r>
            <a:endParaRPr/>
          </a:p>
        </p:txBody>
      </p:sp>
      <p:sp>
        <p:nvSpPr>
          <p:cNvPr id="243" name="Google Shape;243;p8"/>
          <p:cNvSpPr/>
          <p:nvPr/>
        </p:nvSpPr>
        <p:spPr>
          <a:xfrm>
            <a:off x="713232" y="3108960"/>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8"/>
          <p:cNvSpPr txBox="1"/>
          <p:nvPr/>
        </p:nvSpPr>
        <p:spPr>
          <a:xfrm>
            <a:off x="1078992" y="2999232"/>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IP nacional fora da instituição → média</a:t>
            </a:r>
            <a:endParaRPr/>
          </a:p>
        </p:txBody>
      </p:sp>
      <p:sp>
        <p:nvSpPr>
          <p:cNvPr id="245" name="Google Shape;245;p8"/>
          <p:cNvSpPr/>
          <p:nvPr/>
        </p:nvSpPr>
        <p:spPr>
          <a:xfrm>
            <a:off x="713232" y="3968496"/>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8"/>
          <p:cNvSpPr txBox="1"/>
          <p:nvPr/>
        </p:nvSpPr>
        <p:spPr>
          <a:xfrm>
            <a:off x="1078992" y="3858768"/>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Usuário inválido isolado → baixa; 10+ → média</a:t>
            </a:r>
            <a:endParaRPr/>
          </a:p>
        </p:txBody>
      </p:sp>
      <p:sp>
        <p:nvSpPr>
          <p:cNvPr id="247" name="Google Shape;247;p8"/>
          <p:cNvSpPr/>
          <p:nvPr/>
        </p:nvSpPr>
        <p:spPr>
          <a:xfrm>
            <a:off x="713232" y="4828032"/>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8"/>
          <p:cNvSpPr txBox="1"/>
          <p:nvPr/>
        </p:nvSpPr>
        <p:spPr>
          <a:xfrm>
            <a:off x="1078992" y="4718304"/>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Escalada a root por su ou sudo → alta</a:t>
            </a:r>
            <a:endParaRPr/>
          </a:p>
        </p:txBody>
      </p:sp>
      <p:sp>
        <p:nvSpPr>
          <p:cNvPr id="249" name="Google Shape;249;p8"/>
          <p:cNvSpPr/>
          <p:nvPr/>
        </p:nvSpPr>
        <p:spPr>
          <a:xfrm>
            <a:off x="713232" y="5687568"/>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8"/>
          <p:cNvSpPr txBox="1"/>
          <p:nvPr/>
        </p:nvSpPr>
        <p:spPr>
          <a:xfrm>
            <a:off x="1078992" y="5577840"/>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Sessão e desconexão → sem alerta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9"/>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257" name="Google Shape;257;p9"/>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09</a:t>
            </a:r>
            <a:endParaRPr/>
          </a:p>
        </p:txBody>
      </p:sp>
      <p:sp>
        <p:nvSpPr>
          <p:cNvPr id="258" name="Google Shape;258;p9"/>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01 · O ESTUDO</a:t>
            </a:r>
            <a:endParaRPr/>
          </a:p>
        </p:txBody>
      </p:sp>
      <p:sp>
        <p:nvSpPr>
          <p:cNvPr id="259" name="Google Shape;259;p9"/>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Padrão-ouro: a distribuição</a:t>
            </a:r>
            <a:endParaRPr/>
          </a:p>
        </p:txBody>
      </p:sp>
      <p:sp>
        <p:nvSpPr>
          <p:cNvPr id="260" name="Google Shape;260;p9"/>
          <p:cNvSpPr/>
          <p:nvPr/>
        </p:nvSpPr>
        <p:spPr>
          <a:xfrm>
            <a:off x="594360" y="1883664"/>
            <a:ext cx="2057400" cy="270662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9"/>
          <p:cNvSpPr txBox="1"/>
          <p:nvPr/>
        </p:nvSpPr>
        <p:spPr>
          <a:xfrm>
            <a:off x="594360" y="1993392"/>
            <a:ext cx="2057400" cy="9326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14161A"/>
                </a:solidFill>
                <a:latin typeface="JetBrains Mono"/>
                <a:ea typeface="JetBrains Mono"/>
                <a:cs typeface="JetBrains Mono"/>
                <a:sym typeface="JetBrains Mono"/>
              </a:rPr>
              <a:t>644</a:t>
            </a:r>
            <a:endParaRPr/>
          </a:p>
        </p:txBody>
      </p:sp>
      <p:sp>
        <p:nvSpPr>
          <p:cNvPr id="262" name="Google Shape;262;p9"/>
          <p:cNvSpPr txBox="1"/>
          <p:nvPr/>
        </p:nvSpPr>
        <p:spPr>
          <a:xfrm>
            <a:off x="594360" y="2980944"/>
            <a:ext cx="2057400" cy="10241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sem alerta</a:t>
            </a:r>
            <a:endParaRPr/>
          </a:p>
        </p:txBody>
      </p:sp>
      <p:sp>
        <p:nvSpPr>
          <p:cNvPr id="263" name="Google Shape;263;p9"/>
          <p:cNvSpPr/>
          <p:nvPr/>
        </p:nvSpPr>
        <p:spPr>
          <a:xfrm>
            <a:off x="2834640" y="1883664"/>
            <a:ext cx="2057400" cy="270662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9"/>
          <p:cNvSpPr txBox="1"/>
          <p:nvPr/>
        </p:nvSpPr>
        <p:spPr>
          <a:xfrm>
            <a:off x="2834640" y="1993392"/>
            <a:ext cx="2057400" cy="9326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14161A"/>
                </a:solidFill>
                <a:latin typeface="JetBrains Mono"/>
                <a:ea typeface="JetBrains Mono"/>
                <a:cs typeface="JetBrains Mono"/>
                <a:sym typeface="JetBrains Mono"/>
              </a:rPr>
              <a:t>92</a:t>
            </a:r>
            <a:endParaRPr/>
          </a:p>
        </p:txBody>
      </p:sp>
      <p:sp>
        <p:nvSpPr>
          <p:cNvPr id="265" name="Google Shape;265;p9"/>
          <p:cNvSpPr txBox="1"/>
          <p:nvPr/>
        </p:nvSpPr>
        <p:spPr>
          <a:xfrm>
            <a:off x="2834640" y="2980944"/>
            <a:ext cx="2057400" cy="10241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baixa</a:t>
            </a:r>
            <a:endParaRPr/>
          </a:p>
        </p:txBody>
      </p:sp>
      <p:sp>
        <p:nvSpPr>
          <p:cNvPr id="266" name="Google Shape;266;p9"/>
          <p:cNvSpPr txBox="1"/>
          <p:nvPr/>
        </p:nvSpPr>
        <p:spPr>
          <a:xfrm>
            <a:off x="2834640" y="4041648"/>
            <a:ext cx="205740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1 a 4</a:t>
            </a:r>
            <a:endParaRPr/>
          </a:p>
        </p:txBody>
      </p:sp>
      <p:sp>
        <p:nvSpPr>
          <p:cNvPr id="267" name="Google Shape;267;p9"/>
          <p:cNvSpPr/>
          <p:nvPr/>
        </p:nvSpPr>
        <p:spPr>
          <a:xfrm>
            <a:off x="5074920" y="1883664"/>
            <a:ext cx="2057400" cy="270662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9"/>
          <p:cNvSpPr txBox="1"/>
          <p:nvPr/>
        </p:nvSpPr>
        <p:spPr>
          <a:xfrm>
            <a:off x="5074920" y="1993392"/>
            <a:ext cx="2057400" cy="9326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14161A"/>
                </a:solidFill>
                <a:latin typeface="JetBrains Mono"/>
                <a:ea typeface="JetBrains Mono"/>
                <a:cs typeface="JetBrains Mono"/>
                <a:sym typeface="JetBrains Mono"/>
              </a:rPr>
              <a:t>249</a:t>
            </a:r>
            <a:endParaRPr/>
          </a:p>
        </p:txBody>
      </p:sp>
      <p:sp>
        <p:nvSpPr>
          <p:cNvPr id="269" name="Google Shape;269;p9"/>
          <p:cNvSpPr txBox="1"/>
          <p:nvPr/>
        </p:nvSpPr>
        <p:spPr>
          <a:xfrm>
            <a:off x="5074920" y="2980944"/>
            <a:ext cx="2057400" cy="10241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média</a:t>
            </a:r>
            <a:endParaRPr/>
          </a:p>
        </p:txBody>
      </p:sp>
      <p:sp>
        <p:nvSpPr>
          <p:cNvPr id="270" name="Google Shape;270;p9"/>
          <p:cNvSpPr txBox="1"/>
          <p:nvPr/>
        </p:nvSpPr>
        <p:spPr>
          <a:xfrm>
            <a:off x="5074920" y="4041648"/>
            <a:ext cx="205740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5 a 8</a:t>
            </a:r>
            <a:endParaRPr/>
          </a:p>
        </p:txBody>
      </p:sp>
      <p:sp>
        <p:nvSpPr>
          <p:cNvPr id="271" name="Google Shape;271;p9"/>
          <p:cNvSpPr/>
          <p:nvPr/>
        </p:nvSpPr>
        <p:spPr>
          <a:xfrm>
            <a:off x="7315200" y="1883664"/>
            <a:ext cx="2057400" cy="270662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9"/>
          <p:cNvSpPr txBox="1"/>
          <p:nvPr/>
        </p:nvSpPr>
        <p:spPr>
          <a:xfrm>
            <a:off x="7315200" y="1993392"/>
            <a:ext cx="2057400" cy="9326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14161A"/>
                </a:solidFill>
                <a:latin typeface="JetBrains Mono"/>
                <a:ea typeface="JetBrains Mono"/>
                <a:cs typeface="JetBrains Mono"/>
                <a:sym typeface="JetBrains Mono"/>
              </a:rPr>
              <a:t>15</a:t>
            </a:r>
            <a:endParaRPr/>
          </a:p>
        </p:txBody>
      </p:sp>
      <p:sp>
        <p:nvSpPr>
          <p:cNvPr id="273" name="Google Shape;273;p9"/>
          <p:cNvSpPr txBox="1"/>
          <p:nvPr/>
        </p:nvSpPr>
        <p:spPr>
          <a:xfrm>
            <a:off x="7315200" y="2980944"/>
            <a:ext cx="2057400" cy="10241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alta</a:t>
            </a:r>
            <a:endParaRPr/>
          </a:p>
        </p:txBody>
      </p:sp>
      <p:sp>
        <p:nvSpPr>
          <p:cNvPr id="274" name="Google Shape;274;p9"/>
          <p:cNvSpPr txBox="1"/>
          <p:nvPr/>
        </p:nvSpPr>
        <p:spPr>
          <a:xfrm>
            <a:off x="7315200" y="4041648"/>
            <a:ext cx="205740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9 a 12</a:t>
            </a:r>
            <a:endParaRPr/>
          </a:p>
        </p:txBody>
      </p:sp>
      <p:sp>
        <p:nvSpPr>
          <p:cNvPr id="275" name="Google Shape;275;p9"/>
          <p:cNvSpPr/>
          <p:nvPr/>
        </p:nvSpPr>
        <p:spPr>
          <a:xfrm>
            <a:off x="9555480" y="1883664"/>
            <a:ext cx="2057400" cy="270662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9"/>
          <p:cNvSpPr txBox="1"/>
          <p:nvPr/>
        </p:nvSpPr>
        <p:spPr>
          <a:xfrm>
            <a:off x="9555480" y="1993392"/>
            <a:ext cx="2057400" cy="9326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6000" u="none" cap="none" strike="noStrike">
                <a:solidFill>
                  <a:srgbClr val="14161A"/>
                </a:solidFill>
                <a:latin typeface="JetBrains Mono"/>
                <a:ea typeface="JetBrains Mono"/>
                <a:cs typeface="JetBrains Mono"/>
                <a:sym typeface="JetBrains Mono"/>
              </a:rPr>
              <a:t>0</a:t>
            </a:r>
            <a:endParaRPr/>
          </a:p>
        </p:txBody>
      </p:sp>
      <p:sp>
        <p:nvSpPr>
          <p:cNvPr id="277" name="Google Shape;277;p9"/>
          <p:cNvSpPr txBox="1"/>
          <p:nvPr/>
        </p:nvSpPr>
        <p:spPr>
          <a:xfrm>
            <a:off x="9555480" y="2980944"/>
            <a:ext cx="2057400" cy="10241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crítica</a:t>
            </a:r>
            <a:endParaRPr/>
          </a:p>
        </p:txBody>
      </p:sp>
      <p:sp>
        <p:nvSpPr>
          <p:cNvPr id="278" name="Google Shape;278;p9"/>
          <p:cNvSpPr txBox="1"/>
          <p:nvPr/>
        </p:nvSpPr>
        <p:spPr>
          <a:xfrm>
            <a:off x="9555480" y="4041648"/>
            <a:ext cx="205740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13 a 16</a:t>
            </a:r>
            <a:endParaRPr/>
          </a:p>
        </p:txBody>
      </p:sp>
      <p:sp>
        <p:nvSpPr>
          <p:cNvPr id="279" name="Google Shape;279;p9"/>
          <p:cNvSpPr txBox="1"/>
          <p:nvPr/>
        </p:nvSpPr>
        <p:spPr>
          <a:xfrm>
            <a:off x="502920" y="4736592"/>
            <a:ext cx="1120140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Quatro faixas de nível, mais os eventos sem alerta</a:t>
            </a:r>
            <a:endParaRPr/>
          </a:p>
        </p:txBody>
      </p:sp>
      <p:sp>
        <p:nvSpPr>
          <p:cNvPr id="280" name="Google Shape;280;p9"/>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9"/>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Nenhum crítico: sem login estrangeiro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0"/>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288" name="Google Shape;288;p10"/>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10</a:t>
            </a:r>
            <a:endParaRPr/>
          </a:p>
        </p:txBody>
      </p:sp>
      <p:sp>
        <p:nvSpPr>
          <p:cNvPr id="289" name="Google Shape;289;p10"/>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01 · O ESTUDO</a:t>
            </a:r>
            <a:endParaRPr/>
          </a:p>
        </p:txBody>
      </p:sp>
      <p:sp>
        <p:nvSpPr>
          <p:cNvPr id="290" name="Google Shape;290;p10"/>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O que o prompt oferece</a:t>
            </a:r>
            <a:endParaRPr/>
          </a:p>
        </p:txBody>
      </p:sp>
      <p:sp>
        <p:nvSpPr>
          <p:cNvPr id="291" name="Google Shape;291;p10"/>
          <p:cNvSpPr/>
          <p:nvPr/>
        </p:nvSpPr>
        <p:spPr>
          <a:xfrm>
            <a:off x="713232" y="2029968"/>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10"/>
          <p:cNvSpPr txBox="1"/>
          <p:nvPr/>
        </p:nvSpPr>
        <p:spPr>
          <a:xfrm>
            <a:off x="1078992" y="1920240"/>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Contexto da organização e os 4 princípios</a:t>
            </a:r>
            <a:endParaRPr/>
          </a:p>
        </p:txBody>
      </p:sp>
      <p:sp>
        <p:nvSpPr>
          <p:cNvPr id="293" name="Google Shape;293;p10"/>
          <p:cNvSpPr/>
          <p:nvPr/>
        </p:nvSpPr>
        <p:spPr>
          <a:xfrm>
            <a:off x="713232" y="2962656"/>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10"/>
          <p:cNvSpPr txBox="1"/>
          <p:nvPr/>
        </p:nvSpPr>
        <p:spPr>
          <a:xfrm>
            <a:off x="1078992" y="2852928"/>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Escala de severidade do Wazuh</a:t>
            </a:r>
            <a:endParaRPr/>
          </a:p>
        </p:txBody>
      </p:sp>
      <p:sp>
        <p:nvSpPr>
          <p:cNvPr id="295" name="Google Shape;295;p10"/>
          <p:cNvSpPr/>
          <p:nvPr/>
        </p:nvSpPr>
        <p:spPr>
          <a:xfrm>
            <a:off x="713232" y="3895344"/>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10"/>
          <p:cNvSpPr txBox="1"/>
          <p:nvPr/>
        </p:nvSpPr>
        <p:spPr>
          <a:xfrm>
            <a:off x="1078992" y="3785616"/>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17 IDs nativos em 15 entradas</a:t>
            </a:r>
            <a:endParaRPr/>
          </a:p>
        </p:txBody>
      </p:sp>
      <p:sp>
        <p:nvSpPr>
          <p:cNvPr id="297" name="Google Shape;297;p10"/>
          <p:cNvSpPr/>
          <p:nvPr/>
        </p:nvSpPr>
        <p:spPr>
          <a:xfrm>
            <a:off x="713232" y="4828032"/>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10"/>
          <p:cNvSpPr txBox="1"/>
          <p:nvPr/>
        </p:nvSpPr>
        <p:spPr>
          <a:xfrm>
            <a:off x="1078992" y="4718304"/>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Sintaxe da regra local</a:t>
            </a:r>
            <a:endParaRPr/>
          </a:p>
        </p:txBody>
      </p:sp>
      <p:sp>
        <p:nvSpPr>
          <p:cNvPr id="299" name="Google Shape;299;p10"/>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10"/>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Claude Opus 4.7 · sessão isolada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1"/>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307" name="Google Shape;307;p11"/>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11</a:t>
            </a:r>
            <a:endParaRPr/>
          </a:p>
        </p:txBody>
      </p:sp>
      <p:sp>
        <p:nvSpPr>
          <p:cNvPr id="308" name="Google Shape;308;p11"/>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01 · O ESTUDO</a:t>
            </a:r>
            <a:endParaRPr/>
          </a:p>
        </p:txBody>
      </p:sp>
      <p:sp>
        <p:nvSpPr>
          <p:cNvPr id="309" name="Google Shape;309;p11"/>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O que o prompt omite</a:t>
            </a:r>
            <a:endParaRPr/>
          </a:p>
        </p:txBody>
      </p:sp>
      <p:sp>
        <p:nvSpPr>
          <p:cNvPr id="310" name="Google Shape;310;p11"/>
          <p:cNvSpPr/>
          <p:nvPr/>
        </p:nvSpPr>
        <p:spPr>
          <a:xfrm>
            <a:off x="713232" y="2029968"/>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11"/>
          <p:cNvSpPr txBox="1"/>
          <p:nvPr/>
        </p:nvSpPr>
        <p:spPr>
          <a:xfrm>
            <a:off x="1078992" y="1920240"/>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Mapeamento de severidade por cenário</a:t>
            </a:r>
            <a:endParaRPr/>
          </a:p>
        </p:txBody>
      </p:sp>
      <p:sp>
        <p:nvSpPr>
          <p:cNvPr id="312" name="Google Shape;312;p11"/>
          <p:cNvSpPr/>
          <p:nvPr/>
        </p:nvSpPr>
        <p:spPr>
          <a:xfrm>
            <a:off x="713232" y="2962656"/>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1"/>
          <p:cNvSpPr txBox="1"/>
          <p:nvPr/>
        </p:nvSpPr>
        <p:spPr>
          <a:xfrm>
            <a:off x="1078992" y="2852928"/>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Exemplo de linha de log</a:t>
            </a:r>
            <a:endParaRPr/>
          </a:p>
        </p:txBody>
      </p:sp>
      <p:sp>
        <p:nvSpPr>
          <p:cNvPr id="314" name="Google Shape;314;p11"/>
          <p:cNvSpPr/>
          <p:nvPr/>
        </p:nvSpPr>
        <p:spPr>
          <a:xfrm>
            <a:off x="1133856" y="3977639"/>
            <a:ext cx="9930384" cy="1042415"/>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11"/>
          <p:cNvSpPr txBox="1"/>
          <p:nvPr/>
        </p:nvSpPr>
        <p:spPr>
          <a:xfrm>
            <a:off x="1371600" y="3977639"/>
            <a:ext cx="9454896" cy="1042415"/>
          </a:xfrm>
          <a:prstGeom prst="rect">
            <a:avLst/>
          </a:prstGeom>
          <a:noFill/>
          <a:ln>
            <a:noFill/>
          </a:ln>
        </p:spPr>
        <p:txBody>
          <a:bodyPr anchorCtr="0" anchor="ctr" bIns="0" lIns="0" spcFirstLastPara="1" rIns="0" wrap="square" tIns="0">
            <a:spAutoFit/>
          </a:bodyPr>
          <a:lstStyle/>
          <a:p>
            <a:pPr indent="0" lvl="0" marL="0" marR="0" rtl="0" algn="ctr">
              <a:lnSpc>
                <a:spcPct val="114000"/>
              </a:lnSpc>
              <a:spcBef>
                <a:spcPts val="0"/>
              </a:spcBef>
              <a:spcAft>
                <a:spcPts val="0"/>
              </a:spcAft>
              <a:buNone/>
            </a:pPr>
            <a:r>
              <a:rPr b="1" i="0" lang="en-US" sz="4000" u="none" cap="none" strike="noStrike">
                <a:solidFill>
                  <a:srgbClr val="14161A"/>
                </a:solidFill>
                <a:latin typeface="Inter"/>
                <a:ea typeface="Inter"/>
                <a:cs typeface="Inter"/>
                <a:sym typeface="Inter"/>
              </a:rPr>
              <a:t>O modelo tem de inferir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2"/>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322" name="Google Shape;322;p12"/>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12</a:t>
            </a:r>
            <a:endParaRPr/>
          </a:p>
        </p:txBody>
      </p:sp>
      <p:sp>
        <p:nvSpPr>
          <p:cNvPr id="323" name="Google Shape;323;p12"/>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02 · O RESULTADO</a:t>
            </a:r>
            <a:endParaRPr/>
          </a:p>
        </p:txBody>
      </p:sp>
      <p:sp>
        <p:nvSpPr>
          <p:cNvPr id="324" name="Google Shape;324;p12"/>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A configuração com LLM perdeu</a:t>
            </a:r>
            <a:endParaRPr/>
          </a:p>
        </p:txBody>
      </p:sp>
      <p:sp>
        <p:nvSpPr>
          <p:cNvPr id="325" name="Google Shape;325;p12"/>
          <p:cNvSpPr/>
          <p:nvPr/>
        </p:nvSpPr>
        <p:spPr>
          <a:xfrm>
            <a:off x="502920" y="1847088"/>
            <a:ext cx="5532120" cy="219456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12"/>
          <p:cNvSpPr txBox="1"/>
          <p:nvPr/>
        </p:nvSpPr>
        <p:spPr>
          <a:xfrm>
            <a:off x="502920" y="1993392"/>
            <a:ext cx="5532120" cy="13533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8000" u="none" cap="none" strike="noStrike">
                <a:solidFill>
                  <a:srgbClr val="14161A"/>
                </a:solidFill>
                <a:latin typeface="JetBrains Mono"/>
                <a:ea typeface="JetBrains Mono"/>
                <a:cs typeface="JetBrains Mono"/>
                <a:sym typeface="JetBrains Mono"/>
              </a:rPr>
              <a:t>63,3%</a:t>
            </a:r>
            <a:endParaRPr/>
          </a:p>
        </p:txBody>
      </p:sp>
      <p:sp>
        <p:nvSpPr>
          <p:cNvPr id="327" name="Google Shape;327;p12"/>
          <p:cNvSpPr txBox="1"/>
          <p:nvPr/>
        </p:nvSpPr>
        <p:spPr>
          <a:xfrm>
            <a:off x="685800" y="3364992"/>
            <a:ext cx="5166360" cy="56692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Wazuh nativo</a:t>
            </a:r>
            <a:endParaRPr/>
          </a:p>
        </p:txBody>
      </p:sp>
      <p:sp>
        <p:nvSpPr>
          <p:cNvPr id="328" name="Google Shape;328;p12"/>
          <p:cNvSpPr/>
          <p:nvPr/>
        </p:nvSpPr>
        <p:spPr>
          <a:xfrm>
            <a:off x="6172200" y="1847088"/>
            <a:ext cx="5532120" cy="219456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12"/>
          <p:cNvSpPr txBox="1"/>
          <p:nvPr/>
        </p:nvSpPr>
        <p:spPr>
          <a:xfrm>
            <a:off x="6172200" y="1993392"/>
            <a:ext cx="5532120" cy="13533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8000" u="none" cap="none" strike="noStrike">
                <a:solidFill>
                  <a:srgbClr val="D64545"/>
                </a:solidFill>
                <a:latin typeface="JetBrains Mono"/>
                <a:ea typeface="JetBrains Mono"/>
                <a:cs typeface="JetBrains Mono"/>
                <a:sym typeface="JetBrains Mono"/>
              </a:rPr>
              <a:t>58,9%</a:t>
            </a:r>
            <a:endParaRPr/>
          </a:p>
        </p:txBody>
      </p:sp>
      <p:sp>
        <p:nvSpPr>
          <p:cNvPr id="330" name="Google Shape;330;p12"/>
          <p:cNvSpPr txBox="1"/>
          <p:nvPr/>
        </p:nvSpPr>
        <p:spPr>
          <a:xfrm>
            <a:off x="6355080" y="3364992"/>
            <a:ext cx="5166360" cy="566928"/>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Wazuh + regras da LLM</a:t>
            </a:r>
            <a:endParaRPr/>
          </a:p>
        </p:txBody>
      </p:sp>
      <p:sp>
        <p:nvSpPr>
          <p:cNvPr id="331" name="Google Shape;331;p12"/>
          <p:cNvSpPr txBox="1"/>
          <p:nvPr/>
        </p:nvSpPr>
        <p:spPr>
          <a:xfrm>
            <a:off x="502920" y="4160520"/>
            <a:ext cx="11201400" cy="6400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D64545"/>
                </a:solidFill>
                <a:latin typeface="Inter"/>
                <a:ea typeface="Inter"/>
                <a:cs typeface="Inter"/>
                <a:sym typeface="Inter"/>
              </a:rPr>
              <a:t>−4,4 p.p. de acurácia</a:t>
            </a:r>
            <a:endParaRPr/>
          </a:p>
        </p:txBody>
      </p:sp>
      <p:sp>
        <p:nvSpPr>
          <p:cNvPr id="332" name="Google Shape;332;p12"/>
          <p:cNvSpPr txBox="1"/>
          <p:nvPr/>
        </p:nvSpPr>
        <p:spPr>
          <a:xfrm>
            <a:off x="502920" y="4846320"/>
            <a:ext cx="1120140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F1 ponderado 0,695 → 0,665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3"/>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339" name="Google Shape;339;p13"/>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13</a:t>
            </a:r>
            <a:endParaRPr/>
          </a:p>
        </p:txBody>
      </p:sp>
      <p:sp>
        <p:nvSpPr>
          <p:cNvPr id="340" name="Google Shape;340;p13"/>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02 · O RESULTADO</a:t>
            </a:r>
            <a:endParaRPr/>
          </a:p>
        </p:txBody>
      </p:sp>
      <p:sp>
        <p:nvSpPr>
          <p:cNvPr id="341" name="Google Shape;341;p13"/>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A perda está na linha de média</a:t>
            </a:r>
            <a:endParaRPr/>
          </a:p>
        </p:txBody>
      </p:sp>
      <p:sp>
        <p:nvSpPr>
          <p:cNvPr id="342" name="Google Shape;342;p13"/>
          <p:cNvSpPr txBox="1"/>
          <p:nvPr/>
        </p:nvSpPr>
        <p:spPr>
          <a:xfrm>
            <a:off x="502920" y="1719072"/>
            <a:ext cx="1120140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249 eventos que o analista chamou de MÉDIA</a:t>
            </a:r>
            <a:endParaRPr/>
          </a:p>
        </p:txBody>
      </p:sp>
      <p:sp>
        <p:nvSpPr>
          <p:cNvPr id="343" name="Google Shape;343;p13"/>
          <p:cNvSpPr/>
          <p:nvPr/>
        </p:nvSpPr>
        <p:spPr>
          <a:xfrm>
            <a:off x="612648" y="2286000"/>
            <a:ext cx="3514343" cy="184708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13"/>
          <p:cNvSpPr txBox="1"/>
          <p:nvPr/>
        </p:nvSpPr>
        <p:spPr>
          <a:xfrm>
            <a:off x="612648" y="2395728"/>
            <a:ext cx="3514343" cy="10972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6600" u="none" cap="none" strike="noStrike">
                <a:solidFill>
                  <a:srgbClr val="14161A"/>
                </a:solidFill>
                <a:latin typeface="JetBrains Mono"/>
                <a:ea typeface="JetBrains Mono"/>
                <a:cs typeface="JetBrains Mono"/>
                <a:sym typeface="JetBrains Mono"/>
              </a:rPr>
              <a:t>203</a:t>
            </a:r>
            <a:endParaRPr/>
          </a:p>
        </p:txBody>
      </p:sp>
      <p:sp>
        <p:nvSpPr>
          <p:cNvPr id="345" name="Google Shape;345;p13"/>
          <p:cNvSpPr txBox="1"/>
          <p:nvPr/>
        </p:nvSpPr>
        <p:spPr>
          <a:xfrm>
            <a:off x="612648" y="3511296"/>
            <a:ext cx="3514343"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seguiram média</a:t>
            </a:r>
            <a:endParaRPr/>
          </a:p>
        </p:txBody>
      </p:sp>
      <p:sp>
        <p:nvSpPr>
          <p:cNvPr id="346" name="Google Shape;346;p13"/>
          <p:cNvSpPr/>
          <p:nvPr/>
        </p:nvSpPr>
        <p:spPr>
          <a:xfrm>
            <a:off x="4346448" y="2286000"/>
            <a:ext cx="3514343" cy="184708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13"/>
          <p:cNvSpPr txBox="1"/>
          <p:nvPr/>
        </p:nvSpPr>
        <p:spPr>
          <a:xfrm>
            <a:off x="4346448" y="2395728"/>
            <a:ext cx="3514343" cy="10972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6600" u="none" cap="none" strike="noStrike">
                <a:solidFill>
                  <a:srgbClr val="D64545"/>
                </a:solidFill>
                <a:latin typeface="JetBrains Mono"/>
                <a:ea typeface="JetBrains Mono"/>
                <a:cs typeface="JetBrains Mono"/>
                <a:sym typeface="JetBrains Mono"/>
              </a:rPr>
              <a:t>45</a:t>
            </a:r>
            <a:endParaRPr/>
          </a:p>
        </p:txBody>
      </p:sp>
      <p:sp>
        <p:nvSpPr>
          <p:cNvPr id="348" name="Google Shape;348;p13"/>
          <p:cNvSpPr txBox="1"/>
          <p:nvPr/>
        </p:nvSpPr>
        <p:spPr>
          <a:xfrm>
            <a:off x="4346448" y="3511296"/>
            <a:ext cx="3514343"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viraram alta</a:t>
            </a:r>
            <a:endParaRPr/>
          </a:p>
        </p:txBody>
      </p:sp>
      <p:sp>
        <p:nvSpPr>
          <p:cNvPr id="349" name="Google Shape;349;p13"/>
          <p:cNvSpPr/>
          <p:nvPr/>
        </p:nvSpPr>
        <p:spPr>
          <a:xfrm>
            <a:off x="8080247" y="2286000"/>
            <a:ext cx="3514343" cy="184708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13"/>
          <p:cNvSpPr txBox="1"/>
          <p:nvPr/>
        </p:nvSpPr>
        <p:spPr>
          <a:xfrm>
            <a:off x="8080247" y="2395728"/>
            <a:ext cx="3514343" cy="109728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6600" u="none" cap="none" strike="noStrike">
                <a:solidFill>
                  <a:srgbClr val="D64545"/>
                </a:solidFill>
                <a:latin typeface="JetBrains Mono"/>
                <a:ea typeface="JetBrains Mono"/>
                <a:cs typeface="JetBrains Mono"/>
                <a:sym typeface="JetBrains Mono"/>
              </a:rPr>
              <a:t>1</a:t>
            </a:r>
            <a:endParaRPr/>
          </a:p>
        </p:txBody>
      </p:sp>
      <p:sp>
        <p:nvSpPr>
          <p:cNvPr id="351" name="Google Shape;351;p13"/>
          <p:cNvSpPr txBox="1"/>
          <p:nvPr/>
        </p:nvSpPr>
        <p:spPr>
          <a:xfrm>
            <a:off x="8080247" y="3511296"/>
            <a:ext cx="3514343"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virou crítica</a:t>
            </a:r>
            <a:endParaRPr/>
          </a:p>
        </p:txBody>
      </p:sp>
      <p:sp>
        <p:nvSpPr>
          <p:cNvPr id="352" name="Google Shape;352;p13"/>
          <p:cNvSpPr/>
          <p:nvPr/>
        </p:nvSpPr>
        <p:spPr>
          <a:xfrm>
            <a:off x="1133856" y="4315968"/>
            <a:ext cx="9930384" cy="1682495"/>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13"/>
          <p:cNvSpPr txBox="1"/>
          <p:nvPr/>
        </p:nvSpPr>
        <p:spPr>
          <a:xfrm>
            <a:off x="1371600" y="4315968"/>
            <a:ext cx="9454896" cy="1682495"/>
          </a:xfrm>
          <a:prstGeom prst="rect">
            <a:avLst/>
          </a:prstGeom>
          <a:noFill/>
          <a:ln>
            <a:noFill/>
          </a:ln>
        </p:spPr>
        <p:txBody>
          <a:bodyPr anchorCtr="0" anchor="ctr" bIns="0" lIns="0" spcFirstLastPara="1" rIns="0" wrap="square" tIns="0">
            <a:spAutoFit/>
          </a:bodyPr>
          <a:lstStyle/>
          <a:p>
            <a:pPr indent="0" lvl="0" marL="0" marR="0" rtl="0" algn="ctr">
              <a:lnSpc>
                <a:spcPct val="114000"/>
              </a:lnSpc>
              <a:spcBef>
                <a:spcPts val="0"/>
              </a:spcBef>
              <a:spcAft>
                <a:spcPts val="0"/>
              </a:spcAft>
              <a:buNone/>
            </a:pPr>
            <a:r>
              <a:rPr b="1" i="0" lang="en-US" sz="4000" u="none" cap="none" strike="noStrike">
                <a:solidFill>
                  <a:srgbClr val="14161A"/>
                </a:solidFill>
                <a:latin typeface="Inter"/>
                <a:ea typeface="Inter"/>
                <a:cs typeface="Inter"/>
                <a:sym typeface="Inter"/>
              </a:rPr>
              <a:t>46 superescalados: tentativa externa malsucedida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14"/>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360" name="Google Shape;360;p14"/>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14</a:t>
            </a:r>
            <a:endParaRPr/>
          </a:p>
        </p:txBody>
      </p:sp>
      <p:sp>
        <p:nvSpPr>
          <p:cNvPr id="361" name="Google Shape;361;p14"/>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02 · O RESULTADO</a:t>
            </a:r>
            <a:endParaRPr/>
          </a:p>
        </p:txBody>
      </p:sp>
      <p:sp>
        <p:nvSpPr>
          <p:cNvPr id="362" name="Google Shape;362;p14"/>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Geografia virou multiplicador</a:t>
            </a:r>
            <a:endParaRPr/>
          </a:p>
        </p:txBody>
      </p:sp>
      <p:sp>
        <p:nvSpPr>
          <p:cNvPr id="363" name="Google Shape;363;p14"/>
          <p:cNvSpPr/>
          <p:nvPr/>
        </p:nvSpPr>
        <p:spPr>
          <a:xfrm>
            <a:off x="502920" y="1874519"/>
            <a:ext cx="3246120" cy="118872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14"/>
          <p:cNvSpPr txBox="1"/>
          <p:nvPr/>
        </p:nvSpPr>
        <p:spPr>
          <a:xfrm>
            <a:off x="649224" y="1874519"/>
            <a:ext cx="2953512" cy="118872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IP EXTERNO</a:t>
            </a:r>
            <a:endParaRPr/>
          </a:p>
        </p:txBody>
      </p:sp>
      <p:sp>
        <p:nvSpPr>
          <p:cNvPr id="365" name="Google Shape;365;p14"/>
          <p:cNvSpPr txBox="1"/>
          <p:nvPr/>
        </p:nvSpPr>
        <p:spPr>
          <a:xfrm>
            <a:off x="3749040" y="1874519"/>
            <a:ext cx="731520" cy="11887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E8833A"/>
                </a:solidFill>
                <a:latin typeface="Inter"/>
                <a:ea typeface="Inter"/>
                <a:cs typeface="Inter"/>
                <a:sym typeface="Inter"/>
              </a:rPr>
              <a:t>→</a:t>
            </a:r>
            <a:endParaRPr/>
          </a:p>
        </p:txBody>
      </p:sp>
      <p:sp>
        <p:nvSpPr>
          <p:cNvPr id="366" name="Google Shape;366;p14"/>
          <p:cNvSpPr/>
          <p:nvPr/>
        </p:nvSpPr>
        <p:spPr>
          <a:xfrm>
            <a:off x="4480560" y="1874519"/>
            <a:ext cx="3246120" cy="118872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14"/>
          <p:cNvSpPr txBox="1"/>
          <p:nvPr/>
        </p:nvSpPr>
        <p:spPr>
          <a:xfrm>
            <a:off x="4626864" y="1874519"/>
            <a:ext cx="2953512" cy="118872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NÍVEL 9 A 14</a:t>
            </a:r>
            <a:endParaRPr/>
          </a:p>
        </p:txBody>
      </p:sp>
      <p:sp>
        <p:nvSpPr>
          <p:cNvPr id="368" name="Google Shape;368;p14"/>
          <p:cNvSpPr txBox="1"/>
          <p:nvPr/>
        </p:nvSpPr>
        <p:spPr>
          <a:xfrm>
            <a:off x="7726680" y="1874519"/>
            <a:ext cx="731520" cy="118872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4000" u="none" cap="none" strike="noStrike">
                <a:solidFill>
                  <a:srgbClr val="E8833A"/>
                </a:solidFill>
                <a:latin typeface="Inter"/>
                <a:ea typeface="Inter"/>
                <a:cs typeface="Inter"/>
                <a:sym typeface="Inter"/>
              </a:rPr>
              <a:t>→</a:t>
            </a:r>
            <a:endParaRPr/>
          </a:p>
        </p:txBody>
      </p:sp>
      <p:sp>
        <p:nvSpPr>
          <p:cNvPr id="369" name="Google Shape;369;p14"/>
          <p:cNvSpPr/>
          <p:nvPr/>
        </p:nvSpPr>
        <p:spPr>
          <a:xfrm>
            <a:off x="8458200" y="1874519"/>
            <a:ext cx="3246120" cy="118872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14"/>
          <p:cNvSpPr txBox="1"/>
          <p:nvPr/>
        </p:nvSpPr>
        <p:spPr>
          <a:xfrm>
            <a:off x="8604504" y="1874519"/>
            <a:ext cx="2953512" cy="1188720"/>
          </a:xfrm>
          <a:prstGeom prst="rect">
            <a:avLst/>
          </a:prstGeom>
          <a:noFill/>
          <a:ln>
            <a:noFill/>
          </a:ln>
        </p:spPr>
        <p:txBody>
          <a:bodyPr anchorCtr="0" anchor="ctr" bIns="0" lIns="0" spcFirstLastPara="1" rIns="0" wrap="square" tIns="0">
            <a:spAutoFit/>
          </a:bodyPr>
          <a:lstStyle/>
          <a:p>
            <a:pPr indent="0" lvl="0" marL="0" marR="0" rtl="0" algn="ctr">
              <a:lnSpc>
                <a:spcPct val="110000"/>
              </a:lnSpc>
              <a:spcBef>
                <a:spcPts val="0"/>
              </a:spcBef>
              <a:spcAft>
                <a:spcPts val="0"/>
              </a:spcAft>
              <a:buNone/>
            </a:pPr>
            <a:r>
              <a:rPr b="1" i="0" lang="en-US" sz="3200" u="none" cap="none" strike="noStrike">
                <a:solidFill>
                  <a:srgbClr val="14161A"/>
                </a:solidFill>
                <a:latin typeface="Inter"/>
                <a:ea typeface="Inter"/>
                <a:cs typeface="Inter"/>
                <a:sym typeface="Inter"/>
              </a:rPr>
              <a:t>COM OU SEM SUCESSO</a:t>
            </a:r>
            <a:endParaRPr/>
          </a:p>
        </p:txBody>
      </p:sp>
      <p:sp>
        <p:nvSpPr>
          <p:cNvPr id="371" name="Google Shape;371;p14"/>
          <p:cNvSpPr txBox="1"/>
          <p:nvPr/>
        </p:nvSpPr>
        <p:spPr>
          <a:xfrm>
            <a:off x="502920" y="3310128"/>
            <a:ext cx="5120640" cy="12252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7200" u="none" cap="none" strike="noStrike">
                <a:solidFill>
                  <a:srgbClr val="14161A"/>
                </a:solidFill>
                <a:latin typeface="JetBrains Mono"/>
                <a:ea typeface="JetBrains Mono"/>
                <a:cs typeface="JetBrains Mono"/>
                <a:sym typeface="JetBrains Mono"/>
              </a:rPr>
              <a:t>0,923</a:t>
            </a:r>
            <a:endParaRPr/>
          </a:p>
        </p:txBody>
      </p:sp>
      <p:sp>
        <p:nvSpPr>
          <p:cNvPr id="372" name="Google Shape;372;p14"/>
          <p:cNvSpPr txBox="1"/>
          <p:nvPr/>
        </p:nvSpPr>
        <p:spPr>
          <a:xfrm>
            <a:off x="5623560" y="3310128"/>
            <a:ext cx="960120" cy="12252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7200" u="none" cap="none" strike="noStrike">
                <a:solidFill>
                  <a:srgbClr val="E8833A"/>
                </a:solidFill>
                <a:latin typeface="JetBrains Mono"/>
                <a:ea typeface="JetBrains Mono"/>
                <a:cs typeface="JetBrains Mono"/>
                <a:sym typeface="JetBrains Mono"/>
              </a:rPr>
              <a:t>→</a:t>
            </a:r>
            <a:endParaRPr/>
          </a:p>
        </p:txBody>
      </p:sp>
      <p:sp>
        <p:nvSpPr>
          <p:cNvPr id="373" name="Google Shape;373;p14"/>
          <p:cNvSpPr txBox="1"/>
          <p:nvPr/>
        </p:nvSpPr>
        <p:spPr>
          <a:xfrm>
            <a:off x="6583680" y="3310128"/>
            <a:ext cx="5074920" cy="122529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7200" u="none" cap="none" strike="noStrike">
                <a:solidFill>
                  <a:srgbClr val="D64545"/>
                </a:solidFill>
                <a:latin typeface="JetBrains Mono"/>
                <a:ea typeface="JetBrains Mono"/>
                <a:cs typeface="JetBrains Mono"/>
                <a:sym typeface="JetBrains Mono"/>
              </a:rPr>
              <a:t>0,203</a:t>
            </a:r>
            <a:endParaRPr/>
          </a:p>
        </p:txBody>
      </p:sp>
      <p:sp>
        <p:nvSpPr>
          <p:cNvPr id="374" name="Google Shape;374;p14"/>
          <p:cNvSpPr txBox="1"/>
          <p:nvPr/>
        </p:nvSpPr>
        <p:spPr>
          <a:xfrm>
            <a:off x="502920" y="4590288"/>
            <a:ext cx="11201400" cy="56692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Precisão da classe alta</a:t>
            </a:r>
            <a:endParaRPr/>
          </a:p>
        </p:txBody>
      </p:sp>
      <p:sp>
        <p:nvSpPr>
          <p:cNvPr id="375" name="Google Shape;375;p14"/>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14"/>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A origem passou por cima do impacto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5"/>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383" name="Google Shape;383;p15"/>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15</a:t>
            </a:r>
            <a:endParaRPr/>
          </a:p>
        </p:txBody>
      </p:sp>
      <p:sp>
        <p:nvSpPr>
          <p:cNvPr id="384" name="Google Shape;384;p15"/>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02 · O RESULTADO</a:t>
            </a:r>
            <a:endParaRPr/>
          </a:p>
        </p:txBody>
      </p:sp>
      <p:sp>
        <p:nvSpPr>
          <p:cNvPr id="385" name="Google Shape;385;p15"/>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A regra gerada não silencia</a:t>
            </a:r>
            <a:endParaRPr/>
          </a:p>
        </p:txBody>
      </p:sp>
      <p:sp>
        <p:nvSpPr>
          <p:cNvPr id="386" name="Google Shape;386;p15"/>
          <p:cNvSpPr/>
          <p:nvPr/>
        </p:nvSpPr>
        <p:spPr>
          <a:xfrm>
            <a:off x="502920" y="1810512"/>
            <a:ext cx="11201400" cy="859536"/>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15"/>
          <p:cNvSpPr txBox="1"/>
          <p:nvPr/>
        </p:nvSpPr>
        <p:spPr>
          <a:xfrm>
            <a:off x="777240" y="1810512"/>
            <a:ext cx="2690780" cy="85953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REGRA 5715</a:t>
            </a:r>
            <a:endParaRPr/>
          </a:p>
        </p:txBody>
      </p:sp>
      <p:sp>
        <p:nvSpPr>
          <p:cNvPr id="388" name="Google Shape;388;p15"/>
          <p:cNvSpPr txBox="1"/>
          <p:nvPr/>
        </p:nvSpPr>
        <p:spPr>
          <a:xfrm>
            <a:off x="4016660" y="1810512"/>
            <a:ext cx="7413339" cy="859536"/>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Login institucional → nível 3</a:t>
            </a:r>
            <a:endParaRPr/>
          </a:p>
        </p:txBody>
      </p:sp>
      <p:sp>
        <p:nvSpPr>
          <p:cNvPr id="389" name="Google Shape;389;p15"/>
          <p:cNvSpPr/>
          <p:nvPr/>
        </p:nvSpPr>
        <p:spPr>
          <a:xfrm>
            <a:off x="502920" y="2779776"/>
            <a:ext cx="11201400" cy="859536"/>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0" name="Google Shape;390;p15"/>
          <p:cNvSpPr txBox="1"/>
          <p:nvPr/>
        </p:nvSpPr>
        <p:spPr>
          <a:xfrm>
            <a:off x="777240" y="2779776"/>
            <a:ext cx="2309510" cy="85953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ANALISTA</a:t>
            </a:r>
            <a:endParaRPr/>
          </a:p>
        </p:txBody>
      </p:sp>
      <p:sp>
        <p:nvSpPr>
          <p:cNvPr id="391" name="Google Shape;391;p15"/>
          <p:cNvSpPr txBox="1"/>
          <p:nvPr/>
        </p:nvSpPr>
        <p:spPr>
          <a:xfrm>
            <a:off x="3635390" y="2779776"/>
            <a:ext cx="7794609" cy="859536"/>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Atividade rotineira → sem alerta</a:t>
            </a:r>
            <a:endParaRPr/>
          </a:p>
        </p:txBody>
      </p:sp>
      <p:sp>
        <p:nvSpPr>
          <p:cNvPr id="392" name="Google Shape;392;p15"/>
          <p:cNvSpPr/>
          <p:nvPr/>
        </p:nvSpPr>
        <p:spPr>
          <a:xfrm>
            <a:off x="502920" y="3749039"/>
            <a:ext cx="11201400" cy="859536"/>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15"/>
          <p:cNvSpPr txBox="1"/>
          <p:nvPr/>
        </p:nvSpPr>
        <p:spPr>
          <a:xfrm>
            <a:off x="777240" y="3749039"/>
            <a:ext cx="2011680" cy="85953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D64545"/>
                </a:solidFill>
                <a:latin typeface="Inter"/>
                <a:ea typeface="Inter"/>
                <a:cs typeface="Inter"/>
                <a:sym typeface="Inter"/>
              </a:rPr>
              <a:t>FALTOU</a:t>
            </a:r>
            <a:endParaRPr/>
          </a:p>
        </p:txBody>
      </p:sp>
      <p:sp>
        <p:nvSpPr>
          <p:cNvPr id="394" name="Google Shape;394;p15"/>
          <p:cNvSpPr txBox="1"/>
          <p:nvPr/>
        </p:nvSpPr>
        <p:spPr>
          <a:xfrm>
            <a:off x="3337560" y="3749039"/>
            <a:ext cx="8092440" cy="859536"/>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Regra filha de nível 0</a:t>
            </a:r>
            <a:endParaRPr/>
          </a:p>
        </p:txBody>
      </p:sp>
      <p:sp>
        <p:nvSpPr>
          <p:cNvPr id="395" name="Google Shape;395;p15"/>
          <p:cNvSpPr txBox="1"/>
          <p:nvPr/>
        </p:nvSpPr>
        <p:spPr>
          <a:xfrm>
            <a:off x="502920" y="4956048"/>
            <a:ext cx="11201400" cy="5029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270 eventos de rotina seguem alertando</a:t>
            </a:r>
            <a:endParaRPr/>
          </a:p>
        </p:txBody>
      </p:sp>
      <p:sp>
        <p:nvSpPr>
          <p:cNvPr id="396" name="Google Shape;396;p15"/>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15"/>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Nenhuma regra gerada usa o nível 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6"/>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404" name="Google Shape;404;p16"/>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16</a:t>
            </a:r>
            <a:endParaRPr/>
          </a:p>
        </p:txBody>
      </p:sp>
      <p:sp>
        <p:nvSpPr>
          <p:cNvPr id="405" name="Google Shape;405;p16"/>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03 · O QUE ISSO ENSINA</a:t>
            </a:r>
            <a:endParaRPr/>
          </a:p>
        </p:txBody>
      </p:sp>
      <p:sp>
        <p:nvSpPr>
          <p:cNvPr id="406" name="Google Shape;406;p16"/>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F1 sozinho não diz se a regra é boa</a:t>
            </a:r>
            <a:endParaRPr/>
          </a:p>
        </p:txBody>
      </p:sp>
      <p:sp>
        <p:nvSpPr>
          <p:cNvPr id="407" name="Google Shape;407;p16"/>
          <p:cNvSpPr txBox="1"/>
          <p:nvPr/>
        </p:nvSpPr>
        <p:spPr>
          <a:xfrm>
            <a:off x="502920" y="1517904"/>
            <a:ext cx="11201400"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No lugar de um número só, três visões</a:t>
            </a:r>
            <a:endParaRPr/>
          </a:p>
        </p:txBody>
      </p:sp>
      <p:sp>
        <p:nvSpPr>
          <p:cNvPr id="408" name="Google Shape;408;p16"/>
          <p:cNvSpPr/>
          <p:nvPr/>
        </p:nvSpPr>
        <p:spPr>
          <a:xfrm>
            <a:off x="713232" y="2249424"/>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16"/>
          <p:cNvSpPr txBox="1"/>
          <p:nvPr/>
        </p:nvSpPr>
        <p:spPr>
          <a:xfrm>
            <a:off x="1078992" y="2139696"/>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Rodar a regra em log que ela nunca viu</a:t>
            </a:r>
            <a:endParaRPr/>
          </a:p>
        </p:txBody>
      </p:sp>
      <p:sp>
        <p:nvSpPr>
          <p:cNvPr id="410" name="Google Shape;410;p16"/>
          <p:cNvSpPr/>
          <p:nvPr/>
        </p:nvSpPr>
        <p:spPr>
          <a:xfrm>
            <a:off x="713232" y="3218688"/>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16"/>
          <p:cNvSpPr txBox="1"/>
          <p:nvPr/>
        </p:nvSpPr>
        <p:spPr>
          <a:xfrm>
            <a:off x="1078992" y="3108960"/>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Especialista lê a regra que nunca disparou</a:t>
            </a:r>
            <a:endParaRPr/>
          </a:p>
        </p:txBody>
      </p:sp>
      <p:sp>
        <p:nvSpPr>
          <p:cNvPr id="412" name="Google Shape;412;p16"/>
          <p:cNvSpPr/>
          <p:nvPr/>
        </p:nvSpPr>
        <p:spPr>
          <a:xfrm>
            <a:off x="713232" y="4187952"/>
            <a:ext cx="164592" cy="164592"/>
          </a:xfrm>
          <a:prstGeom prst="ellipse">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16"/>
          <p:cNvSpPr txBox="1"/>
          <p:nvPr/>
        </p:nvSpPr>
        <p:spPr>
          <a:xfrm>
            <a:off x="1078992" y="4078224"/>
            <a:ext cx="10515600" cy="5669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B2D"/>
                </a:solidFill>
                <a:latin typeface="Inter"/>
                <a:ea typeface="Inter"/>
                <a:cs typeface="Inter"/>
                <a:sym typeface="Inter"/>
              </a:rPr>
              <a:t>Testar cenário que a amostra não tem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7"/>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420" name="Google Shape;420;p17"/>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17</a:t>
            </a:r>
            <a:endParaRPr/>
          </a:p>
        </p:txBody>
      </p:sp>
      <p:sp>
        <p:nvSpPr>
          <p:cNvPr id="421" name="Google Shape;421;p17"/>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03 · O QUE ISSO ENSINA</a:t>
            </a:r>
            <a:endParaRPr/>
          </a:p>
        </p:txBody>
      </p:sp>
      <p:sp>
        <p:nvSpPr>
          <p:cNvPr id="422" name="Google Shape;422;p17"/>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Limitações</a:t>
            </a:r>
            <a:endParaRPr/>
          </a:p>
        </p:txBody>
      </p:sp>
      <p:sp>
        <p:nvSpPr>
          <p:cNvPr id="423" name="Google Shape;423;p17"/>
          <p:cNvSpPr/>
          <p:nvPr/>
        </p:nvSpPr>
        <p:spPr>
          <a:xfrm>
            <a:off x="502920" y="1828800"/>
            <a:ext cx="11201400" cy="106070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17"/>
          <p:cNvSpPr txBox="1"/>
          <p:nvPr/>
        </p:nvSpPr>
        <p:spPr>
          <a:xfrm>
            <a:off x="777240" y="1828800"/>
            <a:ext cx="2351738" cy="10607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AMOSTRA</a:t>
            </a:r>
            <a:endParaRPr/>
          </a:p>
        </p:txBody>
      </p:sp>
      <p:sp>
        <p:nvSpPr>
          <p:cNvPr id="425" name="Google Shape;425;p17"/>
          <p:cNvSpPr txBox="1"/>
          <p:nvPr/>
        </p:nvSpPr>
        <p:spPr>
          <a:xfrm>
            <a:off x="3677618" y="1828800"/>
            <a:ext cx="7752381" cy="1060704"/>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5 dias, 2 hosts, sem acesso IP fora do país</a:t>
            </a:r>
            <a:endParaRPr/>
          </a:p>
        </p:txBody>
      </p:sp>
      <p:sp>
        <p:nvSpPr>
          <p:cNvPr id="426" name="Google Shape;426;p17"/>
          <p:cNvSpPr/>
          <p:nvPr/>
        </p:nvSpPr>
        <p:spPr>
          <a:xfrm>
            <a:off x="502920" y="2980944"/>
            <a:ext cx="11201400" cy="106070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17"/>
          <p:cNvSpPr txBox="1"/>
          <p:nvPr/>
        </p:nvSpPr>
        <p:spPr>
          <a:xfrm>
            <a:off x="777240" y="2980944"/>
            <a:ext cx="2011680" cy="10607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MODELO</a:t>
            </a:r>
            <a:endParaRPr/>
          </a:p>
        </p:txBody>
      </p:sp>
      <p:sp>
        <p:nvSpPr>
          <p:cNvPr id="428" name="Google Shape;428;p17"/>
          <p:cNvSpPr txBox="1"/>
          <p:nvPr/>
        </p:nvSpPr>
        <p:spPr>
          <a:xfrm>
            <a:off x="3337560" y="2980944"/>
            <a:ext cx="8092440" cy="1060704"/>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Somente Claude Opus 4.7</a:t>
            </a:r>
            <a:endParaRPr/>
          </a:p>
        </p:txBody>
      </p:sp>
      <p:sp>
        <p:nvSpPr>
          <p:cNvPr id="429" name="Google Shape;429;p17"/>
          <p:cNvSpPr/>
          <p:nvPr/>
        </p:nvSpPr>
        <p:spPr>
          <a:xfrm>
            <a:off x="502920" y="4133087"/>
            <a:ext cx="11201400" cy="1060704"/>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17"/>
          <p:cNvSpPr txBox="1"/>
          <p:nvPr/>
        </p:nvSpPr>
        <p:spPr>
          <a:xfrm>
            <a:off x="777240" y="4133087"/>
            <a:ext cx="3852537" cy="10607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CONTAMINAÇÃO</a:t>
            </a:r>
            <a:endParaRPr/>
          </a:p>
        </p:txBody>
      </p:sp>
      <p:sp>
        <p:nvSpPr>
          <p:cNvPr id="431" name="Google Shape;431;p17"/>
          <p:cNvSpPr txBox="1"/>
          <p:nvPr/>
        </p:nvSpPr>
        <p:spPr>
          <a:xfrm>
            <a:off x="5178417" y="4133087"/>
            <a:ext cx="6251582" cy="1060704"/>
          </a:xfrm>
          <a:prstGeom prst="rect">
            <a:avLst/>
          </a:prstGeom>
          <a:noFill/>
          <a:ln>
            <a:noFill/>
          </a:ln>
        </p:spPr>
        <p:txBody>
          <a:bodyPr anchorCtr="0" anchor="ctr" bIns="0" lIns="0" spcFirstLastPara="1" rIns="0" wrap="square" tIns="0">
            <a:spAutoFit/>
          </a:bodyPr>
          <a:lstStyle/>
          <a:p>
            <a:pPr indent="0" lvl="0" marL="0" marR="0" rtl="0" algn="l">
              <a:lnSpc>
                <a:spcPct val="112000"/>
              </a:lnSpc>
              <a:spcBef>
                <a:spcPts val="0"/>
              </a:spcBef>
              <a:spcAft>
                <a:spcPts val="0"/>
              </a:spcAft>
              <a:buNone/>
            </a:pPr>
            <a:r>
              <a:rPr b="1" i="0" lang="en-US" sz="3200" u="none" cap="none" strike="noStrike">
                <a:solidFill>
                  <a:srgbClr val="14161A"/>
                </a:solidFill>
                <a:latin typeface="Inter"/>
                <a:ea typeface="Inter"/>
                <a:cs typeface="Inter"/>
                <a:sym typeface="Inter"/>
              </a:rPr>
              <a:t>Prompt e rótulo dos autores</a:t>
            </a:r>
            <a:endParaRPr/>
          </a:p>
        </p:txBody>
      </p:sp>
      <p:sp>
        <p:nvSpPr>
          <p:cNvPr id="432" name="Google Shape;432;p17"/>
          <p:cNvSpPr/>
          <p:nvPr/>
        </p:nvSpPr>
        <p:spPr>
          <a:xfrm>
            <a:off x="484632" y="5541264"/>
            <a:ext cx="11247120" cy="640080"/>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17"/>
          <p:cNvSpPr txBox="1"/>
          <p:nvPr/>
        </p:nvSpPr>
        <p:spPr>
          <a:xfrm>
            <a:off x="731520" y="5541264"/>
            <a:ext cx="10835640" cy="6400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Conclusões válidas dentro deste escopo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8"/>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440" name="Google Shape;440;p18"/>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18</a:t>
            </a:r>
            <a:endParaRPr/>
          </a:p>
        </p:txBody>
      </p:sp>
      <p:sp>
        <p:nvSpPr>
          <p:cNvPr id="441" name="Google Shape;441;p18"/>
          <p:cNvSpPr txBox="1"/>
          <p:nvPr/>
        </p:nvSpPr>
        <p:spPr>
          <a:xfrm>
            <a:off x="713232" y="47548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Selos do Comitê de Artefatos</a:t>
            </a:r>
            <a:endParaRPr/>
          </a:p>
        </p:txBody>
      </p:sp>
      <p:sp>
        <p:nvSpPr>
          <p:cNvPr id="442" name="Google Shape;442;p18"/>
          <p:cNvSpPr txBox="1"/>
          <p:nvPr/>
        </p:nvSpPr>
        <p:spPr>
          <a:xfrm>
            <a:off x="713232" y="1700784"/>
            <a:ext cx="108813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Artefato com os quatro selos do CTA/SBSeg 2026</a:t>
            </a:r>
            <a:endParaRPr/>
          </a:p>
        </p:txBody>
      </p:sp>
      <p:pic>
        <p:nvPicPr>
          <p:cNvPr descr="disponiveis.png" id="443" name="Google Shape;443;p18"/>
          <p:cNvPicPr preferRelativeResize="0"/>
          <p:nvPr/>
        </p:nvPicPr>
        <p:blipFill rotWithShape="1">
          <a:blip r:embed="rId3">
            <a:alphaModFix/>
          </a:blip>
          <a:srcRect b="0" l="0" r="0" t="0"/>
          <a:stretch/>
        </p:blipFill>
        <p:spPr>
          <a:xfrm>
            <a:off x="292608" y="2606040"/>
            <a:ext cx="2761488" cy="2761488"/>
          </a:xfrm>
          <a:prstGeom prst="rect">
            <a:avLst/>
          </a:prstGeom>
          <a:noFill/>
          <a:ln>
            <a:noFill/>
          </a:ln>
        </p:spPr>
      </p:pic>
      <p:pic>
        <p:nvPicPr>
          <p:cNvPr descr="funcionais.png" id="444" name="Google Shape;444;p18"/>
          <p:cNvPicPr preferRelativeResize="0"/>
          <p:nvPr/>
        </p:nvPicPr>
        <p:blipFill rotWithShape="1">
          <a:blip r:embed="rId4">
            <a:alphaModFix/>
          </a:blip>
          <a:srcRect b="0" l="0" r="0" t="0"/>
          <a:stretch/>
        </p:blipFill>
        <p:spPr>
          <a:xfrm>
            <a:off x="3240938" y="2606040"/>
            <a:ext cx="2761488" cy="2761488"/>
          </a:xfrm>
          <a:prstGeom prst="rect">
            <a:avLst/>
          </a:prstGeom>
          <a:noFill/>
          <a:ln>
            <a:noFill/>
          </a:ln>
        </p:spPr>
      </p:pic>
      <p:pic>
        <p:nvPicPr>
          <p:cNvPr descr="sustentaveis.png" id="445" name="Google Shape;445;p18"/>
          <p:cNvPicPr preferRelativeResize="0"/>
          <p:nvPr/>
        </p:nvPicPr>
        <p:blipFill rotWithShape="1">
          <a:blip r:embed="rId5">
            <a:alphaModFix/>
          </a:blip>
          <a:srcRect b="0" l="0" r="0" t="0"/>
          <a:stretch/>
        </p:blipFill>
        <p:spPr>
          <a:xfrm>
            <a:off x="6189268" y="2606040"/>
            <a:ext cx="2761488" cy="2761488"/>
          </a:xfrm>
          <a:prstGeom prst="rect">
            <a:avLst/>
          </a:prstGeom>
          <a:noFill/>
          <a:ln>
            <a:noFill/>
          </a:ln>
        </p:spPr>
      </p:pic>
      <p:pic>
        <p:nvPicPr>
          <p:cNvPr descr="reproduziveis.png" id="446" name="Google Shape;446;p18"/>
          <p:cNvPicPr preferRelativeResize="0"/>
          <p:nvPr/>
        </p:nvPicPr>
        <p:blipFill rotWithShape="1">
          <a:blip r:embed="rId6">
            <a:alphaModFix/>
          </a:blip>
          <a:srcRect b="0" l="0" r="0" t="0"/>
          <a:stretch/>
        </p:blipFill>
        <p:spPr>
          <a:xfrm>
            <a:off x="9137599" y="2606040"/>
            <a:ext cx="2761488" cy="276148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img08_obrigado.jpg" id="452" name="Google Shape;452;p19"/>
          <p:cNvPicPr preferRelativeResize="0"/>
          <p:nvPr/>
        </p:nvPicPr>
        <p:blipFill rotWithShape="1">
          <a:blip r:embed="rId3">
            <a:alphaModFix/>
          </a:blip>
          <a:srcRect b="0" l="0" r="0" t="0"/>
          <a:stretch/>
        </p:blipFill>
        <p:spPr>
          <a:xfrm>
            <a:off x="-3164" y="0"/>
            <a:ext cx="12198023" cy="6858000"/>
          </a:xfrm>
          <a:prstGeom prst="rect">
            <a:avLst/>
          </a:prstGeom>
          <a:noFill/>
          <a:ln>
            <a:noFill/>
          </a:ln>
        </p:spPr>
      </p:pic>
      <p:sp>
        <p:nvSpPr>
          <p:cNvPr id="453" name="Google Shape;453;p19"/>
          <p:cNvSpPr/>
          <p:nvPr/>
        </p:nvSpPr>
        <p:spPr>
          <a:xfrm>
            <a:off x="10927080" y="6236208"/>
            <a:ext cx="1005840" cy="475488"/>
          </a:xfrm>
          <a:prstGeom prst="roundRect">
            <a:avLst>
              <a:gd fmla="val 35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19"/>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455" name="Google Shape;455;p19"/>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19</a:t>
            </a:r>
            <a:endParaRPr/>
          </a:p>
        </p:txBody>
      </p:sp>
      <p:sp>
        <p:nvSpPr>
          <p:cNvPr id="456" name="Google Shape;456;p19"/>
          <p:cNvSpPr txBox="1"/>
          <p:nvPr/>
        </p:nvSpPr>
        <p:spPr>
          <a:xfrm>
            <a:off x="713232" y="1005840"/>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Obrigado!</a:t>
            </a:r>
            <a:endParaRPr/>
          </a:p>
        </p:txBody>
      </p:sp>
      <p:sp>
        <p:nvSpPr>
          <p:cNvPr id="457" name="Google Shape;457;p19"/>
          <p:cNvSpPr txBox="1"/>
          <p:nvPr/>
        </p:nvSpPr>
        <p:spPr>
          <a:xfrm>
            <a:off x="749808" y="1847088"/>
            <a:ext cx="7680960" cy="6766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14161A"/>
                </a:solidFill>
                <a:latin typeface="Inter"/>
                <a:ea typeface="Inter"/>
                <a:cs typeface="Inter"/>
                <a:sym typeface="Inter"/>
              </a:rPr>
              <a:t>Perguntas são bem-vindas</a:t>
            </a:r>
            <a:endParaRPr/>
          </a:p>
        </p:txBody>
      </p:sp>
      <p:sp>
        <p:nvSpPr>
          <p:cNvPr id="458" name="Google Shape;458;p19"/>
          <p:cNvSpPr txBox="1"/>
          <p:nvPr/>
        </p:nvSpPr>
        <p:spPr>
          <a:xfrm>
            <a:off x="749808" y="2743200"/>
            <a:ext cx="51206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AUTORA DE CONTATO</a:t>
            </a:r>
            <a:endParaRPr/>
          </a:p>
        </p:txBody>
      </p:sp>
      <p:sp>
        <p:nvSpPr>
          <p:cNvPr id="459" name="Google Shape;459;p19"/>
          <p:cNvSpPr txBox="1"/>
          <p:nvPr/>
        </p:nvSpPr>
        <p:spPr>
          <a:xfrm>
            <a:off x="749808" y="3145536"/>
            <a:ext cx="58521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14161A"/>
                </a:solidFill>
                <a:latin typeface="Space Grotesk"/>
                <a:ea typeface="Space Grotesk"/>
                <a:cs typeface="Space Grotesk"/>
                <a:sym typeface="Space Grotesk"/>
              </a:rPr>
              <a:t>Priscila Schafhauzer</a:t>
            </a:r>
            <a:endParaRPr/>
          </a:p>
        </p:txBody>
      </p:sp>
      <p:sp>
        <p:nvSpPr>
          <p:cNvPr id="460" name="Google Shape;460;p19"/>
          <p:cNvSpPr txBox="1"/>
          <p:nvPr/>
        </p:nvSpPr>
        <p:spPr>
          <a:xfrm>
            <a:off x="749808" y="3749039"/>
            <a:ext cx="69494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61A"/>
                </a:solidFill>
                <a:latin typeface="JetBrains Mono"/>
                <a:ea typeface="JetBrains Mono"/>
                <a:cs typeface="JetBrains Mono"/>
                <a:sym typeface="JetBrains Mono"/>
              </a:rPr>
              <a:t>priscilaschafhauzer.aluno@unipampa.edu.br</a:t>
            </a:r>
            <a:endParaRPr/>
          </a:p>
        </p:txBody>
      </p:sp>
      <p:sp>
        <p:nvSpPr>
          <p:cNvPr id="461" name="Google Shape;461;p19"/>
          <p:cNvSpPr txBox="1"/>
          <p:nvPr/>
        </p:nvSpPr>
        <p:spPr>
          <a:xfrm>
            <a:off x="749808" y="4133087"/>
            <a:ext cx="603504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61A"/>
                </a:solidFill>
                <a:latin typeface="Inter"/>
                <a:ea typeface="Inter"/>
                <a:cs typeface="Inter"/>
                <a:sym typeface="Inter"/>
              </a:rPr>
              <a:t>AI Horizon Labs · PPGES · UNIPAMPA</a:t>
            </a:r>
            <a:endParaRPr/>
          </a:p>
        </p:txBody>
      </p:sp>
      <p:sp>
        <p:nvSpPr>
          <p:cNvPr id="462" name="Google Shape;462;p19"/>
          <p:cNvSpPr txBox="1"/>
          <p:nvPr/>
        </p:nvSpPr>
        <p:spPr>
          <a:xfrm>
            <a:off x="749808" y="4517136"/>
            <a:ext cx="603504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61A"/>
                </a:solidFill>
                <a:latin typeface="Inter"/>
                <a:ea typeface="Inter"/>
                <a:cs typeface="Inter"/>
                <a:sym typeface="Inter"/>
              </a:rPr>
              <a:t>Apresentado por Cristhian Kapelinski.</a:t>
            </a:r>
            <a:endParaRPr/>
          </a:p>
        </p:txBody>
      </p:sp>
      <p:sp>
        <p:nvSpPr>
          <p:cNvPr id="463" name="Google Shape;463;p19"/>
          <p:cNvSpPr/>
          <p:nvPr/>
        </p:nvSpPr>
        <p:spPr>
          <a:xfrm>
            <a:off x="7955279" y="2377440"/>
            <a:ext cx="3977639" cy="3794760"/>
          </a:xfrm>
          <a:prstGeom prst="roundRect">
            <a:avLst>
              <a:gd fmla="val 6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artefato.png" id="464" name="Google Shape;464;p19"/>
          <p:cNvPicPr preferRelativeResize="0"/>
          <p:nvPr/>
        </p:nvPicPr>
        <p:blipFill rotWithShape="1">
          <a:blip r:embed="rId4">
            <a:alphaModFix/>
          </a:blip>
          <a:srcRect b="0" l="0" r="0" t="0"/>
          <a:stretch/>
        </p:blipFill>
        <p:spPr>
          <a:xfrm>
            <a:off x="8275320" y="2542032"/>
            <a:ext cx="1417320" cy="1417320"/>
          </a:xfrm>
          <a:prstGeom prst="rect">
            <a:avLst/>
          </a:prstGeom>
          <a:noFill/>
          <a:ln>
            <a:noFill/>
          </a:ln>
        </p:spPr>
      </p:pic>
      <p:sp>
        <p:nvSpPr>
          <p:cNvPr id="465" name="Google Shape;465;p19"/>
          <p:cNvSpPr txBox="1"/>
          <p:nvPr/>
        </p:nvSpPr>
        <p:spPr>
          <a:xfrm>
            <a:off x="7863840" y="4032504"/>
            <a:ext cx="2240280" cy="31089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100" u="none" cap="none" strike="noStrike">
                <a:solidFill>
                  <a:srgbClr val="141B2D"/>
                </a:solidFill>
                <a:latin typeface="Inter"/>
                <a:ea typeface="Inter"/>
                <a:cs typeface="Inter"/>
                <a:sym typeface="Inter"/>
              </a:rPr>
              <a:t>Artefato</a:t>
            </a:r>
            <a:endParaRPr/>
          </a:p>
        </p:txBody>
      </p:sp>
      <p:pic>
        <p:nvPicPr>
          <p:cNvPr descr="lab.png" id="466" name="Google Shape;466;p19"/>
          <p:cNvPicPr preferRelativeResize="0"/>
          <p:nvPr/>
        </p:nvPicPr>
        <p:blipFill rotWithShape="1">
          <a:blip r:embed="rId5">
            <a:alphaModFix/>
          </a:blip>
          <a:srcRect b="0" l="0" r="0" t="0"/>
          <a:stretch/>
        </p:blipFill>
        <p:spPr>
          <a:xfrm>
            <a:off x="10241280" y="2542032"/>
            <a:ext cx="1417320" cy="1417320"/>
          </a:xfrm>
          <a:prstGeom prst="rect">
            <a:avLst/>
          </a:prstGeom>
          <a:noFill/>
          <a:ln>
            <a:noFill/>
          </a:ln>
        </p:spPr>
      </p:pic>
      <p:sp>
        <p:nvSpPr>
          <p:cNvPr id="467" name="Google Shape;467;p19"/>
          <p:cNvSpPr txBox="1"/>
          <p:nvPr/>
        </p:nvSpPr>
        <p:spPr>
          <a:xfrm>
            <a:off x="9829800" y="4032504"/>
            <a:ext cx="2240280" cy="31089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100" u="none" cap="none" strike="noStrike">
                <a:solidFill>
                  <a:srgbClr val="141B2D"/>
                </a:solidFill>
                <a:latin typeface="Inter"/>
                <a:ea typeface="Inter"/>
                <a:cs typeface="Inter"/>
                <a:sym typeface="Inter"/>
              </a:rPr>
              <a:t>AI Horizon Labs</a:t>
            </a:r>
            <a:endParaRPr/>
          </a:p>
        </p:txBody>
      </p:sp>
      <p:sp>
        <p:nvSpPr>
          <p:cNvPr id="468" name="Google Shape;468;p19"/>
          <p:cNvSpPr/>
          <p:nvPr/>
        </p:nvSpPr>
        <p:spPr>
          <a:xfrm>
            <a:off x="621792" y="5138928"/>
            <a:ext cx="5486400" cy="749808"/>
          </a:xfrm>
          <a:prstGeom prst="roundRect">
            <a:avLst>
              <a:gd fmla="val 6000" name="adj"/>
            </a:avLst>
          </a:prstGeom>
          <a:solidFill>
            <a:srgbClr val="FDEB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19"/>
          <p:cNvSpPr txBox="1"/>
          <p:nvPr/>
        </p:nvSpPr>
        <p:spPr>
          <a:xfrm>
            <a:off x="868680" y="5138928"/>
            <a:ext cx="1097280" cy="7498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14161A"/>
                </a:solidFill>
                <a:latin typeface="Inter"/>
                <a:ea typeface="Inter"/>
                <a:cs typeface="Inter"/>
                <a:sym typeface="Inter"/>
              </a:rPr>
              <a:t>Apoio</a:t>
            </a:r>
            <a:endParaRPr/>
          </a:p>
        </p:txBody>
      </p:sp>
      <p:pic>
        <p:nvPicPr>
          <p:cNvPr descr="capes.png" id="470" name="Google Shape;470;p19"/>
          <p:cNvPicPr preferRelativeResize="0"/>
          <p:nvPr/>
        </p:nvPicPr>
        <p:blipFill rotWithShape="1">
          <a:blip r:embed="rId6">
            <a:alphaModFix/>
          </a:blip>
          <a:srcRect b="0" l="0" r="0" t="0"/>
          <a:stretch/>
        </p:blipFill>
        <p:spPr>
          <a:xfrm>
            <a:off x="2145039" y="5358384"/>
            <a:ext cx="413718" cy="310896"/>
          </a:xfrm>
          <a:prstGeom prst="rect">
            <a:avLst/>
          </a:prstGeom>
          <a:noFill/>
          <a:ln>
            <a:noFill/>
          </a:ln>
        </p:spPr>
      </p:pic>
      <p:pic>
        <p:nvPicPr>
          <p:cNvPr descr="cnpq.png" id="471" name="Google Shape;471;p19"/>
          <p:cNvPicPr preferRelativeResize="0"/>
          <p:nvPr/>
        </p:nvPicPr>
        <p:blipFill rotWithShape="1">
          <a:blip r:embed="rId7">
            <a:alphaModFix/>
          </a:blip>
          <a:srcRect b="0" l="0" r="0" t="0"/>
          <a:stretch/>
        </p:blipFill>
        <p:spPr>
          <a:xfrm>
            <a:off x="2692116" y="5358384"/>
            <a:ext cx="1032409" cy="310896"/>
          </a:xfrm>
          <a:prstGeom prst="rect">
            <a:avLst/>
          </a:prstGeom>
          <a:noFill/>
          <a:ln>
            <a:noFill/>
          </a:ln>
        </p:spPr>
      </p:pic>
      <p:pic>
        <p:nvPicPr>
          <p:cNvPr descr="fapergs.png" id="472" name="Google Shape;472;p19"/>
          <p:cNvPicPr preferRelativeResize="0"/>
          <p:nvPr/>
        </p:nvPicPr>
        <p:blipFill rotWithShape="1">
          <a:blip r:embed="rId8">
            <a:alphaModFix/>
          </a:blip>
          <a:srcRect b="0" l="0" r="0" t="0"/>
          <a:stretch/>
        </p:blipFill>
        <p:spPr>
          <a:xfrm>
            <a:off x="3857885" y="5358384"/>
            <a:ext cx="1998075" cy="310896"/>
          </a:xfrm>
          <a:prstGeom prst="rect">
            <a:avLst/>
          </a:prstGeom>
          <a:noFill/>
          <a:ln>
            <a:noFill/>
          </a:ln>
        </p:spPr>
      </p:pic>
      <p:pic>
        <p:nvPicPr>
          <p:cNvPr descr="qr_SIEMRules_Priscila.png" id="473" name="Google Shape;473;p19"/>
          <p:cNvPicPr preferRelativeResize="0"/>
          <p:nvPr/>
        </p:nvPicPr>
        <p:blipFill rotWithShape="1">
          <a:blip r:embed="rId9">
            <a:alphaModFix/>
          </a:blip>
          <a:srcRect b="0" l="0" r="0" t="0"/>
          <a:stretch/>
        </p:blipFill>
        <p:spPr>
          <a:xfrm>
            <a:off x="9281160" y="4498848"/>
            <a:ext cx="1280160" cy="1280160"/>
          </a:xfrm>
          <a:prstGeom prst="rect">
            <a:avLst/>
          </a:prstGeom>
          <a:noFill/>
          <a:ln>
            <a:noFill/>
          </a:ln>
        </p:spPr>
      </p:pic>
      <p:sp>
        <p:nvSpPr>
          <p:cNvPr id="474" name="Google Shape;474;p19"/>
          <p:cNvSpPr txBox="1"/>
          <p:nvPr/>
        </p:nvSpPr>
        <p:spPr>
          <a:xfrm>
            <a:off x="8823960" y="5833872"/>
            <a:ext cx="2240280" cy="31089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2100" u="none" cap="none" strike="noStrike">
                <a:solidFill>
                  <a:srgbClr val="141B2D"/>
                </a:solidFill>
                <a:latin typeface="Inter"/>
                <a:ea typeface="Inter"/>
                <a:cs typeface="Inter"/>
                <a:sym typeface="Inter"/>
              </a:rPr>
              <a:t>Artigo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0"/>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481" name="Google Shape;481;p20"/>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20</a:t>
            </a:r>
            <a:endParaRPr/>
          </a:p>
        </p:txBody>
      </p:sp>
      <p:sp>
        <p:nvSpPr>
          <p:cNvPr id="482" name="Google Shape;482;p20"/>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RESERVA</a:t>
            </a:r>
            <a:endParaRPr/>
          </a:p>
        </p:txBody>
      </p:sp>
      <p:sp>
        <p:nvSpPr>
          <p:cNvPr id="483" name="Google Shape;483;p20"/>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Métricas por classe</a:t>
            </a:r>
            <a:endParaRPr/>
          </a:p>
        </p:txBody>
      </p:sp>
      <p:sp>
        <p:nvSpPr>
          <p:cNvPr id="484" name="Google Shape;484;p20"/>
          <p:cNvSpPr txBox="1"/>
          <p:nvPr/>
        </p:nvSpPr>
        <p:spPr>
          <a:xfrm>
            <a:off x="365760" y="1645920"/>
            <a:ext cx="3200400"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Configuração</a:t>
            </a:r>
            <a:endParaRPr/>
          </a:p>
        </p:txBody>
      </p:sp>
      <p:sp>
        <p:nvSpPr>
          <p:cNvPr id="485" name="Google Shape;485;p20"/>
          <p:cNvSpPr txBox="1"/>
          <p:nvPr/>
        </p:nvSpPr>
        <p:spPr>
          <a:xfrm>
            <a:off x="3657600" y="1645920"/>
            <a:ext cx="2651760"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Classe</a:t>
            </a:r>
            <a:endParaRPr/>
          </a:p>
        </p:txBody>
      </p:sp>
      <p:sp>
        <p:nvSpPr>
          <p:cNvPr id="486" name="Google Shape;486;p20"/>
          <p:cNvSpPr txBox="1"/>
          <p:nvPr/>
        </p:nvSpPr>
        <p:spPr>
          <a:xfrm>
            <a:off x="6400800" y="1645920"/>
            <a:ext cx="2194560" cy="53035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Precisão</a:t>
            </a:r>
            <a:endParaRPr/>
          </a:p>
        </p:txBody>
      </p:sp>
      <p:sp>
        <p:nvSpPr>
          <p:cNvPr id="487" name="Google Shape;487;p20"/>
          <p:cNvSpPr txBox="1"/>
          <p:nvPr/>
        </p:nvSpPr>
        <p:spPr>
          <a:xfrm>
            <a:off x="8686800" y="1645920"/>
            <a:ext cx="1554480" cy="53035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Recall</a:t>
            </a:r>
            <a:endParaRPr/>
          </a:p>
        </p:txBody>
      </p:sp>
      <p:sp>
        <p:nvSpPr>
          <p:cNvPr id="488" name="Google Shape;488;p20"/>
          <p:cNvSpPr txBox="1"/>
          <p:nvPr/>
        </p:nvSpPr>
        <p:spPr>
          <a:xfrm>
            <a:off x="10332720" y="1645920"/>
            <a:ext cx="1371600" cy="530352"/>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F1</a:t>
            </a:r>
            <a:endParaRPr/>
          </a:p>
        </p:txBody>
      </p:sp>
      <p:sp>
        <p:nvSpPr>
          <p:cNvPr id="489" name="Google Shape;489;p20"/>
          <p:cNvSpPr/>
          <p:nvPr/>
        </p:nvSpPr>
        <p:spPr>
          <a:xfrm>
            <a:off x="365760" y="2212848"/>
            <a:ext cx="11338560" cy="31089"/>
          </a:xfrm>
          <a:prstGeom prst="rect">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0" name="Google Shape;490;p20"/>
          <p:cNvSpPr txBox="1"/>
          <p:nvPr/>
        </p:nvSpPr>
        <p:spPr>
          <a:xfrm>
            <a:off x="365760" y="2359152"/>
            <a:ext cx="32004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Nativo</a:t>
            </a:r>
            <a:endParaRPr/>
          </a:p>
        </p:txBody>
      </p:sp>
      <p:sp>
        <p:nvSpPr>
          <p:cNvPr id="491" name="Google Shape;491;p20"/>
          <p:cNvSpPr txBox="1"/>
          <p:nvPr/>
        </p:nvSpPr>
        <p:spPr>
          <a:xfrm>
            <a:off x="3657600" y="2359152"/>
            <a:ext cx="26517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sem alerta</a:t>
            </a:r>
            <a:endParaRPr/>
          </a:p>
        </p:txBody>
      </p:sp>
      <p:sp>
        <p:nvSpPr>
          <p:cNvPr id="492" name="Google Shape;492;p20"/>
          <p:cNvSpPr txBox="1"/>
          <p:nvPr/>
        </p:nvSpPr>
        <p:spPr>
          <a:xfrm>
            <a:off x="6400800" y="2359152"/>
            <a:ext cx="219456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1,000</a:t>
            </a:r>
            <a:endParaRPr/>
          </a:p>
        </p:txBody>
      </p:sp>
      <p:sp>
        <p:nvSpPr>
          <p:cNvPr id="493" name="Google Shape;493;p20"/>
          <p:cNvSpPr txBox="1"/>
          <p:nvPr/>
        </p:nvSpPr>
        <p:spPr>
          <a:xfrm>
            <a:off x="8686800" y="2359152"/>
            <a:ext cx="155448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0,581</a:t>
            </a:r>
            <a:endParaRPr/>
          </a:p>
        </p:txBody>
      </p:sp>
      <p:sp>
        <p:nvSpPr>
          <p:cNvPr id="494" name="Google Shape;494;p20"/>
          <p:cNvSpPr txBox="1"/>
          <p:nvPr/>
        </p:nvSpPr>
        <p:spPr>
          <a:xfrm>
            <a:off x="10332720" y="2359152"/>
            <a:ext cx="137160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0,735</a:t>
            </a:r>
            <a:endParaRPr/>
          </a:p>
        </p:txBody>
      </p:sp>
      <p:sp>
        <p:nvSpPr>
          <p:cNvPr id="495" name="Google Shape;495;p20"/>
          <p:cNvSpPr txBox="1"/>
          <p:nvPr/>
        </p:nvSpPr>
        <p:spPr>
          <a:xfrm>
            <a:off x="365760" y="2980944"/>
            <a:ext cx="32004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6" name="Google Shape;496;p20"/>
          <p:cNvSpPr txBox="1"/>
          <p:nvPr/>
        </p:nvSpPr>
        <p:spPr>
          <a:xfrm>
            <a:off x="3657600" y="2980944"/>
            <a:ext cx="26517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média</a:t>
            </a:r>
            <a:endParaRPr/>
          </a:p>
        </p:txBody>
      </p:sp>
      <p:sp>
        <p:nvSpPr>
          <p:cNvPr id="497" name="Google Shape;497;p20"/>
          <p:cNvSpPr txBox="1"/>
          <p:nvPr/>
        </p:nvSpPr>
        <p:spPr>
          <a:xfrm>
            <a:off x="6400800" y="2980944"/>
            <a:ext cx="219456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0,729</a:t>
            </a:r>
            <a:endParaRPr/>
          </a:p>
        </p:txBody>
      </p:sp>
      <p:sp>
        <p:nvSpPr>
          <p:cNvPr id="498" name="Google Shape;498;p20"/>
          <p:cNvSpPr txBox="1"/>
          <p:nvPr/>
        </p:nvSpPr>
        <p:spPr>
          <a:xfrm>
            <a:off x="8686800" y="2980944"/>
            <a:ext cx="155448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0,992</a:t>
            </a:r>
            <a:endParaRPr/>
          </a:p>
        </p:txBody>
      </p:sp>
      <p:sp>
        <p:nvSpPr>
          <p:cNvPr id="499" name="Google Shape;499;p20"/>
          <p:cNvSpPr txBox="1"/>
          <p:nvPr/>
        </p:nvSpPr>
        <p:spPr>
          <a:xfrm>
            <a:off x="10332720" y="2980944"/>
            <a:ext cx="137160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0,840</a:t>
            </a:r>
            <a:endParaRPr/>
          </a:p>
        </p:txBody>
      </p:sp>
      <p:sp>
        <p:nvSpPr>
          <p:cNvPr id="500" name="Google Shape;500;p20"/>
          <p:cNvSpPr txBox="1"/>
          <p:nvPr/>
        </p:nvSpPr>
        <p:spPr>
          <a:xfrm>
            <a:off x="365760" y="3602736"/>
            <a:ext cx="32004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1" name="Google Shape;501;p20"/>
          <p:cNvSpPr txBox="1"/>
          <p:nvPr/>
        </p:nvSpPr>
        <p:spPr>
          <a:xfrm>
            <a:off x="3657600" y="3602736"/>
            <a:ext cx="26517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alta</a:t>
            </a:r>
            <a:endParaRPr/>
          </a:p>
        </p:txBody>
      </p:sp>
      <p:sp>
        <p:nvSpPr>
          <p:cNvPr id="502" name="Google Shape;502;p20"/>
          <p:cNvSpPr txBox="1"/>
          <p:nvPr/>
        </p:nvSpPr>
        <p:spPr>
          <a:xfrm>
            <a:off x="6400800" y="3602736"/>
            <a:ext cx="219456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0,923</a:t>
            </a:r>
            <a:endParaRPr/>
          </a:p>
        </p:txBody>
      </p:sp>
      <p:sp>
        <p:nvSpPr>
          <p:cNvPr id="503" name="Google Shape;503;p20"/>
          <p:cNvSpPr txBox="1"/>
          <p:nvPr/>
        </p:nvSpPr>
        <p:spPr>
          <a:xfrm>
            <a:off x="8686800" y="3602736"/>
            <a:ext cx="155448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0,800</a:t>
            </a:r>
            <a:endParaRPr/>
          </a:p>
        </p:txBody>
      </p:sp>
      <p:sp>
        <p:nvSpPr>
          <p:cNvPr id="504" name="Google Shape;504;p20"/>
          <p:cNvSpPr txBox="1"/>
          <p:nvPr/>
        </p:nvSpPr>
        <p:spPr>
          <a:xfrm>
            <a:off x="10332720" y="3602736"/>
            <a:ext cx="137160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0,857</a:t>
            </a:r>
            <a:endParaRPr/>
          </a:p>
        </p:txBody>
      </p:sp>
      <p:sp>
        <p:nvSpPr>
          <p:cNvPr id="505" name="Google Shape;505;p20"/>
          <p:cNvSpPr txBox="1"/>
          <p:nvPr/>
        </p:nvSpPr>
        <p:spPr>
          <a:xfrm>
            <a:off x="365760" y="4224528"/>
            <a:ext cx="32004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LLM</a:t>
            </a:r>
            <a:endParaRPr/>
          </a:p>
        </p:txBody>
      </p:sp>
      <p:sp>
        <p:nvSpPr>
          <p:cNvPr id="506" name="Google Shape;506;p20"/>
          <p:cNvSpPr txBox="1"/>
          <p:nvPr/>
        </p:nvSpPr>
        <p:spPr>
          <a:xfrm>
            <a:off x="3657600" y="4224528"/>
            <a:ext cx="26517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sem alerta</a:t>
            </a:r>
            <a:endParaRPr/>
          </a:p>
        </p:txBody>
      </p:sp>
      <p:sp>
        <p:nvSpPr>
          <p:cNvPr id="507" name="Google Shape;507;p20"/>
          <p:cNvSpPr txBox="1"/>
          <p:nvPr/>
        </p:nvSpPr>
        <p:spPr>
          <a:xfrm>
            <a:off x="6400800" y="4224528"/>
            <a:ext cx="219456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1,000</a:t>
            </a:r>
            <a:endParaRPr/>
          </a:p>
        </p:txBody>
      </p:sp>
      <p:sp>
        <p:nvSpPr>
          <p:cNvPr id="508" name="Google Shape;508;p20"/>
          <p:cNvSpPr txBox="1"/>
          <p:nvPr/>
        </p:nvSpPr>
        <p:spPr>
          <a:xfrm>
            <a:off x="8686800" y="4224528"/>
            <a:ext cx="155448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0,581</a:t>
            </a:r>
            <a:endParaRPr/>
          </a:p>
        </p:txBody>
      </p:sp>
      <p:sp>
        <p:nvSpPr>
          <p:cNvPr id="509" name="Google Shape;509;p20"/>
          <p:cNvSpPr txBox="1"/>
          <p:nvPr/>
        </p:nvSpPr>
        <p:spPr>
          <a:xfrm>
            <a:off x="10332720" y="4224528"/>
            <a:ext cx="137160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0,735</a:t>
            </a:r>
            <a:endParaRPr/>
          </a:p>
        </p:txBody>
      </p:sp>
      <p:sp>
        <p:nvSpPr>
          <p:cNvPr id="510" name="Google Shape;510;p20"/>
          <p:cNvSpPr txBox="1"/>
          <p:nvPr/>
        </p:nvSpPr>
        <p:spPr>
          <a:xfrm>
            <a:off x="365760" y="4846320"/>
            <a:ext cx="32004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20"/>
          <p:cNvSpPr txBox="1"/>
          <p:nvPr/>
        </p:nvSpPr>
        <p:spPr>
          <a:xfrm>
            <a:off x="3657600" y="4846320"/>
            <a:ext cx="26517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média</a:t>
            </a:r>
            <a:endParaRPr/>
          </a:p>
        </p:txBody>
      </p:sp>
      <p:sp>
        <p:nvSpPr>
          <p:cNvPr id="512" name="Google Shape;512;p20"/>
          <p:cNvSpPr txBox="1"/>
          <p:nvPr/>
        </p:nvSpPr>
        <p:spPr>
          <a:xfrm>
            <a:off x="6400800" y="4846320"/>
            <a:ext cx="219456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0,693</a:t>
            </a:r>
            <a:endParaRPr/>
          </a:p>
        </p:txBody>
      </p:sp>
      <p:sp>
        <p:nvSpPr>
          <p:cNvPr id="513" name="Google Shape;513;p20"/>
          <p:cNvSpPr txBox="1"/>
          <p:nvPr/>
        </p:nvSpPr>
        <p:spPr>
          <a:xfrm>
            <a:off x="8686800" y="4846320"/>
            <a:ext cx="155448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0,815</a:t>
            </a:r>
            <a:endParaRPr/>
          </a:p>
        </p:txBody>
      </p:sp>
      <p:sp>
        <p:nvSpPr>
          <p:cNvPr id="514" name="Google Shape;514;p20"/>
          <p:cNvSpPr txBox="1"/>
          <p:nvPr/>
        </p:nvSpPr>
        <p:spPr>
          <a:xfrm>
            <a:off x="10332720" y="4846320"/>
            <a:ext cx="137160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200" u="none" cap="none" strike="noStrike">
                <a:solidFill>
                  <a:srgbClr val="14161A"/>
                </a:solidFill>
                <a:latin typeface="JetBrains Mono"/>
                <a:ea typeface="JetBrains Mono"/>
                <a:cs typeface="JetBrains Mono"/>
                <a:sym typeface="JetBrains Mono"/>
              </a:rPr>
              <a:t>0,749</a:t>
            </a:r>
            <a:endParaRPr/>
          </a:p>
        </p:txBody>
      </p:sp>
      <p:sp>
        <p:nvSpPr>
          <p:cNvPr id="515" name="Google Shape;515;p20"/>
          <p:cNvSpPr/>
          <p:nvPr/>
        </p:nvSpPr>
        <p:spPr>
          <a:xfrm>
            <a:off x="274320" y="5413248"/>
            <a:ext cx="11430000" cy="603504"/>
          </a:xfrm>
          <a:prstGeom prst="roundRect">
            <a:avLst>
              <a:gd fmla="val 10000" name="adj"/>
            </a:avLst>
          </a:prstGeom>
          <a:noFill/>
          <a:ln cap="flat" cmpd="sng" w="22225">
            <a:solidFill>
              <a:srgbClr val="D6454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20"/>
          <p:cNvSpPr txBox="1"/>
          <p:nvPr/>
        </p:nvSpPr>
        <p:spPr>
          <a:xfrm>
            <a:off x="365760" y="5468112"/>
            <a:ext cx="32004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20"/>
          <p:cNvSpPr txBox="1"/>
          <p:nvPr/>
        </p:nvSpPr>
        <p:spPr>
          <a:xfrm>
            <a:off x="3657600" y="5468112"/>
            <a:ext cx="265176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D64545"/>
                </a:solidFill>
                <a:latin typeface="Inter"/>
                <a:ea typeface="Inter"/>
                <a:cs typeface="Inter"/>
                <a:sym typeface="Inter"/>
              </a:rPr>
              <a:t>alta</a:t>
            </a:r>
            <a:endParaRPr/>
          </a:p>
        </p:txBody>
      </p:sp>
      <p:sp>
        <p:nvSpPr>
          <p:cNvPr id="518" name="Google Shape;518;p20"/>
          <p:cNvSpPr txBox="1"/>
          <p:nvPr/>
        </p:nvSpPr>
        <p:spPr>
          <a:xfrm>
            <a:off x="6400800" y="5468112"/>
            <a:ext cx="219456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D64545"/>
                </a:solidFill>
                <a:latin typeface="JetBrains Mono"/>
                <a:ea typeface="JetBrains Mono"/>
                <a:cs typeface="JetBrains Mono"/>
                <a:sym typeface="JetBrains Mono"/>
              </a:rPr>
              <a:t>0,203</a:t>
            </a:r>
            <a:endParaRPr/>
          </a:p>
        </p:txBody>
      </p:sp>
      <p:sp>
        <p:nvSpPr>
          <p:cNvPr id="519" name="Google Shape;519;p20"/>
          <p:cNvSpPr txBox="1"/>
          <p:nvPr/>
        </p:nvSpPr>
        <p:spPr>
          <a:xfrm>
            <a:off x="8686800" y="5468112"/>
            <a:ext cx="155448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D64545"/>
                </a:solidFill>
                <a:latin typeface="JetBrains Mono"/>
                <a:ea typeface="JetBrains Mono"/>
                <a:cs typeface="JetBrains Mono"/>
                <a:sym typeface="JetBrains Mono"/>
              </a:rPr>
              <a:t>0,800</a:t>
            </a:r>
            <a:endParaRPr/>
          </a:p>
        </p:txBody>
      </p:sp>
      <p:sp>
        <p:nvSpPr>
          <p:cNvPr id="520" name="Google Shape;520;p20"/>
          <p:cNvSpPr txBox="1"/>
          <p:nvPr/>
        </p:nvSpPr>
        <p:spPr>
          <a:xfrm>
            <a:off x="10332720" y="5468112"/>
            <a:ext cx="1371600" cy="5669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1" i="0" lang="en-US" sz="3200" u="none" cap="none" strike="noStrike">
                <a:solidFill>
                  <a:srgbClr val="D64545"/>
                </a:solidFill>
                <a:latin typeface="JetBrains Mono"/>
                <a:ea typeface="JetBrains Mono"/>
                <a:cs typeface="JetBrains Mono"/>
                <a:sym typeface="JetBrains Mono"/>
              </a:rPr>
              <a:t>0,324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1"/>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527" name="Google Shape;527;p21"/>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21</a:t>
            </a:r>
            <a:endParaRPr/>
          </a:p>
        </p:txBody>
      </p:sp>
      <p:sp>
        <p:nvSpPr>
          <p:cNvPr id="528" name="Google Shape;528;p21"/>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RESERVA</a:t>
            </a:r>
            <a:endParaRPr/>
          </a:p>
        </p:txBody>
      </p:sp>
      <p:sp>
        <p:nvSpPr>
          <p:cNvPr id="529" name="Google Shape;529;p21"/>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Posicionamento na literatura</a:t>
            </a:r>
            <a:endParaRPr/>
          </a:p>
        </p:txBody>
      </p:sp>
      <p:sp>
        <p:nvSpPr>
          <p:cNvPr id="530" name="Google Shape;530;p21"/>
          <p:cNvSpPr txBox="1"/>
          <p:nvPr/>
        </p:nvSpPr>
        <p:spPr>
          <a:xfrm>
            <a:off x="365760" y="1645920"/>
            <a:ext cx="5029200"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Trabalho</a:t>
            </a:r>
            <a:endParaRPr/>
          </a:p>
        </p:txBody>
      </p:sp>
      <p:sp>
        <p:nvSpPr>
          <p:cNvPr id="531" name="Google Shape;531;p21"/>
          <p:cNvSpPr txBox="1"/>
          <p:nvPr/>
        </p:nvSpPr>
        <p:spPr>
          <a:xfrm>
            <a:off x="5486400" y="1645920"/>
            <a:ext cx="3749040" cy="53035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Abordagem</a:t>
            </a:r>
            <a:endParaRPr/>
          </a:p>
        </p:txBody>
      </p:sp>
      <p:sp>
        <p:nvSpPr>
          <p:cNvPr id="532" name="Google Shape;532;p21"/>
          <p:cNvSpPr txBox="1"/>
          <p:nvPr/>
        </p:nvSpPr>
        <p:spPr>
          <a:xfrm>
            <a:off x="9326880" y="1645920"/>
            <a:ext cx="23774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Gera regra</a:t>
            </a:r>
            <a:endParaRPr/>
          </a:p>
        </p:txBody>
      </p:sp>
      <p:sp>
        <p:nvSpPr>
          <p:cNvPr id="533" name="Google Shape;533;p21"/>
          <p:cNvSpPr/>
          <p:nvPr/>
        </p:nvSpPr>
        <p:spPr>
          <a:xfrm>
            <a:off x="365760" y="2212848"/>
            <a:ext cx="11338560" cy="31089"/>
          </a:xfrm>
          <a:prstGeom prst="rect">
            <a:avLst/>
          </a:prstGeom>
          <a:solidFill>
            <a:srgbClr val="E88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4" name="Google Shape;534;p21"/>
          <p:cNvSpPr txBox="1"/>
          <p:nvPr/>
        </p:nvSpPr>
        <p:spPr>
          <a:xfrm>
            <a:off x="365760" y="2359152"/>
            <a:ext cx="502920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DeepLog 2017</a:t>
            </a:r>
            <a:endParaRPr/>
          </a:p>
        </p:txBody>
      </p:sp>
      <p:sp>
        <p:nvSpPr>
          <p:cNvPr id="535" name="Google Shape;535;p21"/>
          <p:cNvSpPr txBox="1"/>
          <p:nvPr/>
        </p:nvSpPr>
        <p:spPr>
          <a:xfrm>
            <a:off x="5486400" y="2359152"/>
            <a:ext cx="374904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Anomalia em log</a:t>
            </a:r>
            <a:endParaRPr/>
          </a:p>
        </p:txBody>
      </p:sp>
      <p:sp>
        <p:nvSpPr>
          <p:cNvPr id="536" name="Google Shape;536;p21"/>
          <p:cNvSpPr txBox="1"/>
          <p:nvPr/>
        </p:nvSpPr>
        <p:spPr>
          <a:xfrm>
            <a:off x="9326880" y="2359152"/>
            <a:ext cx="2468880" cy="4937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a:t>
            </a:r>
            <a:endParaRPr/>
          </a:p>
        </p:txBody>
      </p:sp>
      <p:sp>
        <p:nvSpPr>
          <p:cNvPr id="537" name="Google Shape;537;p21"/>
          <p:cNvSpPr txBox="1"/>
          <p:nvPr/>
        </p:nvSpPr>
        <p:spPr>
          <a:xfrm>
            <a:off x="365760" y="2907792"/>
            <a:ext cx="502920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Najafabadi et al. 2015</a:t>
            </a:r>
            <a:endParaRPr/>
          </a:p>
        </p:txBody>
      </p:sp>
      <p:sp>
        <p:nvSpPr>
          <p:cNvPr id="538" name="Google Shape;538;p21"/>
          <p:cNvSpPr txBox="1"/>
          <p:nvPr/>
        </p:nvSpPr>
        <p:spPr>
          <a:xfrm>
            <a:off x="5486400" y="2907792"/>
            <a:ext cx="374904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NetFlow, SSH</a:t>
            </a:r>
            <a:endParaRPr/>
          </a:p>
        </p:txBody>
      </p:sp>
      <p:sp>
        <p:nvSpPr>
          <p:cNvPr id="539" name="Google Shape;539;p21"/>
          <p:cNvSpPr txBox="1"/>
          <p:nvPr/>
        </p:nvSpPr>
        <p:spPr>
          <a:xfrm>
            <a:off x="9326880" y="2907792"/>
            <a:ext cx="2468880" cy="4937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a:t>
            </a:r>
            <a:endParaRPr/>
          </a:p>
        </p:txBody>
      </p:sp>
      <p:sp>
        <p:nvSpPr>
          <p:cNvPr id="540" name="Google Shape;540;p21"/>
          <p:cNvSpPr txBox="1"/>
          <p:nvPr/>
        </p:nvSpPr>
        <p:spPr>
          <a:xfrm>
            <a:off x="365760" y="3456432"/>
            <a:ext cx="502920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LLMCloudHunter 2024</a:t>
            </a:r>
            <a:endParaRPr/>
          </a:p>
        </p:txBody>
      </p:sp>
      <p:sp>
        <p:nvSpPr>
          <p:cNvPr id="541" name="Google Shape;541;p21"/>
          <p:cNvSpPr txBox="1"/>
          <p:nvPr/>
        </p:nvSpPr>
        <p:spPr>
          <a:xfrm>
            <a:off x="5486400" y="3456432"/>
            <a:ext cx="374904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Sigma de CTI</a:t>
            </a:r>
            <a:endParaRPr/>
          </a:p>
        </p:txBody>
      </p:sp>
      <p:sp>
        <p:nvSpPr>
          <p:cNvPr id="542" name="Google Shape;542;p21"/>
          <p:cNvSpPr txBox="1"/>
          <p:nvPr/>
        </p:nvSpPr>
        <p:spPr>
          <a:xfrm>
            <a:off x="9326880" y="3456432"/>
            <a:ext cx="2468880" cy="4937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a:t>
            </a:r>
            <a:endParaRPr/>
          </a:p>
        </p:txBody>
      </p:sp>
      <p:sp>
        <p:nvSpPr>
          <p:cNvPr id="543" name="Google Shape;543;p21"/>
          <p:cNvSpPr txBox="1"/>
          <p:nvPr/>
        </p:nvSpPr>
        <p:spPr>
          <a:xfrm>
            <a:off x="365760" y="4005072"/>
            <a:ext cx="502920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RuleGenie 2025</a:t>
            </a:r>
            <a:endParaRPr/>
          </a:p>
        </p:txBody>
      </p:sp>
      <p:sp>
        <p:nvSpPr>
          <p:cNvPr id="544" name="Google Shape;544;p21"/>
          <p:cNvSpPr txBox="1"/>
          <p:nvPr/>
        </p:nvSpPr>
        <p:spPr>
          <a:xfrm>
            <a:off x="5486400" y="4005072"/>
            <a:ext cx="374904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Redundância</a:t>
            </a:r>
            <a:endParaRPr/>
          </a:p>
        </p:txBody>
      </p:sp>
      <p:sp>
        <p:nvSpPr>
          <p:cNvPr id="545" name="Google Shape;545;p21"/>
          <p:cNvSpPr txBox="1"/>
          <p:nvPr/>
        </p:nvSpPr>
        <p:spPr>
          <a:xfrm>
            <a:off x="9326880" y="4005072"/>
            <a:ext cx="2468880" cy="4937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a:t>
            </a:r>
            <a:endParaRPr/>
          </a:p>
        </p:txBody>
      </p:sp>
      <p:sp>
        <p:nvSpPr>
          <p:cNvPr id="546" name="Google Shape;546;p21"/>
          <p:cNvSpPr txBox="1"/>
          <p:nvPr/>
        </p:nvSpPr>
        <p:spPr>
          <a:xfrm>
            <a:off x="365760" y="4553712"/>
            <a:ext cx="502920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RAM 2025</a:t>
            </a:r>
            <a:endParaRPr/>
          </a:p>
        </p:txBody>
      </p:sp>
      <p:sp>
        <p:nvSpPr>
          <p:cNvPr id="547" name="Google Shape;547;p21"/>
          <p:cNvSpPr txBox="1"/>
          <p:nvPr/>
        </p:nvSpPr>
        <p:spPr>
          <a:xfrm>
            <a:off x="5486400" y="4553712"/>
            <a:ext cx="374904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Para o ATT&amp;CK</a:t>
            </a:r>
            <a:endParaRPr/>
          </a:p>
        </p:txBody>
      </p:sp>
      <p:sp>
        <p:nvSpPr>
          <p:cNvPr id="548" name="Google Shape;548;p21"/>
          <p:cNvSpPr txBox="1"/>
          <p:nvPr/>
        </p:nvSpPr>
        <p:spPr>
          <a:xfrm>
            <a:off x="9326880" y="4553712"/>
            <a:ext cx="2468880" cy="4937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a:t>
            </a:r>
            <a:endParaRPr/>
          </a:p>
        </p:txBody>
      </p:sp>
      <p:sp>
        <p:nvSpPr>
          <p:cNvPr id="549" name="Google Shape;549;p21"/>
          <p:cNvSpPr txBox="1"/>
          <p:nvPr/>
        </p:nvSpPr>
        <p:spPr>
          <a:xfrm>
            <a:off x="365760" y="5102352"/>
            <a:ext cx="502920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Bertiger et al. 2025</a:t>
            </a:r>
            <a:endParaRPr/>
          </a:p>
        </p:txBody>
      </p:sp>
      <p:sp>
        <p:nvSpPr>
          <p:cNvPr id="550" name="Google Shape;550;p21"/>
          <p:cNvSpPr txBox="1"/>
          <p:nvPr/>
        </p:nvSpPr>
        <p:spPr>
          <a:xfrm>
            <a:off x="5486400" y="5102352"/>
            <a:ext cx="374904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200" u="none" cap="none" strike="noStrike">
                <a:solidFill>
                  <a:srgbClr val="14161A"/>
                </a:solidFill>
                <a:latin typeface="Inter"/>
                <a:ea typeface="Inter"/>
                <a:cs typeface="Inter"/>
                <a:sym typeface="Inter"/>
              </a:rPr>
              <a:t>Avalia detecção</a:t>
            </a:r>
            <a:endParaRPr/>
          </a:p>
        </p:txBody>
      </p:sp>
      <p:sp>
        <p:nvSpPr>
          <p:cNvPr id="551" name="Google Shape;551;p21"/>
          <p:cNvSpPr txBox="1"/>
          <p:nvPr/>
        </p:nvSpPr>
        <p:spPr>
          <a:xfrm>
            <a:off x="9326880" y="5102352"/>
            <a:ext cx="2468880" cy="4937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a:t>
            </a:r>
            <a:endParaRPr/>
          </a:p>
        </p:txBody>
      </p:sp>
      <p:sp>
        <p:nvSpPr>
          <p:cNvPr id="552" name="Google Shape;552;p21"/>
          <p:cNvSpPr/>
          <p:nvPr/>
        </p:nvSpPr>
        <p:spPr>
          <a:xfrm>
            <a:off x="274320" y="5605272"/>
            <a:ext cx="11430000" cy="530352"/>
          </a:xfrm>
          <a:prstGeom prst="roundRect">
            <a:avLst>
              <a:gd fmla="val 10000" name="adj"/>
            </a:avLst>
          </a:prstGeom>
          <a:noFill/>
          <a:ln cap="flat" cmpd="sng" w="22225">
            <a:solidFill>
              <a:srgbClr val="E8833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3" name="Google Shape;553;p21"/>
          <p:cNvSpPr txBox="1"/>
          <p:nvPr/>
        </p:nvSpPr>
        <p:spPr>
          <a:xfrm>
            <a:off x="365760" y="5650992"/>
            <a:ext cx="502920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Este trabalho</a:t>
            </a:r>
            <a:endParaRPr/>
          </a:p>
        </p:txBody>
      </p:sp>
      <p:sp>
        <p:nvSpPr>
          <p:cNvPr id="554" name="Google Shape;554;p21"/>
          <p:cNvSpPr txBox="1"/>
          <p:nvPr/>
        </p:nvSpPr>
        <p:spPr>
          <a:xfrm>
            <a:off x="5486400" y="5650992"/>
            <a:ext cx="374904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200" u="none" cap="none" strike="noStrike">
                <a:solidFill>
                  <a:srgbClr val="14161A"/>
                </a:solidFill>
                <a:latin typeface="Inter"/>
                <a:ea typeface="Inter"/>
                <a:cs typeface="Inter"/>
                <a:sym typeface="Inter"/>
              </a:rPr>
              <a:t>Regra do site</a:t>
            </a:r>
            <a:endParaRPr/>
          </a:p>
        </p:txBody>
      </p:sp>
      <p:sp>
        <p:nvSpPr>
          <p:cNvPr id="555" name="Google Shape;555;p21"/>
          <p:cNvSpPr txBox="1"/>
          <p:nvPr/>
        </p:nvSpPr>
        <p:spPr>
          <a:xfrm>
            <a:off x="9326880" y="5650992"/>
            <a:ext cx="2468880" cy="49377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3200" u="none" cap="none" strike="noStrike">
                <a:solidFill>
                  <a:srgbClr val="E8833A"/>
                </a:solidFill>
                <a:latin typeface="Inter"/>
                <a:ea typeface="Inter"/>
                <a:cs typeface="Inter"/>
                <a:sym typeface="Inter"/>
              </a:rPr>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2"/>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562" name="Google Shape;562;p22"/>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22</a:t>
            </a:r>
            <a:endParaRPr/>
          </a:p>
        </p:txBody>
      </p:sp>
      <p:sp>
        <p:nvSpPr>
          <p:cNvPr id="563" name="Google Shape;563;p22"/>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RESERVA</a:t>
            </a:r>
            <a:endParaRPr/>
          </a:p>
        </p:txBody>
      </p:sp>
      <p:sp>
        <p:nvSpPr>
          <p:cNvPr id="564" name="Google Shape;564;p22"/>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O pipeline de avaliação</a:t>
            </a:r>
            <a:endParaRPr/>
          </a:p>
        </p:txBody>
      </p:sp>
      <p:pic>
        <p:nvPicPr>
          <p:cNvPr descr="fig_pipeline.png" id="565" name="Google Shape;565;p22"/>
          <p:cNvPicPr preferRelativeResize="0"/>
          <p:nvPr/>
        </p:nvPicPr>
        <p:blipFill rotWithShape="1">
          <a:blip r:embed="rId3">
            <a:alphaModFix/>
          </a:blip>
          <a:srcRect b="0" l="0" r="0" t="0"/>
          <a:stretch/>
        </p:blipFill>
        <p:spPr>
          <a:xfrm>
            <a:off x="746607" y="1700784"/>
            <a:ext cx="10698480" cy="2139696"/>
          </a:xfrm>
          <a:prstGeom prst="rect">
            <a:avLst/>
          </a:prstGeom>
          <a:noFill/>
          <a:ln>
            <a:noFill/>
          </a:ln>
        </p:spPr>
      </p:pic>
      <p:sp>
        <p:nvSpPr>
          <p:cNvPr id="566" name="Google Shape;566;p22"/>
          <p:cNvSpPr txBox="1"/>
          <p:nvPr/>
        </p:nvSpPr>
        <p:spPr>
          <a:xfrm>
            <a:off x="502920" y="4151376"/>
            <a:ext cx="11201400" cy="54864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3200" u="none" cap="none" strike="noStrike">
                <a:solidFill>
                  <a:srgbClr val="14161A"/>
                </a:solidFill>
                <a:latin typeface="Inter"/>
                <a:ea typeface="Inter"/>
                <a:cs typeface="Inter"/>
                <a:sym typeface="Inter"/>
              </a:rPr>
              <a:t>Coletar e amostrar · perfilar e rotular · gerar o XML · reinjetar e pontuar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23"/>
          <p:cNvSpPr txBox="1"/>
          <p:nvPr/>
        </p:nvSpPr>
        <p:spPr>
          <a:xfrm>
            <a:off x="502920" y="6327648"/>
            <a:ext cx="768096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100" u="none" cap="none" strike="noStrike">
                <a:solidFill>
                  <a:srgbClr val="141B2D"/>
                </a:solidFill>
                <a:latin typeface="Inter"/>
                <a:ea typeface="Inter"/>
                <a:cs typeface="Inter"/>
                <a:sym typeface="Inter"/>
              </a:rPr>
              <a:t>XXVI SBSeg 2026 · Armação dos Búzios/RJ</a:t>
            </a:r>
            <a:endParaRPr/>
          </a:p>
        </p:txBody>
      </p:sp>
      <p:sp>
        <p:nvSpPr>
          <p:cNvPr id="573" name="Google Shape;573;p23"/>
          <p:cNvSpPr txBox="1"/>
          <p:nvPr/>
        </p:nvSpPr>
        <p:spPr>
          <a:xfrm>
            <a:off x="10972800" y="6327648"/>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2100" u="none" cap="none" strike="noStrike">
                <a:solidFill>
                  <a:srgbClr val="141B2D"/>
                </a:solidFill>
                <a:latin typeface="JetBrains Mono"/>
                <a:ea typeface="JetBrains Mono"/>
                <a:cs typeface="JetBrains Mono"/>
                <a:sym typeface="JetBrains Mono"/>
              </a:rPr>
              <a:t>23</a:t>
            </a:r>
            <a:endParaRPr/>
          </a:p>
        </p:txBody>
      </p:sp>
      <p:sp>
        <p:nvSpPr>
          <p:cNvPr id="574" name="Google Shape;574;p23"/>
          <p:cNvSpPr txBox="1"/>
          <p:nvPr/>
        </p:nvSpPr>
        <p:spPr>
          <a:xfrm>
            <a:off x="731520" y="128016"/>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E8833A"/>
                </a:solidFill>
                <a:latin typeface="Inter"/>
                <a:ea typeface="Inter"/>
                <a:cs typeface="Inter"/>
                <a:sym typeface="Inter"/>
              </a:rPr>
              <a:t>RESERVA</a:t>
            </a:r>
            <a:endParaRPr/>
          </a:p>
        </p:txBody>
      </p:sp>
      <p:sp>
        <p:nvSpPr>
          <p:cNvPr id="575" name="Google Shape;575;p23"/>
          <p:cNvSpPr txBox="1"/>
          <p:nvPr/>
        </p:nvSpPr>
        <p:spPr>
          <a:xfrm>
            <a:off x="713232" y="61264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1" i="0" lang="en-US" sz="4400" u="none" cap="none" strike="noStrike">
                <a:solidFill>
                  <a:srgbClr val="141B2D"/>
                </a:solidFill>
                <a:latin typeface="Space Grotesk"/>
                <a:ea typeface="Space Grotesk"/>
                <a:cs typeface="Space Grotesk"/>
                <a:sym typeface="Space Grotesk"/>
              </a:rPr>
              <a:t>O cenário instanciado</a:t>
            </a:r>
            <a:endParaRPr/>
          </a:p>
        </p:txBody>
      </p:sp>
      <p:pic>
        <p:nvPicPr>
          <p:cNvPr descr="fig_scenario.png" id="576" name="Google Shape;576;p23"/>
          <p:cNvPicPr preferRelativeResize="0"/>
          <p:nvPr/>
        </p:nvPicPr>
        <p:blipFill rotWithShape="1">
          <a:blip r:embed="rId3">
            <a:alphaModFix/>
          </a:blip>
          <a:srcRect b="0" l="0" r="0" t="0"/>
          <a:stretch/>
        </p:blipFill>
        <p:spPr>
          <a:xfrm>
            <a:off x="746607" y="1700784"/>
            <a:ext cx="10698480" cy="2139696"/>
          </a:xfrm>
          <a:prstGeom prst="rect">
            <a:avLst/>
          </a:prstGeom>
          <a:noFill/>
          <a:ln>
            <a:noFill/>
          </a:ln>
        </p:spPr>
      </p:pic>
      <p:sp>
        <p:nvSpPr>
          <p:cNvPr id="577" name="Google Shape;577;p23"/>
          <p:cNvSpPr txBox="1"/>
          <p:nvPr/>
        </p:nvSpPr>
        <p:spPr>
          <a:xfrm>
            <a:off x="502920" y="4151376"/>
            <a:ext cx="11201400" cy="548640"/>
          </a:xfrm>
          <a:prstGeom prst="rect">
            <a:avLst/>
          </a:prstGeom>
          <a:noFill/>
          <a:ln>
            <a:noFill/>
          </a:ln>
        </p:spPr>
        <p:txBody>
          <a:bodyPr anchorCtr="0" anchor="t" bIns="0" lIns="0" spcFirstLastPara="1" rIns="0" wrap="square" tIns="0">
            <a:spAutoFit/>
          </a:bodyPr>
          <a:lstStyle/>
          <a:p>
            <a:pPr indent="0" lvl="0" marL="0" marR="0" rtl="0" algn="ctr">
              <a:lnSpc>
                <a:spcPct val="116000"/>
              </a:lnSpc>
              <a:spcBef>
                <a:spcPts val="0"/>
              </a:spcBef>
              <a:spcAft>
                <a:spcPts val="0"/>
              </a:spcAft>
              <a:buNone/>
            </a:pPr>
            <a:r>
              <a:rPr b="1" i="0" lang="en-US" sz="3200" u="none" cap="none" strike="noStrike">
                <a:solidFill>
                  <a:srgbClr val="14161A"/>
                </a:solidFill>
                <a:latin typeface="Inter"/>
                <a:ea typeface="Inter"/>
                <a:cs typeface="Inter"/>
                <a:sym typeface="Inter"/>
              </a:rPr>
              <a:t>Wazuh em Docker, nó único, separado dos servidores monitorados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
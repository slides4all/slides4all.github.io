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gczXKHmEvVH2aao7jRZ0JSmGlJ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Bom dia. Vou apresentar um estudo sobre extração estruturada de vulnerabilidades usando LLMs locais, comparados a uma referência em nuvem.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f88e45ce95_0_1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g3f88e45ce95_0_1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Contexto do trabalho. Equipes de resposta a incidentes, os CSIRTs, executam scanners de vulnerabilidade sobre as aplicações da organização, e cada varredura é arquivada como um relatório em PDF. O acervo cresce, em formato heterogêneo e não estruturado. Sem dado estruturado, cada análise depende de alguém abrir o relatório e ler, e a triagem atrasa. É desse gargalo que partimos.</a:t>
            </a:r>
            <a:endParaRPr/>
          </a:p>
        </p:txBody>
      </p:sp>
      <p:sp>
        <p:nvSpPr>
          <p:cNvPr id="39" name="Google Shape;39;g3f88e45ce95_0_1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é o ponto que motiva o trabalho. A extração já é viável: nossos experimentos anteriores mostraram isso com a ferramenta rodando sobre APIs de nuvem. O problema é o que precisa ser enviado. Um relatório de scanner é o mapa da superfície de ataque da organização: portas abertas, serviços sem patch, versões vulneráveis. Uma observação importante sobre a LGPD, para não exagerar o argumento: o relatório em si normalmente não contém dados pessoais, então não é um caso direto de tratamento de dado pessoal. O que a LGPD exige, no artigo 46, é que o controlador adote medidas de segurança para proteger os dados pessoais que ele trata. Entregar a um terceiro o mapa das fraquezas dos sistemas que hospedam esses dados vai contra esse dever de segurança, e o provedor de nuvem passa a figurar como operador, com responsabilidade compartilhada em caso de incidente, além de haver transferência internacional quando o provedor está fora do país. Na prática, para muitos CSIRTs isso simplesmente barra a adoção. Daí a pergunta: a mesma ferramenta funciona sem que o dado saia da organização?</a:t>
            </a:r>
            <a:endParaRPr/>
          </a:p>
        </p:txBody>
      </p:sp>
      <p:sp>
        <p:nvSpPr>
          <p:cNvPr id="62" name="Google Shape;6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extração por LLM em nuvem já funciona, mas exige enviar o relatório a um terceiro, o que colide com confidencialidade e LGPD. A alternativa é manter tudo local, e aí aparecem três dificuldades concretas. Primeira: os modelos são muito menores, 4B a 21B contra 284B, com janela de contexto menor para relatórios longos. Segunda: treinar um modelo especificamente para esta tarefa é possível, mas trabalhoso. Exige um conjunto anotado suficientemente grande de relatórios e uma máquina capaz de treinar, não só de inferir. Os fine-tunes abertos que existem, como Foundation-Sec e Primus, são de domínio, treinados em texto de cibersegurança, e não em extração estruturada, então usá-los é apostar que conhecimento de domínio se traduz em extração. Nós avaliamos os dois e mostramos que essa aposta rende pouco. Terceira: a infraestrutura passa a ser responsabilidade da organização, com GPU própria, VRAM limitada e tempo de processamento por relatório. A pergunta deste trabalho é quanto se perde nessa troca.</a:t>
            </a:r>
            <a:endParaRPr/>
          </a:p>
        </p:txBody>
      </p:sp>
      <p:sp>
        <p:nvSpPr>
          <p:cNvPr id="86" name="Google Shape;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Panorama dos trabalhos relacionados. As duas primeiras linhas atacam texto de inteligência de ameaças, não relatórios de scanner: o ALERT do Rahman usa um encoder SciBERT com aprendizado ativo, rodando local, e o Yang usa agentes sobre GPT-4 em nuvem, reportando custo por relatório em tokens. Wiest e Keltek rodam local por privacidade, mas em outras tarefas. As duas últimas linhas são as nossas. O ponto comum: ninguém mediu quanto se perde ao trocar nuvem por local no mesmo pipeline. É essa lacuna que atacamos.</a:t>
            </a:r>
            <a:endParaRPr/>
          </a:p>
        </p:txBody>
      </p:sp>
      <p:sp>
        <p:nvSpPr>
          <p:cNvPr id="112" name="Google Shape;11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Keltek é o trabalho de terceiros mais próximo. O propósito deles é análise estática de segurança, ou seja, encontrar vulnerabilidades no código-fonte da aplicação, e o LLM entra para apoiar essa análise. Como o insumo é o código proprietário da empresa, mandá-lo para uma API externa está fora de questão, exatamente a mesma restrição que temos com relatórios de scanner. Eles resolvem rodando Llama-3 localmente, mas nunca comparam com uma referência em nuvem, então não se sabe o que a escolha local custou em qualidade.</a:t>
            </a:r>
            <a:endParaRPr/>
          </a:p>
        </p:txBody>
      </p:sp>
      <p:sp>
        <p:nvSpPr>
          <p:cNvPr id="162" name="Google Shape;1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Reutilizamos sem modificação um pipeline já proposto. Seis etapas: entrada dos relatórios, extração de texto, pré-processamento, chamada ao LLM, saída estruturada e análise. Nos próximos slides percorro cada etapa. O ponto central é que a camada de modelo é agnóstica: os mesmos prompts e o mesmo pós-processamento valem para nuvem e local, então qualquer diferença de qualidade é atribuível ao modelo.</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Etapa 1: a entrada são relatórios em PDF de dois scanners, o OpenVAS, que é aberto, e o Tenable WAS, comercial. Nenhum dos dois entrega dado estruturado.</a:t>
            </a:r>
            <a:endParaRPr/>
          </a:p>
        </p:txBody>
      </p:sp>
      <p:sp>
        <p:nvSpPr>
          <p:cNvPr id="222" name="Google Shape;22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Etapa 2: o texto é extraído do PDF preservando a ordem de leitura, porque é a estrutura do relatório que permite recortar as vulnerabilidades depois.</a:t>
            </a:r>
            <a:endParaRPr/>
          </a:p>
        </p:txBody>
      </p:sp>
      <p:sp>
        <p:nvSpPr>
          <p:cNvPr id="233" name="Google Shape;2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Etapa 3, o pré-processamento, é onde está a engenharia. Primeiro o relatório é segmentado em blocos de vulnerabilidade. Depois cada bloco é dividido em chunks sob um orçamento de tokens, para caber na janela de contexto dos modelos pequenos. Por fim, um template de prompt específico por scanner pede um único registro JSON restrito ao esquema.</a:t>
            </a:r>
            <a:endParaRPr/>
          </a:p>
        </p:txBody>
      </p:sp>
      <p:sp>
        <p:nvSpPr>
          <p:cNvPr id="244" name="Google Shape;24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Etapa 4: é a única que troca entre os experimentos. O mesmo prompt vai para a referência em nuvem, o DeepSeek, ou para os nove modelos locais servidos por Ollama e Hugging Face. Tudo antes e depois é idêntico.</a:t>
            </a:r>
            <a:endParaRPr/>
          </a:p>
        </p:txBody>
      </p:sp>
      <p:sp>
        <p:nvSpPr>
          <p:cNvPr id="255" name="Google Shape;2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Etapa 5: a saída é gravada em JSON, CSV, TSV e XLS. Quando a resposta não passa na checagem de esquema, o pipeline refaz a chamada com retry adaptativo.</a:t>
            </a:r>
            <a:endParaRPr/>
          </a:p>
        </p:txBody>
      </p:sp>
      <p:sp>
        <p:nvSpPr>
          <p:cNvPr id="266" name="Google Shape;26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Etapa 6: a análise aplica as métricas de avaliação sobre os registros extraídos: checagem de esquema, BERTScore, ROUGE-L, Token-F1, Field-F1, confusão de severidade e cobertura.</a:t>
            </a:r>
            <a:endParaRPr/>
          </a:p>
        </p:txBody>
      </p:sp>
      <p:sp>
        <p:nvSpPr>
          <p:cNvPr id="277" name="Google Shape;27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Três baselines com 208 vulnerabilidades anotadas por dois especialistas. Dez modelos: referência DeepSeek em nuvem e nove locais de 4B a 21B, incluindo dois fine-tunes de segurança. Duas GPUs de consumidor. Cinco execuções por par modelo-baseline, com intervalos de confiança. Métricas: BERTScore para texto livre, Field-F1 para campos determinísticos, cobertura, esquema e severidade.</a:t>
            </a:r>
            <a:endParaRPr/>
          </a:p>
        </p:txBody>
      </p:sp>
      <p:sp>
        <p:nvSpPr>
          <p:cNvPr id="288" name="Google Shape;28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Cinco eixos de avaliação. BERTScore mede fidelidade semântica dos campos narrativos. Field-F1 mede acerto exato dos campos determinísticos, como CVSS e porta. Cobertura mede o que ficou de fora ou foi inventado: omissão é 1 menos o recall de registros, alucinação é 1 menos a precisão. Schema mede se o JSON conforma ao esquema. Severidade é macro-F1 por classe, com uma variante ciente de cobertura.</a:t>
            </a:r>
            <a:endParaRPr/>
          </a:p>
        </p:txBody>
      </p:sp>
      <p:sp>
        <p:nvSpPr>
          <p:cNvPr id="317" name="Google Shape;31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Tabela reduzida do paper. O melhor local, Ministral 3 8B, chega a 93,0 de BERTScore contra 94,2 da nuvem: 1,2 ponto de diferença. Nos campos determinísticos todos estão quase saturados. A dispersão entre locais, de 78,8 a 93,0, é muito maior que o gap para a nuvem: escolher bem o modelo importa mais que escolher entre local e nuvem.</a:t>
            </a:r>
            <a:endParaRPr/>
          </a:p>
        </p:txBody>
      </p:sp>
      <p:sp>
        <p:nvSpPr>
          <p:cNvPr id="350" name="Google Shape;35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f41726a0cc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g3f41726a0cc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Tabela reduzida do paper. O melhor local, Ministral 3 8B, chega a 93,0 de BERTScore contra 94,2 da nuvem: 1,2 ponto de diferença. Nos campos determinísticos todos estão quase saturados. A dispersão entre locais, de 78,8 a 93,0, é muito maior que o gap para a nuvem: escolher bem o modelo importa mais que escolher entre local e nuvem.</a:t>
            </a:r>
            <a:endParaRPr/>
          </a:p>
        </p:txBody>
      </p:sp>
      <p:sp>
        <p:nvSpPr>
          <p:cNvPr id="410" name="Google Shape;410;g3f41726a0cc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Os modos de falha não são simétricos. Modelos fracos falham silenciosamente, omitindo vulnerabilidades (Gemma 15,7%, Qwen3 13,5%), que é o risco maior num fluxo de segurança. Llama 3.1 é o outlier de alucinação com 17,4%. Os melhores locais mantêm ambos baixos, perto da nuvem.</a:t>
            </a:r>
            <a:endParaRPr/>
          </a:p>
        </p:txBody>
      </p:sp>
      <p:sp>
        <p:nvSpPr>
          <p:cNvPr id="469" name="Google Shape;46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Primeiro os que falham em silêncio. Gemma 4 omite 15,7% das vulnerabilidades e Qwen3 13,5%. Num fluxo de segurança esse é o modo de falha mais perigoso, porque a vulnerabilidade simplesmente não aparece na base e ninguém sabe que faltou. Vale notar que os dois têm alucinação baixa, 8,0 e 8,9, mas isso não é virtude: eles emitem menos registros no total, então também deixam de emitir os que teriam inventado.</a:t>
            </a:r>
            <a:endParaRPr/>
          </a:p>
        </p:txBody>
      </p:sp>
      <p:sp>
        <p:nvSpPr>
          <p:cNvPr id="479" name="Google Shape;47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outro extremo está o Llama 3.1. Ele quase não omite, só 3,2%, mas inventa 17,4%: é o maior alucinador do conjunto. Ele preenche na dúvida em vez de calar. É um modo de falha diferente, e mais fácil de detectar, porque o registro inventado aparece e pode ser conferido, ao contrário do que foi omitido.</a:t>
            </a:r>
            <a:endParaRPr/>
          </a:p>
        </p:txBody>
      </p:sp>
      <p:sp>
        <p:nvSpPr>
          <p:cNvPr id="492" name="Google Shape;49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 aqui estão os três que interessam na prática: gpt-oss, Ministral 3 e Phi-4. Eles mantêm os dois modos de falha baixos ao mesmo tempo, com omissão de 2,3% a 2,6% contra 1,3% da nuvem, e alucinação em torno de 9% contra 5,3%. São os únicos locais que chegam perto da referência nos dois eixos, e é entre eles que a escolha de um CSIRT deveria ficar.</a:t>
            </a:r>
            <a:endParaRPr/>
          </a:p>
        </p:txBody>
      </p:sp>
      <p:sp>
        <p:nvSpPr>
          <p:cNvPr id="508" name="Google Shape;50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Hipótese do artigo para essa dificuldade: ao contrário de um número de porta, esses campos não têm forma canônica e se estendem por várias frases, então não existe uma string curta que o modelo possa identificar com confiança como resposta. Decompondo a omissão por campo, o padrão é estrutural, não de modelo: os campos narrativos (log method, references, insight) são omitidos por todos, inclusive pela nuvem. Os campos determinísticos são preenchidos quase universalmente. O gap para a nuvem não está no núcleo estruturado da tarefa.</a:t>
            </a:r>
            <a:endParaRPr/>
          </a:p>
        </p:txBody>
      </p:sp>
      <p:sp>
        <p:nvSpPr>
          <p:cNvPr id="522" name="Google Shape;52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Olhando as quatro primeiras colunas: log method, references, insight e product detection result. São os campos que todos omitem, inclusive a nuvem, com taxas de 16 a 57 por cento. A hipótese do artigo é que esses campos não têm forma canônica e se espalham por várias frases, então não existe uma string curta que o modelo possa identificar com confiança como resposta. Repare que a linha da nuvem, embaixo, tem exatamente o mesmo padrão: 38, 34, 16 e 25. Não é limitação de modelo local, é limitação da tarefa.</a:t>
            </a:r>
            <a:endParaRPr/>
          </a:p>
        </p:txBody>
      </p:sp>
      <p:sp>
        <p:nvSpPr>
          <p:cNvPr id="532" name="Google Shape;5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 do outro lado do mapa, as últimas colunas: nome, descrição, porta, protocolo e severidade. Zero de omissão em todos os modelos, do Gemma de 4B à nuvem de 284B. Ou seja, o núcleo estruturado da tarefa, que é o que alimenta triagem e priorização, já está resolvido localmente. A perda se concentra justamente nos campos de apoio à leitura humana.</a:t>
            </a:r>
            <a:endParaRPr/>
          </a:p>
        </p:txBody>
      </p:sp>
      <p:sp>
        <p:nvSpPr>
          <p:cNvPr id="545" name="Google Shape;54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Três mensagens. Primeira: a extração on-premise é viável, fica 1,2 ponto atrás da nuvem em texto livre e empata nos campos estruturados. Segunda: a dispersão entre modelos locais é de 14 pontos, muito maior que esse gap, então a escolha do modelo é o fator decisivo. Terceira: para um CSIRT sob restrição de confidencialidade, on-premise não é só viável, é preferível.</a:t>
            </a:r>
            <a:endParaRPr/>
          </a:p>
        </p:txBody>
      </p:sp>
      <p:sp>
        <p:nvSpPr>
          <p:cNvPr id="558" name="Google Shape;55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Quatro frentes: mais scanners, formatos e relatórios maiores; prompting ciente de campo para os campos narrativos; validação pós-extração; e avaliação de consistência factual, já que similaridade não detecta detalhe errado.</a:t>
            </a:r>
            <a:endParaRPr/>
          </a:p>
        </p:txBody>
      </p:sp>
      <p:sp>
        <p:nvSpPr>
          <p:cNvPr id="586" name="Google Shape;58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Obrigada! Perguntas são bem-vindas.</a:t>
            </a:r>
            <a:endParaRPr/>
          </a:p>
        </p:txBody>
      </p:sp>
      <p:sp>
        <p:nvSpPr>
          <p:cNvPr id="611" name="Google Shape;61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f88e45ce95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f88e45ce95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References é o caso mais claro de lista aberta. O relatório traz dezenas de itens: CVEs, URLs de changelog e advisory, cert-bund, dfn-cert. Um esclarecimento importante sobre a métrica: a omissão por campo, na equação 6 do artigo, só conta quando o campo sai completamente vazio na extração, dado que a baseline o preenchia. Ou seja, uma lista incompleta não é penalizada como omissão. O que esses 34 a 48 por cento mostram é que o modelo, diante de uma lista sem critério de parada, abandona o campo inteiro em vez de preencher parcialmente. A nuvem faz o mesmo: 34 por cento.</a:t>
            </a:r>
            <a:endParaRPr/>
          </a:p>
        </p:txBody>
      </p:sp>
      <p:sp>
        <p:nvSpPr>
          <p:cNvPr id="639" name="Google Shape;639;g3f88e45ce95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f88e45ce95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3f88e45ce95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Log Method é um campo composto. Não é um valor: são três, empilhados sob o mesmo rótulo, Details, OID e Version used. O modelo tem que decidir se copia tudo, se escolhe um, ou como serializa os três num campo só. É o campo de maior omissão do estudo, de 37 a 57 por cento.</a:t>
            </a:r>
            <a:endParaRPr/>
          </a:p>
        </p:txBody>
      </p:sp>
      <p:sp>
        <p:nvSpPr>
          <p:cNvPr id="660" name="Google Shape;660;g3f88e45ce95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f88e45ce95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g3f88e45ce95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Product detection result é o mesmo padrão do Log Method: um bloco composto. Traz o CPE do produto, o texto de detecção e o OID da consolidação, tudo junto sob um rótulo. Fica em 21 a 29 por cento de omissão, inclusive 25 por cento na nuvem.</a:t>
            </a:r>
            <a:endParaRPr/>
          </a:p>
        </p:txBody>
      </p:sp>
      <p:sp>
        <p:nvSpPr>
          <p:cNvPr id="678" name="Google Shape;678;g3f88e45ce95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f88e45ce95_0_7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g3f88e45ce95_0_7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Material de apoio para perguntas sobre a variação entre modelos no gráfico. Os fatores não são o número de parâmetros: aderência ao formato pedido, comportamento sob chunking, tendência a resumir em vez de enumerar, e o modo de falha preferido do modelo.</a:t>
            </a:r>
            <a:endParaRPr/>
          </a:p>
        </p:txBody>
      </p:sp>
      <p:sp>
        <p:nvSpPr>
          <p:cNvPr id="696" name="Google Shape;696;g3f88e45ce95_0_7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f88e45ce95_0_8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g3f88e45ce95_0_8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reserva para perguntas sobre fine-tuning de segurança. Os números estão na tabela de qualidade: os dois fine-tunes sobem o Field-F1 sobre o Llama base, nenhum melhora o BERTScore, e o Foundation-Sec derruba o esquema de 99,1 para 82,1. As explicações são hipóteses do artigo: extração premia fidelidade à fonte, não prosa de domínio; conformidade de esquema é seguir instrução, não conhecimento. Como as duas variantes falham de formas diferentes e não controlamos as receitas de treino, não é possível isolar a causa. O remédio prático fica no decoding: decodificação restrita por gramática ou validação de esquema com retry. No avaliador o limite se repete: re-pontuar com SecureBERT muda no máximo 0,21 pp e não altera nenhum ranking.</a:t>
            </a:r>
            <a:endParaRPr/>
          </a:p>
        </p:txBody>
      </p:sp>
      <p:sp>
        <p:nvSpPr>
          <p:cNvPr id="728" name="Google Shape;728;g3f88e45ce95_0_8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f88e45ce95_0_8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f88e45ce95_0_8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Tabela 1 completa do artigo, para consulta. O negrito marca o melhor local em cada coluna, e ele muda de modelo: o Ministral lidera o BERTScore e empata em omissão, o Phi-4 lidera Field F1, exatidão e esquema, o gpt-oss lidera cobertura de severidade, e a menor alucinação é do Gemma, que em troca é o pior em omissão. Ou seja, não existe um vencedor local em tudo: o Ministral é o melhor no eixo que define o gap para a nuvem, que é o texto livre.</a:t>
            </a:r>
            <a:endParaRPr/>
          </a:p>
        </p:txBody>
      </p:sp>
      <p:sp>
        <p:nvSpPr>
          <p:cNvPr id="756" name="Google Shape;756;g3f88e45ce95_0_8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f88e45ce95_0_9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g3f88e45ce95_0_9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Custos não são comensuráveis: nuvem cobra por chamada, 14 centavos de dólar por relatório, mas o dado sai. Local não tem taxa por chamada: pico de VRAM de 6,9 a 13,5 GB, cabe em GPU de consumidor. E o melhor modelo, Ministral, é também o mais barato de rodar na 3060: 36 minutos e 100 Wh. Qualidade não troca com custo.</a:t>
            </a:r>
            <a:endParaRPr/>
          </a:p>
        </p:txBody>
      </p:sp>
      <p:sp>
        <p:nvSpPr>
          <p:cNvPr id="875" name="Google Shape;875;g3f88e45ce95_0_9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f88e45ce95_0_9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g3f88e45ce95_0_9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Tabela 2 do artigo: VRAM, latência e energia por modelo, agrupadas por GPU. Uma ressalva importante: cada modelo rodou em uma única placa, escolhida pela memória que ele exige, então latência e energia não são comparáveis entre as duas GPUs. A comparação só vale dentro de cada grupo. Por isso há dois destaques: na 3060, o Ministral 3 é o melhor custo-desempenho, com 36 minutos e 100 Wh; na 5080, o gpt-oss, com 13 minutos e 56 Wh. O Llama 3.1 é mais rápido ainda, 9 minutos, mas é o que mais alucina, 17,4 por cento, então não entra como recomendação.</a:t>
            </a:r>
            <a:endParaRPr/>
          </a:p>
        </p:txBody>
      </p:sp>
      <p:sp>
        <p:nvSpPr>
          <p:cNvPr id="908" name="Google Shape;908;g3f88e45ce95_0_9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f88e45ce95_0_10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g3f88e45ce95_0_10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Limitações do estudo, se perguntarem.</a:t>
            </a:r>
            <a:endParaRPr/>
          </a:p>
        </p:txBody>
      </p:sp>
      <p:sp>
        <p:nvSpPr>
          <p:cNvPr id="999" name="Google Shape;999;g3f88e45ce95_0_10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1.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jp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2.jp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8.jpg"/><Relationship Id="rId4" Type="http://schemas.openxmlformats.org/officeDocument/2006/relationships/image" Target="../media/image33.jpg"/><Relationship Id="rId9" Type="http://schemas.openxmlformats.org/officeDocument/2006/relationships/image" Target="../media/image11.png"/><Relationship Id="rId5" Type="http://schemas.openxmlformats.org/officeDocument/2006/relationships/image" Target="../media/image32.jpg"/><Relationship Id="rId6" Type="http://schemas.openxmlformats.org/officeDocument/2006/relationships/image" Target="../media/image30.jpg"/><Relationship Id="rId7" Type="http://schemas.openxmlformats.org/officeDocument/2006/relationships/image" Target="../media/image4.png"/><Relationship Id="rId8"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9.png"/><Relationship Id="rId4" Type="http://schemas.openxmlformats.org/officeDocument/2006/relationships/image" Target="../media/image51.png"/><Relationship Id="rId10" Type="http://schemas.openxmlformats.org/officeDocument/2006/relationships/image" Target="../media/image16.png"/><Relationship Id="rId9"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3.jp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9.jp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8.jp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69"/>
        </a:solidFill>
      </p:bgPr>
    </p:bg>
    <p:spTree>
      <p:nvGrpSpPr>
        <p:cNvPr id="15" name="Shape 15"/>
        <p:cNvGrpSpPr/>
        <p:nvPr/>
      </p:nvGrpSpPr>
      <p:grpSpPr>
        <a:xfrm>
          <a:off x="0" y="0"/>
          <a:ext cx="0" cy="0"/>
          <a:chOff x="0" y="0"/>
          <a:chExt cx="0" cy="0"/>
        </a:xfrm>
      </p:grpSpPr>
      <p:sp>
        <p:nvSpPr>
          <p:cNvPr id="16" name="Google Shape;16;p1"/>
          <p:cNvSpPr/>
          <p:nvPr/>
        </p:nvSpPr>
        <p:spPr>
          <a:xfrm>
            <a:off x="0" y="0"/>
            <a:ext cx="18288000" cy="133350"/>
          </a:xfrm>
          <a:prstGeom prst="rect">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6287750" y="8477250"/>
            <a:ext cx="2914650" cy="2914650"/>
          </a:xfrm>
          <a:prstGeom prst="ellipse">
            <a:avLst/>
          </a:prstGeom>
          <a:noFill/>
          <a:ln cap="flat" cmpd="sng" w="28575">
            <a:solidFill>
              <a:srgbClr val="0A866E">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5192375" y="7381875"/>
            <a:ext cx="5105400" cy="5105400"/>
          </a:xfrm>
          <a:prstGeom prst="ellipse">
            <a:avLst/>
          </a:prstGeom>
          <a:noFill/>
          <a:ln cap="flat" cmpd="sng" w="28575">
            <a:solidFill>
              <a:srgbClr val="0A866E">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14049375" y="6238875"/>
            <a:ext cx="7391400" cy="7391400"/>
          </a:xfrm>
          <a:prstGeom prst="ellipse">
            <a:avLst/>
          </a:prstGeom>
          <a:noFill/>
          <a:ln cap="flat" cmpd="sng" w="28575">
            <a:solidFill>
              <a:srgbClr val="0A866E">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047750" y="1376363"/>
            <a:ext cx="17811750" cy="4095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7A823"/>
              </a:buClr>
              <a:buSzPts val="2550"/>
              <a:buFont typeface="Arial"/>
              <a:buNone/>
            </a:pPr>
            <a:r>
              <a:rPr b="1" i="0" lang="en-US" sz="2550" u="none" cap="none" strike="noStrike">
                <a:solidFill>
                  <a:srgbClr val="F7A823"/>
                </a:solidFill>
                <a:latin typeface="Arial"/>
                <a:ea typeface="Arial"/>
                <a:cs typeface="Arial"/>
                <a:sym typeface="Arial"/>
              </a:rPr>
              <a:t>XXVI SIMPÓSIO BRASILEIRO DE CIBERSEGURANÇA · SBSEG 2026</a:t>
            </a:r>
            <a:endParaRPr b="0" i="0" sz="2550" u="none" cap="none" strike="noStrike">
              <a:solidFill>
                <a:schemeClr val="dk1"/>
              </a:solidFill>
              <a:latin typeface="Calibri"/>
              <a:ea typeface="Calibri"/>
              <a:cs typeface="Calibri"/>
              <a:sym typeface="Calibri"/>
            </a:endParaRPr>
          </a:p>
        </p:txBody>
      </p:sp>
      <p:sp>
        <p:nvSpPr>
          <p:cNvPr id="21" name="Google Shape;21;p1"/>
          <p:cNvSpPr/>
          <p:nvPr/>
        </p:nvSpPr>
        <p:spPr>
          <a:xfrm>
            <a:off x="1047750" y="1862138"/>
            <a:ext cx="1781175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2400"/>
              <a:buFont typeface="Arial"/>
              <a:buNone/>
            </a:pPr>
            <a:r>
              <a:rPr b="0" i="0" lang="en-US" sz="2400" u="none" cap="none" strike="noStrike">
                <a:solidFill>
                  <a:srgbClr val="DDE3EC"/>
                </a:solidFill>
                <a:latin typeface="Arial"/>
                <a:ea typeface="Arial"/>
                <a:cs typeface="Arial"/>
                <a:sym typeface="Arial"/>
              </a:rPr>
              <a:t>1 a 4 de setembro de 2026 · Armação dos Búzios, RJ</a:t>
            </a:r>
            <a:endParaRPr b="0" i="0" sz="2400" u="none" cap="none" strike="noStrike">
              <a:solidFill>
                <a:schemeClr val="dk1"/>
              </a:solidFill>
              <a:latin typeface="Calibri"/>
              <a:ea typeface="Calibri"/>
              <a:cs typeface="Calibri"/>
              <a:sym typeface="Calibri"/>
            </a:endParaRPr>
          </a:p>
        </p:txBody>
      </p:sp>
      <p:sp>
        <p:nvSpPr>
          <p:cNvPr id="22" name="Google Shape;22;p1"/>
          <p:cNvSpPr/>
          <p:nvPr/>
        </p:nvSpPr>
        <p:spPr>
          <a:xfrm>
            <a:off x="1047750" y="3000970"/>
            <a:ext cx="12655868" cy="2465636"/>
          </a:xfrm>
          <a:prstGeom prst="rect">
            <a:avLst/>
          </a:prstGeom>
          <a:noFill/>
          <a:ln>
            <a:noFill/>
          </a:ln>
        </p:spPr>
        <p:txBody>
          <a:bodyPr anchorCtr="0" anchor="t" bIns="25400" lIns="25400" spcFirstLastPara="1" rIns="25400" wrap="square" tIns="25400">
            <a:normAutofit/>
          </a:bodyPr>
          <a:lstStyle/>
          <a:p>
            <a:pPr indent="0" lvl="0" marL="0" marR="0" rtl="0" algn="l">
              <a:lnSpc>
                <a:spcPct val="103610"/>
              </a:lnSpc>
              <a:spcBef>
                <a:spcPts val="0"/>
              </a:spcBef>
              <a:spcAft>
                <a:spcPts val="0"/>
              </a:spcAft>
              <a:buClr>
                <a:srgbClr val="FFFFFF"/>
              </a:buClr>
              <a:buSzPts val="5400"/>
              <a:buFont typeface="Arial"/>
              <a:buNone/>
            </a:pPr>
            <a:r>
              <a:rPr b="1" i="0" lang="en-US" sz="5400" u="none" cap="none" strike="noStrike">
                <a:solidFill>
                  <a:srgbClr val="FFFFFF"/>
                </a:solidFill>
                <a:latin typeface="Arial"/>
                <a:ea typeface="Arial"/>
                <a:cs typeface="Arial"/>
                <a:sym typeface="Arial"/>
              </a:rPr>
              <a:t>Local vs. Nuvem: LLMs locais para extração de vulnerabilidades de relatórios de scanners de segurança</a:t>
            </a:r>
            <a:endParaRPr b="0" i="0" sz="5400" u="none" cap="none" strike="noStrike">
              <a:solidFill>
                <a:schemeClr val="dk1"/>
              </a:solidFill>
              <a:latin typeface="Calibri"/>
              <a:ea typeface="Calibri"/>
              <a:cs typeface="Calibri"/>
              <a:sym typeface="Calibri"/>
            </a:endParaRPr>
          </a:p>
        </p:txBody>
      </p:sp>
      <p:sp>
        <p:nvSpPr>
          <p:cNvPr id="23" name="Google Shape;23;p1"/>
          <p:cNvSpPr/>
          <p:nvPr/>
        </p:nvSpPr>
        <p:spPr>
          <a:xfrm>
            <a:off x="14001750" y="2595563"/>
            <a:ext cx="3238500" cy="3238500"/>
          </a:xfrm>
          <a:prstGeom prst="roundRect">
            <a:avLst>
              <a:gd fmla="val 705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 name="Google Shape;24;p1"/>
          <p:cNvPicPr preferRelativeResize="0"/>
          <p:nvPr/>
        </p:nvPicPr>
        <p:blipFill rotWithShape="1">
          <a:blip r:embed="rId3">
            <a:alphaModFix/>
          </a:blip>
          <a:srcRect b="0" l="0" r="0" t="0"/>
          <a:stretch/>
        </p:blipFill>
        <p:spPr>
          <a:xfrm>
            <a:off x="14382750" y="3527971"/>
            <a:ext cx="2476500" cy="1373684"/>
          </a:xfrm>
          <a:prstGeom prst="rect">
            <a:avLst/>
          </a:prstGeom>
          <a:noFill/>
          <a:ln>
            <a:noFill/>
          </a:ln>
        </p:spPr>
      </p:pic>
      <p:sp>
        <p:nvSpPr>
          <p:cNvPr id="25" name="Google Shape;25;p1"/>
          <p:cNvSpPr/>
          <p:nvPr/>
        </p:nvSpPr>
        <p:spPr>
          <a:xfrm>
            <a:off x="1047750" y="6215063"/>
            <a:ext cx="1143000" cy="57150"/>
          </a:xfrm>
          <a:prstGeom prst="rect">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1047750" y="6653213"/>
            <a:ext cx="17811750" cy="4476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850"/>
              <a:buFont typeface="Arial"/>
              <a:buNone/>
            </a:pPr>
            <a:r>
              <a:rPr b="1" i="0" lang="en-US" sz="2850" u="none" cap="none" strike="noStrike">
                <a:solidFill>
                  <a:srgbClr val="FFFFFF"/>
                </a:solidFill>
                <a:latin typeface="Arial"/>
                <a:ea typeface="Arial"/>
                <a:cs typeface="Arial"/>
                <a:sym typeface="Arial"/>
              </a:rPr>
              <a:t>Beatriz Machado, Cristhian Kapelinski e Diego Kreutz</a:t>
            </a:r>
            <a:endParaRPr b="0" i="0" sz="2850" u="none" cap="none" strike="noStrike">
              <a:solidFill>
                <a:schemeClr val="dk1"/>
              </a:solidFill>
              <a:latin typeface="Calibri"/>
              <a:ea typeface="Calibri"/>
              <a:cs typeface="Calibri"/>
              <a:sym typeface="Calibri"/>
            </a:endParaRPr>
          </a:p>
        </p:txBody>
      </p:sp>
      <p:sp>
        <p:nvSpPr>
          <p:cNvPr id="27" name="Google Shape;27;p1"/>
          <p:cNvSpPr/>
          <p:nvPr/>
        </p:nvSpPr>
        <p:spPr>
          <a:xfrm>
            <a:off x="1047750" y="7158038"/>
            <a:ext cx="1781175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2400"/>
              <a:buFont typeface="Arial"/>
              <a:buNone/>
            </a:pPr>
            <a:r>
              <a:rPr b="0" i="0" lang="en-US" sz="2400" u="none" cap="none" strike="noStrike">
                <a:solidFill>
                  <a:srgbClr val="DDE3EC"/>
                </a:solidFill>
                <a:latin typeface="Arial"/>
                <a:ea typeface="Arial"/>
                <a:cs typeface="Arial"/>
                <a:sym typeface="Arial"/>
              </a:rPr>
              <a:t>AI Horizon Labs · Universidade Federal do Pampa (UNIPAMPA)</a:t>
            </a:r>
            <a:endParaRPr b="0" i="0" sz="2400" u="none" cap="none" strike="noStrike">
              <a:solidFill>
                <a:schemeClr val="dk1"/>
              </a:solidFill>
              <a:latin typeface="Calibri"/>
              <a:ea typeface="Calibri"/>
              <a:cs typeface="Calibri"/>
              <a:sym typeface="Calibri"/>
            </a:endParaRPr>
          </a:p>
        </p:txBody>
      </p:sp>
      <p:sp>
        <p:nvSpPr>
          <p:cNvPr id="28" name="Google Shape;28;p1"/>
          <p:cNvSpPr/>
          <p:nvPr/>
        </p:nvSpPr>
        <p:spPr>
          <a:xfrm>
            <a:off x="1047750" y="7605713"/>
            <a:ext cx="1781175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2400"/>
              <a:buFont typeface="Arial"/>
              <a:buNone/>
            </a:pPr>
            <a:r>
              <a:rPr b="0" i="0" lang="en-US" sz="2400" u="none" cap="none" strike="noStrike">
                <a:solidFill>
                  <a:srgbClr val="DDE3EC"/>
                </a:solidFill>
                <a:latin typeface="Arial"/>
                <a:ea typeface="Arial"/>
                <a:cs typeface="Arial"/>
                <a:sym typeface="Arial"/>
              </a:rPr>
              <a:t>Programa de Pós-Graduação em Engenharia de Software (PPGES)</a:t>
            </a:r>
            <a:endParaRPr b="0" i="0" sz="2400" u="none" cap="none" strike="noStrike">
              <a:solidFill>
                <a:schemeClr val="dk1"/>
              </a:solidFill>
              <a:latin typeface="Calibri"/>
              <a:ea typeface="Calibri"/>
              <a:cs typeface="Calibri"/>
              <a:sym typeface="Calibri"/>
            </a:endParaRPr>
          </a:p>
        </p:txBody>
      </p:sp>
      <p:sp>
        <p:nvSpPr>
          <p:cNvPr id="29" name="Google Shape;29;p1"/>
          <p:cNvSpPr/>
          <p:nvPr/>
        </p:nvSpPr>
        <p:spPr>
          <a:xfrm>
            <a:off x="0" y="9201150"/>
            <a:ext cx="18288000" cy="10858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1"/>
          <p:cNvPicPr preferRelativeResize="0"/>
          <p:nvPr/>
        </p:nvPicPr>
        <p:blipFill rotWithShape="1">
          <a:blip r:embed="rId4">
            <a:alphaModFix/>
          </a:blip>
          <a:srcRect b="0" l="0" r="0" t="0"/>
          <a:stretch/>
        </p:blipFill>
        <p:spPr>
          <a:xfrm>
            <a:off x="1047750" y="9496425"/>
            <a:ext cx="2026593" cy="495300"/>
          </a:xfrm>
          <a:prstGeom prst="rect">
            <a:avLst/>
          </a:prstGeom>
          <a:noFill/>
          <a:ln>
            <a:noFill/>
          </a:ln>
        </p:spPr>
      </p:pic>
      <p:pic>
        <p:nvPicPr>
          <p:cNvPr descr="preencoded.png" id="31" name="Google Shape;31;p1"/>
          <p:cNvPicPr preferRelativeResize="0"/>
          <p:nvPr/>
        </p:nvPicPr>
        <p:blipFill rotWithShape="1">
          <a:blip r:embed="rId5">
            <a:alphaModFix/>
          </a:blip>
          <a:srcRect b="0" l="0" r="0" t="0"/>
          <a:stretch/>
        </p:blipFill>
        <p:spPr>
          <a:xfrm>
            <a:off x="3607743" y="9467850"/>
            <a:ext cx="838795" cy="552450"/>
          </a:xfrm>
          <a:prstGeom prst="rect">
            <a:avLst/>
          </a:prstGeom>
          <a:noFill/>
          <a:ln>
            <a:noFill/>
          </a:ln>
        </p:spPr>
      </p:pic>
      <p:pic>
        <p:nvPicPr>
          <p:cNvPr descr="preencoded.png" id="32" name="Google Shape;32;p1"/>
          <p:cNvPicPr preferRelativeResize="0"/>
          <p:nvPr/>
        </p:nvPicPr>
        <p:blipFill rotWithShape="1">
          <a:blip r:embed="rId6">
            <a:alphaModFix/>
          </a:blip>
          <a:srcRect b="0" l="0" r="0" t="0"/>
          <a:stretch/>
        </p:blipFill>
        <p:spPr>
          <a:xfrm>
            <a:off x="4979938" y="9448800"/>
            <a:ext cx="590550" cy="590550"/>
          </a:xfrm>
          <a:prstGeom prst="rect">
            <a:avLst/>
          </a:prstGeom>
          <a:noFill/>
          <a:ln>
            <a:noFill/>
          </a:ln>
        </p:spPr>
      </p:pic>
      <p:pic>
        <p:nvPicPr>
          <p:cNvPr descr="preencoded.png" id="33" name="Google Shape;33;p1"/>
          <p:cNvPicPr preferRelativeResize="0"/>
          <p:nvPr/>
        </p:nvPicPr>
        <p:blipFill rotWithShape="1">
          <a:blip r:embed="rId3">
            <a:alphaModFix/>
          </a:blip>
          <a:srcRect b="0" l="0" r="0" t="0"/>
          <a:stretch/>
        </p:blipFill>
        <p:spPr>
          <a:xfrm>
            <a:off x="14491990" y="9477375"/>
            <a:ext cx="961579" cy="533400"/>
          </a:xfrm>
          <a:prstGeom prst="rect">
            <a:avLst/>
          </a:prstGeom>
          <a:noFill/>
          <a:ln>
            <a:noFill/>
          </a:ln>
        </p:spPr>
      </p:pic>
      <p:pic>
        <p:nvPicPr>
          <p:cNvPr descr="preencoded.png" id="34" name="Google Shape;34;p1"/>
          <p:cNvPicPr preferRelativeResize="0"/>
          <p:nvPr/>
        </p:nvPicPr>
        <p:blipFill rotWithShape="1">
          <a:blip r:embed="rId7">
            <a:alphaModFix/>
          </a:blip>
          <a:srcRect b="0" l="0" r="0" t="0"/>
          <a:stretch/>
        </p:blipFill>
        <p:spPr>
          <a:xfrm>
            <a:off x="15872668" y="9458325"/>
            <a:ext cx="556617" cy="571500"/>
          </a:xfrm>
          <a:prstGeom prst="rect">
            <a:avLst/>
          </a:prstGeom>
          <a:noFill/>
          <a:ln>
            <a:noFill/>
          </a:ln>
        </p:spPr>
      </p:pic>
      <p:pic>
        <p:nvPicPr>
          <p:cNvPr descr="preencoded.png" id="35" name="Google Shape;35;p1"/>
          <p:cNvPicPr preferRelativeResize="0"/>
          <p:nvPr/>
        </p:nvPicPr>
        <p:blipFill rotWithShape="1">
          <a:blip r:embed="rId8">
            <a:alphaModFix/>
          </a:blip>
          <a:srcRect b="0" l="0" r="0" t="0"/>
          <a:stretch/>
        </p:blipFill>
        <p:spPr>
          <a:xfrm>
            <a:off x="16848386" y="9448800"/>
            <a:ext cx="391864" cy="590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pic>
        <p:nvPicPr>
          <p:cNvPr descr="preencoded.png" id="41" name="Google Shape;41;g3f88e45ce95_0_1109"/>
          <p:cNvPicPr preferRelativeResize="0"/>
          <p:nvPr/>
        </p:nvPicPr>
        <p:blipFill rotWithShape="1">
          <a:blip r:embed="rId3">
            <a:alphaModFix/>
          </a:blip>
          <a:srcRect b="0" l="0" r="0" t="0"/>
          <a:stretch/>
        </p:blipFill>
        <p:spPr>
          <a:xfrm>
            <a:off x="3524250" y="2103239"/>
            <a:ext cx="11239500" cy="3708946"/>
          </a:xfrm>
          <a:prstGeom prst="rect">
            <a:avLst/>
          </a:prstGeom>
          <a:noFill/>
          <a:ln>
            <a:noFill/>
          </a:ln>
        </p:spPr>
      </p:pic>
      <p:sp>
        <p:nvSpPr>
          <p:cNvPr id="42" name="Google Shape;42;g3f88e45ce95_0_1109"/>
          <p:cNvSpPr/>
          <p:nvPr/>
        </p:nvSpPr>
        <p:spPr>
          <a:xfrm>
            <a:off x="1333500" y="9525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ABERTURA</a:t>
            </a:r>
            <a:endParaRPr b="0" i="0" sz="2400" u="none" cap="none" strike="noStrike">
              <a:solidFill>
                <a:schemeClr val="dk1"/>
              </a:solidFill>
              <a:latin typeface="Calibri"/>
              <a:ea typeface="Calibri"/>
              <a:cs typeface="Calibri"/>
              <a:sym typeface="Calibri"/>
            </a:endParaRPr>
          </a:p>
        </p:txBody>
      </p:sp>
      <p:sp>
        <p:nvSpPr>
          <p:cNvPr id="43" name="Google Shape;43;g3f88e45ce95_0_1109"/>
          <p:cNvSpPr/>
          <p:nvPr/>
        </p:nvSpPr>
        <p:spPr>
          <a:xfrm>
            <a:off x="1333500" y="1457325"/>
            <a:ext cx="17183100" cy="76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O acervo cresce, a triagem não acompanha</a:t>
            </a:r>
            <a:endParaRPr b="0" i="0" sz="4950" u="none" cap="none" strike="noStrike">
              <a:solidFill>
                <a:schemeClr val="dk1"/>
              </a:solidFill>
              <a:latin typeface="Calibri"/>
              <a:ea typeface="Calibri"/>
              <a:cs typeface="Calibri"/>
              <a:sym typeface="Calibri"/>
            </a:endParaRPr>
          </a:p>
        </p:txBody>
      </p:sp>
      <p:sp>
        <p:nvSpPr>
          <p:cNvPr id="44" name="Google Shape;44;g3f88e45ce95_0_1109"/>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f88e45ce95_0_1109"/>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02</a:t>
            </a:r>
            <a:endParaRPr b="0" i="0" sz="2400" u="none" cap="none" strike="noStrike">
              <a:solidFill>
                <a:schemeClr val="dk1"/>
              </a:solidFill>
              <a:latin typeface="Calibri"/>
              <a:ea typeface="Calibri"/>
              <a:cs typeface="Calibri"/>
              <a:sym typeface="Calibri"/>
            </a:endParaRPr>
          </a:p>
        </p:txBody>
      </p:sp>
      <p:sp>
        <p:nvSpPr>
          <p:cNvPr id="46" name="Google Shape;46;g3f88e45ce95_0_1109"/>
          <p:cNvSpPr/>
          <p:nvPr/>
        </p:nvSpPr>
        <p:spPr>
          <a:xfrm>
            <a:off x="1333500" y="6155075"/>
            <a:ext cx="4953000" cy="3124200"/>
          </a:xfrm>
          <a:prstGeom prst="roundRect">
            <a:avLst>
              <a:gd fmla="val 4494"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f88e45ce95_0_1109"/>
          <p:cNvSpPr/>
          <p:nvPr/>
        </p:nvSpPr>
        <p:spPr>
          <a:xfrm>
            <a:off x="1657350" y="6459885"/>
            <a:ext cx="4434600" cy="1086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600"/>
              <a:buFont typeface="Arial"/>
              <a:buNone/>
            </a:pPr>
            <a:r>
              <a:rPr b="1" i="0" lang="en-US" sz="3600" u="none" cap="none" strike="noStrike">
                <a:solidFill>
                  <a:srgbClr val="0F2369"/>
                </a:solidFill>
                <a:latin typeface="Arial"/>
                <a:ea typeface="Arial"/>
                <a:cs typeface="Arial"/>
                <a:sym typeface="Arial"/>
              </a:rPr>
              <a:t>Scanners geram PDFs</a:t>
            </a:r>
            <a:endParaRPr b="0" i="0" sz="3600" u="none" cap="none" strike="noStrike">
              <a:solidFill>
                <a:schemeClr val="dk1"/>
              </a:solidFill>
              <a:latin typeface="Calibri"/>
              <a:ea typeface="Calibri"/>
              <a:cs typeface="Calibri"/>
              <a:sym typeface="Calibri"/>
            </a:endParaRPr>
          </a:p>
        </p:txBody>
      </p:sp>
      <p:sp>
        <p:nvSpPr>
          <p:cNvPr id="48" name="Google Shape;48;g3f88e45ce95_0_1109"/>
          <p:cNvSpPr/>
          <p:nvPr/>
        </p:nvSpPr>
        <p:spPr>
          <a:xfrm>
            <a:off x="1657350" y="7602877"/>
            <a:ext cx="4434600" cy="1344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850"/>
              <a:buFont typeface="Arial"/>
              <a:buNone/>
            </a:pPr>
            <a:r>
              <a:rPr b="0" i="0" lang="en-US" sz="2850" u="none" cap="none" strike="noStrike">
                <a:solidFill>
                  <a:srgbClr val="6B7280"/>
                </a:solidFill>
                <a:latin typeface="Arial"/>
                <a:ea typeface="Arial"/>
                <a:cs typeface="Arial"/>
                <a:sym typeface="Arial"/>
              </a:rPr>
              <a:t>CSIRTs varrem as aplicações, e cada varredura vira um relatório.</a:t>
            </a:r>
            <a:endParaRPr b="0" i="0" sz="2850" u="none" cap="none" strike="noStrike">
              <a:solidFill>
                <a:schemeClr val="dk1"/>
              </a:solidFill>
              <a:latin typeface="Calibri"/>
              <a:ea typeface="Calibri"/>
              <a:cs typeface="Calibri"/>
              <a:sym typeface="Calibri"/>
            </a:endParaRPr>
          </a:p>
        </p:txBody>
      </p:sp>
      <p:sp>
        <p:nvSpPr>
          <p:cNvPr id="49" name="Google Shape;49;g3f88e45ce95_0_1109"/>
          <p:cNvSpPr/>
          <p:nvPr/>
        </p:nvSpPr>
        <p:spPr>
          <a:xfrm>
            <a:off x="6667500" y="6155076"/>
            <a:ext cx="4953000" cy="3124200"/>
          </a:xfrm>
          <a:prstGeom prst="roundRect">
            <a:avLst>
              <a:gd fmla="val 4494"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g3f88e45ce95_0_1109"/>
          <p:cNvSpPr/>
          <p:nvPr/>
        </p:nvSpPr>
        <p:spPr>
          <a:xfrm>
            <a:off x="6991350" y="6459885"/>
            <a:ext cx="4735800" cy="561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600"/>
              <a:buFont typeface="Arial"/>
              <a:buNone/>
            </a:pPr>
            <a:r>
              <a:rPr b="1" i="0" lang="en-US" sz="3600" u="none" cap="none" strike="noStrike">
                <a:solidFill>
                  <a:srgbClr val="0F2369"/>
                </a:solidFill>
                <a:latin typeface="Arial"/>
                <a:ea typeface="Arial"/>
                <a:cs typeface="Arial"/>
                <a:sym typeface="Arial"/>
              </a:rPr>
              <a:t>Leitura manual</a:t>
            </a:r>
            <a:endParaRPr b="0" i="0" sz="3600" u="none" cap="none" strike="noStrike">
              <a:solidFill>
                <a:schemeClr val="dk1"/>
              </a:solidFill>
              <a:latin typeface="Calibri"/>
              <a:ea typeface="Calibri"/>
              <a:cs typeface="Calibri"/>
              <a:sym typeface="Calibri"/>
            </a:endParaRPr>
          </a:p>
        </p:txBody>
      </p:sp>
      <p:sp>
        <p:nvSpPr>
          <p:cNvPr id="51" name="Google Shape;51;g3f88e45ce95_0_1109"/>
          <p:cNvSpPr/>
          <p:nvPr/>
        </p:nvSpPr>
        <p:spPr>
          <a:xfrm>
            <a:off x="6991350" y="7079010"/>
            <a:ext cx="4434600" cy="12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850"/>
              <a:buFont typeface="Arial"/>
              <a:buNone/>
            </a:pPr>
            <a:r>
              <a:rPr b="0" i="0" lang="en-US" sz="2850" u="none" cap="none" strike="noStrike">
                <a:solidFill>
                  <a:srgbClr val="6B7280"/>
                </a:solidFill>
                <a:latin typeface="Arial"/>
                <a:ea typeface="Arial"/>
                <a:cs typeface="Arial"/>
                <a:sym typeface="Arial"/>
              </a:rPr>
              <a:t>Sem dado estruturado, a análise exige leitura de cada relatório.</a:t>
            </a:r>
            <a:endParaRPr b="0" i="0" sz="2850" u="none" cap="none" strike="noStrike">
              <a:solidFill>
                <a:schemeClr val="dk1"/>
              </a:solidFill>
              <a:latin typeface="Calibri"/>
              <a:ea typeface="Calibri"/>
              <a:cs typeface="Calibri"/>
              <a:sym typeface="Calibri"/>
            </a:endParaRPr>
          </a:p>
        </p:txBody>
      </p:sp>
      <p:sp>
        <p:nvSpPr>
          <p:cNvPr id="52" name="Google Shape;52;g3f88e45ce95_0_1109"/>
          <p:cNvSpPr/>
          <p:nvPr/>
        </p:nvSpPr>
        <p:spPr>
          <a:xfrm>
            <a:off x="12001500" y="6155076"/>
            <a:ext cx="4953000" cy="3124200"/>
          </a:xfrm>
          <a:prstGeom prst="roundRect">
            <a:avLst>
              <a:gd fmla="val 4494" name="adj"/>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3f88e45ce95_0_1109"/>
          <p:cNvSpPr/>
          <p:nvPr/>
        </p:nvSpPr>
        <p:spPr>
          <a:xfrm>
            <a:off x="12325350" y="6459885"/>
            <a:ext cx="4735800" cy="561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7A823"/>
              </a:buClr>
              <a:buSzPts val="3600"/>
              <a:buFont typeface="Arial"/>
              <a:buNone/>
            </a:pPr>
            <a:r>
              <a:rPr b="1" i="0" lang="en-US" sz="3600" u="none" cap="none" strike="noStrike">
                <a:solidFill>
                  <a:srgbClr val="F7A823"/>
                </a:solidFill>
                <a:latin typeface="Arial"/>
                <a:ea typeface="Arial"/>
                <a:cs typeface="Arial"/>
                <a:sym typeface="Arial"/>
              </a:rPr>
              <a:t>Triagem atrasada</a:t>
            </a:r>
            <a:endParaRPr b="0" i="0" sz="3600" u="none" cap="none" strike="noStrike">
              <a:solidFill>
                <a:schemeClr val="dk1"/>
              </a:solidFill>
              <a:latin typeface="Calibri"/>
              <a:ea typeface="Calibri"/>
              <a:cs typeface="Calibri"/>
              <a:sym typeface="Calibri"/>
            </a:endParaRPr>
          </a:p>
        </p:txBody>
      </p:sp>
      <p:sp>
        <p:nvSpPr>
          <p:cNvPr id="54" name="Google Shape;54;g3f88e45ce95_0_1109"/>
          <p:cNvSpPr/>
          <p:nvPr/>
        </p:nvSpPr>
        <p:spPr>
          <a:xfrm>
            <a:off x="12325350" y="7079010"/>
            <a:ext cx="4434600" cy="12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DE3EC"/>
              </a:buClr>
              <a:buSzPts val="2850"/>
              <a:buFont typeface="Arial"/>
              <a:buNone/>
            </a:pPr>
            <a:r>
              <a:rPr b="0" i="0" lang="en-US" sz="2850" u="none" cap="none" strike="noStrike">
                <a:solidFill>
                  <a:srgbClr val="DDE3EC"/>
                </a:solidFill>
                <a:latin typeface="Arial"/>
                <a:ea typeface="Arial"/>
                <a:cs typeface="Arial"/>
                <a:sym typeface="Arial"/>
              </a:rPr>
              <a:t>Sem consulta e priorização, a resposta demora.</a:t>
            </a:r>
            <a:endParaRPr b="0" i="0" sz="2850" u="none" cap="none" strike="noStrike">
              <a:solidFill>
                <a:schemeClr val="dk1"/>
              </a:solidFill>
              <a:latin typeface="Calibri"/>
              <a:ea typeface="Calibri"/>
              <a:cs typeface="Calibri"/>
              <a:sym typeface="Calibri"/>
            </a:endParaRPr>
          </a:p>
        </p:txBody>
      </p:sp>
      <p:sp>
        <p:nvSpPr>
          <p:cNvPr id="55" name="Google Shape;55;g3f88e45ce95_0_1109"/>
          <p:cNvSpPr/>
          <p:nvPr/>
        </p:nvSpPr>
        <p:spPr>
          <a:xfrm>
            <a:off x="1333500" y="9525000"/>
            <a:ext cx="62724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56" name="Google Shape;56;g3f88e45ce95_0_1109"/>
          <p:cNvPicPr preferRelativeResize="0"/>
          <p:nvPr/>
        </p:nvPicPr>
        <p:blipFill rotWithShape="1">
          <a:blip r:embed="rId4">
            <a:alphaModFix/>
          </a:blip>
          <a:srcRect b="0" l="0" r="0" t="0"/>
          <a:stretch/>
        </p:blipFill>
        <p:spPr>
          <a:xfrm>
            <a:off x="13863935" y="9496425"/>
            <a:ext cx="1558826" cy="381000"/>
          </a:xfrm>
          <a:prstGeom prst="rect">
            <a:avLst/>
          </a:prstGeom>
          <a:noFill/>
          <a:ln>
            <a:noFill/>
          </a:ln>
        </p:spPr>
      </p:pic>
      <p:pic>
        <p:nvPicPr>
          <p:cNvPr descr="preencoded.png" id="57" name="Google Shape;57;g3f88e45ce95_0_1109"/>
          <p:cNvPicPr preferRelativeResize="0"/>
          <p:nvPr/>
        </p:nvPicPr>
        <p:blipFill rotWithShape="1">
          <a:blip r:embed="rId5">
            <a:alphaModFix/>
          </a:blip>
          <a:srcRect b="0" l="0" r="0" t="0"/>
          <a:stretch/>
        </p:blipFill>
        <p:spPr>
          <a:xfrm>
            <a:off x="15651361" y="9477375"/>
            <a:ext cx="636389" cy="419100"/>
          </a:xfrm>
          <a:prstGeom prst="rect">
            <a:avLst/>
          </a:prstGeom>
          <a:noFill/>
          <a:ln>
            <a:noFill/>
          </a:ln>
        </p:spPr>
      </p:pic>
      <p:pic>
        <p:nvPicPr>
          <p:cNvPr descr="preencoded.png" id="58" name="Google Shape;58;g3f88e45ce95_0_1109"/>
          <p:cNvPicPr preferRelativeResize="0"/>
          <p:nvPr/>
        </p:nvPicPr>
        <p:blipFill rotWithShape="1">
          <a:blip r:embed="rId6">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pic>
        <p:nvPicPr>
          <p:cNvPr id="64" name="Google Shape;64;p4" title="qrcode-sbseg-44328-azul.png"/>
          <p:cNvPicPr preferRelativeResize="0"/>
          <p:nvPr/>
        </p:nvPicPr>
        <p:blipFill>
          <a:blip r:embed="rId3">
            <a:alphaModFix/>
          </a:blip>
          <a:stretch>
            <a:fillRect/>
          </a:stretch>
        </p:blipFill>
        <p:spPr>
          <a:xfrm>
            <a:off x="13668838" y="1764516"/>
            <a:ext cx="3337674" cy="3337647"/>
          </a:xfrm>
          <a:prstGeom prst="rect">
            <a:avLst/>
          </a:prstGeom>
          <a:noFill/>
          <a:ln>
            <a:noFill/>
          </a:ln>
        </p:spPr>
      </p:pic>
      <p:sp>
        <p:nvSpPr>
          <p:cNvPr id="65" name="Google Shape;65;p4"/>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ABERTURA</a:t>
            </a:r>
            <a:endParaRPr b="0" i="0" sz="2400" u="none" cap="none" strike="noStrike">
              <a:solidFill>
                <a:schemeClr val="dk1"/>
              </a:solidFill>
              <a:latin typeface="Calibri"/>
              <a:ea typeface="Calibri"/>
              <a:cs typeface="Calibri"/>
              <a:sym typeface="Calibri"/>
            </a:endParaRPr>
          </a:p>
        </p:txBody>
      </p:sp>
      <p:sp>
        <p:nvSpPr>
          <p:cNvPr id="66" name="Google Shape;66;p4"/>
          <p:cNvSpPr/>
          <p:nvPr/>
        </p:nvSpPr>
        <p:spPr>
          <a:xfrm>
            <a:off x="1333500" y="1457325"/>
            <a:ext cx="17183100" cy="6953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500"/>
              <a:buFont typeface="Arial"/>
              <a:buNone/>
            </a:pPr>
            <a:r>
              <a:rPr b="1" i="0" lang="en-US" sz="4500" u="none" cap="none" strike="noStrike">
                <a:solidFill>
                  <a:srgbClr val="0F2369"/>
                </a:solidFill>
                <a:latin typeface="Arial"/>
                <a:ea typeface="Arial"/>
                <a:cs typeface="Arial"/>
                <a:sym typeface="Arial"/>
              </a:rPr>
              <a:t>O dado não pode sair da organização</a:t>
            </a:r>
            <a:endParaRPr b="0" i="0" sz="4500" u="none" cap="none" strike="noStrike">
              <a:solidFill>
                <a:schemeClr val="dk1"/>
              </a:solidFill>
              <a:latin typeface="Calibri"/>
              <a:ea typeface="Calibri"/>
              <a:cs typeface="Calibri"/>
              <a:sym typeface="Calibri"/>
            </a:endParaRPr>
          </a:p>
        </p:txBody>
      </p:sp>
      <p:sp>
        <p:nvSpPr>
          <p:cNvPr id="67" name="Google Shape;67;p4"/>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0</a:t>
            </a:r>
            <a:r>
              <a:rPr lang="en-US" sz="2400">
                <a:solidFill>
                  <a:srgbClr val="6B7280"/>
                </a:solidFill>
              </a:rPr>
              <a:t>3</a:t>
            </a:r>
            <a:endParaRPr b="0" i="0" sz="2400" u="none" cap="none" strike="noStrike">
              <a:solidFill>
                <a:schemeClr val="dk1"/>
              </a:solidFill>
              <a:latin typeface="Calibri"/>
              <a:ea typeface="Calibri"/>
              <a:cs typeface="Calibri"/>
              <a:sym typeface="Calibri"/>
            </a:endParaRPr>
          </a:p>
        </p:txBody>
      </p:sp>
      <p:sp>
        <p:nvSpPr>
          <p:cNvPr id="69" name="Google Shape;69;p4"/>
          <p:cNvSpPr/>
          <p:nvPr/>
        </p:nvSpPr>
        <p:spPr>
          <a:xfrm>
            <a:off x="1333500" y="2867025"/>
            <a:ext cx="10226040" cy="609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3900"/>
              <a:buFont typeface="Arial"/>
              <a:buNone/>
            </a:pPr>
            <a:r>
              <a:rPr b="1" i="0" lang="en-US" sz="4100" u="none" cap="none" strike="noStrike">
                <a:solidFill>
                  <a:srgbClr val="0F2369"/>
                </a:solidFill>
                <a:latin typeface="Arial"/>
                <a:ea typeface="Arial"/>
                <a:cs typeface="Arial"/>
                <a:sym typeface="Arial"/>
              </a:rPr>
              <a:t>Já é viável</a:t>
            </a:r>
            <a:endParaRPr b="0" i="0" sz="4100" u="none" cap="none" strike="noStrike">
              <a:solidFill>
                <a:schemeClr val="dk1"/>
              </a:solidFill>
              <a:latin typeface="Calibri"/>
              <a:ea typeface="Calibri"/>
              <a:cs typeface="Calibri"/>
              <a:sym typeface="Calibri"/>
            </a:endParaRPr>
          </a:p>
        </p:txBody>
      </p:sp>
      <p:sp>
        <p:nvSpPr>
          <p:cNvPr id="70" name="Google Shape;70;p4"/>
          <p:cNvSpPr/>
          <p:nvPr/>
        </p:nvSpPr>
        <p:spPr>
          <a:xfrm>
            <a:off x="1333500" y="3533775"/>
            <a:ext cx="9575292" cy="952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3150"/>
              <a:buFont typeface="Arial"/>
              <a:buNone/>
            </a:pPr>
            <a:r>
              <a:rPr b="0" i="0" lang="en-US" sz="3350" u="none" cap="none" strike="noStrike">
                <a:solidFill>
                  <a:srgbClr val="6B7280"/>
                </a:solidFill>
                <a:latin typeface="Arial"/>
                <a:ea typeface="Arial"/>
                <a:cs typeface="Arial"/>
                <a:sym typeface="Arial"/>
              </a:rPr>
              <a:t>A ferramenta extrai bem, mas só foi testada em nuvem.</a:t>
            </a:r>
            <a:endParaRPr b="0" i="0" sz="3350" u="none" cap="none" strike="noStrike">
              <a:solidFill>
                <a:schemeClr val="dk1"/>
              </a:solidFill>
              <a:latin typeface="Calibri"/>
              <a:ea typeface="Calibri"/>
              <a:cs typeface="Calibri"/>
              <a:sym typeface="Calibri"/>
            </a:endParaRPr>
          </a:p>
        </p:txBody>
      </p:sp>
      <p:sp>
        <p:nvSpPr>
          <p:cNvPr id="71" name="Google Shape;71;p4"/>
          <p:cNvSpPr/>
          <p:nvPr/>
        </p:nvSpPr>
        <p:spPr>
          <a:xfrm>
            <a:off x="1333500" y="4714875"/>
            <a:ext cx="92964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1333500" y="5000625"/>
            <a:ext cx="10226040" cy="609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3900"/>
              <a:buFont typeface="Arial"/>
              <a:buNone/>
            </a:pPr>
            <a:r>
              <a:rPr b="1" i="0" lang="en-US" sz="4100" u="none" cap="none" strike="noStrike">
                <a:solidFill>
                  <a:srgbClr val="0F2369"/>
                </a:solidFill>
                <a:latin typeface="Arial"/>
                <a:ea typeface="Arial"/>
                <a:cs typeface="Arial"/>
                <a:sym typeface="Arial"/>
              </a:rPr>
              <a:t>O impasse</a:t>
            </a:r>
            <a:endParaRPr b="0" i="0" sz="4100" u="none" cap="none" strike="noStrike">
              <a:solidFill>
                <a:schemeClr val="dk1"/>
              </a:solidFill>
              <a:latin typeface="Calibri"/>
              <a:ea typeface="Calibri"/>
              <a:cs typeface="Calibri"/>
              <a:sym typeface="Calibri"/>
            </a:endParaRPr>
          </a:p>
        </p:txBody>
      </p:sp>
      <p:sp>
        <p:nvSpPr>
          <p:cNvPr id="73" name="Google Shape;73;p4"/>
          <p:cNvSpPr/>
          <p:nvPr/>
        </p:nvSpPr>
        <p:spPr>
          <a:xfrm>
            <a:off x="1333500" y="5667375"/>
            <a:ext cx="9575292" cy="952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3150"/>
              <a:buFont typeface="Arial"/>
              <a:buNone/>
            </a:pPr>
            <a:r>
              <a:rPr b="0" i="0" lang="en-US" sz="3350" u="none" cap="none" strike="noStrike">
                <a:solidFill>
                  <a:srgbClr val="6B7280"/>
                </a:solidFill>
                <a:latin typeface="Arial"/>
                <a:ea typeface="Arial"/>
                <a:cs typeface="Arial"/>
                <a:sym typeface="Arial"/>
              </a:rPr>
              <a:t>Usar a nuvem é enviar a superfície de ataque a um terceiro.</a:t>
            </a:r>
            <a:endParaRPr b="0" i="0" sz="3350" u="none" cap="none" strike="noStrike">
              <a:solidFill>
                <a:schemeClr val="dk1"/>
              </a:solidFill>
              <a:latin typeface="Calibri"/>
              <a:ea typeface="Calibri"/>
              <a:cs typeface="Calibri"/>
              <a:sym typeface="Calibri"/>
            </a:endParaRPr>
          </a:p>
        </p:txBody>
      </p:sp>
      <p:sp>
        <p:nvSpPr>
          <p:cNvPr id="74" name="Google Shape;74;p4"/>
          <p:cNvSpPr/>
          <p:nvPr/>
        </p:nvSpPr>
        <p:spPr>
          <a:xfrm>
            <a:off x="1333500" y="6848475"/>
            <a:ext cx="92964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1333500" y="7134225"/>
            <a:ext cx="10226040" cy="609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3900"/>
              <a:buFont typeface="Arial"/>
              <a:buNone/>
            </a:pPr>
            <a:r>
              <a:rPr b="1" i="0" lang="en-US" sz="4100" u="none" cap="none" strike="noStrike">
                <a:solidFill>
                  <a:srgbClr val="0F2369"/>
                </a:solidFill>
                <a:latin typeface="Arial"/>
                <a:ea typeface="Arial"/>
                <a:cs typeface="Arial"/>
                <a:sym typeface="Arial"/>
              </a:rPr>
              <a:t>A LGPD</a:t>
            </a:r>
            <a:endParaRPr b="0" i="0" sz="4100" u="none" cap="none" strike="noStrike">
              <a:solidFill>
                <a:schemeClr val="dk1"/>
              </a:solidFill>
              <a:latin typeface="Calibri"/>
              <a:ea typeface="Calibri"/>
              <a:cs typeface="Calibri"/>
              <a:sym typeface="Calibri"/>
            </a:endParaRPr>
          </a:p>
        </p:txBody>
      </p:sp>
      <p:sp>
        <p:nvSpPr>
          <p:cNvPr id="76" name="Google Shape;76;p4"/>
          <p:cNvSpPr/>
          <p:nvPr/>
        </p:nvSpPr>
        <p:spPr>
          <a:xfrm>
            <a:off x="1333500" y="7800975"/>
            <a:ext cx="9575292" cy="952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3150"/>
              <a:buFont typeface="Arial"/>
              <a:buNone/>
            </a:pPr>
            <a:r>
              <a:rPr b="0" i="0" lang="en-US" sz="3350" u="none" cap="none" strike="noStrike">
                <a:solidFill>
                  <a:srgbClr val="6B7280"/>
                </a:solidFill>
                <a:latin typeface="Arial"/>
                <a:ea typeface="Arial"/>
                <a:cs typeface="Arial"/>
                <a:sym typeface="Arial"/>
              </a:rPr>
              <a:t>Exige proteger a infraestrutura que trata dados pessoais (art. 46).</a:t>
            </a:r>
            <a:endParaRPr b="0" i="0" sz="3350" u="none" cap="none" strike="noStrike">
              <a:solidFill>
                <a:schemeClr val="dk1"/>
              </a:solidFill>
              <a:latin typeface="Calibri"/>
              <a:ea typeface="Calibri"/>
              <a:cs typeface="Calibri"/>
              <a:sym typeface="Calibri"/>
            </a:endParaRPr>
          </a:p>
        </p:txBody>
      </p:sp>
      <p:pic>
        <p:nvPicPr>
          <p:cNvPr descr="preencoded.png" id="77" name="Google Shape;77;p4"/>
          <p:cNvPicPr preferRelativeResize="0"/>
          <p:nvPr/>
        </p:nvPicPr>
        <p:blipFill rotWithShape="1">
          <a:blip r:embed="rId4">
            <a:alphaModFix/>
          </a:blip>
          <a:srcRect b="0" l="0" r="0" t="0"/>
          <a:stretch/>
        </p:blipFill>
        <p:spPr>
          <a:xfrm>
            <a:off x="12691175" y="4940925"/>
            <a:ext cx="4338899" cy="4338899"/>
          </a:xfrm>
          <a:prstGeom prst="rect">
            <a:avLst/>
          </a:prstGeom>
          <a:noFill/>
          <a:ln>
            <a:noFill/>
          </a:ln>
        </p:spPr>
      </p:pic>
      <p:sp>
        <p:nvSpPr>
          <p:cNvPr id="78" name="Google Shape;78;p4"/>
          <p:cNvSpPr/>
          <p:nvPr/>
        </p:nvSpPr>
        <p:spPr>
          <a:xfrm>
            <a:off x="1333500" y="95250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79" name="Google Shape;79;p4"/>
          <p:cNvPicPr preferRelativeResize="0"/>
          <p:nvPr/>
        </p:nvPicPr>
        <p:blipFill rotWithShape="1">
          <a:blip r:embed="rId5">
            <a:alphaModFix/>
          </a:blip>
          <a:srcRect b="0" l="0" r="0" t="0"/>
          <a:stretch/>
        </p:blipFill>
        <p:spPr>
          <a:xfrm>
            <a:off x="13863935" y="9496425"/>
            <a:ext cx="1558826" cy="381000"/>
          </a:xfrm>
          <a:prstGeom prst="rect">
            <a:avLst/>
          </a:prstGeom>
          <a:noFill/>
          <a:ln>
            <a:noFill/>
          </a:ln>
        </p:spPr>
      </p:pic>
      <p:pic>
        <p:nvPicPr>
          <p:cNvPr descr="preencoded.png" id="80" name="Google Shape;80;p4"/>
          <p:cNvPicPr preferRelativeResize="0"/>
          <p:nvPr/>
        </p:nvPicPr>
        <p:blipFill rotWithShape="1">
          <a:blip r:embed="rId6">
            <a:alphaModFix/>
          </a:blip>
          <a:srcRect b="0" l="0" r="0" t="0"/>
          <a:stretch/>
        </p:blipFill>
        <p:spPr>
          <a:xfrm>
            <a:off x="15651361" y="9477375"/>
            <a:ext cx="636389" cy="419100"/>
          </a:xfrm>
          <a:prstGeom prst="rect">
            <a:avLst/>
          </a:prstGeom>
          <a:noFill/>
          <a:ln>
            <a:noFill/>
          </a:ln>
        </p:spPr>
      </p:pic>
      <p:pic>
        <p:nvPicPr>
          <p:cNvPr descr="preencoded.png" id="81" name="Google Shape;81;p4"/>
          <p:cNvPicPr preferRelativeResize="0"/>
          <p:nvPr/>
        </p:nvPicPr>
        <p:blipFill rotWithShape="1">
          <a:blip r:embed="rId7">
            <a:alphaModFix/>
          </a:blip>
          <a:srcRect b="0" l="0" r="0" t="0"/>
          <a:stretch/>
        </p:blipFill>
        <p:spPr>
          <a:xfrm>
            <a:off x="16516350" y="9467850"/>
            <a:ext cx="438150" cy="438150"/>
          </a:xfrm>
          <a:prstGeom prst="rect">
            <a:avLst/>
          </a:prstGeom>
          <a:noFill/>
          <a:ln>
            <a:noFill/>
          </a:ln>
        </p:spPr>
      </p:pic>
      <p:sp>
        <p:nvSpPr>
          <p:cNvPr id="82" name="Google Shape;82;p4"/>
          <p:cNvSpPr/>
          <p:nvPr/>
        </p:nvSpPr>
        <p:spPr>
          <a:xfrm>
            <a:off x="13168213" y="799190"/>
            <a:ext cx="4338900" cy="767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A866E"/>
              </a:buClr>
              <a:buSzPts val="2400"/>
              <a:buFont typeface="Arial"/>
              <a:buNone/>
            </a:pPr>
            <a:r>
              <a:rPr b="1" lang="en-US" sz="2600">
                <a:solidFill>
                  <a:srgbClr val="0A866E"/>
                </a:solidFill>
              </a:rPr>
              <a:t>ARTIGO</a:t>
            </a:r>
            <a:endParaRPr b="1" sz="2600">
              <a:solidFill>
                <a:srgbClr val="0A866E"/>
              </a:solidFill>
            </a:endParaRPr>
          </a:p>
          <a:p>
            <a:pPr indent="0" lvl="0" marL="0" marR="0" rtl="0" algn="ctr">
              <a:spcBef>
                <a:spcPts val="0"/>
              </a:spcBef>
              <a:spcAft>
                <a:spcPts val="0"/>
              </a:spcAft>
              <a:buClr>
                <a:srgbClr val="0A866E"/>
              </a:buClr>
              <a:buSzPts val="2400"/>
              <a:buFont typeface="Arial"/>
              <a:buNone/>
            </a:pPr>
            <a:r>
              <a:rPr b="1" lang="en-US" sz="2600">
                <a:solidFill>
                  <a:srgbClr val="0A866E"/>
                </a:solidFill>
              </a:rPr>
              <a:t>TRILHA PRINCIPAL</a:t>
            </a:r>
            <a:endParaRPr b="1" i="0" sz="2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5"/>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ABERTURA</a:t>
            </a:r>
            <a:endParaRPr b="0" i="0" sz="2400" u="none" cap="none" strike="noStrike">
              <a:solidFill>
                <a:schemeClr val="dk1"/>
              </a:solidFill>
              <a:latin typeface="Calibri"/>
              <a:ea typeface="Calibri"/>
              <a:cs typeface="Calibri"/>
              <a:sym typeface="Calibri"/>
            </a:endParaRPr>
          </a:p>
        </p:txBody>
      </p:sp>
      <p:sp>
        <p:nvSpPr>
          <p:cNvPr id="89" name="Google Shape;89;p5"/>
          <p:cNvSpPr/>
          <p:nvPr/>
        </p:nvSpPr>
        <p:spPr>
          <a:xfrm>
            <a:off x="1333500" y="1457325"/>
            <a:ext cx="17183100" cy="7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Por que é difícil sem a nuvem</a:t>
            </a:r>
            <a:endParaRPr b="0" i="0" sz="4950" u="none" cap="none" strike="noStrike">
              <a:solidFill>
                <a:schemeClr val="dk1"/>
              </a:solidFill>
              <a:latin typeface="Calibri"/>
              <a:ea typeface="Calibri"/>
              <a:cs typeface="Calibri"/>
              <a:sym typeface="Calibri"/>
            </a:endParaRPr>
          </a:p>
        </p:txBody>
      </p:sp>
      <p:sp>
        <p:nvSpPr>
          <p:cNvPr id="90" name="Google Shape;90;p5"/>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0</a:t>
            </a:r>
            <a:r>
              <a:rPr lang="en-US" sz="2400">
                <a:solidFill>
                  <a:srgbClr val="6B7280"/>
                </a:solidFill>
              </a:rPr>
              <a:t>4</a:t>
            </a:r>
            <a:endParaRPr b="0" i="0" sz="2400" u="none" cap="none" strike="noStrike">
              <a:solidFill>
                <a:schemeClr val="dk1"/>
              </a:solidFill>
              <a:latin typeface="Calibri"/>
              <a:ea typeface="Calibri"/>
              <a:cs typeface="Calibri"/>
              <a:sym typeface="Calibri"/>
            </a:endParaRPr>
          </a:p>
        </p:txBody>
      </p:sp>
      <p:sp>
        <p:nvSpPr>
          <p:cNvPr id="92" name="Google Shape;92;p5"/>
          <p:cNvSpPr/>
          <p:nvPr/>
        </p:nvSpPr>
        <p:spPr>
          <a:xfrm>
            <a:off x="1333500" y="3095625"/>
            <a:ext cx="838200" cy="838200"/>
          </a:xfrm>
          <a:prstGeom prst="ellipse">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1295400" y="3095625"/>
            <a:ext cx="914400" cy="8763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450"/>
              <a:buFont typeface="Arial"/>
              <a:buNone/>
            </a:pPr>
            <a:r>
              <a:rPr b="1" i="0" lang="en-US" sz="3450" u="none" cap="none" strike="noStrike">
                <a:solidFill>
                  <a:srgbClr val="FFFFFF"/>
                </a:solidFill>
                <a:latin typeface="Arial"/>
                <a:ea typeface="Arial"/>
                <a:cs typeface="Arial"/>
                <a:sym typeface="Arial"/>
              </a:rPr>
              <a:t>1</a:t>
            </a:r>
            <a:endParaRPr b="0" i="0" sz="3450" u="none" cap="none" strike="noStrike">
              <a:solidFill>
                <a:schemeClr val="dk1"/>
              </a:solidFill>
              <a:latin typeface="Calibri"/>
              <a:ea typeface="Calibri"/>
              <a:cs typeface="Calibri"/>
              <a:sym typeface="Calibri"/>
            </a:endParaRPr>
          </a:p>
        </p:txBody>
      </p:sp>
      <p:sp>
        <p:nvSpPr>
          <p:cNvPr id="94" name="Google Shape;94;p5"/>
          <p:cNvSpPr/>
          <p:nvPr/>
        </p:nvSpPr>
        <p:spPr>
          <a:xfrm>
            <a:off x="2514600" y="3171825"/>
            <a:ext cx="9345930" cy="657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200"/>
              <a:buFont typeface="Arial"/>
              <a:buNone/>
            </a:pPr>
            <a:r>
              <a:rPr b="1" i="0" lang="en-US" sz="4200" u="none" cap="none" strike="noStrike">
                <a:solidFill>
                  <a:srgbClr val="0F2369"/>
                </a:solidFill>
                <a:latin typeface="Arial"/>
                <a:ea typeface="Arial"/>
                <a:cs typeface="Arial"/>
                <a:sym typeface="Arial"/>
              </a:rPr>
              <a:t>Modelos menores</a:t>
            </a:r>
            <a:endParaRPr b="0" i="0" sz="4200" u="none" cap="none" strike="noStrike">
              <a:solidFill>
                <a:schemeClr val="dk1"/>
              </a:solidFill>
              <a:latin typeface="Calibri"/>
              <a:ea typeface="Calibri"/>
              <a:cs typeface="Calibri"/>
              <a:sym typeface="Calibri"/>
            </a:endParaRPr>
          </a:p>
        </p:txBody>
      </p:sp>
      <p:sp>
        <p:nvSpPr>
          <p:cNvPr id="95" name="Google Shape;95;p5"/>
          <p:cNvSpPr/>
          <p:nvPr/>
        </p:nvSpPr>
        <p:spPr>
          <a:xfrm>
            <a:off x="2514600" y="3867150"/>
            <a:ext cx="8751189" cy="895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200" u="none" cap="none" strike="noStrike">
                <a:solidFill>
                  <a:srgbClr val="6B7280"/>
                </a:solidFill>
                <a:latin typeface="Arial"/>
                <a:ea typeface="Arial"/>
                <a:cs typeface="Arial"/>
                <a:sym typeface="Arial"/>
              </a:rPr>
              <a:t>4B a 21B contra 284B da nuvem, com menos contexto.</a:t>
            </a:r>
            <a:endParaRPr b="0" i="0" sz="3200" u="none" cap="none" strike="noStrike">
              <a:solidFill>
                <a:schemeClr val="dk1"/>
              </a:solidFill>
              <a:latin typeface="Calibri"/>
              <a:ea typeface="Calibri"/>
              <a:cs typeface="Calibri"/>
              <a:sym typeface="Calibri"/>
            </a:endParaRPr>
          </a:p>
        </p:txBody>
      </p:sp>
      <p:sp>
        <p:nvSpPr>
          <p:cNvPr id="96" name="Google Shape;96;p5"/>
          <p:cNvSpPr/>
          <p:nvPr/>
        </p:nvSpPr>
        <p:spPr>
          <a:xfrm>
            <a:off x="1333500" y="5010150"/>
            <a:ext cx="838200" cy="838200"/>
          </a:xfrm>
          <a:prstGeom prst="ellipse">
            <a:avLst/>
          </a:prstGeom>
          <a:solidFill>
            <a:srgbClr val="127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1295400" y="5010150"/>
            <a:ext cx="914400" cy="8763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450"/>
              <a:buFont typeface="Arial"/>
              <a:buNone/>
            </a:pPr>
            <a:r>
              <a:rPr b="1" i="0" lang="en-US" sz="3450" u="none" cap="none" strike="noStrike">
                <a:solidFill>
                  <a:srgbClr val="FFFFFF"/>
                </a:solidFill>
                <a:latin typeface="Arial"/>
                <a:ea typeface="Arial"/>
                <a:cs typeface="Arial"/>
                <a:sym typeface="Arial"/>
              </a:rPr>
              <a:t>2</a:t>
            </a:r>
            <a:endParaRPr b="0" i="0" sz="3450" u="none" cap="none" strike="noStrike">
              <a:solidFill>
                <a:schemeClr val="dk1"/>
              </a:solidFill>
              <a:latin typeface="Calibri"/>
              <a:ea typeface="Calibri"/>
              <a:cs typeface="Calibri"/>
              <a:sym typeface="Calibri"/>
            </a:endParaRPr>
          </a:p>
        </p:txBody>
      </p:sp>
      <p:sp>
        <p:nvSpPr>
          <p:cNvPr id="98" name="Google Shape;98;p5"/>
          <p:cNvSpPr/>
          <p:nvPr/>
        </p:nvSpPr>
        <p:spPr>
          <a:xfrm>
            <a:off x="2514600" y="5086350"/>
            <a:ext cx="9345930" cy="657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200"/>
              <a:buFont typeface="Arial"/>
              <a:buNone/>
            </a:pPr>
            <a:r>
              <a:rPr b="1" i="0" lang="en-US" sz="4200" u="none" cap="none" strike="noStrike">
                <a:solidFill>
                  <a:srgbClr val="0F2369"/>
                </a:solidFill>
                <a:latin typeface="Arial"/>
                <a:ea typeface="Arial"/>
                <a:cs typeface="Arial"/>
                <a:sym typeface="Arial"/>
              </a:rPr>
              <a:t>Treinar é custoso</a:t>
            </a:r>
            <a:endParaRPr b="0" i="0" sz="4200" u="none" cap="none" strike="noStrike">
              <a:solidFill>
                <a:schemeClr val="dk1"/>
              </a:solidFill>
              <a:latin typeface="Calibri"/>
              <a:ea typeface="Calibri"/>
              <a:cs typeface="Calibri"/>
              <a:sym typeface="Calibri"/>
            </a:endParaRPr>
          </a:p>
        </p:txBody>
      </p:sp>
      <p:sp>
        <p:nvSpPr>
          <p:cNvPr id="99" name="Google Shape;99;p5"/>
          <p:cNvSpPr/>
          <p:nvPr/>
        </p:nvSpPr>
        <p:spPr>
          <a:xfrm>
            <a:off x="2514600" y="5781675"/>
            <a:ext cx="8751189" cy="895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200" u="none" cap="none" strike="noStrike">
                <a:solidFill>
                  <a:srgbClr val="6B7280"/>
                </a:solidFill>
                <a:latin typeface="Arial"/>
                <a:ea typeface="Arial"/>
                <a:cs typeface="Arial"/>
                <a:sym typeface="Arial"/>
              </a:rPr>
              <a:t>Fine-tuning na tarefa exige dados anotados e GPU para treinar.</a:t>
            </a:r>
            <a:endParaRPr b="0" i="0" sz="3200" u="none" cap="none" strike="noStrike">
              <a:solidFill>
                <a:schemeClr val="dk1"/>
              </a:solidFill>
              <a:latin typeface="Calibri"/>
              <a:ea typeface="Calibri"/>
              <a:cs typeface="Calibri"/>
              <a:sym typeface="Calibri"/>
            </a:endParaRPr>
          </a:p>
        </p:txBody>
      </p:sp>
      <p:sp>
        <p:nvSpPr>
          <p:cNvPr id="100" name="Google Shape;100;p5"/>
          <p:cNvSpPr/>
          <p:nvPr/>
        </p:nvSpPr>
        <p:spPr>
          <a:xfrm>
            <a:off x="1333500" y="6924675"/>
            <a:ext cx="838200" cy="838200"/>
          </a:xfrm>
          <a:prstGeom prst="ellipse">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1295400" y="6924675"/>
            <a:ext cx="914400" cy="8763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450"/>
              <a:buFont typeface="Arial"/>
              <a:buNone/>
            </a:pPr>
            <a:r>
              <a:rPr b="1" i="0" lang="en-US" sz="3450" u="none" cap="none" strike="noStrike">
                <a:solidFill>
                  <a:srgbClr val="FFFFFF"/>
                </a:solidFill>
                <a:latin typeface="Arial"/>
                <a:ea typeface="Arial"/>
                <a:cs typeface="Arial"/>
                <a:sym typeface="Arial"/>
              </a:rPr>
              <a:t>3</a:t>
            </a:r>
            <a:endParaRPr b="0" i="0" sz="3450" u="none" cap="none" strike="noStrike">
              <a:solidFill>
                <a:schemeClr val="dk1"/>
              </a:solidFill>
              <a:latin typeface="Calibri"/>
              <a:ea typeface="Calibri"/>
              <a:cs typeface="Calibri"/>
              <a:sym typeface="Calibri"/>
            </a:endParaRPr>
          </a:p>
        </p:txBody>
      </p:sp>
      <p:sp>
        <p:nvSpPr>
          <p:cNvPr id="102" name="Google Shape;102;p5"/>
          <p:cNvSpPr/>
          <p:nvPr/>
        </p:nvSpPr>
        <p:spPr>
          <a:xfrm>
            <a:off x="2514600" y="7000875"/>
            <a:ext cx="9345930" cy="657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200"/>
              <a:buFont typeface="Arial"/>
              <a:buNone/>
            </a:pPr>
            <a:r>
              <a:rPr b="1" i="0" lang="en-US" sz="4200" u="none" cap="none" strike="noStrike">
                <a:solidFill>
                  <a:srgbClr val="0F2369"/>
                </a:solidFill>
                <a:latin typeface="Arial"/>
                <a:ea typeface="Arial"/>
                <a:cs typeface="Arial"/>
                <a:sym typeface="Arial"/>
              </a:rPr>
              <a:t>Infraestrutura própria</a:t>
            </a:r>
            <a:endParaRPr b="0" i="0" sz="4200" u="none" cap="none" strike="noStrike">
              <a:solidFill>
                <a:schemeClr val="dk1"/>
              </a:solidFill>
              <a:latin typeface="Calibri"/>
              <a:ea typeface="Calibri"/>
              <a:cs typeface="Calibri"/>
              <a:sym typeface="Calibri"/>
            </a:endParaRPr>
          </a:p>
        </p:txBody>
      </p:sp>
      <p:sp>
        <p:nvSpPr>
          <p:cNvPr id="103" name="Google Shape;103;p5"/>
          <p:cNvSpPr/>
          <p:nvPr/>
        </p:nvSpPr>
        <p:spPr>
          <a:xfrm>
            <a:off x="2514600" y="7696200"/>
            <a:ext cx="8751189" cy="8953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200" u="none" cap="none" strike="noStrike">
                <a:solidFill>
                  <a:srgbClr val="6B7280"/>
                </a:solidFill>
                <a:latin typeface="Arial"/>
                <a:ea typeface="Arial"/>
                <a:cs typeface="Arial"/>
                <a:sym typeface="Arial"/>
              </a:rPr>
              <a:t>GPU, VRAM e tempo de processamento passam a ser seus.</a:t>
            </a:r>
            <a:endParaRPr b="0" i="0" sz="3200" u="none" cap="none" strike="noStrike">
              <a:solidFill>
                <a:schemeClr val="dk1"/>
              </a:solidFill>
              <a:latin typeface="Calibri"/>
              <a:ea typeface="Calibri"/>
              <a:cs typeface="Calibri"/>
              <a:sym typeface="Calibri"/>
            </a:endParaRPr>
          </a:p>
        </p:txBody>
      </p:sp>
      <p:pic>
        <p:nvPicPr>
          <p:cNvPr descr="preencoded.png" id="104" name="Google Shape;104;p5"/>
          <p:cNvPicPr preferRelativeResize="0"/>
          <p:nvPr/>
        </p:nvPicPr>
        <p:blipFill rotWithShape="1">
          <a:blip r:embed="rId3">
            <a:alphaModFix/>
          </a:blip>
          <a:srcRect b="-3571" l="0" r="0" t="-3571"/>
          <a:stretch/>
        </p:blipFill>
        <p:spPr>
          <a:xfrm>
            <a:off x="11620500" y="2967038"/>
            <a:ext cx="5334000" cy="5715000"/>
          </a:xfrm>
          <a:prstGeom prst="rect">
            <a:avLst/>
          </a:prstGeom>
          <a:noFill/>
          <a:ln>
            <a:noFill/>
          </a:ln>
        </p:spPr>
      </p:pic>
      <p:sp>
        <p:nvSpPr>
          <p:cNvPr id="105" name="Google Shape;105;p5"/>
          <p:cNvSpPr/>
          <p:nvPr/>
        </p:nvSpPr>
        <p:spPr>
          <a:xfrm>
            <a:off x="1333500" y="95250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106" name="Google Shape;106;p5"/>
          <p:cNvPicPr preferRelativeResize="0"/>
          <p:nvPr/>
        </p:nvPicPr>
        <p:blipFill rotWithShape="1">
          <a:blip r:embed="rId4">
            <a:alphaModFix/>
          </a:blip>
          <a:srcRect b="0" l="0" r="0" t="0"/>
          <a:stretch/>
        </p:blipFill>
        <p:spPr>
          <a:xfrm>
            <a:off x="13863935" y="9496425"/>
            <a:ext cx="1558826" cy="381000"/>
          </a:xfrm>
          <a:prstGeom prst="rect">
            <a:avLst/>
          </a:prstGeom>
          <a:noFill/>
          <a:ln>
            <a:noFill/>
          </a:ln>
        </p:spPr>
      </p:pic>
      <p:pic>
        <p:nvPicPr>
          <p:cNvPr descr="preencoded.png" id="107" name="Google Shape;107;p5"/>
          <p:cNvPicPr preferRelativeResize="0"/>
          <p:nvPr/>
        </p:nvPicPr>
        <p:blipFill rotWithShape="1">
          <a:blip r:embed="rId5">
            <a:alphaModFix/>
          </a:blip>
          <a:srcRect b="0" l="0" r="0" t="0"/>
          <a:stretch/>
        </p:blipFill>
        <p:spPr>
          <a:xfrm>
            <a:off x="15651361" y="9477375"/>
            <a:ext cx="636389" cy="419100"/>
          </a:xfrm>
          <a:prstGeom prst="rect">
            <a:avLst/>
          </a:prstGeom>
          <a:noFill/>
          <a:ln>
            <a:noFill/>
          </a:ln>
        </p:spPr>
      </p:pic>
      <p:pic>
        <p:nvPicPr>
          <p:cNvPr descr="preencoded.png" id="108" name="Google Shape;108;p5"/>
          <p:cNvPicPr preferRelativeResize="0"/>
          <p:nvPr/>
        </p:nvPicPr>
        <p:blipFill rotWithShape="1">
          <a:blip r:embed="rId6">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6"/>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ABERTURA</a:t>
            </a:r>
            <a:endParaRPr b="0" i="0" sz="2400" u="none" cap="none" strike="noStrike">
              <a:solidFill>
                <a:schemeClr val="dk1"/>
              </a:solidFill>
              <a:latin typeface="Calibri"/>
              <a:ea typeface="Calibri"/>
              <a:cs typeface="Calibri"/>
              <a:sym typeface="Calibri"/>
            </a:endParaRPr>
          </a:p>
        </p:txBody>
      </p:sp>
      <p:sp>
        <p:nvSpPr>
          <p:cNvPr id="115" name="Google Shape;115;p6"/>
          <p:cNvSpPr/>
          <p:nvPr/>
        </p:nvSpPr>
        <p:spPr>
          <a:xfrm>
            <a:off x="1333500" y="1457325"/>
            <a:ext cx="17183100" cy="7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O que já existe e o que falta</a:t>
            </a:r>
            <a:endParaRPr b="0" i="0" sz="4950" u="none" cap="none" strike="noStrike">
              <a:solidFill>
                <a:schemeClr val="dk1"/>
              </a:solidFill>
              <a:latin typeface="Calibri"/>
              <a:ea typeface="Calibri"/>
              <a:cs typeface="Calibri"/>
              <a:sym typeface="Calibri"/>
            </a:endParaRPr>
          </a:p>
        </p:txBody>
      </p:sp>
      <p:sp>
        <p:nvSpPr>
          <p:cNvPr id="116" name="Google Shape;116;p6"/>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0</a:t>
            </a:r>
            <a:r>
              <a:rPr lang="en-US" sz="2400">
                <a:solidFill>
                  <a:srgbClr val="6B7280"/>
                </a:solidFill>
              </a:rPr>
              <a:t>5</a:t>
            </a:r>
            <a:endParaRPr b="0" i="0" sz="2400" u="none" cap="none" strike="noStrike">
              <a:solidFill>
                <a:schemeClr val="dk1"/>
              </a:solidFill>
              <a:latin typeface="Calibri"/>
              <a:ea typeface="Calibri"/>
              <a:cs typeface="Calibri"/>
              <a:sym typeface="Calibri"/>
            </a:endParaRPr>
          </a:p>
        </p:txBody>
      </p:sp>
      <p:sp>
        <p:nvSpPr>
          <p:cNvPr id="118" name="Google Shape;118;p6"/>
          <p:cNvSpPr/>
          <p:nvPr/>
        </p:nvSpPr>
        <p:spPr>
          <a:xfrm>
            <a:off x="1333500" y="2490788"/>
            <a:ext cx="15621000" cy="1238250"/>
          </a:xfrm>
          <a:prstGeom prst="rect">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19" name="Google Shape;119;p6"/>
          <p:cNvSpPr/>
          <p:nvPr/>
        </p:nvSpPr>
        <p:spPr>
          <a:xfrm>
            <a:off x="1562100" y="2681288"/>
            <a:ext cx="3894481" cy="8953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Trabalho</a:t>
            </a:r>
            <a:endParaRPr b="0" i="0" sz="3400" u="none" cap="none" strike="noStrike">
              <a:solidFill>
                <a:schemeClr val="dk1"/>
              </a:solidFill>
              <a:latin typeface="Calibri"/>
              <a:ea typeface="Calibri"/>
              <a:cs typeface="Calibri"/>
              <a:sym typeface="Calibri"/>
            </a:endParaRPr>
          </a:p>
        </p:txBody>
      </p:sp>
      <p:sp>
        <p:nvSpPr>
          <p:cNvPr id="120" name="Google Shape;120;p6"/>
          <p:cNvSpPr/>
          <p:nvPr/>
        </p:nvSpPr>
        <p:spPr>
          <a:xfrm>
            <a:off x="5787033" y="2681288"/>
            <a:ext cx="5897713" cy="8953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Tarefa</a:t>
            </a:r>
            <a:endParaRPr b="0" i="0" sz="3400" u="none" cap="none" strike="noStrike">
              <a:solidFill>
                <a:schemeClr val="dk1"/>
              </a:solidFill>
              <a:latin typeface="Calibri"/>
              <a:ea typeface="Calibri"/>
              <a:cs typeface="Calibri"/>
              <a:sym typeface="Calibri"/>
            </a:endParaRPr>
          </a:p>
        </p:txBody>
      </p:sp>
      <p:sp>
        <p:nvSpPr>
          <p:cNvPr id="121" name="Google Shape;121;p6"/>
          <p:cNvSpPr/>
          <p:nvPr/>
        </p:nvSpPr>
        <p:spPr>
          <a:xfrm>
            <a:off x="11756888" y="2719550"/>
            <a:ext cx="1945200" cy="8952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Modelos</a:t>
            </a:r>
            <a:endParaRPr b="0" i="0" sz="3400" u="none" cap="none" strike="noStrike">
              <a:solidFill>
                <a:schemeClr val="dk1"/>
              </a:solidFill>
              <a:latin typeface="Calibri"/>
              <a:ea typeface="Calibri"/>
              <a:cs typeface="Calibri"/>
              <a:sym typeface="Calibri"/>
            </a:endParaRPr>
          </a:p>
        </p:txBody>
      </p:sp>
      <p:sp>
        <p:nvSpPr>
          <p:cNvPr id="122" name="Google Shape;122;p6"/>
          <p:cNvSpPr/>
          <p:nvPr/>
        </p:nvSpPr>
        <p:spPr>
          <a:xfrm>
            <a:off x="13910977" y="2681288"/>
            <a:ext cx="2863279" cy="8953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Local vs. nuvem</a:t>
            </a:r>
            <a:endParaRPr b="0" i="0" sz="3400" u="none" cap="none" strike="noStrike">
              <a:solidFill>
                <a:schemeClr val="dk1"/>
              </a:solidFill>
              <a:latin typeface="Calibri"/>
              <a:ea typeface="Calibri"/>
              <a:cs typeface="Calibri"/>
              <a:sym typeface="Calibri"/>
            </a:endParaRPr>
          </a:p>
        </p:txBody>
      </p:sp>
      <p:sp>
        <p:nvSpPr>
          <p:cNvPr id="123" name="Google Shape;123;p6"/>
          <p:cNvSpPr/>
          <p:nvPr/>
        </p:nvSpPr>
        <p:spPr>
          <a:xfrm>
            <a:off x="1333500" y="4452938"/>
            <a:ext cx="156210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4" name="Google Shape;124;p6"/>
          <p:cNvSpPr/>
          <p:nvPr/>
        </p:nvSpPr>
        <p:spPr>
          <a:xfrm>
            <a:off x="1562100" y="3881438"/>
            <a:ext cx="3894481" cy="4762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Rahman et al. 2024</a:t>
            </a:r>
            <a:endParaRPr b="0" i="0" sz="3400" u="none" cap="none" strike="noStrike">
              <a:solidFill>
                <a:schemeClr val="dk1"/>
              </a:solidFill>
              <a:latin typeface="Calibri"/>
              <a:ea typeface="Calibri"/>
              <a:cs typeface="Calibri"/>
              <a:sym typeface="Calibri"/>
            </a:endParaRPr>
          </a:p>
        </p:txBody>
      </p:sp>
      <p:sp>
        <p:nvSpPr>
          <p:cNvPr id="125" name="Google Shape;125;p6"/>
          <p:cNvSpPr/>
          <p:nvPr/>
        </p:nvSpPr>
        <p:spPr>
          <a:xfrm>
            <a:off x="5787033" y="3881438"/>
            <a:ext cx="5897713" cy="4762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CTI → técnicas ATT&amp;CK</a:t>
            </a:r>
            <a:endParaRPr b="0" i="0" sz="3400" u="none" cap="none" strike="noStrike">
              <a:solidFill>
                <a:schemeClr val="dk1"/>
              </a:solidFill>
              <a:latin typeface="Calibri"/>
              <a:ea typeface="Calibri"/>
              <a:cs typeface="Calibri"/>
              <a:sym typeface="Calibri"/>
            </a:endParaRPr>
          </a:p>
        </p:txBody>
      </p:sp>
      <p:sp>
        <p:nvSpPr>
          <p:cNvPr id="126" name="Google Shape;126;p6"/>
          <p:cNvSpPr/>
          <p:nvPr/>
        </p:nvSpPr>
        <p:spPr>
          <a:xfrm>
            <a:off x="11987127" y="3862376"/>
            <a:ext cx="1621500" cy="4764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1</a:t>
            </a:r>
            <a:endParaRPr b="0" i="0" sz="3400" u="none" cap="none" strike="noStrike">
              <a:solidFill>
                <a:schemeClr val="dk1"/>
              </a:solidFill>
              <a:latin typeface="Calibri"/>
              <a:ea typeface="Calibri"/>
              <a:cs typeface="Calibri"/>
              <a:sym typeface="Calibri"/>
            </a:endParaRPr>
          </a:p>
        </p:txBody>
      </p:sp>
      <p:sp>
        <p:nvSpPr>
          <p:cNvPr id="127" name="Google Shape;127;p6"/>
          <p:cNvSpPr/>
          <p:nvPr/>
        </p:nvSpPr>
        <p:spPr>
          <a:xfrm>
            <a:off x="13910977" y="3881438"/>
            <a:ext cx="2863279" cy="4762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Encoder local</a:t>
            </a:r>
            <a:endParaRPr b="0" i="0" sz="3400" u="none" cap="none" strike="noStrike">
              <a:solidFill>
                <a:schemeClr val="dk1"/>
              </a:solidFill>
              <a:latin typeface="Calibri"/>
              <a:ea typeface="Calibri"/>
              <a:cs typeface="Calibri"/>
              <a:sym typeface="Calibri"/>
            </a:endParaRPr>
          </a:p>
        </p:txBody>
      </p:sp>
      <p:sp>
        <p:nvSpPr>
          <p:cNvPr id="128" name="Google Shape;128;p6"/>
          <p:cNvSpPr/>
          <p:nvPr/>
        </p:nvSpPr>
        <p:spPr>
          <a:xfrm>
            <a:off x="1333500" y="4471988"/>
            <a:ext cx="15621000" cy="752475"/>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9" name="Google Shape;129;p6"/>
          <p:cNvSpPr/>
          <p:nvPr/>
        </p:nvSpPr>
        <p:spPr>
          <a:xfrm>
            <a:off x="1333500" y="5205413"/>
            <a:ext cx="156210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0" name="Google Shape;130;p6"/>
          <p:cNvSpPr/>
          <p:nvPr/>
        </p:nvSpPr>
        <p:spPr>
          <a:xfrm>
            <a:off x="1562100" y="4624388"/>
            <a:ext cx="3894481" cy="4857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Yang et al. 2026</a:t>
            </a:r>
            <a:endParaRPr b="0" i="0" sz="3400" u="none" cap="none" strike="noStrike">
              <a:solidFill>
                <a:schemeClr val="dk1"/>
              </a:solidFill>
              <a:latin typeface="Calibri"/>
              <a:ea typeface="Calibri"/>
              <a:cs typeface="Calibri"/>
              <a:sym typeface="Calibri"/>
            </a:endParaRPr>
          </a:p>
        </p:txBody>
      </p:sp>
      <p:sp>
        <p:nvSpPr>
          <p:cNvPr id="131" name="Google Shape;131;p6"/>
          <p:cNvSpPr/>
          <p:nvPr/>
        </p:nvSpPr>
        <p:spPr>
          <a:xfrm>
            <a:off x="5787033" y="4624388"/>
            <a:ext cx="5897713" cy="4857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CTI → grafo de conhecimento</a:t>
            </a:r>
            <a:endParaRPr b="0" i="0" sz="3400" u="none" cap="none" strike="noStrike">
              <a:solidFill>
                <a:schemeClr val="dk1"/>
              </a:solidFill>
              <a:latin typeface="Calibri"/>
              <a:ea typeface="Calibri"/>
              <a:cs typeface="Calibri"/>
              <a:sym typeface="Calibri"/>
            </a:endParaRPr>
          </a:p>
        </p:txBody>
      </p:sp>
      <p:sp>
        <p:nvSpPr>
          <p:cNvPr id="132" name="Google Shape;132;p6"/>
          <p:cNvSpPr/>
          <p:nvPr/>
        </p:nvSpPr>
        <p:spPr>
          <a:xfrm>
            <a:off x="11987127" y="4605326"/>
            <a:ext cx="1621500" cy="4857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1</a:t>
            </a:r>
            <a:endParaRPr b="0" i="0" sz="3400" u="none" cap="none" strike="noStrike">
              <a:solidFill>
                <a:schemeClr val="dk1"/>
              </a:solidFill>
              <a:latin typeface="Calibri"/>
              <a:ea typeface="Calibri"/>
              <a:cs typeface="Calibri"/>
              <a:sym typeface="Calibri"/>
            </a:endParaRPr>
          </a:p>
        </p:txBody>
      </p:sp>
      <p:sp>
        <p:nvSpPr>
          <p:cNvPr id="133" name="Google Shape;133;p6"/>
          <p:cNvSpPr/>
          <p:nvPr/>
        </p:nvSpPr>
        <p:spPr>
          <a:xfrm>
            <a:off x="13910977" y="4624388"/>
            <a:ext cx="2863279" cy="48577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Só nuvem</a:t>
            </a:r>
            <a:endParaRPr b="0" i="0" sz="3400" u="none" cap="none" strike="noStrike">
              <a:solidFill>
                <a:schemeClr val="dk1"/>
              </a:solidFill>
              <a:latin typeface="Calibri"/>
              <a:ea typeface="Calibri"/>
              <a:cs typeface="Calibri"/>
              <a:sym typeface="Calibri"/>
            </a:endParaRPr>
          </a:p>
        </p:txBody>
      </p:sp>
      <p:sp>
        <p:nvSpPr>
          <p:cNvPr id="134" name="Google Shape;134;p6"/>
          <p:cNvSpPr/>
          <p:nvPr/>
        </p:nvSpPr>
        <p:spPr>
          <a:xfrm>
            <a:off x="1333500" y="5957888"/>
            <a:ext cx="156210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5" name="Google Shape;135;p6"/>
          <p:cNvSpPr/>
          <p:nvPr/>
        </p:nvSpPr>
        <p:spPr>
          <a:xfrm>
            <a:off x="1562100" y="5376863"/>
            <a:ext cx="3894481" cy="4857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Wiest et al. 2023</a:t>
            </a:r>
            <a:endParaRPr b="0" i="0" sz="3400" u="none" cap="none" strike="noStrike">
              <a:solidFill>
                <a:schemeClr val="dk1"/>
              </a:solidFill>
              <a:latin typeface="Calibri"/>
              <a:ea typeface="Calibri"/>
              <a:cs typeface="Calibri"/>
              <a:sym typeface="Calibri"/>
            </a:endParaRPr>
          </a:p>
        </p:txBody>
      </p:sp>
      <p:sp>
        <p:nvSpPr>
          <p:cNvPr id="136" name="Google Shape;136;p6"/>
          <p:cNvSpPr/>
          <p:nvPr/>
        </p:nvSpPr>
        <p:spPr>
          <a:xfrm>
            <a:off x="5787033" y="5376863"/>
            <a:ext cx="5897713" cy="4857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Texto médico → tabelas</a:t>
            </a:r>
            <a:endParaRPr b="0" i="0" sz="3400" u="none" cap="none" strike="noStrike">
              <a:solidFill>
                <a:schemeClr val="dk1"/>
              </a:solidFill>
              <a:latin typeface="Calibri"/>
              <a:ea typeface="Calibri"/>
              <a:cs typeface="Calibri"/>
              <a:sym typeface="Calibri"/>
            </a:endParaRPr>
          </a:p>
        </p:txBody>
      </p:sp>
      <p:sp>
        <p:nvSpPr>
          <p:cNvPr id="137" name="Google Shape;137;p6"/>
          <p:cNvSpPr/>
          <p:nvPr/>
        </p:nvSpPr>
        <p:spPr>
          <a:xfrm>
            <a:off x="12006319" y="5357801"/>
            <a:ext cx="1621500" cy="4857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1</a:t>
            </a:r>
            <a:endParaRPr b="0" i="0" sz="3400" u="none" cap="none" strike="noStrike">
              <a:solidFill>
                <a:schemeClr val="dk1"/>
              </a:solidFill>
              <a:latin typeface="Calibri"/>
              <a:ea typeface="Calibri"/>
              <a:cs typeface="Calibri"/>
              <a:sym typeface="Calibri"/>
            </a:endParaRPr>
          </a:p>
        </p:txBody>
      </p:sp>
      <p:sp>
        <p:nvSpPr>
          <p:cNvPr id="138" name="Google Shape;138;p6"/>
          <p:cNvSpPr/>
          <p:nvPr/>
        </p:nvSpPr>
        <p:spPr>
          <a:xfrm>
            <a:off x="13910977" y="5376863"/>
            <a:ext cx="2863279" cy="48577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Só local</a:t>
            </a:r>
            <a:endParaRPr b="0" i="0" sz="3400" u="none" cap="none" strike="noStrike">
              <a:solidFill>
                <a:schemeClr val="dk1"/>
              </a:solidFill>
              <a:latin typeface="Calibri"/>
              <a:ea typeface="Calibri"/>
              <a:cs typeface="Calibri"/>
              <a:sym typeface="Calibri"/>
            </a:endParaRPr>
          </a:p>
        </p:txBody>
      </p:sp>
      <p:sp>
        <p:nvSpPr>
          <p:cNvPr id="139" name="Google Shape;139;p6"/>
          <p:cNvSpPr/>
          <p:nvPr/>
        </p:nvSpPr>
        <p:spPr>
          <a:xfrm>
            <a:off x="1333500" y="5976938"/>
            <a:ext cx="15621000" cy="752475"/>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40" name="Google Shape;140;p6"/>
          <p:cNvSpPr/>
          <p:nvPr/>
        </p:nvSpPr>
        <p:spPr>
          <a:xfrm>
            <a:off x="1333500" y="6710363"/>
            <a:ext cx="156210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41" name="Google Shape;141;p6"/>
          <p:cNvSpPr/>
          <p:nvPr/>
        </p:nvSpPr>
        <p:spPr>
          <a:xfrm>
            <a:off x="1562100" y="6129338"/>
            <a:ext cx="3894481" cy="4857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Keltek et al. 2024</a:t>
            </a:r>
            <a:endParaRPr b="0" i="0" sz="3400" u="none" cap="none" strike="noStrike">
              <a:solidFill>
                <a:schemeClr val="dk1"/>
              </a:solidFill>
              <a:latin typeface="Calibri"/>
              <a:ea typeface="Calibri"/>
              <a:cs typeface="Calibri"/>
              <a:sym typeface="Calibri"/>
            </a:endParaRPr>
          </a:p>
        </p:txBody>
      </p:sp>
      <p:sp>
        <p:nvSpPr>
          <p:cNvPr id="142" name="Google Shape;142;p6"/>
          <p:cNvSpPr/>
          <p:nvPr/>
        </p:nvSpPr>
        <p:spPr>
          <a:xfrm>
            <a:off x="5787025" y="6129350"/>
            <a:ext cx="6272400" cy="4857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Código-fonte → análise estática</a:t>
            </a:r>
            <a:endParaRPr b="0" i="0" sz="3400" u="none" cap="none" strike="noStrike">
              <a:solidFill>
                <a:schemeClr val="dk1"/>
              </a:solidFill>
              <a:latin typeface="Calibri"/>
              <a:ea typeface="Calibri"/>
              <a:cs typeface="Calibri"/>
              <a:sym typeface="Calibri"/>
            </a:endParaRPr>
          </a:p>
        </p:txBody>
      </p:sp>
      <p:sp>
        <p:nvSpPr>
          <p:cNvPr id="143" name="Google Shape;143;p6"/>
          <p:cNvSpPr/>
          <p:nvPr/>
        </p:nvSpPr>
        <p:spPr>
          <a:xfrm>
            <a:off x="12025511" y="6110275"/>
            <a:ext cx="1621500" cy="4857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1</a:t>
            </a:r>
            <a:endParaRPr b="0" i="0" sz="3400" u="none" cap="none" strike="noStrike">
              <a:solidFill>
                <a:schemeClr val="dk1"/>
              </a:solidFill>
              <a:latin typeface="Calibri"/>
              <a:ea typeface="Calibri"/>
              <a:cs typeface="Calibri"/>
              <a:sym typeface="Calibri"/>
            </a:endParaRPr>
          </a:p>
        </p:txBody>
      </p:sp>
      <p:sp>
        <p:nvSpPr>
          <p:cNvPr id="144" name="Google Shape;144;p6"/>
          <p:cNvSpPr/>
          <p:nvPr/>
        </p:nvSpPr>
        <p:spPr>
          <a:xfrm>
            <a:off x="13910977" y="6129338"/>
            <a:ext cx="2863279" cy="48577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Só local</a:t>
            </a:r>
            <a:endParaRPr b="0" i="0" sz="3400" u="none" cap="none" strike="noStrike">
              <a:solidFill>
                <a:schemeClr val="dk1"/>
              </a:solidFill>
              <a:latin typeface="Calibri"/>
              <a:ea typeface="Calibri"/>
              <a:cs typeface="Calibri"/>
              <a:sym typeface="Calibri"/>
            </a:endParaRPr>
          </a:p>
        </p:txBody>
      </p:sp>
      <p:sp>
        <p:nvSpPr>
          <p:cNvPr id="145" name="Google Shape;145;p6"/>
          <p:cNvSpPr/>
          <p:nvPr/>
        </p:nvSpPr>
        <p:spPr>
          <a:xfrm>
            <a:off x="1333500" y="7891463"/>
            <a:ext cx="15621000" cy="1905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46" name="Google Shape;146;p6"/>
          <p:cNvSpPr/>
          <p:nvPr/>
        </p:nvSpPr>
        <p:spPr>
          <a:xfrm>
            <a:off x="1562100" y="6881813"/>
            <a:ext cx="3894481" cy="9144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Machado et al. 2025–26</a:t>
            </a:r>
            <a:endParaRPr b="0" i="0" sz="3400" u="none" cap="none" strike="noStrike">
              <a:solidFill>
                <a:schemeClr val="dk1"/>
              </a:solidFill>
              <a:latin typeface="Calibri"/>
              <a:ea typeface="Calibri"/>
              <a:cs typeface="Calibri"/>
              <a:sym typeface="Calibri"/>
            </a:endParaRPr>
          </a:p>
        </p:txBody>
      </p:sp>
      <p:sp>
        <p:nvSpPr>
          <p:cNvPr id="147" name="Google Shape;147;p6"/>
          <p:cNvSpPr/>
          <p:nvPr/>
        </p:nvSpPr>
        <p:spPr>
          <a:xfrm>
            <a:off x="5787025" y="6881825"/>
            <a:ext cx="6131700" cy="9144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Relatórios de scanner → registros</a:t>
            </a:r>
            <a:endParaRPr b="0" i="0" sz="3400" u="none" cap="none" strike="noStrike">
              <a:solidFill>
                <a:schemeClr val="dk1"/>
              </a:solidFill>
              <a:latin typeface="Calibri"/>
              <a:ea typeface="Calibri"/>
              <a:cs typeface="Calibri"/>
              <a:sym typeface="Calibri"/>
            </a:endParaRPr>
          </a:p>
        </p:txBody>
      </p:sp>
      <p:sp>
        <p:nvSpPr>
          <p:cNvPr id="148" name="Google Shape;148;p6"/>
          <p:cNvSpPr/>
          <p:nvPr/>
        </p:nvSpPr>
        <p:spPr>
          <a:xfrm>
            <a:off x="12025511" y="6862751"/>
            <a:ext cx="1621500" cy="9144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5</a:t>
            </a:r>
            <a:endParaRPr b="0" i="0" sz="3400" u="none" cap="none" strike="noStrike">
              <a:solidFill>
                <a:schemeClr val="dk1"/>
              </a:solidFill>
              <a:latin typeface="Calibri"/>
              <a:ea typeface="Calibri"/>
              <a:cs typeface="Calibri"/>
              <a:sym typeface="Calibri"/>
            </a:endParaRPr>
          </a:p>
        </p:txBody>
      </p:sp>
      <p:sp>
        <p:nvSpPr>
          <p:cNvPr id="149" name="Google Shape;149;p6"/>
          <p:cNvSpPr/>
          <p:nvPr/>
        </p:nvSpPr>
        <p:spPr>
          <a:xfrm>
            <a:off x="13910977" y="6881813"/>
            <a:ext cx="2863279" cy="9144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6B7280"/>
              </a:buClr>
              <a:buSzPts val="3000"/>
              <a:buFont typeface="Arial"/>
              <a:buNone/>
            </a:pPr>
            <a:r>
              <a:rPr b="0" i="0" lang="en-US" sz="3400" u="none" cap="none" strike="noStrike">
                <a:solidFill>
                  <a:srgbClr val="6B7280"/>
                </a:solidFill>
                <a:latin typeface="Arial"/>
                <a:ea typeface="Arial"/>
                <a:cs typeface="Arial"/>
                <a:sym typeface="Arial"/>
              </a:rPr>
              <a:t>Só nuvem</a:t>
            </a:r>
            <a:endParaRPr b="0" i="0" sz="3400" u="none" cap="none" strike="noStrike">
              <a:solidFill>
                <a:schemeClr val="dk1"/>
              </a:solidFill>
              <a:latin typeface="Calibri"/>
              <a:ea typeface="Calibri"/>
              <a:cs typeface="Calibri"/>
              <a:sym typeface="Calibri"/>
            </a:endParaRPr>
          </a:p>
        </p:txBody>
      </p:sp>
      <p:sp>
        <p:nvSpPr>
          <p:cNvPr id="150" name="Google Shape;150;p6"/>
          <p:cNvSpPr/>
          <p:nvPr/>
        </p:nvSpPr>
        <p:spPr>
          <a:xfrm>
            <a:off x="1333500" y="7910512"/>
            <a:ext cx="15621000" cy="1247775"/>
          </a:xfrm>
          <a:prstGeom prst="rect">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51" name="Google Shape;151;p6"/>
          <p:cNvSpPr/>
          <p:nvPr/>
        </p:nvSpPr>
        <p:spPr>
          <a:xfrm>
            <a:off x="1562100" y="8101013"/>
            <a:ext cx="3894481" cy="9048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Este trabalho</a:t>
            </a:r>
            <a:endParaRPr b="0" i="0" sz="3400" u="none" cap="none" strike="noStrike">
              <a:solidFill>
                <a:schemeClr val="dk1"/>
              </a:solidFill>
              <a:latin typeface="Calibri"/>
              <a:ea typeface="Calibri"/>
              <a:cs typeface="Calibri"/>
              <a:sym typeface="Calibri"/>
            </a:endParaRPr>
          </a:p>
        </p:txBody>
      </p:sp>
      <p:sp>
        <p:nvSpPr>
          <p:cNvPr id="152" name="Google Shape;152;p6"/>
          <p:cNvSpPr/>
          <p:nvPr/>
        </p:nvSpPr>
        <p:spPr>
          <a:xfrm>
            <a:off x="5787033" y="8101013"/>
            <a:ext cx="5897713" cy="90487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Relatórios de scanner → registros</a:t>
            </a:r>
            <a:endParaRPr b="0" i="0" sz="3400" u="none" cap="none" strike="noStrike">
              <a:solidFill>
                <a:schemeClr val="dk1"/>
              </a:solidFill>
              <a:latin typeface="Calibri"/>
              <a:ea typeface="Calibri"/>
              <a:cs typeface="Calibri"/>
              <a:sym typeface="Calibri"/>
            </a:endParaRPr>
          </a:p>
        </p:txBody>
      </p:sp>
      <p:sp>
        <p:nvSpPr>
          <p:cNvPr id="153" name="Google Shape;153;p6"/>
          <p:cNvSpPr/>
          <p:nvPr/>
        </p:nvSpPr>
        <p:spPr>
          <a:xfrm>
            <a:off x="12025499" y="8024838"/>
            <a:ext cx="1621500" cy="9048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10</a:t>
            </a:r>
            <a:endParaRPr b="0" i="0" sz="3400" u="none" cap="none" strike="noStrike">
              <a:solidFill>
                <a:schemeClr val="dk1"/>
              </a:solidFill>
              <a:latin typeface="Calibri"/>
              <a:ea typeface="Calibri"/>
              <a:cs typeface="Calibri"/>
              <a:sym typeface="Calibri"/>
            </a:endParaRPr>
          </a:p>
        </p:txBody>
      </p:sp>
      <p:sp>
        <p:nvSpPr>
          <p:cNvPr id="154" name="Google Shape;154;p6"/>
          <p:cNvSpPr/>
          <p:nvPr/>
        </p:nvSpPr>
        <p:spPr>
          <a:xfrm>
            <a:off x="13910977" y="8101013"/>
            <a:ext cx="2863279" cy="90487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000"/>
              <a:buFont typeface="Arial"/>
              <a:buNone/>
            </a:pPr>
            <a:r>
              <a:rPr b="1" i="0" lang="en-US" sz="3400" u="none" cap="none" strike="noStrike">
                <a:solidFill>
                  <a:srgbClr val="FFFFFF"/>
                </a:solidFill>
                <a:latin typeface="Arial"/>
                <a:ea typeface="Arial"/>
                <a:cs typeface="Arial"/>
                <a:sym typeface="Arial"/>
              </a:rPr>
              <a:t>Sim</a:t>
            </a:r>
            <a:endParaRPr b="0" i="0" sz="3400" u="none" cap="none" strike="noStrike">
              <a:solidFill>
                <a:schemeClr val="dk1"/>
              </a:solidFill>
              <a:latin typeface="Calibri"/>
              <a:ea typeface="Calibri"/>
              <a:cs typeface="Calibri"/>
              <a:sym typeface="Calibri"/>
            </a:endParaRPr>
          </a:p>
        </p:txBody>
      </p:sp>
      <p:sp>
        <p:nvSpPr>
          <p:cNvPr id="155" name="Google Shape;155;p6"/>
          <p:cNvSpPr/>
          <p:nvPr/>
        </p:nvSpPr>
        <p:spPr>
          <a:xfrm>
            <a:off x="1333500" y="95250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156" name="Google Shape;156;p6"/>
          <p:cNvPicPr preferRelativeResize="0"/>
          <p:nvPr/>
        </p:nvPicPr>
        <p:blipFill rotWithShape="1">
          <a:blip r:embed="rId3">
            <a:alphaModFix/>
          </a:blip>
          <a:srcRect b="0" l="0" r="0" t="0"/>
          <a:stretch/>
        </p:blipFill>
        <p:spPr>
          <a:xfrm>
            <a:off x="13863935" y="9496425"/>
            <a:ext cx="1558826" cy="381000"/>
          </a:xfrm>
          <a:prstGeom prst="rect">
            <a:avLst/>
          </a:prstGeom>
          <a:noFill/>
          <a:ln>
            <a:noFill/>
          </a:ln>
        </p:spPr>
      </p:pic>
      <p:pic>
        <p:nvPicPr>
          <p:cNvPr descr="preencoded.png" id="157" name="Google Shape;157;p6"/>
          <p:cNvPicPr preferRelativeResize="0"/>
          <p:nvPr/>
        </p:nvPicPr>
        <p:blipFill rotWithShape="1">
          <a:blip r:embed="rId4">
            <a:alphaModFix/>
          </a:blip>
          <a:srcRect b="0" l="0" r="0" t="0"/>
          <a:stretch/>
        </p:blipFill>
        <p:spPr>
          <a:xfrm>
            <a:off x="15651361" y="9477375"/>
            <a:ext cx="636389" cy="419100"/>
          </a:xfrm>
          <a:prstGeom prst="rect">
            <a:avLst/>
          </a:prstGeom>
          <a:noFill/>
          <a:ln>
            <a:noFill/>
          </a:ln>
        </p:spPr>
      </p:pic>
      <p:pic>
        <p:nvPicPr>
          <p:cNvPr descr="preencoded.png" id="158" name="Google Shape;158;p6"/>
          <p:cNvPicPr preferRelativeResize="0"/>
          <p:nvPr/>
        </p:nvPicPr>
        <p:blipFill rotWithShape="1">
          <a:blip r:embed="rId5">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7"/>
          <p:cNvSpPr/>
          <p:nvPr/>
        </p:nvSpPr>
        <p:spPr>
          <a:xfrm>
            <a:off x="171488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172822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0</a:t>
            </a:r>
            <a:r>
              <a:rPr lang="en-US" sz="2400">
                <a:solidFill>
                  <a:srgbClr val="6B7280"/>
                </a:solidFill>
              </a:rPr>
              <a:t>6</a:t>
            </a:r>
            <a:endParaRPr b="0" i="0" sz="2400" u="none" cap="none" strike="noStrike">
              <a:solidFill>
                <a:schemeClr val="dk1"/>
              </a:solidFill>
              <a:latin typeface="Calibri"/>
              <a:ea typeface="Calibri"/>
              <a:cs typeface="Calibri"/>
              <a:sym typeface="Calibri"/>
            </a:endParaRPr>
          </a:p>
        </p:txBody>
      </p:sp>
      <p:sp>
        <p:nvSpPr>
          <p:cNvPr id="166" name="Google Shape;166;p7"/>
          <p:cNvSpPr/>
          <p:nvPr/>
        </p:nvSpPr>
        <p:spPr>
          <a:xfrm>
            <a:off x="1390650" y="714375"/>
            <a:ext cx="15506700" cy="1238250"/>
          </a:xfrm>
          <a:prstGeom prst="roundRect">
            <a:avLst>
              <a:gd fmla="val 12308" name="adj"/>
            </a:avLst>
          </a:prstGeom>
          <a:solidFill>
            <a:srgbClr val="127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67" name="Google Shape;167;p7"/>
          <p:cNvSpPr/>
          <p:nvPr/>
        </p:nvSpPr>
        <p:spPr>
          <a:xfrm>
            <a:off x="1714500" y="904733"/>
            <a:ext cx="14630100" cy="7812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FFFFF"/>
              </a:buClr>
              <a:buSzPts val="2850"/>
              <a:buFont typeface="Arial"/>
              <a:buNone/>
            </a:pPr>
            <a:r>
              <a:rPr b="0" i="0" lang="en-US" sz="3050" u="none" cap="none" strike="noStrike">
                <a:solidFill>
                  <a:srgbClr val="FFFFFF"/>
                </a:solidFill>
                <a:latin typeface="Arial"/>
                <a:ea typeface="Arial"/>
                <a:cs typeface="Arial"/>
                <a:sym typeface="Arial"/>
              </a:rPr>
              <a:t>Analisa código-fonte proprietário com </a:t>
            </a:r>
            <a:r>
              <a:rPr b="1" i="0" lang="en-US" sz="3050" u="none" cap="none" strike="noStrike">
                <a:solidFill>
                  <a:srgbClr val="FFFFFF"/>
                </a:solidFill>
              </a:rPr>
              <a:t>Llama-3 local</a:t>
            </a:r>
            <a:r>
              <a:rPr b="0" i="0" lang="en-US" sz="3050" u="none" cap="none" strike="noStrike">
                <a:solidFill>
                  <a:srgbClr val="FFFFFF"/>
                </a:solidFill>
                <a:latin typeface="Arial"/>
                <a:ea typeface="Arial"/>
                <a:cs typeface="Arial"/>
                <a:sym typeface="Arial"/>
              </a:rPr>
              <a:t>, por isso não pode usar nuvem. Mas</a:t>
            </a:r>
            <a:r>
              <a:rPr lang="en-US" sz="3050">
                <a:solidFill>
                  <a:srgbClr val="FFFFFF"/>
                </a:solidFill>
              </a:rPr>
              <a:t> </a:t>
            </a:r>
            <a:r>
              <a:rPr b="1" lang="en-US" sz="3050">
                <a:solidFill>
                  <a:schemeClr val="lt1"/>
                </a:solidFill>
              </a:rPr>
              <a:t>nunca compara com nuvem: </a:t>
            </a:r>
            <a:r>
              <a:rPr lang="en-US" sz="3050">
                <a:solidFill>
                  <a:schemeClr val="lt1"/>
                </a:solidFill>
              </a:rPr>
              <a:t>não mede o custo da escolha.</a:t>
            </a:r>
            <a:endParaRPr sz="3050">
              <a:solidFill>
                <a:schemeClr val="dk1"/>
              </a:solidFill>
              <a:latin typeface="Calibri"/>
              <a:ea typeface="Calibri"/>
              <a:cs typeface="Calibri"/>
              <a:sym typeface="Calibri"/>
            </a:endParaRPr>
          </a:p>
          <a:p>
            <a:pPr indent="0" lvl="0" marL="0" rtl="0" algn="l">
              <a:spcBef>
                <a:spcPts val="0"/>
              </a:spcBef>
              <a:spcAft>
                <a:spcPts val="0"/>
              </a:spcAft>
              <a:buClr>
                <a:schemeClr val="lt1"/>
              </a:buClr>
              <a:buSzPts val="2850"/>
              <a:buFont typeface="Arial"/>
              <a:buNone/>
            </a:pPr>
            <a:r>
              <a:t/>
            </a:r>
            <a:endParaRPr b="1" sz="3050">
              <a:solidFill>
                <a:schemeClr val="lt1"/>
              </a:solidFill>
            </a:endParaRPr>
          </a:p>
          <a:p>
            <a:pPr indent="0" lvl="0" marL="0" marR="0" rtl="0" algn="l">
              <a:spcBef>
                <a:spcPts val="0"/>
              </a:spcBef>
              <a:spcAft>
                <a:spcPts val="0"/>
              </a:spcAft>
              <a:buClr>
                <a:srgbClr val="FFFFFF"/>
              </a:buClr>
              <a:buSzPts val="2850"/>
              <a:buFont typeface="Arial"/>
              <a:buNone/>
            </a:pPr>
            <a:r>
              <a:t/>
            </a:r>
            <a:endParaRPr sz="3050">
              <a:solidFill>
                <a:srgbClr val="FFFFFF"/>
              </a:solidFill>
            </a:endParaRPr>
          </a:p>
        </p:txBody>
      </p:sp>
      <p:sp>
        <p:nvSpPr>
          <p:cNvPr id="168" name="Google Shape;168;p7"/>
          <p:cNvSpPr/>
          <p:nvPr/>
        </p:nvSpPr>
        <p:spPr>
          <a:xfrm rot="2700000">
            <a:off x="8972550" y="1781175"/>
            <a:ext cx="342900" cy="342900"/>
          </a:xfrm>
          <a:prstGeom prst="roundRect">
            <a:avLst>
              <a:gd fmla="val 11111" name="adj"/>
            </a:avLst>
          </a:prstGeom>
          <a:solidFill>
            <a:srgbClr val="127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69" name="Google Shape;169;p7"/>
          <p:cNvSpPr/>
          <p:nvPr/>
        </p:nvSpPr>
        <p:spPr>
          <a:xfrm>
            <a:off x="1333500" y="2105025"/>
            <a:ext cx="15621000" cy="1104900"/>
          </a:xfrm>
          <a:prstGeom prst="rect">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70" name="Google Shape;170;p7"/>
          <p:cNvSpPr/>
          <p:nvPr/>
        </p:nvSpPr>
        <p:spPr>
          <a:xfrm>
            <a:off x="1581150" y="2200275"/>
            <a:ext cx="3820050" cy="9525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Trabalho</a:t>
            </a:r>
            <a:endParaRPr b="0" i="0" sz="3350" u="none" cap="none" strike="noStrike">
              <a:solidFill>
                <a:schemeClr val="dk1"/>
              </a:solidFill>
              <a:latin typeface="Calibri"/>
              <a:ea typeface="Calibri"/>
              <a:cs typeface="Calibri"/>
              <a:sym typeface="Calibri"/>
            </a:endParaRPr>
          </a:p>
        </p:txBody>
      </p:sp>
      <p:sp>
        <p:nvSpPr>
          <p:cNvPr id="171" name="Google Shape;171;p7"/>
          <p:cNvSpPr/>
          <p:nvPr/>
        </p:nvSpPr>
        <p:spPr>
          <a:xfrm>
            <a:off x="5770811" y="2200275"/>
            <a:ext cx="5771010" cy="9525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Tarefa</a:t>
            </a:r>
            <a:endParaRPr b="0" i="0" sz="3350" u="none" cap="none" strike="noStrike">
              <a:solidFill>
                <a:schemeClr val="dk1"/>
              </a:solidFill>
              <a:latin typeface="Calibri"/>
              <a:ea typeface="Calibri"/>
              <a:cs typeface="Calibri"/>
              <a:sym typeface="Calibri"/>
            </a:endParaRPr>
          </a:p>
        </p:txBody>
      </p:sp>
      <p:sp>
        <p:nvSpPr>
          <p:cNvPr id="172" name="Google Shape;172;p7"/>
          <p:cNvSpPr/>
          <p:nvPr/>
        </p:nvSpPr>
        <p:spPr>
          <a:xfrm>
            <a:off x="11740362" y="2181225"/>
            <a:ext cx="1851000" cy="9525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Modelos</a:t>
            </a:r>
            <a:endParaRPr b="0" i="0" sz="3350" u="none" cap="none" strike="noStrike">
              <a:solidFill>
                <a:schemeClr val="dk1"/>
              </a:solidFill>
              <a:latin typeface="Calibri"/>
              <a:ea typeface="Calibri"/>
              <a:cs typeface="Calibri"/>
              <a:sym typeface="Calibri"/>
            </a:endParaRPr>
          </a:p>
        </p:txBody>
      </p:sp>
      <p:sp>
        <p:nvSpPr>
          <p:cNvPr id="173" name="Google Shape;173;p7"/>
          <p:cNvSpPr/>
          <p:nvPr/>
        </p:nvSpPr>
        <p:spPr>
          <a:xfrm>
            <a:off x="13923985" y="2200275"/>
            <a:ext cx="2831311" cy="9525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Local vs. nuvem</a:t>
            </a:r>
            <a:endParaRPr b="0" i="0" sz="3350" u="none" cap="none" strike="noStrike">
              <a:solidFill>
                <a:schemeClr val="dk1"/>
              </a:solidFill>
              <a:latin typeface="Calibri"/>
              <a:ea typeface="Calibri"/>
              <a:cs typeface="Calibri"/>
              <a:sym typeface="Calibri"/>
            </a:endParaRPr>
          </a:p>
        </p:txBody>
      </p:sp>
      <p:sp>
        <p:nvSpPr>
          <p:cNvPr id="174" name="Google Shape;174;p7"/>
          <p:cNvSpPr/>
          <p:nvPr/>
        </p:nvSpPr>
        <p:spPr>
          <a:xfrm>
            <a:off x="1333500" y="3962400"/>
            <a:ext cx="15621000" cy="19050"/>
          </a:xfrm>
          <a:prstGeom prst="rect">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75" name="Google Shape;175;p7"/>
          <p:cNvSpPr/>
          <p:nvPr/>
        </p:nvSpPr>
        <p:spPr>
          <a:xfrm>
            <a:off x="1581150" y="3305175"/>
            <a:ext cx="3820050" cy="6191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Rahman et al. 2024</a:t>
            </a:r>
            <a:endParaRPr b="0" i="0" sz="3350" u="none" cap="none" strike="noStrike">
              <a:solidFill>
                <a:schemeClr val="dk1"/>
              </a:solidFill>
              <a:latin typeface="Calibri"/>
              <a:ea typeface="Calibri"/>
              <a:cs typeface="Calibri"/>
              <a:sym typeface="Calibri"/>
            </a:endParaRPr>
          </a:p>
        </p:txBody>
      </p:sp>
      <p:sp>
        <p:nvSpPr>
          <p:cNvPr id="176" name="Google Shape;176;p7"/>
          <p:cNvSpPr/>
          <p:nvPr/>
        </p:nvSpPr>
        <p:spPr>
          <a:xfrm>
            <a:off x="5751761" y="3362325"/>
            <a:ext cx="5809110" cy="5048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CTI → técnicas ATT&amp;CK</a:t>
            </a:r>
            <a:endParaRPr b="0" i="0" sz="3350" u="none" cap="none" strike="noStrike">
              <a:solidFill>
                <a:schemeClr val="dk1"/>
              </a:solidFill>
              <a:latin typeface="Calibri"/>
              <a:ea typeface="Calibri"/>
              <a:cs typeface="Calibri"/>
              <a:sym typeface="Calibri"/>
            </a:endParaRPr>
          </a:p>
        </p:txBody>
      </p:sp>
      <p:sp>
        <p:nvSpPr>
          <p:cNvPr id="177" name="Google Shape;177;p7"/>
          <p:cNvSpPr/>
          <p:nvPr/>
        </p:nvSpPr>
        <p:spPr>
          <a:xfrm>
            <a:off x="11874020" y="3362325"/>
            <a:ext cx="1736700" cy="5049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1</a:t>
            </a:r>
            <a:endParaRPr b="0" i="0" sz="3350" u="none" cap="none" strike="noStrike">
              <a:solidFill>
                <a:schemeClr val="dk1"/>
              </a:solidFill>
              <a:latin typeface="Calibri"/>
              <a:ea typeface="Calibri"/>
              <a:cs typeface="Calibri"/>
              <a:sym typeface="Calibri"/>
            </a:endParaRPr>
          </a:p>
        </p:txBody>
      </p:sp>
      <p:sp>
        <p:nvSpPr>
          <p:cNvPr id="178" name="Google Shape;178;p7"/>
          <p:cNvSpPr/>
          <p:nvPr/>
        </p:nvSpPr>
        <p:spPr>
          <a:xfrm>
            <a:off x="13904935" y="3362325"/>
            <a:ext cx="2869411" cy="50482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Encoder local</a:t>
            </a:r>
            <a:endParaRPr b="0" i="0" sz="3350" u="none" cap="none" strike="noStrike">
              <a:solidFill>
                <a:schemeClr val="dk1"/>
              </a:solidFill>
              <a:latin typeface="Calibri"/>
              <a:ea typeface="Calibri"/>
              <a:cs typeface="Calibri"/>
              <a:sym typeface="Calibri"/>
            </a:endParaRPr>
          </a:p>
        </p:txBody>
      </p:sp>
      <p:sp>
        <p:nvSpPr>
          <p:cNvPr id="179" name="Google Shape;179;p7"/>
          <p:cNvSpPr/>
          <p:nvPr/>
        </p:nvSpPr>
        <p:spPr>
          <a:xfrm>
            <a:off x="1333500" y="3981450"/>
            <a:ext cx="15621000" cy="781050"/>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80" name="Google Shape;180;p7"/>
          <p:cNvSpPr/>
          <p:nvPr/>
        </p:nvSpPr>
        <p:spPr>
          <a:xfrm>
            <a:off x="1333500" y="4743450"/>
            <a:ext cx="15621000" cy="19050"/>
          </a:xfrm>
          <a:prstGeom prst="rect">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81" name="Google Shape;181;p7"/>
          <p:cNvSpPr/>
          <p:nvPr/>
        </p:nvSpPr>
        <p:spPr>
          <a:xfrm>
            <a:off x="1581150" y="4076700"/>
            <a:ext cx="3820050" cy="6286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Yang et al. 2026</a:t>
            </a:r>
            <a:endParaRPr b="0" i="0" sz="3350" u="none" cap="none" strike="noStrike">
              <a:solidFill>
                <a:schemeClr val="dk1"/>
              </a:solidFill>
              <a:latin typeface="Calibri"/>
              <a:ea typeface="Calibri"/>
              <a:cs typeface="Calibri"/>
              <a:sym typeface="Calibri"/>
            </a:endParaRPr>
          </a:p>
        </p:txBody>
      </p:sp>
      <p:sp>
        <p:nvSpPr>
          <p:cNvPr id="182" name="Google Shape;182;p7"/>
          <p:cNvSpPr/>
          <p:nvPr/>
        </p:nvSpPr>
        <p:spPr>
          <a:xfrm>
            <a:off x="5751761" y="4133850"/>
            <a:ext cx="5809110" cy="5143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CTI → grafo de conhecimento</a:t>
            </a:r>
            <a:endParaRPr b="0" i="0" sz="3350" u="none" cap="none" strike="noStrike">
              <a:solidFill>
                <a:schemeClr val="dk1"/>
              </a:solidFill>
              <a:latin typeface="Calibri"/>
              <a:ea typeface="Calibri"/>
              <a:cs typeface="Calibri"/>
              <a:sym typeface="Calibri"/>
            </a:endParaRPr>
          </a:p>
        </p:txBody>
      </p:sp>
      <p:sp>
        <p:nvSpPr>
          <p:cNvPr id="183" name="Google Shape;183;p7"/>
          <p:cNvSpPr/>
          <p:nvPr/>
        </p:nvSpPr>
        <p:spPr>
          <a:xfrm>
            <a:off x="11874020" y="4133850"/>
            <a:ext cx="1736700" cy="5145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1</a:t>
            </a:r>
            <a:endParaRPr b="0" i="0" sz="3350" u="none" cap="none" strike="noStrike">
              <a:solidFill>
                <a:schemeClr val="dk1"/>
              </a:solidFill>
              <a:latin typeface="Calibri"/>
              <a:ea typeface="Calibri"/>
              <a:cs typeface="Calibri"/>
              <a:sym typeface="Calibri"/>
            </a:endParaRPr>
          </a:p>
        </p:txBody>
      </p:sp>
      <p:sp>
        <p:nvSpPr>
          <p:cNvPr id="184" name="Google Shape;184;p7"/>
          <p:cNvSpPr/>
          <p:nvPr/>
        </p:nvSpPr>
        <p:spPr>
          <a:xfrm>
            <a:off x="13904935" y="4133850"/>
            <a:ext cx="2869411" cy="5143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Só nuvem</a:t>
            </a:r>
            <a:endParaRPr b="0" i="0" sz="3350" u="none" cap="none" strike="noStrike">
              <a:solidFill>
                <a:schemeClr val="dk1"/>
              </a:solidFill>
              <a:latin typeface="Calibri"/>
              <a:ea typeface="Calibri"/>
              <a:cs typeface="Calibri"/>
              <a:sym typeface="Calibri"/>
            </a:endParaRPr>
          </a:p>
        </p:txBody>
      </p:sp>
      <p:sp>
        <p:nvSpPr>
          <p:cNvPr id="185" name="Google Shape;185;p7"/>
          <p:cNvSpPr/>
          <p:nvPr/>
        </p:nvSpPr>
        <p:spPr>
          <a:xfrm>
            <a:off x="1333500" y="5524500"/>
            <a:ext cx="15621000" cy="19050"/>
          </a:xfrm>
          <a:prstGeom prst="rect">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86" name="Google Shape;186;p7"/>
          <p:cNvSpPr/>
          <p:nvPr/>
        </p:nvSpPr>
        <p:spPr>
          <a:xfrm>
            <a:off x="1581150" y="4857750"/>
            <a:ext cx="3820050" cy="6286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Wiest et al. 2023</a:t>
            </a:r>
            <a:endParaRPr b="0" i="0" sz="3350" u="none" cap="none" strike="noStrike">
              <a:solidFill>
                <a:schemeClr val="dk1"/>
              </a:solidFill>
              <a:latin typeface="Calibri"/>
              <a:ea typeface="Calibri"/>
              <a:cs typeface="Calibri"/>
              <a:sym typeface="Calibri"/>
            </a:endParaRPr>
          </a:p>
        </p:txBody>
      </p:sp>
      <p:sp>
        <p:nvSpPr>
          <p:cNvPr id="187" name="Google Shape;187;p7"/>
          <p:cNvSpPr/>
          <p:nvPr/>
        </p:nvSpPr>
        <p:spPr>
          <a:xfrm>
            <a:off x="5751761" y="4914900"/>
            <a:ext cx="5809110" cy="5143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Texto médico → tabelas</a:t>
            </a:r>
            <a:endParaRPr b="0" i="0" sz="3350" u="none" cap="none" strike="noStrike">
              <a:solidFill>
                <a:schemeClr val="dk1"/>
              </a:solidFill>
              <a:latin typeface="Calibri"/>
              <a:ea typeface="Calibri"/>
              <a:cs typeface="Calibri"/>
              <a:sym typeface="Calibri"/>
            </a:endParaRPr>
          </a:p>
        </p:txBody>
      </p:sp>
      <p:sp>
        <p:nvSpPr>
          <p:cNvPr id="188" name="Google Shape;188;p7"/>
          <p:cNvSpPr/>
          <p:nvPr/>
        </p:nvSpPr>
        <p:spPr>
          <a:xfrm>
            <a:off x="11893212" y="4914900"/>
            <a:ext cx="1736700" cy="5145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1</a:t>
            </a:r>
            <a:endParaRPr b="0" i="0" sz="3350" u="none" cap="none" strike="noStrike">
              <a:solidFill>
                <a:schemeClr val="dk1"/>
              </a:solidFill>
              <a:latin typeface="Calibri"/>
              <a:ea typeface="Calibri"/>
              <a:cs typeface="Calibri"/>
              <a:sym typeface="Calibri"/>
            </a:endParaRPr>
          </a:p>
        </p:txBody>
      </p:sp>
      <p:sp>
        <p:nvSpPr>
          <p:cNvPr id="189" name="Google Shape;189;p7"/>
          <p:cNvSpPr/>
          <p:nvPr/>
        </p:nvSpPr>
        <p:spPr>
          <a:xfrm>
            <a:off x="13904935" y="4914900"/>
            <a:ext cx="2869411" cy="5143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Só local</a:t>
            </a:r>
            <a:endParaRPr b="0" i="0" sz="3350" u="none" cap="none" strike="noStrike">
              <a:solidFill>
                <a:schemeClr val="dk1"/>
              </a:solidFill>
              <a:latin typeface="Calibri"/>
              <a:ea typeface="Calibri"/>
              <a:cs typeface="Calibri"/>
              <a:sym typeface="Calibri"/>
            </a:endParaRPr>
          </a:p>
        </p:txBody>
      </p:sp>
      <p:sp>
        <p:nvSpPr>
          <p:cNvPr id="190" name="Google Shape;190;p7"/>
          <p:cNvSpPr/>
          <p:nvPr/>
        </p:nvSpPr>
        <p:spPr>
          <a:xfrm>
            <a:off x="1333500" y="5543550"/>
            <a:ext cx="15621000" cy="1228725"/>
          </a:xfrm>
          <a:prstGeom prst="rect">
            <a:avLst/>
          </a:prstGeom>
          <a:solidFill>
            <a:srgbClr val="FFF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91" name="Google Shape;191;p7"/>
          <p:cNvSpPr/>
          <p:nvPr/>
        </p:nvSpPr>
        <p:spPr>
          <a:xfrm>
            <a:off x="1581150" y="5638800"/>
            <a:ext cx="3820050" cy="10763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0F2369"/>
              </a:buClr>
              <a:buSzPts val="3150"/>
              <a:buFont typeface="Arial"/>
              <a:buNone/>
            </a:pPr>
            <a:r>
              <a:rPr b="1" i="0" lang="en-US" sz="3350" u="none" cap="none" strike="noStrike">
                <a:solidFill>
                  <a:srgbClr val="0F2369"/>
                </a:solidFill>
                <a:latin typeface="Arial"/>
                <a:ea typeface="Arial"/>
                <a:cs typeface="Arial"/>
                <a:sym typeface="Arial"/>
              </a:rPr>
              <a:t>Keltek et al. 2024</a:t>
            </a:r>
            <a:endParaRPr b="0" i="0" sz="3350" u="none" cap="none" strike="noStrike">
              <a:solidFill>
                <a:schemeClr val="dk1"/>
              </a:solidFill>
              <a:latin typeface="Calibri"/>
              <a:ea typeface="Calibri"/>
              <a:cs typeface="Calibri"/>
              <a:sym typeface="Calibri"/>
            </a:endParaRPr>
          </a:p>
        </p:txBody>
      </p:sp>
      <p:sp>
        <p:nvSpPr>
          <p:cNvPr id="192" name="Google Shape;192;p7"/>
          <p:cNvSpPr/>
          <p:nvPr/>
        </p:nvSpPr>
        <p:spPr>
          <a:xfrm>
            <a:off x="5751761" y="5695950"/>
            <a:ext cx="5809110" cy="9620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2937"/>
              </a:buClr>
              <a:buSzPts val="3150"/>
              <a:buFont typeface="Arial"/>
              <a:buNone/>
            </a:pPr>
            <a:r>
              <a:rPr b="0" i="0" lang="en-US" sz="3350" u="none" cap="none" strike="noStrike">
                <a:solidFill>
                  <a:srgbClr val="1F2937"/>
                </a:solidFill>
                <a:latin typeface="Arial"/>
                <a:ea typeface="Arial"/>
                <a:cs typeface="Arial"/>
                <a:sym typeface="Arial"/>
              </a:rPr>
              <a:t>Código-fonte → análise estática</a:t>
            </a:r>
            <a:endParaRPr b="0" i="0" sz="3350" u="none" cap="none" strike="noStrike">
              <a:solidFill>
                <a:schemeClr val="dk1"/>
              </a:solidFill>
              <a:latin typeface="Calibri"/>
              <a:ea typeface="Calibri"/>
              <a:cs typeface="Calibri"/>
              <a:sym typeface="Calibri"/>
            </a:endParaRPr>
          </a:p>
        </p:txBody>
      </p:sp>
      <p:sp>
        <p:nvSpPr>
          <p:cNvPr id="193" name="Google Shape;193;p7"/>
          <p:cNvSpPr/>
          <p:nvPr/>
        </p:nvSpPr>
        <p:spPr>
          <a:xfrm>
            <a:off x="11893212" y="5695950"/>
            <a:ext cx="1736700" cy="9621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150"/>
              <a:buFont typeface="Arial"/>
              <a:buNone/>
            </a:pPr>
            <a:r>
              <a:rPr b="0" i="0" lang="en-US" sz="3350" u="none" cap="none" strike="noStrike">
                <a:solidFill>
                  <a:srgbClr val="1F2937"/>
                </a:solidFill>
                <a:latin typeface="Arial"/>
                <a:ea typeface="Arial"/>
                <a:cs typeface="Arial"/>
                <a:sym typeface="Arial"/>
              </a:rPr>
              <a:t>1</a:t>
            </a:r>
            <a:endParaRPr b="0" i="0" sz="3350" u="none" cap="none" strike="noStrike">
              <a:solidFill>
                <a:schemeClr val="dk1"/>
              </a:solidFill>
              <a:latin typeface="Calibri"/>
              <a:ea typeface="Calibri"/>
              <a:cs typeface="Calibri"/>
              <a:sym typeface="Calibri"/>
            </a:endParaRPr>
          </a:p>
        </p:txBody>
      </p:sp>
      <p:sp>
        <p:nvSpPr>
          <p:cNvPr id="194" name="Google Shape;194;p7"/>
          <p:cNvSpPr/>
          <p:nvPr/>
        </p:nvSpPr>
        <p:spPr>
          <a:xfrm>
            <a:off x="13904935" y="5695950"/>
            <a:ext cx="2869411" cy="96202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F2937"/>
              </a:buClr>
              <a:buSzPts val="3150"/>
              <a:buFont typeface="Arial"/>
              <a:buNone/>
            </a:pPr>
            <a:r>
              <a:rPr b="0" i="0" lang="en-US" sz="3350" u="none" cap="none" strike="noStrike">
                <a:solidFill>
                  <a:srgbClr val="1F2937"/>
                </a:solidFill>
                <a:latin typeface="Arial"/>
                <a:ea typeface="Arial"/>
                <a:cs typeface="Arial"/>
                <a:sym typeface="Arial"/>
              </a:rPr>
              <a:t>Só local</a:t>
            </a:r>
            <a:endParaRPr b="0" i="0" sz="3350" u="none" cap="none" strike="noStrike">
              <a:solidFill>
                <a:schemeClr val="dk1"/>
              </a:solidFill>
              <a:latin typeface="Calibri"/>
              <a:ea typeface="Calibri"/>
              <a:cs typeface="Calibri"/>
              <a:sym typeface="Calibri"/>
            </a:endParaRPr>
          </a:p>
        </p:txBody>
      </p:sp>
      <p:sp>
        <p:nvSpPr>
          <p:cNvPr id="195" name="Google Shape;195;p7"/>
          <p:cNvSpPr/>
          <p:nvPr/>
        </p:nvSpPr>
        <p:spPr>
          <a:xfrm>
            <a:off x="1333500" y="7981950"/>
            <a:ext cx="15621000" cy="19050"/>
          </a:xfrm>
          <a:prstGeom prst="rect">
            <a:avLst/>
          </a:prstGeom>
          <a:solidFill>
            <a:srgbClr val="EDF0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96" name="Google Shape;196;p7"/>
          <p:cNvSpPr/>
          <p:nvPr/>
        </p:nvSpPr>
        <p:spPr>
          <a:xfrm>
            <a:off x="1581150" y="6867525"/>
            <a:ext cx="3820050" cy="10763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Machado et al. 2025–26</a:t>
            </a:r>
            <a:endParaRPr b="0" i="0" sz="3350" u="none" cap="none" strike="noStrike">
              <a:solidFill>
                <a:schemeClr val="dk1"/>
              </a:solidFill>
              <a:latin typeface="Calibri"/>
              <a:ea typeface="Calibri"/>
              <a:cs typeface="Calibri"/>
              <a:sym typeface="Calibri"/>
            </a:endParaRPr>
          </a:p>
        </p:txBody>
      </p:sp>
      <p:sp>
        <p:nvSpPr>
          <p:cNvPr id="197" name="Google Shape;197;p7"/>
          <p:cNvSpPr/>
          <p:nvPr/>
        </p:nvSpPr>
        <p:spPr>
          <a:xfrm>
            <a:off x="5751761" y="6924675"/>
            <a:ext cx="5809110" cy="9620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Relatórios de scanner → registros</a:t>
            </a:r>
            <a:endParaRPr b="0" i="0" sz="3350" u="none" cap="none" strike="noStrike">
              <a:solidFill>
                <a:schemeClr val="dk1"/>
              </a:solidFill>
              <a:latin typeface="Calibri"/>
              <a:ea typeface="Calibri"/>
              <a:cs typeface="Calibri"/>
              <a:sym typeface="Calibri"/>
            </a:endParaRPr>
          </a:p>
        </p:txBody>
      </p:sp>
      <p:sp>
        <p:nvSpPr>
          <p:cNvPr id="198" name="Google Shape;198;p7"/>
          <p:cNvSpPr/>
          <p:nvPr/>
        </p:nvSpPr>
        <p:spPr>
          <a:xfrm>
            <a:off x="11893212" y="6924675"/>
            <a:ext cx="1736700" cy="9621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5</a:t>
            </a:r>
            <a:endParaRPr b="0" i="0" sz="3350" u="none" cap="none" strike="noStrike">
              <a:solidFill>
                <a:schemeClr val="dk1"/>
              </a:solidFill>
              <a:latin typeface="Calibri"/>
              <a:ea typeface="Calibri"/>
              <a:cs typeface="Calibri"/>
              <a:sym typeface="Calibri"/>
            </a:endParaRPr>
          </a:p>
        </p:txBody>
      </p:sp>
      <p:sp>
        <p:nvSpPr>
          <p:cNvPr id="199" name="Google Shape;199;p7"/>
          <p:cNvSpPr/>
          <p:nvPr/>
        </p:nvSpPr>
        <p:spPr>
          <a:xfrm>
            <a:off x="13904935" y="6924675"/>
            <a:ext cx="2869411" cy="96202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C7CDD6"/>
              </a:buClr>
              <a:buSzPts val="3150"/>
              <a:buFont typeface="Arial"/>
              <a:buNone/>
            </a:pPr>
            <a:r>
              <a:rPr b="0" i="0" lang="en-US" sz="3350" u="none" cap="none" strike="noStrike">
                <a:solidFill>
                  <a:srgbClr val="C7CDD6"/>
                </a:solidFill>
                <a:latin typeface="Arial"/>
                <a:ea typeface="Arial"/>
                <a:cs typeface="Arial"/>
                <a:sym typeface="Arial"/>
              </a:rPr>
              <a:t>Só nuvem</a:t>
            </a:r>
            <a:endParaRPr b="0" i="0" sz="3350" u="none" cap="none" strike="noStrike">
              <a:solidFill>
                <a:schemeClr val="dk1"/>
              </a:solidFill>
              <a:latin typeface="Calibri"/>
              <a:ea typeface="Calibri"/>
              <a:cs typeface="Calibri"/>
              <a:sym typeface="Calibri"/>
            </a:endParaRPr>
          </a:p>
        </p:txBody>
      </p:sp>
      <p:sp>
        <p:nvSpPr>
          <p:cNvPr id="200" name="Google Shape;200;p7"/>
          <p:cNvSpPr/>
          <p:nvPr/>
        </p:nvSpPr>
        <p:spPr>
          <a:xfrm>
            <a:off x="1333500" y="8001000"/>
            <a:ext cx="15621000" cy="1152525"/>
          </a:xfrm>
          <a:prstGeom prst="rect">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01" name="Google Shape;201;p7"/>
          <p:cNvSpPr/>
          <p:nvPr/>
        </p:nvSpPr>
        <p:spPr>
          <a:xfrm>
            <a:off x="1581150" y="8115300"/>
            <a:ext cx="3820050" cy="9620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Este trabalho</a:t>
            </a:r>
            <a:endParaRPr b="0" i="0" sz="3350" u="none" cap="none" strike="noStrike">
              <a:solidFill>
                <a:schemeClr val="dk1"/>
              </a:solidFill>
              <a:latin typeface="Calibri"/>
              <a:ea typeface="Calibri"/>
              <a:cs typeface="Calibri"/>
              <a:sym typeface="Calibri"/>
            </a:endParaRPr>
          </a:p>
        </p:txBody>
      </p:sp>
      <p:sp>
        <p:nvSpPr>
          <p:cNvPr id="202" name="Google Shape;202;p7"/>
          <p:cNvSpPr/>
          <p:nvPr/>
        </p:nvSpPr>
        <p:spPr>
          <a:xfrm>
            <a:off x="5770811" y="8115300"/>
            <a:ext cx="5771010" cy="9620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Relatórios de scanner → registros</a:t>
            </a:r>
            <a:endParaRPr b="0" i="0" sz="3350" u="none" cap="none" strike="noStrike">
              <a:solidFill>
                <a:schemeClr val="dk1"/>
              </a:solidFill>
              <a:latin typeface="Calibri"/>
              <a:ea typeface="Calibri"/>
              <a:cs typeface="Calibri"/>
              <a:sym typeface="Calibri"/>
            </a:endParaRPr>
          </a:p>
        </p:txBody>
      </p:sp>
      <p:sp>
        <p:nvSpPr>
          <p:cNvPr id="203" name="Google Shape;203;p7"/>
          <p:cNvSpPr/>
          <p:nvPr/>
        </p:nvSpPr>
        <p:spPr>
          <a:xfrm>
            <a:off x="11912262" y="8115300"/>
            <a:ext cx="1698600" cy="9621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10</a:t>
            </a:r>
            <a:endParaRPr b="0" i="0" sz="3350" u="none" cap="none" strike="noStrike">
              <a:solidFill>
                <a:schemeClr val="dk1"/>
              </a:solidFill>
              <a:latin typeface="Calibri"/>
              <a:ea typeface="Calibri"/>
              <a:cs typeface="Calibri"/>
              <a:sym typeface="Calibri"/>
            </a:endParaRPr>
          </a:p>
        </p:txBody>
      </p:sp>
      <p:sp>
        <p:nvSpPr>
          <p:cNvPr id="204" name="Google Shape;204;p7"/>
          <p:cNvSpPr/>
          <p:nvPr/>
        </p:nvSpPr>
        <p:spPr>
          <a:xfrm>
            <a:off x="13923985" y="8115300"/>
            <a:ext cx="2831311" cy="962025"/>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3150"/>
              <a:buFont typeface="Arial"/>
              <a:buNone/>
            </a:pPr>
            <a:r>
              <a:rPr b="1" i="0" lang="en-US" sz="3350" u="none" cap="none" strike="noStrike">
                <a:solidFill>
                  <a:srgbClr val="FFFFFF"/>
                </a:solidFill>
                <a:latin typeface="Arial"/>
                <a:ea typeface="Arial"/>
                <a:cs typeface="Arial"/>
                <a:sym typeface="Arial"/>
              </a:rPr>
              <a:t>Sim</a:t>
            </a:r>
            <a:endParaRPr b="0" i="0" sz="3350" u="none" cap="none" strike="noStrike">
              <a:solidFill>
                <a:schemeClr val="dk1"/>
              </a:solidFill>
              <a:latin typeface="Calibri"/>
              <a:ea typeface="Calibri"/>
              <a:cs typeface="Calibri"/>
              <a:sym typeface="Calibri"/>
            </a:endParaRPr>
          </a:p>
        </p:txBody>
      </p:sp>
      <p:sp>
        <p:nvSpPr>
          <p:cNvPr id="205" name="Google Shape;205;p7"/>
          <p:cNvSpPr/>
          <p:nvPr/>
        </p:nvSpPr>
        <p:spPr>
          <a:xfrm>
            <a:off x="1333500" y="965835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206" name="Google Shape;206;p7"/>
          <p:cNvPicPr preferRelativeResize="0"/>
          <p:nvPr/>
        </p:nvPicPr>
        <p:blipFill rotWithShape="1">
          <a:blip r:embed="rId3">
            <a:alphaModFix/>
          </a:blip>
          <a:srcRect b="0" l="0" r="0" t="0"/>
          <a:stretch/>
        </p:blipFill>
        <p:spPr>
          <a:xfrm>
            <a:off x="13863935" y="9629775"/>
            <a:ext cx="1558826" cy="381000"/>
          </a:xfrm>
          <a:prstGeom prst="rect">
            <a:avLst/>
          </a:prstGeom>
          <a:noFill/>
          <a:ln>
            <a:noFill/>
          </a:ln>
        </p:spPr>
      </p:pic>
      <p:pic>
        <p:nvPicPr>
          <p:cNvPr descr="preencoded.png" id="207" name="Google Shape;207;p7"/>
          <p:cNvPicPr preferRelativeResize="0"/>
          <p:nvPr/>
        </p:nvPicPr>
        <p:blipFill rotWithShape="1">
          <a:blip r:embed="rId4">
            <a:alphaModFix/>
          </a:blip>
          <a:srcRect b="0" l="0" r="0" t="0"/>
          <a:stretch/>
        </p:blipFill>
        <p:spPr>
          <a:xfrm>
            <a:off x="15651361" y="9610725"/>
            <a:ext cx="636389" cy="419100"/>
          </a:xfrm>
          <a:prstGeom prst="rect">
            <a:avLst/>
          </a:prstGeom>
          <a:noFill/>
          <a:ln>
            <a:noFill/>
          </a:ln>
        </p:spPr>
      </p:pic>
      <p:pic>
        <p:nvPicPr>
          <p:cNvPr descr="preencoded.png" id="208" name="Google Shape;208;p7"/>
          <p:cNvPicPr preferRelativeResize="0"/>
          <p:nvPr/>
        </p:nvPicPr>
        <p:blipFill rotWithShape="1">
          <a:blip r:embed="rId5">
            <a:alphaModFix/>
          </a:blip>
          <a:srcRect b="0" l="0" r="0" t="0"/>
          <a:stretch/>
        </p:blipFill>
        <p:spPr>
          <a:xfrm>
            <a:off x="16516350" y="9601200"/>
            <a:ext cx="438150" cy="438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0"/>
          <p:cNvSpPr/>
          <p:nvPr/>
        </p:nvSpPr>
        <p:spPr>
          <a:xfrm>
            <a:off x="1143000" y="533400"/>
            <a:ext cx="5877059"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15" name="Google Shape;215;p10"/>
          <p:cNvSpPr/>
          <p:nvPr/>
        </p:nvSpPr>
        <p:spPr>
          <a:xfrm>
            <a:off x="1143000" y="962025"/>
            <a:ext cx="5877059"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Pipeline de extração</a:t>
            </a:r>
            <a:endParaRPr b="0" i="0" sz="4350" u="none" cap="none" strike="noStrike">
              <a:solidFill>
                <a:schemeClr val="dk1"/>
              </a:solidFill>
              <a:latin typeface="Calibri"/>
              <a:ea typeface="Calibri"/>
              <a:cs typeface="Calibri"/>
              <a:sym typeface="Calibri"/>
            </a:endParaRPr>
          </a:p>
        </p:txBody>
      </p:sp>
      <p:sp>
        <p:nvSpPr>
          <p:cNvPr id="216" name="Google Shape;216;p10"/>
          <p:cNvSpPr/>
          <p:nvPr/>
        </p:nvSpPr>
        <p:spPr>
          <a:xfrm>
            <a:off x="165392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166726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07</a:t>
            </a:r>
            <a:endParaRPr b="0" i="0" sz="2400" u="none" cap="none" strike="noStrike">
              <a:solidFill>
                <a:schemeClr val="dk1"/>
              </a:solidFill>
              <a:latin typeface="Calibri"/>
              <a:ea typeface="Calibri"/>
              <a:cs typeface="Calibri"/>
              <a:sym typeface="Calibri"/>
            </a:endParaRPr>
          </a:p>
        </p:txBody>
      </p:sp>
      <p:pic>
        <p:nvPicPr>
          <p:cNvPr id="218" name="Google Shape;218;p10"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pic>
        <p:nvPicPr>
          <p:cNvPr id="224" name="Google Shape;224;p11"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
        <p:nvSpPr>
          <p:cNvPr id="225" name="Google Shape;225;p11"/>
          <p:cNvSpPr/>
          <p:nvPr/>
        </p:nvSpPr>
        <p:spPr>
          <a:xfrm>
            <a:off x="1143000" y="533400"/>
            <a:ext cx="7564591"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26" name="Google Shape;226;p11"/>
          <p:cNvSpPr/>
          <p:nvPr/>
        </p:nvSpPr>
        <p:spPr>
          <a:xfrm>
            <a:off x="1143000" y="962025"/>
            <a:ext cx="7564591"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Etapa 1: dados de entrada</a:t>
            </a:r>
            <a:endParaRPr b="0" i="0" sz="4350" u="none" cap="none" strike="noStrike">
              <a:solidFill>
                <a:schemeClr val="dk1"/>
              </a:solidFill>
              <a:latin typeface="Calibri"/>
              <a:ea typeface="Calibri"/>
              <a:cs typeface="Calibri"/>
              <a:sym typeface="Calibri"/>
            </a:endParaRPr>
          </a:p>
        </p:txBody>
      </p:sp>
      <p:sp>
        <p:nvSpPr>
          <p:cNvPr id="227" name="Google Shape;227;p11"/>
          <p:cNvSpPr/>
          <p:nvPr/>
        </p:nvSpPr>
        <p:spPr>
          <a:xfrm>
            <a:off x="16561891" y="533400"/>
            <a:ext cx="583109"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16695253" y="571500"/>
            <a:ext cx="583200" cy="390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08</a:t>
            </a:r>
            <a:endParaRPr b="0" i="0" sz="2400" u="none" cap="none" strike="noStrike">
              <a:solidFill>
                <a:schemeClr val="dk1"/>
              </a:solidFill>
              <a:latin typeface="Calibri"/>
              <a:ea typeface="Calibri"/>
              <a:cs typeface="Calibri"/>
              <a:sym typeface="Calibri"/>
            </a:endParaRPr>
          </a:p>
        </p:txBody>
      </p:sp>
      <p:sp>
        <p:nvSpPr>
          <p:cNvPr id="229" name="Google Shape;229;p11"/>
          <p:cNvSpPr/>
          <p:nvPr/>
        </p:nvSpPr>
        <p:spPr>
          <a:xfrm>
            <a:off x="2116950" y="6682866"/>
            <a:ext cx="2964600" cy="3565800"/>
          </a:xfrm>
          <a:prstGeom prst="rect">
            <a:avLst/>
          </a:prstGeom>
          <a:solidFill>
            <a:srgbClr val="F7A823">
              <a:alpha val="12157"/>
            </a:srgbClr>
          </a:solidFill>
          <a:ln cap="flat" cmpd="sng" w="57150">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pic>
        <p:nvPicPr>
          <p:cNvPr id="235" name="Google Shape;235;p12"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
        <p:nvSpPr>
          <p:cNvPr id="236" name="Google Shape;236;p12"/>
          <p:cNvSpPr/>
          <p:nvPr/>
        </p:nvSpPr>
        <p:spPr>
          <a:xfrm>
            <a:off x="1143000" y="533400"/>
            <a:ext cx="753152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37" name="Google Shape;237;p12"/>
          <p:cNvSpPr/>
          <p:nvPr/>
        </p:nvSpPr>
        <p:spPr>
          <a:xfrm>
            <a:off x="1143000" y="962025"/>
            <a:ext cx="7531522"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Etapa 2: extração de texto</a:t>
            </a:r>
            <a:endParaRPr b="0" i="0" sz="4350" u="none" cap="none" strike="noStrike">
              <a:solidFill>
                <a:schemeClr val="dk1"/>
              </a:solidFill>
              <a:latin typeface="Calibri"/>
              <a:ea typeface="Calibri"/>
              <a:cs typeface="Calibri"/>
              <a:sym typeface="Calibri"/>
            </a:endParaRPr>
          </a:p>
        </p:txBody>
      </p:sp>
      <p:sp>
        <p:nvSpPr>
          <p:cNvPr id="238" name="Google Shape;238;p12"/>
          <p:cNvSpPr/>
          <p:nvPr/>
        </p:nvSpPr>
        <p:spPr>
          <a:xfrm>
            <a:off x="165392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166726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09</a:t>
            </a:r>
            <a:endParaRPr b="0" i="0" sz="2400" u="none" cap="none" strike="noStrike">
              <a:solidFill>
                <a:schemeClr val="dk1"/>
              </a:solidFill>
              <a:latin typeface="Calibri"/>
              <a:ea typeface="Calibri"/>
              <a:cs typeface="Calibri"/>
              <a:sym typeface="Calibri"/>
            </a:endParaRPr>
          </a:p>
        </p:txBody>
      </p:sp>
      <p:sp>
        <p:nvSpPr>
          <p:cNvPr id="240" name="Google Shape;240;p12"/>
          <p:cNvSpPr/>
          <p:nvPr/>
        </p:nvSpPr>
        <p:spPr>
          <a:xfrm>
            <a:off x="1694726" y="1840400"/>
            <a:ext cx="3565800" cy="3767700"/>
          </a:xfrm>
          <a:prstGeom prst="rect">
            <a:avLst/>
          </a:prstGeom>
          <a:solidFill>
            <a:srgbClr val="F7A823">
              <a:alpha val="12157"/>
            </a:srgbClr>
          </a:solidFill>
          <a:ln cap="flat" cmpd="sng" w="57150">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pic>
        <p:nvPicPr>
          <p:cNvPr id="246" name="Google Shape;246;p13"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
        <p:nvSpPr>
          <p:cNvPr id="247" name="Google Shape;247;p13"/>
          <p:cNvSpPr/>
          <p:nvPr/>
        </p:nvSpPr>
        <p:spPr>
          <a:xfrm>
            <a:off x="1143000" y="533400"/>
            <a:ext cx="8172777"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48" name="Google Shape;248;p13"/>
          <p:cNvSpPr/>
          <p:nvPr/>
        </p:nvSpPr>
        <p:spPr>
          <a:xfrm>
            <a:off x="1143000" y="962025"/>
            <a:ext cx="8172777"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Etapa 3: pré-processamento</a:t>
            </a:r>
            <a:endParaRPr b="0" i="0" sz="4350" u="none" cap="none" strike="noStrike">
              <a:solidFill>
                <a:schemeClr val="dk1"/>
              </a:solidFill>
              <a:latin typeface="Calibri"/>
              <a:ea typeface="Calibri"/>
              <a:cs typeface="Calibri"/>
              <a:sym typeface="Calibri"/>
            </a:endParaRPr>
          </a:p>
        </p:txBody>
      </p:sp>
      <p:sp>
        <p:nvSpPr>
          <p:cNvPr id="249" name="Google Shape;249;p13"/>
          <p:cNvSpPr/>
          <p:nvPr/>
        </p:nvSpPr>
        <p:spPr>
          <a:xfrm>
            <a:off x="165392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a:off x="166726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10</a:t>
            </a:r>
            <a:endParaRPr b="0" i="0" sz="2400" u="none" cap="none" strike="noStrike">
              <a:solidFill>
                <a:schemeClr val="dk1"/>
              </a:solidFill>
              <a:latin typeface="Calibri"/>
              <a:ea typeface="Calibri"/>
              <a:cs typeface="Calibri"/>
              <a:sym typeface="Calibri"/>
            </a:endParaRPr>
          </a:p>
        </p:txBody>
      </p:sp>
      <p:sp>
        <p:nvSpPr>
          <p:cNvPr id="251" name="Google Shape;251;p13"/>
          <p:cNvSpPr/>
          <p:nvPr/>
        </p:nvSpPr>
        <p:spPr>
          <a:xfrm>
            <a:off x="5951325" y="1638016"/>
            <a:ext cx="9749700" cy="4584300"/>
          </a:xfrm>
          <a:prstGeom prst="rect">
            <a:avLst/>
          </a:prstGeom>
          <a:solidFill>
            <a:srgbClr val="F7A823">
              <a:alpha val="12157"/>
            </a:srgbClr>
          </a:solidFill>
          <a:ln cap="flat" cmpd="sng" w="57150">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pic>
        <p:nvPicPr>
          <p:cNvPr id="257" name="Google Shape;257;p14"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
        <p:nvSpPr>
          <p:cNvPr id="258" name="Google Shape;258;p14"/>
          <p:cNvSpPr/>
          <p:nvPr/>
        </p:nvSpPr>
        <p:spPr>
          <a:xfrm>
            <a:off x="1143000" y="533400"/>
            <a:ext cx="999504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59" name="Google Shape;259;p14"/>
          <p:cNvSpPr/>
          <p:nvPr/>
        </p:nvSpPr>
        <p:spPr>
          <a:xfrm>
            <a:off x="1143000" y="962025"/>
            <a:ext cx="9995044"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Etapa 4: o modelo, nuvem ou local</a:t>
            </a:r>
            <a:endParaRPr b="0" i="0" sz="4350" u="none" cap="none" strike="noStrike">
              <a:solidFill>
                <a:schemeClr val="dk1"/>
              </a:solidFill>
              <a:latin typeface="Calibri"/>
              <a:ea typeface="Calibri"/>
              <a:cs typeface="Calibri"/>
              <a:sym typeface="Calibri"/>
            </a:endParaRPr>
          </a:p>
        </p:txBody>
      </p:sp>
      <p:sp>
        <p:nvSpPr>
          <p:cNvPr id="260" name="Google Shape;260;p14"/>
          <p:cNvSpPr/>
          <p:nvPr/>
        </p:nvSpPr>
        <p:spPr>
          <a:xfrm>
            <a:off x="165392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166726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11</a:t>
            </a:r>
            <a:endParaRPr b="0" i="0" sz="2400" u="none" cap="none" strike="noStrike">
              <a:solidFill>
                <a:schemeClr val="dk1"/>
              </a:solidFill>
              <a:latin typeface="Calibri"/>
              <a:ea typeface="Calibri"/>
              <a:cs typeface="Calibri"/>
              <a:sym typeface="Calibri"/>
            </a:endParaRPr>
          </a:p>
        </p:txBody>
      </p:sp>
      <p:sp>
        <p:nvSpPr>
          <p:cNvPr id="262" name="Google Shape;262;p14"/>
          <p:cNvSpPr/>
          <p:nvPr/>
        </p:nvSpPr>
        <p:spPr>
          <a:xfrm>
            <a:off x="12965524" y="6664641"/>
            <a:ext cx="2850600" cy="3584100"/>
          </a:xfrm>
          <a:prstGeom prst="rect">
            <a:avLst/>
          </a:prstGeom>
          <a:solidFill>
            <a:srgbClr val="F7A823">
              <a:alpha val="12157"/>
            </a:srgbClr>
          </a:solidFill>
          <a:ln cap="flat" cmpd="sng" w="57150">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pic>
        <p:nvPicPr>
          <p:cNvPr id="268" name="Google Shape;268;p15"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
        <p:nvSpPr>
          <p:cNvPr id="269" name="Google Shape;269;p15"/>
          <p:cNvSpPr/>
          <p:nvPr/>
        </p:nvSpPr>
        <p:spPr>
          <a:xfrm>
            <a:off x="1143000" y="533400"/>
            <a:ext cx="7598971"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70" name="Google Shape;270;p15"/>
          <p:cNvSpPr/>
          <p:nvPr/>
        </p:nvSpPr>
        <p:spPr>
          <a:xfrm>
            <a:off x="1143000" y="962025"/>
            <a:ext cx="7598971"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Etapa 5: saída estruturada</a:t>
            </a:r>
            <a:endParaRPr b="0" i="0" sz="4350" u="none" cap="none" strike="noStrike">
              <a:solidFill>
                <a:schemeClr val="dk1"/>
              </a:solidFill>
              <a:latin typeface="Calibri"/>
              <a:ea typeface="Calibri"/>
              <a:cs typeface="Calibri"/>
              <a:sym typeface="Calibri"/>
            </a:endParaRPr>
          </a:p>
        </p:txBody>
      </p:sp>
      <p:sp>
        <p:nvSpPr>
          <p:cNvPr id="271" name="Google Shape;271;p15"/>
          <p:cNvSpPr/>
          <p:nvPr/>
        </p:nvSpPr>
        <p:spPr>
          <a:xfrm>
            <a:off x="165392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166726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12</a:t>
            </a:r>
            <a:endParaRPr b="0" i="0" sz="2400" u="none" cap="none" strike="noStrike">
              <a:solidFill>
                <a:schemeClr val="dk1"/>
              </a:solidFill>
              <a:latin typeface="Calibri"/>
              <a:ea typeface="Calibri"/>
              <a:cs typeface="Calibri"/>
              <a:sym typeface="Calibri"/>
            </a:endParaRPr>
          </a:p>
        </p:txBody>
      </p:sp>
      <p:sp>
        <p:nvSpPr>
          <p:cNvPr id="273" name="Google Shape;273;p15"/>
          <p:cNvSpPr/>
          <p:nvPr/>
        </p:nvSpPr>
        <p:spPr>
          <a:xfrm>
            <a:off x="9289842" y="6649949"/>
            <a:ext cx="2956500" cy="3579600"/>
          </a:xfrm>
          <a:prstGeom prst="rect">
            <a:avLst/>
          </a:prstGeom>
          <a:solidFill>
            <a:srgbClr val="F7A823">
              <a:alpha val="12157"/>
            </a:srgbClr>
          </a:solidFill>
          <a:ln cap="flat" cmpd="sng" w="57150">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pic>
        <p:nvPicPr>
          <p:cNvPr id="279" name="Google Shape;279;p16" title="artigo wticg SLMS (1).png"/>
          <p:cNvPicPr preferRelativeResize="0"/>
          <p:nvPr/>
        </p:nvPicPr>
        <p:blipFill>
          <a:blip r:embed="rId3">
            <a:alphaModFix/>
          </a:blip>
          <a:stretch>
            <a:fillRect/>
          </a:stretch>
        </p:blipFill>
        <p:spPr>
          <a:xfrm>
            <a:off x="1552762" y="1676400"/>
            <a:ext cx="15182477" cy="8540162"/>
          </a:xfrm>
          <a:prstGeom prst="rect">
            <a:avLst/>
          </a:prstGeom>
          <a:noFill/>
          <a:ln>
            <a:noFill/>
          </a:ln>
        </p:spPr>
      </p:pic>
      <p:sp>
        <p:nvSpPr>
          <p:cNvPr id="280" name="Google Shape;280;p16"/>
          <p:cNvSpPr/>
          <p:nvPr/>
        </p:nvSpPr>
        <p:spPr>
          <a:xfrm>
            <a:off x="1143000" y="533400"/>
            <a:ext cx="4593729"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81" name="Google Shape;281;p16"/>
          <p:cNvSpPr/>
          <p:nvPr/>
        </p:nvSpPr>
        <p:spPr>
          <a:xfrm>
            <a:off x="1143000" y="962025"/>
            <a:ext cx="4593729"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Etapa 6: análise</a:t>
            </a:r>
            <a:endParaRPr b="0" i="0" sz="4350" u="none" cap="none" strike="noStrike">
              <a:solidFill>
                <a:schemeClr val="dk1"/>
              </a:solidFill>
              <a:latin typeface="Calibri"/>
              <a:ea typeface="Calibri"/>
              <a:cs typeface="Calibri"/>
              <a:sym typeface="Calibri"/>
            </a:endParaRPr>
          </a:p>
        </p:txBody>
      </p:sp>
      <p:sp>
        <p:nvSpPr>
          <p:cNvPr id="282" name="Google Shape;282;p16"/>
          <p:cNvSpPr/>
          <p:nvPr/>
        </p:nvSpPr>
        <p:spPr>
          <a:xfrm>
            <a:off x="16539270" y="5334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16672620" y="5715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13</a:t>
            </a:r>
            <a:endParaRPr b="0" i="0" sz="2400" u="none" cap="none" strike="noStrike">
              <a:solidFill>
                <a:schemeClr val="dk1"/>
              </a:solidFill>
              <a:latin typeface="Calibri"/>
              <a:ea typeface="Calibri"/>
              <a:cs typeface="Calibri"/>
              <a:sym typeface="Calibri"/>
            </a:endParaRPr>
          </a:p>
        </p:txBody>
      </p:sp>
      <p:sp>
        <p:nvSpPr>
          <p:cNvPr id="284" name="Google Shape;284;p16"/>
          <p:cNvSpPr/>
          <p:nvPr/>
        </p:nvSpPr>
        <p:spPr>
          <a:xfrm>
            <a:off x="5642992" y="6611566"/>
            <a:ext cx="2899200" cy="3636900"/>
          </a:xfrm>
          <a:prstGeom prst="rect">
            <a:avLst/>
          </a:prstGeom>
          <a:solidFill>
            <a:srgbClr val="F7A823">
              <a:alpha val="12157"/>
            </a:srgbClr>
          </a:solidFill>
          <a:ln cap="flat" cmpd="sng" w="57150">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7"/>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291" name="Google Shape;291;p17"/>
          <p:cNvSpPr/>
          <p:nvPr/>
        </p:nvSpPr>
        <p:spPr>
          <a:xfrm>
            <a:off x="1333500" y="1457325"/>
            <a:ext cx="17183100" cy="7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Desenho experimental</a:t>
            </a:r>
            <a:endParaRPr b="0" i="0" sz="4950" u="none" cap="none" strike="noStrike">
              <a:solidFill>
                <a:schemeClr val="dk1"/>
              </a:solidFill>
              <a:latin typeface="Calibri"/>
              <a:ea typeface="Calibri"/>
              <a:cs typeface="Calibri"/>
              <a:sym typeface="Calibri"/>
            </a:endParaRPr>
          </a:p>
        </p:txBody>
      </p:sp>
      <p:sp>
        <p:nvSpPr>
          <p:cNvPr id="292" name="Google Shape;292;p17"/>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7"/>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1</a:t>
            </a:r>
            <a:r>
              <a:rPr lang="en-US" sz="2400">
                <a:solidFill>
                  <a:srgbClr val="6B7280"/>
                </a:solidFill>
              </a:rPr>
              <a:t>4</a:t>
            </a:r>
            <a:endParaRPr b="0" i="0" sz="2400" u="none" cap="none" strike="noStrike">
              <a:solidFill>
                <a:schemeClr val="dk1"/>
              </a:solidFill>
              <a:latin typeface="Calibri"/>
              <a:ea typeface="Calibri"/>
              <a:cs typeface="Calibri"/>
              <a:sym typeface="Calibri"/>
            </a:endParaRPr>
          </a:p>
        </p:txBody>
      </p:sp>
      <p:sp>
        <p:nvSpPr>
          <p:cNvPr id="294" name="Google Shape;294;p17"/>
          <p:cNvSpPr/>
          <p:nvPr/>
        </p:nvSpPr>
        <p:spPr>
          <a:xfrm>
            <a:off x="511138" y="3275787"/>
            <a:ext cx="8506500" cy="2031900"/>
          </a:xfrm>
          <a:prstGeom prst="roundRect">
            <a:avLst>
              <a:gd fmla="val 8290" name="adj"/>
            </a:avLst>
          </a:prstGeom>
          <a:solidFill>
            <a:srgbClr val="F4F6FA"/>
          </a:solidFill>
          <a:ln>
            <a:noFill/>
          </a:ln>
        </p:spPr>
        <p:txBody>
          <a:bodyPr anchorCtr="0" anchor="ctr" bIns="101050" lIns="101050" spcFirstLastPara="1" rIns="101050" wrap="square" tIns="101050">
            <a:noAutofit/>
          </a:bodyPr>
          <a:lstStyle/>
          <a:p>
            <a:pPr indent="0" lvl="0" marL="0" rtl="0" algn="l">
              <a:spcBef>
                <a:spcPts val="0"/>
              </a:spcBef>
              <a:spcAft>
                <a:spcPts val="0"/>
              </a:spcAft>
              <a:buNone/>
            </a:pPr>
            <a:r>
              <a:t/>
            </a:r>
            <a:endParaRPr/>
          </a:p>
        </p:txBody>
      </p:sp>
      <p:pic>
        <p:nvPicPr>
          <p:cNvPr descr="preencoded.png" id="295" name="Google Shape;295;p17"/>
          <p:cNvPicPr preferRelativeResize="0"/>
          <p:nvPr/>
        </p:nvPicPr>
        <p:blipFill rotWithShape="1">
          <a:blip r:embed="rId3">
            <a:alphaModFix/>
          </a:blip>
          <a:srcRect b="0" l="0" r="0" t="0"/>
          <a:stretch/>
        </p:blipFill>
        <p:spPr>
          <a:xfrm>
            <a:off x="869087" y="3744280"/>
            <a:ext cx="1094904" cy="1094904"/>
          </a:xfrm>
          <a:prstGeom prst="rect">
            <a:avLst/>
          </a:prstGeom>
          <a:noFill/>
          <a:ln>
            <a:noFill/>
          </a:ln>
        </p:spPr>
      </p:pic>
      <p:sp>
        <p:nvSpPr>
          <p:cNvPr id="296" name="Google Shape;296;p17"/>
          <p:cNvSpPr/>
          <p:nvPr/>
        </p:nvSpPr>
        <p:spPr>
          <a:xfrm>
            <a:off x="2195605" y="3917992"/>
            <a:ext cx="1347600" cy="7896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0F2369"/>
              </a:buClr>
              <a:buSzPts val="5140"/>
              <a:buFont typeface="Arial"/>
              <a:buNone/>
            </a:pPr>
            <a:r>
              <a:rPr b="1" i="0" lang="en-US" sz="5140" u="none" cap="none" strike="noStrike">
                <a:solidFill>
                  <a:srgbClr val="0F2369"/>
                </a:solidFill>
                <a:latin typeface="Arial"/>
                <a:ea typeface="Arial"/>
                <a:cs typeface="Arial"/>
                <a:sym typeface="Arial"/>
              </a:rPr>
              <a:t>208</a:t>
            </a:r>
            <a:endParaRPr b="0" i="0" sz="5140" u="none" cap="none" strike="noStrike">
              <a:solidFill>
                <a:schemeClr val="dk1"/>
              </a:solidFill>
              <a:latin typeface="Calibri"/>
              <a:ea typeface="Calibri"/>
              <a:cs typeface="Calibri"/>
              <a:sym typeface="Calibri"/>
            </a:endParaRPr>
          </a:p>
        </p:txBody>
      </p:sp>
      <p:sp>
        <p:nvSpPr>
          <p:cNvPr id="297" name="Google Shape;297;p17"/>
          <p:cNvSpPr/>
          <p:nvPr/>
        </p:nvSpPr>
        <p:spPr>
          <a:xfrm>
            <a:off x="3690569" y="3549513"/>
            <a:ext cx="5118300" cy="15267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1F2937"/>
              </a:buClr>
              <a:buSzPts val="3399"/>
              <a:buFont typeface="Arial"/>
              <a:buNone/>
            </a:pPr>
            <a:r>
              <a:rPr b="0" i="0" lang="en-US" sz="3399" u="none" cap="none" strike="noStrike">
                <a:solidFill>
                  <a:srgbClr val="1F2937"/>
                </a:solidFill>
                <a:latin typeface="Arial"/>
                <a:ea typeface="Arial"/>
                <a:cs typeface="Arial"/>
                <a:sym typeface="Arial"/>
              </a:rPr>
              <a:t>vulnerabilidades em 3 baselines, validadas por 2 especialistas</a:t>
            </a:r>
            <a:endParaRPr b="0" i="0" sz="3399" u="none" cap="none" strike="noStrike">
              <a:solidFill>
                <a:schemeClr val="dk1"/>
              </a:solidFill>
              <a:latin typeface="Calibri"/>
              <a:ea typeface="Calibri"/>
              <a:cs typeface="Calibri"/>
              <a:sym typeface="Calibri"/>
            </a:endParaRPr>
          </a:p>
        </p:txBody>
      </p:sp>
      <p:sp>
        <p:nvSpPr>
          <p:cNvPr id="298" name="Google Shape;298;p17"/>
          <p:cNvSpPr/>
          <p:nvPr/>
        </p:nvSpPr>
        <p:spPr>
          <a:xfrm>
            <a:off x="9270367" y="3275787"/>
            <a:ext cx="8506500" cy="2031900"/>
          </a:xfrm>
          <a:prstGeom prst="roundRect">
            <a:avLst>
              <a:gd fmla="val 8290" name="adj"/>
            </a:avLst>
          </a:prstGeom>
          <a:solidFill>
            <a:srgbClr val="F4F6FA"/>
          </a:solidFill>
          <a:ln>
            <a:noFill/>
          </a:ln>
        </p:spPr>
        <p:txBody>
          <a:bodyPr anchorCtr="0" anchor="ctr" bIns="101050" lIns="101050" spcFirstLastPara="1" rIns="101050" wrap="square" tIns="101050">
            <a:noAutofit/>
          </a:bodyPr>
          <a:lstStyle/>
          <a:p>
            <a:pPr indent="0" lvl="0" marL="0" rtl="0" algn="l">
              <a:spcBef>
                <a:spcPts val="0"/>
              </a:spcBef>
              <a:spcAft>
                <a:spcPts val="0"/>
              </a:spcAft>
              <a:buNone/>
            </a:pPr>
            <a:r>
              <a:t/>
            </a:r>
            <a:endParaRPr/>
          </a:p>
        </p:txBody>
      </p:sp>
      <p:pic>
        <p:nvPicPr>
          <p:cNvPr descr="preencoded.png" id="299" name="Google Shape;299;p17"/>
          <p:cNvPicPr preferRelativeResize="0"/>
          <p:nvPr/>
        </p:nvPicPr>
        <p:blipFill rotWithShape="1">
          <a:blip r:embed="rId4">
            <a:alphaModFix/>
          </a:blip>
          <a:srcRect b="0" l="0" r="0" t="0"/>
          <a:stretch/>
        </p:blipFill>
        <p:spPr>
          <a:xfrm>
            <a:off x="9628316" y="3744280"/>
            <a:ext cx="1094904" cy="1094904"/>
          </a:xfrm>
          <a:prstGeom prst="rect">
            <a:avLst/>
          </a:prstGeom>
          <a:noFill/>
          <a:ln>
            <a:noFill/>
          </a:ln>
        </p:spPr>
      </p:pic>
      <p:sp>
        <p:nvSpPr>
          <p:cNvPr id="300" name="Google Shape;300;p17"/>
          <p:cNvSpPr/>
          <p:nvPr/>
        </p:nvSpPr>
        <p:spPr>
          <a:xfrm>
            <a:off x="10954834" y="3917992"/>
            <a:ext cx="1347600" cy="7896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0F2369"/>
              </a:buClr>
              <a:buSzPts val="5140"/>
              <a:buFont typeface="Arial"/>
              <a:buNone/>
            </a:pPr>
            <a:r>
              <a:rPr b="1" i="0" lang="en-US" sz="5140" u="none" cap="none" strike="noStrike">
                <a:solidFill>
                  <a:srgbClr val="0F2369"/>
                </a:solidFill>
                <a:latin typeface="Arial"/>
                <a:ea typeface="Arial"/>
                <a:cs typeface="Arial"/>
                <a:sym typeface="Arial"/>
              </a:rPr>
              <a:t>10</a:t>
            </a:r>
            <a:endParaRPr b="0" i="0" sz="5140" u="none" cap="none" strike="noStrike">
              <a:solidFill>
                <a:schemeClr val="dk1"/>
              </a:solidFill>
              <a:latin typeface="Calibri"/>
              <a:ea typeface="Calibri"/>
              <a:cs typeface="Calibri"/>
              <a:sym typeface="Calibri"/>
            </a:endParaRPr>
          </a:p>
        </p:txBody>
      </p:sp>
      <p:sp>
        <p:nvSpPr>
          <p:cNvPr id="301" name="Google Shape;301;p17"/>
          <p:cNvSpPr/>
          <p:nvPr/>
        </p:nvSpPr>
        <p:spPr>
          <a:xfrm>
            <a:off x="12073575" y="3549525"/>
            <a:ext cx="5494500" cy="15267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1F2937"/>
              </a:buClr>
              <a:buSzPts val="3399"/>
              <a:buFont typeface="Arial"/>
              <a:buNone/>
            </a:pPr>
            <a:r>
              <a:rPr b="0" i="0" lang="en-US" sz="3399" u="none" cap="none" strike="noStrike">
                <a:solidFill>
                  <a:srgbClr val="1F2937"/>
                </a:solidFill>
                <a:latin typeface="Arial"/>
                <a:ea typeface="Arial"/>
                <a:cs typeface="Arial"/>
                <a:sym typeface="Arial"/>
              </a:rPr>
              <a:t>modelos: 9 locais (4B–21B) + nuvem, com 2 fine-tunes de segurança</a:t>
            </a:r>
            <a:endParaRPr b="0" i="0" sz="3399" u="none" cap="none" strike="noStrike">
              <a:solidFill>
                <a:schemeClr val="dk1"/>
              </a:solidFill>
              <a:latin typeface="Calibri"/>
              <a:ea typeface="Calibri"/>
              <a:cs typeface="Calibri"/>
              <a:sym typeface="Calibri"/>
            </a:endParaRPr>
          </a:p>
        </p:txBody>
      </p:sp>
      <p:sp>
        <p:nvSpPr>
          <p:cNvPr id="302" name="Google Shape;302;p17"/>
          <p:cNvSpPr/>
          <p:nvPr/>
        </p:nvSpPr>
        <p:spPr>
          <a:xfrm>
            <a:off x="511138" y="5560350"/>
            <a:ext cx="8506500" cy="2031900"/>
          </a:xfrm>
          <a:prstGeom prst="roundRect">
            <a:avLst>
              <a:gd fmla="val 8290" name="adj"/>
            </a:avLst>
          </a:prstGeom>
          <a:solidFill>
            <a:srgbClr val="F4F6FA"/>
          </a:solidFill>
          <a:ln>
            <a:noFill/>
          </a:ln>
        </p:spPr>
        <p:txBody>
          <a:bodyPr anchorCtr="0" anchor="ctr" bIns="101050" lIns="101050" spcFirstLastPara="1" rIns="101050" wrap="square" tIns="101050">
            <a:noAutofit/>
          </a:bodyPr>
          <a:lstStyle/>
          <a:p>
            <a:pPr indent="0" lvl="0" marL="0" rtl="0" algn="l">
              <a:spcBef>
                <a:spcPts val="0"/>
              </a:spcBef>
              <a:spcAft>
                <a:spcPts val="0"/>
              </a:spcAft>
              <a:buNone/>
            </a:pPr>
            <a:r>
              <a:t/>
            </a:r>
            <a:endParaRPr/>
          </a:p>
        </p:txBody>
      </p:sp>
      <p:pic>
        <p:nvPicPr>
          <p:cNvPr descr="preencoded.png" id="303" name="Google Shape;303;p17"/>
          <p:cNvPicPr preferRelativeResize="0"/>
          <p:nvPr/>
        </p:nvPicPr>
        <p:blipFill rotWithShape="1">
          <a:blip r:embed="rId5">
            <a:alphaModFix/>
          </a:blip>
          <a:srcRect b="0" l="0" r="0" t="0"/>
          <a:stretch/>
        </p:blipFill>
        <p:spPr>
          <a:xfrm>
            <a:off x="869087" y="6028843"/>
            <a:ext cx="1094904" cy="1094904"/>
          </a:xfrm>
          <a:prstGeom prst="rect">
            <a:avLst/>
          </a:prstGeom>
          <a:noFill/>
          <a:ln>
            <a:noFill/>
          </a:ln>
        </p:spPr>
      </p:pic>
      <p:sp>
        <p:nvSpPr>
          <p:cNvPr id="304" name="Google Shape;304;p17"/>
          <p:cNvSpPr/>
          <p:nvPr/>
        </p:nvSpPr>
        <p:spPr>
          <a:xfrm>
            <a:off x="2195605" y="6202554"/>
            <a:ext cx="1347600" cy="7896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0F2369"/>
              </a:buClr>
              <a:buSzPts val="5140"/>
              <a:buFont typeface="Arial"/>
              <a:buNone/>
            </a:pPr>
            <a:r>
              <a:rPr b="1" i="0" lang="en-US" sz="5140" u="none" cap="none" strike="noStrike">
                <a:solidFill>
                  <a:srgbClr val="0F2369"/>
                </a:solidFill>
                <a:latin typeface="Arial"/>
                <a:ea typeface="Arial"/>
                <a:cs typeface="Arial"/>
                <a:sym typeface="Arial"/>
              </a:rPr>
              <a:t>2</a:t>
            </a:r>
            <a:endParaRPr b="0" i="0" sz="5140" u="none" cap="none" strike="noStrike">
              <a:solidFill>
                <a:schemeClr val="dk1"/>
              </a:solidFill>
              <a:latin typeface="Calibri"/>
              <a:ea typeface="Calibri"/>
              <a:cs typeface="Calibri"/>
              <a:sym typeface="Calibri"/>
            </a:endParaRPr>
          </a:p>
        </p:txBody>
      </p:sp>
      <p:sp>
        <p:nvSpPr>
          <p:cNvPr id="305" name="Google Shape;305;p17"/>
          <p:cNvSpPr/>
          <p:nvPr/>
        </p:nvSpPr>
        <p:spPr>
          <a:xfrm>
            <a:off x="3690569" y="5834076"/>
            <a:ext cx="5118300" cy="15267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1F2937"/>
              </a:buClr>
              <a:buSzPts val="3399"/>
              <a:buFont typeface="Arial"/>
              <a:buNone/>
            </a:pPr>
            <a:r>
              <a:rPr b="0" i="0" lang="en-US" sz="3399" u="none" cap="none" strike="noStrike">
                <a:solidFill>
                  <a:srgbClr val="1F2937"/>
                </a:solidFill>
                <a:latin typeface="Arial"/>
                <a:ea typeface="Arial"/>
                <a:cs typeface="Arial"/>
                <a:sym typeface="Arial"/>
              </a:rPr>
              <a:t>GPUs de consumidor: RTX 3060 (12 GB) e RTX 5080 (16 GB)</a:t>
            </a:r>
            <a:endParaRPr b="0" i="0" sz="3399" u="none" cap="none" strike="noStrike">
              <a:solidFill>
                <a:schemeClr val="dk1"/>
              </a:solidFill>
              <a:latin typeface="Calibri"/>
              <a:ea typeface="Calibri"/>
              <a:cs typeface="Calibri"/>
              <a:sym typeface="Calibri"/>
            </a:endParaRPr>
          </a:p>
        </p:txBody>
      </p:sp>
      <p:sp>
        <p:nvSpPr>
          <p:cNvPr id="306" name="Google Shape;306;p17"/>
          <p:cNvSpPr/>
          <p:nvPr/>
        </p:nvSpPr>
        <p:spPr>
          <a:xfrm>
            <a:off x="9270367" y="5560350"/>
            <a:ext cx="8506500" cy="2031900"/>
          </a:xfrm>
          <a:prstGeom prst="roundRect">
            <a:avLst>
              <a:gd fmla="val 8290" name="adj"/>
            </a:avLst>
          </a:prstGeom>
          <a:solidFill>
            <a:srgbClr val="F4F6FA"/>
          </a:solidFill>
          <a:ln>
            <a:noFill/>
          </a:ln>
        </p:spPr>
        <p:txBody>
          <a:bodyPr anchorCtr="0" anchor="ctr" bIns="101050" lIns="101050" spcFirstLastPara="1" rIns="101050" wrap="square" tIns="101050">
            <a:noAutofit/>
          </a:bodyPr>
          <a:lstStyle/>
          <a:p>
            <a:pPr indent="0" lvl="0" marL="0" rtl="0" algn="l">
              <a:spcBef>
                <a:spcPts val="0"/>
              </a:spcBef>
              <a:spcAft>
                <a:spcPts val="0"/>
              </a:spcAft>
              <a:buNone/>
            </a:pPr>
            <a:r>
              <a:t/>
            </a:r>
            <a:endParaRPr/>
          </a:p>
        </p:txBody>
      </p:sp>
      <p:pic>
        <p:nvPicPr>
          <p:cNvPr descr="preencoded.png" id="307" name="Google Shape;307;p17"/>
          <p:cNvPicPr preferRelativeResize="0"/>
          <p:nvPr/>
        </p:nvPicPr>
        <p:blipFill rotWithShape="1">
          <a:blip r:embed="rId6">
            <a:alphaModFix/>
          </a:blip>
          <a:srcRect b="0" l="0" r="0" t="0"/>
          <a:stretch/>
        </p:blipFill>
        <p:spPr>
          <a:xfrm>
            <a:off x="9628316" y="6028843"/>
            <a:ext cx="1094904" cy="1094904"/>
          </a:xfrm>
          <a:prstGeom prst="rect">
            <a:avLst/>
          </a:prstGeom>
          <a:noFill/>
          <a:ln>
            <a:noFill/>
          </a:ln>
        </p:spPr>
      </p:pic>
      <p:sp>
        <p:nvSpPr>
          <p:cNvPr id="308" name="Google Shape;308;p17"/>
          <p:cNvSpPr/>
          <p:nvPr/>
        </p:nvSpPr>
        <p:spPr>
          <a:xfrm>
            <a:off x="10954834" y="6202554"/>
            <a:ext cx="1347600" cy="7896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0F2369"/>
              </a:buClr>
              <a:buSzPts val="5140"/>
              <a:buFont typeface="Arial"/>
              <a:buNone/>
            </a:pPr>
            <a:r>
              <a:rPr b="1" i="0" lang="en-US" sz="5140" u="none" cap="none" strike="noStrike">
                <a:solidFill>
                  <a:srgbClr val="0F2369"/>
                </a:solidFill>
                <a:latin typeface="Arial"/>
                <a:ea typeface="Arial"/>
                <a:cs typeface="Arial"/>
                <a:sym typeface="Arial"/>
              </a:rPr>
              <a:t>5×</a:t>
            </a:r>
            <a:endParaRPr b="0" i="0" sz="5140" u="none" cap="none" strike="noStrike">
              <a:solidFill>
                <a:schemeClr val="dk1"/>
              </a:solidFill>
              <a:latin typeface="Calibri"/>
              <a:ea typeface="Calibri"/>
              <a:cs typeface="Calibri"/>
              <a:sym typeface="Calibri"/>
            </a:endParaRPr>
          </a:p>
        </p:txBody>
      </p:sp>
      <p:sp>
        <p:nvSpPr>
          <p:cNvPr id="309" name="Google Shape;309;p17"/>
          <p:cNvSpPr/>
          <p:nvPr/>
        </p:nvSpPr>
        <p:spPr>
          <a:xfrm>
            <a:off x="12073625" y="5834075"/>
            <a:ext cx="5494500" cy="1526700"/>
          </a:xfrm>
          <a:prstGeom prst="rect">
            <a:avLst/>
          </a:prstGeom>
          <a:noFill/>
          <a:ln>
            <a:noFill/>
          </a:ln>
        </p:spPr>
        <p:txBody>
          <a:bodyPr anchorCtr="0" anchor="t" bIns="28075" lIns="28075" spcFirstLastPara="1" rIns="28075" wrap="square" tIns="28075">
            <a:normAutofit/>
          </a:bodyPr>
          <a:lstStyle/>
          <a:p>
            <a:pPr indent="0" lvl="0" marL="0" marR="0" rtl="0" algn="l">
              <a:spcBef>
                <a:spcPts val="0"/>
              </a:spcBef>
              <a:spcAft>
                <a:spcPts val="0"/>
              </a:spcAft>
              <a:buClr>
                <a:srgbClr val="1F2937"/>
              </a:buClr>
              <a:buSzPts val="3399"/>
              <a:buFont typeface="Arial"/>
              <a:buNone/>
            </a:pPr>
            <a:r>
              <a:rPr b="0" i="0" lang="en-US" sz="3399" u="none" cap="none" strike="noStrike">
                <a:solidFill>
                  <a:srgbClr val="1F2937"/>
                </a:solidFill>
                <a:latin typeface="Arial"/>
                <a:ea typeface="Arial"/>
                <a:cs typeface="Arial"/>
                <a:sym typeface="Arial"/>
              </a:rPr>
              <a:t>execuções por par modelo–baseline, com IC de 95%</a:t>
            </a:r>
            <a:endParaRPr b="0" i="0" sz="3399" u="none" cap="none" strike="noStrike">
              <a:solidFill>
                <a:schemeClr val="dk1"/>
              </a:solidFill>
              <a:latin typeface="Calibri"/>
              <a:ea typeface="Calibri"/>
              <a:cs typeface="Calibri"/>
              <a:sym typeface="Calibri"/>
            </a:endParaRPr>
          </a:p>
        </p:txBody>
      </p:sp>
      <p:sp>
        <p:nvSpPr>
          <p:cNvPr id="310" name="Google Shape;310;p17"/>
          <p:cNvSpPr/>
          <p:nvPr/>
        </p:nvSpPr>
        <p:spPr>
          <a:xfrm>
            <a:off x="1333500" y="95250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311" name="Google Shape;311;p17"/>
          <p:cNvPicPr preferRelativeResize="0"/>
          <p:nvPr/>
        </p:nvPicPr>
        <p:blipFill rotWithShape="1">
          <a:blip r:embed="rId7">
            <a:alphaModFix/>
          </a:blip>
          <a:srcRect b="0" l="0" r="0" t="0"/>
          <a:stretch/>
        </p:blipFill>
        <p:spPr>
          <a:xfrm>
            <a:off x="13863935" y="9496425"/>
            <a:ext cx="1558826" cy="381000"/>
          </a:xfrm>
          <a:prstGeom prst="rect">
            <a:avLst/>
          </a:prstGeom>
          <a:noFill/>
          <a:ln>
            <a:noFill/>
          </a:ln>
        </p:spPr>
      </p:pic>
      <p:pic>
        <p:nvPicPr>
          <p:cNvPr descr="preencoded.png" id="312" name="Google Shape;312;p17"/>
          <p:cNvPicPr preferRelativeResize="0"/>
          <p:nvPr/>
        </p:nvPicPr>
        <p:blipFill rotWithShape="1">
          <a:blip r:embed="rId8">
            <a:alphaModFix/>
          </a:blip>
          <a:srcRect b="0" l="0" r="0" t="0"/>
          <a:stretch/>
        </p:blipFill>
        <p:spPr>
          <a:xfrm>
            <a:off x="15651361" y="9477375"/>
            <a:ext cx="636389" cy="419100"/>
          </a:xfrm>
          <a:prstGeom prst="rect">
            <a:avLst/>
          </a:prstGeom>
          <a:noFill/>
          <a:ln>
            <a:noFill/>
          </a:ln>
        </p:spPr>
      </p:pic>
      <p:pic>
        <p:nvPicPr>
          <p:cNvPr descr="preencoded.png" id="313" name="Google Shape;313;p17"/>
          <p:cNvPicPr preferRelativeResize="0"/>
          <p:nvPr/>
        </p:nvPicPr>
        <p:blipFill rotWithShape="1">
          <a:blip r:embed="rId9">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8"/>
          <p:cNvSpPr/>
          <p:nvPr/>
        </p:nvSpPr>
        <p:spPr>
          <a:xfrm>
            <a:off x="1333500" y="7620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01 · ABORDAGEM</a:t>
            </a:r>
            <a:endParaRPr b="0" i="0" sz="2400" u="none" cap="none" strike="noStrike">
              <a:solidFill>
                <a:schemeClr val="dk1"/>
              </a:solidFill>
              <a:latin typeface="Calibri"/>
              <a:ea typeface="Calibri"/>
              <a:cs typeface="Calibri"/>
              <a:sym typeface="Calibri"/>
            </a:endParaRPr>
          </a:p>
        </p:txBody>
      </p:sp>
      <p:sp>
        <p:nvSpPr>
          <p:cNvPr id="320" name="Google Shape;320;p18"/>
          <p:cNvSpPr/>
          <p:nvPr/>
        </p:nvSpPr>
        <p:spPr>
          <a:xfrm>
            <a:off x="1333500" y="1247775"/>
            <a:ext cx="17183100" cy="7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Métricas de avaliação</a:t>
            </a:r>
            <a:endParaRPr b="0" i="0" sz="4950" u="none" cap="none" strike="noStrike">
              <a:solidFill>
                <a:schemeClr val="dk1"/>
              </a:solidFill>
              <a:latin typeface="Calibri"/>
              <a:ea typeface="Calibri"/>
              <a:cs typeface="Calibri"/>
              <a:sym typeface="Calibri"/>
            </a:endParaRPr>
          </a:p>
        </p:txBody>
      </p:sp>
      <p:sp>
        <p:nvSpPr>
          <p:cNvPr id="321" name="Google Shape;321;p18"/>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15</a:t>
            </a:r>
            <a:endParaRPr b="0" i="0" sz="2400" u="none" cap="none" strike="noStrike">
              <a:solidFill>
                <a:schemeClr val="dk1"/>
              </a:solidFill>
              <a:latin typeface="Calibri"/>
              <a:ea typeface="Calibri"/>
              <a:cs typeface="Calibri"/>
              <a:sym typeface="Calibri"/>
            </a:endParaRPr>
          </a:p>
        </p:txBody>
      </p:sp>
      <p:sp>
        <p:nvSpPr>
          <p:cNvPr id="323" name="Google Shape;323;p18"/>
          <p:cNvSpPr/>
          <p:nvPr/>
        </p:nvSpPr>
        <p:spPr>
          <a:xfrm>
            <a:off x="1333500" y="2576513"/>
            <a:ext cx="15621000" cy="962025"/>
          </a:xfrm>
          <a:prstGeom prst="roundRect">
            <a:avLst>
              <a:gd fmla="val 13861"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1638300" y="2824163"/>
            <a:ext cx="2828925" cy="5048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BERTScore</a:t>
            </a:r>
            <a:endParaRPr b="0" i="0" sz="3225" u="none" cap="none" strike="noStrike">
              <a:solidFill>
                <a:schemeClr val="dk1"/>
              </a:solidFill>
              <a:latin typeface="Calibri"/>
              <a:ea typeface="Calibri"/>
              <a:cs typeface="Calibri"/>
              <a:sym typeface="Calibri"/>
            </a:endParaRPr>
          </a:p>
        </p:txBody>
      </p:sp>
      <p:sp>
        <p:nvSpPr>
          <p:cNvPr id="325" name="Google Shape;325;p18"/>
          <p:cNvSpPr/>
          <p:nvPr/>
        </p:nvSpPr>
        <p:spPr>
          <a:xfrm>
            <a:off x="4476750" y="2824163"/>
            <a:ext cx="8828276" cy="5048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fidelidade dos campos narrativos</a:t>
            </a:r>
            <a:endParaRPr b="0" i="0" sz="3225" u="none" cap="none" strike="noStrike">
              <a:solidFill>
                <a:schemeClr val="dk1"/>
              </a:solidFill>
              <a:latin typeface="Calibri"/>
              <a:ea typeface="Calibri"/>
              <a:cs typeface="Calibri"/>
              <a:sym typeface="Calibri"/>
            </a:endParaRPr>
          </a:p>
        </p:txBody>
      </p:sp>
      <p:sp>
        <p:nvSpPr>
          <p:cNvPr id="326" name="Google Shape;326;p18"/>
          <p:cNvSpPr/>
          <p:nvPr/>
        </p:nvSpPr>
        <p:spPr>
          <a:xfrm>
            <a:off x="11862500" y="2838450"/>
            <a:ext cx="4425300" cy="47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925"/>
              <a:buFont typeface="Courier New"/>
              <a:buNone/>
            </a:pPr>
            <a:r>
              <a:rPr b="0" i="0" lang="en-US" sz="2925" u="none" cap="none" strike="noStrike">
                <a:solidFill>
                  <a:srgbClr val="6B7280"/>
                </a:solidFill>
                <a:latin typeface="Courier New"/>
                <a:ea typeface="Courier New"/>
                <a:cs typeface="Courier New"/>
                <a:sym typeface="Courier New"/>
              </a:rPr>
              <a:t>insight, log_method</a:t>
            </a:r>
            <a:endParaRPr b="0" i="0" sz="2925" u="none" cap="none" strike="noStrike">
              <a:solidFill>
                <a:schemeClr val="dk1"/>
              </a:solidFill>
              <a:latin typeface="Calibri"/>
              <a:ea typeface="Calibri"/>
              <a:cs typeface="Calibri"/>
              <a:sym typeface="Calibri"/>
            </a:endParaRPr>
          </a:p>
        </p:txBody>
      </p:sp>
      <p:sp>
        <p:nvSpPr>
          <p:cNvPr id="327" name="Google Shape;327;p18"/>
          <p:cNvSpPr/>
          <p:nvPr/>
        </p:nvSpPr>
        <p:spPr>
          <a:xfrm>
            <a:off x="1333500" y="3729038"/>
            <a:ext cx="15621000" cy="1428750"/>
          </a:xfrm>
          <a:prstGeom prst="roundRect">
            <a:avLst>
              <a:gd fmla="val 9333"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1638300" y="4210050"/>
            <a:ext cx="3038475" cy="5048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Field-F1</a:t>
            </a:r>
            <a:endParaRPr b="0" i="0" sz="3225" u="none" cap="none" strike="noStrike">
              <a:solidFill>
                <a:schemeClr val="dk1"/>
              </a:solidFill>
              <a:latin typeface="Calibri"/>
              <a:ea typeface="Calibri"/>
              <a:cs typeface="Calibri"/>
              <a:sym typeface="Calibri"/>
            </a:endParaRPr>
          </a:p>
        </p:txBody>
      </p:sp>
      <p:sp>
        <p:nvSpPr>
          <p:cNvPr id="329" name="Google Shape;329;p18"/>
          <p:cNvSpPr/>
          <p:nvPr/>
        </p:nvSpPr>
        <p:spPr>
          <a:xfrm>
            <a:off x="4476750" y="4190980"/>
            <a:ext cx="7649400" cy="504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acerto exato dos campos determinísticos</a:t>
            </a:r>
            <a:endParaRPr b="0" i="0" sz="3225" u="none" cap="none" strike="noStrike">
              <a:solidFill>
                <a:schemeClr val="dk1"/>
              </a:solidFill>
              <a:latin typeface="Calibri"/>
              <a:ea typeface="Calibri"/>
              <a:cs typeface="Calibri"/>
              <a:sym typeface="Calibri"/>
            </a:endParaRPr>
          </a:p>
        </p:txBody>
      </p:sp>
      <p:sp>
        <p:nvSpPr>
          <p:cNvPr id="330" name="Google Shape;330;p18"/>
          <p:cNvSpPr/>
          <p:nvPr/>
        </p:nvSpPr>
        <p:spPr>
          <a:xfrm>
            <a:off x="14152050" y="3962375"/>
            <a:ext cx="2135700" cy="96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925"/>
              <a:buFont typeface="Courier New"/>
              <a:buNone/>
            </a:pPr>
            <a:r>
              <a:rPr b="0" i="0" lang="en-US" sz="2925" u="none" cap="none" strike="noStrike">
                <a:solidFill>
                  <a:srgbClr val="6B7280"/>
                </a:solidFill>
                <a:latin typeface="Courier New"/>
                <a:ea typeface="Courier New"/>
                <a:cs typeface="Courier New"/>
                <a:sym typeface="Courier New"/>
              </a:rPr>
              <a:t>cvss: 7.5 </a:t>
            </a:r>
            <a:br>
              <a:rPr lang="en-US" sz="2925">
                <a:solidFill>
                  <a:srgbClr val="6B7280"/>
                </a:solidFill>
                <a:latin typeface="Courier New"/>
                <a:ea typeface="Courier New"/>
                <a:cs typeface="Courier New"/>
                <a:sym typeface="Courier New"/>
              </a:rPr>
            </a:br>
            <a:r>
              <a:rPr b="0" i="0" lang="en-US" sz="2925" u="none" cap="none" strike="noStrike">
                <a:solidFill>
                  <a:srgbClr val="6B7280"/>
                </a:solidFill>
                <a:latin typeface="Courier New"/>
                <a:ea typeface="Courier New"/>
                <a:cs typeface="Courier New"/>
                <a:sym typeface="Courier New"/>
              </a:rPr>
              <a:t>port: 443</a:t>
            </a:r>
            <a:endParaRPr b="0" i="0" sz="2925" u="none" cap="none" strike="noStrike">
              <a:solidFill>
                <a:schemeClr val="dk1"/>
              </a:solidFill>
              <a:latin typeface="Calibri"/>
              <a:ea typeface="Calibri"/>
              <a:cs typeface="Calibri"/>
              <a:sym typeface="Calibri"/>
            </a:endParaRPr>
          </a:p>
        </p:txBody>
      </p:sp>
      <p:sp>
        <p:nvSpPr>
          <p:cNvPr id="331" name="Google Shape;331;p18"/>
          <p:cNvSpPr/>
          <p:nvPr/>
        </p:nvSpPr>
        <p:spPr>
          <a:xfrm>
            <a:off x="1333500" y="5348288"/>
            <a:ext cx="15621000" cy="962025"/>
          </a:xfrm>
          <a:prstGeom prst="roundRect">
            <a:avLst>
              <a:gd fmla="val 13861"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8"/>
          <p:cNvSpPr/>
          <p:nvPr/>
        </p:nvSpPr>
        <p:spPr>
          <a:xfrm>
            <a:off x="1638300" y="5595938"/>
            <a:ext cx="3038475" cy="5048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Cobertura</a:t>
            </a:r>
            <a:endParaRPr b="0" i="0" sz="3225" u="none" cap="none" strike="noStrike">
              <a:solidFill>
                <a:schemeClr val="dk1"/>
              </a:solidFill>
              <a:latin typeface="Calibri"/>
              <a:ea typeface="Calibri"/>
              <a:cs typeface="Calibri"/>
              <a:sym typeface="Calibri"/>
            </a:endParaRPr>
          </a:p>
        </p:txBody>
      </p:sp>
      <p:sp>
        <p:nvSpPr>
          <p:cNvPr id="333" name="Google Shape;333;p18"/>
          <p:cNvSpPr/>
          <p:nvPr/>
        </p:nvSpPr>
        <p:spPr>
          <a:xfrm>
            <a:off x="4476750" y="5576888"/>
            <a:ext cx="8394000" cy="504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registro omitido ou inventado</a:t>
            </a:r>
            <a:endParaRPr b="0" i="0" sz="3225" u="none" cap="none" strike="noStrike">
              <a:solidFill>
                <a:schemeClr val="dk1"/>
              </a:solidFill>
              <a:latin typeface="Calibri"/>
              <a:ea typeface="Calibri"/>
              <a:cs typeface="Calibri"/>
              <a:sym typeface="Calibri"/>
            </a:endParaRPr>
          </a:p>
        </p:txBody>
      </p:sp>
      <p:sp>
        <p:nvSpPr>
          <p:cNvPr id="334" name="Google Shape;334;p18"/>
          <p:cNvSpPr/>
          <p:nvPr/>
        </p:nvSpPr>
        <p:spPr>
          <a:xfrm>
            <a:off x="11798850" y="5591263"/>
            <a:ext cx="4717500" cy="47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925"/>
              <a:buFont typeface="Courier New"/>
              <a:buNone/>
            </a:pPr>
            <a:r>
              <a:rPr b="0" i="0" lang="en-US" sz="2925" u="none" cap="none" strike="noStrike">
                <a:solidFill>
                  <a:srgbClr val="6B7280"/>
                </a:solidFill>
                <a:latin typeface="Courier New"/>
                <a:ea typeface="Courier New"/>
                <a:cs typeface="Courier New"/>
                <a:sym typeface="Courier New"/>
              </a:rPr>
              <a:t>omissão = 1 – recall</a:t>
            </a:r>
            <a:endParaRPr b="0" i="0" sz="2925" u="none" cap="none" strike="noStrike">
              <a:solidFill>
                <a:schemeClr val="dk1"/>
              </a:solidFill>
              <a:latin typeface="Calibri"/>
              <a:ea typeface="Calibri"/>
              <a:cs typeface="Calibri"/>
              <a:sym typeface="Calibri"/>
            </a:endParaRPr>
          </a:p>
        </p:txBody>
      </p:sp>
      <p:sp>
        <p:nvSpPr>
          <p:cNvPr id="335" name="Google Shape;335;p18"/>
          <p:cNvSpPr/>
          <p:nvPr/>
        </p:nvSpPr>
        <p:spPr>
          <a:xfrm>
            <a:off x="1333500" y="6500813"/>
            <a:ext cx="15621000" cy="962025"/>
          </a:xfrm>
          <a:prstGeom prst="roundRect">
            <a:avLst>
              <a:gd fmla="val 13861"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1638300" y="6748463"/>
            <a:ext cx="3038475" cy="5048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Schema</a:t>
            </a:r>
            <a:endParaRPr b="0" i="0" sz="3225" u="none" cap="none" strike="noStrike">
              <a:solidFill>
                <a:schemeClr val="dk1"/>
              </a:solidFill>
              <a:latin typeface="Calibri"/>
              <a:ea typeface="Calibri"/>
              <a:cs typeface="Calibri"/>
              <a:sym typeface="Calibri"/>
            </a:endParaRPr>
          </a:p>
        </p:txBody>
      </p:sp>
      <p:sp>
        <p:nvSpPr>
          <p:cNvPr id="337" name="Google Shape;337;p18"/>
          <p:cNvSpPr/>
          <p:nvPr/>
        </p:nvSpPr>
        <p:spPr>
          <a:xfrm>
            <a:off x="4476750" y="6748463"/>
            <a:ext cx="8618700" cy="504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registro conforma ao esquema JSON</a:t>
            </a:r>
            <a:endParaRPr b="0" i="0" sz="3225" u="none" cap="none" strike="noStrike">
              <a:solidFill>
                <a:schemeClr val="dk1"/>
              </a:solidFill>
              <a:latin typeface="Calibri"/>
              <a:ea typeface="Calibri"/>
              <a:cs typeface="Calibri"/>
              <a:sym typeface="Calibri"/>
            </a:endParaRPr>
          </a:p>
        </p:txBody>
      </p:sp>
      <p:sp>
        <p:nvSpPr>
          <p:cNvPr id="338" name="Google Shape;338;p18"/>
          <p:cNvSpPr/>
          <p:nvPr/>
        </p:nvSpPr>
        <p:spPr>
          <a:xfrm>
            <a:off x="12136650" y="6667450"/>
            <a:ext cx="4379700" cy="890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925"/>
              <a:buFont typeface="Courier New"/>
              <a:buNone/>
            </a:pPr>
            <a:r>
              <a:rPr b="0" i="0" lang="en-US" sz="2925" u="none" cap="none" strike="noStrike">
                <a:solidFill>
                  <a:srgbClr val="6B7280"/>
                </a:solidFill>
                <a:latin typeface="Courier New"/>
                <a:ea typeface="Courier New"/>
                <a:cs typeface="Courier New"/>
                <a:sym typeface="Courier New"/>
              </a:rPr>
              <a:t>valida / não valida</a:t>
            </a:r>
            <a:endParaRPr b="0" i="0" sz="2925" u="none" cap="none" strike="noStrike">
              <a:solidFill>
                <a:schemeClr val="dk1"/>
              </a:solidFill>
              <a:latin typeface="Calibri"/>
              <a:ea typeface="Calibri"/>
              <a:cs typeface="Calibri"/>
              <a:sym typeface="Calibri"/>
            </a:endParaRPr>
          </a:p>
        </p:txBody>
      </p:sp>
      <p:sp>
        <p:nvSpPr>
          <p:cNvPr id="339" name="Google Shape;339;p18"/>
          <p:cNvSpPr/>
          <p:nvPr/>
        </p:nvSpPr>
        <p:spPr>
          <a:xfrm>
            <a:off x="1333500" y="7653337"/>
            <a:ext cx="15621000" cy="962025"/>
          </a:xfrm>
          <a:prstGeom prst="roundRect">
            <a:avLst>
              <a:gd fmla="val 13861"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1638300" y="7900988"/>
            <a:ext cx="3038475" cy="5048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Severidade</a:t>
            </a:r>
            <a:endParaRPr b="0" i="0" sz="3225" u="none" cap="none" strike="noStrike">
              <a:solidFill>
                <a:schemeClr val="dk1"/>
              </a:solidFill>
              <a:latin typeface="Calibri"/>
              <a:ea typeface="Calibri"/>
              <a:cs typeface="Calibri"/>
              <a:sym typeface="Calibri"/>
            </a:endParaRPr>
          </a:p>
        </p:txBody>
      </p:sp>
      <p:sp>
        <p:nvSpPr>
          <p:cNvPr id="341" name="Google Shape;341;p18"/>
          <p:cNvSpPr/>
          <p:nvPr/>
        </p:nvSpPr>
        <p:spPr>
          <a:xfrm>
            <a:off x="4476750" y="7915263"/>
            <a:ext cx="9741900" cy="504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macro-F1 por classe de severidade</a:t>
            </a:r>
            <a:endParaRPr b="0" i="0" sz="3225" u="none" cap="none" strike="noStrike">
              <a:solidFill>
                <a:schemeClr val="dk1"/>
              </a:solidFill>
              <a:latin typeface="Calibri"/>
              <a:ea typeface="Calibri"/>
              <a:cs typeface="Calibri"/>
              <a:sym typeface="Calibri"/>
            </a:endParaRPr>
          </a:p>
        </p:txBody>
      </p:sp>
      <p:sp>
        <p:nvSpPr>
          <p:cNvPr id="342" name="Google Shape;342;p18"/>
          <p:cNvSpPr/>
          <p:nvPr/>
        </p:nvSpPr>
        <p:spPr>
          <a:xfrm>
            <a:off x="13285950" y="7915275"/>
            <a:ext cx="3230400" cy="504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925"/>
              <a:buFont typeface="Courier New"/>
              <a:buNone/>
            </a:pPr>
            <a:r>
              <a:rPr b="0" i="0" lang="en-US" sz="2925" u="none" cap="none" strike="noStrike">
                <a:solidFill>
                  <a:srgbClr val="6B7280"/>
                </a:solidFill>
                <a:latin typeface="Courier New"/>
                <a:ea typeface="Courier New"/>
                <a:cs typeface="Courier New"/>
                <a:sym typeface="Courier New"/>
              </a:rPr>
              <a:t>low</a:t>
            </a:r>
            <a:r>
              <a:rPr b="0" i="0" lang="en-US" sz="2925" u="none" cap="none" strike="noStrike">
                <a:solidFill>
                  <a:srgbClr val="6B7280"/>
                </a:solidFill>
                <a:latin typeface="Courier New"/>
                <a:ea typeface="Courier New"/>
                <a:cs typeface="Courier New"/>
                <a:sym typeface="Courier New"/>
              </a:rPr>
              <a:t> … </a:t>
            </a:r>
            <a:r>
              <a:rPr b="0" i="0" lang="en-US" sz="2925" u="none" cap="none" strike="noStrike">
                <a:solidFill>
                  <a:srgbClr val="6B7280"/>
                </a:solidFill>
                <a:latin typeface="Courier New"/>
                <a:ea typeface="Courier New"/>
                <a:cs typeface="Courier New"/>
                <a:sym typeface="Courier New"/>
              </a:rPr>
              <a:t>critical</a:t>
            </a:r>
            <a:endParaRPr b="0" i="0" sz="2925" u="none" cap="none" strike="noStrike">
              <a:solidFill>
                <a:schemeClr val="dk1"/>
              </a:solidFill>
              <a:latin typeface="Calibri"/>
              <a:ea typeface="Calibri"/>
              <a:cs typeface="Calibri"/>
              <a:sym typeface="Calibri"/>
            </a:endParaRPr>
          </a:p>
        </p:txBody>
      </p:sp>
      <p:sp>
        <p:nvSpPr>
          <p:cNvPr id="343" name="Google Shape;343;p18"/>
          <p:cNvSpPr/>
          <p:nvPr/>
        </p:nvSpPr>
        <p:spPr>
          <a:xfrm>
            <a:off x="1333500" y="95631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344" name="Google Shape;344;p18"/>
          <p:cNvPicPr preferRelativeResize="0"/>
          <p:nvPr/>
        </p:nvPicPr>
        <p:blipFill rotWithShape="1">
          <a:blip r:embed="rId3">
            <a:alphaModFix/>
          </a:blip>
          <a:srcRect b="0" l="0" r="0" t="0"/>
          <a:stretch/>
        </p:blipFill>
        <p:spPr>
          <a:xfrm>
            <a:off x="13863935" y="9534525"/>
            <a:ext cx="1558826" cy="381000"/>
          </a:xfrm>
          <a:prstGeom prst="rect">
            <a:avLst/>
          </a:prstGeom>
          <a:noFill/>
          <a:ln>
            <a:noFill/>
          </a:ln>
        </p:spPr>
      </p:pic>
      <p:pic>
        <p:nvPicPr>
          <p:cNvPr descr="preencoded.png" id="345" name="Google Shape;345;p18"/>
          <p:cNvPicPr preferRelativeResize="0"/>
          <p:nvPr/>
        </p:nvPicPr>
        <p:blipFill rotWithShape="1">
          <a:blip r:embed="rId4">
            <a:alphaModFix/>
          </a:blip>
          <a:srcRect b="0" l="0" r="0" t="0"/>
          <a:stretch/>
        </p:blipFill>
        <p:spPr>
          <a:xfrm>
            <a:off x="15651361" y="9515475"/>
            <a:ext cx="636389" cy="419100"/>
          </a:xfrm>
          <a:prstGeom prst="rect">
            <a:avLst/>
          </a:prstGeom>
          <a:noFill/>
          <a:ln>
            <a:noFill/>
          </a:ln>
        </p:spPr>
      </p:pic>
      <p:pic>
        <p:nvPicPr>
          <p:cNvPr descr="preencoded.png" id="346" name="Google Shape;346;p18"/>
          <p:cNvPicPr preferRelativeResize="0"/>
          <p:nvPr/>
        </p:nvPicPr>
        <p:blipFill rotWithShape="1">
          <a:blip r:embed="rId5">
            <a:alphaModFix/>
          </a:blip>
          <a:srcRect b="0" l="0" r="0" t="0"/>
          <a:stretch/>
        </p:blipFill>
        <p:spPr>
          <a:xfrm>
            <a:off x="16516350" y="9505950"/>
            <a:ext cx="438150" cy="43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20"/>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353" name="Google Shape;353;p20"/>
          <p:cNvSpPr/>
          <p:nvPr/>
        </p:nvSpPr>
        <p:spPr>
          <a:xfrm>
            <a:off x="1333500" y="1457325"/>
            <a:ext cx="17183100" cy="687586"/>
          </a:xfrm>
          <a:prstGeom prst="rect">
            <a:avLst/>
          </a:prstGeom>
          <a:noFill/>
          <a:ln>
            <a:noFill/>
          </a:ln>
        </p:spPr>
        <p:txBody>
          <a:bodyPr anchorCtr="0" anchor="t" bIns="25400" lIns="25400" spcFirstLastPara="1" rIns="25400" wrap="square" tIns="25400">
            <a:normAutofit/>
          </a:bodyPr>
          <a:lstStyle/>
          <a:p>
            <a:pPr indent="0" lvl="0" marL="0" marR="0" rtl="0" algn="l">
              <a:lnSpc>
                <a:spcPct val="96056"/>
              </a:lnSpc>
              <a:spcBef>
                <a:spcPts val="0"/>
              </a:spcBef>
              <a:spcAft>
                <a:spcPts val="0"/>
              </a:spcAft>
              <a:buClr>
                <a:srgbClr val="0F2369"/>
              </a:buClr>
              <a:buSzPts val="4650"/>
              <a:buFont typeface="Arial"/>
              <a:buNone/>
            </a:pPr>
            <a:r>
              <a:rPr b="1" i="0" lang="en-US" sz="4650" u="none" cap="none" strike="noStrike">
                <a:solidFill>
                  <a:srgbClr val="0F2369"/>
                </a:solidFill>
                <a:latin typeface="Arial"/>
                <a:ea typeface="Arial"/>
                <a:cs typeface="Arial"/>
                <a:sym typeface="Arial"/>
              </a:rPr>
              <a:t>O melhor local fica a 1,2 ponto da nuvem</a:t>
            </a:r>
            <a:endParaRPr b="0" i="0" sz="4650" u="none" cap="none" strike="noStrike">
              <a:solidFill>
                <a:schemeClr val="dk1"/>
              </a:solidFill>
              <a:latin typeface="Calibri"/>
              <a:ea typeface="Calibri"/>
              <a:cs typeface="Calibri"/>
              <a:sym typeface="Calibri"/>
            </a:endParaRPr>
          </a:p>
        </p:txBody>
      </p:sp>
      <p:sp>
        <p:nvSpPr>
          <p:cNvPr id="354" name="Google Shape;354;p20"/>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0"/>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16</a:t>
            </a:r>
            <a:endParaRPr b="0" i="0" sz="2400" u="none" cap="none" strike="noStrike">
              <a:solidFill>
                <a:schemeClr val="dk1"/>
              </a:solidFill>
              <a:latin typeface="Calibri"/>
              <a:ea typeface="Calibri"/>
              <a:cs typeface="Calibri"/>
              <a:sym typeface="Calibri"/>
            </a:endParaRPr>
          </a:p>
        </p:txBody>
      </p:sp>
      <p:sp>
        <p:nvSpPr>
          <p:cNvPr id="356" name="Google Shape;356;p20"/>
          <p:cNvSpPr/>
          <p:nvPr/>
        </p:nvSpPr>
        <p:spPr>
          <a:xfrm>
            <a:off x="519565" y="2792600"/>
            <a:ext cx="12971100" cy="829800"/>
          </a:xfrm>
          <a:prstGeom prst="rect">
            <a:avLst/>
          </a:prstGeom>
          <a:solidFill>
            <a:srgbClr val="0F2369"/>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57" name="Google Shape;357;p20"/>
          <p:cNvSpPr/>
          <p:nvPr/>
        </p:nvSpPr>
        <p:spPr>
          <a:xfrm>
            <a:off x="744910" y="2956486"/>
            <a:ext cx="5566500" cy="5427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Modelo</a:t>
            </a:r>
            <a:endParaRPr b="0" i="0" sz="3468" u="none" cap="none" strike="noStrike">
              <a:solidFill>
                <a:schemeClr val="dk1"/>
              </a:solidFill>
              <a:latin typeface="Calibri"/>
              <a:ea typeface="Calibri"/>
              <a:cs typeface="Calibri"/>
              <a:sym typeface="Calibri"/>
            </a:endParaRPr>
          </a:p>
        </p:txBody>
      </p:sp>
      <p:sp>
        <p:nvSpPr>
          <p:cNvPr id="358" name="Google Shape;358;p20"/>
          <p:cNvSpPr/>
          <p:nvPr/>
        </p:nvSpPr>
        <p:spPr>
          <a:xfrm>
            <a:off x="6543956" y="2956486"/>
            <a:ext cx="25095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BERTScore</a:t>
            </a:r>
            <a:endParaRPr b="0" i="0" sz="3468" u="none" cap="none" strike="noStrike">
              <a:solidFill>
                <a:schemeClr val="dk1"/>
              </a:solidFill>
              <a:latin typeface="Calibri"/>
              <a:ea typeface="Calibri"/>
              <a:cs typeface="Calibri"/>
              <a:sym typeface="Calibri"/>
            </a:endParaRPr>
          </a:p>
        </p:txBody>
      </p:sp>
      <p:sp>
        <p:nvSpPr>
          <p:cNvPr id="359" name="Google Shape;359;p20"/>
          <p:cNvSpPr/>
          <p:nvPr/>
        </p:nvSpPr>
        <p:spPr>
          <a:xfrm>
            <a:off x="9420039" y="2956486"/>
            <a:ext cx="17460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Field F1</a:t>
            </a:r>
            <a:endParaRPr b="0" i="0" sz="3468" u="none" cap="none" strike="noStrike">
              <a:solidFill>
                <a:schemeClr val="dk1"/>
              </a:solidFill>
              <a:latin typeface="Calibri"/>
              <a:ea typeface="Calibri"/>
              <a:cs typeface="Calibri"/>
              <a:sym typeface="Calibri"/>
            </a:endParaRPr>
          </a:p>
        </p:txBody>
      </p:sp>
      <p:sp>
        <p:nvSpPr>
          <p:cNvPr id="360" name="Google Shape;360;p20"/>
          <p:cNvSpPr/>
          <p:nvPr/>
        </p:nvSpPr>
        <p:spPr>
          <a:xfrm>
            <a:off x="11534885" y="2956486"/>
            <a:ext cx="17715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Schema</a:t>
            </a:r>
            <a:endParaRPr b="0" i="0" sz="3468" u="none" cap="none" strike="noStrike">
              <a:solidFill>
                <a:schemeClr val="dk1"/>
              </a:solidFill>
              <a:latin typeface="Calibri"/>
              <a:ea typeface="Calibri"/>
              <a:cs typeface="Calibri"/>
              <a:sym typeface="Calibri"/>
            </a:endParaRPr>
          </a:p>
        </p:txBody>
      </p:sp>
      <p:sp>
        <p:nvSpPr>
          <p:cNvPr id="361" name="Google Shape;361;p20"/>
          <p:cNvSpPr/>
          <p:nvPr/>
        </p:nvSpPr>
        <p:spPr>
          <a:xfrm>
            <a:off x="519565" y="4339281"/>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62" name="Google Shape;362;p20"/>
          <p:cNvSpPr/>
          <p:nvPr/>
        </p:nvSpPr>
        <p:spPr>
          <a:xfrm>
            <a:off x="724424" y="3704220"/>
            <a:ext cx="5607600" cy="6147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Ministral 3 (8B)</a:t>
            </a:r>
            <a:endParaRPr b="0" i="0" sz="3307" u="none" cap="none" strike="noStrike">
              <a:solidFill>
                <a:schemeClr val="dk1"/>
              </a:solidFill>
              <a:latin typeface="Calibri"/>
              <a:ea typeface="Calibri"/>
              <a:cs typeface="Calibri"/>
              <a:sym typeface="Calibri"/>
            </a:endParaRPr>
          </a:p>
        </p:txBody>
      </p:sp>
      <p:sp>
        <p:nvSpPr>
          <p:cNvPr id="363" name="Google Shape;363;p20"/>
          <p:cNvSpPr/>
          <p:nvPr/>
        </p:nvSpPr>
        <p:spPr>
          <a:xfrm>
            <a:off x="7225009" y="3704220"/>
            <a:ext cx="1147200" cy="563400"/>
          </a:xfrm>
          <a:prstGeom prst="roundRect">
            <a:avLst>
              <a:gd fmla="val 18182" name="adj"/>
            </a:avLst>
          </a:prstGeom>
          <a:solidFill>
            <a:srgbClr val="0A866E"/>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64" name="Google Shape;364;p20"/>
          <p:cNvSpPr/>
          <p:nvPr/>
        </p:nvSpPr>
        <p:spPr>
          <a:xfrm>
            <a:off x="7311049" y="3745192"/>
            <a:ext cx="975300" cy="522300"/>
          </a:xfrm>
          <a:prstGeom prst="rect">
            <a:avLst/>
          </a:prstGeom>
          <a:noFill/>
          <a:ln>
            <a:noFill/>
          </a:ln>
        </p:spPr>
        <p:txBody>
          <a:bodyPr anchorCtr="0" anchor="t" bIns="27300" lIns="27300" spcFirstLastPara="1" rIns="27300" wrap="square" tIns="27300">
            <a:norm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93,0</a:t>
            </a:r>
            <a:endParaRPr b="0" i="0" sz="3307" u="none" cap="none" strike="noStrike">
              <a:solidFill>
                <a:schemeClr val="dk1"/>
              </a:solidFill>
              <a:latin typeface="Calibri"/>
              <a:ea typeface="Calibri"/>
              <a:cs typeface="Calibri"/>
              <a:sym typeface="Calibri"/>
            </a:endParaRPr>
          </a:p>
        </p:txBody>
      </p:sp>
      <p:sp>
        <p:nvSpPr>
          <p:cNvPr id="365" name="Google Shape;365;p20"/>
          <p:cNvSpPr/>
          <p:nvPr/>
        </p:nvSpPr>
        <p:spPr>
          <a:xfrm>
            <a:off x="9399553" y="3704220"/>
            <a:ext cx="1787100" cy="614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98,4</a:t>
            </a:r>
            <a:endParaRPr b="0" i="0" sz="3307" u="none" cap="none" strike="noStrike">
              <a:solidFill>
                <a:schemeClr val="dk1"/>
              </a:solidFill>
              <a:latin typeface="Calibri"/>
              <a:ea typeface="Calibri"/>
              <a:cs typeface="Calibri"/>
              <a:sym typeface="Calibri"/>
            </a:endParaRPr>
          </a:p>
        </p:txBody>
      </p:sp>
      <p:sp>
        <p:nvSpPr>
          <p:cNvPr id="366" name="Google Shape;366;p20"/>
          <p:cNvSpPr/>
          <p:nvPr/>
        </p:nvSpPr>
        <p:spPr>
          <a:xfrm>
            <a:off x="11514400" y="3704220"/>
            <a:ext cx="1812300" cy="614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96,0</a:t>
            </a:r>
            <a:endParaRPr b="0" i="0" sz="3307" u="none" cap="none" strike="noStrike">
              <a:solidFill>
                <a:schemeClr val="dk1"/>
              </a:solidFill>
              <a:latin typeface="Calibri"/>
              <a:ea typeface="Calibri"/>
              <a:cs typeface="Calibri"/>
              <a:sym typeface="Calibri"/>
            </a:endParaRPr>
          </a:p>
        </p:txBody>
      </p:sp>
      <p:sp>
        <p:nvSpPr>
          <p:cNvPr id="367" name="Google Shape;367;p20"/>
          <p:cNvSpPr/>
          <p:nvPr/>
        </p:nvSpPr>
        <p:spPr>
          <a:xfrm>
            <a:off x="519565" y="5005071"/>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68" name="Google Shape;368;p20"/>
          <p:cNvSpPr/>
          <p:nvPr/>
        </p:nvSpPr>
        <p:spPr>
          <a:xfrm>
            <a:off x="724424" y="4441711"/>
            <a:ext cx="6016800" cy="5427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gpt-oss (21B)</a:t>
            </a:r>
            <a:endParaRPr b="0" i="0" sz="3307" u="none" cap="none" strike="noStrike">
              <a:solidFill>
                <a:schemeClr val="dk1"/>
              </a:solidFill>
              <a:latin typeface="Calibri"/>
              <a:ea typeface="Calibri"/>
              <a:cs typeface="Calibri"/>
              <a:sym typeface="Calibri"/>
            </a:endParaRPr>
          </a:p>
        </p:txBody>
      </p:sp>
      <p:sp>
        <p:nvSpPr>
          <p:cNvPr id="369" name="Google Shape;369;p20"/>
          <p:cNvSpPr/>
          <p:nvPr/>
        </p:nvSpPr>
        <p:spPr>
          <a:xfrm>
            <a:off x="6422883" y="4441711"/>
            <a:ext cx="27516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91,1</a:t>
            </a:r>
            <a:endParaRPr b="0" i="0" sz="3307" u="none" cap="none" strike="noStrike">
              <a:solidFill>
                <a:schemeClr val="dk1"/>
              </a:solidFill>
              <a:latin typeface="Calibri"/>
              <a:ea typeface="Calibri"/>
              <a:cs typeface="Calibri"/>
              <a:sym typeface="Calibri"/>
            </a:endParaRPr>
          </a:p>
        </p:txBody>
      </p:sp>
      <p:sp>
        <p:nvSpPr>
          <p:cNvPr id="370" name="Google Shape;370;p20"/>
          <p:cNvSpPr/>
          <p:nvPr/>
        </p:nvSpPr>
        <p:spPr>
          <a:xfrm>
            <a:off x="9334782" y="4441711"/>
            <a:ext cx="19167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98,5</a:t>
            </a:r>
            <a:endParaRPr b="0" i="0" sz="3307" u="none" cap="none" strike="noStrike">
              <a:solidFill>
                <a:schemeClr val="dk1"/>
              </a:solidFill>
              <a:latin typeface="Calibri"/>
              <a:ea typeface="Calibri"/>
              <a:cs typeface="Calibri"/>
              <a:sym typeface="Calibri"/>
            </a:endParaRPr>
          </a:p>
        </p:txBody>
      </p:sp>
      <p:sp>
        <p:nvSpPr>
          <p:cNvPr id="371" name="Google Shape;371;p20"/>
          <p:cNvSpPr/>
          <p:nvPr/>
        </p:nvSpPr>
        <p:spPr>
          <a:xfrm>
            <a:off x="11448364" y="4441711"/>
            <a:ext cx="19443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99,8</a:t>
            </a:r>
            <a:endParaRPr b="0" i="0" sz="3307" u="none" cap="none" strike="noStrike">
              <a:solidFill>
                <a:schemeClr val="dk1"/>
              </a:solidFill>
              <a:latin typeface="Calibri"/>
              <a:ea typeface="Calibri"/>
              <a:cs typeface="Calibri"/>
              <a:sym typeface="Calibri"/>
            </a:endParaRPr>
          </a:p>
        </p:txBody>
      </p:sp>
      <p:sp>
        <p:nvSpPr>
          <p:cNvPr id="372" name="Google Shape;372;p20"/>
          <p:cNvSpPr/>
          <p:nvPr/>
        </p:nvSpPr>
        <p:spPr>
          <a:xfrm>
            <a:off x="519565" y="575280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73" name="Google Shape;373;p20"/>
          <p:cNvSpPr/>
          <p:nvPr/>
        </p:nvSpPr>
        <p:spPr>
          <a:xfrm>
            <a:off x="724424" y="5107501"/>
            <a:ext cx="5607600" cy="6246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Phi-4 (14B)</a:t>
            </a:r>
            <a:endParaRPr b="0" i="0" sz="3307" u="none" cap="none" strike="noStrike">
              <a:solidFill>
                <a:schemeClr val="dk1"/>
              </a:solidFill>
              <a:latin typeface="Calibri"/>
              <a:ea typeface="Calibri"/>
              <a:cs typeface="Calibri"/>
              <a:sym typeface="Calibri"/>
            </a:endParaRPr>
          </a:p>
        </p:txBody>
      </p:sp>
      <p:sp>
        <p:nvSpPr>
          <p:cNvPr id="374" name="Google Shape;374;p20"/>
          <p:cNvSpPr/>
          <p:nvPr/>
        </p:nvSpPr>
        <p:spPr>
          <a:xfrm>
            <a:off x="6523470" y="5107501"/>
            <a:ext cx="2550600" cy="6246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91,0</a:t>
            </a:r>
            <a:endParaRPr b="0" i="0" sz="3307" u="none" cap="none" strike="noStrike">
              <a:solidFill>
                <a:schemeClr val="dk1"/>
              </a:solidFill>
              <a:latin typeface="Calibri"/>
              <a:ea typeface="Calibri"/>
              <a:cs typeface="Calibri"/>
              <a:sym typeface="Calibri"/>
            </a:endParaRPr>
          </a:p>
        </p:txBody>
      </p:sp>
      <p:sp>
        <p:nvSpPr>
          <p:cNvPr id="375" name="Google Shape;375;p20"/>
          <p:cNvSpPr/>
          <p:nvPr/>
        </p:nvSpPr>
        <p:spPr>
          <a:xfrm>
            <a:off x="9719484" y="5117744"/>
            <a:ext cx="1147200" cy="563400"/>
          </a:xfrm>
          <a:prstGeom prst="roundRect">
            <a:avLst>
              <a:gd fmla="val 18182" name="adj"/>
            </a:avLst>
          </a:prstGeom>
          <a:solidFill>
            <a:srgbClr val="0A866E"/>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76" name="Google Shape;376;p20"/>
          <p:cNvSpPr/>
          <p:nvPr/>
        </p:nvSpPr>
        <p:spPr>
          <a:xfrm>
            <a:off x="9805525" y="5158715"/>
            <a:ext cx="975300" cy="522300"/>
          </a:xfrm>
          <a:prstGeom prst="rect">
            <a:avLst/>
          </a:prstGeom>
          <a:noFill/>
          <a:ln>
            <a:noFill/>
          </a:ln>
        </p:spPr>
        <p:txBody>
          <a:bodyPr anchorCtr="0" anchor="t" bIns="27300" lIns="27300" spcFirstLastPara="1" rIns="27300" wrap="square" tIns="27300">
            <a:norm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98,8</a:t>
            </a:r>
            <a:endParaRPr b="0" i="0" sz="3307" u="none" cap="none" strike="noStrike">
              <a:solidFill>
                <a:schemeClr val="dk1"/>
              </a:solidFill>
              <a:latin typeface="Calibri"/>
              <a:ea typeface="Calibri"/>
              <a:cs typeface="Calibri"/>
              <a:sym typeface="Calibri"/>
            </a:endParaRPr>
          </a:p>
        </p:txBody>
      </p:sp>
      <p:sp>
        <p:nvSpPr>
          <p:cNvPr id="377" name="Google Shape;377;p20"/>
          <p:cNvSpPr/>
          <p:nvPr/>
        </p:nvSpPr>
        <p:spPr>
          <a:xfrm>
            <a:off x="11751587" y="5117744"/>
            <a:ext cx="1337700" cy="563400"/>
          </a:xfrm>
          <a:prstGeom prst="roundRect">
            <a:avLst>
              <a:gd fmla="val 18182" name="adj"/>
            </a:avLst>
          </a:prstGeom>
          <a:solidFill>
            <a:srgbClr val="0A866E"/>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78" name="Google Shape;378;p20"/>
          <p:cNvSpPr/>
          <p:nvPr/>
        </p:nvSpPr>
        <p:spPr>
          <a:xfrm>
            <a:off x="11828097" y="5158715"/>
            <a:ext cx="1185000" cy="522300"/>
          </a:xfrm>
          <a:prstGeom prst="rect">
            <a:avLst/>
          </a:prstGeom>
          <a:noFill/>
          <a:ln>
            <a:noFill/>
          </a:ln>
        </p:spPr>
        <p:txBody>
          <a:bodyPr anchorCtr="0" anchor="t" bIns="27300" lIns="27300" spcFirstLastPara="1" rIns="27300" wrap="square" tIns="27300">
            <a:norm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100,0</a:t>
            </a:r>
            <a:endParaRPr b="0" i="0" sz="3307" u="none" cap="none" strike="noStrike">
              <a:solidFill>
                <a:schemeClr val="dk1"/>
              </a:solidFill>
              <a:latin typeface="Calibri"/>
              <a:ea typeface="Calibri"/>
              <a:cs typeface="Calibri"/>
              <a:sym typeface="Calibri"/>
            </a:endParaRPr>
          </a:p>
        </p:txBody>
      </p:sp>
      <p:sp>
        <p:nvSpPr>
          <p:cNvPr id="379" name="Google Shape;379;p20"/>
          <p:cNvSpPr/>
          <p:nvPr/>
        </p:nvSpPr>
        <p:spPr>
          <a:xfrm>
            <a:off x="519565" y="641859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80" name="Google Shape;380;p20"/>
          <p:cNvSpPr/>
          <p:nvPr/>
        </p:nvSpPr>
        <p:spPr>
          <a:xfrm>
            <a:off x="724424" y="5855234"/>
            <a:ext cx="6016800" cy="5427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Llama 3.1 (8B)</a:t>
            </a:r>
            <a:endParaRPr b="0" i="0" sz="3307" u="none" cap="none" strike="noStrike">
              <a:solidFill>
                <a:schemeClr val="dk1"/>
              </a:solidFill>
              <a:latin typeface="Calibri"/>
              <a:ea typeface="Calibri"/>
              <a:cs typeface="Calibri"/>
              <a:sym typeface="Calibri"/>
            </a:endParaRPr>
          </a:p>
        </p:txBody>
      </p:sp>
      <p:sp>
        <p:nvSpPr>
          <p:cNvPr id="381" name="Google Shape;381;p20"/>
          <p:cNvSpPr/>
          <p:nvPr/>
        </p:nvSpPr>
        <p:spPr>
          <a:xfrm>
            <a:off x="6422883" y="5855234"/>
            <a:ext cx="27516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85,5</a:t>
            </a:r>
            <a:endParaRPr b="0" i="0" sz="3307" u="none" cap="none" strike="noStrike">
              <a:solidFill>
                <a:schemeClr val="dk1"/>
              </a:solidFill>
              <a:latin typeface="Calibri"/>
              <a:ea typeface="Calibri"/>
              <a:cs typeface="Calibri"/>
              <a:sym typeface="Calibri"/>
            </a:endParaRPr>
          </a:p>
        </p:txBody>
      </p:sp>
      <p:sp>
        <p:nvSpPr>
          <p:cNvPr id="382" name="Google Shape;382;p20"/>
          <p:cNvSpPr/>
          <p:nvPr/>
        </p:nvSpPr>
        <p:spPr>
          <a:xfrm>
            <a:off x="9334782" y="5855234"/>
            <a:ext cx="19167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95,6</a:t>
            </a:r>
            <a:endParaRPr b="0" i="0" sz="3307" u="none" cap="none" strike="noStrike">
              <a:solidFill>
                <a:schemeClr val="dk1"/>
              </a:solidFill>
              <a:latin typeface="Calibri"/>
              <a:ea typeface="Calibri"/>
              <a:cs typeface="Calibri"/>
              <a:sym typeface="Calibri"/>
            </a:endParaRPr>
          </a:p>
        </p:txBody>
      </p:sp>
      <p:sp>
        <p:nvSpPr>
          <p:cNvPr id="383" name="Google Shape;383;p20"/>
          <p:cNvSpPr/>
          <p:nvPr/>
        </p:nvSpPr>
        <p:spPr>
          <a:xfrm>
            <a:off x="11448364" y="5855234"/>
            <a:ext cx="19443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99,1</a:t>
            </a:r>
            <a:endParaRPr b="0" i="0" sz="3307" u="none" cap="none" strike="noStrike">
              <a:solidFill>
                <a:schemeClr val="dk1"/>
              </a:solidFill>
              <a:latin typeface="Calibri"/>
              <a:ea typeface="Calibri"/>
              <a:cs typeface="Calibri"/>
              <a:sym typeface="Calibri"/>
            </a:endParaRPr>
          </a:p>
        </p:txBody>
      </p:sp>
      <p:sp>
        <p:nvSpPr>
          <p:cNvPr id="384" name="Google Shape;384;p20"/>
          <p:cNvSpPr/>
          <p:nvPr/>
        </p:nvSpPr>
        <p:spPr>
          <a:xfrm>
            <a:off x="519565" y="708438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85" name="Google Shape;385;p20"/>
          <p:cNvSpPr/>
          <p:nvPr/>
        </p:nvSpPr>
        <p:spPr>
          <a:xfrm>
            <a:off x="724424" y="6521024"/>
            <a:ext cx="6016800" cy="5427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Foundation-Sec (8B)</a:t>
            </a:r>
            <a:endParaRPr b="0" i="0" sz="3307" u="none" cap="none" strike="noStrike">
              <a:solidFill>
                <a:schemeClr val="dk1"/>
              </a:solidFill>
              <a:latin typeface="Calibri"/>
              <a:ea typeface="Calibri"/>
              <a:cs typeface="Calibri"/>
              <a:sym typeface="Calibri"/>
            </a:endParaRPr>
          </a:p>
        </p:txBody>
      </p:sp>
      <p:sp>
        <p:nvSpPr>
          <p:cNvPr id="386" name="Google Shape;386;p20"/>
          <p:cNvSpPr/>
          <p:nvPr/>
        </p:nvSpPr>
        <p:spPr>
          <a:xfrm>
            <a:off x="6422883" y="6521024"/>
            <a:ext cx="27516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78,8</a:t>
            </a:r>
            <a:endParaRPr b="0" i="0" sz="3307" u="none" cap="none" strike="noStrike">
              <a:solidFill>
                <a:schemeClr val="dk1"/>
              </a:solidFill>
              <a:latin typeface="Calibri"/>
              <a:ea typeface="Calibri"/>
              <a:cs typeface="Calibri"/>
              <a:sym typeface="Calibri"/>
            </a:endParaRPr>
          </a:p>
        </p:txBody>
      </p:sp>
      <p:sp>
        <p:nvSpPr>
          <p:cNvPr id="387" name="Google Shape;387;p20"/>
          <p:cNvSpPr/>
          <p:nvPr/>
        </p:nvSpPr>
        <p:spPr>
          <a:xfrm>
            <a:off x="9334782" y="6521024"/>
            <a:ext cx="19167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97,8</a:t>
            </a:r>
            <a:endParaRPr b="0" i="0" sz="3307" u="none" cap="none" strike="noStrike">
              <a:solidFill>
                <a:schemeClr val="dk1"/>
              </a:solidFill>
              <a:latin typeface="Calibri"/>
              <a:ea typeface="Calibri"/>
              <a:cs typeface="Calibri"/>
              <a:sym typeface="Calibri"/>
            </a:endParaRPr>
          </a:p>
        </p:txBody>
      </p:sp>
      <p:sp>
        <p:nvSpPr>
          <p:cNvPr id="388" name="Google Shape;388;p20"/>
          <p:cNvSpPr/>
          <p:nvPr/>
        </p:nvSpPr>
        <p:spPr>
          <a:xfrm>
            <a:off x="11448364" y="6521024"/>
            <a:ext cx="19443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82,1</a:t>
            </a:r>
            <a:endParaRPr b="0" i="0" sz="3307" u="none" cap="none" strike="noStrike">
              <a:solidFill>
                <a:schemeClr val="dk1"/>
              </a:solidFill>
              <a:latin typeface="Calibri"/>
              <a:ea typeface="Calibri"/>
              <a:cs typeface="Calibri"/>
              <a:sym typeface="Calibri"/>
            </a:endParaRPr>
          </a:p>
        </p:txBody>
      </p:sp>
      <p:sp>
        <p:nvSpPr>
          <p:cNvPr id="389" name="Google Shape;389;p20"/>
          <p:cNvSpPr/>
          <p:nvPr/>
        </p:nvSpPr>
        <p:spPr>
          <a:xfrm>
            <a:off x="519565" y="775017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90" name="Google Shape;390;p20"/>
          <p:cNvSpPr/>
          <p:nvPr/>
        </p:nvSpPr>
        <p:spPr>
          <a:xfrm>
            <a:off x="724424" y="7186815"/>
            <a:ext cx="6016800" cy="5427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Primus-Merged (8B)</a:t>
            </a:r>
            <a:endParaRPr b="0" i="0" sz="3307" u="none" cap="none" strike="noStrike">
              <a:solidFill>
                <a:schemeClr val="dk1"/>
              </a:solidFill>
              <a:latin typeface="Calibri"/>
              <a:ea typeface="Calibri"/>
              <a:cs typeface="Calibri"/>
              <a:sym typeface="Calibri"/>
            </a:endParaRPr>
          </a:p>
        </p:txBody>
      </p:sp>
      <p:sp>
        <p:nvSpPr>
          <p:cNvPr id="391" name="Google Shape;391;p20"/>
          <p:cNvSpPr/>
          <p:nvPr/>
        </p:nvSpPr>
        <p:spPr>
          <a:xfrm>
            <a:off x="6422883" y="7186815"/>
            <a:ext cx="27516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85,2</a:t>
            </a:r>
            <a:endParaRPr b="0" i="0" sz="3307" u="none" cap="none" strike="noStrike">
              <a:solidFill>
                <a:schemeClr val="dk1"/>
              </a:solidFill>
              <a:latin typeface="Calibri"/>
              <a:ea typeface="Calibri"/>
              <a:cs typeface="Calibri"/>
              <a:sym typeface="Calibri"/>
            </a:endParaRPr>
          </a:p>
        </p:txBody>
      </p:sp>
      <p:sp>
        <p:nvSpPr>
          <p:cNvPr id="392" name="Google Shape;392;p20"/>
          <p:cNvSpPr/>
          <p:nvPr/>
        </p:nvSpPr>
        <p:spPr>
          <a:xfrm>
            <a:off x="9334782" y="7186815"/>
            <a:ext cx="19167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96,8</a:t>
            </a:r>
            <a:endParaRPr b="0" i="0" sz="3307" u="none" cap="none" strike="noStrike">
              <a:solidFill>
                <a:schemeClr val="dk1"/>
              </a:solidFill>
              <a:latin typeface="Calibri"/>
              <a:ea typeface="Calibri"/>
              <a:cs typeface="Calibri"/>
              <a:sym typeface="Calibri"/>
            </a:endParaRPr>
          </a:p>
        </p:txBody>
      </p:sp>
      <p:sp>
        <p:nvSpPr>
          <p:cNvPr id="393" name="Google Shape;393;p20"/>
          <p:cNvSpPr/>
          <p:nvPr/>
        </p:nvSpPr>
        <p:spPr>
          <a:xfrm>
            <a:off x="11448364" y="7186815"/>
            <a:ext cx="1944300" cy="5427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99,5</a:t>
            </a:r>
            <a:endParaRPr b="0" i="0" sz="3307" u="none" cap="none" strike="noStrike">
              <a:solidFill>
                <a:schemeClr val="dk1"/>
              </a:solidFill>
              <a:latin typeface="Calibri"/>
              <a:ea typeface="Calibri"/>
              <a:cs typeface="Calibri"/>
              <a:sym typeface="Calibri"/>
            </a:endParaRPr>
          </a:p>
        </p:txBody>
      </p:sp>
      <p:sp>
        <p:nvSpPr>
          <p:cNvPr id="394" name="Google Shape;394;p20"/>
          <p:cNvSpPr/>
          <p:nvPr/>
        </p:nvSpPr>
        <p:spPr>
          <a:xfrm>
            <a:off x="519565" y="7770661"/>
            <a:ext cx="12971100" cy="819600"/>
          </a:xfrm>
          <a:prstGeom prst="rect">
            <a:avLst/>
          </a:prstGeom>
          <a:solidFill>
            <a:srgbClr val="0F2369"/>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395" name="Google Shape;395;p20"/>
          <p:cNvSpPr/>
          <p:nvPr/>
        </p:nvSpPr>
        <p:spPr>
          <a:xfrm>
            <a:off x="744910" y="7934548"/>
            <a:ext cx="5566500" cy="532800"/>
          </a:xfrm>
          <a:prstGeom prst="rect">
            <a:avLst/>
          </a:prstGeom>
          <a:noFill/>
          <a:ln>
            <a:noFill/>
          </a:ln>
        </p:spPr>
        <p:txBody>
          <a:bodyPr anchorCtr="0" anchor="ctr" bIns="27300" lIns="27300" spcFirstLastPara="1" rIns="27300" wrap="square" tIns="27300">
            <a:normAutofit/>
          </a:bodyPr>
          <a:lstStyle/>
          <a:p>
            <a:pPr indent="0" lvl="0" marL="0" marR="0" rtl="0" algn="l">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deepseek-v4-flash (nuvem)</a:t>
            </a:r>
            <a:endParaRPr b="0" i="0" sz="3307" u="none" cap="none" strike="noStrike">
              <a:solidFill>
                <a:schemeClr val="dk1"/>
              </a:solidFill>
              <a:latin typeface="Calibri"/>
              <a:ea typeface="Calibri"/>
              <a:cs typeface="Calibri"/>
              <a:sym typeface="Calibri"/>
            </a:endParaRPr>
          </a:p>
        </p:txBody>
      </p:sp>
      <p:sp>
        <p:nvSpPr>
          <p:cNvPr id="396" name="Google Shape;396;p20"/>
          <p:cNvSpPr/>
          <p:nvPr/>
        </p:nvSpPr>
        <p:spPr>
          <a:xfrm>
            <a:off x="6543956" y="7934548"/>
            <a:ext cx="2509500" cy="5328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94,2</a:t>
            </a:r>
            <a:endParaRPr b="0" i="0" sz="3307" u="none" cap="none" strike="noStrike">
              <a:solidFill>
                <a:schemeClr val="dk1"/>
              </a:solidFill>
              <a:latin typeface="Calibri"/>
              <a:ea typeface="Calibri"/>
              <a:cs typeface="Calibri"/>
              <a:sym typeface="Calibri"/>
            </a:endParaRPr>
          </a:p>
        </p:txBody>
      </p:sp>
      <p:sp>
        <p:nvSpPr>
          <p:cNvPr id="397" name="Google Shape;397;p20"/>
          <p:cNvSpPr/>
          <p:nvPr/>
        </p:nvSpPr>
        <p:spPr>
          <a:xfrm>
            <a:off x="9420039" y="7934548"/>
            <a:ext cx="1746000" cy="5328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99,0</a:t>
            </a:r>
            <a:endParaRPr b="0" i="0" sz="3307" u="none" cap="none" strike="noStrike">
              <a:solidFill>
                <a:schemeClr val="dk1"/>
              </a:solidFill>
              <a:latin typeface="Calibri"/>
              <a:ea typeface="Calibri"/>
              <a:cs typeface="Calibri"/>
              <a:sym typeface="Calibri"/>
            </a:endParaRPr>
          </a:p>
        </p:txBody>
      </p:sp>
      <p:sp>
        <p:nvSpPr>
          <p:cNvPr id="398" name="Google Shape;398;p20"/>
          <p:cNvSpPr/>
          <p:nvPr/>
        </p:nvSpPr>
        <p:spPr>
          <a:xfrm>
            <a:off x="11534885" y="7934548"/>
            <a:ext cx="1771500" cy="532800"/>
          </a:xfrm>
          <a:prstGeom prst="rect">
            <a:avLst/>
          </a:prstGeom>
          <a:noFill/>
          <a:ln>
            <a:noFill/>
          </a:ln>
        </p:spPr>
        <p:txBody>
          <a:bodyPr anchorCtr="0" anchor="ctr" bIns="27300" lIns="27300" spcFirstLastPara="1" rIns="27300" wrap="square" tIns="27300">
            <a:norm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100,0</a:t>
            </a:r>
            <a:endParaRPr b="0" i="0" sz="3307" u="none" cap="none" strike="noStrike">
              <a:solidFill>
                <a:schemeClr val="dk1"/>
              </a:solidFill>
              <a:latin typeface="Calibri"/>
              <a:ea typeface="Calibri"/>
              <a:cs typeface="Calibri"/>
              <a:sym typeface="Calibri"/>
            </a:endParaRPr>
          </a:p>
        </p:txBody>
      </p:sp>
      <p:sp>
        <p:nvSpPr>
          <p:cNvPr id="399" name="Google Shape;399;p20"/>
          <p:cNvSpPr/>
          <p:nvPr/>
        </p:nvSpPr>
        <p:spPr>
          <a:xfrm>
            <a:off x="13941338" y="2971850"/>
            <a:ext cx="3827100" cy="798900"/>
          </a:xfrm>
          <a:prstGeom prst="rect">
            <a:avLst/>
          </a:prstGeom>
          <a:noFill/>
          <a:ln>
            <a:noFill/>
          </a:ln>
        </p:spPr>
        <p:txBody>
          <a:bodyPr anchorCtr="0" anchor="t" bIns="27300" lIns="27300" spcFirstLastPara="1" rIns="27300" wrap="square" tIns="27300">
            <a:normAutofit/>
          </a:bodyPr>
          <a:lstStyle/>
          <a:p>
            <a:pPr indent="0" lvl="0" marL="0" marR="0" rtl="0" algn="l">
              <a:spcBef>
                <a:spcPts val="0"/>
              </a:spcBef>
              <a:spcAft>
                <a:spcPts val="0"/>
              </a:spcAft>
              <a:buClr>
                <a:srgbClr val="0A866E"/>
              </a:buClr>
              <a:buSzPts val="5162"/>
              <a:buFont typeface="Arial"/>
              <a:buNone/>
            </a:pPr>
            <a:r>
              <a:rPr b="1" i="0" lang="en-US" sz="5162" u="none" cap="none" strike="noStrike">
                <a:solidFill>
                  <a:srgbClr val="0A866E"/>
                </a:solidFill>
                <a:latin typeface="Arial"/>
                <a:ea typeface="Arial"/>
                <a:cs typeface="Arial"/>
                <a:sym typeface="Arial"/>
              </a:rPr>
              <a:t>1,2 pp</a:t>
            </a:r>
            <a:endParaRPr b="0" i="0" sz="5162" u="none" cap="none" strike="noStrike">
              <a:solidFill>
                <a:schemeClr val="dk1"/>
              </a:solidFill>
              <a:latin typeface="Calibri"/>
              <a:ea typeface="Calibri"/>
              <a:cs typeface="Calibri"/>
              <a:sym typeface="Calibri"/>
            </a:endParaRPr>
          </a:p>
        </p:txBody>
      </p:sp>
      <p:sp>
        <p:nvSpPr>
          <p:cNvPr id="400" name="Google Shape;400;p20"/>
          <p:cNvSpPr/>
          <p:nvPr/>
        </p:nvSpPr>
        <p:spPr>
          <a:xfrm>
            <a:off x="13941338" y="3791282"/>
            <a:ext cx="3827100" cy="2048400"/>
          </a:xfrm>
          <a:prstGeom prst="rect">
            <a:avLst/>
          </a:prstGeom>
          <a:noFill/>
          <a:ln>
            <a:noFill/>
          </a:ln>
        </p:spPr>
        <p:txBody>
          <a:bodyPr anchorCtr="0" anchor="t" bIns="27300" lIns="27300" spcFirstLastPara="1" rIns="27300" wrap="square" tIns="27300">
            <a:normAutofit/>
          </a:bodyPr>
          <a:lstStyle/>
          <a:p>
            <a:pPr indent="0" lvl="0" marL="0" marR="0" rtl="0" algn="l">
              <a:spcBef>
                <a:spcPts val="0"/>
              </a:spcBef>
              <a:spcAft>
                <a:spcPts val="0"/>
              </a:spcAft>
              <a:buClr>
                <a:srgbClr val="1F2937"/>
              </a:buClr>
              <a:buSzPts val="3468"/>
              <a:buFont typeface="Arial"/>
              <a:buNone/>
            </a:pPr>
            <a:r>
              <a:rPr b="0" i="0" lang="en-US" sz="3468" u="none" cap="none" strike="noStrike">
                <a:solidFill>
                  <a:srgbClr val="1F2937"/>
                </a:solidFill>
                <a:latin typeface="Arial"/>
                <a:ea typeface="Arial"/>
                <a:cs typeface="Arial"/>
                <a:sym typeface="Arial"/>
              </a:rPr>
              <a:t>é o gap do melhor local para a nuvem em texto livre </a:t>
            </a:r>
            <a:r>
              <a:rPr b="0" i="0" lang="en-US" sz="3468" u="none" cap="none" strike="noStrike">
                <a:solidFill>
                  <a:srgbClr val="6B7280"/>
                </a:solidFill>
                <a:latin typeface="Arial"/>
                <a:ea typeface="Arial"/>
                <a:cs typeface="Arial"/>
                <a:sym typeface="Arial"/>
              </a:rPr>
              <a:t>(IC 95% [0,2 – 2,1])</a:t>
            </a:r>
            <a:endParaRPr b="0" i="0" sz="3468" u="none" cap="none" strike="noStrike">
              <a:solidFill>
                <a:schemeClr val="dk1"/>
              </a:solidFill>
              <a:latin typeface="Calibri"/>
              <a:ea typeface="Calibri"/>
              <a:cs typeface="Calibri"/>
              <a:sym typeface="Calibri"/>
            </a:endParaRPr>
          </a:p>
        </p:txBody>
      </p:sp>
      <p:sp>
        <p:nvSpPr>
          <p:cNvPr id="401" name="Google Shape;401;p20"/>
          <p:cNvSpPr/>
          <p:nvPr/>
        </p:nvSpPr>
        <p:spPr>
          <a:xfrm>
            <a:off x="13941338" y="6085700"/>
            <a:ext cx="3827100" cy="798900"/>
          </a:xfrm>
          <a:prstGeom prst="rect">
            <a:avLst/>
          </a:prstGeom>
          <a:noFill/>
          <a:ln>
            <a:noFill/>
          </a:ln>
        </p:spPr>
        <p:txBody>
          <a:bodyPr anchorCtr="0" anchor="t" bIns="27300" lIns="27300" spcFirstLastPara="1" rIns="27300" wrap="square" tIns="27300">
            <a:normAutofit/>
          </a:bodyPr>
          <a:lstStyle/>
          <a:p>
            <a:pPr indent="0" lvl="0" marL="0" marR="0" rtl="0" algn="l">
              <a:spcBef>
                <a:spcPts val="0"/>
              </a:spcBef>
              <a:spcAft>
                <a:spcPts val="0"/>
              </a:spcAft>
              <a:buClr>
                <a:srgbClr val="0F2369"/>
              </a:buClr>
              <a:buSzPts val="5162"/>
              <a:buFont typeface="Arial"/>
              <a:buNone/>
            </a:pPr>
            <a:r>
              <a:rPr b="1" i="0" lang="en-US" sz="5162" u="none" cap="none" strike="noStrike">
                <a:solidFill>
                  <a:srgbClr val="0F2369"/>
                </a:solidFill>
                <a:latin typeface="Arial"/>
                <a:ea typeface="Arial"/>
                <a:cs typeface="Arial"/>
                <a:sym typeface="Arial"/>
              </a:rPr>
              <a:t>14 pp</a:t>
            </a:r>
            <a:endParaRPr b="0" i="0" sz="5162" u="none" cap="none" strike="noStrike">
              <a:solidFill>
                <a:schemeClr val="dk1"/>
              </a:solidFill>
              <a:latin typeface="Calibri"/>
              <a:ea typeface="Calibri"/>
              <a:cs typeface="Calibri"/>
              <a:sym typeface="Calibri"/>
            </a:endParaRPr>
          </a:p>
        </p:txBody>
      </p:sp>
      <p:sp>
        <p:nvSpPr>
          <p:cNvPr id="402" name="Google Shape;402;p20"/>
          <p:cNvSpPr/>
          <p:nvPr/>
        </p:nvSpPr>
        <p:spPr>
          <a:xfrm>
            <a:off x="13941338" y="6905125"/>
            <a:ext cx="3827100" cy="1546800"/>
          </a:xfrm>
          <a:prstGeom prst="rect">
            <a:avLst/>
          </a:prstGeom>
          <a:noFill/>
          <a:ln>
            <a:noFill/>
          </a:ln>
        </p:spPr>
        <p:txBody>
          <a:bodyPr anchorCtr="0" anchor="t" bIns="27300" lIns="27300" spcFirstLastPara="1" rIns="27300" wrap="square" tIns="27300">
            <a:normAutofit/>
          </a:bodyPr>
          <a:lstStyle/>
          <a:p>
            <a:pPr indent="0" lvl="0" marL="0" marR="0" rtl="0" algn="l">
              <a:spcBef>
                <a:spcPts val="0"/>
              </a:spcBef>
              <a:spcAft>
                <a:spcPts val="0"/>
              </a:spcAft>
              <a:buClr>
                <a:srgbClr val="1F2937"/>
              </a:buClr>
              <a:buSzPts val="3468"/>
              <a:buFont typeface="Arial"/>
              <a:buNone/>
            </a:pPr>
            <a:r>
              <a:rPr b="0" i="0" lang="en-US" sz="3468" u="none" cap="none" strike="noStrike">
                <a:solidFill>
                  <a:srgbClr val="1F2937"/>
                </a:solidFill>
                <a:latin typeface="Arial"/>
                <a:ea typeface="Arial"/>
                <a:cs typeface="Arial"/>
                <a:sym typeface="Arial"/>
              </a:rPr>
              <a:t>é a dispersão entre o melhor e o pior modelo local</a:t>
            </a:r>
            <a:endParaRPr b="0" i="0" sz="3468" u="none" cap="none" strike="noStrike">
              <a:solidFill>
                <a:schemeClr val="dk1"/>
              </a:solidFill>
              <a:latin typeface="Calibri"/>
              <a:ea typeface="Calibri"/>
              <a:cs typeface="Calibri"/>
              <a:sym typeface="Calibri"/>
            </a:endParaRPr>
          </a:p>
        </p:txBody>
      </p:sp>
      <p:sp>
        <p:nvSpPr>
          <p:cNvPr id="403" name="Google Shape;403;p20"/>
          <p:cNvSpPr/>
          <p:nvPr/>
        </p:nvSpPr>
        <p:spPr>
          <a:xfrm>
            <a:off x="476025" y="9496575"/>
            <a:ext cx="8168400" cy="36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750" u="none" cap="none" strike="noStrike">
                <a:solidFill>
                  <a:srgbClr val="6B7280"/>
                </a:solidFill>
                <a:latin typeface="Arial"/>
                <a:ea typeface="Arial"/>
                <a:cs typeface="Arial"/>
                <a:sym typeface="Arial"/>
              </a:rPr>
              <a:t>Verde: melhor valor entre os locais em cada coluna</a:t>
            </a:r>
            <a:endParaRPr b="0" i="0" sz="2750" u="none" cap="none" strike="noStrike">
              <a:solidFill>
                <a:schemeClr val="dk1"/>
              </a:solidFill>
              <a:latin typeface="Calibri"/>
              <a:ea typeface="Calibri"/>
              <a:cs typeface="Calibri"/>
              <a:sym typeface="Calibri"/>
            </a:endParaRPr>
          </a:p>
        </p:txBody>
      </p:sp>
      <p:pic>
        <p:nvPicPr>
          <p:cNvPr descr="preencoded.png" id="404" name="Google Shape;404;p20"/>
          <p:cNvPicPr preferRelativeResize="0"/>
          <p:nvPr/>
        </p:nvPicPr>
        <p:blipFill rotWithShape="1">
          <a:blip r:embed="rId3">
            <a:alphaModFix/>
          </a:blip>
          <a:srcRect b="0" l="0" r="0" t="0"/>
          <a:stretch/>
        </p:blipFill>
        <p:spPr>
          <a:xfrm>
            <a:off x="13863935" y="9496425"/>
            <a:ext cx="1558826" cy="381000"/>
          </a:xfrm>
          <a:prstGeom prst="rect">
            <a:avLst/>
          </a:prstGeom>
          <a:noFill/>
          <a:ln>
            <a:noFill/>
          </a:ln>
        </p:spPr>
      </p:pic>
      <p:pic>
        <p:nvPicPr>
          <p:cNvPr descr="preencoded.png" id="405" name="Google Shape;405;p20"/>
          <p:cNvPicPr preferRelativeResize="0"/>
          <p:nvPr/>
        </p:nvPicPr>
        <p:blipFill rotWithShape="1">
          <a:blip r:embed="rId4">
            <a:alphaModFix/>
          </a:blip>
          <a:srcRect b="0" l="0" r="0" t="0"/>
          <a:stretch/>
        </p:blipFill>
        <p:spPr>
          <a:xfrm>
            <a:off x="15651361" y="9477375"/>
            <a:ext cx="636389" cy="419100"/>
          </a:xfrm>
          <a:prstGeom prst="rect">
            <a:avLst/>
          </a:prstGeom>
          <a:noFill/>
          <a:ln>
            <a:noFill/>
          </a:ln>
        </p:spPr>
      </p:pic>
      <p:pic>
        <p:nvPicPr>
          <p:cNvPr descr="preencoded.png" id="406" name="Google Shape;406;p20"/>
          <p:cNvPicPr preferRelativeResize="0"/>
          <p:nvPr/>
        </p:nvPicPr>
        <p:blipFill rotWithShape="1">
          <a:blip r:embed="rId5">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g3f41726a0cc_0_4"/>
          <p:cNvSpPr/>
          <p:nvPr/>
        </p:nvSpPr>
        <p:spPr>
          <a:xfrm>
            <a:off x="1333500" y="9525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413" name="Google Shape;413;g3f41726a0cc_0_4"/>
          <p:cNvSpPr/>
          <p:nvPr/>
        </p:nvSpPr>
        <p:spPr>
          <a:xfrm>
            <a:off x="1333500" y="1457325"/>
            <a:ext cx="17183100" cy="687600"/>
          </a:xfrm>
          <a:prstGeom prst="rect">
            <a:avLst/>
          </a:prstGeom>
          <a:noFill/>
          <a:ln>
            <a:noFill/>
          </a:ln>
        </p:spPr>
        <p:txBody>
          <a:bodyPr anchorCtr="0" anchor="t" bIns="25400" lIns="25400" spcFirstLastPara="1" rIns="25400" wrap="square" tIns="25400">
            <a:noAutofit/>
          </a:bodyPr>
          <a:lstStyle/>
          <a:p>
            <a:pPr indent="0" lvl="0" marL="0" marR="0" rtl="0" algn="l">
              <a:lnSpc>
                <a:spcPct val="96056"/>
              </a:lnSpc>
              <a:spcBef>
                <a:spcPts val="0"/>
              </a:spcBef>
              <a:spcAft>
                <a:spcPts val="0"/>
              </a:spcAft>
              <a:buClr>
                <a:srgbClr val="0F2369"/>
              </a:buClr>
              <a:buSzPts val="4650"/>
              <a:buFont typeface="Arial"/>
              <a:buNone/>
            </a:pPr>
            <a:r>
              <a:rPr b="1" i="0" lang="en-US" sz="4650" u="none" cap="none" strike="noStrike">
                <a:solidFill>
                  <a:srgbClr val="0F2369"/>
                </a:solidFill>
                <a:latin typeface="Arial"/>
                <a:ea typeface="Arial"/>
                <a:cs typeface="Arial"/>
                <a:sym typeface="Arial"/>
              </a:rPr>
              <a:t>O melhor local fica a 1,2 ponto da nuvem</a:t>
            </a:r>
            <a:endParaRPr b="0" i="0" sz="4650" u="none" cap="none" strike="noStrike">
              <a:solidFill>
                <a:schemeClr val="dk1"/>
              </a:solidFill>
              <a:latin typeface="Calibri"/>
              <a:ea typeface="Calibri"/>
              <a:cs typeface="Calibri"/>
              <a:sym typeface="Calibri"/>
            </a:endParaRPr>
          </a:p>
        </p:txBody>
      </p:sp>
      <p:sp>
        <p:nvSpPr>
          <p:cNvPr id="414" name="Google Shape;414;g3f41726a0cc_0_4"/>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f41726a0cc_0_4"/>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17</a:t>
            </a:r>
            <a:endParaRPr b="0" i="0" sz="2400" u="none" cap="none" strike="noStrike">
              <a:solidFill>
                <a:schemeClr val="dk1"/>
              </a:solidFill>
              <a:latin typeface="Calibri"/>
              <a:ea typeface="Calibri"/>
              <a:cs typeface="Calibri"/>
              <a:sym typeface="Calibri"/>
            </a:endParaRPr>
          </a:p>
        </p:txBody>
      </p:sp>
      <p:sp>
        <p:nvSpPr>
          <p:cNvPr id="416" name="Google Shape;416;g3f41726a0cc_0_4"/>
          <p:cNvSpPr/>
          <p:nvPr/>
        </p:nvSpPr>
        <p:spPr>
          <a:xfrm>
            <a:off x="519565" y="2792600"/>
            <a:ext cx="12971100" cy="829800"/>
          </a:xfrm>
          <a:prstGeom prst="rect">
            <a:avLst/>
          </a:prstGeom>
          <a:solidFill>
            <a:srgbClr val="0F2369"/>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17" name="Google Shape;417;g3f41726a0cc_0_4"/>
          <p:cNvSpPr/>
          <p:nvPr/>
        </p:nvSpPr>
        <p:spPr>
          <a:xfrm>
            <a:off x="744910" y="2956486"/>
            <a:ext cx="5566500" cy="5427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Modelo</a:t>
            </a:r>
            <a:endParaRPr b="0" i="0" sz="3468" u="none" cap="none" strike="noStrike">
              <a:solidFill>
                <a:schemeClr val="dk1"/>
              </a:solidFill>
              <a:latin typeface="Calibri"/>
              <a:ea typeface="Calibri"/>
              <a:cs typeface="Calibri"/>
              <a:sym typeface="Calibri"/>
            </a:endParaRPr>
          </a:p>
        </p:txBody>
      </p:sp>
      <p:sp>
        <p:nvSpPr>
          <p:cNvPr id="418" name="Google Shape;418;g3f41726a0cc_0_4"/>
          <p:cNvSpPr/>
          <p:nvPr/>
        </p:nvSpPr>
        <p:spPr>
          <a:xfrm>
            <a:off x="6543956" y="2956486"/>
            <a:ext cx="25095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BERTScore</a:t>
            </a:r>
            <a:endParaRPr b="0" i="0" sz="3468" u="none" cap="none" strike="noStrike">
              <a:solidFill>
                <a:schemeClr val="dk1"/>
              </a:solidFill>
              <a:latin typeface="Calibri"/>
              <a:ea typeface="Calibri"/>
              <a:cs typeface="Calibri"/>
              <a:sym typeface="Calibri"/>
            </a:endParaRPr>
          </a:p>
        </p:txBody>
      </p:sp>
      <p:sp>
        <p:nvSpPr>
          <p:cNvPr id="419" name="Google Shape;419;g3f41726a0cc_0_4"/>
          <p:cNvSpPr/>
          <p:nvPr/>
        </p:nvSpPr>
        <p:spPr>
          <a:xfrm>
            <a:off x="9420039" y="2956486"/>
            <a:ext cx="17460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Field F1</a:t>
            </a:r>
            <a:endParaRPr b="0" i="0" sz="3468" u="none" cap="none" strike="noStrike">
              <a:solidFill>
                <a:schemeClr val="dk1"/>
              </a:solidFill>
              <a:latin typeface="Calibri"/>
              <a:ea typeface="Calibri"/>
              <a:cs typeface="Calibri"/>
              <a:sym typeface="Calibri"/>
            </a:endParaRPr>
          </a:p>
        </p:txBody>
      </p:sp>
      <p:sp>
        <p:nvSpPr>
          <p:cNvPr id="420" name="Google Shape;420;g3f41726a0cc_0_4"/>
          <p:cNvSpPr/>
          <p:nvPr/>
        </p:nvSpPr>
        <p:spPr>
          <a:xfrm>
            <a:off x="11534885" y="2956486"/>
            <a:ext cx="17715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FFFFFF"/>
              </a:buClr>
              <a:buSzPts val="3468"/>
              <a:buFont typeface="Arial"/>
              <a:buNone/>
            </a:pPr>
            <a:r>
              <a:rPr b="1" i="0" lang="en-US" sz="3468" u="none" cap="none" strike="noStrike">
                <a:solidFill>
                  <a:srgbClr val="FFFFFF"/>
                </a:solidFill>
                <a:latin typeface="Arial"/>
                <a:ea typeface="Arial"/>
                <a:cs typeface="Arial"/>
                <a:sym typeface="Arial"/>
              </a:rPr>
              <a:t>Schema</a:t>
            </a:r>
            <a:endParaRPr b="0" i="0" sz="3468" u="none" cap="none" strike="noStrike">
              <a:solidFill>
                <a:schemeClr val="dk1"/>
              </a:solidFill>
              <a:latin typeface="Calibri"/>
              <a:ea typeface="Calibri"/>
              <a:cs typeface="Calibri"/>
              <a:sym typeface="Calibri"/>
            </a:endParaRPr>
          </a:p>
        </p:txBody>
      </p:sp>
      <p:sp>
        <p:nvSpPr>
          <p:cNvPr id="421" name="Google Shape;421;g3f41726a0cc_0_4"/>
          <p:cNvSpPr/>
          <p:nvPr/>
        </p:nvSpPr>
        <p:spPr>
          <a:xfrm>
            <a:off x="519565" y="4339281"/>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22" name="Google Shape;422;g3f41726a0cc_0_4"/>
          <p:cNvSpPr/>
          <p:nvPr/>
        </p:nvSpPr>
        <p:spPr>
          <a:xfrm>
            <a:off x="724424" y="3704220"/>
            <a:ext cx="5607600" cy="6147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Ministral 3 (8B)</a:t>
            </a:r>
            <a:endParaRPr b="0" i="0" sz="3307" u="none" cap="none" strike="noStrike">
              <a:solidFill>
                <a:schemeClr val="dk1"/>
              </a:solidFill>
              <a:latin typeface="Calibri"/>
              <a:ea typeface="Calibri"/>
              <a:cs typeface="Calibri"/>
              <a:sym typeface="Calibri"/>
            </a:endParaRPr>
          </a:p>
        </p:txBody>
      </p:sp>
      <p:sp>
        <p:nvSpPr>
          <p:cNvPr id="423" name="Google Shape;423;g3f41726a0cc_0_4"/>
          <p:cNvSpPr/>
          <p:nvPr/>
        </p:nvSpPr>
        <p:spPr>
          <a:xfrm>
            <a:off x="7225084" y="5814345"/>
            <a:ext cx="1147200" cy="563400"/>
          </a:xfrm>
          <a:prstGeom prst="roundRect">
            <a:avLst>
              <a:gd fmla="val 18182" name="adj"/>
            </a:avLst>
          </a:prstGeom>
          <a:solidFill>
            <a:schemeClr val="accent4"/>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24" name="Google Shape;424;g3f41726a0cc_0_4"/>
          <p:cNvSpPr/>
          <p:nvPr/>
        </p:nvSpPr>
        <p:spPr>
          <a:xfrm>
            <a:off x="9399553" y="3704220"/>
            <a:ext cx="1787100" cy="614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98,4</a:t>
            </a:r>
            <a:endParaRPr b="0" i="0" sz="3307" u="none" cap="none" strike="noStrike">
              <a:solidFill>
                <a:schemeClr val="dk1"/>
              </a:solidFill>
              <a:latin typeface="Calibri"/>
              <a:ea typeface="Calibri"/>
              <a:cs typeface="Calibri"/>
              <a:sym typeface="Calibri"/>
            </a:endParaRPr>
          </a:p>
        </p:txBody>
      </p:sp>
      <p:sp>
        <p:nvSpPr>
          <p:cNvPr id="425" name="Google Shape;425;g3f41726a0cc_0_4"/>
          <p:cNvSpPr/>
          <p:nvPr/>
        </p:nvSpPr>
        <p:spPr>
          <a:xfrm>
            <a:off x="11514400" y="3704220"/>
            <a:ext cx="1812300" cy="614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96,0</a:t>
            </a:r>
            <a:endParaRPr b="0" i="0" sz="3307" u="none" cap="none" strike="noStrike">
              <a:solidFill>
                <a:schemeClr val="dk1"/>
              </a:solidFill>
              <a:latin typeface="Calibri"/>
              <a:ea typeface="Calibri"/>
              <a:cs typeface="Calibri"/>
              <a:sym typeface="Calibri"/>
            </a:endParaRPr>
          </a:p>
        </p:txBody>
      </p:sp>
      <p:sp>
        <p:nvSpPr>
          <p:cNvPr id="426" name="Google Shape;426;g3f41726a0cc_0_4"/>
          <p:cNvSpPr/>
          <p:nvPr/>
        </p:nvSpPr>
        <p:spPr>
          <a:xfrm>
            <a:off x="519565" y="5005071"/>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27" name="Google Shape;427;g3f41726a0cc_0_4"/>
          <p:cNvSpPr/>
          <p:nvPr/>
        </p:nvSpPr>
        <p:spPr>
          <a:xfrm>
            <a:off x="724424" y="4441711"/>
            <a:ext cx="6016800" cy="5427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gpt-oss (21B)</a:t>
            </a:r>
            <a:endParaRPr b="0" i="0" sz="3307" u="none" cap="none" strike="noStrike">
              <a:solidFill>
                <a:schemeClr val="dk1"/>
              </a:solidFill>
              <a:latin typeface="Calibri"/>
              <a:ea typeface="Calibri"/>
              <a:cs typeface="Calibri"/>
              <a:sym typeface="Calibri"/>
            </a:endParaRPr>
          </a:p>
        </p:txBody>
      </p:sp>
      <p:sp>
        <p:nvSpPr>
          <p:cNvPr id="428" name="Google Shape;428;g3f41726a0cc_0_4"/>
          <p:cNvSpPr/>
          <p:nvPr/>
        </p:nvSpPr>
        <p:spPr>
          <a:xfrm>
            <a:off x="6422883" y="4441711"/>
            <a:ext cx="27516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91,1</a:t>
            </a:r>
            <a:endParaRPr b="0" i="0" sz="3307" u="none" cap="none" strike="noStrike">
              <a:solidFill>
                <a:schemeClr val="dk1"/>
              </a:solidFill>
              <a:latin typeface="Calibri"/>
              <a:ea typeface="Calibri"/>
              <a:cs typeface="Calibri"/>
              <a:sym typeface="Calibri"/>
            </a:endParaRPr>
          </a:p>
        </p:txBody>
      </p:sp>
      <p:sp>
        <p:nvSpPr>
          <p:cNvPr id="429" name="Google Shape;429;g3f41726a0cc_0_4"/>
          <p:cNvSpPr/>
          <p:nvPr/>
        </p:nvSpPr>
        <p:spPr>
          <a:xfrm>
            <a:off x="9334782" y="4441711"/>
            <a:ext cx="19167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98,5</a:t>
            </a:r>
            <a:endParaRPr b="0" i="0" sz="3307" u="none" cap="none" strike="noStrike">
              <a:solidFill>
                <a:schemeClr val="dk1"/>
              </a:solidFill>
              <a:latin typeface="Calibri"/>
              <a:ea typeface="Calibri"/>
              <a:cs typeface="Calibri"/>
              <a:sym typeface="Calibri"/>
            </a:endParaRPr>
          </a:p>
        </p:txBody>
      </p:sp>
      <p:sp>
        <p:nvSpPr>
          <p:cNvPr id="430" name="Google Shape;430;g3f41726a0cc_0_4"/>
          <p:cNvSpPr/>
          <p:nvPr/>
        </p:nvSpPr>
        <p:spPr>
          <a:xfrm>
            <a:off x="11448364" y="4441711"/>
            <a:ext cx="19443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99,8</a:t>
            </a:r>
            <a:endParaRPr b="0" i="0" sz="3307" u="none" cap="none" strike="noStrike">
              <a:solidFill>
                <a:schemeClr val="dk1"/>
              </a:solidFill>
              <a:latin typeface="Calibri"/>
              <a:ea typeface="Calibri"/>
              <a:cs typeface="Calibri"/>
              <a:sym typeface="Calibri"/>
            </a:endParaRPr>
          </a:p>
        </p:txBody>
      </p:sp>
      <p:sp>
        <p:nvSpPr>
          <p:cNvPr id="431" name="Google Shape;431;g3f41726a0cc_0_4"/>
          <p:cNvSpPr/>
          <p:nvPr/>
        </p:nvSpPr>
        <p:spPr>
          <a:xfrm>
            <a:off x="519565" y="575280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32" name="Google Shape;432;g3f41726a0cc_0_4"/>
          <p:cNvSpPr/>
          <p:nvPr/>
        </p:nvSpPr>
        <p:spPr>
          <a:xfrm>
            <a:off x="724424" y="5107501"/>
            <a:ext cx="5607600" cy="6246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Phi-4 (14B)</a:t>
            </a:r>
            <a:endParaRPr b="0" i="0" sz="3307" u="none" cap="none" strike="noStrike">
              <a:solidFill>
                <a:schemeClr val="dk1"/>
              </a:solidFill>
              <a:latin typeface="Calibri"/>
              <a:ea typeface="Calibri"/>
              <a:cs typeface="Calibri"/>
              <a:sym typeface="Calibri"/>
            </a:endParaRPr>
          </a:p>
        </p:txBody>
      </p:sp>
      <p:sp>
        <p:nvSpPr>
          <p:cNvPr id="433" name="Google Shape;433;g3f41726a0cc_0_4"/>
          <p:cNvSpPr/>
          <p:nvPr/>
        </p:nvSpPr>
        <p:spPr>
          <a:xfrm>
            <a:off x="6523470" y="5107501"/>
            <a:ext cx="2550600" cy="6246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91,0</a:t>
            </a:r>
            <a:endParaRPr b="0" i="0" sz="3307" u="none" cap="none" strike="noStrike">
              <a:solidFill>
                <a:schemeClr val="dk1"/>
              </a:solidFill>
              <a:latin typeface="Calibri"/>
              <a:ea typeface="Calibri"/>
              <a:cs typeface="Calibri"/>
              <a:sym typeface="Calibri"/>
            </a:endParaRPr>
          </a:p>
        </p:txBody>
      </p:sp>
      <p:sp>
        <p:nvSpPr>
          <p:cNvPr id="434" name="Google Shape;434;g3f41726a0cc_0_4"/>
          <p:cNvSpPr/>
          <p:nvPr/>
        </p:nvSpPr>
        <p:spPr>
          <a:xfrm>
            <a:off x="9719534" y="5808659"/>
            <a:ext cx="1147200" cy="563400"/>
          </a:xfrm>
          <a:prstGeom prst="roundRect">
            <a:avLst>
              <a:gd fmla="val 18182" name="adj"/>
            </a:avLst>
          </a:prstGeom>
          <a:solidFill>
            <a:schemeClr val="accent4"/>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35" name="Google Shape;435;g3f41726a0cc_0_4"/>
          <p:cNvSpPr/>
          <p:nvPr/>
        </p:nvSpPr>
        <p:spPr>
          <a:xfrm>
            <a:off x="11751687" y="5814344"/>
            <a:ext cx="1337700" cy="563400"/>
          </a:xfrm>
          <a:prstGeom prst="roundRect">
            <a:avLst>
              <a:gd fmla="val 18182" name="adj"/>
            </a:avLst>
          </a:prstGeom>
          <a:solidFill>
            <a:schemeClr val="accent4"/>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36" name="Google Shape;436;g3f41726a0cc_0_4"/>
          <p:cNvSpPr/>
          <p:nvPr/>
        </p:nvSpPr>
        <p:spPr>
          <a:xfrm>
            <a:off x="519565" y="641859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37" name="Google Shape;437;g3f41726a0cc_0_4"/>
          <p:cNvSpPr/>
          <p:nvPr/>
        </p:nvSpPr>
        <p:spPr>
          <a:xfrm>
            <a:off x="724424" y="5855234"/>
            <a:ext cx="6016800" cy="5427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Llama 3.1 (8B)</a:t>
            </a:r>
            <a:endParaRPr b="0" i="0" sz="3307" u="none" cap="none" strike="noStrike">
              <a:solidFill>
                <a:schemeClr val="dk1"/>
              </a:solidFill>
              <a:latin typeface="Calibri"/>
              <a:ea typeface="Calibri"/>
              <a:cs typeface="Calibri"/>
              <a:sym typeface="Calibri"/>
            </a:endParaRPr>
          </a:p>
        </p:txBody>
      </p:sp>
      <p:sp>
        <p:nvSpPr>
          <p:cNvPr id="438" name="Google Shape;438;g3f41726a0cc_0_4"/>
          <p:cNvSpPr/>
          <p:nvPr/>
        </p:nvSpPr>
        <p:spPr>
          <a:xfrm>
            <a:off x="7225075" y="5824700"/>
            <a:ext cx="11472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1" i="0" lang="en-US" sz="3307" u="none" cap="none" strike="noStrike">
                <a:solidFill>
                  <a:srgbClr val="1F2937"/>
                </a:solidFill>
              </a:rPr>
              <a:t>85,5</a:t>
            </a:r>
            <a:endParaRPr b="1" i="0" sz="3307" u="none" cap="none" strike="noStrike">
              <a:solidFill>
                <a:schemeClr val="dk1"/>
              </a:solidFill>
              <a:latin typeface="Calibri"/>
              <a:ea typeface="Calibri"/>
              <a:cs typeface="Calibri"/>
              <a:sym typeface="Calibri"/>
            </a:endParaRPr>
          </a:p>
        </p:txBody>
      </p:sp>
      <p:sp>
        <p:nvSpPr>
          <p:cNvPr id="439" name="Google Shape;439;g3f41726a0cc_0_4"/>
          <p:cNvSpPr/>
          <p:nvPr/>
        </p:nvSpPr>
        <p:spPr>
          <a:xfrm>
            <a:off x="9719528" y="5824700"/>
            <a:ext cx="11472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1" i="0" lang="en-US" sz="3307" u="none" cap="none" strike="noStrike">
                <a:solidFill>
                  <a:srgbClr val="1F2937"/>
                </a:solidFill>
              </a:rPr>
              <a:t>95,6</a:t>
            </a:r>
            <a:endParaRPr b="1" i="0" sz="3307" u="none" cap="none" strike="noStrike">
              <a:solidFill>
                <a:schemeClr val="dk1"/>
              </a:solidFill>
              <a:latin typeface="Calibri"/>
              <a:ea typeface="Calibri"/>
              <a:cs typeface="Calibri"/>
              <a:sym typeface="Calibri"/>
            </a:endParaRPr>
          </a:p>
        </p:txBody>
      </p:sp>
      <p:sp>
        <p:nvSpPr>
          <p:cNvPr id="440" name="Google Shape;440;g3f41726a0cc_0_4"/>
          <p:cNvSpPr/>
          <p:nvPr/>
        </p:nvSpPr>
        <p:spPr>
          <a:xfrm>
            <a:off x="11751675" y="5824700"/>
            <a:ext cx="13377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1" i="0" lang="en-US" sz="3307" u="none" cap="none" strike="noStrike">
                <a:solidFill>
                  <a:srgbClr val="1F2937"/>
                </a:solidFill>
              </a:rPr>
              <a:t>99,1</a:t>
            </a:r>
            <a:endParaRPr b="1" i="0" sz="3307" u="none" cap="none" strike="noStrike">
              <a:solidFill>
                <a:schemeClr val="dk1"/>
              </a:solidFill>
              <a:latin typeface="Calibri"/>
              <a:ea typeface="Calibri"/>
              <a:cs typeface="Calibri"/>
              <a:sym typeface="Calibri"/>
            </a:endParaRPr>
          </a:p>
        </p:txBody>
      </p:sp>
      <p:sp>
        <p:nvSpPr>
          <p:cNvPr id="441" name="Google Shape;441;g3f41726a0cc_0_4"/>
          <p:cNvSpPr/>
          <p:nvPr/>
        </p:nvSpPr>
        <p:spPr>
          <a:xfrm>
            <a:off x="519565" y="708438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42" name="Google Shape;442;g3f41726a0cc_0_4"/>
          <p:cNvSpPr/>
          <p:nvPr/>
        </p:nvSpPr>
        <p:spPr>
          <a:xfrm>
            <a:off x="724424" y="6521024"/>
            <a:ext cx="6016800" cy="5427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Foundation-Sec (8B)</a:t>
            </a:r>
            <a:endParaRPr b="0" i="0" sz="3307" u="none" cap="none" strike="noStrike">
              <a:solidFill>
                <a:schemeClr val="dk1"/>
              </a:solidFill>
              <a:latin typeface="Calibri"/>
              <a:ea typeface="Calibri"/>
              <a:cs typeface="Calibri"/>
              <a:sym typeface="Calibri"/>
            </a:endParaRPr>
          </a:p>
        </p:txBody>
      </p:sp>
      <p:sp>
        <p:nvSpPr>
          <p:cNvPr id="443" name="Google Shape;443;g3f41726a0cc_0_4"/>
          <p:cNvSpPr/>
          <p:nvPr/>
        </p:nvSpPr>
        <p:spPr>
          <a:xfrm>
            <a:off x="6422883" y="6521024"/>
            <a:ext cx="27516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78,8</a:t>
            </a:r>
            <a:endParaRPr b="0" i="0" sz="3307" u="none" cap="none" strike="noStrike">
              <a:solidFill>
                <a:schemeClr val="dk1"/>
              </a:solidFill>
              <a:latin typeface="Calibri"/>
              <a:ea typeface="Calibri"/>
              <a:cs typeface="Calibri"/>
              <a:sym typeface="Calibri"/>
            </a:endParaRPr>
          </a:p>
        </p:txBody>
      </p:sp>
      <p:sp>
        <p:nvSpPr>
          <p:cNvPr id="444" name="Google Shape;444;g3f41726a0cc_0_4"/>
          <p:cNvSpPr/>
          <p:nvPr/>
        </p:nvSpPr>
        <p:spPr>
          <a:xfrm>
            <a:off x="9334782" y="6521024"/>
            <a:ext cx="19167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97,8</a:t>
            </a:r>
            <a:endParaRPr b="0" i="0" sz="3307" u="none" cap="none" strike="noStrike">
              <a:solidFill>
                <a:schemeClr val="dk1"/>
              </a:solidFill>
              <a:latin typeface="Calibri"/>
              <a:ea typeface="Calibri"/>
              <a:cs typeface="Calibri"/>
              <a:sym typeface="Calibri"/>
            </a:endParaRPr>
          </a:p>
        </p:txBody>
      </p:sp>
      <p:sp>
        <p:nvSpPr>
          <p:cNvPr id="445" name="Google Shape;445;g3f41726a0cc_0_4"/>
          <p:cNvSpPr/>
          <p:nvPr/>
        </p:nvSpPr>
        <p:spPr>
          <a:xfrm>
            <a:off x="11448364" y="6521024"/>
            <a:ext cx="19443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82,1</a:t>
            </a:r>
            <a:endParaRPr b="0" i="0" sz="3307" u="none" cap="none" strike="noStrike">
              <a:solidFill>
                <a:schemeClr val="dk1"/>
              </a:solidFill>
              <a:latin typeface="Calibri"/>
              <a:ea typeface="Calibri"/>
              <a:cs typeface="Calibri"/>
              <a:sym typeface="Calibri"/>
            </a:endParaRPr>
          </a:p>
        </p:txBody>
      </p:sp>
      <p:sp>
        <p:nvSpPr>
          <p:cNvPr id="446" name="Google Shape;446;g3f41726a0cc_0_4"/>
          <p:cNvSpPr/>
          <p:nvPr/>
        </p:nvSpPr>
        <p:spPr>
          <a:xfrm>
            <a:off x="519565" y="7750175"/>
            <a:ext cx="12971100" cy="20700"/>
          </a:xfrm>
          <a:prstGeom prst="rect">
            <a:avLst/>
          </a:prstGeom>
          <a:solidFill>
            <a:srgbClr val="DDE3EC"/>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47" name="Google Shape;447;g3f41726a0cc_0_4"/>
          <p:cNvSpPr/>
          <p:nvPr/>
        </p:nvSpPr>
        <p:spPr>
          <a:xfrm>
            <a:off x="724424" y="7186815"/>
            <a:ext cx="6016800" cy="5427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Primus-Merged (8B)</a:t>
            </a:r>
            <a:endParaRPr b="0" i="0" sz="3307" u="none" cap="none" strike="noStrike">
              <a:solidFill>
                <a:schemeClr val="dk1"/>
              </a:solidFill>
              <a:latin typeface="Calibri"/>
              <a:ea typeface="Calibri"/>
              <a:cs typeface="Calibri"/>
              <a:sym typeface="Calibri"/>
            </a:endParaRPr>
          </a:p>
        </p:txBody>
      </p:sp>
      <p:sp>
        <p:nvSpPr>
          <p:cNvPr id="448" name="Google Shape;448;g3f41726a0cc_0_4"/>
          <p:cNvSpPr/>
          <p:nvPr/>
        </p:nvSpPr>
        <p:spPr>
          <a:xfrm>
            <a:off x="6422883" y="7186815"/>
            <a:ext cx="27516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85,2</a:t>
            </a:r>
            <a:endParaRPr b="0" i="0" sz="3307" u="none" cap="none" strike="noStrike">
              <a:solidFill>
                <a:schemeClr val="dk1"/>
              </a:solidFill>
              <a:latin typeface="Calibri"/>
              <a:ea typeface="Calibri"/>
              <a:cs typeface="Calibri"/>
              <a:sym typeface="Calibri"/>
            </a:endParaRPr>
          </a:p>
        </p:txBody>
      </p:sp>
      <p:sp>
        <p:nvSpPr>
          <p:cNvPr id="449" name="Google Shape;449;g3f41726a0cc_0_4"/>
          <p:cNvSpPr/>
          <p:nvPr/>
        </p:nvSpPr>
        <p:spPr>
          <a:xfrm>
            <a:off x="9334782" y="7186815"/>
            <a:ext cx="19167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96,8</a:t>
            </a:r>
            <a:endParaRPr b="0" i="0" sz="3307" u="none" cap="none" strike="noStrike">
              <a:solidFill>
                <a:schemeClr val="dk1"/>
              </a:solidFill>
              <a:latin typeface="Calibri"/>
              <a:ea typeface="Calibri"/>
              <a:cs typeface="Calibri"/>
              <a:sym typeface="Calibri"/>
            </a:endParaRPr>
          </a:p>
        </p:txBody>
      </p:sp>
      <p:sp>
        <p:nvSpPr>
          <p:cNvPr id="450" name="Google Shape;450;g3f41726a0cc_0_4"/>
          <p:cNvSpPr/>
          <p:nvPr/>
        </p:nvSpPr>
        <p:spPr>
          <a:xfrm>
            <a:off x="11448364" y="7186815"/>
            <a:ext cx="1944300" cy="5427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1F2937"/>
              </a:buClr>
              <a:buSzPts val="3307"/>
              <a:buFont typeface="Arial"/>
              <a:buNone/>
            </a:pPr>
            <a:r>
              <a:rPr b="0" i="0" lang="en-US" sz="3307" u="none" cap="none" strike="noStrike">
                <a:solidFill>
                  <a:srgbClr val="1F2937"/>
                </a:solidFill>
                <a:latin typeface="Arial"/>
                <a:ea typeface="Arial"/>
                <a:cs typeface="Arial"/>
                <a:sym typeface="Arial"/>
              </a:rPr>
              <a:t>99,5</a:t>
            </a:r>
            <a:endParaRPr b="0" i="0" sz="3307" u="none" cap="none" strike="noStrike">
              <a:solidFill>
                <a:schemeClr val="dk1"/>
              </a:solidFill>
              <a:latin typeface="Calibri"/>
              <a:ea typeface="Calibri"/>
              <a:cs typeface="Calibri"/>
              <a:sym typeface="Calibri"/>
            </a:endParaRPr>
          </a:p>
        </p:txBody>
      </p:sp>
      <p:sp>
        <p:nvSpPr>
          <p:cNvPr id="451" name="Google Shape;451;g3f41726a0cc_0_4"/>
          <p:cNvSpPr/>
          <p:nvPr/>
        </p:nvSpPr>
        <p:spPr>
          <a:xfrm>
            <a:off x="519565" y="7770661"/>
            <a:ext cx="12971100" cy="819600"/>
          </a:xfrm>
          <a:prstGeom prst="rect">
            <a:avLst/>
          </a:prstGeom>
          <a:solidFill>
            <a:srgbClr val="0F2369"/>
          </a:solidFill>
          <a:ln>
            <a:noFill/>
          </a:ln>
        </p:spPr>
        <p:txBody>
          <a:bodyPr anchorCtr="0" anchor="ctr" bIns="98325" lIns="98325" spcFirstLastPara="1" rIns="98325" wrap="square" tIns="98325">
            <a:noAutofit/>
          </a:bodyPr>
          <a:lstStyle/>
          <a:p>
            <a:pPr indent="0" lvl="0" marL="0" rtl="0" algn="l">
              <a:spcBef>
                <a:spcPts val="0"/>
              </a:spcBef>
              <a:spcAft>
                <a:spcPts val="0"/>
              </a:spcAft>
              <a:buNone/>
            </a:pPr>
            <a:r>
              <a:t/>
            </a:r>
            <a:endParaRPr/>
          </a:p>
        </p:txBody>
      </p:sp>
      <p:sp>
        <p:nvSpPr>
          <p:cNvPr id="452" name="Google Shape;452;g3f41726a0cc_0_4"/>
          <p:cNvSpPr/>
          <p:nvPr/>
        </p:nvSpPr>
        <p:spPr>
          <a:xfrm>
            <a:off x="744910" y="7934548"/>
            <a:ext cx="5566500" cy="532800"/>
          </a:xfrm>
          <a:prstGeom prst="rect">
            <a:avLst/>
          </a:prstGeom>
          <a:noFill/>
          <a:ln>
            <a:noFill/>
          </a:ln>
        </p:spPr>
        <p:txBody>
          <a:bodyPr anchorCtr="0" anchor="ctr" bIns="27300" lIns="27300" spcFirstLastPara="1" rIns="27300" wrap="square" tIns="27300">
            <a:noAutofit/>
          </a:bodyPr>
          <a:lstStyle/>
          <a:p>
            <a:pPr indent="0" lvl="0" marL="0" marR="0" rtl="0" algn="l">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deepseek-v4-flash (nuvem)</a:t>
            </a:r>
            <a:endParaRPr b="0" i="0" sz="3307" u="none" cap="none" strike="noStrike">
              <a:solidFill>
                <a:schemeClr val="dk1"/>
              </a:solidFill>
              <a:latin typeface="Calibri"/>
              <a:ea typeface="Calibri"/>
              <a:cs typeface="Calibri"/>
              <a:sym typeface="Calibri"/>
            </a:endParaRPr>
          </a:p>
        </p:txBody>
      </p:sp>
      <p:sp>
        <p:nvSpPr>
          <p:cNvPr id="453" name="Google Shape;453;g3f41726a0cc_0_4"/>
          <p:cNvSpPr/>
          <p:nvPr/>
        </p:nvSpPr>
        <p:spPr>
          <a:xfrm>
            <a:off x="6543956" y="7934548"/>
            <a:ext cx="2509500" cy="5328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94,2</a:t>
            </a:r>
            <a:endParaRPr b="0" i="0" sz="3307" u="none" cap="none" strike="noStrike">
              <a:solidFill>
                <a:schemeClr val="dk1"/>
              </a:solidFill>
              <a:latin typeface="Calibri"/>
              <a:ea typeface="Calibri"/>
              <a:cs typeface="Calibri"/>
              <a:sym typeface="Calibri"/>
            </a:endParaRPr>
          </a:p>
        </p:txBody>
      </p:sp>
      <p:sp>
        <p:nvSpPr>
          <p:cNvPr id="454" name="Google Shape;454;g3f41726a0cc_0_4"/>
          <p:cNvSpPr/>
          <p:nvPr/>
        </p:nvSpPr>
        <p:spPr>
          <a:xfrm>
            <a:off x="9420039" y="7934548"/>
            <a:ext cx="1746000" cy="5328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99,0</a:t>
            </a:r>
            <a:endParaRPr b="0" i="0" sz="3307" u="none" cap="none" strike="noStrike">
              <a:solidFill>
                <a:schemeClr val="dk1"/>
              </a:solidFill>
              <a:latin typeface="Calibri"/>
              <a:ea typeface="Calibri"/>
              <a:cs typeface="Calibri"/>
              <a:sym typeface="Calibri"/>
            </a:endParaRPr>
          </a:p>
        </p:txBody>
      </p:sp>
      <p:sp>
        <p:nvSpPr>
          <p:cNvPr id="455" name="Google Shape;455;g3f41726a0cc_0_4"/>
          <p:cNvSpPr/>
          <p:nvPr/>
        </p:nvSpPr>
        <p:spPr>
          <a:xfrm>
            <a:off x="11534885" y="7934548"/>
            <a:ext cx="1771500" cy="532800"/>
          </a:xfrm>
          <a:prstGeom prst="rect">
            <a:avLst/>
          </a:prstGeom>
          <a:noFill/>
          <a:ln>
            <a:noFill/>
          </a:ln>
        </p:spPr>
        <p:txBody>
          <a:bodyPr anchorCtr="0" anchor="ctr" bIns="27300" lIns="27300" spcFirstLastPara="1" rIns="27300" wrap="square" tIns="27300">
            <a:noAutofit/>
          </a:bodyPr>
          <a:lstStyle/>
          <a:p>
            <a:pPr indent="0" lvl="0" marL="0" marR="0" rtl="0" algn="ctr">
              <a:spcBef>
                <a:spcPts val="0"/>
              </a:spcBef>
              <a:spcAft>
                <a:spcPts val="0"/>
              </a:spcAft>
              <a:buClr>
                <a:srgbClr val="FFFFFF"/>
              </a:buClr>
              <a:buSzPts val="3307"/>
              <a:buFont typeface="Arial"/>
              <a:buNone/>
            </a:pPr>
            <a:r>
              <a:rPr b="1" i="0" lang="en-US" sz="3307" u="none" cap="none" strike="noStrike">
                <a:solidFill>
                  <a:srgbClr val="FFFFFF"/>
                </a:solidFill>
                <a:latin typeface="Arial"/>
                <a:ea typeface="Arial"/>
                <a:cs typeface="Arial"/>
                <a:sym typeface="Arial"/>
              </a:rPr>
              <a:t>100,0</a:t>
            </a:r>
            <a:endParaRPr b="0" i="0" sz="3307" u="none" cap="none" strike="noStrike">
              <a:solidFill>
                <a:schemeClr val="dk1"/>
              </a:solidFill>
              <a:latin typeface="Calibri"/>
              <a:ea typeface="Calibri"/>
              <a:cs typeface="Calibri"/>
              <a:sym typeface="Calibri"/>
            </a:endParaRPr>
          </a:p>
        </p:txBody>
      </p:sp>
      <p:sp>
        <p:nvSpPr>
          <p:cNvPr id="456" name="Google Shape;456;g3f41726a0cc_0_4"/>
          <p:cNvSpPr/>
          <p:nvPr/>
        </p:nvSpPr>
        <p:spPr>
          <a:xfrm>
            <a:off x="476025" y="9496575"/>
            <a:ext cx="81684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750" u="none" cap="none" strike="noStrike">
                <a:solidFill>
                  <a:srgbClr val="6B7280"/>
                </a:solidFill>
                <a:latin typeface="Arial"/>
                <a:ea typeface="Arial"/>
                <a:cs typeface="Arial"/>
                <a:sym typeface="Arial"/>
              </a:rPr>
              <a:t>Verde: melhor valor entre os locais em cada coluna</a:t>
            </a:r>
            <a:endParaRPr b="0" i="0" sz="2750" u="none" cap="none" strike="noStrike">
              <a:solidFill>
                <a:schemeClr val="dk1"/>
              </a:solidFill>
              <a:latin typeface="Calibri"/>
              <a:ea typeface="Calibri"/>
              <a:cs typeface="Calibri"/>
              <a:sym typeface="Calibri"/>
            </a:endParaRPr>
          </a:p>
        </p:txBody>
      </p:sp>
      <p:pic>
        <p:nvPicPr>
          <p:cNvPr descr="preencoded.png" id="457" name="Google Shape;457;g3f41726a0cc_0_4"/>
          <p:cNvPicPr preferRelativeResize="0"/>
          <p:nvPr/>
        </p:nvPicPr>
        <p:blipFill rotWithShape="1">
          <a:blip r:embed="rId3">
            <a:alphaModFix/>
          </a:blip>
          <a:srcRect b="0" l="0" r="0" t="0"/>
          <a:stretch/>
        </p:blipFill>
        <p:spPr>
          <a:xfrm>
            <a:off x="13863935" y="9496425"/>
            <a:ext cx="1558826" cy="381000"/>
          </a:xfrm>
          <a:prstGeom prst="rect">
            <a:avLst/>
          </a:prstGeom>
          <a:noFill/>
          <a:ln>
            <a:noFill/>
          </a:ln>
        </p:spPr>
      </p:pic>
      <p:pic>
        <p:nvPicPr>
          <p:cNvPr descr="preencoded.png" id="458" name="Google Shape;458;g3f41726a0cc_0_4"/>
          <p:cNvPicPr preferRelativeResize="0"/>
          <p:nvPr/>
        </p:nvPicPr>
        <p:blipFill rotWithShape="1">
          <a:blip r:embed="rId4">
            <a:alphaModFix/>
          </a:blip>
          <a:srcRect b="0" l="0" r="0" t="0"/>
          <a:stretch/>
        </p:blipFill>
        <p:spPr>
          <a:xfrm>
            <a:off x="15651361" y="9477375"/>
            <a:ext cx="636389" cy="419100"/>
          </a:xfrm>
          <a:prstGeom prst="rect">
            <a:avLst/>
          </a:prstGeom>
          <a:noFill/>
          <a:ln>
            <a:noFill/>
          </a:ln>
        </p:spPr>
      </p:pic>
      <p:pic>
        <p:nvPicPr>
          <p:cNvPr descr="preencoded.png" id="459" name="Google Shape;459;g3f41726a0cc_0_4"/>
          <p:cNvPicPr preferRelativeResize="0"/>
          <p:nvPr/>
        </p:nvPicPr>
        <p:blipFill rotWithShape="1">
          <a:blip r:embed="rId5">
            <a:alphaModFix/>
          </a:blip>
          <a:srcRect b="0" l="0" r="0" t="0"/>
          <a:stretch/>
        </p:blipFill>
        <p:spPr>
          <a:xfrm>
            <a:off x="16516350" y="9467850"/>
            <a:ext cx="438150" cy="438150"/>
          </a:xfrm>
          <a:prstGeom prst="rect">
            <a:avLst/>
          </a:prstGeom>
          <a:noFill/>
          <a:ln>
            <a:noFill/>
          </a:ln>
        </p:spPr>
      </p:pic>
      <p:sp>
        <p:nvSpPr>
          <p:cNvPr id="460" name="Google Shape;460;g3f41726a0cc_0_4"/>
          <p:cNvSpPr/>
          <p:nvPr/>
        </p:nvSpPr>
        <p:spPr>
          <a:xfrm>
            <a:off x="7311049" y="3745192"/>
            <a:ext cx="975300" cy="522300"/>
          </a:xfrm>
          <a:prstGeom prst="rect">
            <a:avLst/>
          </a:prstGeom>
          <a:noFill/>
          <a:ln>
            <a:noFill/>
          </a:ln>
        </p:spPr>
        <p:txBody>
          <a:bodyPr anchorCtr="0" anchor="t" bIns="27300" lIns="27300" spcFirstLastPara="1" rIns="27300" wrap="square" tIns="27300">
            <a:noAutofit/>
          </a:bodyPr>
          <a:lstStyle/>
          <a:p>
            <a:pPr indent="0" lvl="0" marL="0" marR="0" rtl="0" algn="ctr">
              <a:spcBef>
                <a:spcPts val="0"/>
              </a:spcBef>
              <a:spcAft>
                <a:spcPts val="0"/>
              </a:spcAft>
              <a:buClr>
                <a:srgbClr val="FFFFFF"/>
              </a:buClr>
              <a:buSzPts val="3307"/>
              <a:buFont typeface="Arial"/>
              <a:buNone/>
            </a:pPr>
            <a:r>
              <a:rPr i="0" lang="en-US" sz="3307" u="none" cap="none" strike="noStrike">
                <a:solidFill>
                  <a:schemeClr val="dk1"/>
                </a:solidFill>
              </a:rPr>
              <a:t>93,0</a:t>
            </a:r>
            <a:endParaRPr i="0" sz="3307" u="none" cap="none" strike="noStrike">
              <a:solidFill>
                <a:schemeClr val="dk1"/>
              </a:solidFill>
              <a:latin typeface="Calibri"/>
              <a:ea typeface="Calibri"/>
              <a:cs typeface="Calibri"/>
              <a:sym typeface="Calibri"/>
            </a:endParaRPr>
          </a:p>
        </p:txBody>
      </p:sp>
      <p:sp>
        <p:nvSpPr>
          <p:cNvPr id="461" name="Google Shape;461;g3f41726a0cc_0_4"/>
          <p:cNvSpPr/>
          <p:nvPr/>
        </p:nvSpPr>
        <p:spPr>
          <a:xfrm>
            <a:off x="9805525" y="5158715"/>
            <a:ext cx="975300" cy="522300"/>
          </a:xfrm>
          <a:prstGeom prst="rect">
            <a:avLst/>
          </a:prstGeom>
          <a:noFill/>
          <a:ln>
            <a:noFill/>
          </a:ln>
        </p:spPr>
        <p:txBody>
          <a:bodyPr anchorCtr="0" anchor="t" bIns="27300" lIns="27300" spcFirstLastPara="1" rIns="27300" wrap="square" tIns="27300">
            <a:noAutofit/>
          </a:bodyPr>
          <a:lstStyle/>
          <a:p>
            <a:pPr indent="0" lvl="0" marL="0" marR="0" rtl="0" algn="ctr">
              <a:spcBef>
                <a:spcPts val="0"/>
              </a:spcBef>
              <a:spcAft>
                <a:spcPts val="0"/>
              </a:spcAft>
              <a:buClr>
                <a:srgbClr val="FFFFFF"/>
              </a:buClr>
              <a:buSzPts val="3307"/>
              <a:buFont typeface="Arial"/>
              <a:buNone/>
            </a:pPr>
            <a:r>
              <a:rPr i="0" lang="en-US" sz="3307" u="none" cap="none" strike="noStrike">
                <a:solidFill>
                  <a:schemeClr val="dk1"/>
                </a:solidFill>
              </a:rPr>
              <a:t>98,8</a:t>
            </a:r>
            <a:endParaRPr i="0" sz="3307" u="none" cap="none" strike="noStrike">
              <a:solidFill>
                <a:schemeClr val="dk1"/>
              </a:solidFill>
              <a:latin typeface="Calibri"/>
              <a:ea typeface="Calibri"/>
              <a:cs typeface="Calibri"/>
              <a:sym typeface="Calibri"/>
            </a:endParaRPr>
          </a:p>
        </p:txBody>
      </p:sp>
      <p:sp>
        <p:nvSpPr>
          <p:cNvPr id="462" name="Google Shape;462;g3f41726a0cc_0_4"/>
          <p:cNvSpPr/>
          <p:nvPr/>
        </p:nvSpPr>
        <p:spPr>
          <a:xfrm>
            <a:off x="11828097" y="5158715"/>
            <a:ext cx="1185000" cy="522300"/>
          </a:xfrm>
          <a:prstGeom prst="rect">
            <a:avLst/>
          </a:prstGeom>
          <a:noFill/>
          <a:ln>
            <a:noFill/>
          </a:ln>
        </p:spPr>
        <p:txBody>
          <a:bodyPr anchorCtr="0" anchor="t" bIns="27300" lIns="27300" spcFirstLastPara="1" rIns="27300" wrap="square" tIns="27300">
            <a:noAutofit/>
          </a:bodyPr>
          <a:lstStyle/>
          <a:p>
            <a:pPr indent="0" lvl="0" marL="0" marR="0" rtl="0" algn="ctr">
              <a:spcBef>
                <a:spcPts val="0"/>
              </a:spcBef>
              <a:spcAft>
                <a:spcPts val="0"/>
              </a:spcAft>
              <a:buClr>
                <a:srgbClr val="FFFFFF"/>
              </a:buClr>
              <a:buSzPts val="3307"/>
              <a:buFont typeface="Arial"/>
              <a:buNone/>
            </a:pPr>
            <a:r>
              <a:rPr i="0" lang="en-US" sz="3307" u="none" cap="none" strike="noStrike">
                <a:solidFill>
                  <a:schemeClr val="dk1"/>
                </a:solidFill>
              </a:rPr>
              <a:t>100,0</a:t>
            </a:r>
            <a:endParaRPr i="0" sz="3307" u="none" cap="none" strike="noStrike">
              <a:solidFill>
                <a:schemeClr val="dk1"/>
              </a:solidFill>
              <a:latin typeface="Calibri"/>
              <a:ea typeface="Calibri"/>
              <a:cs typeface="Calibri"/>
              <a:sym typeface="Calibri"/>
            </a:endParaRPr>
          </a:p>
        </p:txBody>
      </p:sp>
      <p:sp>
        <p:nvSpPr>
          <p:cNvPr id="463" name="Google Shape;463;g3f41726a0cc_0_4"/>
          <p:cNvSpPr/>
          <p:nvPr/>
        </p:nvSpPr>
        <p:spPr>
          <a:xfrm>
            <a:off x="13863925" y="3768700"/>
            <a:ext cx="4084800" cy="2175600"/>
          </a:xfrm>
          <a:prstGeom prst="roundRect">
            <a:avLst>
              <a:gd fmla="val 17978"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f41726a0cc_0_4"/>
          <p:cNvSpPr/>
          <p:nvPr/>
        </p:nvSpPr>
        <p:spPr>
          <a:xfrm>
            <a:off x="14171950" y="4067625"/>
            <a:ext cx="3595200" cy="161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3000"/>
              <a:buFont typeface="Arial"/>
              <a:buNone/>
            </a:pPr>
            <a:r>
              <a:rPr lang="en-US" sz="3500">
                <a:solidFill>
                  <a:srgbClr val="1F2937"/>
                </a:solidFill>
              </a:rPr>
              <a:t>Modelo utilizado por </a:t>
            </a:r>
            <a:r>
              <a:rPr b="1" lang="en-US" sz="3400">
                <a:solidFill>
                  <a:srgbClr val="1F2937"/>
                </a:solidFill>
              </a:rPr>
              <a:t>Keltek et al. 2024</a:t>
            </a:r>
            <a:endParaRPr b="1" sz="3400">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3000"/>
              <a:buFont typeface="Arial"/>
              <a:buNone/>
            </a:pPr>
            <a:r>
              <a:t/>
            </a:r>
            <a:endParaRPr sz="3500">
              <a:solidFill>
                <a:srgbClr val="1F2937"/>
              </a:solidFill>
            </a:endParaRPr>
          </a:p>
          <a:p>
            <a:pPr indent="0" lvl="0" marL="0" marR="0" rtl="0" algn="l">
              <a:spcBef>
                <a:spcPts val="0"/>
              </a:spcBef>
              <a:spcAft>
                <a:spcPts val="0"/>
              </a:spcAft>
              <a:buClr>
                <a:srgbClr val="1F2937"/>
              </a:buClr>
              <a:buSzPts val="3000"/>
              <a:buFont typeface="Arial"/>
              <a:buNone/>
            </a:pPr>
            <a:r>
              <a:t/>
            </a:r>
            <a:endParaRPr sz="3500">
              <a:solidFill>
                <a:srgbClr val="1F2937"/>
              </a:solidFill>
            </a:endParaRPr>
          </a:p>
        </p:txBody>
      </p:sp>
      <p:sp>
        <p:nvSpPr>
          <p:cNvPr id="465" name="Google Shape;465;g3f41726a0cc_0_4"/>
          <p:cNvSpPr/>
          <p:nvPr/>
        </p:nvSpPr>
        <p:spPr>
          <a:xfrm rot="2700000">
            <a:off x="13699093" y="4702917"/>
            <a:ext cx="342805" cy="342805"/>
          </a:xfrm>
          <a:prstGeom prst="roundRect">
            <a:avLst>
              <a:gd fmla="val 11111"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0" name="Shape 470"/>
        <p:cNvGrpSpPr/>
        <p:nvPr/>
      </p:nvGrpSpPr>
      <p:grpSpPr>
        <a:xfrm>
          <a:off x="0" y="0"/>
          <a:ext cx="0" cy="0"/>
          <a:chOff x="0" y="0"/>
          <a:chExt cx="0" cy="0"/>
        </a:xfrm>
      </p:grpSpPr>
      <p:sp>
        <p:nvSpPr>
          <p:cNvPr id="471" name="Google Shape;471;p21"/>
          <p:cNvSpPr/>
          <p:nvPr/>
        </p:nvSpPr>
        <p:spPr>
          <a:xfrm>
            <a:off x="133350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472" name="Google Shape;472;p21"/>
          <p:cNvSpPr/>
          <p:nvPr/>
        </p:nvSpPr>
        <p:spPr>
          <a:xfrm>
            <a:off x="1333500" y="866775"/>
            <a:ext cx="17183100"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Dois modos de falha, riscos diferentes</a:t>
            </a:r>
            <a:endParaRPr b="0" i="0" sz="4350" u="none" cap="none" strike="noStrike">
              <a:solidFill>
                <a:schemeClr val="dk1"/>
              </a:solidFill>
              <a:latin typeface="Calibri"/>
              <a:ea typeface="Calibri"/>
              <a:cs typeface="Calibri"/>
              <a:sym typeface="Calibri"/>
            </a:endParaRPr>
          </a:p>
        </p:txBody>
      </p:sp>
      <p:sp>
        <p:nvSpPr>
          <p:cNvPr id="473" name="Google Shape;473;p21"/>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1"/>
          <p:cNvSpPr/>
          <p:nvPr/>
        </p:nvSpPr>
        <p:spPr>
          <a:xfrm>
            <a:off x="17282220" y="4762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18</a:t>
            </a:r>
            <a:endParaRPr b="0" i="0" sz="2400" u="none" cap="none" strike="noStrike">
              <a:solidFill>
                <a:schemeClr val="dk1"/>
              </a:solidFill>
              <a:latin typeface="Calibri"/>
              <a:ea typeface="Calibri"/>
              <a:cs typeface="Calibri"/>
              <a:sym typeface="Calibri"/>
            </a:endParaRPr>
          </a:p>
        </p:txBody>
      </p:sp>
      <p:pic>
        <p:nvPicPr>
          <p:cNvPr id="475" name="Google Shape;475;p21" title="tradeoff.png"/>
          <p:cNvPicPr preferRelativeResize="0"/>
          <p:nvPr/>
        </p:nvPicPr>
        <p:blipFill>
          <a:blip r:embed="rId3">
            <a:alphaModFix/>
          </a:blip>
          <a:stretch>
            <a:fillRect/>
          </a:stretch>
        </p:blipFill>
        <p:spPr>
          <a:xfrm>
            <a:off x="1852619" y="1581150"/>
            <a:ext cx="14582758" cy="87439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pic>
        <p:nvPicPr>
          <p:cNvPr id="481" name="Google Shape;481;p22" title="tradeoff.png"/>
          <p:cNvPicPr preferRelativeResize="0"/>
          <p:nvPr/>
        </p:nvPicPr>
        <p:blipFill>
          <a:blip r:embed="rId3">
            <a:alphaModFix/>
          </a:blip>
          <a:stretch>
            <a:fillRect/>
          </a:stretch>
        </p:blipFill>
        <p:spPr>
          <a:xfrm>
            <a:off x="2536500" y="2324100"/>
            <a:ext cx="13214976" cy="7923824"/>
          </a:xfrm>
          <a:prstGeom prst="rect">
            <a:avLst/>
          </a:prstGeom>
          <a:noFill/>
          <a:ln>
            <a:noFill/>
          </a:ln>
        </p:spPr>
      </p:pic>
      <p:sp>
        <p:nvSpPr>
          <p:cNvPr id="482" name="Google Shape;482;p22"/>
          <p:cNvSpPr/>
          <p:nvPr/>
        </p:nvSpPr>
        <p:spPr>
          <a:xfrm>
            <a:off x="133350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483" name="Google Shape;483;p22"/>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17282220" y="4762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19</a:t>
            </a:r>
            <a:endParaRPr b="0" i="0" sz="2400" u="none" cap="none" strike="noStrike">
              <a:solidFill>
                <a:schemeClr val="dk1"/>
              </a:solidFill>
              <a:latin typeface="Calibri"/>
              <a:ea typeface="Calibri"/>
              <a:cs typeface="Calibri"/>
              <a:sym typeface="Calibri"/>
            </a:endParaRPr>
          </a:p>
        </p:txBody>
      </p:sp>
      <p:sp>
        <p:nvSpPr>
          <p:cNvPr id="485" name="Google Shape;485;p22"/>
          <p:cNvSpPr/>
          <p:nvPr/>
        </p:nvSpPr>
        <p:spPr>
          <a:xfrm>
            <a:off x="1676400" y="1047750"/>
            <a:ext cx="14935200" cy="1276500"/>
          </a:xfrm>
          <a:prstGeom prst="roundRect">
            <a:avLst>
              <a:gd fmla="val 1194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2044200" y="1137975"/>
            <a:ext cx="14199600" cy="10959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FFFFF"/>
              </a:buClr>
              <a:buSzPts val="3000"/>
              <a:buFont typeface="Arial"/>
              <a:buNone/>
            </a:pPr>
            <a:r>
              <a:rPr b="0" i="0" lang="en-US" sz="3500" u="none" cap="none" strike="noStrike">
                <a:solidFill>
                  <a:srgbClr val="FFFFFF"/>
                </a:solidFill>
                <a:latin typeface="Arial"/>
                <a:ea typeface="Arial"/>
                <a:cs typeface="Arial"/>
                <a:sym typeface="Arial"/>
              </a:rPr>
              <a:t>Gemma 4 omite </a:t>
            </a:r>
            <a:r>
              <a:rPr b="1" lang="en-US" sz="3500">
                <a:solidFill>
                  <a:schemeClr val="lt1"/>
                </a:solidFill>
              </a:rPr>
              <a:t>15,7% </a:t>
            </a:r>
            <a:r>
              <a:rPr lang="en-US" sz="3500">
                <a:solidFill>
                  <a:schemeClr val="lt1"/>
                </a:solidFill>
              </a:rPr>
              <a:t>das vulnerabilidades e Qwen3, </a:t>
            </a:r>
            <a:r>
              <a:rPr b="1" lang="en-US" sz="3500">
                <a:solidFill>
                  <a:schemeClr val="lt1"/>
                </a:solidFill>
              </a:rPr>
              <a:t>13,5%</a:t>
            </a:r>
            <a:r>
              <a:rPr lang="en-US" sz="3500">
                <a:solidFill>
                  <a:schemeClr val="lt1"/>
                </a:solidFill>
              </a:rPr>
              <a:t>: o registro nunca chega à base.</a:t>
            </a:r>
            <a:endParaRPr sz="3500">
              <a:solidFill>
                <a:srgbClr val="FFFFFF"/>
              </a:solidFill>
            </a:endParaRPr>
          </a:p>
        </p:txBody>
      </p:sp>
      <p:sp>
        <p:nvSpPr>
          <p:cNvPr id="487" name="Google Shape;487;p22"/>
          <p:cNvSpPr/>
          <p:nvPr/>
        </p:nvSpPr>
        <p:spPr>
          <a:xfrm rot="2700000">
            <a:off x="8972597" y="2152630"/>
            <a:ext cx="342805" cy="342805"/>
          </a:xfrm>
          <a:prstGeom prst="roundRect">
            <a:avLst>
              <a:gd fmla="val 11111"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2"/>
          <p:cNvSpPr/>
          <p:nvPr/>
        </p:nvSpPr>
        <p:spPr>
          <a:xfrm>
            <a:off x="2957350" y="3544492"/>
            <a:ext cx="11789100" cy="1276500"/>
          </a:xfrm>
          <a:prstGeom prst="roundRect">
            <a:avLst>
              <a:gd fmla="val 11320" name="adj"/>
            </a:avLst>
          </a:prstGeom>
          <a:solidFill>
            <a:srgbClr val="C0392B">
              <a:alpha val="7843"/>
            </a:srgbClr>
          </a:solidFill>
          <a:ln cap="flat" cmpd="sng" w="47625">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pic>
        <p:nvPicPr>
          <p:cNvPr id="494" name="Google Shape;494;p23" title="tradeoff.png"/>
          <p:cNvPicPr preferRelativeResize="0"/>
          <p:nvPr/>
        </p:nvPicPr>
        <p:blipFill>
          <a:blip r:embed="rId3">
            <a:alphaModFix/>
          </a:blip>
          <a:stretch>
            <a:fillRect/>
          </a:stretch>
        </p:blipFill>
        <p:spPr>
          <a:xfrm>
            <a:off x="2555913" y="2352250"/>
            <a:ext cx="13214976" cy="7923824"/>
          </a:xfrm>
          <a:prstGeom prst="rect">
            <a:avLst/>
          </a:prstGeom>
          <a:noFill/>
          <a:ln>
            <a:noFill/>
          </a:ln>
        </p:spPr>
      </p:pic>
      <p:sp>
        <p:nvSpPr>
          <p:cNvPr id="495" name="Google Shape;495;p23"/>
          <p:cNvSpPr/>
          <p:nvPr/>
        </p:nvSpPr>
        <p:spPr>
          <a:xfrm>
            <a:off x="133350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496" name="Google Shape;496;p23"/>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3"/>
          <p:cNvSpPr/>
          <p:nvPr/>
        </p:nvSpPr>
        <p:spPr>
          <a:xfrm>
            <a:off x="17282220" y="4762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2</a:t>
            </a:r>
            <a:r>
              <a:rPr lang="en-US" sz="2400">
                <a:solidFill>
                  <a:srgbClr val="6B7280"/>
                </a:solidFill>
              </a:rPr>
              <a:t>0</a:t>
            </a:r>
            <a:endParaRPr b="0" i="0" sz="2400" u="none" cap="none" strike="noStrike">
              <a:solidFill>
                <a:schemeClr val="dk1"/>
              </a:solidFill>
              <a:latin typeface="Calibri"/>
              <a:ea typeface="Calibri"/>
              <a:cs typeface="Calibri"/>
              <a:sym typeface="Calibri"/>
            </a:endParaRPr>
          </a:p>
        </p:txBody>
      </p:sp>
      <p:sp>
        <p:nvSpPr>
          <p:cNvPr id="498" name="Google Shape;498;p23"/>
          <p:cNvSpPr/>
          <p:nvPr/>
        </p:nvSpPr>
        <p:spPr>
          <a:xfrm>
            <a:off x="1767632" y="1262063"/>
            <a:ext cx="14752588" cy="847725"/>
          </a:xfrm>
          <a:prstGeom prst="roundRect">
            <a:avLst>
              <a:gd fmla="val 17978"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3"/>
          <p:cNvSpPr/>
          <p:nvPr/>
        </p:nvSpPr>
        <p:spPr>
          <a:xfrm>
            <a:off x="2206625" y="1457338"/>
            <a:ext cx="12342900" cy="4572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F2937"/>
              </a:buClr>
              <a:buSzPts val="3000"/>
              <a:buFont typeface="Arial"/>
              <a:buNone/>
            </a:pPr>
            <a:r>
              <a:rPr b="0" i="0" lang="en-US" sz="3500" u="none" cap="none" strike="noStrike">
                <a:solidFill>
                  <a:srgbClr val="1F2937"/>
                </a:solidFill>
                <a:latin typeface="Arial"/>
                <a:ea typeface="Arial"/>
                <a:cs typeface="Arial"/>
                <a:sym typeface="Arial"/>
              </a:rPr>
              <a:t>Llama 3.1 quase não omite, mas inventa </a:t>
            </a:r>
            <a:r>
              <a:rPr b="1" lang="en-US" sz="3500">
                <a:solidFill>
                  <a:srgbClr val="1F2937"/>
                </a:solidFill>
              </a:rPr>
              <a:t>17,4% </a:t>
            </a:r>
            <a:r>
              <a:rPr lang="en-US" sz="3500">
                <a:solidFill>
                  <a:srgbClr val="1F2937"/>
                </a:solidFill>
              </a:rPr>
              <a:t>dos registros.</a:t>
            </a:r>
            <a:endParaRPr b="1" sz="3500">
              <a:solidFill>
                <a:srgbClr val="1F2937"/>
              </a:solidFill>
            </a:endParaRPr>
          </a:p>
          <a:p>
            <a:pPr indent="0" lvl="0" marL="0" marR="0" rtl="0" algn="l">
              <a:spcBef>
                <a:spcPts val="0"/>
              </a:spcBef>
              <a:spcAft>
                <a:spcPts val="0"/>
              </a:spcAft>
              <a:buClr>
                <a:srgbClr val="1F2937"/>
              </a:buClr>
              <a:buSzPts val="3000"/>
              <a:buFont typeface="Arial"/>
              <a:buNone/>
            </a:pPr>
            <a:r>
              <a:t/>
            </a:r>
            <a:endParaRPr sz="3500">
              <a:solidFill>
                <a:srgbClr val="1F2937"/>
              </a:solidFill>
            </a:endParaRPr>
          </a:p>
        </p:txBody>
      </p:sp>
      <p:sp>
        <p:nvSpPr>
          <p:cNvPr id="500" name="Google Shape;500;p23"/>
          <p:cNvSpPr/>
          <p:nvPr/>
        </p:nvSpPr>
        <p:spPr>
          <a:xfrm rot="2700000">
            <a:off x="8972401" y="1938337"/>
            <a:ext cx="342900" cy="342900"/>
          </a:xfrm>
          <a:prstGeom prst="roundRect">
            <a:avLst>
              <a:gd fmla="val 11111"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p:nvPr/>
        </p:nvSpPr>
        <p:spPr>
          <a:xfrm>
            <a:off x="3475525" y="4897983"/>
            <a:ext cx="11803200" cy="732000"/>
          </a:xfrm>
          <a:prstGeom prst="roundRect">
            <a:avLst>
              <a:gd fmla="val 21058" name="adj"/>
            </a:avLst>
          </a:prstGeom>
          <a:solidFill>
            <a:srgbClr val="F7A823">
              <a:alpha val="12157"/>
            </a:srgbClr>
          </a:solidFill>
          <a:ln cap="flat" cmpd="sng" w="47625">
            <a:solidFill>
              <a:srgbClr val="F7A8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3"/>
          <p:cNvSpPr/>
          <p:nvPr/>
        </p:nvSpPr>
        <p:spPr>
          <a:xfrm>
            <a:off x="13832775" y="7613975"/>
            <a:ext cx="4084800" cy="2175600"/>
          </a:xfrm>
          <a:prstGeom prst="roundRect">
            <a:avLst>
              <a:gd fmla="val 17978"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3"/>
          <p:cNvSpPr/>
          <p:nvPr/>
        </p:nvSpPr>
        <p:spPr>
          <a:xfrm>
            <a:off x="14140800" y="7912900"/>
            <a:ext cx="3595200" cy="161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3000"/>
              <a:buFont typeface="Arial"/>
              <a:buNone/>
            </a:pPr>
            <a:r>
              <a:rPr lang="en-US" sz="3500">
                <a:solidFill>
                  <a:srgbClr val="1F2937"/>
                </a:solidFill>
              </a:rPr>
              <a:t>Modelo utilizado por </a:t>
            </a:r>
            <a:r>
              <a:rPr b="1" lang="en-US" sz="3400">
                <a:solidFill>
                  <a:srgbClr val="1F2937"/>
                </a:solidFill>
              </a:rPr>
              <a:t>Keltek et al. 2024</a:t>
            </a:r>
            <a:endParaRPr b="1" sz="3400">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3000"/>
              <a:buFont typeface="Arial"/>
              <a:buNone/>
            </a:pPr>
            <a:r>
              <a:t/>
            </a:r>
            <a:endParaRPr sz="3500">
              <a:solidFill>
                <a:srgbClr val="1F2937"/>
              </a:solidFill>
            </a:endParaRPr>
          </a:p>
          <a:p>
            <a:pPr indent="0" lvl="0" marL="0" marR="0" rtl="0" algn="l">
              <a:spcBef>
                <a:spcPts val="0"/>
              </a:spcBef>
              <a:spcAft>
                <a:spcPts val="0"/>
              </a:spcAft>
              <a:buClr>
                <a:srgbClr val="1F2937"/>
              </a:buClr>
              <a:buSzPts val="3000"/>
              <a:buFont typeface="Arial"/>
              <a:buNone/>
            </a:pPr>
            <a:r>
              <a:t/>
            </a:r>
            <a:endParaRPr sz="3500">
              <a:solidFill>
                <a:srgbClr val="1F2937"/>
              </a:solidFill>
            </a:endParaRPr>
          </a:p>
        </p:txBody>
      </p:sp>
      <p:sp>
        <p:nvSpPr>
          <p:cNvPr id="504" name="Google Shape;504;p23"/>
          <p:cNvSpPr/>
          <p:nvPr/>
        </p:nvSpPr>
        <p:spPr>
          <a:xfrm rot="2700000">
            <a:off x="15703768" y="7454595"/>
            <a:ext cx="342805" cy="342805"/>
          </a:xfrm>
          <a:prstGeom prst="roundRect">
            <a:avLst>
              <a:gd fmla="val 11111"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pic>
        <p:nvPicPr>
          <p:cNvPr id="510" name="Google Shape;510;p24" title="tradeoff.png"/>
          <p:cNvPicPr preferRelativeResize="0"/>
          <p:nvPr/>
        </p:nvPicPr>
        <p:blipFill>
          <a:blip r:embed="rId3">
            <a:alphaModFix/>
          </a:blip>
          <a:stretch>
            <a:fillRect/>
          </a:stretch>
        </p:blipFill>
        <p:spPr>
          <a:xfrm>
            <a:off x="2536513" y="2324100"/>
            <a:ext cx="13214976" cy="7923824"/>
          </a:xfrm>
          <a:prstGeom prst="rect">
            <a:avLst/>
          </a:prstGeom>
          <a:noFill/>
          <a:ln>
            <a:noFill/>
          </a:ln>
        </p:spPr>
      </p:pic>
      <p:sp>
        <p:nvSpPr>
          <p:cNvPr id="511" name="Google Shape;511;p24"/>
          <p:cNvSpPr/>
          <p:nvPr/>
        </p:nvSpPr>
        <p:spPr>
          <a:xfrm>
            <a:off x="133350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512" name="Google Shape;512;p24"/>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4"/>
          <p:cNvSpPr/>
          <p:nvPr/>
        </p:nvSpPr>
        <p:spPr>
          <a:xfrm>
            <a:off x="17299859" y="476250"/>
            <a:ext cx="399600" cy="390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2</a:t>
            </a:r>
            <a:r>
              <a:rPr lang="en-US" sz="2400">
                <a:solidFill>
                  <a:srgbClr val="6B7280"/>
                </a:solidFill>
              </a:rPr>
              <a:t>1</a:t>
            </a:r>
            <a:endParaRPr b="0" i="0" sz="2400" u="none" cap="none" strike="noStrike">
              <a:solidFill>
                <a:schemeClr val="dk1"/>
              </a:solidFill>
              <a:latin typeface="Calibri"/>
              <a:ea typeface="Calibri"/>
              <a:cs typeface="Calibri"/>
              <a:sym typeface="Calibri"/>
            </a:endParaRPr>
          </a:p>
        </p:txBody>
      </p:sp>
      <p:sp>
        <p:nvSpPr>
          <p:cNvPr id="514" name="Google Shape;514;p24"/>
          <p:cNvSpPr/>
          <p:nvPr/>
        </p:nvSpPr>
        <p:spPr>
          <a:xfrm>
            <a:off x="1676400" y="1047750"/>
            <a:ext cx="14935200" cy="1276350"/>
          </a:xfrm>
          <a:prstGeom prst="roundRect">
            <a:avLst>
              <a:gd fmla="val 1194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4"/>
          <p:cNvSpPr/>
          <p:nvPr/>
        </p:nvSpPr>
        <p:spPr>
          <a:xfrm>
            <a:off x="2053800" y="1152525"/>
            <a:ext cx="14180400" cy="1066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FFFFF"/>
              </a:buClr>
              <a:buSzPts val="3000"/>
              <a:buFont typeface="Arial"/>
              <a:buNone/>
            </a:pPr>
            <a:r>
              <a:rPr b="0" i="0" lang="en-US" sz="3500" u="none" cap="none" strike="noStrike">
                <a:solidFill>
                  <a:srgbClr val="FFFFFF"/>
                </a:solidFill>
                <a:latin typeface="Arial"/>
                <a:ea typeface="Arial"/>
                <a:cs typeface="Arial"/>
                <a:sym typeface="Arial"/>
              </a:rPr>
              <a:t>gpt-oss, Ministral 3 e Phi-4 mantêm os dois baixos: </a:t>
            </a:r>
            <a:r>
              <a:rPr b="1" lang="en-US" sz="3500">
                <a:solidFill>
                  <a:schemeClr val="lt1"/>
                </a:solidFill>
              </a:rPr>
              <a:t>2,3% a 2,6% </a:t>
            </a:r>
            <a:r>
              <a:rPr lang="en-US" sz="3500">
                <a:solidFill>
                  <a:schemeClr val="lt1"/>
                </a:solidFill>
              </a:rPr>
              <a:t>de omissão, contra 1,3% da nuvem.</a:t>
            </a:r>
            <a:endParaRPr sz="35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000"/>
              <a:buFont typeface="Arial"/>
              <a:buNone/>
            </a:pPr>
            <a:r>
              <a:t/>
            </a:r>
            <a:endParaRPr b="1" sz="3000">
              <a:solidFill>
                <a:schemeClr val="lt1"/>
              </a:solidFill>
            </a:endParaRPr>
          </a:p>
          <a:p>
            <a:pPr indent="0" lvl="0" marL="0" marR="0" rtl="0" algn="l">
              <a:spcBef>
                <a:spcPts val="0"/>
              </a:spcBef>
              <a:spcAft>
                <a:spcPts val="0"/>
              </a:spcAft>
              <a:buClr>
                <a:srgbClr val="FFFFFF"/>
              </a:buClr>
              <a:buSzPts val="3000"/>
              <a:buFont typeface="Arial"/>
              <a:buNone/>
            </a:pPr>
            <a:r>
              <a:t/>
            </a:r>
            <a:endParaRPr sz="3000">
              <a:solidFill>
                <a:srgbClr val="FFFFFF"/>
              </a:solidFill>
            </a:endParaRPr>
          </a:p>
        </p:txBody>
      </p:sp>
      <p:sp>
        <p:nvSpPr>
          <p:cNvPr id="516" name="Google Shape;516;p24"/>
          <p:cNvSpPr/>
          <p:nvPr/>
        </p:nvSpPr>
        <p:spPr>
          <a:xfrm rot="2700000">
            <a:off x="8972550" y="2152650"/>
            <a:ext cx="342900" cy="342900"/>
          </a:xfrm>
          <a:prstGeom prst="roundRect">
            <a:avLst>
              <a:gd fmla="val 11111"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4"/>
          <p:cNvSpPr/>
          <p:nvPr/>
        </p:nvSpPr>
        <p:spPr>
          <a:xfrm>
            <a:off x="2843325" y="7469725"/>
            <a:ext cx="11917200" cy="1880700"/>
          </a:xfrm>
          <a:prstGeom prst="roundRect">
            <a:avLst>
              <a:gd fmla="val 7650" name="adj"/>
            </a:avLst>
          </a:prstGeom>
          <a:solidFill>
            <a:srgbClr val="0A866E">
              <a:alpha val="7843"/>
            </a:srgbClr>
          </a:solidFill>
          <a:ln cap="flat" cmpd="sng" w="47625">
            <a:solidFill>
              <a:srgbClr val="0A8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4"/>
          <p:cNvSpPr/>
          <p:nvPr/>
        </p:nvSpPr>
        <p:spPr>
          <a:xfrm>
            <a:off x="2823000" y="9350550"/>
            <a:ext cx="11917200" cy="652800"/>
          </a:xfrm>
          <a:prstGeom prst="roundRect">
            <a:avLst>
              <a:gd fmla="val 21711" name="adj"/>
            </a:avLst>
          </a:prstGeom>
          <a:noFill/>
          <a:ln cap="flat" cmpd="sng" w="38100">
            <a:solidFill>
              <a:srgbClr val="0F236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25"/>
          <p:cNvSpPr/>
          <p:nvPr/>
        </p:nvSpPr>
        <p:spPr>
          <a:xfrm>
            <a:off x="85725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525" name="Google Shape;525;p25"/>
          <p:cNvSpPr/>
          <p:nvPr/>
        </p:nvSpPr>
        <p:spPr>
          <a:xfrm>
            <a:off x="857250" y="866775"/>
            <a:ext cx="18230850" cy="714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650"/>
              <a:buFont typeface="Arial"/>
              <a:buNone/>
            </a:pPr>
            <a:r>
              <a:rPr b="1" i="0" lang="en-US" sz="4650" u="none" cap="none" strike="noStrike">
                <a:solidFill>
                  <a:srgbClr val="0F2369"/>
                </a:solidFill>
                <a:latin typeface="Arial"/>
                <a:ea typeface="Arial"/>
                <a:cs typeface="Arial"/>
                <a:sym typeface="Arial"/>
              </a:rPr>
              <a:t>O gap se concentra nos campos narrativos</a:t>
            </a:r>
            <a:endParaRPr b="0" i="0" sz="4650" u="none" cap="none" strike="noStrike">
              <a:solidFill>
                <a:schemeClr val="dk1"/>
              </a:solidFill>
              <a:latin typeface="Calibri"/>
              <a:ea typeface="Calibri"/>
              <a:cs typeface="Calibri"/>
              <a:sym typeface="Calibri"/>
            </a:endParaRPr>
          </a:p>
        </p:txBody>
      </p:sp>
      <p:sp>
        <p:nvSpPr>
          <p:cNvPr id="526" name="Google Shape;526;p25"/>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p:nvPr/>
        </p:nvSpPr>
        <p:spPr>
          <a:xfrm>
            <a:off x="17282220" y="4762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2</a:t>
            </a:r>
            <a:r>
              <a:rPr lang="en-US" sz="2400">
                <a:solidFill>
                  <a:srgbClr val="6B7280"/>
                </a:solidFill>
              </a:rPr>
              <a:t>2</a:t>
            </a:r>
            <a:endParaRPr b="0" i="0" sz="2400" u="none" cap="none" strike="noStrike">
              <a:solidFill>
                <a:schemeClr val="dk1"/>
              </a:solidFill>
              <a:latin typeface="Calibri"/>
              <a:ea typeface="Calibri"/>
              <a:cs typeface="Calibri"/>
              <a:sym typeface="Calibri"/>
            </a:endParaRPr>
          </a:p>
        </p:txBody>
      </p:sp>
      <p:pic>
        <p:nvPicPr>
          <p:cNvPr id="528" name="Google Shape;528;p25" title="heatmap.png"/>
          <p:cNvPicPr preferRelativeResize="0"/>
          <p:nvPr/>
        </p:nvPicPr>
        <p:blipFill rotWithShape="1">
          <a:blip r:embed="rId3">
            <a:alphaModFix/>
          </a:blip>
          <a:srcRect b="1662" l="0" r="0" t="0"/>
          <a:stretch/>
        </p:blipFill>
        <p:spPr>
          <a:xfrm>
            <a:off x="448296" y="1619250"/>
            <a:ext cx="17391416" cy="86677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pic>
        <p:nvPicPr>
          <p:cNvPr id="534" name="Google Shape;534;p26" title="heatmap.png"/>
          <p:cNvPicPr preferRelativeResize="0"/>
          <p:nvPr/>
        </p:nvPicPr>
        <p:blipFill rotWithShape="1">
          <a:blip r:embed="rId3">
            <a:alphaModFix/>
          </a:blip>
          <a:srcRect b="1662" l="0" r="0" t="0"/>
          <a:stretch/>
        </p:blipFill>
        <p:spPr>
          <a:xfrm>
            <a:off x="1210613" y="2379125"/>
            <a:ext cx="15866772" cy="7907876"/>
          </a:xfrm>
          <a:prstGeom prst="rect">
            <a:avLst/>
          </a:prstGeom>
          <a:noFill/>
          <a:ln>
            <a:noFill/>
          </a:ln>
        </p:spPr>
      </p:pic>
      <p:sp>
        <p:nvSpPr>
          <p:cNvPr id="535" name="Google Shape;535;p26"/>
          <p:cNvSpPr/>
          <p:nvPr/>
        </p:nvSpPr>
        <p:spPr>
          <a:xfrm>
            <a:off x="85725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536" name="Google Shape;536;p26"/>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6"/>
          <p:cNvSpPr/>
          <p:nvPr/>
        </p:nvSpPr>
        <p:spPr>
          <a:xfrm>
            <a:off x="17282220" y="4762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2</a:t>
            </a:r>
            <a:r>
              <a:rPr lang="en-US" sz="2400">
                <a:solidFill>
                  <a:srgbClr val="6B7280"/>
                </a:solidFill>
              </a:rPr>
              <a:t>3</a:t>
            </a:r>
            <a:endParaRPr b="0" i="0" sz="2400" u="none" cap="none" strike="noStrike">
              <a:solidFill>
                <a:schemeClr val="dk1"/>
              </a:solidFill>
              <a:latin typeface="Calibri"/>
              <a:ea typeface="Calibri"/>
              <a:cs typeface="Calibri"/>
              <a:sym typeface="Calibri"/>
            </a:endParaRPr>
          </a:p>
        </p:txBody>
      </p:sp>
      <p:sp>
        <p:nvSpPr>
          <p:cNvPr id="538" name="Google Shape;538;p26"/>
          <p:cNvSpPr/>
          <p:nvPr/>
        </p:nvSpPr>
        <p:spPr>
          <a:xfrm>
            <a:off x="1390650" y="1023938"/>
            <a:ext cx="15506700" cy="1276350"/>
          </a:xfrm>
          <a:prstGeom prst="roundRect">
            <a:avLst>
              <a:gd fmla="val 1194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6"/>
          <p:cNvSpPr/>
          <p:nvPr/>
        </p:nvSpPr>
        <p:spPr>
          <a:xfrm rot="2700000">
            <a:off x="8972550" y="2128837"/>
            <a:ext cx="342900" cy="342900"/>
          </a:xfrm>
          <a:prstGeom prst="roundRect">
            <a:avLst>
              <a:gd fmla="val 11111"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6"/>
          <p:cNvSpPr/>
          <p:nvPr/>
        </p:nvSpPr>
        <p:spPr>
          <a:xfrm>
            <a:off x="1714500" y="1202075"/>
            <a:ext cx="13026900" cy="92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FFFFF"/>
              </a:buClr>
              <a:buSzPts val="3000"/>
              <a:buFont typeface="Arial"/>
              <a:buNone/>
            </a:pPr>
            <a:r>
              <a:rPr b="0" i="0" lang="en-US" sz="3500" u="none" cap="none" strike="noStrike">
                <a:solidFill>
                  <a:srgbClr val="FFFFFF"/>
                </a:solidFill>
                <a:latin typeface="Arial"/>
                <a:ea typeface="Arial"/>
                <a:cs typeface="Arial"/>
                <a:sym typeface="Arial"/>
              </a:rPr>
              <a:t>Os campos narrativos são omitidos por todos, </a:t>
            </a:r>
            <a:r>
              <a:rPr b="1" lang="en-US" sz="3500">
                <a:solidFill>
                  <a:schemeClr val="lt1"/>
                </a:solidFill>
              </a:rPr>
              <a:t>inclusive pela nuvem</a:t>
            </a:r>
            <a:r>
              <a:rPr lang="en-US" sz="3500">
                <a:solidFill>
                  <a:schemeClr val="lt1"/>
                </a:solidFill>
              </a:rPr>
              <a:t>: é limite da tarefa, não do modelo local.</a:t>
            </a:r>
            <a:endParaRPr sz="35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000"/>
              <a:buFont typeface="Arial"/>
              <a:buNone/>
            </a:pPr>
            <a:r>
              <a:t/>
            </a:r>
            <a:endParaRPr b="1" sz="3500">
              <a:solidFill>
                <a:schemeClr val="lt1"/>
              </a:solidFill>
            </a:endParaRPr>
          </a:p>
          <a:p>
            <a:pPr indent="0" lvl="0" marL="0" marR="0" rtl="0" algn="l">
              <a:spcBef>
                <a:spcPts val="0"/>
              </a:spcBef>
              <a:spcAft>
                <a:spcPts val="0"/>
              </a:spcAft>
              <a:buClr>
                <a:srgbClr val="FFFFFF"/>
              </a:buClr>
              <a:buSzPts val="3000"/>
              <a:buFont typeface="Arial"/>
              <a:buNone/>
            </a:pPr>
            <a:r>
              <a:t/>
            </a:r>
            <a:endParaRPr sz="3500">
              <a:solidFill>
                <a:srgbClr val="FFFFFF"/>
              </a:solidFill>
            </a:endParaRPr>
          </a:p>
        </p:txBody>
      </p:sp>
      <p:sp>
        <p:nvSpPr>
          <p:cNvPr id="541" name="Google Shape;541;p26"/>
          <p:cNvSpPr/>
          <p:nvPr/>
        </p:nvSpPr>
        <p:spPr>
          <a:xfrm>
            <a:off x="5111650" y="2824601"/>
            <a:ext cx="2854800" cy="5892600"/>
          </a:xfrm>
          <a:prstGeom prst="roundRect">
            <a:avLst>
              <a:gd fmla="val 4243" name="adj"/>
            </a:avLst>
          </a:prstGeom>
          <a:noFill/>
          <a:ln cap="flat" cmpd="sng" w="76200">
            <a:solidFill>
              <a:srgbClr val="7B2FF2"/>
            </a:solidFill>
            <a:prstDash val="solid"/>
            <a:round/>
            <a:headEnd len="sm" w="sm" type="none"/>
            <a:tailEnd len="sm" w="sm" type="none"/>
          </a:ln>
          <a:effectLst>
            <a:outerShdw blurRad="101600" rotWithShape="0" algn="bl" dir="16200000" dist="50800">
              <a:srgbClr val="FFFFFF">
                <a:alpha val="9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6" name="Shape 546"/>
        <p:cNvGrpSpPr/>
        <p:nvPr/>
      </p:nvGrpSpPr>
      <p:grpSpPr>
        <a:xfrm>
          <a:off x="0" y="0"/>
          <a:ext cx="0" cy="0"/>
          <a:chOff x="0" y="0"/>
          <a:chExt cx="0" cy="0"/>
        </a:xfrm>
      </p:grpSpPr>
      <p:pic>
        <p:nvPicPr>
          <p:cNvPr id="547" name="Google Shape;547;p27" title="heatmap.png"/>
          <p:cNvPicPr preferRelativeResize="0"/>
          <p:nvPr/>
        </p:nvPicPr>
        <p:blipFill rotWithShape="1">
          <a:blip r:embed="rId3">
            <a:alphaModFix/>
          </a:blip>
          <a:srcRect b="1662" l="0" r="0" t="0"/>
          <a:stretch/>
        </p:blipFill>
        <p:spPr>
          <a:xfrm>
            <a:off x="1210613" y="2379125"/>
            <a:ext cx="15866772" cy="7907876"/>
          </a:xfrm>
          <a:prstGeom prst="rect">
            <a:avLst/>
          </a:prstGeom>
          <a:noFill/>
          <a:ln>
            <a:noFill/>
          </a:ln>
        </p:spPr>
      </p:pic>
      <p:sp>
        <p:nvSpPr>
          <p:cNvPr id="548" name="Google Shape;548;p27"/>
          <p:cNvSpPr/>
          <p:nvPr/>
        </p:nvSpPr>
        <p:spPr>
          <a:xfrm>
            <a:off x="857250" y="438150"/>
            <a:ext cx="3245242"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02 · RESULTADOS</a:t>
            </a:r>
            <a:endParaRPr b="0" i="0" sz="2400" u="none" cap="none" strike="noStrike">
              <a:solidFill>
                <a:schemeClr val="dk1"/>
              </a:solidFill>
              <a:latin typeface="Calibri"/>
              <a:ea typeface="Calibri"/>
              <a:cs typeface="Calibri"/>
              <a:sym typeface="Calibri"/>
            </a:endParaRPr>
          </a:p>
        </p:txBody>
      </p:sp>
      <p:sp>
        <p:nvSpPr>
          <p:cNvPr id="549" name="Google Shape;549;p27"/>
          <p:cNvSpPr/>
          <p:nvPr/>
        </p:nvSpPr>
        <p:spPr>
          <a:xfrm>
            <a:off x="17148870" y="43815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7"/>
          <p:cNvSpPr/>
          <p:nvPr/>
        </p:nvSpPr>
        <p:spPr>
          <a:xfrm>
            <a:off x="17282220" y="4762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2</a:t>
            </a:r>
            <a:r>
              <a:rPr lang="en-US" sz="2400">
                <a:solidFill>
                  <a:srgbClr val="6B7280"/>
                </a:solidFill>
              </a:rPr>
              <a:t>4</a:t>
            </a:r>
            <a:endParaRPr b="0" i="0" sz="2400" u="none" cap="none" strike="noStrike">
              <a:solidFill>
                <a:schemeClr val="dk1"/>
              </a:solidFill>
              <a:latin typeface="Calibri"/>
              <a:ea typeface="Calibri"/>
              <a:cs typeface="Calibri"/>
              <a:sym typeface="Calibri"/>
            </a:endParaRPr>
          </a:p>
        </p:txBody>
      </p:sp>
      <p:sp>
        <p:nvSpPr>
          <p:cNvPr id="551" name="Google Shape;551;p27"/>
          <p:cNvSpPr/>
          <p:nvPr/>
        </p:nvSpPr>
        <p:spPr>
          <a:xfrm>
            <a:off x="1390650" y="1023938"/>
            <a:ext cx="15506700" cy="1276350"/>
          </a:xfrm>
          <a:prstGeom prst="roundRect">
            <a:avLst>
              <a:gd fmla="val 1194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7"/>
          <p:cNvSpPr/>
          <p:nvPr/>
        </p:nvSpPr>
        <p:spPr>
          <a:xfrm>
            <a:off x="1728600" y="1128725"/>
            <a:ext cx="14830800" cy="1066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FFFFF"/>
              </a:buClr>
              <a:buSzPts val="3000"/>
              <a:buFont typeface="Arial"/>
              <a:buNone/>
            </a:pPr>
            <a:r>
              <a:rPr lang="en-US" sz="3500">
                <a:solidFill>
                  <a:srgbClr val="FFFFFF"/>
                </a:solidFill>
              </a:rPr>
              <a:t>Descrição, p</a:t>
            </a:r>
            <a:r>
              <a:rPr b="0" i="0" lang="en-US" sz="3500" u="none" cap="none" strike="noStrike">
                <a:solidFill>
                  <a:srgbClr val="FFFFFF"/>
                </a:solidFill>
                <a:latin typeface="Arial"/>
                <a:ea typeface="Arial"/>
                <a:cs typeface="Arial"/>
                <a:sym typeface="Arial"/>
              </a:rPr>
              <a:t>orta, protocolo e severidade: </a:t>
            </a:r>
            <a:r>
              <a:rPr b="1" lang="en-US" sz="3500">
                <a:solidFill>
                  <a:schemeClr val="lt1"/>
                </a:solidFill>
              </a:rPr>
              <a:t>zero de omissão </a:t>
            </a:r>
            <a:r>
              <a:rPr lang="en-US" sz="3500">
                <a:solidFill>
                  <a:schemeClr val="lt1"/>
                </a:solidFill>
              </a:rPr>
              <a:t>em todos os modelos, do 4B à nuvem.</a:t>
            </a:r>
            <a:endParaRPr sz="35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000"/>
              <a:buFont typeface="Arial"/>
              <a:buNone/>
            </a:pPr>
            <a:r>
              <a:t/>
            </a:r>
            <a:endParaRPr b="1" sz="3500">
              <a:solidFill>
                <a:schemeClr val="lt1"/>
              </a:solidFill>
            </a:endParaRPr>
          </a:p>
          <a:p>
            <a:pPr indent="0" lvl="0" marL="0" marR="0" rtl="0" algn="l">
              <a:spcBef>
                <a:spcPts val="0"/>
              </a:spcBef>
              <a:spcAft>
                <a:spcPts val="0"/>
              </a:spcAft>
              <a:buClr>
                <a:srgbClr val="FFFFFF"/>
              </a:buClr>
              <a:buSzPts val="3000"/>
              <a:buFont typeface="Arial"/>
              <a:buNone/>
            </a:pPr>
            <a:r>
              <a:t/>
            </a:r>
            <a:endParaRPr sz="3500">
              <a:solidFill>
                <a:srgbClr val="FFFFFF"/>
              </a:solidFill>
            </a:endParaRPr>
          </a:p>
        </p:txBody>
      </p:sp>
      <p:sp>
        <p:nvSpPr>
          <p:cNvPr id="553" name="Google Shape;553;p27"/>
          <p:cNvSpPr/>
          <p:nvPr/>
        </p:nvSpPr>
        <p:spPr>
          <a:xfrm rot="2700000">
            <a:off x="8972550" y="2128837"/>
            <a:ext cx="342900" cy="342900"/>
          </a:xfrm>
          <a:prstGeom prst="roundRect">
            <a:avLst>
              <a:gd fmla="val 11111"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7"/>
          <p:cNvSpPr/>
          <p:nvPr/>
        </p:nvSpPr>
        <p:spPr>
          <a:xfrm>
            <a:off x="12177050" y="2863625"/>
            <a:ext cx="3485400" cy="5834400"/>
          </a:xfrm>
          <a:prstGeom prst="roundRect">
            <a:avLst>
              <a:gd fmla="val 3462" name="adj"/>
            </a:avLst>
          </a:prstGeom>
          <a:noFill/>
          <a:ln cap="flat" cmpd="sng" w="76200">
            <a:solidFill>
              <a:srgbClr val="7B2FF2"/>
            </a:solidFill>
            <a:prstDash val="solid"/>
            <a:round/>
            <a:headEnd len="sm" w="sm" type="none"/>
            <a:tailEnd len="sm" w="sm" type="none"/>
          </a:ln>
          <a:effectLst>
            <a:outerShdw blurRad="101600" rotWithShape="0" algn="bl" dir="16200000" dist="50800">
              <a:srgbClr val="FFFFFF">
                <a:alpha val="9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9" name="Shape 559"/>
        <p:cNvGrpSpPr/>
        <p:nvPr/>
      </p:nvGrpSpPr>
      <p:grpSpPr>
        <a:xfrm>
          <a:off x="0" y="0"/>
          <a:ext cx="0" cy="0"/>
          <a:chOff x="0" y="0"/>
          <a:chExt cx="0" cy="0"/>
        </a:xfrm>
      </p:grpSpPr>
      <p:sp>
        <p:nvSpPr>
          <p:cNvPr id="560" name="Google Shape;560;p29"/>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03 · CONCLUSÕES</a:t>
            </a:r>
            <a:endParaRPr b="0" i="0" sz="2400" u="none" cap="none" strike="noStrike">
              <a:solidFill>
                <a:schemeClr val="dk1"/>
              </a:solidFill>
              <a:latin typeface="Calibri"/>
              <a:ea typeface="Calibri"/>
              <a:cs typeface="Calibri"/>
              <a:sym typeface="Calibri"/>
            </a:endParaRPr>
          </a:p>
        </p:txBody>
      </p:sp>
      <p:sp>
        <p:nvSpPr>
          <p:cNvPr id="561" name="Google Shape;561;p29"/>
          <p:cNvSpPr/>
          <p:nvPr/>
        </p:nvSpPr>
        <p:spPr>
          <a:xfrm>
            <a:off x="1333500" y="1457325"/>
            <a:ext cx="17183100" cy="7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Considerações finais</a:t>
            </a:r>
            <a:endParaRPr b="0" i="0" sz="4950" u="none" cap="none" strike="noStrike">
              <a:solidFill>
                <a:schemeClr val="dk1"/>
              </a:solidFill>
              <a:latin typeface="Calibri"/>
              <a:ea typeface="Calibri"/>
              <a:cs typeface="Calibri"/>
              <a:sym typeface="Calibri"/>
            </a:endParaRPr>
          </a:p>
        </p:txBody>
      </p:sp>
      <p:sp>
        <p:nvSpPr>
          <p:cNvPr id="562" name="Google Shape;562;p29"/>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9"/>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2</a:t>
            </a:r>
            <a:r>
              <a:rPr lang="en-US" sz="2400">
                <a:solidFill>
                  <a:srgbClr val="6B7280"/>
                </a:solidFill>
              </a:rPr>
              <a:t>5</a:t>
            </a:r>
            <a:endParaRPr b="0" i="0" sz="2400" u="none" cap="none" strike="noStrike">
              <a:solidFill>
                <a:schemeClr val="dk1"/>
              </a:solidFill>
              <a:latin typeface="Calibri"/>
              <a:ea typeface="Calibri"/>
              <a:cs typeface="Calibri"/>
              <a:sym typeface="Calibri"/>
            </a:endParaRPr>
          </a:p>
        </p:txBody>
      </p:sp>
      <p:sp>
        <p:nvSpPr>
          <p:cNvPr id="564" name="Google Shape;564;p29"/>
          <p:cNvSpPr/>
          <p:nvPr/>
        </p:nvSpPr>
        <p:spPr>
          <a:xfrm>
            <a:off x="1333500" y="2562225"/>
            <a:ext cx="5003750" cy="6715125"/>
          </a:xfrm>
          <a:prstGeom prst="roundRect">
            <a:avLst>
              <a:gd fmla="val 3807"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p:nvPr/>
        </p:nvSpPr>
        <p:spPr>
          <a:xfrm>
            <a:off x="1333500" y="2562225"/>
            <a:ext cx="5003750" cy="133350"/>
          </a:xfrm>
          <a:prstGeom prst="rect">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1587350" y="3517113"/>
            <a:ext cx="4368900" cy="1028700"/>
          </a:xfrm>
          <a:prstGeom prst="rect">
            <a:avLst/>
          </a:prstGeom>
          <a:noFill/>
          <a:ln>
            <a:noFill/>
          </a:ln>
        </p:spPr>
        <p:txBody>
          <a:bodyPr anchorCtr="0" anchor="t" bIns="25400" lIns="25400" spcFirstLastPara="1" rIns="25400" wrap="square" tIns="25400">
            <a:normAutofit/>
          </a:bodyPr>
          <a:lstStyle/>
          <a:p>
            <a:pPr indent="0" lvl="0" marL="0" marR="0" rtl="0" algn="l">
              <a:lnSpc>
                <a:spcPct val="87395"/>
              </a:lnSpc>
              <a:spcBef>
                <a:spcPts val="0"/>
              </a:spcBef>
              <a:spcAft>
                <a:spcPts val="0"/>
              </a:spcAft>
              <a:buClr>
                <a:srgbClr val="0A866E"/>
              </a:buClr>
              <a:buSzPts val="7800"/>
              <a:buFont typeface="Arial"/>
              <a:buNone/>
            </a:pPr>
            <a:r>
              <a:rPr b="1" i="0" lang="en-US" sz="7800" u="none" cap="none" strike="noStrike">
                <a:solidFill>
                  <a:srgbClr val="0A866E"/>
                </a:solidFill>
                <a:latin typeface="Arial"/>
                <a:ea typeface="Arial"/>
                <a:cs typeface="Arial"/>
                <a:sym typeface="Arial"/>
              </a:rPr>
              <a:t>1,2</a:t>
            </a:r>
            <a:r>
              <a:rPr b="1" i="0" lang="en-US" sz="3300" u="none" cap="none" strike="noStrike">
                <a:solidFill>
                  <a:srgbClr val="0A866E"/>
                </a:solidFill>
                <a:latin typeface="Arial"/>
                <a:ea typeface="Arial"/>
                <a:cs typeface="Arial"/>
                <a:sym typeface="Arial"/>
              </a:rPr>
              <a:t>pp</a:t>
            </a:r>
            <a:endParaRPr b="0" i="0" sz="7800" u="none" cap="none" strike="noStrike">
              <a:solidFill>
                <a:schemeClr val="dk1"/>
              </a:solidFill>
              <a:latin typeface="Calibri"/>
              <a:ea typeface="Calibri"/>
              <a:cs typeface="Calibri"/>
              <a:sym typeface="Calibri"/>
            </a:endParaRPr>
          </a:p>
        </p:txBody>
      </p:sp>
      <p:sp>
        <p:nvSpPr>
          <p:cNvPr id="567" name="Google Shape;567;p29"/>
          <p:cNvSpPr/>
          <p:nvPr/>
        </p:nvSpPr>
        <p:spPr>
          <a:xfrm>
            <a:off x="1714500" y="4895838"/>
            <a:ext cx="4665900" cy="55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3450"/>
              <a:buFont typeface="Arial"/>
              <a:buNone/>
            </a:pPr>
            <a:r>
              <a:rPr b="1" i="0" lang="en-US" sz="3650" u="none" cap="none" strike="noStrike">
                <a:solidFill>
                  <a:srgbClr val="0F2369"/>
                </a:solidFill>
                <a:latin typeface="Arial"/>
                <a:ea typeface="Arial"/>
                <a:cs typeface="Arial"/>
                <a:sym typeface="Arial"/>
              </a:rPr>
              <a:t>Viável</a:t>
            </a:r>
            <a:endParaRPr b="0" i="0" sz="3650" u="none" cap="none" strike="noStrike">
              <a:solidFill>
                <a:schemeClr val="dk1"/>
              </a:solidFill>
              <a:latin typeface="Calibri"/>
              <a:ea typeface="Calibri"/>
              <a:cs typeface="Calibri"/>
              <a:sym typeface="Calibri"/>
            </a:endParaRPr>
          </a:p>
        </p:txBody>
      </p:sp>
      <p:sp>
        <p:nvSpPr>
          <p:cNvPr id="568" name="Google Shape;568;p29"/>
          <p:cNvSpPr/>
          <p:nvPr/>
        </p:nvSpPr>
        <p:spPr>
          <a:xfrm>
            <a:off x="1714500" y="6053138"/>
            <a:ext cx="4368900" cy="175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É tudo o que separa o melhor local da nuvem em texto livre. Campos estruturados empatam.</a:t>
            </a:r>
            <a:endParaRPr b="0" i="0" sz="3400" u="none" cap="none" strike="noStrike">
              <a:solidFill>
                <a:schemeClr val="dk1"/>
              </a:solidFill>
              <a:latin typeface="Calibri"/>
              <a:ea typeface="Calibri"/>
              <a:cs typeface="Calibri"/>
              <a:sym typeface="Calibri"/>
            </a:endParaRPr>
          </a:p>
        </p:txBody>
      </p:sp>
      <p:sp>
        <p:nvSpPr>
          <p:cNvPr id="569" name="Google Shape;569;p29"/>
          <p:cNvSpPr/>
          <p:nvPr/>
        </p:nvSpPr>
        <p:spPr>
          <a:xfrm>
            <a:off x="6642050" y="2562225"/>
            <a:ext cx="5003899" cy="6715125"/>
          </a:xfrm>
          <a:prstGeom prst="roundRect">
            <a:avLst>
              <a:gd fmla="val 3807"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9"/>
          <p:cNvSpPr/>
          <p:nvPr/>
        </p:nvSpPr>
        <p:spPr>
          <a:xfrm>
            <a:off x="6642050" y="2562225"/>
            <a:ext cx="5003899" cy="133350"/>
          </a:xfrm>
          <a:prstGeom prst="rect">
            <a:avLst/>
          </a:prstGeom>
          <a:solidFill>
            <a:srgbClr val="127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9"/>
          <p:cNvSpPr/>
          <p:nvPr/>
        </p:nvSpPr>
        <p:spPr>
          <a:xfrm>
            <a:off x="6959550" y="3517125"/>
            <a:ext cx="4368900" cy="1028700"/>
          </a:xfrm>
          <a:prstGeom prst="rect">
            <a:avLst/>
          </a:prstGeom>
          <a:noFill/>
          <a:ln>
            <a:noFill/>
          </a:ln>
        </p:spPr>
        <p:txBody>
          <a:bodyPr anchorCtr="0" anchor="t" bIns="25400" lIns="25400" spcFirstLastPara="1" rIns="25400" wrap="square" tIns="25400">
            <a:normAutofit/>
          </a:bodyPr>
          <a:lstStyle/>
          <a:p>
            <a:pPr indent="0" lvl="0" marL="0" marR="0" rtl="0" algn="l">
              <a:lnSpc>
                <a:spcPct val="87395"/>
              </a:lnSpc>
              <a:spcBef>
                <a:spcPts val="0"/>
              </a:spcBef>
              <a:spcAft>
                <a:spcPts val="0"/>
              </a:spcAft>
              <a:buClr>
                <a:srgbClr val="1279BD"/>
              </a:buClr>
              <a:buSzPts val="7800"/>
              <a:buFont typeface="Arial"/>
              <a:buNone/>
            </a:pPr>
            <a:r>
              <a:rPr b="1" i="0" lang="en-US" sz="7800" u="none" cap="none" strike="noStrike">
                <a:solidFill>
                  <a:srgbClr val="1279BD"/>
                </a:solidFill>
                <a:latin typeface="Arial"/>
                <a:ea typeface="Arial"/>
                <a:cs typeface="Arial"/>
                <a:sym typeface="Arial"/>
              </a:rPr>
              <a:t>14</a:t>
            </a:r>
            <a:r>
              <a:rPr b="1" i="0" lang="en-US" sz="3300" u="none" cap="none" strike="noStrike">
                <a:solidFill>
                  <a:srgbClr val="1279BD"/>
                </a:solidFill>
                <a:latin typeface="Arial"/>
                <a:ea typeface="Arial"/>
                <a:cs typeface="Arial"/>
                <a:sym typeface="Arial"/>
              </a:rPr>
              <a:t>pp</a:t>
            </a:r>
            <a:endParaRPr b="0" i="0" sz="7800" u="none" cap="none" strike="noStrike">
              <a:solidFill>
                <a:schemeClr val="dk1"/>
              </a:solidFill>
              <a:latin typeface="Calibri"/>
              <a:ea typeface="Calibri"/>
              <a:cs typeface="Calibri"/>
              <a:sym typeface="Calibri"/>
            </a:endParaRPr>
          </a:p>
        </p:txBody>
      </p:sp>
      <p:sp>
        <p:nvSpPr>
          <p:cNvPr id="572" name="Google Shape;572;p29"/>
          <p:cNvSpPr/>
          <p:nvPr/>
        </p:nvSpPr>
        <p:spPr>
          <a:xfrm>
            <a:off x="7022975" y="4867200"/>
            <a:ext cx="4666200" cy="55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3450"/>
              <a:buFont typeface="Arial"/>
              <a:buNone/>
            </a:pPr>
            <a:r>
              <a:rPr b="1" i="0" lang="en-US" sz="3650" u="none" cap="none" strike="noStrike">
                <a:solidFill>
                  <a:srgbClr val="0F2369"/>
                </a:solidFill>
                <a:latin typeface="Arial"/>
                <a:ea typeface="Arial"/>
                <a:cs typeface="Arial"/>
                <a:sym typeface="Arial"/>
              </a:rPr>
              <a:t>Escolher pesa mais</a:t>
            </a:r>
            <a:endParaRPr b="0" i="0" sz="3650" u="none" cap="none" strike="noStrike">
              <a:solidFill>
                <a:schemeClr val="dk1"/>
              </a:solidFill>
              <a:latin typeface="Calibri"/>
              <a:ea typeface="Calibri"/>
              <a:cs typeface="Calibri"/>
              <a:sym typeface="Calibri"/>
            </a:endParaRPr>
          </a:p>
        </p:txBody>
      </p:sp>
      <p:sp>
        <p:nvSpPr>
          <p:cNvPr id="573" name="Google Shape;573;p29"/>
          <p:cNvSpPr/>
          <p:nvPr/>
        </p:nvSpPr>
        <p:spPr>
          <a:xfrm>
            <a:off x="7023050" y="6053150"/>
            <a:ext cx="4369200" cy="1323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937"/>
              </a:buClr>
              <a:buSzPts val="3000"/>
              <a:buFont typeface="Arial"/>
              <a:buNone/>
            </a:pPr>
            <a:r>
              <a:rPr b="0" i="0" lang="en-US" sz="3400" u="none" cap="none" strike="noStrike">
                <a:solidFill>
                  <a:srgbClr val="1F2937"/>
                </a:solidFill>
                <a:latin typeface="Arial"/>
                <a:ea typeface="Arial"/>
                <a:cs typeface="Arial"/>
                <a:sym typeface="Arial"/>
              </a:rPr>
              <a:t>A dispersão entre os locais é 12 vezes o gap para a nuvem.</a:t>
            </a:r>
            <a:endParaRPr b="0" i="0" sz="3400" u="none" cap="none" strike="noStrike">
              <a:solidFill>
                <a:schemeClr val="dk1"/>
              </a:solidFill>
              <a:latin typeface="Calibri"/>
              <a:ea typeface="Calibri"/>
              <a:cs typeface="Calibri"/>
              <a:sym typeface="Calibri"/>
            </a:endParaRPr>
          </a:p>
        </p:txBody>
      </p:sp>
      <p:sp>
        <p:nvSpPr>
          <p:cNvPr id="574" name="Google Shape;574;p29"/>
          <p:cNvSpPr/>
          <p:nvPr/>
        </p:nvSpPr>
        <p:spPr>
          <a:xfrm>
            <a:off x="11950750" y="2562225"/>
            <a:ext cx="5003750" cy="6715125"/>
          </a:xfrm>
          <a:prstGeom prst="roundRect">
            <a:avLst>
              <a:gd fmla="val 3807" name="adj"/>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9"/>
          <p:cNvSpPr/>
          <p:nvPr/>
        </p:nvSpPr>
        <p:spPr>
          <a:xfrm>
            <a:off x="11950750" y="2562225"/>
            <a:ext cx="5003750" cy="133350"/>
          </a:xfrm>
          <a:prstGeom prst="rect">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9"/>
          <p:cNvSpPr/>
          <p:nvPr/>
        </p:nvSpPr>
        <p:spPr>
          <a:xfrm>
            <a:off x="12331750" y="3517125"/>
            <a:ext cx="4665900" cy="1028700"/>
          </a:xfrm>
          <a:prstGeom prst="rect">
            <a:avLst/>
          </a:prstGeom>
          <a:noFill/>
          <a:ln>
            <a:noFill/>
          </a:ln>
        </p:spPr>
        <p:txBody>
          <a:bodyPr anchorCtr="0" anchor="t" bIns="25400" lIns="25400" spcFirstLastPara="1" rIns="25400" wrap="square" tIns="25400">
            <a:normAutofit/>
          </a:bodyPr>
          <a:lstStyle/>
          <a:p>
            <a:pPr indent="0" lvl="0" marL="0" marR="0" rtl="0" algn="l">
              <a:lnSpc>
                <a:spcPct val="87395"/>
              </a:lnSpc>
              <a:spcBef>
                <a:spcPts val="0"/>
              </a:spcBef>
              <a:spcAft>
                <a:spcPts val="0"/>
              </a:spcAft>
              <a:buClr>
                <a:srgbClr val="F7A823"/>
              </a:buClr>
              <a:buSzPts val="7800"/>
              <a:buFont typeface="Arial"/>
              <a:buNone/>
            </a:pPr>
            <a:r>
              <a:rPr b="1" i="0" lang="en-US" sz="7800" u="none" cap="none" strike="noStrike">
                <a:solidFill>
                  <a:srgbClr val="F7A823"/>
                </a:solidFill>
                <a:latin typeface="Arial"/>
                <a:ea typeface="Arial"/>
                <a:cs typeface="Arial"/>
                <a:sym typeface="Arial"/>
              </a:rPr>
              <a:t>0</a:t>
            </a:r>
            <a:endParaRPr b="0" i="0" sz="7800" u="none" cap="none" strike="noStrike">
              <a:solidFill>
                <a:schemeClr val="dk1"/>
              </a:solidFill>
              <a:latin typeface="Calibri"/>
              <a:ea typeface="Calibri"/>
              <a:cs typeface="Calibri"/>
              <a:sym typeface="Calibri"/>
            </a:endParaRPr>
          </a:p>
        </p:txBody>
      </p:sp>
      <p:sp>
        <p:nvSpPr>
          <p:cNvPr id="577" name="Google Shape;577;p29"/>
          <p:cNvSpPr/>
          <p:nvPr/>
        </p:nvSpPr>
        <p:spPr>
          <a:xfrm>
            <a:off x="12183288" y="4895925"/>
            <a:ext cx="4665900" cy="552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3450"/>
              <a:buFont typeface="Arial"/>
              <a:buNone/>
            </a:pPr>
            <a:r>
              <a:rPr b="1" i="0" lang="en-US" sz="3650" u="none" cap="none" strike="noStrike">
                <a:solidFill>
                  <a:srgbClr val="FFFFFF"/>
                </a:solidFill>
                <a:latin typeface="Arial"/>
                <a:ea typeface="Arial"/>
                <a:cs typeface="Arial"/>
                <a:sym typeface="Arial"/>
              </a:rPr>
              <a:t>Relatório exposto</a:t>
            </a:r>
            <a:endParaRPr b="0" i="0" sz="3650" u="none" cap="none" strike="noStrike">
              <a:solidFill>
                <a:schemeClr val="dk1"/>
              </a:solidFill>
              <a:latin typeface="Calibri"/>
              <a:ea typeface="Calibri"/>
              <a:cs typeface="Calibri"/>
              <a:sym typeface="Calibri"/>
            </a:endParaRPr>
          </a:p>
        </p:txBody>
      </p:sp>
      <p:sp>
        <p:nvSpPr>
          <p:cNvPr id="578" name="Google Shape;578;p29"/>
          <p:cNvSpPr/>
          <p:nvPr/>
        </p:nvSpPr>
        <p:spPr>
          <a:xfrm>
            <a:off x="12331800" y="6053138"/>
            <a:ext cx="4368900" cy="1323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3000"/>
              <a:buFont typeface="Arial"/>
              <a:buNone/>
            </a:pPr>
            <a:r>
              <a:rPr b="0" i="0" lang="en-US" sz="3400" u="none" cap="none" strike="noStrike">
                <a:solidFill>
                  <a:srgbClr val="DDE3EC"/>
                </a:solidFill>
                <a:latin typeface="Arial"/>
                <a:ea typeface="Arial"/>
                <a:cs typeface="Arial"/>
                <a:sym typeface="Arial"/>
              </a:rPr>
              <a:t>Sob a LGPD, on-premise não é só viável: é preferível.</a:t>
            </a:r>
            <a:endParaRPr b="0" i="0" sz="3400" u="none" cap="none" strike="noStrike">
              <a:solidFill>
                <a:schemeClr val="dk1"/>
              </a:solidFill>
              <a:latin typeface="Calibri"/>
              <a:ea typeface="Calibri"/>
              <a:cs typeface="Calibri"/>
              <a:sym typeface="Calibri"/>
            </a:endParaRPr>
          </a:p>
        </p:txBody>
      </p:sp>
      <p:sp>
        <p:nvSpPr>
          <p:cNvPr id="579" name="Google Shape;579;p29"/>
          <p:cNvSpPr/>
          <p:nvPr/>
        </p:nvSpPr>
        <p:spPr>
          <a:xfrm>
            <a:off x="1333500" y="95250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580" name="Google Shape;580;p29"/>
          <p:cNvPicPr preferRelativeResize="0"/>
          <p:nvPr/>
        </p:nvPicPr>
        <p:blipFill rotWithShape="1">
          <a:blip r:embed="rId3">
            <a:alphaModFix/>
          </a:blip>
          <a:srcRect b="0" l="0" r="0" t="0"/>
          <a:stretch/>
        </p:blipFill>
        <p:spPr>
          <a:xfrm>
            <a:off x="13863935" y="9496425"/>
            <a:ext cx="1558826" cy="381000"/>
          </a:xfrm>
          <a:prstGeom prst="rect">
            <a:avLst/>
          </a:prstGeom>
          <a:noFill/>
          <a:ln>
            <a:noFill/>
          </a:ln>
        </p:spPr>
      </p:pic>
      <p:pic>
        <p:nvPicPr>
          <p:cNvPr descr="preencoded.png" id="581" name="Google Shape;581;p29"/>
          <p:cNvPicPr preferRelativeResize="0"/>
          <p:nvPr/>
        </p:nvPicPr>
        <p:blipFill rotWithShape="1">
          <a:blip r:embed="rId4">
            <a:alphaModFix/>
          </a:blip>
          <a:srcRect b="0" l="0" r="0" t="0"/>
          <a:stretch/>
        </p:blipFill>
        <p:spPr>
          <a:xfrm>
            <a:off x="15651361" y="9477375"/>
            <a:ext cx="636389" cy="419100"/>
          </a:xfrm>
          <a:prstGeom prst="rect">
            <a:avLst/>
          </a:prstGeom>
          <a:noFill/>
          <a:ln>
            <a:noFill/>
          </a:ln>
        </p:spPr>
      </p:pic>
      <p:pic>
        <p:nvPicPr>
          <p:cNvPr descr="preencoded.png" id="582" name="Google Shape;582;p29"/>
          <p:cNvPicPr preferRelativeResize="0"/>
          <p:nvPr/>
        </p:nvPicPr>
        <p:blipFill rotWithShape="1">
          <a:blip r:embed="rId5">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30"/>
          <p:cNvSpPr/>
          <p:nvPr/>
        </p:nvSpPr>
        <p:spPr>
          <a:xfrm>
            <a:off x="1333500" y="952500"/>
            <a:ext cx="1718310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03 · CONCLUSÕES</a:t>
            </a:r>
            <a:endParaRPr b="0" i="0" sz="2400" u="none" cap="none" strike="noStrike">
              <a:solidFill>
                <a:schemeClr val="dk1"/>
              </a:solidFill>
              <a:latin typeface="Calibri"/>
              <a:ea typeface="Calibri"/>
              <a:cs typeface="Calibri"/>
              <a:sym typeface="Calibri"/>
            </a:endParaRPr>
          </a:p>
        </p:txBody>
      </p:sp>
      <p:sp>
        <p:nvSpPr>
          <p:cNvPr id="589" name="Google Shape;589;p30"/>
          <p:cNvSpPr/>
          <p:nvPr/>
        </p:nvSpPr>
        <p:spPr>
          <a:xfrm>
            <a:off x="1333500" y="1457325"/>
            <a:ext cx="17183100" cy="7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Trabalhos futuros</a:t>
            </a:r>
            <a:endParaRPr b="0" i="0" sz="4950" u="none" cap="none" strike="noStrike">
              <a:solidFill>
                <a:schemeClr val="dk1"/>
              </a:solidFill>
              <a:latin typeface="Calibri"/>
              <a:ea typeface="Calibri"/>
              <a:cs typeface="Calibri"/>
              <a:sym typeface="Calibri"/>
            </a:endParaRPr>
          </a:p>
        </p:txBody>
      </p:sp>
      <p:sp>
        <p:nvSpPr>
          <p:cNvPr id="590" name="Google Shape;590;p30"/>
          <p:cNvSpPr/>
          <p:nvPr/>
        </p:nvSpPr>
        <p:spPr>
          <a:xfrm>
            <a:off x="17148870" y="381000"/>
            <a:ext cx="605730" cy="428625"/>
          </a:xfrm>
          <a:prstGeom prst="roundRect">
            <a:avLst>
              <a:gd fmla="val 17778" name="adj"/>
            </a:avLst>
          </a:prstGeom>
          <a:solidFill>
            <a:srgbClr val="6B7280">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0"/>
          <p:cNvSpPr/>
          <p:nvPr/>
        </p:nvSpPr>
        <p:spPr>
          <a:xfrm>
            <a:off x="17282220" y="41910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26</a:t>
            </a:r>
            <a:endParaRPr b="0" i="0" sz="2400" u="none" cap="none" strike="noStrike">
              <a:solidFill>
                <a:schemeClr val="dk1"/>
              </a:solidFill>
              <a:latin typeface="Calibri"/>
              <a:ea typeface="Calibri"/>
              <a:cs typeface="Calibri"/>
              <a:sym typeface="Calibri"/>
            </a:endParaRPr>
          </a:p>
        </p:txBody>
      </p:sp>
      <p:sp>
        <p:nvSpPr>
          <p:cNvPr id="592" name="Google Shape;592;p30"/>
          <p:cNvSpPr/>
          <p:nvPr/>
        </p:nvSpPr>
        <p:spPr>
          <a:xfrm>
            <a:off x="639525" y="2867026"/>
            <a:ext cx="8338500" cy="2561700"/>
          </a:xfrm>
          <a:prstGeom prst="roundRect">
            <a:avLst>
              <a:gd fmla="val 6478" name="adj"/>
            </a:avLst>
          </a:prstGeom>
          <a:solidFill>
            <a:srgbClr val="F4F6FA"/>
          </a:solidFill>
          <a:ln>
            <a:noFill/>
          </a:ln>
        </p:spPr>
        <p:txBody>
          <a:bodyPr anchorCtr="0" anchor="ctr" bIns="99550" lIns="99550" spcFirstLastPara="1" rIns="99550" wrap="square" tIns="99550">
            <a:noAutofit/>
          </a:bodyPr>
          <a:lstStyle/>
          <a:p>
            <a:pPr indent="0" lvl="0" marL="0" rtl="0" algn="l">
              <a:spcBef>
                <a:spcPts val="0"/>
              </a:spcBef>
              <a:spcAft>
                <a:spcPts val="0"/>
              </a:spcAft>
              <a:buNone/>
            </a:pPr>
            <a:r>
              <a:t/>
            </a:r>
            <a:endParaRPr/>
          </a:p>
        </p:txBody>
      </p:sp>
      <p:sp>
        <p:nvSpPr>
          <p:cNvPr id="593" name="Google Shape;593;p30"/>
          <p:cNvSpPr/>
          <p:nvPr/>
        </p:nvSpPr>
        <p:spPr>
          <a:xfrm>
            <a:off x="1012894" y="3281880"/>
            <a:ext cx="8351100" cy="6120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0F2369"/>
              </a:buClr>
              <a:buSzPts val="3838"/>
              <a:buFont typeface="Arial"/>
              <a:buNone/>
            </a:pPr>
            <a:r>
              <a:rPr b="1" i="0" lang="en-US" sz="3838" u="none" cap="none" strike="noStrike">
                <a:solidFill>
                  <a:srgbClr val="0F2369"/>
                </a:solidFill>
                <a:latin typeface="Arial"/>
                <a:ea typeface="Arial"/>
                <a:cs typeface="Arial"/>
                <a:sym typeface="Arial"/>
              </a:rPr>
              <a:t>Mais escopo</a:t>
            </a:r>
            <a:endParaRPr b="0" i="0" sz="3838" u="none" cap="none" strike="noStrike">
              <a:solidFill>
                <a:schemeClr val="dk1"/>
              </a:solidFill>
              <a:latin typeface="Calibri"/>
              <a:ea typeface="Calibri"/>
              <a:cs typeface="Calibri"/>
              <a:sym typeface="Calibri"/>
            </a:endParaRPr>
          </a:p>
        </p:txBody>
      </p:sp>
      <p:sp>
        <p:nvSpPr>
          <p:cNvPr id="594" name="Google Shape;594;p30"/>
          <p:cNvSpPr/>
          <p:nvPr/>
        </p:nvSpPr>
        <p:spPr>
          <a:xfrm>
            <a:off x="1012894" y="3997502"/>
            <a:ext cx="7819500" cy="10578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1F2937"/>
              </a:buClr>
              <a:buSzPts val="3512"/>
              <a:buFont typeface="Arial"/>
              <a:buNone/>
            </a:pPr>
            <a:r>
              <a:rPr b="0" i="0" lang="en-US" sz="3512" u="none" cap="none" strike="noStrike">
                <a:solidFill>
                  <a:srgbClr val="1F2937"/>
                </a:solidFill>
                <a:latin typeface="Arial"/>
                <a:ea typeface="Arial"/>
                <a:cs typeface="Arial"/>
                <a:sym typeface="Arial"/>
              </a:rPr>
              <a:t>Outros scanners, formatos e relatórios maiores.</a:t>
            </a:r>
            <a:endParaRPr b="0" i="0" sz="3512" u="none" cap="none" strike="noStrike">
              <a:solidFill>
                <a:schemeClr val="dk1"/>
              </a:solidFill>
              <a:latin typeface="Calibri"/>
              <a:ea typeface="Calibri"/>
              <a:cs typeface="Calibri"/>
              <a:sym typeface="Calibri"/>
            </a:endParaRPr>
          </a:p>
        </p:txBody>
      </p:sp>
      <p:sp>
        <p:nvSpPr>
          <p:cNvPr id="595" name="Google Shape;595;p30"/>
          <p:cNvSpPr/>
          <p:nvPr/>
        </p:nvSpPr>
        <p:spPr>
          <a:xfrm>
            <a:off x="9309984" y="2867026"/>
            <a:ext cx="8338500" cy="2561700"/>
          </a:xfrm>
          <a:prstGeom prst="roundRect">
            <a:avLst>
              <a:gd fmla="val 6478" name="adj"/>
            </a:avLst>
          </a:prstGeom>
          <a:solidFill>
            <a:srgbClr val="F4F6FA"/>
          </a:solidFill>
          <a:ln>
            <a:noFill/>
          </a:ln>
        </p:spPr>
        <p:txBody>
          <a:bodyPr anchorCtr="0" anchor="ctr" bIns="99550" lIns="99550" spcFirstLastPara="1" rIns="99550" wrap="square" tIns="99550">
            <a:noAutofit/>
          </a:bodyPr>
          <a:lstStyle/>
          <a:p>
            <a:pPr indent="0" lvl="0" marL="0" rtl="0" algn="l">
              <a:spcBef>
                <a:spcPts val="0"/>
              </a:spcBef>
              <a:spcAft>
                <a:spcPts val="0"/>
              </a:spcAft>
              <a:buNone/>
            </a:pPr>
            <a:r>
              <a:t/>
            </a:r>
            <a:endParaRPr/>
          </a:p>
        </p:txBody>
      </p:sp>
      <p:sp>
        <p:nvSpPr>
          <p:cNvPr id="596" name="Google Shape;596;p30"/>
          <p:cNvSpPr/>
          <p:nvPr/>
        </p:nvSpPr>
        <p:spPr>
          <a:xfrm>
            <a:off x="9683350" y="3281875"/>
            <a:ext cx="7658400" cy="6120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0F2369"/>
              </a:buClr>
              <a:buSzPts val="3838"/>
              <a:buFont typeface="Arial"/>
              <a:buNone/>
            </a:pPr>
            <a:r>
              <a:rPr b="1" i="0" lang="en-US" sz="3838" u="none" cap="none" strike="noStrike">
                <a:solidFill>
                  <a:srgbClr val="0F2369"/>
                </a:solidFill>
                <a:latin typeface="Arial"/>
                <a:ea typeface="Arial"/>
                <a:cs typeface="Arial"/>
                <a:sym typeface="Arial"/>
              </a:rPr>
              <a:t>Prompting por campo</a:t>
            </a:r>
            <a:endParaRPr b="0" i="0" sz="3838" u="none" cap="none" strike="noStrike">
              <a:solidFill>
                <a:schemeClr val="dk1"/>
              </a:solidFill>
              <a:latin typeface="Calibri"/>
              <a:ea typeface="Calibri"/>
              <a:cs typeface="Calibri"/>
              <a:sym typeface="Calibri"/>
            </a:endParaRPr>
          </a:p>
        </p:txBody>
      </p:sp>
      <p:sp>
        <p:nvSpPr>
          <p:cNvPr id="597" name="Google Shape;597;p30"/>
          <p:cNvSpPr/>
          <p:nvPr/>
        </p:nvSpPr>
        <p:spPr>
          <a:xfrm>
            <a:off x="9683354" y="3997502"/>
            <a:ext cx="7819500" cy="10578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1F2937"/>
              </a:buClr>
              <a:buSzPts val="3512"/>
              <a:buFont typeface="Arial"/>
              <a:buNone/>
            </a:pPr>
            <a:r>
              <a:rPr b="0" i="0" lang="en-US" sz="3512" u="none" cap="none" strike="noStrike">
                <a:solidFill>
                  <a:srgbClr val="1F2937"/>
                </a:solidFill>
                <a:latin typeface="Arial"/>
                <a:ea typeface="Arial"/>
                <a:cs typeface="Arial"/>
                <a:sym typeface="Arial"/>
              </a:rPr>
              <a:t>Atacar os campos narrativos sem trocar de modelo.</a:t>
            </a:r>
            <a:endParaRPr b="0" i="0" sz="3512" u="none" cap="none" strike="noStrike">
              <a:solidFill>
                <a:schemeClr val="dk1"/>
              </a:solidFill>
              <a:latin typeface="Calibri"/>
              <a:ea typeface="Calibri"/>
              <a:cs typeface="Calibri"/>
              <a:sym typeface="Calibri"/>
            </a:endParaRPr>
          </a:p>
        </p:txBody>
      </p:sp>
      <p:sp>
        <p:nvSpPr>
          <p:cNvPr id="598" name="Google Shape;598;p30"/>
          <p:cNvSpPr/>
          <p:nvPr/>
        </p:nvSpPr>
        <p:spPr>
          <a:xfrm>
            <a:off x="639525" y="5760630"/>
            <a:ext cx="8338500" cy="2561700"/>
          </a:xfrm>
          <a:prstGeom prst="roundRect">
            <a:avLst>
              <a:gd fmla="val 6478" name="adj"/>
            </a:avLst>
          </a:prstGeom>
          <a:solidFill>
            <a:srgbClr val="F4F6FA"/>
          </a:solidFill>
          <a:ln>
            <a:noFill/>
          </a:ln>
        </p:spPr>
        <p:txBody>
          <a:bodyPr anchorCtr="0" anchor="ctr" bIns="99550" lIns="99550" spcFirstLastPara="1" rIns="99550" wrap="square" tIns="99550">
            <a:noAutofit/>
          </a:bodyPr>
          <a:lstStyle/>
          <a:p>
            <a:pPr indent="0" lvl="0" marL="0" rtl="0" algn="l">
              <a:spcBef>
                <a:spcPts val="0"/>
              </a:spcBef>
              <a:spcAft>
                <a:spcPts val="0"/>
              </a:spcAft>
              <a:buNone/>
            </a:pPr>
            <a:r>
              <a:t/>
            </a:r>
            <a:endParaRPr/>
          </a:p>
        </p:txBody>
      </p:sp>
      <p:sp>
        <p:nvSpPr>
          <p:cNvPr id="599" name="Google Shape;599;p30"/>
          <p:cNvSpPr/>
          <p:nvPr/>
        </p:nvSpPr>
        <p:spPr>
          <a:xfrm>
            <a:off x="1012894" y="6175484"/>
            <a:ext cx="8351100" cy="6120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0F2369"/>
              </a:buClr>
              <a:buSzPts val="3838"/>
              <a:buFont typeface="Arial"/>
              <a:buNone/>
            </a:pPr>
            <a:r>
              <a:rPr b="1" lang="en-US" sz="3550">
                <a:solidFill>
                  <a:srgbClr val="0F2369"/>
                </a:solidFill>
                <a:highlight>
                  <a:srgbClr val="F4F6FA"/>
                </a:highlight>
              </a:rPr>
              <a:t>Arquitetura dos modelos</a:t>
            </a:r>
            <a:r>
              <a:rPr lang="en-US" sz="1100">
                <a:solidFill>
                  <a:schemeClr val="dk1"/>
                </a:solidFill>
              </a:rPr>
              <a:t> </a:t>
            </a:r>
            <a:endParaRPr b="0" i="0" sz="3838" u="none" cap="none" strike="noStrike">
              <a:solidFill>
                <a:schemeClr val="dk1"/>
              </a:solidFill>
              <a:latin typeface="Calibri"/>
              <a:ea typeface="Calibri"/>
              <a:cs typeface="Calibri"/>
              <a:sym typeface="Calibri"/>
            </a:endParaRPr>
          </a:p>
        </p:txBody>
      </p:sp>
      <p:sp>
        <p:nvSpPr>
          <p:cNvPr id="600" name="Google Shape;600;p30"/>
          <p:cNvSpPr/>
          <p:nvPr/>
        </p:nvSpPr>
        <p:spPr>
          <a:xfrm>
            <a:off x="1012894" y="6891106"/>
            <a:ext cx="7819500" cy="10578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1F2937"/>
              </a:buClr>
              <a:buSzPts val="3512"/>
              <a:buFont typeface="Arial"/>
              <a:buNone/>
            </a:pPr>
            <a:r>
              <a:rPr lang="en-US" sz="3250">
                <a:solidFill>
                  <a:srgbClr val="1F2937"/>
                </a:solidFill>
                <a:highlight>
                  <a:srgbClr val="F4F6FA"/>
                </a:highlight>
              </a:rPr>
              <a:t>Entender como as diferenças estruturais dos modelos locais afetam a extração.</a:t>
            </a:r>
            <a:r>
              <a:rPr lang="en-US" sz="1100">
                <a:solidFill>
                  <a:schemeClr val="dk1"/>
                </a:solidFill>
              </a:rPr>
              <a:t> </a:t>
            </a:r>
            <a:endParaRPr b="0" i="0" sz="3512" u="none" cap="none" strike="noStrike">
              <a:solidFill>
                <a:schemeClr val="dk1"/>
              </a:solidFill>
              <a:latin typeface="Calibri"/>
              <a:ea typeface="Calibri"/>
              <a:cs typeface="Calibri"/>
              <a:sym typeface="Calibri"/>
            </a:endParaRPr>
          </a:p>
        </p:txBody>
      </p:sp>
      <p:sp>
        <p:nvSpPr>
          <p:cNvPr id="601" name="Google Shape;601;p30"/>
          <p:cNvSpPr/>
          <p:nvPr/>
        </p:nvSpPr>
        <p:spPr>
          <a:xfrm>
            <a:off x="9309984" y="5760630"/>
            <a:ext cx="8338500" cy="2561700"/>
          </a:xfrm>
          <a:prstGeom prst="roundRect">
            <a:avLst>
              <a:gd fmla="val 6478" name="adj"/>
            </a:avLst>
          </a:prstGeom>
          <a:solidFill>
            <a:srgbClr val="F4F6FA"/>
          </a:solidFill>
          <a:ln>
            <a:noFill/>
          </a:ln>
        </p:spPr>
        <p:txBody>
          <a:bodyPr anchorCtr="0" anchor="ctr" bIns="99550" lIns="99550" spcFirstLastPara="1" rIns="99550" wrap="square" tIns="99550">
            <a:noAutofit/>
          </a:bodyPr>
          <a:lstStyle/>
          <a:p>
            <a:pPr indent="0" lvl="0" marL="0" rtl="0" algn="l">
              <a:spcBef>
                <a:spcPts val="0"/>
              </a:spcBef>
              <a:spcAft>
                <a:spcPts val="0"/>
              </a:spcAft>
              <a:buNone/>
            </a:pPr>
            <a:r>
              <a:t/>
            </a:r>
            <a:endParaRPr/>
          </a:p>
        </p:txBody>
      </p:sp>
      <p:sp>
        <p:nvSpPr>
          <p:cNvPr id="602" name="Google Shape;602;p30"/>
          <p:cNvSpPr/>
          <p:nvPr/>
        </p:nvSpPr>
        <p:spPr>
          <a:xfrm>
            <a:off x="9683350" y="6175475"/>
            <a:ext cx="7464000" cy="6120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0F2369"/>
              </a:buClr>
              <a:buSzPts val="3838"/>
              <a:buFont typeface="Arial"/>
              <a:buNone/>
            </a:pPr>
            <a:r>
              <a:rPr b="1" lang="en-US" sz="3838">
                <a:solidFill>
                  <a:srgbClr val="0F2369"/>
                </a:solidFill>
              </a:rPr>
              <a:t>Extração com RAG</a:t>
            </a:r>
            <a:endParaRPr b="0" i="0" sz="3838" u="none" cap="none" strike="noStrike">
              <a:solidFill>
                <a:schemeClr val="dk1"/>
              </a:solidFill>
              <a:latin typeface="Calibri"/>
              <a:ea typeface="Calibri"/>
              <a:cs typeface="Calibri"/>
              <a:sym typeface="Calibri"/>
            </a:endParaRPr>
          </a:p>
        </p:txBody>
      </p:sp>
      <p:sp>
        <p:nvSpPr>
          <p:cNvPr id="603" name="Google Shape;603;p30"/>
          <p:cNvSpPr/>
          <p:nvPr/>
        </p:nvSpPr>
        <p:spPr>
          <a:xfrm>
            <a:off x="9683354" y="6891106"/>
            <a:ext cx="7819500" cy="1057800"/>
          </a:xfrm>
          <a:prstGeom prst="rect">
            <a:avLst/>
          </a:prstGeom>
          <a:noFill/>
          <a:ln>
            <a:noFill/>
          </a:ln>
        </p:spPr>
        <p:txBody>
          <a:bodyPr anchorCtr="0" anchor="t" bIns="27650" lIns="27650" spcFirstLastPara="1" rIns="27650" wrap="square" tIns="27650">
            <a:normAutofit/>
          </a:bodyPr>
          <a:lstStyle/>
          <a:p>
            <a:pPr indent="0" lvl="0" marL="0" marR="0" rtl="0" algn="l">
              <a:spcBef>
                <a:spcPts val="0"/>
              </a:spcBef>
              <a:spcAft>
                <a:spcPts val="0"/>
              </a:spcAft>
              <a:buClr>
                <a:srgbClr val="1F2937"/>
              </a:buClr>
              <a:buSzPts val="3512"/>
              <a:buFont typeface="Arial"/>
              <a:buNone/>
            </a:pPr>
            <a:r>
              <a:rPr lang="en-US" sz="3512">
                <a:solidFill>
                  <a:srgbClr val="1F2937"/>
                </a:solidFill>
              </a:rPr>
              <a:t>Ancorar os campos narrativos numa base vetorial da NVD.</a:t>
            </a:r>
            <a:endParaRPr b="0" i="0" sz="3512" u="none" cap="none" strike="noStrike">
              <a:solidFill>
                <a:schemeClr val="dk1"/>
              </a:solidFill>
              <a:latin typeface="Calibri"/>
              <a:ea typeface="Calibri"/>
              <a:cs typeface="Calibri"/>
              <a:sym typeface="Calibri"/>
            </a:endParaRPr>
          </a:p>
        </p:txBody>
      </p:sp>
      <p:sp>
        <p:nvSpPr>
          <p:cNvPr id="604" name="Google Shape;604;p30"/>
          <p:cNvSpPr/>
          <p:nvPr/>
        </p:nvSpPr>
        <p:spPr>
          <a:xfrm>
            <a:off x="1333500" y="9525000"/>
            <a:ext cx="6272257"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605" name="Google Shape;605;p30"/>
          <p:cNvPicPr preferRelativeResize="0"/>
          <p:nvPr/>
        </p:nvPicPr>
        <p:blipFill rotWithShape="1">
          <a:blip r:embed="rId3">
            <a:alphaModFix/>
          </a:blip>
          <a:srcRect b="0" l="0" r="0" t="0"/>
          <a:stretch/>
        </p:blipFill>
        <p:spPr>
          <a:xfrm>
            <a:off x="13863935" y="9496425"/>
            <a:ext cx="1558826" cy="381000"/>
          </a:xfrm>
          <a:prstGeom prst="rect">
            <a:avLst/>
          </a:prstGeom>
          <a:noFill/>
          <a:ln>
            <a:noFill/>
          </a:ln>
        </p:spPr>
      </p:pic>
      <p:pic>
        <p:nvPicPr>
          <p:cNvPr descr="preencoded.png" id="606" name="Google Shape;606;p30"/>
          <p:cNvPicPr preferRelativeResize="0"/>
          <p:nvPr/>
        </p:nvPicPr>
        <p:blipFill rotWithShape="1">
          <a:blip r:embed="rId4">
            <a:alphaModFix/>
          </a:blip>
          <a:srcRect b="0" l="0" r="0" t="0"/>
          <a:stretch/>
        </p:blipFill>
        <p:spPr>
          <a:xfrm>
            <a:off x="15651361" y="9477375"/>
            <a:ext cx="636389" cy="419100"/>
          </a:xfrm>
          <a:prstGeom prst="rect">
            <a:avLst/>
          </a:prstGeom>
          <a:noFill/>
          <a:ln>
            <a:noFill/>
          </a:ln>
        </p:spPr>
      </p:pic>
      <p:pic>
        <p:nvPicPr>
          <p:cNvPr descr="preencoded.png" id="607" name="Google Shape;607;p30"/>
          <p:cNvPicPr preferRelativeResize="0"/>
          <p:nvPr/>
        </p:nvPicPr>
        <p:blipFill rotWithShape="1">
          <a:blip r:embed="rId5">
            <a:alphaModFix/>
          </a:blip>
          <a:srcRect b="0" l="0" r="0" t="0"/>
          <a:stretch/>
        </p:blipFill>
        <p:spPr>
          <a:xfrm>
            <a:off x="16516350" y="9467850"/>
            <a:ext cx="438150" cy="438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69"/>
        </a:solidFill>
      </p:bgPr>
    </p:bg>
    <p:spTree>
      <p:nvGrpSpPr>
        <p:cNvPr id="612" name="Shape 612"/>
        <p:cNvGrpSpPr/>
        <p:nvPr/>
      </p:nvGrpSpPr>
      <p:grpSpPr>
        <a:xfrm>
          <a:off x="0" y="0"/>
          <a:ext cx="0" cy="0"/>
          <a:chOff x="0" y="0"/>
          <a:chExt cx="0" cy="0"/>
        </a:xfrm>
      </p:grpSpPr>
      <p:sp>
        <p:nvSpPr>
          <p:cNvPr id="613" name="Google Shape;613;p31"/>
          <p:cNvSpPr/>
          <p:nvPr/>
        </p:nvSpPr>
        <p:spPr>
          <a:xfrm>
            <a:off x="0" y="0"/>
            <a:ext cx="18288000" cy="133350"/>
          </a:xfrm>
          <a:prstGeom prst="rect">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1"/>
          <p:cNvSpPr/>
          <p:nvPr/>
        </p:nvSpPr>
        <p:spPr>
          <a:xfrm>
            <a:off x="1047750" y="2352675"/>
            <a:ext cx="8591550" cy="1152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7650"/>
              <a:buFont typeface="Arial"/>
              <a:buNone/>
            </a:pPr>
            <a:r>
              <a:rPr b="1" i="0" lang="en-US" sz="7950" u="none" cap="none" strike="noStrike">
                <a:solidFill>
                  <a:srgbClr val="FFFFFF"/>
                </a:solidFill>
                <a:latin typeface="Arial"/>
                <a:ea typeface="Arial"/>
                <a:cs typeface="Arial"/>
                <a:sym typeface="Arial"/>
              </a:rPr>
              <a:t>Obrigada!</a:t>
            </a:r>
            <a:endParaRPr b="0" i="0" sz="7950" u="none" cap="none" strike="noStrike">
              <a:solidFill>
                <a:schemeClr val="dk1"/>
              </a:solidFill>
              <a:latin typeface="Calibri"/>
              <a:ea typeface="Calibri"/>
              <a:cs typeface="Calibri"/>
              <a:sym typeface="Calibri"/>
            </a:endParaRPr>
          </a:p>
        </p:txBody>
      </p:sp>
      <p:sp>
        <p:nvSpPr>
          <p:cNvPr id="615" name="Google Shape;615;p31"/>
          <p:cNvSpPr/>
          <p:nvPr/>
        </p:nvSpPr>
        <p:spPr>
          <a:xfrm>
            <a:off x="17148870" y="514350"/>
            <a:ext cx="605730" cy="428625"/>
          </a:xfrm>
          <a:prstGeom prst="roundRect">
            <a:avLst>
              <a:gd fmla="val 17778" name="adj"/>
            </a:avLst>
          </a:prstGeom>
          <a:solidFill>
            <a:srgbClr val="FFFFFF">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1"/>
          <p:cNvSpPr/>
          <p:nvPr/>
        </p:nvSpPr>
        <p:spPr>
          <a:xfrm>
            <a:off x="17282220" y="552450"/>
            <a:ext cx="399604"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2400"/>
              <a:buFont typeface="Arial"/>
              <a:buNone/>
            </a:pPr>
            <a:r>
              <a:rPr lang="en-US" sz="2400">
                <a:solidFill>
                  <a:srgbClr val="DDE3EC"/>
                </a:solidFill>
              </a:rPr>
              <a:t>27</a:t>
            </a:r>
            <a:endParaRPr b="0" i="0" sz="2400" u="none" cap="none" strike="noStrike">
              <a:solidFill>
                <a:schemeClr val="dk1"/>
              </a:solidFill>
              <a:latin typeface="Calibri"/>
              <a:ea typeface="Calibri"/>
              <a:cs typeface="Calibri"/>
              <a:sym typeface="Calibri"/>
            </a:endParaRPr>
          </a:p>
        </p:txBody>
      </p:sp>
      <p:sp>
        <p:nvSpPr>
          <p:cNvPr id="617" name="Google Shape;617;p31"/>
          <p:cNvSpPr/>
          <p:nvPr/>
        </p:nvSpPr>
        <p:spPr>
          <a:xfrm>
            <a:off x="1047750" y="3810000"/>
            <a:ext cx="1428750" cy="57150"/>
          </a:xfrm>
          <a:prstGeom prst="rect">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18" name="Google Shape;618;p31"/>
          <p:cNvSpPr/>
          <p:nvPr/>
        </p:nvSpPr>
        <p:spPr>
          <a:xfrm>
            <a:off x="1047750" y="4210050"/>
            <a:ext cx="8591550" cy="495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7A823"/>
              </a:buClr>
              <a:buSzPts val="3150"/>
              <a:buFont typeface="Arial"/>
              <a:buNone/>
            </a:pPr>
            <a:r>
              <a:rPr b="0" i="0" lang="en-US" sz="3450" u="none" cap="none" strike="noStrike">
                <a:solidFill>
                  <a:schemeClr val="lt1"/>
                </a:solidFill>
                <a:latin typeface="Arial"/>
                <a:ea typeface="Arial"/>
                <a:cs typeface="Arial"/>
                <a:sym typeface="Arial"/>
              </a:rPr>
              <a:t>Perguntas são bem-vindas</a:t>
            </a:r>
            <a:endParaRPr b="0" i="0" sz="3450" u="none" cap="none" strike="noStrike">
              <a:solidFill>
                <a:schemeClr val="lt1"/>
              </a:solidFill>
              <a:latin typeface="Calibri"/>
              <a:ea typeface="Calibri"/>
              <a:cs typeface="Calibri"/>
              <a:sym typeface="Calibri"/>
            </a:endParaRPr>
          </a:p>
        </p:txBody>
      </p:sp>
      <p:sp>
        <p:nvSpPr>
          <p:cNvPr id="619" name="Google Shape;619;p31"/>
          <p:cNvSpPr/>
          <p:nvPr/>
        </p:nvSpPr>
        <p:spPr>
          <a:xfrm>
            <a:off x="1047750" y="5010150"/>
            <a:ext cx="817245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7A823"/>
              </a:buClr>
              <a:buSzPts val="2400"/>
              <a:buFont typeface="Arial"/>
              <a:buNone/>
            </a:pPr>
            <a:r>
              <a:rPr b="1" i="0" lang="en-US" sz="2500" u="none" cap="none" strike="noStrike">
                <a:solidFill>
                  <a:srgbClr val="F7A823"/>
                </a:solidFill>
                <a:latin typeface="Arial"/>
                <a:ea typeface="Arial"/>
                <a:cs typeface="Arial"/>
                <a:sym typeface="Arial"/>
              </a:rPr>
              <a:t>AUTORA DE CONTATO</a:t>
            </a:r>
            <a:endParaRPr b="0" i="0" sz="2500" u="none" cap="none" strike="noStrike">
              <a:solidFill>
                <a:schemeClr val="dk1"/>
              </a:solidFill>
              <a:latin typeface="Calibri"/>
              <a:ea typeface="Calibri"/>
              <a:cs typeface="Calibri"/>
              <a:sym typeface="Calibri"/>
            </a:endParaRPr>
          </a:p>
        </p:txBody>
      </p:sp>
      <p:sp>
        <p:nvSpPr>
          <p:cNvPr id="620" name="Google Shape;620;p31"/>
          <p:cNvSpPr/>
          <p:nvPr/>
        </p:nvSpPr>
        <p:spPr>
          <a:xfrm>
            <a:off x="1047750" y="5496209"/>
            <a:ext cx="8172600" cy="514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3300"/>
              <a:buFont typeface="Arial"/>
              <a:buNone/>
            </a:pPr>
            <a:r>
              <a:rPr b="1" i="0" lang="en-US" sz="3400" u="none" cap="none" strike="noStrike">
                <a:solidFill>
                  <a:srgbClr val="FFFFFF"/>
                </a:solidFill>
                <a:latin typeface="Arial"/>
                <a:ea typeface="Arial"/>
                <a:cs typeface="Arial"/>
                <a:sym typeface="Arial"/>
              </a:rPr>
              <a:t>Beatriz Machado</a:t>
            </a:r>
            <a:endParaRPr b="0" i="0" sz="3400" u="none" cap="none" strike="noStrike">
              <a:solidFill>
                <a:schemeClr val="dk1"/>
              </a:solidFill>
              <a:latin typeface="Calibri"/>
              <a:ea typeface="Calibri"/>
              <a:cs typeface="Calibri"/>
              <a:sym typeface="Calibri"/>
            </a:endParaRPr>
          </a:p>
        </p:txBody>
      </p:sp>
      <p:sp>
        <p:nvSpPr>
          <p:cNvPr id="621" name="Google Shape;621;p31"/>
          <p:cNvSpPr/>
          <p:nvPr/>
        </p:nvSpPr>
        <p:spPr>
          <a:xfrm>
            <a:off x="1047750" y="6086901"/>
            <a:ext cx="8172600" cy="466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3000"/>
              <a:buFont typeface="Arial"/>
              <a:buNone/>
            </a:pPr>
            <a:r>
              <a:rPr b="0" i="0" lang="en-US" sz="3100" u="none" cap="none" strike="noStrike">
                <a:solidFill>
                  <a:srgbClr val="DDE3EC"/>
                </a:solidFill>
                <a:latin typeface="Arial"/>
                <a:ea typeface="Arial"/>
                <a:cs typeface="Arial"/>
                <a:sym typeface="Arial"/>
              </a:rPr>
              <a:t>beatrizmachado.aluno@unipampa.edu.br</a:t>
            </a:r>
            <a:endParaRPr b="0" i="0" sz="3100" u="none" cap="none" strike="noStrike">
              <a:solidFill>
                <a:schemeClr val="dk1"/>
              </a:solidFill>
              <a:latin typeface="Calibri"/>
              <a:ea typeface="Calibri"/>
              <a:cs typeface="Calibri"/>
              <a:sym typeface="Calibri"/>
            </a:endParaRPr>
          </a:p>
        </p:txBody>
      </p:sp>
      <p:sp>
        <p:nvSpPr>
          <p:cNvPr id="622" name="Google Shape;622;p31"/>
          <p:cNvSpPr/>
          <p:nvPr/>
        </p:nvSpPr>
        <p:spPr>
          <a:xfrm>
            <a:off x="1047750" y="6629969"/>
            <a:ext cx="8172600" cy="466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3000"/>
              <a:buFont typeface="Arial"/>
              <a:buNone/>
            </a:pPr>
            <a:r>
              <a:rPr b="0" i="0" lang="en-US" sz="3100" u="none" cap="none" strike="noStrike">
                <a:solidFill>
                  <a:srgbClr val="DDE3EC"/>
                </a:solidFill>
                <a:latin typeface="Arial"/>
                <a:ea typeface="Arial"/>
                <a:cs typeface="Arial"/>
                <a:sym typeface="Arial"/>
              </a:rPr>
              <a:t>AI Horizon Labs · UNIPAMPA · PPGES</a:t>
            </a:r>
            <a:endParaRPr b="0" i="0" sz="3100" u="none" cap="none" strike="noStrike">
              <a:solidFill>
                <a:schemeClr val="dk1"/>
              </a:solidFill>
              <a:latin typeface="Calibri"/>
              <a:ea typeface="Calibri"/>
              <a:cs typeface="Calibri"/>
              <a:sym typeface="Calibri"/>
            </a:endParaRPr>
          </a:p>
        </p:txBody>
      </p:sp>
      <p:sp>
        <p:nvSpPr>
          <p:cNvPr id="623" name="Google Shape;623;p31"/>
          <p:cNvSpPr/>
          <p:nvPr/>
        </p:nvSpPr>
        <p:spPr>
          <a:xfrm>
            <a:off x="10001250" y="2824163"/>
            <a:ext cx="3048000" cy="3048000"/>
          </a:xfrm>
          <a:prstGeom prst="roundRect">
            <a:avLst>
              <a:gd fmla="val 5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4" name="Google Shape;624;p31"/>
          <p:cNvPicPr preferRelativeResize="0"/>
          <p:nvPr/>
        </p:nvPicPr>
        <p:blipFill rotWithShape="1">
          <a:blip r:embed="rId3">
            <a:alphaModFix/>
          </a:blip>
          <a:srcRect b="0" l="0" r="0" t="0"/>
          <a:stretch/>
        </p:blipFill>
        <p:spPr>
          <a:xfrm>
            <a:off x="10001250" y="2824163"/>
            <a:ext cx="3048000" cy="3048000"/>
          </a:xfrm>
          <a:prstGeom prst="rect">
            <a:avLst/>
          </a:prstGeom>
          <a:noFill/>
          <a:ln>
            <a:noFill/>
          </a:ln>
        </p:spPr>
      </p:pic>
      <p:sp>
        <p:nvSpPr>
          <p:cNvPr id="625" name="Google Shape;625;p31"/>
          <p:cNvSpPr/>
          <p:nvPr/>
        </p:nvSpPr>
        <p:spPr>
          <a:xfrm>
            <a:off x="10001250" y="6086925"/>
            <a:ext cx="3048000" cy="466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3000"/>
              <a:buFont typeface="Arial"/>
              <a:buNone/>
            </a:pPr>
            <a:r>
              <a:rPr b="0" i="0" lang="en-US" sz="3200" u="none" cap="none" strike="noStrike">
                <a:solidFill>
                  <a:srgbClr val="DDE3EC"/>
                </a:solidFill>
                <a:latin typeface="Arial"/>
                <a:ea typeface="Arial"/>
                <a:cs typeface="Arial"/>
                <a:sym typeface="Arial"/>
              </a:rPr>
              <a:t>AI Horizon Labs</a:t>
            </a:r>
            <a:endParaRPr b="0" i="0" sz="3200" u="none" cap="none" strike="noStrike">
              <a:solidFill>
                <a:schemeClr val="dk1"/>
              </a:solidFill>
              <a:latin typeface="Calibri"/>
              <a:ea typeface="Calibri"/>
              <a:cs typeface="Calibri"/>
              <a:sym typeface="Calibri"/>
            </a:endParaRPr>
          </a:p>
        </p:txBody>
      </p:sp>
      <p:sp>
        <p:nvSpPr>
          <p:cNvPr id="626" name="Google Shape;626;p31"/>
          <p:cNvSpPr/>
          <p:nvPr/>
        </p:nvSpPr>
        <p:spPr>
          <a:xfrm>
            <a:off x="13620750" y="2824163"/>
            <a:ext cx="3048000" cy="3048000"/>
          </a:xfrm>
          <a:prstGeom prst="roundRect">
            <a:avLst>
              <a:gd fmla="val 5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7" name="Google Shape;627;p31"/>
          <p:cNvPicPr preferRelativeResize="0"/>
          <p:nvPr/>
        </p:nvPicPr>
        <p:blipFill rotWithShape="1">
          <a:blip r:embed="rId4">
            <a:alphaModFix/>
          </a:blip>
          <a:srcRect b="0" l="0" r="0" t="0"/>
          <a:stretch/>
        </p:blipFill>
        <p:spPr>
          <a:xfrm>
            <a:off x="13620750" y="2824163"/>
            <a:ext cx="3048000" cy="3048000"/>
          </a:xfrm>
          <a:prstGeom prst="rect">
            <a:avLst/>
          </a:prstGeom>
          <a:noFill/>
          <a:ln>
            <a:noFill/>
          </a:ln>
        </p:spPr>
      </p:pic>
      <p:sp>
        <p:nvSpPr>
          <p:cNvPr id="628" name="Google Shape;628;p31"/>
          <p:cNvSpPr/>
          <p:nvPr/>
        </p:nvSpPr>
        <p:spPr>
          <a:xfrm>
            <a:off x="14084838" y="6086925"/>
            <a:ext cx="2119800" cy="466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DE3EC"/>
              </a:buClr>
              <a:buSzPts val="3000"/>
              <a:buFont typeface="Arial"/>
              <a:buNone/>
            </a:pPr>
            <a:r>
              <a:rPr b="0" i="0" lang="en-US" sz="3200" u="none" cap="none" strike="noStrike">
                <a:solidFill>
                  <a:srgbClr val="DDE3EC"/>
                </a:solidFill>
                <a:latin typeface="Arial"/>
                <a:ea typeface="Arial"/>
                <a:cs typeface="Arial"/>
                <a:sym typeface="Arial"/>
              </a:rPr>
              <a:t>Repositório</a:t>
            </a:r>
            <a:endParaRPr b="0" i="0" sz="3200" u="none" cap="none" strike="noStrike">
              <a:solidFill>
                <a:schemeClr val="dk1"/>
              </a:solidFill>
              <a:latin typeface="Calibri"/>
              <a:ea typeface="Calibri"/>
              <a:cs typeface="Calibri"/>
              <a:sym typeface="Calibri"/>
            </a:endParaRPr>
          </a:p>
        </p:txBody>
      </p:sp>
      <p:sp>
        <p:nvSpPr>
          <p:cNvPr id="629" name="Google Shape;629;p31"/>
          <p:cNvSpPr/>
          <p:nvPr/>
        </p:nvSpPr>
        <p:spPr>
          <a:xfrm>
            <a:off x="0" y="9201150"/>
            <a:ext cx="18288000" cy="10858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0" name="Google Shape;630;p31"/>
          <p:cNvPicPr preferRelativeResize="0"/>
          <p:nvPr/>
        </p:nvPicPr>
        <p:blipFill rotWithShape="1">
          <a:blip r:embed="rId5">
            <a:alphaModFix/>
          </a:blip>
          <a:srcRect b="0" l="0" r="0" t="0"/>
          <a:stretch/>
        </p:blipFill>
        <p:spPr>
          <a:xfrm>
            <a:off x="1047750" y="9496425"/>
            <a:ext cx="2026593" cy="495300"/>
          </a:xfrm>
          <a:prstGeom prst="rect">
            <a:avLst/>
          </a:prstGeom>
          <a:noFill/>
          <a:ln>
            <a:noFill/>
          </a:ln>
        </p:spPr>
      </p:pic>
      <p:pic>
        <p:nvPicPr>
          <p:cNvPr descr="preencoded.png" id="631" name="Google Shape;631;p31"/>
          <p:cNvPicPr preferRelativeResize="0"/>
          <p:nvPr/>
        </p:nvPicPr>
        <p:blipFill rotWithShape="1">
          <a:blip r:embed="rId6">
            <a:alphaModFix/>
          </a:blip>
          <a:srcRect b="0" l="0" r="0" t="0"/>
          <a:stretch/>
        </p:blipFill>
        <p:spPr>
          <a:xfrm>
            <a:off x="3607743" y="9467850"/>
            <a:ext cx="838795" cy="552450"/>
          </a:xfrm>
          <a:prstGeom prst="rect">
            <a:avLst/>
          </a:prstGeom>
          <a:noFill/>
          <a:ln>
            <a:noFill/>
          </a:ln>
        </p:spPr>
      </p:pic>
      <p:pic>
        <p:nvPicPr>
          <p:cNvPr descr="preencoded.png" id="632" name="Google Shape;632;p31"/>
          <p:cNvPicPr preferRelativeResize="0"/>
          <p:nvPr/>
        </p:nvPicPr>
        <p:blipFill rotWithShape="1">
          <a:blip r:embed="rId7">
            <a:alphaModFix/>
          </a:blip>
          <a:srcRect b="0" l="0" r="0" t="0"/>
          <a:stretch/>
        </p:blipFill>
        <p:spPr>
          <a:xfrm>
            <a:off x="4979938" y="9448800"/>
            <a:ext cx="590550" cy="590550"/>
          </a:xfrm>
          <a:prstGeom prst="rect">
            <a:avLst/>
          </a:prstGeom>
          <a:noFill/>
          <a:ln>
            <a:noFill/>
          </a:ln>
        </p:spPr>
      </p:pic>
      <p:pic>
        <p:nvPicPr>
          <p:cNvPr descr="preencoded.png" id="633" name="Google Shape;633;p31"/>
          <p:cNvPicPr preferRelativeResize="0"/>
          <p:nvPr/>
        </p:nvPicPr>
        <p:blipFill rotWithShape="1">
          <a:blip r:embed="rId8">
            <a:alphaModFix/>
          </a:blip>
          <a:srcRect b="0" l="0" r="0" t="0"/>
          <a:stretch/>
        </p:blipFill>
        <p:spPr>
          <a:xfrm>
            <a:off x="14491990" y="9477375"/>
            <a:ext cx="961579" cy="533400"/>
          </a:xfrm>
          <a:prstGeom prst="rect">
            <a:avLst/>
          </a:prstGeom>
          <a:noFill/>
          <a:ln>
            <a:noFill/>
          </a:ln>
        </p:spPr>
      </p:pic>
      <p:pic>
        <p:nvPicPr>
          <p:cNvPr descr="preencoded.png" id="634" name="Google Shape;634;p31"/>
          <p:cNvPicPr preferRelativeResize="0"/>
          <p:nvPr/>
        </p:nvPicPr>
        <p:blipFill rotWithShape="1">
          <a:blip r:embed="rId9">
            <a:alphaModFix/>
          </a:blip>
          <a:srcRect b="0" l="0" r="0" t="0"/>
          <a:stretch/>
        </p:blipFill>
        <p:spPr>
          <a:xfrm>
            <a:off x="15872668" y="9458325"/>
            <a:ext cx="556617" cy="571500"/>
          </a:xfrm>
          <a:prstGeom prst="rect">
            <a:avLst/>
          </a:prstGeom>
          <a:noFill/>
          <a:ln>
            <a:noFill/>
          </a:ln>
        </p:spPr>
      </p:pic>
      <p:pic>
        <p:nvPicPr>
          <p:cNvPr descr="preencoded.png" id="635" name="Google Shape;635;p31"/>
          <p:cNvPicPr preferRelativeResize="0"/>
          <p:nvPr/>
        </p:nvPicPr>
        <p:blipFill rotWithShape="1">
          <a:blip r:embed="rId10">
            <a:alphaModFix/>
          </a:blip>
          <a:srcRect b="0" l="0" r="0" t="0"/>
          <a:stretch/>
        </p:blipFill>
        <p:spPr>
          <a:xfrm>
            <a:off x="16848386" y="9448800"/>
            <a:ext cx="391864" cy="590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0" name="Shape 640"/>
        <p:cNvGrpSpPr/>
        <p:nvPr/>
      </p:nvGrpSpPr>
      <p:grpSpPr>
        <a:xfrm>
          <a:off x="0" y="0"/>
          <a:ext cx="0" cy="0"/>
          <a:chOff x="0" y="0"/>
          <a:chExt cx="0" cy="0"/>
        </a:xfrm>
      </p:grpSpPr>
      <p:sp>
        <p:nvSpPr>
          <p:cNvPr id="641" name="Google Shape;641;g3f88e45ce95_0_45"/>
          <p:cNvSpPr/>
          <p:nvPr/>
        </p:nvSpPr>
        <p:spPr>
          <a:xfrm>
            <a:off x="952500" y="762000"/>
            <a:ext cx="17367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642" name="Google Shape;642;g3f88e45ce95_0_45"/>
          <p:cNvSpPr/>
          <p:nvPr/>
        </p:nvSpPr>
        <p:spPr>
          <a:xfrm>
            <a:off x="952500" y="1209675"/>
            <a:ext cx="3276900" cy="676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References</a:t>
            </a:r>
            <a:endParaRPr b="0" i="0" sz="4350" u="none" cap="none" strike="noStrike">
              <a:solidFill>
                <a:schemeClr val="dk1"/>
              </a:solidFill>
              <a:latin typeface="Calibri"/>
              <a:ea typeface="Calibri"/>
              <a:cs typeface="Calibri"/>
              <a:sym typeface="Calibri"/>
            </a:endParaRPr>
          </a:p>
        </p:txBody>
      </p:sp>
      <p:sp>
        <p:nvSpPr>
          <p:cNvPr id="643" name="Google Shape;643;g3f88e45ce95_0_45"/>
          <p:cNvSpPr/>
          <p:nvPr/>
        </p:nvSpPr>
        <p:spPr>
          <a:xfrm>
            <a:off x="4179094" y="1266825"/>
            <a:ext cx="2904900" cy="523800"/>
          </a:xfrm>
          <a:prstGeom prst="roundRect">
            <a:avLst>
              <a:gd fmla="val 50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f88e45ce95_0_45"/>
          <p:cNvSpPr/>
          <p:nvPr/>
        </p:nvSpPr>
        <p:spPr>
          <a:xfrm>
            <a:off x="4407694" y="1343025"/>
            <a:ext cx="2535000" cy="409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34–48% omitido</a:t>
            </a:r>
            <a:endParaRPr b="0" i="0" sz="2550" u="none" cap="none" strike="noStrike">
              <a:solidFill>
                <a:schemeClr val="dk1"/>
              </a:solidFill>
              <a:latin typeface="Calibri"/>
              <a:ea typeface="Calibri"/>
              <a:cs typeface="Calibri"/>
              <a:sym typeface="Calibri"/>
            </a:endParaRPr>
          </a:p>
        </p:txBody>
      </p:sp>
      <p:sp>
        <p:nvSpPr>
          <p:cNvPr id="645" name="Google Shape;645;g3f88e45ce95_0_45"/>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g3f88e45ce95_0_45"/>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28</a:t>
            </a:r>
            <a:endParaRPr b="0" i="0" sz="2400" u="none" cap="none" strike="noStrike">
              <a:solidFill>
                <a:schemeClr val="dk1"/>
              </a:solidFill>
              <a:latin typeface="Calibri"/>
              <a:ea typeface="Calibri"/>
              <a:cs typeface="Calibri"/>
              <a:sym typeface="Calibri"/>
            </a:endParaRPr>
          </a:p>
        </p:txBody>
      </p:sp>
      <p:sp>
        <p:nvSpPr>
          <p:cNvPr id="647" name="Google Shape;647;g3f88e45ce95_0_45"/>
          <p:cNvSpPr/>
          <p:nvPr/>
        </p:nvSpPr>
        <p:spPr>
          <a:xfrm>
            <a:off x="952500" y="2781300"/>
            <a:ext cx="8420100" cy="5981700"/>
          </a:xfrm>
          <a:prstGeom prst="roundRect">
            <a:avLst>
              <a:gd fmla="val 1911" name="adj"/>
            </a:avLst>
          </a:prstGeom>
          <a:noFill/>
          <a:ln cap="flat" cmpd="sng" w="1905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8" name="Google Shape;648;g3f88e45ce95_0_45"/>
          <p:cNvPicPr preferRelativeResize="0"/>
          <p:nvPr/>
        </p:nvPicPr>
        <p:blipFill rotWithShape="1">
          <a:blip r:embed="rId3">
            <a:alphaModFix/>
          </a:blip>
          <a:srcRect b="0" l="0" r="0" t="0"/>
          <a:stretch/>
        </p:blipFill>
        <p:spPr>
          <a:xfrm>
            <a:off x="971550" y="2800350"/>
            <a:ext cx="8382000" cy="5942707"/>
          </a:xfrm>
          <a:prstGeom prst="rect">
            <a:avLst/>
          </a:prstGeom>
          <a:noFill/>
          <a:ln>
            <a:noFill/>
          </a:ln>
        </p:spPr>
      </p:pic>
      <p:sp>
        <p:nvSpPr>
          <p:cNvPr id="649" name="Google Shape;649;g3f88e45ce95_0_45"/>
          <p:cNvSpPr/>
          <p:nvPr/>
        </p:nvSpPr>
        <p:spPr>
          <a:xfrm>
            <a:off x="9791700" y="4014526"/>
            <a:ext cx="8298300" cy="552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450"/>
              <a:buFont typeface="Arial"/>
              <a:buNone/>
            </a:pPr>
            <a:r>
              <a:rPr b="1" i="0" lang="en-US" sz="3750" u="none" cap="none" strike="noStrike">
                <a:solidFill>
                  <a:srgbClr val="1F2937"/>
                </a:solidFill>
                <a:latin typeface="Arial"/>
                <a:ea typeface="Arial"/>
                <a:cs typeface="Arial"/>
                <a:sym typeface="Arial"/>
              </a:rPr>
              <a:t>Lista aberta, sem critério de parada.</a:t>
            </a:r>
            <a:endParaRPr b="0" i="0" sz="3750" u="none" cap="none" strike="noStrike">
              <a:solidFill>
                <a:schemeClr val="dk1"/>
              </a:solidFill>
              <a:latin typeface="Calibri"/>
              <a:ea typeface="Calibri"/>
              <a:cs typeface="Calibri"/>
              <a:sym typeface="Calibri"/>
            </a:endParaRPr>
          </a:p>
        </p:txBody>
      </p:sp>
      <p:sp>
        <p:nvSpPr>
          <p:cNvPr id="650" name="Google Shape;650;g3f88e45ce95_0_45"/>
          <p:cNvSpPr/>
          <p:nvPr/>
        </p:nvSpPr>
        <p:spPr>
          <a:xfrm>
            <a:off x="9791700" y="4776548"/>
            <a:ext cx="7770000" cy="1653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3000"/>
              <a:buFont typeface="Arial"/>
              <a:buNone/>
            </a:pPr>
            <a:r>
              <a:rPr b="0" i="0" lang="en-US" sz="3300" u="none" cap="none" strike="noStrike">
                <a:solidFill>
                  <a:srgbClr val="6B7280"/>
                </a:solidFill>
                <a:latin typeface="Arial"/>
                <a:ea typeface="Arial"/>
                <a:cs typeface="Arial"/>
                <a:sym typeface="Arial"/>
              </a:rPr>
              <a:t>Dezenas de itens heterogêneos: </a:t>
            </a:r>
            <a:r>
              <a:rPr b="1" i="0" lang="en-US" sz="3300" u="none" cap="none" strike="noStrike">
                <a:solidFill>
                  <a:srgbClr val="6B7280"/>
                </a:solidFill>
              </a:rPr>
              <a:t>CVE</a:t>
            </a:r>
            <a:r>
              <a:rPr b="0" i="0" lang="en-US" sz="3300" u="none" cap="none" strike="noStrike">
                <a:solidFill>
                  <a:srgbClr val="6B7280"/>
                </a:solidFill>
                <a:latin typeface="Arial"/>
                <a:ea typeface="Arial"/>
                <a:cs typeface="Arial"/>
                <a:sym typeface="Arial"/>
              </a:rPr>
              <a:t>, </a:t>
            </a:r>
            <a:r>
              <a:rPr b="1" i="0" lang="en-US" sz="3300" u="none" cap="none" strike="noStrike">
                <a:solidFill>
                  <a:srgbClr val="6B7280"/>
                </a:solidFill>
              </a:rPr>
              <a:t>URL</a:t>
            </a:r>
            <a:r>
              <a:rPr b="0" i="0" lang="en-US" sz="3300" u="none" cap="none" strike="noStrike">
                <a:solidFill>
                  <a:srgbClr val="6B7280"/>
                </a:solidFill>
                <a:latin typeface="Arial"/>
                <a:ea typeface="Arial"/>
                <a:cs typeface="Arial"/>
                <a:sym typeface="Arial"/>
              </a:rPr>
              <a:t> de changelog, </a:t>
            </a:r>
            <a:r>
              <a:rPr b="1" i="0" lang="en-US" sz="3300" u="none" cap="none" strike="noStrike">
                <a:solidFill>
                  <a:srgbClr val="6B7280"/>
                </a:solidFill>
              </a:rPr>
              <a:t>advisory</a:t>
            </a:r>
            <a:r>
              <a:rPr b="0" i="0" lang="en-US" sz="3300" u="none" cap="none" strike="noStrike">
                <a:solidFill>
                  <a:srgbClr val="6B7280"/>
                </a:solidFill>
                <a:latin typeface="Arial"/>
                <a:ea typeface="Arial"/>
                <a:cs typeface="Arial"/>
                <a:sym typeface="Arial"/>
              </a:rPr>
              <a:t>, </a:t>
            </a:r>
            <a:r>
              <a:rPr b="1" i="0" lang="en-US" sz="3300" u="none" cap="none" strike="noStrike">
                <a:solidFill>
                  <a:srgbClr val="6B7280"/>
                </a:solidFill>
              </a:rPr>
              <a:t>cert-bund</a:t>
            </a:r>
            <a:r>
              <a:rPr b="0" i="0" lang="en-US" sz="3300" u="none" cap="none" strike="noStrike">
                <a:solidFill>
                  <a:srgbClr val="6B7280"/>
                </a:solidFill>
                <a:latin typeface="Arial"/>
                <a:ea typeface="Arial"/>
                <a:cs typeface="Arial"/>
                <a:sym typeface="Arial"/>
              </a:rPr>
              <a:t>, </a:t>
            </a:r>
            <a:r>
              <a:rPr b="1" i="0" lang="en-US" sz="3300" u="none" cap="none" strike="noStrike">
                <a:solidFill>
                  <a:srgbClr val="6B7280"/>
                </a:solidFill>
              </a:rPr>
              <a:t>dfn-cert</a:t>
            </a:r>
            <a:r>
              <a:rPr b="0" i="0" lang="en-US" sz="3300" u="none" cap="none" strike="noStrike">
                <a:solidFill>
                  <a:srgbClr val="6B7280"/>
                </a:solidFill>
                <a:latin typeface="Arial"/>
                <a:ea typeface="Arial"/>
                <a:cs typeface="Arial"/>
                <a:sym typeface="Arial"/>
              </a:rPr>
              <a:t>.</a:t>
            </a:r>
            <a:endParaRPr b="0" i="0" sz="3300" u="none" cap="none" strike="noStrike">
              <a:solidFill>
                <a:schemeClr val="dk1"/>
              </a:solidFill>
              <a:latin typeface="Calibri"/>
              <a:ea typeface="Calibri"/>
              <a:cs typeface="Calibri"/>
              <a:sym typeface="Calibri"/>
            </a:endParaRPr>
          </a:p>
        </p:txBody>
      </p:sp>
      <p:sp>
        <p:nvSpPr>
          <p:cNvPr id="651" name="Google Shape;651;g3f88e45ce95_0_45"/>
          <p:cNvSpPr/>
          <p:nvPr/>
        </p:nvSpPr>
        <p:spPr>
          <a:xfrm>
            <a:off x="9791700" y="6539012"/>
            <a:ext cx="7543800" cy="192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652" name="Google Shape;652;g3f88e45ce95_0_45"/>
          <p:cNvSpPr/>
          <p:nvPr/>
        </p:nvSpPr>
        <p:spPr>
          <a:xfrm>
            <a:off x="9791700" y="6748562"/>
            <a:ext cx="7770000" cy="781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550"/>
              <a:buFont typeface="Arial"/>
              <a:buNone/>
            </a:pPr>
            <a:r>
              <a:rPr b="0" i="0" lang="en-US" sz="2850" u="none" cap="none" strike="noStrike">
                <a:solidFill>
                  <a:srgbClr val="6B7280"/>
                </a:solidFill>
                <a:latin typeface="Arial"/>
                <a:ea typeface="Arial"/>
                <a:cs typeface="Arial"/>
                <a:sym typeface="Arial"/>
              </a:rPr>
              <a:t>A métrica só conta omissão quando o campo sai vazio; lista incompleta não é penalizada.</a:t>
            </a:r>
            <a:endParaRPr b="0" i="0" sz="2850" u="none" cap="none" strike="noStrike">
              <a:solidFill>
                <a:schemeClr val="dk1"/>
              </a:solidFill>
              <a:latin typeface="Calibri"/>
              <a:ea typeface="Calibri"/>
              <a:cs typeface="Calibri"/>
              <a:sym typeface="Calibri"/>
            </a:endParaRPr>
          </a:p>
        </p:txBody>
      </p:sp>
      <p:sp>
        <p:nvSpPr>
          <p:cNvPr id="653" name="Google Shape;653;g3f88e45ce95_0_45"/>
          <p:cNvSpPr/>
          <p:nvPr/>
        </p:nvSpPr>
        <p:spPr>
          <a:xfrm>
            <a:off x="952500" y="9658350"/>
            <a:ext cx="62724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654" name="Google Shape;654;g3f88e45ce95_0_45"/>
          <p:cNvPicPr preferRelativeResize="0"/>
          <p:nvPr/>
        </p:nvPicPr>
        <p:blipFill rotWithShape="1">
          <a:blip r:embed="rId4">
            <a:alphaModFix/>
          </a:blip>
          <a:srcRect b="0" l="0" r="0" t="0"/>
          <a:stretch/>
        </p:blipFill>
        <p:spPr>
          <a:xfrm>
            <a:off x="14244935" y="9629775"/>
            <a:ext cx="1558826" cy="381000"/>
          </a:xfrm>
          <a:prstGeom prst="rect">
            <a:avLst/>
          </a:prstGeom>
          <a:noFill/>
          <a:ln>
            <a:noFill/>
          </a:ln>
        </p:spPr>
      </p:pic>
      <p:pic>
        <p:nvPicPr>
          <p:cNvPr descr="preencoded.png" id="655" name="Google Shape;655;g3f88e45ce95_0_45"/>
          <p:cNvPicPr preferRelativeResize="0"/>
          <p:nvPr/>
        </p:nvPicPr>
        <p:blipFill rotWithShape="1">
          <a:blip r:embed="rId5">
            <a:alphaModFix/>
          </a:blip>
          <a:srcRect b="0" l="0" r="0" t="0"/>
          <a:stretch/>
        </p:blipFill>
        <p:spPr>
          <a:xfrm>
            <a:off x="16032361" y="9610725"/>
            <a:ext cx="636389" cy="419100"/>
          </a:xfrm>
          <a:prstGeom prst="rect">
            <a:avLst/>
          </a:prstGeom>
          <a:noFill/>
          <a:ln>
            <a:noFill/>
          </a:ln>
        </p:spPr>
      </p:pic>
      <p:pic>
        <p:nvPicPr>
          <p:cNvPr descr="preencoded.png" id="656" name="Google Shape;656;g3f88e45ce95_0_45"/>
          <p:cNvPicPr preferRelativeResize="0"/>
          <p:nvPr/>
        </p:nvPicPr>
        <p:blipFill rotWithShape="1">
          <a:blip r:embed="rId6">
            <a:alphaModFix/>
          </a:blip>
          <a:srcRect b="0" l="0" r="0" t="0"/>
          <a:stretch/>
        </p:blipFill>
        <p:spPr>
          <a:xfrm>
            <a:off x="16897350" y="9601200"/>
            <a:ext cx="438150" cy="438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1" name="Shape 661"/>
        <p:cNvGrpSpPr/>
        <p:nvPr/>
      </p:nvGrpSpPr>
      <p:grpSpPr>
        <a:xfrm>
          <a:off x="0" y="0"/>
          <a:ext cx="0" cy="0"/>
          <a:chOff x="0" y="0"/>
          <a:chExt cx="0" cy="0"/>
        </a:xfrm>
      </p:grpSpPr>
      <p:sp>
        <p:nvSpPr>
          <p:cNvPr id="662" name="Google Shape;662;g3f88e45ce95_0_66"/>
          <p:cNvSpPr/>
          <p:nvPr/>
        </p:nvSpPr>
        <p:spPr>
          <a:xfrm>
            <a:off x="952500" y="762000"/>
            <a:ext cx="17367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663" name="Google Shape;663;g3f88e45ce95_0_66"/>
          <p:cNvSpPr/>
          <p:nvPr/>
        </p:nvSpPr>
        <p:spPr>
          <a:xfrm>
            <a:off x="952500" y="1209675"/>
            <a:ext cx="3442800" cy="676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Log Method</a:t>
            </a:r>
            <a:endParaRPr b="0" i="0" sz="4350" u="none" cap="none" strike="noStrike">
              <a:solidFill>
                <a:schemeClr val="dk1"/>
              </a:solidFill>
              <a:latin typeface="Calibri"/>
              <a:ea typeface="Calibri"/>
              <a:cs typeface="Calibri"/>
              <a:sym typeface="Calibri"/>
            </a:endParaRPr>
          </a:p>
        </p:txBody>
      </p:sp>
      <p:sp>
        <p:nvSpPr>
          <p:cNvPr id="664" name="Google Shape;664;g3f88e45ce95_0_66"/>
          <p:cNvSpPr/>
          <p:nvPr/>
        </p:nvSpPr>
        <p:spPr>
          <a:xfrm>
            <a:off x="4329857" y="1266825"/>
            <a:ext cx="2904900" cy="523800"/>
          </a:xfrm>
          <a:prstGeom prst="roundRect">
            <a:avLst>
              <a:gd fmla="val 50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g3f88e45ce95_0_66"/>
          <p:cNvSpPr/>
          <p:nvPr/>
        </p:nvSpPr>
        <p:spPr>
          <a:xfrm>
            <a:off x="4558457" y="1343025"/>
            <a:ext cx="2535000" cy="409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37–57% omitido</a:t>
            </a:r>
            <a:endParaRPr b="0" i="0" sz="2550" u="none" cap="none" strike="noStrike">
              <a:solidFill>
                <a:schemeClr val="dk1"/>
              </a:solidFill>
              <a:latin typeface="Calibri"/>
              <a:ea typeface="Calibri"/>
              <a:cs typeface="Calibri"/>
              <a:sym typeface="Calibri"/>
            </a:endParaRPr>
          </a:p>
        </p:txBody>
      </p:sp>
      <p:sp>
        <p:nvSpPr>
          <p:cNvPr id="666" name="Google Shape;666;g3f88e45ce95_0_66"/>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3f88e45ce95_0_66"/>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29</a:t>
            </a:r>
            <a:endParaRPr b="0" i="0" sz="2400" u="none" cap="none" strike="noStrike">
              <a:solidFill>
                <a:schemeClr val="dk1"/>
              </a:solidFill>
              <a:latin typeface="Calibri"/>
              <a:ea typeface="Calibri"/>
              <a:cs typeface="Calibri"/>
              <a:sym typeface="Calibri"/>
            </a:endParaRPr>
          </a:p>
        </p:txBody>
      </p:sp>
      <p:sp>
        <p:nvSpPr>
          <p:cNvPr id="668" name="Google Shape;668;g3f88e45ce95_0_66"/>
          <p:cNvSpPr/>
          <p:nvPr/>
        </p:nvSpPr>
        <p:spPr>
          <a:xfrm>
            <a:off x="1695450" y="2320230"/>
            <a:ext cx="14897100" cy="4960500"/>
          </a:xfrm>
          <a:prstGeom prst="roundRect">
            <a:avLst>
              <a:gd fmla="val 2304" name="adj"/>
            </a:avLst>
          </a:prstGeom>
          <a:noFill/>
          <a:ln cap="flat" cmpd="sng" w="1905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9" name="Google Shape;669;g3f88e45ce95_0_66"/>
          <p:cNvPicPr preferRelativeResize="0"/>
          <p:nvPr/>
        </p:nvPicPr>
        <p:blipFill rotWithShape="1">
          <a:blip r:embed="rId3">
            <a:alphaModFix/>
          </a:blip>
          <a:srcRect b="0" l="0" r="0" t="0"/>
          <a:stretch/>
        </p:blipFill>
        <p:spPr>
          <a:xfrm>
            <a:off x="1714500" y="2339280"/>
            <a:ext cx="14859001" cy="4922490"/>
          </a:xfrm>
          <a:prstGeom prst="rect">
            <a:avLst/>
          </a:prstGeom>
          <a:noFill/>
          <a:ln>
            <a:noFill/>
          </a:ln>
        </p:spPr>
      </p:pic>
      <p:sp>
        <p:nvSpPr>
          <p:cNvPr id="670" name="Google Shape;670;g3f88e45ce95_0_66"/>
          <p:cNvSpPr/>
          <p:nvPr/>
        </p:nvSpPr>
        <p:spPr>
          <a:xfrm>
            <a:off x="1714500" y="7661821"/>
            <a:ext cx="16344900" cy="552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450"/>
              <a:buFont typeface="Arial"/>
              <a:buNone/>
            </a:pPr>
            <a:r>
              <a:rPr b="1" i="0" lang="en-US" sz="3850" u="none" cap="none" strike="noStrike">
                <a:solidFill>
                  <a:srgbClr val="1F2937"/>
                </a:solidFill>
                <a:latin typeface="Arial"/>
                <a:ea typeface="Arial"/>
                <a:cs typeface="Arial"/>
                <a:sym typeface="Arial"/>
              </a:rPr>
              <a:t>Campo composto: três valores sob um rótulo.</a:t>
            </a:r>
            <a:endParaRPr b="0" i="0" sz="3850" u="none" cap="none" strike="noStrike">
              <a:solidFill>
                <a:schemeClr val="dk1"/>
              </a:solidFill>
              <a:latin typeface="Calibri"/>
              <a:ea typeface="Calibri"/>
              <a:cs typeface="Calibri"/>
              <a:sym typeface="Calibri"/>
            </a:endParaRPr>
          </a:p>
        </p:txBody>
      </p:sp>
      <p:sp>
        <p:nvSpPr>
          <p:cNvPr id="671" name="Google Shape;671;g3f88e45ce95_0_66"/>
          <p:cNvSpPr/>
          <p:nvPr/>
        </p:nvSpPr>
        <p:spPr>
          <a:xfrm>
            <a:off x="1714500" y="8366671"/>
            <a:ext cx="15304800" cy="89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3000"/>
              <a:buFont typeface="Arial"/>
              <a:buNone/>
            </a:pPr>
            <a:r>
              <a:rPr b="1" i="0" lang="en-US" sz="3400" u="none" cap="none" strike="noStrike">
                <a:solidFill>
                  <a:srgbClr val="6B7280"/>
                </a:solidFill>
              </a:rPr>
              <a:t>Details</a:t>
            </a:r>
            <a:r>
              <a:rPr b="0" i="0" lang="en-US" sz="3400" u="none" cap="none" strike="noStrike">
                <a:solidFill>
                  <a:srgbClr val="6B7280"/>
                </a:solidFill>
                <a:latin typeface="Arial"/>
                <a:ea typeface="Arial"/>
                <a:cs typeface="Arial"/>
                <a:sym typeface="Arial"/>
              </a:rPr>
              <a:t>, </a:t>
            </a:r>
            <a:r>
              <a:rPr b="1" i="0" lang="en-US" sz="3400" u="none" cap="none" strike="noStrike">
                <a:solidFill>
                  <a:srgbClr val="6B7280"/>
                </a:solidFill>
              </a:rPr>
              <a:t>OID </a:t>
            </a:r>
            <a:r>
              <a:rPr b="0" i="0" lang="en-US" sz="3400" u="none" cap="none" strike="noStrike">
                <a:solidFill>
                  <a:srgbClr val="6B7280"/>
                </a:solidFill>
                <a:latin typeface="Arial"/>
                <a:ea typeface="Arial"/>
                <a:cs typeface="Arial"/>
                <a:sym typeface="Arial"/>
              </a:rPr>
              <a:t>e </a:t>
            </a:r>
            <a:r>
              <a:rPr b="1" i="0" lang="en-US" sz="3400" u="none" cap="none" strike="noStrike">
                <a:solidFill>
                  <a:srgbClr val="6B7280"/>
                </a:solidFill>
              </a:rPr>
              <a:t>Version </a:t>
            </a:r>
            <a:r>
              <a:rPr b="0" i="0" lang="en-US" sz="3400" u="none" cap="none" strike="noStrike">
                <a:solidFill>
                  <a:srgbClr val="6B7280"/>
                </a:solidFill>
                <a:latin typeface="Arial"/>
                <a:ea typeface="Arial"/>
                <a:cs typeface="Arial"/>
                <a:sym typeface="Arial"/>
              </a:rPr>
              <a:t>used empilhados.</a:t>
            </a:r>
            <a:endParaRPr b="0" i="0" sz="3400" u="none" cap="none" strike="noStrike">
              <a:solidFill>
                <a:schemeClr val="dk1"/>
              </a:solidFill>
              <a:latin typeface="Calibri"/>
              <a:ea typeface="Calibri"/>
              <a:cs typeface="Calibri"/>
              <a:sym typeface="Calibri"/>
            </a:endParaRPr>
          </a:p>
        </p:txBody>
      </p:sp>
      <p:pic>
        <p:nvPicPr>
          <p:cNvPr descr="preencoded.png" id="672" name="Google Shape;672;g3f88e45ce95_0_66"/>
          <p:cNvPicPr preferRelativeResize="0"/>
          <p:nvPr/>
        </p:nvPicPr>
        <p:blipFill rotWithShape="1">
          <a:blip r:embed="rId4">
            <a:alphaModFix/>
          </a:blip>
          <a:srcRect b="0" l="0" r="0" t="0"/>
          <a:stretch/>
        </p:blipFill>
        <p:spPr>
          <a:xfrm>
            <a:off x="14244935" y="9629775"/>
            <a:ext cx="1558826" cy="381000"/>
          </a:xfrm>
          <a:prstGeom prst="rect">
            <a:avLst/>
          </a:prstGeom>
          <a:noFill/>
          <a:ln>
            <a:noFill/>
          </a:ln>
        </p:spPr>
      </p:pic>
      <p:pic>
        <p:nvPicPr>
          <p:cNvPr descr="preencoded.png" id="673" name="Google Shape;673;g3f88e45ce95_0_66"/>
          <p:cNvPicPr preferRelativeResize="0"/>
          <p:nvPr/>
        </p:nvPicPr>
        <p:blipFill rotWithShape="1">
          <a:blip r:embed="rId5">
            <a:alphaModFix/>
          </a:blip>
          <a:srcRect b="0" l="0" r="0" t="0"/>
          <a:stretch/>
        </p:blipFill>
        <p:spPr>
          <a:xfrm>
            <a:off x="16032361" y="9610725"/>
            <a:ext cx="636389" cy="419100"/>
          </a:xfrm>
          <a:prstGeom prst="rect">
            <a:avLst/>
          </a:prstGeom>
          <a:noFill/>
          <a:ln>
            <a:noFill/>
          </a:ln>
        </p:spPr>
      </p:pic>
      <p:pic>
        <p:nvPicPr>
          <p:cNvPr descr="preencoded.png" id="674" name="Google Shape;674;g3f88e45ce95_0_66"/>
          <p:cNvPicPr preferRelativeResize="0"/>
          <p:nvPr/>
        </p:nvPicPr>
        <p:blipFill rotWithShape="1">
          <a:blip r:embed="rId6">
            <a:alphaModFix/>
          </a:blip>
          <a:srcRect b="0" l="0" r="0" t="0"/>
          <a:stretch/>
        </p:blipFill>
        <p:spPr>
          <a:xfrm>
            <a:off x="16897350" y="9601200"/>
            <a:ext cx="438150" cy="438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9" name="Shape 679"/>
        <p:cNvGrpSpPr/>
        <p:nvPr/>
      </p:nvGrpSpPr>
      <p:grpSpPr>
        <a:xfrm>
          <a:off x="0" y="0"/>
          <a:ext cx="0" cy="0"/>
          <a:chOff x="0" y="0"/>
          <a:chExt cx="0" cy="0"/>
        </a:xfrm>
      </p:grpSpPr>
      <p:sp>
        <p:nvSpPr>
          <p:cNvPr id="680" name="Google Shape;680;g3f88e45ce95_0_84"/>
          <p:cNvSpPr/>
          <p:nvPr/>
        </p:nvSpPr>
        <p:spPr>
          <a:xfrm>
            <a:off x="952500" y="762000"/>
            <a:ext cx="17367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681" name="Google Shape;681;g3f88e45ce95_0_84"/>
          <p:cNvSpPr/>
          <p:nvPr/>
        </p:nvSpPr>
        <p:spPr>
          <a:xfrm>
            <a:off x="952500" y="1209675"/>
            <a:ext cx="6989400" cy="676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350"/>
              <a:buFont typeface="Arial"/>
              <a:buNone/>
            </a:pPr>
            <a:r>
              <a:rPr b="1" i="0" lang="en-US" sz="4350" u="none" cap="none" strike="noStrike">
                <a:solidFill>
                  <a:srgbClr val="0F2369"/>
                </a:solidFill>
                <a:latin typeface="Arial"/>
                <a:ea typeface="Arial"/>
                <a:cs typeface="Arial"/>
                <a:sym typeface="Arial"/>
              </a:rPr>
              <a:t>Product detection result</a:t>
            </a:r>
            <a:endParaRPr b="0" i="0" sz="4350" u="none" cap="none" strike="noStrike">
              <a:solidFill>
                <a:schemeClr val="dk1"/>
              </a:solidFill>
              <a:latin typeface="Calibri"/>
              <a:ea typeface="Calibri"/>
              <a:cs typeface="Calibri"/>
              <a:sym typeface="Calibri"/>
            </a:endParaRPr>
          </a:p>
        </p:txBody>
      </p:sp>
      <p:sp>
        <p:nvSpPr>
          <p:cNvPr id="682" name="Google Shape;682;g3f88e45ce95_0_84"/>
          <p:cNvSpPr/>
          <p:nvPr/>
        </p:nvSpPr>
        <p:spPr>
          <a:xfrm>
            <a:off x="7554218" y="1266825"/>
            <a:ext cx="2904900" cy="523800"/>
          </a:xfrm>
          <a:prstGeom prst="roundRect">
            <a:avLst>
              <a:gd fmla="val 50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g3f88e45ce95_0_84"/>
          <p:cNvSpPr/>
          <p:nvPr/>
        </p:nvSpPr>
        <p:spPr>
          <a:xfrm>
            <a:off x="7782818" y="1343025"/>
            <a:ext cx="2535000" cy="409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21–29% omitido</a:t>
            </a:r>
            <a:endParaRPr b="0" i="0" sz="2550" u="none" cap="none" strike="noStrike">
              <a:solidFill>
                <a:schemeClr val="dk1"/>
              </a:solidFill>
              <a:latin typeface="Calibri"/>
              <a:ea typeface="Calibri"/>
              <a:cs typeface="Calibri"/>
              <a:sym typeface="Calibri"/>
            </a:endParaRPr>
          </a:p>
        </p:txBody>
      </p:sp>
      <p:sp>
        <p:nvSpPr>
          <p:cNvPr id="684" name="Google Shape;684;g3f88e45ce95_0_84"/>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g3f88e45ce95_0_84"/>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3</a:t>
            </a:r>
            <a:r>
              <a:rPr lang="en-US" sz="2400">
                <a:solidFill>
                  <a:srgbClr val="6B7280"/>
                </a:solidFill>
              </a:rPr>
              <a:t>0</a:t>
            </a:r>
            <a:endParaRPr b="0" i="0" sz="2400" u="none" cap="none" strike="noStrike">
              <a:solidFill>
                <a:schemeClr val="dk1"/>
              </a:solidFill>
              <a:latin typeface="Calibri"/>
              <a:ea typeface="Calibri"/>
              <a:cs typeface="Calibri"/>
              <a:sym typeface="Calibri"/>
            </a:endParaRPr>
          </a:p>
        </p:txBody>
      </p:sp>
      <p:sp>
        <p:nvSpPr>
          <p:cNvPr id="686" name="Google Shape;686;g3f88e45ce95_0_84"/>
          <p:cNvSpPr/>
          <p:nvPr/>
        </p:nvSpPr>
        <p:spPr>
          <a:xfrm>
            <a:off x="1695450" y="3709839"/>
            <a:ext cx="14897100" cy="2181300"/>
          </a:xfrm>
          <a:prstGeom prst="roundRect">
            <a:avLst>
              <a:gd fmla="val 5240" name="adj"/>
            </a:avLst>
          </a:prstGeom>
          <a:noFill/>
          <a:ln cap="flat" cmpd="sng" w="1905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7" name="Google Shape;687;g3f88e45ce95_0_84"/>
          <p:cNvPicPr preferRelativeResize="0"/>
          <p:nvPr/>
        </p:nvPicPr>
        <p:blipFill rotWithShape="1">
          <a:blip r:embed="rId3">
            <a:alphaModFix/>
          </a:blip>
          <a:srcRect b="0" l="0" r="0" t="0"/>
          <a:stretch/>
        </p:blipFill>
        <p:spPr>
          <a:xfrm>
            <a:off x="1714500" y="3728889"/>
            <a:ext cx="14859000" cy="2143274"/>
          </a:xfrm>
          <a:prstGeom prst="rect">
            <a:avLst/>
          </a:prstGeom>
          <a:noFill/>
          <a:ln>
            <a:noFill/>
          </a:ln>
        </p:spPr>
      </p:pic>
      <p:sp>
        <p:nvSpPr>
          <p:cNvPr id="688" name="Google Shape;688;g3f88e45ce95_0_84"/>
          <p:cNvSpPr/>
          <p:nvPr/>
        </p:nvSpPr>
        <p:spPr>
          <a:xfrm>
            <a:off x="1714500" y="6272213"/>
            <a:ext cx="16344900" cy="552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450"/>
              <a:buFont typeface="Arial"/>
              <a:buNone/>
            </a:pPr>
            <a:r>
              <a:rPr b="1" i="0" lang="en-US" sz="3650" u="none" cap="none" strike="noStrike">
                <a:solidFill>
                  <a:srgbClr val="1F2937"/>
                </a:solidFill>
                <a:latin typeface="Arial"/>
                <a:ea typeface="Arial"/>
                <a:cs typeface="Arial"/>
                <a:sym typeface="Arial"/>
              </a:rPr>
              <a:t>Mesmo padrão: CPE, texto de detecção </a:t>
            </a:r>
            <a:r>
              <a:rPr b="1" i="0" lang="en-US" sz="3650" u="none" cap="none" strike="noStrike">
                <a:solidFill>
                  <a:srgbClr val="1F2937"/>
                </a:solidFill>
                <a:latin typeface="Arial"/>
                <a:ea typeface="Arial"/>
                <a:cs typeface="Arial"/>
                <a:sym typeface="Arial"/>
              </a:rPr>
              <a:t>e</a:t>
            </a:r>
            <a:r>
              <a:rPr b="1" i="0" lang="en-US" sz="3650" u="none" cap="none" strike="noStrike">
                <a:solidFill>
                  <a:srgbClr val="1F2937"/>
                </a:solidFill>
                <a:latin typeface="Arial"/>
                <a:ea typeface="Arial"/>
                <a:cs typeface="Arial"/>
                <a:sym typeface="Arial"/>
              </a:rPr>
              <a:t> OID </a:t>
            </a:r>
            <a:r>
              <a:rPr b="1" i="0" lang="en-US" sz="3650" u="none" cap="none" strike="noStrike">
                <a:solidFill>
                  <a:srgbClr val="1F2937"/>
                </a:solidFill>
                <a:latin typeface="Arial"/>
                <a:ea typeface="Arial"/>
                <a:cs typeface="Arial"/>
                <a:sym typeface="Arial"/>
              </a:rPr>
              <a:t>juntos</a:t>
            </a:r>
            <a:r>
              <a:rPr b="1" i="0" lang="en-US" sz="3650" u="none" cap="none" strike="noStrike">
                <a:solidFill>
                  <a:srgbClr val="1F2937"/>
                </a:solidFill>
                <a:latin typeface="Arial"/>
                <a:ea typeface="Arial"/>
                <a:cs typeface="Arial"/>
                <a:sym typeface="Arial"/>
              </a:rPr>
              <a:t>.</a:t>
            </a:r>
            <a:endParaRPr b="0" i="0" sz="3650" u="none" cap="none" strike="noStrike">
              <a:solidFill>
                <a:schemeClr val="dk1"/>
              </a:solidFill>
              <a:latin typeface="Calibri"/>
              <a:ea typeface="Calibri"/>
              <a:cs typeface="Calibri"/>
              <a:sym typeface="Calibri"/>
            </a:endParaRPr>
          </a:p>
        </p:txBody>
      </p:sp>
      <p:sp>
        <p:nvSpPr>
          <p:cNvPr id="689" name="Google Shape;689;g3f88e45ce95_0_84"/>
          <p:cNvSpPr/>
          <p:nvPr/>
        </p:nvSpPr>
        <p:spPr>
          <a:xfrm>
            <a:off x="952500" y="9658350"/>
            <a:ext cx="62724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690" name="Google Shape;690;g3f88e45ce95_0_84"/>
          <p:cNvPicPr preferRelativeResize="0"/>
          <p:nvPr/>
        </p:nvPicPr>
        <p:blipFill rotWithShape="1">
          <a:blip r:embed="rId4">
            <a:alphaModFix/>
          </a:blip>
          <a:srcRect b="0" l="0" r="0" t="0"/>
          <a:stretch/>
        </p:blipFill>
        <p:spPr>
          <a:xfrm>
            <a:off x="14244935" y="9629775"/>
            <a:ext cx="1558826" cy="381000"/>
          </a:xfrm>
          <a:prstGeom prst="rect">
            <a:avLst/>
          </a:prstGeom>
          <a:noFill/>
          <a:ln>
            <a:noFill/>
          </a:ln>
        </p:spPr>
      </p:pic>
      <p:pic>
        <p:nvPicPr>
          <p:cNvPr descr="preencoded.png" id="691" name="Google Shape;691;g3f88e45ce95_0_84"/>
          <p:cNvPicPr preferRelativeResize="0"/>
          <p:nvPr/>
        </p:nvPicPr>
        <p:blipFill rotWithShape="1">
          <a:blip r:embed="rId5">
            <a:alphaModFix/>
          </a:blip>
          <a:srcRect b="0" l="0" r="0" t="0"/>
          <a:stretch/>
        </p:blipFill>
        <p:spPr>
          <a:xfrm>
            <a:off x="16032361" y="9610725"/>
            <a:ext cx="636389" cy="419100"/>
          </a:xfrm>
          <a:prstGeom prst="rect">
            <a:avLst/>
          </a:prstGeom>
          <a:noFill/>
          <a:ln>
            <a:noFill/>
          </a:ln>
        </p:spPr>
      </p:pic>
      <p:pic>
        <p:nvPicPr>
          <p:cNvPr descr="preencoded.png" id="692" name="Google Shape;692;g3f88e45ce95_0_84"/>
          <p:cNvPicPr preferRelativeResize="0"/>
          <p:nvPr/>
        </p:nvPicPr>
        <p:blipFill rotWithShape="1">
          <a:blip r:embed="rId6">
            <a:alphaModFix/>
          </a:blip>
          <a:srcRect b="0" l="0" r="0" t="0"/>
          <a:stretch/>
        </p:blipFill>
        <p:spPr>
          <a:xfrm>
            <a:off x="16897350" y="9601200"/>
            <a:ext cx="438150" cy="438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7" name="Shape 697"/>
        <p:cNvGrpSpPr/>
        <p:nvPr/>
      </p:nvGrpSpPr>
      <p:grpSpPr>
        <a:xfrm>
          <a:off x="0" y="0"/>
          <a:ext cx="0" cy="0"/>
          <a:chOff x="0" y="0"/>
          <a:chExt cx="0" cy="0"/>
        </a:xfrm>
      </p:grpSpPr>
      <p:sp>
        <p:nvSpPr>
          <p:cNvPr id="698" name="Google Shape;698;g3f88e45ce95_0_779"/>
          <p:cNvSpPr/>
          <p:nvPr/>
        </p:nvSpPr>
        <p:spPr>
          <a:xfrm>
            <a:off x="1333500" y="7620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699" name="Google Shape;699;g3f88e45ce95_0_779"/>
          <p:cNvSpPr/>
          <p:nvPr/>
        </p:nvSpPr>
        <p:spPr>
          <a:xfrm>
            <a:off x="1333500" y="1247775"/>
            <a:ext cx="17183100" cy="69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500"/>
              <a:buFont typeface="Arial"/>
              <a:buNone/>
            </a:pPr>
            <a:r>
              <a:rPr b="1" i="0" lang="en-US" sz="4500" u="none" cap="none" strike="noStrike">
                <a:solidFill>
                  <a:srgbClr val="0F2369"/>
                </a:solidFill>
                <a:latin typeface="Arial"/>
                <a:ea typeface="Arial"/>
                <a:cs typeface="Arial"/>
                <a:sym typeface="Arial"/>
              </a:rPr>
              <a:t>O que explica a variação entre modelos</a:t>
            </a:r>
            <a:endParaRPr b="0" i="0" sz="4500" u="none" cap="none" strike="noStrike">
              <a:solidFill>
                <a:schemeClr val="dk1"/>
              </a:solidFill>
              <a:latin typeface="Calibri"/>
              <a:ea typeface="Calibri"/>
              <a:cs typeface="Calibri"/>
              <a:sym typeface="Calibri"/>
            </a:endParaRPr>
          </a:p>
        </p:txBody>
      </p:sp>
      <p:sp>
        <p:nvSpPr>
          <p:cNvPr id="700" name="Google Shape;700;g3f88e45ce95_0_779"/>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g3f88e45ce95_0_779"/>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3</a:t>
            </a:r>
            <a:r>
              <a:rPr lang="en-US" sz="2400">
                <a:solidFill>
                  <a:srgbClr val="6B7280"/>
                </a:solidFill>
              </a:rPr>
              <a:t>1</a:t>
            </a:r>
            <a:endParaRPr b="0" i="0" sz="2400" u="none" cap="none" strike="noStrike">
              <a:solidFill>
                <a:schemeClr val="dk1"/>
              </a:solidFill>
              <a:latin typeface="Calibri"/>
              <a:ea typeface="Calibri"/>
              <a:cs typeface="Calibri"/>
              <a:sym typeface="Calibri"/>
            </a:endParaRPr>
          </a:p>
        </p:txBody>
      </p:sp>
      <p:sp>
        <p:nvSpPr>
          <p:cNvPr id="702" name="Google Shape;702;g3f88e45ce95_0_779"/>
          <p:cNvSpPr/>
          <p:nvPr/>
        </p:nvSpPr>
        <p:spPr>
          <a:xfrm>
            <a:off x="1333500" y="2376488"/>
            <a:ext cx="7724700" cy="2610000"/>
          </a:xfrm>
          <a:prstGeom prst="roundRect">
            <a:avLst>
              <a:gd fmla="val 5839"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g3f88e45ce95_0_779"/>
          <p:cNvSpPr/>
          <p:nvPr/>
        </p:nvSpPr>
        <p:spPr>
          <a:xfrm>
            <a:off x="1657350" y="2724150"/>
            <a:ext cx="114300" cy="381000"/>
          </a:xfrm>
          <a:prstGeom prst="roundRect">
            <a:avLst>
              <a:gd fmla="val 5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g3f88e45ce95_0_779"/>
          <p:cNvSpPr/>
          <p:nvPr/>
        </p:nvSpPr>
        <p:spPr>
          <a:xfrm>
            <a:off x="1924050" y="2681288"/>
            <a:ext cx="40806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225"/>
              <a:buFont typeface="Arial"/>
              <a:buNone/>
            </a:pPr>
            <a:r>
              <a:rPr b="1" i="0" lang="en-US" sz="3225" u="none" cap="none" strike="noStrike">
                <a:solidFill>
                  <a:srgbClr val="0F2369"/>
                </a:solidFill>
                <a:latin typeface="Arial"/>
                <a:ea typeface="Arial"/>
                <a:cs typeface="Arial"/>
                <a:sym typeface="Arial"/>
              </a:rPr>
              <a:t>Adesão ao formato</a:t>
            </a:r>
            <a:endParaRPr b="0" i="0" sz="3225" u="none" cap="none" strike="noStrike">
              <a:solidFill>
                <a:schemeClr val="dk1"/>
              </a:solidFill>
              <a:latin typeface="Calibri"/>
              <a:ea typeface="Calibri"/>
              <a:cs typeface="Calibri"/>
              <a:sym typeface="Calibri"/>
            </a:endParaRPr>
          </a:p>
        </p:txBody>
      </p:sp>
      <p:sp>
        <p:nvSpPr>
          <p:cNvPr id="705" name="Google Shape;705;g3f88e45ce95_0_779"/>
          <p:cNvSpPr/>
          <p:nvPr/>
        </p:nvSpPr>
        <p:spPr>
          <a:xfrm>
            <a:off x="1657350" y="3281363"/>
            <a:ext cx="7289400" cy="971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Gemma 4 conforma em 64,8%: JSON inválido vira omissão.</a:t>
            </a:r>
            <a:endParaRPr b="0" i="0" sz="3225" u="none" cap="none" strike="noStrike">
              <a:solidFill>
                <a:schemeClr val="dk1"/>
              </a:solidFill>
              <a:latin typeface="Calibri"/>
              <a:ea typeface="Calibri"/>
              <a:cs typeface="Calibri"/>
              <a:sym typeface="Calibri"/>
            </a:endParaRPr>
          </a:p>
        </p:txBody>
      </p:sp>
      <p:sp>
        <p:nvSpPr>
          <p:cNvPr id="706" name="Google Shape;706;g3f88e45ce95_0_779"/>
          <p:cNvSpPr/>
          <p:nvPr/>
        </p:nvSpPr>
        <p:spPr>
          <a:xfrm>
            <a:off x="9229725" y="2376488"/>
            <a:ext cx="7724700" cy="2610000"/>
          </a:xfrm>
          <a:prstGeom prst="roundRect">
            <a:avLst>
              <a:gd fmla="val 5839"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g3f88e45ce95_0_779"/>
          <p:cNvSpPr/>
          <p:nvPr/>
        </p:nvSpPr>
        <p:spPr>
          <a:xfrm>
            <a:off x="9553575" y="2724150"/>
            <a:ext cx="114300" cy="381000"/>
          </a:xfrm>
          <a:prstGeom prst="roundRect">
            <a:avLst>
              <a:gd fmla="val 50000" name="adj"/>
            </a:avLst>
          </a:prstGeom>
          <a:solidFill>
            <a:srgbClr val="127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g3f88e45ce95_0_779"/>
          <p:cNvSpPr/>
          <p:nvPr/>
        </p:nvSpPr>
        <p:spPr>
          <a:xfrm>
            <a:off x="9820275" y="2681288"/>
            <a:ext cx="68097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225"/>
              <a:buFont typeface="Arial"/>
              <a:buNone/>
            </a:pPr>
            <a:r>
              <a:rPr b="1" i="0" lang="en-US" sz="3225" u="none" cap="none" strike="noStrike">
                <a:solidFill>
                  <a:srgbClr val="0F2369"/>
                </a:solidFill>
                <a:latin typeface="Arial"/>
                <a:ea typeface="Arial"/>
                <a:cs typeface="Arial"/>
                <a:sym typeface="Arial"/>
              </a:rPr>
              <a:t>Um registro por vulnerabilidade</a:t>
            </a:r>
            <a:endParaRPr b="0" i="0" sz="3225" u="none" cap="none" strike="noStrike">
              <a:solidFill>
                <a:schemeClr val="dk1"/>
              </a:solidFill>
              <a:latin typeface="Calibri"/>
              <a:ea typeface="Calibri"/>
              <a:cs typeface="Calibri"/>
              <a:sym typeface="Calibri"/>
            </a:endParaRPr>
          </a:p>
        </p:txBody>
      </p:sp>
      <p:sp>
        <p:nvSpPr>
          <p:cNvPr id="709" name="Google Shape;709;g3f88e45ce95_0_779"/>
          <p:cNvSpPr/>
          <p:nvPr/>
        </p:nvSpPr>
        <p:spPr>
          <a:xfrm>
            <a:off x="9553575" y="3281363"/>
            <a:ext cx="72894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Se o bloco tem 5 vulnerabilidades e o modelo devolve 1, as outras 4 contam como omissão.</a:t>
            </a:r>
            <a:endParaRPr b="0" i="0" sz="3225" u="none" cap="none" strike="noStrike">
              <a:solidFill>
                <a:schemeClr val="dk1"/>
              </a:solidFill>
              <a:latin typeface="Calibri"/>
              <a:ea typeface="Calibri"/>
              <a:cs typeface="Calibri"/>
              <a:sym typeface="Calibri"/>
            </a:endParaRPr>
          </a:p>
        </p:txBody>
      </p:sp>
      <p:sp>
        <p:nvSpPr>
          <p:cNvPr id="710" name="Google Shape;710;g3f88e45ce95_0_779"/>
          <p:cNvSpPr/>
          <p:nvPr/>
        </p:nvSpPr>
        <p:spPr>
          <a:xfrm>
            <a:off x="1333500" y="5157788"/>
            <a:ext cx="7724700" cy="2610000"/>
          </a:xfrm>
          <a:prstGeom prst="roundRect">
            <a:avLst>
              <a:gd fmla="val 5839"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g3f88e45ce95_0_779"/>
          <p:cNvSpPr/>
          <p:nvPr/>
        </p:nvSpPr>
        <p:spPr>
          <a:xfrm>
            <a:off x="1657350" y="5505450"/>
            <a:ext cx="114300" cy="381000"/>
          </a:xfrm>
          <a:prstGeom prst="roundRect">
            <a:avLst>
              <a:gd fmla="val 50000"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g3f88e45ce95_0_779"/>
          <p:cNvSpPr/>
          <p:nvPr/>
        </p:nvSpPr>
        <p:spPr>
          <a:xfrm>
            <a:off x="1924050" y="5462588"/>
            <a:ext cx="67929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225"/>
              <a:buFont typeface="Arial"/>
              <a:buNone/>
            </a:pPr>
            <a:r>
              <a:rPr b="1" i="0" lang="en-US" sz="3225" u="none" cap="none" strike="noStrike">
                <a:solidFill>
                  <a:srgbClr val="0F2369"/>
                </a:solidFill>
                <a:latin typeface="Arial"/>
                <a:ea typeface="Arial"/>
                <a:cs typeface="Arial"/>
                <a:sym typeface="Arial"/>
              </a:rPr>
              <a:t>Vulnerabilidade partida ao meio</a:t>
            </a:r>
            <a:endParaRPr b="0" i="0" sz="3225" u="none" cap="none" strike="noStrike">
              <a:solidFill>
                <a:schemeClr val="dk1"/>
              </a:solidFill>
              <a:latin typeface="Calibri"/>
              <a:ea typeface="Calibri"/>
              <a:cs typeface="Calibri"/>
              <a:sym typeface="Calibri"/>
            </a:endParaRPr>
          </a:p>
        </p:txBody>
      </p:sp>
      <p:sp>
        <p:nvSpPr>
          <p:cNvPr id="713" name="Google Shape;713;g3f88e45ce95_0_779"/>
          <p:cNvSpPr/>
          <p:nvPr/>
        </p:nvSpPr>
        <p:spPr>
          <a:xfrm>
            <a:off x="1657350" y="6062663"/>
            <a:ext cx="72894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Quando o chunk corta um registro, uns reconstroem a partir do contexto e outros descartam.</a:t>
            </a:r>
            <a:endParaRPr b="0" i="0" sz="3225" u="none" cap="none" strike="noStrike">
              <a:solidFill>
                <a:schemeClr val="dk1"/>
              </a:solidFill>
              <a:latin typeface="Calibri"/>
              <a:ea typeface="Calibri"/>
              <a:cs typeface="Calibri"/>
              <a:sym typeface="Calibri"/>
            </a:endParaRPr>
          </a:p>
        </p:txBody>
      </p:sp>
      <p:sp>
        <p:nvSpPr>
          <p:cNvPr id="714" name="Google Shape;714;g3f88e45ce95_0_779"/>
          <p:cNvSpPr/>
          <p:nvPr/>
        </p:nvSpPr>
        <p:spPr>
          <a:xfrm>
            <a:off x="9229725" y="5157788"/>
            <a:ext cx="7724700" cy="2610000"/>
          </a:xfrm>
          <a:prstGeom prst="roundRect">
            <a:avLst>
              <a:gd fmla="val 5839"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g3f88e45ce95_0_779"/>
          <p:cNvSpPr/>
          <p:nvPr/>
        </p:nvSpPr>
        <p:spPr>
          <a:xfrm>
            <a:off x="9553575" y="5505450"/>
            <a:ext cx="114300" cy="381000"/>
          </a:xfrm>
          <a:prstGeom prst="roundRect">
            <a:avLst>
              <a:gd fmla="val 50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g3f88e45ce95_0_779"/>
          <p:cNvSpPr/>
          <p:nvPr/>
        </p:nvSpPr>
        <p:spPr>
          <a:xfrm>
            <a:off x="9820275" y="5462588"/>
            <a:ext cx="30288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225"/>
              <a:buFont typeface="Arial"/>
              <a:buNone/>
            </a:pPr>
            <a:r>
              <a:rPr b="1" i="0" lang="en-US" sz="3225" u="none" cap="none" strike="noStrike">
                <a:solidFill>
                  <a:srgbClr val="0F2369"/>
                </a:solidFill>
                <a:latin typeface="Arial"/>
                <a:ea typeface="Arial"/>
                <a:cs typeface="Arial"/>
                <a:sym typeface="Arial"/>
              </a:rPr>
              <a:t>Modo de falha</a:t>
            </a:r>
            <a:endParaRPr b="0" i="0" sz="3225" u="none" cap="none" strike="noStrike">
              <a:solidFill>
                <a:schemeClr val="dk1"/>
              </a:solidFill>
              <a:latin typeface="Calibri"/>
              <a:ea typeface="Calibri"/>
              <a:cs typeface="Calibri"/>
              <a:sym typeface="Calibri"/>
            </a:endParaRPr>
          </a:p>
        </p:txBody>
      </p:sp>
      <p:sp>
        <p:nvSpPr>
          <p:cNvPr id="717" name="Google Shape;717;g3f88e45ce95_0_779"/>
          <p:cNvSpPr/>
          <p:nvPr/>
        </p:nvSpPr>
        <p:spPr>
          <a:xfrm>
            <a:off x="9553575" y="6062663"/>
            <a:ext cx="72894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Llama 3.1 preenche na dúvida e inventa 17,4%; Gemma e Qwen3 deixam vazio.</a:t>
            </a:r>
            <a:endParaRPr b="0" i="0" sz="3225" u="none" cap="none" strike="noStrike">
              <a:solidFill>
                <a:schemeClr val="dk1"/>
              </a:solidFill>
              <a:latin typeface="Calibri"/>
              <a:ea typeface="Calibri"/>
              <a:cs typeface="Calibri"/>
              <a:sym typeface="Calibri"/>
            </a:endParaRPr>
          </a:p>
        </p:txBody>
      </p:sp>
      <p:sp>
        <p:nvSpPr>
          <p:cNvPr id="718" name="Google Shape;718;g3f88e45ce95_0_779"/>
          <p:cNvSpPr/>
          <p:nvPr/>
        </p:nvSpPr>
        <p:spPr>
          <a:xfrm>
            <a:off x="1333500" y="7939087"/>
            <a:ext cx="15621000" cy="1000200"/>
          </a:xfrm>
          <a:prstGeom prst="roundRect">
            <a:avLst>
              <a:gd fmla="val 15238" name="adj"/>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g3f88e45ce95_0_779"/>
          <p:cNvSpPr/>
          <p:nvPr/>
        </p:nvSpPr>
        <p:spPr>
          <a:xfrm>
            <a:off x="1657350" y="8205788"/>
            <a:ext cx="47310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7A823"/>
              </a:buClr>
              <a:buSzPts val="3225"/>
              <a:buFont typeface="Arial"/>
              <a:buNone/>
            </a:pPr>
            <a:r>
              <a:rPr b="1" i="0" lang="en-US" sz="3225" u="none" cap="none" strike="noStrike">
                <a:solidFill>
                  <a:srgbClr val="F7A823"/>
                </a:solidFill>
                <a:latin typeface="Arial"/>
                <a:ea typeface="Arial"/>
                <a:cs typeface="Arial"/>
                <a:sym typeface="Arial"/>
              </a:rPr>
              <a:t>O tamanho não prediz</a:t>
            </a:r>
            <a:endParaRPr b="0" i="0" sz="3225" u="none" cap="none" strike="noStrike">
              <a:solidFill>
                <a:schemeClr val="dk1"/>
              </a:solidFill>
              <a:latin typeface="Calibri"/>
              <a:ea typeface="Calibri"/>
              <a:cs typeface="Calibri"/>
              <a:sym typeface="Calibri"/>
            </a:endParaRPr>
          </a:p>
        </p:txBody>
      </p:sp>
      <p:sp>
        <p:nvSpPr>
          <p:cNvPr id="720" name="Google Shape;720;g3f88e45ce95_0_779"/>
          <p:cNvSpPr/>
          <p:nvPr/>
        </p:nvSpPr>
        <p:spPr>
          <a:xfrm>
            <a:off x="6205984" y="8205788"/>
            <a:ext cx="100908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0" i="0" lang="en-US" sz="3225" u="none" cap="none" strike="noStrike">
                <a:solidFill>
                  <a:srgbClr val="FFFFFF"/>
                </a:solidFill>
                <a:latin typeface="Arial"/>
                <a:ea typeface="Arial"/>
                <a:cs typeface="Arial"/>
                <a:sym typeface="Arial"/>
              </a:rPr>
              <a:t>gpt-oss (21B) e Ministral (8B) empatam na prática.</a:t>
            </a:r>
            <a:endParaRPr b="0" i="0" sz="3225" u="none" cap="none" strike="noStrike">
              <a:solidFill>
                <a:schemeClr val="dk1"/>
              </a:solidFill>
              <a:latin typeface="Calibri"/>
              <a:ea typeface="Calibri"/>
              <a:cs typeface="Calibri"/>
              <a:sym typeface="Calibri"/>
            </a:endParaRPr>
          </a:p>
        </p:txBody>
      </p:sp>
      <p:sp>
        <p:nvSpPr>
          <p:cNvPr id="721" name="Google Shape;721;g3f88e45ce95_0_779"/>
          <p:cNvSpPr/>
          <p:nvPr/>
        </p:nvSpPr>
        <p:spPr>
          <a:xfrm>
            <a:off x="1333500" y="9563100"/>
            <a:ext cx="90330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Fatores plausíveis; o estudo compara modelos, não isola causas</a:t>
            </a:r>
            <a:endParaRPr b="0" i="0" sz="2250" u="none" cap="none" strike="noStrike">
              <a:solidFill>
                <a:schemeClr val="dk1"/>
              </a:solidFill>
              <a:latin typeface="Calibri"/>
              <a:ea typeface="Calibri"/>
              <a:cs typeface="Calibri"/>
              <a:sym typeface="Calibri"/>
            </a:endParaRPr>
          </a:p>
        </p:txBody>
      </p:sp>
      <p:pic>
        <p:nvPicPr>
          <p:cNvPr descr="preencoded.png" id="722" name="Google Shape;722;g3f88e45ce95_0_779"/>
          <p:cNvPicPr preferRelativeResize="0"/>
          <p:nvPr/>
        </p:nvPicPr>
        <p:blipFill rotWithShape="1">
          <a:blip r:embed="rId3">
            <a:alphaModFix/>
          </a:blip>
          <a:srcRect b="0" l="0" r="0" t="0"/>
          <a:stretch/>
        </p:blipFill>
        <p:spPr>
          <a:xfrm>
            <a:off x="13863935" y="9534525"/>
            <a:ext cx="1558826" cy="381000"/>
          </a:xfrm>
          <a:prstGeom prst="rect">
            <a:avLst/>
          </a:prstGeom>
          <a:noFill/>
          <a:ln>
            <a:noFill/>
          </a:ln>
        </p:spPr>
      </p:pic>
      <p:pic>
        <p:nvPicPr>
          <p:cNvPr descr="preencoded.png" id="723" name="Google Shape;723;g3f88e45ce95_0_779"/>
          <p:cNvPicPr preferRelativeResize="0"/>
          <p:nvPr/>
        </p:nvPicPr>
        <p:blipFill rotWithShape="1">
          <a:blip r:embed="rId4">
            <a:alphaModFix/>
          </a:blip>
          <a:srcRect b="0" l="0" r="0" t="0"/>
          <a:stretch/>
        </p:blipFill>
        <p:spPr>
          <a:xfrm>
            <a:off x="15651361" y="9515475"/>
            <a:ext cx="636389" cy="419100"/>
          </a:xfrm>
          <a:prstGeom prst="rect">
            <a:avLst/>
          </a:prstGeom>
          <a:noFill/>
          <a:ln>
            <a:noFill/>
          </a:ln>
        </p:spPr>
      </p:pic>
      <p:pic>
        <p:nvPicPr>
          <p:cNvPr descr="preencoded.png" id="724" name="Google Shape;724;g3f88e45ce95_0_779"/>
          <p:cNvPicPr preferRelativeResize="0"/>
          <p:nvPr/>
        </p:nvPicPr>
        <p:blipFill rotWithShape="1">
          <a:blip r:embed="rId5">
            <a:alphaModFix/>
          </a:blip>
          <a:srcRect b="0" l="0" r="0" t="0"/>
          <a:stretch/>
        </p:blipFill>
        <p:spPr>
          <a:xfrm>
            <a:off x="16516350" y="9505950"/>
            <a:ext cx="438150" cy="438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sp>
        <p:nvSpPr>
          <p:cNvPr id="730" name="Google Shape;730;g3f88e45ce95_0_810"/>
          <p:cNvSpPr/>
          <p:nvPr/>
        </p:nvSpPr>
        <p:spPr>
          <a:xfrm>
            <a:off x="1333500" y="7620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731" name="Google Shape;731;g3f88e45ce95_0_810"/>
          <p:cNvSpPr/>
          <p:nvPr/>
        </p:nvSpPr>
        <p:spPr>
          <a:xfrm>
            <a:off x="1333500" y="1247775"/>
            <a:ext cx="17183100" cy="69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500"/>
              <a:buFont typeface="Arial"/>
              <a:buNone/>
            </a:pPr>
            <a:r>
              <a:rPr b="1" i="0" lang="en-US" sz="4500" u="none" cap="none" strike="noStrike">
                <a:solidFill>
                  <a:srgbClr val="0F2369"/>
                </a:solidFill>
                <a:latin typeface="Arial"/>
                <a:ea typeface="Arial"/>
                <a:cs typeface="Arial"/>
                <a:sym typeface="Arial"/>
              </a:rPr>
              <a:t>Fine-tuning de segurança: por que o ganho é limitado</a:t>
            </a:r>
            <a:endParaRPr b="0" i="0" sz="4500" u="none" cap="none" strike="noStrike">
              <a:solidFill>
                <a:schemeClr val="dk1"/>
              </a:solidFill>
              <a:latin typeface="Calibri"/>
              <a:ea typeface="Calibri"/>
              <a:cs typeface="Calibri"/>
              <a:sym typeface="Calibri"/>
            </a:endParaRPr>
          </a:p>
        </p:txBody>
      </p:sp>
      <p:sp>
        <p:nvSpPr>
          <p:cNvPr id="732" name="Google Shape;732;g3f88e45ce95_0_810"/>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g3f88e45ce95_0_810"/>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3</a:t>
            </a:r>
            <a:r>
              <a:rPr lang="en-US" sz="2400">
                <a:solidFill>
                  <a:srgbClr val="6B7280"/>
                </a:solidFill>
              </a:rPr>
              <a:t>2</a:t>
            </a:r>
            <a:endParaRPr b="0" i="0" sz="2400" u="none" cap="none" strike="noStrike">
              <a:solidFill>
                <a:schemeClr val="dk1"/>
              </a:solidFill>
              <a:latin typeface="Calibri"/>
              <a:ea typeface="Calibri"/>
              <a:cs typeface="Calibri"/>
              <a:sym typeface="Calibri"/>
            </a:endParaRPr>
          </a:p>
        </p:txBody>
      </p:sp>
      <p:sp>
        <p:nvSpPr>
          <p:cNvPr id="734" name="Google Shape;734;g3f88e45ce95_0_810"/>
          <p:cNvSpPr/>
          <p:nvPr/>
        </p:nvSpPr>
        <p:spPr>
          <a:xfrm>
            <a:off x="1333500" y="2271713"/>
            <a:ext cx="7686600" cy="2124000"/>
          </a:xfrm>
          <a:prstGeom prst="roundRect">
            <a:avLst>
              <a:gd fmla="val 7175"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g3f88e45ce95_0_810"/>
          <p:cNvSpPr/>
          <p:nvPr/>
        </p:nvSpPr>
        <p:spPr>
          <a:xfrm>
            <a:off x="1657350" y="2576513"/>
            <a:ext cx="77430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Campos exatos melhoram</a:t>
            </a:r>
            <a:endParaRPr b="0" i="0" sz="3225" u="none" cap="none" strike="noStrike">
              <a:solidFill>
                <a:schemeClr val="dk1"/>
              </a:solidFill>
              <a:latin typeface="Calibri"/>
              <a:ea typeface="Calibri"/>
              <a:cs typeface="Calibri"/>
              <a:sym typeface="Calibri"/>
            </a:endParaRPr>
          </a:p>
        </p:txBody>
      </p:sp>
      <p:sp>
        <p:nvSpPr>
          <p:cNvPr id="736" name="Google Shape;736;g3f88e45ce95_0_810"/>
          <p:cNvSpPr/>
          <p:nvPr/>
        </p:nvSpPr>
        <p:spPr>
          <a:xfrm>
            <a:off x="1657350" y="3157538"/>
            <a:ext cx="7250100" cy="971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Reconhecer CVSS, plugin ID e protocolo reduz erro de cópia.</a:t>
            </a:r>
            <a:endParaRPr b="0" i="0" sz="3225" u="none" cap="none" strike="noStrike">
              <a:solidFill>
                <a:schemeClr val="dk1"/>
              </a:solidFill>
              <a:latin typeface="Calibri"/>
              <a:ea typeface="Calibri"/>
              <a:cs typeface="Calibri"/>
              <a:sym typeface="Calibri"/>
            </a:endParaRPr>
          </a:p>
        </p:txBody>
      </p:sp>
      <p:sp>
        <p:nvSpPr>
          <p:cNvPr id="737" name="Google Shape;737;g3f88e45ce95_0_810"/>
          <p:cNvSpPr/>
          <p:nvPr/>
        </p:nvSpPr>
        <p:spPr>
          <a:xfrm>
            <a:off x="9267825" y="2271713"/>
            <a:ext cx="7686600" cy="2124000"/>
          </a:xfrm>
          <a:prstGeom prst="roundRect">
            <a:avLst>
              <a:gd fmla="val 7175"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g3f88e45ce95_0_810"/>
          <p:cNvSpPr/>
          <p:nvPr/>
        </p:nvSpPr>
        <p:spPr>
          <a:xfrm>
            <a:off x="9591675" y="2576513"/>
            <a:ext cx="77430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0392B"/>
              </a:buClr>
              <a:buSzPts val="3225"/>
              <a:buFont typeface="Arial"/>
              <a:buNone/>
            </a:pPr>
            <a:r>
              <a:rPr b="1" i="0" lang="en-US" sz="3225" u="none" cap="none" strike="noStrike">
                <a:solidFill>
                  <a:srgbClr val="C0392B"/>
                </a:solidFill>
                <a:latin typeface="Arial"/>
                <a:ea typeface="Arial"/>
                <a:cs typeface="Arial"/>
                <a:sym typeface="Arial"/>
              </a:rPr>
              <a:t>Texto livre não melhora</a:t>
            </a:r>
            <a:endParaRPr b="0" i="0" sz="3225" u="none" cap="none" strike="noStrike">
              <a:solidFill>
                <a:schemeClr val="dk1"/>
              </a:solidFill>
              <a:latin typeface="Calibri"/>
              <a:ea typeface="Calibri"/>
              <a:cs typeface="Calibri"/>
              <a:sym typeface="Calibri"/>
            </a:endParaRPr>
          </a:p>
        </p:txBody>
      </p:sp>
      <p:sp>
        <p:nvSpPr>
          <p:cNvPr id="739" name="Google Shape;739;g3f88e45ce95_0_810"/>
          <p:cNvSpPr/>
          <p:nvPr/>
        </p:nvSpPr>
        <p:spPr>
          <a:xfrm>
            <a:off x="9591675" y="3157538"/>
            <a:ext cx="7250100" cy="971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A tarefa premia fidelidade à fonte, não prosa fluente de domínio.</a:t>
            </a:r>
            <a:endParaRPr b="0" i="0" sz="3225" u="none" cap="none" strike="noStrike">
              <a:solidFill>
                <a:schemeClr val="dk1"/>
              </a:solidFill>
              <a:latin typeface="Calibri"/>
              <a:ea typeface="Calibri"/>
              <a:cs typeface="Calibri"/>
              <a:sym typeface="Calibri"/>
            </a:endParaRPr>
          </a:p>
        </p:txBody>
      </p:sp>
      <p:sp>
        <p:nvSpPr>
          <p:cNvPr id="740" name="Google Shape;740;g3f88e45ce95_0_810"/>
          <p:cNvSpPr/>
          <p:nvPr/>
        </p:nvSpPr>
        <p:spPr>
          <a:xfrm>
            <a:off x="1333500" y="4643438"/>
            <a:ext cx="7686600" cy="2590800"/>
          </a:xfrm>
          <a:prstGeom prst="roundRect">
            <a:avLst>
              <a:gd fmla="val 5882"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g3f88e45ce95_0_810"/>
          <p:cNvSpPr/>
          <p:nvPr/>
        </p:nvSpPr>
        <p:spPr>
          <a:xfrm>
            <a:off x="1657350" y="4948238"/>
            <a:ext cx="77430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0392B"/>
              </a:buClr>
              <a:buSzPts val="3225"/>
              <a:buFont typeface="Arial"/>
              <a:buNone/>
            </a:pPr>
            <a:r>
              <a:rPr b="1" i="0" lang="en-US" sz="3225" u="none" cap="none" strike="noStrike">
                <a:solidFill>
                  <a:srgbClr val="C0392B"/>
                </a:solidFill>
                <a:latin typeface="Arial"/>
                <a:ea typeface="Arial"/>
                <a:cs typeface="Arial"/>
                <a:sym typeface="Arial"/>
              </a:rPr>
              <a:t>Esquema pode desabar</a:t>
            </a:r>
            <a:endParaRPr b="0" i="0" sz="3225" u="none" cap="none" strike="noStrike">
              <a:solidFill>
                <a:schemeClr val="dk1"/>
              </a:solidFill>
              <a:latin typeface="Calibri"/>
              <a:ea typeface="Calibri"/>
              <a:cs typeface="Calibri"/>
              <a:sym typeface="Calibri"/>
            </a:endParaRPr>
          </a:p>
        </p:txBody>
      </p:sp>
      <p:sp>
        <p:nvSpPr>
          <p:cNvPr id="742" name="Google Shape;742;g3f88e45ce95_0_810"/>
          <p:cNvSpPr/>
          <p:nvPr/>
        </p:nvSpPr>
        <p:spPr>
          <a:xfrm>
            <a:off x="1657350" y="5529263"/>
            <a:ext cx="72501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Conformar ao JSON é seguir instrução, e o treino em texto de domínio enfraquece isso.</a:t>
            </a:r>
            <a:endParaRPr b="0" i="0" sz="3225" u="none" cap="none" strike="noStrike">
              <a:solidFill>
                <a:schemeClr val="dk1"/>
              </a:solidFill>
              <a:latin typeface="Calibri"/>
              <a:ea typeface="Calibri"/>
              <a:cs typeface="Calibri"/>
              <a:sym typeface="Calibri"/>
            </a:endParaRPr>
          </a:p>
        </p:txBody>
      </p:sp>
      <p:sp>
        <p:nvSpPr>
          <p:cNvPr id="743" name="Google Shape;743;g3f88e45ce95_0_810"/>
          <p:cNvSpPr/>
          <p:nvPr/>
        </p:nvSpPr>
        <p:spPr>
          <a:xfrm>
            <a:off x="9267825" y="4643438"/>
            <a:ext cx="7686600" cy="2590800"/>
          </a:xfrm>
          <a:prstGeom prst="roundRect">
            <a:avLst>
              <a:gd fmla="val 5882"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g3f88e45ce95_0_810"/>
          <p:cNvSpPr/>
          <p:nvPr/>
        </p:nvSpPr>
        <p:spPr>
          <a:xfrm>
            <a:off x="9591675" y="4948238"/>
            <a:ext cx="77430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79BD"/>
              </a:buClr>
              <a:buSzPts val="3225"/>
              <a:buFont typeface="Arial"/>
              <a:buNone/>
            </a:pPr>
            <a:r>
              <a:rPr b="1" i="0" lang="en-US" sz="3225" u="none" cap="none" strike="noStrike">
                <a:solidFill>
                  <a:srgbClr val="1279BD"/>
                </a:solidFill>
                <a:latin typeface="Arial"/>
                <a:ea typeface="Arial"/>
                <a:cs typeface="Arial"/>
                <a:sym typeface="Arial"/>
              </a:rPr>
              <a:t>O retry não basta</a:t>
            </a:r>
            <a:endParaRPr b="0" i="0" sz="3225" u="none" cap="none" strike="noStrike">
              <a:solidFill>
                <a:schemeClr val="dk1"/>
              </a:solidFill>
              <a:latin typeface="Calibri"/>
              <a:ea typeface="Calibri"/>
              <a:cs typeface="Calibri"/>
              <a:sym typeface="Calibri"/>
            </a:endParaRPr>
          </a:p>
        </p:txBody>
      </p:sp>
      <p:sp>
        <p:nvSpPr>
          <p:cNvPr id="745" name="Google Shape;745;g3f88e45ce95_0_810"/>
          <p:cNvSpPr/>
          <p:nvPr/>
        </p:nvSpPr>
        <p:spPr>
          <a:xfrm>
            <a:off x="9591675" y="5529263"/>
            <a:ext cx="72501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Já temos retry, e o Gemma segue em 64,8%. Faltaria decodificação restrita por gramática.</a:t>
            </a:r>
            <a:endParaRPr b="0" i="0" sz="3225" u="none" cap="none" strike="noStrike">
              <a:solidFill>
                <a:schemeClr val="dk1"/>
              </a:solidFill>
              <a:latin typeface="Calibri"/>
              <a:ea typeface="Calibri"/>
              <a:cs typeface="Calibri"/>
              <a:sym typeface="Calibri"/>
            </a:endParaRPr>
          </a:p>
        </p:txBody>
      </p:sp>
      <p:sp>
        <p:nvSpPr>
          <p:cNvPr id="746" name="Google Shape;746;g3f88e45ce95_0_810"/>
          <p:cNvSpPr/>
          <p:nvPr/>
        </p:nvSpPr>
        <p:spPr>
          <a:xfrm>
            <a:off x="1333500" y="7481887"/>
            <a:ext cx="15621000" cy="1467000"/>
          </a:xfrm>
          <a:prstGeom prst="roundRect">
            <a:avLst>
              <a:gd fmla="val 10390" name="adj"/>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g3f88e45ce95_0_810"/>
          <p:cNvSpPr/>
          <p:nvPr/>
        </p:nvSpPr>
        <p:spPr>
          <a:xfrm>
            <a:off x="1657350" y="7981950"/>
            <a:ext cx="62094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7A823"/>
              </a:buClr>
              <a:buSzPts val="3225"/>
              <a:buFont typeface="Arial"/>
              <a:buNone/>
            </a:pPr>
            <a:r>
              <a:rPr b="1" i="0" lang="en-US" sz="3225" u="none" cap="none" strike="noStrike">
                <a:solidFill>
                  <a:srgbClr val="F7A823"/>
                </a:solidFill>
                <a:latin typeface="Arial"/>
                <a:ea typeface="Arial"/>
                <a:cs typeface="Arial"/>
                <a:sym typeface="Arial"/>
              </a:rPr>
              <a:t>No avaliador, o mesmo limite</a:t>
            </a:r>
            <a:endParaRPr b="0" i="0" sz="3225" u="none" cap="none" strike="noStrike">
              <a:solidFill>
                <a:schemeClr val="dk1"/>
              </a:solidFill>
              <a:latin typeface="Calibri"/>
              <a:ea typeface="Calibri"/>
              <a:cs typeface="Calibri"/>
              <a:sym typeface="Calibri"/>
            </a:endParaRPr>
          </a:p>
        </p:txBody>
      </p:sp>
      <p:sp>
        <p:nvSpPr>
          <p:cNvPr id="748" name="Google Shape;748;g3f88e45ce95_0_810"/>
          <p:cNvSpPr/>
          <p:nvPr/>
        </p:nvSpPr>
        <p:spPr>
          <a:xfrm>
            <a:off x="7549902" y="7748588"/>
            <a:ext cx="9353100" cy="971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0" i="0" lang="en-US" sz="3225" u="none" cap="none" strike="noStrike">
                <a:solidFill>
                  <a:srgbClr val="FFFFFF"/>
                </a:solidFill>
                <a:latin typeface="Arial"/>
                <a:ea typeface="Arial"/>
                <a:cs typeface="Arial"/>
                <a:sym typeface="Arial"/>
              </a:rPr>
              <a:t>Re-pontuar tudo com SecureBERT muda ≤ 0,21 pp e nenhum ranking.</a:t>
            </a:r>
            <a:endParaRPr b="0" i="0" sz="3225" u="none" cap="none" strike="noStrike">
              <a:solidFill>
                <a:schemeClr val="dk1"/>
              </a:solidFill>
              <a:latin typeface="Calibri"/>
              <a:ea typeface="Calibri"/>
              <a:cs typeface="Calibri"/>
              <a:sym typeface="Calibri"/>
            </a:endParaRPr>
          </a:p>
        </p:txBody>
      </p:sp>
      <p:sp>
        <p:nvSpPr>
          <p:cNvPr id="749" name="Google Shape;749;g3f88e45ce95_0_810"/>
          <p:cNvSpPr/>
          <p:nvPr/>
        </p:nvSpPr>
        <p:spPr>
          <a:xfrm>
            <a:off x="1333500" y="9563100"/>
            <a:ext cx="79854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Hipóteses de interpretação; o estudo não isola as causas</a:t>
            </a:r>
            <a:endParaRPr b="0" i="0" sz="2250" u="none" cap="none" strike="noStrike">
              <a:solidFill>
                <a:schemeClr val="dk1"/>
              </a:solidFill>
              <a:latin typeface="Calibri"/>
              <a:ea typeface="Calibri"/>
              <a:cs typeface="Calibri"/>
              <a:sym typeface="Calibri"/>
            </a:endParaRPr>
          </a:p>
        </p:txBody>
      </p:sp>
      <p:pic>
        <p:nvPicPr>
          <p:cNvPr descr="preencoded.png" id="750" name="Google Shape;750;g3f88e45ce95_0_810"/>
          <p:cNvPicPr preferRelativeResize="0"/>
          <p:nvPr/>
        </p:nvPicPr>
        <p:blipFill rotWithShape="1">
          <a:blip r:embed="rId3">
            <a:alphaModFix/>
          </a:blip>
          <a:srcRect b="0" l="0" r="0" t="0"/>
          <a:stretch/>
        </p:blipFill>
        <p:spPr>
          <a:xfrm>
            <a:off x="13863935" y="9534525"/>
            <a:ext cx="1558826" cy="381000"/>
          </a:xfrm>
          <a:prstGeom prst="rect">
            <a:avLst/>
          </a:prstGeom>
          <a:noFill/>
          <a:ln>
            <a:noFill/>
          </a:ln>
        </p:spPr>
      </p:pic>
      <p:pic>
        <p:nvPicPr>
          <p:cNvPr descr="preencoded.png" id="751" name="Google Shape;751;g3f88e45ce95_0_810"/>
          <p:cNvPicPr preferRelativeResize="0"/>
          <p:nvPr/>
        </p:nvPicPr>
        <p:blipFill rotWithShape="1">
          <a:blip r:embed="rId4">
            <a:alphaModFix/>
          </a:blip>
          <a:srcRect b="0" l="0" r="0" t="0"/>
          <a:stretch/>
        </p:blipFill>
        <p:spPr>
          <a:xfrm>
            <a:off x="15651361" y="9515475"/>
            <a:ext cx="636389" cy="419100"/>
          </a:xfrm>
          <a:prstGeom prst="rect">
            <a:avLst/>
          </a:prstGeom>
          <a:noFill/>
          <a:ln>
            <a:noFill/>
          </a:ln>
        </p:spPr>
      </p:pic>
      <p:pic>
        <p:nvPicPr>
          <p:cNvPr descr="preencoded.png" id="752" name="Google Shape;752;g3f88e45ce95_0_810"/>
          <p:cNvPicPr preferRelativeResize="0"/>
          <p:nvPr/>
        </p:nvPicPr>
        <p:blipFill rotWithShape="1">
          <a:blip r:embed="rId5">
            <a:alphaModFix/>
          </a:blip>
          <a:srcRect b="0" l="0" r="0" t="0"/>
          <a:stretch/>
        </p:blipFill>
        <p:spPr>
          <a:xfrm>
            <a:off x="16516350" y="9505950"/>
            <a:ext cx="438150" cy="438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7" name="Shape 757"/>
        <p:cNvGrpSpPr/>
        <p:nvPr/>
      </p:nvGrpSpPr>
      <p:grpSpPr>
        <a:xfrm>
          <a:off x="0" y="0"/>
          <a:ext cx="0" cy="0"/>
          <a:chOff x="0" y="0"/>
          <a:chExt cx="0" cy="0"/>
        </a:xfrm>
      </p:grpSpPr>
      <p:sp>
        <p:nvSpPr>
          <p:cNvPr id="758" name="Google Shape;758;g3f88e45ce95_0_837"/>
          <p:cNvSpPr/>
          <p:nvPr/>
        </p:nvSpPr>
        <p:spPr>
          <a:xfrm>
            <a:off x="1333500" y="7620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759" name="Google Shape;759;g3f88e45ce95_0_837"/>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3f88e45ce95_0_837"/>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3</a:t>
            </a:r>
            <a:r>
              <a:rPr lang="en-US" sz="2400">
                <a:solidFill>
                  <a:srgbClr val="6B7280"/>
                </a:solidFill>
              </a:rPr>
              <a:t>3</a:t>
            </a:r>
            <a:endParaRPr b="0" i="0" sz="2400" u="none" cap="none" strike="noStrike">
              <a:solidFill>
                <a:schemeClr val="dk1"/>
              </a:solidFill>
              <a:latin typeface="Calibri"/>
              <a:ea typeface="Calibri"/>
              <a:cs typeface="Calibri"/>
              <a:sym typeface="Calibri"/>
            </a:endParaRPr>
          </a:p>
        </p:txBody>
      </p:sp>
      <p:sp>
        <p:nvSpPr>
          <p:cNvPr id="761" name="Google Shape;761;g3f88e45ce95_0_837"/>
          <p:cNvSpPr/>
          <p:nvPr/>
        </p:nvSpPr>
        <p:spPr>
          <a:xfrm>
            <a:off x="857250" y="1657350"/>
            <a:ext cx="16573500" cy="971700"/>
          </a:xfrm>
          <a:prstGeom prst="rect">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g3f88e45ce95_0_837"/>
          <p:cNvSpPr/>
          <p:nvPr/>
        </p:nvSpPr>
        <p:spPr>
          <a:xfrm>
            <a:off x="1028700" y="1743075"/>
            <a:ext cx="4220100" cy="8382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Modelo</a:t>
            </a:r>
            <a:endParaRPr b="0" i="0" sz="2775" u="none" cap="none" strike="noStrike">
              <a:solidFill>
                <a:schemeClr val="dk1"/>
              </a:solidFill>
              <a:latin typeface="Calibri"/>
              <a:ea typeface="Calibri"/>
              <a:cs typeface="Calibri"/>
              <a:sym typeface="Calibri"/>
            </a:endParaRPr>
          </a:p>
        </p:txBody>
      </p:sp>
      <p:sp>
        <p:nvSpPr>
          <p:cNvPr id="763" name="Google Shape;763;g3f88e45ce95_0_837"/>
          <p:cNvSpPr/>
          <p:nvPr/>
        </p:nvSpPr>
        <p:spPr>
          <a:xfrm>
            <a:off x="5420767" y="1743075"/>
            <a:ext cx="20151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BERTScore</a:t>
            </a:r>
            <a:endParaRPr b="0" i="0" sz="2775" u="none" cap="none" strike="noStrike">
              <a:solidFill>
                <a:schemeClr val="dk1"/>
              </a:solidFill>
              <a:latin typeface="Calibri"/>
              <a:ea typeface="Calibri"/>
              <a:cs typeface="Calibri"/>
              <a:sym typeface="Calibri"/>
            </a:endParaRPr>
          </a:p>
        </p:txBody>
      </p:sp>
      <p:sp>
        <p:nvSpPr>
          <p:cNvPr id="764" name="Google Shape;764;g3f88e45ce95_0_837"/>
          <p:cNvSpPr/>
          <p:nvPr/>
        </p:nvSpPr>
        <p:spPr>
          <a:xfrm>
            <a:off x="7702600" y="1743075"/>
            <a:ext cx="13704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Field F1</a:t>
            </a:r>
            <a:endParaRPr b="0" i="0" sz="2775" u="none" cap="none" strike="noStrike">
              <a:solidFill>
                <a:schemeClr val="dk1"/>
              </a:solidFill>
              <a:latin typeface="Calibri"/>
              <a:ea typeface="Calibri"/>
              <a:cs typeface="Calibri"/>
              <a:sym typeface="Calibri"/>
            </a:endParaRPr>
          </a:p>
        </p:txBody>
      </p:sp>
      <p:sp>
        <p:nvSpPr>
          <p:cNvPr id="765" name="Google Shape;765;g3f88e45ce95_0_837"/>
          <p:cNvSpPr/>
          <p:nvPr/>
        </p:nvSpPr>
        <p:spPr>
          <a:xfrm>
            <a:off x="9339560" y="1743075"/>
            <a:ext cx="11811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Exact</a:t>
            </a:r>
            <a:endParaRPr b="0" i="0" sz="2775" u="none" cap="none" strike="noStrike">
              <a:solidFill>
                <a:schemeClr val="dk1"/>
              </a:solidFill>
              <a:latin typeface="Calibri"/>
              <a:ea typeface="Calibri"/>
              <a:cs typeface="Calibri"/>
              <a:sym typeface="Calibri"/>
            </a:endParaRPr>
          </a:p>
        </p:txBody>
      </p:sp>
      <p:sp>
        <p:nvSpPr>
          <p:cNvPr id="766" name="Google Shape;766;g3f88e45ce95_0_837"/>
          <p:cNvSpPr/>
          <p:nvPr/>
        </p:nvSpPr>
        <p:spPr>
          <a:xfrm>
            <a:off x="10787360" y="1743075"/>
            <a:ext cx="14805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Omiss. ↓</a:t>
            </a:r>
            <a:endParaRPr b="0" i="0" sz="2775" u="none" cap="none" strike="noStrike">
              <a:solidFill>
                <a:schemeClr val="dk1"/>
              </a:solidFill>
              <a:latin typeface="Calibri"/>
              <a:ea typeface="Calibri"/>
              <a:cs typeface="Calibri"/>
              <a:sym typeface="Calibri"/>
            </a:endParaRPr>
          </a:p>
        </p:txBody>
      </p:sp>
      <p:sp>
        <p:nvSpPr>
          <p:cNvPr id="767" name="Google Shape;767;g3f88e45ce95_0_837"/>
          <p:cNvSpPr/>
          <p:nvPr/>
        </p:nvSpPr>
        <p:spPr>
          <a:xfrm>
            <a:off x="12534454" y="1743075"/>
            <a:ext cx="13704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Haluc. ↓</a:t>
            </a:r>
            <a:endParaRPr b="0" i="0" sz="2775" u="none" cap="none" strike="noStrike">
              <a:solidFill>
                <a:schemeClr val="dk1"/>
              </a:solidFill>
              <a:latin typeface="Calibri"/>
              <a:ea typeface="Calibri"/>
              <a:cs typeface="Calibri"/>
              <a:sym typeface="Calibri"/>
            </a:endParaRPr>
          </a:p>
        </p:txBody>
      </p:sp>
      <p:sp>
        <p:nvSpPr>
          <p:cNvPr id="768" name="Google Shape;768;g3f88e45ce95_0_837"/>
          <p:cNvSpPr/>
          <p:nvPr/>
        </p:nvSpPr>
        <p:spPr>
          <a:xfrm>
            <a:off x="14171563" y="1743075"/>
            <a:ext cx="14280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Schema</a:t>
            </a:r>
            <a:endParaRPr b="0" i="0" sz="2775" u="none" cap="none" strike="noStrike">
              <a:solidFill>
                <a:schemeClr val="dk1"/>
              </a:solidFill>
              <a:latin typeface="Calibri"/>
              <a:ea typeface="Calibri"/>
              <a:cs typeface="Calibri"/>
              <a:sym typeface="Calibri"/>
            </a:endParaRPr>
          </a:p>
        </p:txBody>
      </p:sp>
      <p:sp>
        <p:nvSpPr>
          <p:cNvPr id="769" name="Google Shape;769;g3f88e45ce95_0_837"/>
          <p:cNvSpPr/>
          <p:nvPr/>
        </p:nvSpPr>
        <p:spPr>
          <a:xfrm>
            <a:off x="15866269" y="1743075"/>
            <a:ext cx="1431000" cy="838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Sev. cov</a:t>
            </a:r>
            <a:endParaRPr b="0" i="0" sz="2775" u="none" cap="none" strike="noStrike">
              <a:solidFill>
                <a:schemeClr val="dk1"/>
              </a:solidFill>
              <a:latin typeface="Calibri"/>
              <a:ea typeface="Calibri"/>
              <a:cs typeface="Calibri"/>
              <a:sym typeface="Calibri"/>
            </a:endParaRPr>
          </a:p>
        </p:txBody>
      </p:sp>
      <p:sp>
        <p:nvSpPr>
          <p:cNvPr id="770" name="Google Shape;770;g3f88e45ce95_0_837"/>
          <p:cNvSpPr/>
          <p:nvPr/>
        </p:nvSpPr>
        <p:spPr>
          <a:xfrm>
            <a:off x="857250" y="325278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g3f88e45ce95_0_837"/>
          <p:cNvSpPr/>
          <p:nvPr/>
        </p:nvSpPr>
        <p:spPr>
          <a:xfrm>
            <a:off x="1028700" y="2705100"/>
            <a:ext cx="4220100" cy="519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Gemma 4 E4B</a:t>
            </a:r>
            <a:endParaRPr b="0" i="0" sz="2775" u="none" cap="none" strike="noStrike">
              <a:solidFill>
                <a:schemeClr val="dk1"/>
              </a:solidFill>
              <a:latin typeface="Calibri"/>
              <a:ea typeface="Calibri"/>
              <a:cs typeface="Calibri"/>
              <a:sym typeface="Calibri"/>
            </a:endParaRPr>
          </a:p>
        </p:txBody>
      </p:sp>
      <p:sp>
        <p:nvSpPr>
          <p:cNvPr id="772" name="Google Shape;772;g3f88e45ce95_0_837"/>
          <p:cNvSpPr/>
          <p:nvPr/>
        </p:nvSpPr>
        <p:spPr>
          <a:xfrm>
            <a:off x="5420767" y="2705100"/>
            <a:ext cx="20151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83,5</a:t>
            </a:r>
            <a:endParaRPr b="0" i="0" sz="2775" u="none" cap="none" strike="noStrike">
              <a:solidFill>
                <a:schemeClr val="dk1"/>
              </a:solidFill>
              <a:latin typeface="Calibri"/>
              <a:ea typeface="Calibri"/>
              <a:cs typeface="Calibri"/>
              <a:sym typeface="Calibri"/>
            </a:endParaRPr>
          </a:p>
        </p:txBody>
      </p:sp>
      <p:sp>
        <p:nvSpPr>
          <p:cNvPr id="773" name="Google Shape;773;g3f88e45ce95_0_837"/>
          <p:cNvSpPr/>
          <p:nvPr/>
        </p:nvSpPr>
        <p:spPr>
          <a:xfrm>
            <a:off x="7702600" y="2705100"/>
            <a:ext cx="13704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96,2</a:t>
            </a:r>
            <a:endParaRPr b="0" i="0" sz="2775" u="none" cap="none" strike="noStrike">
              <a:solidFill>
                <a:schemeClr val="dk1"/>
              </a:solidFill>
              <a:latin typeface="Calibri"/>
              <a:ea typeface="Calibri"/>
              <a:cs typeface="Calibri"/>
              <a:sym typeface="Calibri"/>
            </a:endParaRPr>
          </a:p>
        </p:txBody>
      </p:sp>
      <p:sp>
        <p:nvSpPr>
          <p:cNvPr id="774" name="Google Shape;774;g3f88e45ce95_0_837"/>
          <p:cNvSpPr/>
          <p:nvPr/>
        </p:nvSpPr>
        <p:spPr>
          <a:xfrm>
            <a:off x="9339560" y="2705100"/>
            <a:ext cx="11811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58,4</a:t>
            </a:r>
            <a:endParaRPr b="0" i="0" sz="2775" u="none" cap="none" strike="noStrike">
              <a:solidFill>
                <a:schemeClr val="dk1"/>
              </a:solidFill>
              <a:latin typeface="Calibri"/>
              <a:ea typeface="Calibri"/>
              <a:cs typeface="Calibri"/>
              <a:sym typeface="Calibri"/>
            </a:endParaRPr>
          </a:p>
        </p:txBody>
      </p:sp>
      <p:sp>
        <p:nvSpPr>
          <p:cNvPr id="775" name="Google Shape;775;g3f88e45ce95_0_837"/>
          <p:cNvSpPr/>
          <p:nvPr/>
        </p:nvSpPr>
        <p:spPr>
          <a:xfrm>
            <a:off x="10787360" y="2705100"/>
            <a:ext cx="14805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15,7</a:t>
            </a:r>
            <a:endParaRPr b="0" i="0" sz="2775" u="none" cap="none" strike="noStrike">
              <a:solidFill>
                <a:schemeClr val="dk1"/>
              </a:solidFill>
              <a:latin typeface="Calibri"/>
              <a:ea typeface="Calibri"/>
              <a:cs typeface="Calibri"/>
              <a:sym typeface="Calibri"/>
            </a:endParaRPr>
          </a:p>
        </p:txBody>
      </p:sp>
      <p:sp>
        <p:nvSpPr>
          <p:cNvPr id="776" name="Google Shape;776;g3f88e45ce95_0_837"/>
          <p:cNvSpPr/>
          <p:nvPr/>
        </p:nvSpPr>
        <p:spPr>
          <a:xfrm>
            <a:off x="12667208" y="2705100"/>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g3f88e45ce95_0_837"/>
          <p:cNvSpPr/>
          <p:nvPr/>
        </p:nvSpPr>
        <p:spPr>
          <a:xfrm>
            <a:off x="12726263" y="2743200"/>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8,0</a:t>
            </a:r>
            <a:endParaRPr b="0" i="0" sz="2775" u="none" cap="none" strike="noStrike">
              <a:solidFill>
                <a:schemeClr val="dk1"/>
              </a:solidFill>
              <a:latin typeface="Calibri"/>
              <a:ea typeface="Calibri"/>
              <a:cs typeface="Calibri"/>
              <a:sym typeface="Calibri"/>
            </a:endParaRPr>
          </a:p>
        </p:txBody>
      </p:sp>
      <p:sp>
        <p:nvSpPr>
          <p:cNvPr id="778" name="Google Shape;778;g3f88e45ce95_0_837"/>
          <p:cNvSpPr/>
          <p:nvPr/>
        </p:nvSpPr>
        <p:spPr>
          <a:xfrm>
            <a:off x="14171563" y="2705100"/>
            <a:ext cx="14280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64,8</a:t>
            </a:r>
            <a:endParaRPr b="0" i="0" sz="2775" u="none" cap="none" strike="noStrike">
              <a:solidFill>
                <a:schemeClr val="dk1"/>
              </a:solidFill>
              <a:latin typeface="Calibri"/>
              <a:ea typeface="Calibri"/>
              <a:cs typeface="Calibri"/>
              <a:sym typeface="Calibri"/>
            </a:endParaRPr>
          </a:p>
        </p:txBody>
      </p:sp>
      <p:sp>
        <p:nvSpPr>
          <p:cNvPr id="779" name="Google Shape;779;g3f88e45ce95_0_837"/>
          <p:cNvSpPr/>
          <p:nvPr/>
        </p:nvSpPr>
        <p:spPr>
          <a:xfrm>
            <a:off x="15866269" y="2705100"/>
            <a:ext cx="14310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87,7</a:t>
            </a:r>
            <a:endParaRPr b="0" i="0" sz="2775" u="none" cap="none" strike="noStrike">
              <a:solidFill>
                <a:schemeClr val="dk1"/>
              </a:solidFill>
              <a:latin typeface="Calibri"/>
              <a:ea typeface="Calibri"/>
              <a:cs typeface="Calibri"/>
              <a:sym typeface="Calibri"/>
            </a:endParaRPr>
          </a:p>
        </p:txBody>
      </p:sp>
      <p:sp>
        <p:nvSpPr>
          <p:cNvPr id="780" name="Google Shape;780;g3f88e45ce95_0_837"/>
          <p:cNvSpPr/>
          <p:nvPr/>
        </p:nvSpPr>
        <p:spPr>
          <a:xfrm>
            <a:off x="857250" y="3890962"/>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g3f88e45ce95_0_837"/>
          <p:cNvSpPr/>
          <p:nvPr/>
        </p:nvSpPr>
        <p:spPr>
          <a:xfrm>
            <a:off x="1028700" y="3338513"/>
            <a:ext cx="4220100" cy="523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Ministral 3</a:t>
            </a:r>
            <a:endParaRPr b="0" i="0" sz="2775" u="none" cap="none" strike="noStrike">
              <a:solidFill>
                <a:schemeClr val="dk1"/>
              </a:solidFill>
              <a:latin typeface="Calibri"/>
              <a:ea typeface="Calibri"/>
              <a:cs typeface="Calibri"/>
              <a:sym typeface="Calibri"/>
            </a:endParaRPr>
          </a:p>
        </p:txBody>
      </p:sp>
      <p:sp>
        <p:nvSpPr>
          <p:cNvPr id="782" name="Google Shape;782;g3f88e45ce95_0_837"/>
          <p:cNvSpPr/>
          <p:nvPr/>
        </p:nvSpPr>
        <p:spPr>
          <a:xfrm>
            <a:off x="5875883" y="3343275"/>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g3f88e45ce95_0_837"/>
          <p:cNvSpPr/>
          <p:nvPr/>
        </p:nvSpPr>
        <p:spPr>
          <a:xfrm>
            <a:off x="5934938" y="3381375"/>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93,0</a:t>
            </a:r>
            <a:endParaRPr b="0" i="0" sz="2775" u="none" cap="none" strike="noStrike">
              <a:solidFill>
                <a:schemeClr val="dk1"/>
              </a:solidFill>
              <a:latin typeface="Calibri"/>
              <a:ea typeface="Calibri"/>
              <a:cs typeface="Calibri"/>
              <a:sym typeface="Calibri"/>
            </a:endParaRPr>
          </a:p>
        </p:txBody>
      </p:sp>
      <p:sp>
        <p:nvSpPr>
          <p:cNvPr id="784" name="Google Shape;784;g3f88e45ce95_0_837"/>
          <p:cNvSpPr/>
          <p:nvPr/>
        </p:nvSpPr>
        <p:spPr>
          <a:xfrm>
            <a:off x="7702600" y="3338513"/>
            <a:ext cx="13704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98,4</a:t>
            </a:r>
            <a:endParaRPr b="0" i="0" sz="2775" u="none" cap="none" strike="noStrike">
              <a:solidFill>
                <a:schemeClr val="dk1"/>
              </a:solidFill>
              <a:latin typeface="Calibri"/>
              <a:ea typeface="Calibri"/>
              <a:cs typeface="Calibri"/>
              <a:sym typeface="Calibri"/>
            </a:endParaRPr>
          </a:p>
        </p:txBody>
      </p:sp>
      <p:sp>
        <p:nvSpPr>
          <p:cNvPr id="785" name="Google Shape;785;g3f88e45ce95_0_837"/>
          <p:cNvSpPr/>
          <p:nvPr/>
        </p:nvSpPr>
        <p:spPr>
          <a:xfrm>
            <a:off x="9339560" y="3338513"/>
            <a:ext cx="11811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87,1</a:t>
            </a:r>
            <a:endParaRPr b="0" i="0" sz="2775" u="none" cap="none" strike="noStrike">
              <a:solidFill>
                <a:schemeClr val="dk1"/>
              </a:solidFill>
              <a:latin typeface="Calibri"/>
              <a:ea typeface="Calibri"/>
              <a:cs typeface="Calibri"/>
              <a:sym typeface="Calibri"/>
            </a:endParaRPr>
          </a:p>
        </p:txBody>
      </p:sp>
      <p:sp>
        <p:nvSpPr>
          <p:cNvPr id="786" name="Google Shape;786;g3f88e45ce95_0_837"/>
          <p:cNvSpPr/>
          <p:nvPr/>
        </p:nvSpPr>
        <p:spPr>
          <a:xfrm>
            <a:off x="10975032" y="3343275"/>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g3f88e45ce95_0_837"/>
          <p:cNvSpPr/>
          <p:nvPr/>
        </p:nvSpPr>
        <p:spPr>
          <a:xfrm>
            <a:off x="11034087" y="3381375"/>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2,3</a:t>
            </a:r>
            <a:endParaRPr b="0" i="0" sz="2775" u="none" cap="none" strike="noStrike">
              <a:solidFill>
                <a:schemeClr val="dk1"/>
              </a:solidFill>
              <a:latin typeface="Calibri"/>
              <a:ea typeface="Calibri"/>
              <a:cs typeface="Calibri"/>
              <a:sym typeface="Calibri"/>
            </a:endParaRPr>
          </a:p>
        </p:txBody>
      </p:sp>
      <p:sp>
        <p:nvSpPr>
          <p:cNvPr id="788" name="Google Shape;788;g3f88e45ce95_0_837"/>
          <p:cNvSpPr/>
          <p:nvPr/>
        </p:nvSpPr>
        <p:spPr>
          <a:xfrm>
            <a:off x="12534454" y="3338513"/>
            <a:ext cx="13704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8,8</a:t>
            </a:r>
            <a:endParaRPr b="0" i="0" sz="2775" u="none" cap="none" strike="noStrike">
              <a:solidFill>
                <a:schemeClr val="dk1"/>
              </a:solidFill>
              <a:latin typeface="Calibri"/>
              <a:ea typeface="Calibri"/>
              <a:cs typeface="Calibri"/>
              <a:sym typeface="Calibri"/>
            </a:endParaRPr>
          </a:p>
        </p:txBody>
      </p:sp>
      <p:sp>
        <p:nvSpPr>
          <p:cNvPr id="789" name="Google Shape;789;g3f88e45ce95_0_837"/>
          <p:cNvSpPr/>
          <p:nvPr/>
        </p:nvSpPr>
        <p:spPr>
          <a:xfrm>
            <a:off x="14171563" y="3338513"/>
            <a:ext cx="14280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96,0</a:t>
            </a:r>
            <a:endParaRPr b="0" i="0" sz="2775" u="none" cap="none" strike="noStrike">
              <a:solidFill>
                <a:schemeClr val="dk1"/>
              </a:solidFill>
              <a:latin typeface="Calibri"/>
              <a:ea typeface="Calibri"/>
              <a:cs typeface="Calibri"/>
              <a:sym typeface="Calibri"/>
            </a:endParaRPr>
          </a:p>
        </p:txBody>
      </p:sp>
      <p:sp>
        <p:nvSpPr>
          <p:cNvPr id="790" name="Google Shape;790;g3f88e45ce95_0_837"/>
          <p:cNvSpPr/>
          <p:nvPr/>
        </p:nvSpPr>
        <p:spPr>
          <a:xfrm>
            <a:off x="15866269" y="3338513"/>
            <a:ext cx="14310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87,1</a:t>
            </a:r>
            <a:endParaRPr b="0" i="0" sz="2775" u="none" cap="none" strike="noStrike">
              <a:solidFill>
                <a:schemeClr val="dk1"/>
              </a:solidFill>
              <a:latin typeface="Calibri"/>
              <a:ea typeface="Calibri"/>
              <a:cs typeface="Calibri"/>
              <a:sym typeface="Calibri"/>
            </a:endParaRPr>
          </a:p>
        </p:txBody>
      </p:sp>
      <p:sp>
        <p:nvSpPr>
          <p:cNvPr id="791" name="Google Shape;791;g3f88e45ce95_0_837"/>
          <p:cNvSpPr/>
          <p:nvPr/>
        </p:nvSpPr>
        <p:spPr>
          <a:xfrm>
            <a:off x="857250" y="445293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g3f88e45ce95_0_837"/>
          <p:cNvSpPr/>
          <p:nvPr/>
        </p:nvSpPr>
        <p:spPr>
          <a:xfrm>
            <a:off x="1028700" y="3976687"/>
            <a:ext cx="45303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Qwen3</a:t>
            </a:r>
            <a:endParaRPr b="0" i="0" sz="2775" u="none" cap="none" strike="noStrike">
              <a:solidFill>
                <a:schemeClr val="dk1"/>
              </a:solidFill>
              <a:latin typeface="Calibri"/>
              <a:ea typeface="Calibri"/>
              <a:cs typeface="Calibri"/>
              <a:sym typeface="Calibri"/>
            </a:endParaRPr>
          </a:p>
        </p:txBody>
      </p:sp>
      <p:sp>
        <p:nvSpPr>
          <p:cNvPr id="793" name="Google Shape;793;g3f88e45ce95_0_837"/>
          <p:cNvSpPr/>
          <p:nvPr/>
        </p:nvSpPr>
        <p:spPr>
          <a:xfrm>
            <a:off x="5344775" y="3976687"/>
            <a:ext cx="2167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85,0</a:t>
            </a:r>
            <a:endParaRPr b="0" i="0" sz="2775" u="none" cap="none" strike="noStrike">
              <a:solidFill>
                <a:schemeClr val="dk1"/>
              </a:solidFill>
              <a:latin typeface="Calibri"/>
              <a:ea typeface="Calibri"/>
              <a:cs typeface="Calibri"/>
              <a:sym typeface="Calibri"/>
            </a:endParaRPr>
          </a:p>
        </p:txBody>
      </p:sp>
      <p:sp>
        <p:nvSpPr>
          <p:cNvPr id="794" name="Google Shape;794;g3f88e45ce95_0_837"/>
          <p:cNvSpPr/>
          <p:nvPr/>
        </p:nvSpPr>
        <p:spPr>
          <a:xfrm>
            <a:off x="7658852" y="3976687"/>
            <a:ext cx="1457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96,8</a:t>
            </a:r>
            <a:endParaRPr b="0" i="0" sz="2775" u="none" cap="none" strike="noStrike">
              <a:solidFill>
                <a:schemeClr val="dk1"/>
              </a:solidFill>
              <a:latin typeface="Calibri"/>
              <a:ea typeface="Calibri"/>
              <a:cs typeface="Calibri"/>
              <a:sym typeface="Calibri"/>
            </a:endParaRPr>
          </a:p>
        </p:txBody>
      </p:sp>
      <p:sp>
        <p:nvSpPr>
          <p:cNvPr id="795" name="Google Shape;795;g3f88e45ce95_0_837"/>
          <p:cNvSpPr/>
          <p:nvPr/>
        </p:nvSpPr>
        <p:spPr>
          <a:xfrm>
            <a:off x="9305270" y="3976687"/>
            <a:ext cx="12498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70,0</a:t>
            </a:r>
            <a:endParaRPr b="0" i="0" sz="2775" u="none" cap="none" strike="noStrike">
              <a:solidFill>
                <a:schemeClr val="dk1"/>
              </a:solidFill>
              <a:latin typeface="Calibri"/>
              <a:ea typeface="Calibri"/>
              <a:cs typeface="Calibri"/>
              <a:sym typeface="Calibri"/>
            </a:endParaRPr>
          </a:p>
        </p:txBody>
      </p:sp>
      <p:sp>
        <p:nvSpPr>
          <p:cNvPr id="796" name="Google Shape;796;g3f88e45ce95_0_837"/>
          <p:cNvSpPr/>
          <p:nvPr/>
        </p:nvSpPr>
        <p:spPr>
          <a:xfrm>
            <a:off x="10738105" y="3976687"/>
            <a:ext cx="15789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13,5</a:t>
            </a:r>
            <a:endParaRPr b="0" i="0" sz="2775" u="none" cap="none" strike="noStrike">
              <a:solidFill>
                <a:schemeClr val="dk1"/>
              </a:solidFill>
              <a:latin typeface="Calibri"/>
              <a:ea typeface="Calibri"/>
              <a:cs typeface="Calibri"/>
              <a:sym typeface="Calibri"/>
            </a:endParaRPr>
          </a:p>
        </p:txBody>
      </p:sp>
      <p:sp>
        <p:nvSpPr>
          <p:cNvPr id="797" name="Google Shape;797;g3f88e45ce95_0_837"/>
          <p:cNvSpPr/>
          <p:nvPr/>
        </p:nvSpPr>
        <p:spPr>
          <a:xfrm>
            <a:off x="12490698" y="3976687"/>
            <a:ext cx="14580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8,9</a:t>
            </a:r>
            <a:endParaRPr b="0" i="0" sz="2775" u="none" cap="none" strike="noStrike">
              <a:solidFill>
                <a:schemeClr val="dk1"/>
              </a:solidFill>
              <a:latin typeface="Calibri"/>
              <a:ea typeface="Calibri"/>
              <a:cs typeface="Calibri"/>
              <a:sym typeface="Calibri"/>
            </a:endParaRPr>
          </a:p>
        </p:txBody>
      </p:sp>
      <p:sp>
        <p:nvSpPr>
          <p:cNvPr id="798" name="Google Shape;798;g3f88e45ce95_0_837"/>
          <p:cNvSpPr/>
          <p:nvPr/>
        </p:nvSpPr>
        <p:spPr>
          <a:xfrm>
            <a:off x="14124928" y="3976687"/>
            <a:ext cx="15213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88,1</a:t>
            </a:r>
            <a:endParaRPr b="0" i="0" sz="2775" u="none" cap="none" strike="noStrike">
              <a:solidFill>
                <a:schemeClr val="dk1"/>
              </a:solidFill>
              <a:latin typeface="Calibri"/>
              <a:ea typeface="Calibri"/>
              <a:cs typeface="Calibri"/>
              <a:sym typeface="Calibri"/>
            </a:endParaRPr>
          </a:p>
        </p:txBody>
      </p:sp>
      <p:sp>
        <p:nvSpPr>
          <p:cNvPr id="799" name="Google Shape;799;g3f88e45ce95_0_837"/>
          <p:cNvSpPr/>
          <p:nvPr/>
        </p:nvSpPr>
        <p:spPr>
          <a:xfrm>
            <a:off x="15819477" y="3976687"/>
            <a:ext cx="15246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82,1</a:t>
            </a:r>
            <a:endParaRPr b="0" i="0" sz="2775" u="none" cap="none" strike="noStrike">
              <a:solidFill>
                <a:schemeClr val="dk1"/>
              </a:solidFill>
              <a:latin typeface="Calibri"/>
              <a:ea typeface="Calibri"/>
              <a:cs typeface="Calibri"/>
              <a:sym typeface="Calibri"/>
            </a:endParaRPr>
          </a:p>
        </p:txBody>
      </p:sp>
      <p:sp>
        <p:nvSpPr>
          <p:cNvPr id="800" name="Google Shape;800;g3f88e45ce95_0_837"/>
          <p:cNvSpPr/>
          <p:nvPr/>
        </p:nvSpPr>
        <p:spPr>
          <a:xfrm>
            <a:off x="857250" y="501491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g3f88e45ce95_0_837"/>
          <p:cNvSpPr/>
          <p:nvPr/>
        </p:nvSpPr>
        <p:spPr>
          <a:xfrm>
            <a:off x="1028700" y="4538662"/>
            <a:ext cx="45303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Llama 3.1</a:t>
            </a:r>
            <a:endParaRPr b="0" i="0" sz="2775" u="none" cap="none" strike="noStrike">
              <a:solidFill>
                <a:schemeClr val="dk1"/>
              </a:solidFill>
              <a:latin typeface="Calibri"/>
              <a:ea typeface="Calibri"/>
              <a:cs typeface="Calibri"/>
              <a:sym typeface="Calibri"/>
            </a:endParaRPr>
          </a:p>
        </p:txBody>
      </p:sp>
      <p:sp>
        <p:nvSpPr>
          <p:cNvPr id="802" name="Google Shape;802;g3f88e45ce95_0_837"/>
          <p:cNvSpPr/>
          <p:nvPr/>
        </p:nvSpPr>
        <p:spPr>
          <a:xfrm>
            <a:off x="5344775" y="4538662"/>
            <a:ext cx="2167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85,5</a:t>
            </a:r>
            <a:endParaRPr b="0" i="0" sz="2775" u="none" cap="none" strike="noStrike">
              <a:solidFill>
                <a:schemeClr val="dk1"/>
              </a:solidFill>
              <a:latin typeface="Calibri"/>
              <a:ea typeface="Calibri"/>
              <a:cs typeface="Calibri"/>
              <a:sym typeface="Calibri"/>
            </a:endParaRPr>
          </a:p>
        </p:txBody>
      </p:sp>
      <p:sp>
        <p:nvSpPr>
          <p:cNvPr id="803" name="Google Shape;803;g3f88e45ce95_0_837"/>
          <p:cNvSpPr/>
          <p:nvPr/>
        </p:nvSpPr>
        <p:spPr>
          <a:xfrm>
            <a:off x="7658852" y="4538662"/>
            <a:ext cx="1457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95,6</a:t>
            </a:r>
            <a:endParaRPr b="0" i="0" sz="2775" u="none" cap="none" strike="noStrike">
              <a:solidFill>
                <a:schemeClr val="dk1"/>
              </a:solidFill>
              <a:latin typeface="Calibri"/>
              <a:ea typeface="Calibri"/>
              <a:cs typeface="Calibri"/>
              <a:sym typeface="Calibri"/>
            </a:endParaRPr>
          </a:p>
        </p:txBody>
      </p:sp>
      <p:sp>
        <p:nvSpPr>
          <p:cNvPr id="804" name="Google Shape;804;g3f88e45ce95_0_837"/>
          <p:cNvSpPr/>
          <p:nvPr/>
        </p:nvSpPr>
        <p:spPr>
          <a:xfrm>
            <a:off x="9305270" y="4538662"/>
            <a:ext cx="12498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67,4</a:t>
            </a:r>
            <a:endParaRPr b="0" i="0" sz="2775" u="none" cap="none" strike="noStrike">
              <a:solidFill>
                <a:schemeClr val="dk1"/>
              </a:solidFill>
              <a:latin typeface="Calibri"/>
              <a:ea typeface="Calibri"/>
              <a:cs typeface="Calibri"/>
              <a:sym typeface="Calibri"/>
            </a:endParaRPr>
          </a:p>
        </p:txBody>
      </p:sp>
      <p:sp>
        <p:nvSpPr>
          <p:cNvPr id="805" name="Google Shape;805;g3f88e45ce95_0_837"/>
          <p:cNvSpPr/>
          <p:nvPr/>
        </p:nvSpPr>
        <p:spPr>
          <a:xfrm>
            <a:off x="10738105" y="4538662"/>
            <a:ext cx="15789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3,2</a:t>
            </a:r>
            <a:endParaRPr b="0" i="0" sz="2775" u="none" cap="none" strike="noStrike">
              <a:solidFill>
                <a:schemeClr val="dk1"/>
              </a:solidFill>
              <a:latin typeface="Calibri"/>
              <a:ea typeface="Calibri"/>
              <a:cs typeface="Calibri"/>
              <a:sym typeface="Calibri"/>
            </a:endParaRPr>
          </a:p>
        </p:txBody>
      </p:sp>
      <p:sp>
        <p:nvSpPr>
          <p:cNvPr id="806" name="Google Shape;806;g3f88e45ce95_0_837"/>
          <p:cNvSpPr/>
          <p:nvPr/>
        </p:nvSpPr>
        <p:spPr>
          <a:xfrm>
            <a:off x="12490698" y="4538662"/>
            <a:ext cx="14580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17,4</a:t>
            </a:r>
            <a:endParaRPr b="0" i="0" sz="2775" u="none" cap="none" strike="noStrike">
              <a:solidFill>
                <a:schemeClr val="dk1"/>
              </a:solidFill>
              <a:latin typeface="Calibri"/>
              <a:ea typeface="Calibri"/>
              <a:cs typeface="Calibri"/>
              <a:sym typeface="Calibri"/>
            </a:endParaRPr>
          </a:p>
        </p:txBody>
      </p:sp>
      <p:sp>
        <p:nvSpPr>
          <p:cNvPr id="807" name="Google Shape;807;g3f88e45ce95_0_837"/>
          <p:cNvSpPr/>
          <p:nvPr/>
        </p:nvSpPr>
        <p:spPr>
          <a:xfrm>
            <a:off x="14124928" y="4538662"/>
            <a:ext cx="15213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99,1</a:t>
            </a:r>
            <a:endParaRPr b="0" i="0" sz="2775" u="none" cap="none" strike="noStrike">
              <a:solidFill>
                <a:schemeClr val="dk1"/>
              </a:solidFill>
              <a:latin typeface="Calibri"/>
              <a:ea typeface="Calibri"/>
              <a:cs typeface="Calibri"/>
              <a:sym typeface="Calibri"/>
            </a:endParaRPr>
          </a:p>
        </p:txBody>
      </p:sp>
      <p:sp>
        <p:nvSpPr>
          <p:cNvPr id="808" name="Google Shape;808;g3f88e45ce95_0_837"/>
          <p:cNvSpPr/>
          <p:nvPr/>
        </p:nvSpPr>
        <p:spPr>
          <a:xfrm>
            <a:off x="15819477" y="4538662"/>
            <a:ext cx="15246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84,1</a:t>
            </a:r>
            <a:endParaRPr b="0" i="0" sz="2775" u="none" cap="none" strike="noStrike">
              <a:solidFill>
                <a:schemeClr val="dk1"/>
              </a:solidFill>
              <a:latin typeface="Calibri"/>
              <a:ea typeface="Calibri"/>
              <a:cs typeface="Calibri"/>
              <a:sym typeface="Calibri"/>
            </a:endParaRPr>
          </a:p>
        </p:txBody>
      </p:sp>
      <p:sp>
        <p:nvSpPr>
          <p:cNvPr id="809" name="Google Shape;809;g3f88e45ce95_0_837"/>
          <p:cNvSpPr/>
          <p:nvPr/>
        </p:nvSpPr>
        <p:spPr>
          <a:xfrm>
            <a:off x="857250" y="565308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g3f88e45ce95_0_837"/>
          <p:cNvSpPr/>
          <p:nvPr/>
        </p:nvSpPr>
        <p:spPr>
          <a:xfrm>
            <a:off x="1028700" y="5100638"/>
            <a:ext cx="4220100" cy="523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Phi-4</a:t>
            </a:r>
            <a:endParaRPr b="0" i="0" sz="2775" u="none" cap="none" strike="noStrike">
              <a:solidFill>
                <a:schemeClr val="dk1"/>
              </a:solidFill>
              <a:latin typeface="Calibri"/>
              <a:ea typeface="Calibri"/>
              <a:cs typeface="Calibri"/>
              <a:sym typeface="Calibri"/>
            </a:endParaRPr>
          </a:p>
        </p:txBody>
      </p:sp>
      <p:sp>
        <p:nvSpPr>
          <p:cNvPr id="811" name="Google Shape;811;g3f88e45ce95_0_837"/>
          <p:cNvSpPr/>
          <p:nvPr/>
        </p:nvSpPr>
        <p:spPr>
          <a:xfrm>
            <a:off x="5420767" y="5100638"/>
            <a:ext cx="20151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91,0</a:t>
            </a:r>
            <a:endParaRPr b="0" i="0" sz="2775" u="none" cap="none" strike="noStrike">
              <a:solidFill>
                <a:schemeClr val="dk1"/>
              </a:solidFill>
              <a:latin typeface="Calibri"/>
              <a:ea typeface="Calibri"/>
              <a:cs typeface="Calibri"/>
              <a:sym typeface="Calibri"/>
            </a:endParaRPr>
          </a:p>
        </p:txBody>
      </p:sp>
      <p:sp>
        <p:nvSpPr>
          <p:cNvPr id="812" name="Google Shape;812;g3f88e45ce95_0_837"/>
          <p:cNvSpPr/>
          <p:nvPr/>
        </p:nvSpPr>
        <p:spPr>
          <a:xfrm>
            <a:off x="7835205" y="5105400"/>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g3f88e45ce95_0_837"/>
          <p:cNvSpPr/>
          <p:nvPr/>
        </p:nvSpPr>
        <p:spPr>
          <a:xfrm>
            <a:off x="7894260" y="5143500"/>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98,8</a:t>
            </a:r>
            <a:endParaRPr b="0" i="0" sz="2775" u="none" cap="none" strike="noStrike">
              <a:solidFill>
                <a:schemeClr val="dk1"/>
              </a:solidFill>
              <a:latin typeface="Calibri"/>
              <a:ea typeface="Calibri"/>
              <a:cs typeface="Calibri"/>
              <a:sym typeface="Calibri"/>
            </a:endParaRPr>
          </a:p>
        </p:txBody>
      </p:sp>
      <p:sp>
        <p:nvSpPr>
          <p:cNvPr id="814" name="Google Shape;814;g3f88e45ce95_0_837"/>
          <p:cNvSpPr/>
          <p:nvPr/>
        </p:nvSpPr>
        <p:spPr>
          <a:xfrm>
            <a:off x="9377660" y="5105400"/>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g3f88e45ce95_0_837"/>
          <p:cNvSpPr/>
          <p:nvPr/>
        </p:nvSpPr>
        <p:spPr>
          <a:xfrm>
            <a:off x="9436715" y="5143500"/>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90,4</a:t>
            </a:r>
            <a:endParaRPr b="0" i="0" sz="2775" u="none" cap="none" strike="noStrike">
              <a:solidFill>
                <a:schemeClr val="dk1"/>
              </a:solidFill>
              <a:latin typeface="Calibri"/>
              <a:ea typeface="Calibri"/>
              <a:cs typeface="Calibri"/>
              <a:sym typeface="Calibri"/>
            </a:endParaRPr>
          </a:p>
        </p:txBody>
      </p:sp>
      <p:sp>
        <p:nvSpPr>
          <p:cNvPr id="816" name="Google Shape;816;g3f88e45ce95_0_837"/>
          <p:cNvSpPr/>
          <p:nvPr/>
        </p:nvSpPr>
        <p:spPr>
          <a:xfrm>
            <a:off x="10975032" y="5105400"/>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g3f88e45ce95_0_837"/>
          <p:cNvSpPr/>
          <p:nvPr/>
        </p:nvSpPr>
        <p:spPr>
          <a:xfrm>
            <a:off x="11034087" y="5143500"/>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2,3</a:t>
            </a:r>
            <a:endParaRPr b="0" i="0" sz="2775" u="none" cap="none" strike="noStrike">
              <a:solidFill>
                <a:schemeClr val="dk1"/>
              </a:solidFill>
              <a:latin typeface="Calibri"/>
              <a:ea typeface="Calibri"/>
              <a:cs typeface="Calibri"/>
              <a:sym typeface="Calibri"/>
            </a:endParaRPr>
          </a:p>
        </p:txBody>
      </p:sp>
      <p:sp>
        <p:nvSpPr>
          <p:cNvPr id="818" name="Google Shape;818;g3f88e45ce95_0_837"/>
          <p:cNvSpPr/>
          <p:nvPr/>
        </p:nvSpPr>
        <p:spPr>
          <a:xfrm>
            <a:off x="12534454" y="5100638"/>
            <a:ext cx="13704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8,6</a:t>
            </a:r>
            <a:endParaRPr b="0" i="0" sz="2775" u="none" cap="none" strike="noStrike">
              <a:solidFill>
                <a:schemeClr val="dk1"/>
              </a:solidFill>
              <a:latin typeface="Calibri"/>
              <a:ea typeface="Calibri"/>
              <a:cs typeface="Calibri"/>
              <a:sym typeface="Calibri"/>
            </a:endParaRPr>
          </a:p>
        </p:txBody>
      </p:sp>
      <p:sp>
        <p:nvSpPr>
          <p:cNvPr id="819" name="Google Shape;819;g3f88e45ce95_0_837"/>
          <p:cNvSpPr/>
          <p:nvPr/>
        </p:nvSpPr>
        <p:spPr>
          <a:xfrm>
            <a:off x="14330214" y="5105400"/>
            <a:ext cx="11106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g3f88e45ce95_0_837"/>
          <p:cNvSpPr/>
          <p:nvPr/>
        </p:nvSpPr>
        <p:spPr>
          <a:xfrm>
            <a:off x="14388986" y="5143500"/>
            <a:ext cx="9930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100,0</a:t>
            </a:r>
            <a:endParaRPr b="0" i="0" sz="2775" u="none" cap="none" strike="noStrike">
              <a:solidFill>
                <a:schemeClr val="dk1"/>
              </a:solidFill>
              <a:latin typeface="Calibri"/>
              <a:ea typeface="Calibri"/>
              <a:cs typeface="Calibri"/>
              <a:sym typeface="Calibri"/>
            </a:endParaRPr>
          </a:p>
        </p:txBody>
      </p:sp>
      <p:sp>
        <p:nvSpPr>
          <p:cNvPr id="821" name="Google Shape;821;g3f88e45ce95_0_837"/>
          <p:cNvSpPr/>
          <p:nvPr/>
        </p:nvSpPr>
        <p:spPr>
          <a:xfrm>
            <a:off x="15866269" y="5100638"/>
            <a:ext cx="14310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88,8</a:t>
            </a:r>
            <a:endParaRPr b="0" i="0" sz="2775" u="none" cap="none" strike="noStrike">
              <a:solidFill>
                <a:schemeClr val="dk1"/>
              </a:solidFill>
              <a:latin typeface="Calibri"/>
              <a:ea typeface="Calibri"/>
              <a:cs typeface="Calibri"/>
              <a:sym typeface="Calibri"/>
            </a:endParaRPr>
          </a:p>
        </p:txBody>
      </p:sp>
      <p:sp>
        <p:nvSpPr>
          <p:cNvPr id="822" name="Google Shape;822;g3f88e45ce95_0_837"/>
          <p:cNvSpPr/>
          <p:nvPr/>
        </p:nvSpPr>
        <p:spPr>
          <a:xfrm>
            <a:off x="857250" y="621506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g3f88e45ce95_0_837"/>
          <p:cNvSpPr/>
          <p:nvPr/>
        </p:nvSpPr>
        <p:spPr>
          <a:xfrm>
            <a:off x="1028700" y="5738812"/>
            <a:ext cx="45303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DeepSeek-Coder-V2</a:t>
            </a:r>
            <a:endParaRPr b="0" i="0" sz="2775" u="none" cap="none" strike="noStrike">
              <a:solidFill>
                <a:schemeClr val="dk1"/>
              </a:solidFill>
              <a:latin typeface="Calibri"/>
              <a:ea typeface="Calibri"/>
              <a:cs typeface="Calibri"/>
              <a:sym typeface="Calibri"/>
            </a:endParaRPr>
          </a:p>
        </p:txBody>
      </p:sp>
      <p:sp>
        <p:nvSpPr>
          <p:cNvPr id="824" name="Google Shape;824;g3f88e45ce95_0_837"/>
          <p:cNvSpPr/>
          <p:nvPr/>
        </p:nvSpPr>
        <p:spPr>
          <a:xfrm>
            <a:off x="5344775" y="5738812"/>
            <a:ext cx="2167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79,4</a:t>
            </a:r>
            <a:endParaRPr b="0" i="0" sz="2775" u="none" cap="none" strike="noStrike">
              <a:solidFill>
                <a:schemeClr val="dk1"/>
              </a:solidFill>
              <a:latin typeface="Calibri"/>
              <a:ea typeface="Calibri"/>
              <a:cs typeface="Calibri"/>
              <a:sym typeface="Calibri"/>
            </a:endParaRPr>
          </a:p>
        </p:txBody>
      </p:sp>
      <p:sp>
        <p:nvSpPr>
          <p:cNvPr id="825" name="Google Shape;825;g3f88e45ce95_0_837"/>
          <p:cNvSpPr/>
          <p:nvPr/>
        </p:nvSpPr>
        <p:spPr>
          <a:xfrm>
            <a:off x="7658852" y="5738812"/>
            <a:ext cx="1457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96,8</a:t>
            </a:r>
            <a:endParaRPr b="0" i="0" sz="2775" u="none" cap="none" strike="noStrike">
              <a:solidFill>
                <a:schemeClr val="dk1"/>
              </a:solidFill>
              <a:latin typeface="Calibri"/>
              <a:ea typeface="Calibri"/>
              <a:cs typeface="Calibri"/>
              <a:sym typeface="Calibri"/>
            </a:endParaRPr>
          </a:p>
        </p:txBody>
      </p:sp>
      <p:sp>
        <p:nvSpPr>
          <p:cNvPr id="826" name="Google Shape;826;g3f88e45ce95_0_837"/>
          <p:cNvSpPr/>
          <p:nvPr/>
        </p:nvSpPr>
        <p:spPr>
          <a:xfrm>
            <a:off x="9305270" y="5738812"/>
            <a:ext cx="12498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77,1</a:t>
            </a:r>
            <a:endParaRPr b="0" i="0" sz="2775" u="none" cap="none" strike="noStrike">
              <a:solidFill>
                <a:schemeClr val="dk1"/>
              </a:solidFill>
              <a:latin typeface="Calibri"/>
              <a:ea typeface="Calibri"/>
              <a:cs typeface="Calibri"/>
              <a:sym typeface="Calibri"/>
            </a:endParaRPr>
          </a:p>
        </p:txBody>
      </p:sp>
      <p:sp>
        <p:nvSpPr>
          <p:cNvPr id="827" name="Google Shape;827;g3f88e45ce95_0_837"/>
          <p:cNvSpPr/>
          <p:nvPr/>
        </p:nvSpPr>
        <p:spPr>
          <a:xfrm>
            <a:off x="10738105" y="5738812"/>
            <a:ext cx="15789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6,7</a:t>
            </a:r>
            <a:endParaRPr b="0" i="0" sz="2775" u="none" cap="none" strike="noStrike">
              <a:solidFill>
                <a:schemeClr val="dk1"/>
              </a:solidFill>
              <a:latin typeface="Calibri"/>
              <a:ea typeface="Calibri"/>
              <a:cs typeface="Calibri"/>
              <a:sym typeface="Calibri"/>
            </a:endParaRPr>
          </a:p>
        </p:txBody>
      </p:sp>
      <p:sp>
        <p:nvSpPr>
          <p:cNvPr id="828" name="Google Shape;828;g3f88e45ce95_0_837"/>
          <p:cNvSpPr/>
          <p:nvPr/>
        </p:nvSpPr>
        <p:spPr>
          <a:xfrm>
            <a:off x="12490698" y="5738812"/>
            <a:ext cx="14580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12,0</a:t>
            </a:r>
            <a:endParaRPr b="0" i="0" sz="2775" u="none" cap="none" strike="noStrike">
              <a:solidFill>
                <a:schemeClr val="dk1"/>
              </a:solidFill>
              <a:latin typeface="Calibri"/>
              <a:ea typeface="Calibri"/>
              <a:cs typeface="Calibri"/>
              <a:sym typeface="Calibri"/>
            </a:endParaRPr>
          </a:p>
        </p:txBody>
      </p:sp>
      <p:sp>
        <p:nvSpPr>
          <p:cNvPr id="829" name="Google Shape;829;g3f88e45ce95_0_837"/>
          <p:cNvSpPr/>
          <p:nvPr/>
        </p:nvSpPr>
        <p:spPr>
          <a:xfrm>
            <a:off x="14124928" y="5738812"/>
            <a:ext cx="15213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97,7</a:t>
            </a:r>
            <a:endParaRPr b="0" i="0" sz="2775" u="none" cap="none" strike="noStrike">
              <a:solidFill>
                <a:schemeClr val="dk1"/>
              </a:solidFill>
              <a:latin typeface="Calibri"/>
              <a:ea typeface="Calibri"/>
              <a:cs typeface="Calibri"/>
              <a:sym typeface="Calibri"/>
            </a:endParaRPr>
          </a:p>
        </p:txBody>
      </p:sp>
      <p:sp>
        <p:nvSpPr>
          <p:cNvPr id="830" name="Google Shape;830;g3f88e45ce95_0_837"/>
          <p:cNvSpPr/>
          <p:nvPr/>
        </p:nvSpPr>
        <p:spPr>
          <a:xfrm>
            <a:off x="15819477" y="5738812"/>
            <a:ext cx="15246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76,0</a:t>
            </a:r>
            <a:endParaRPr b="0" i="0" sz="2775" u="none" cap="none" strike="noStrike">
              <a:solidFill>
                <a:schemeClr val="dk1"/>
              </a:solidFill>
              <a:latin typeface="Calibri"/>
              <a:ea typeface="Calibri"/>
              <a:cs typeface="Calibri"/>
              <a:sym typeface="Calibri"/>
            </a:endParaRPr>
          </a:p>
        </p:txBody>
      </p:sp>
      <p:sp>
        <p:nvSpPr>
          <p:cNvPr id="831" name="Google Shape;831;g3f88e45ce95_0_837"/>
          <p:cNvSpPr/>
          <p:nvPr/>
        </p:nvSpPr>
        <p:spPr>
          <a:xfrm>
            <a:off x="857250" y="685323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g3f88e45ce95_0_837"/>
          <p:cNvSpPr/>
          <p:nvPr/>
        </p:nvSpPr>
        <p:spPr>
          <a:xfrm>
            <a:off x="1028700" y="6300788"/>
            <a:ext cx="4220100" cy="523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gpt-oss</a:t>
            </a:r>
            <a:endParaRPr b="0" i="0" sz="2775" u="none" cap="none" strike="noStrike">
              <a:solidFill>
                <a:schemeClr val="dk1"/>
              </a:solidFill>
              <a:latin typeface="Calibri"/>
              <a:ea typeface="Calibri"/>
              <a:cs typeface="Calibri"/>
              <a:sym typeface="Calibri"/>
            </a:endParaRPr>
          </a:p>
        </p:txBody>
      </p:sp>
      <p:sp>
        <p:nvSpPr>
          <p:cNvPr id="833" name="Google Shape;833;g3f88e45ce95_0_837"/>
          <p:cNvSpPr/>
          <p:nvPr/>
        </p:nvSpPr>
        <p:spPr>
          <a:xfrm>
            <a:off x="5420767" y="6300788"/>
            <a:ext cx="20151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91,1</a:t>
            </a:r>
            <a:endParaRPr b="0" i="0" sz="2775" u="none" cap="none" strike="noStrike">
              <a:solidFill>
                <a:schemeClr val="dk1"/>
              </a:solidFill>
              <a:latin typeface="Calibri"/>
              <a:ea typeface="Calibri"/>
              <a:cs typeface="Calibri"/>
              <a:sym typeface="Calibri"/>
            </a:endParaRPr>
          </a:p>
        </p:txBody>
      </p:sp>
      <p:sp>
        <p:nvSpPr>
          <p:cNvPr id="834" name="Google Shape;834;g3f88e45ce95_0_837"/>
          <p:cNvSpPr/>
          <p:nvPr/>
        </p:nvSpPr>
        <p:spPr>
          <a:xfrm>
            <a:off x="7702600" y="6300788"/>
            <a:ext cx="13704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98,5</a:t>
            </a:r>
            <a:endParaRPr b="0" i="0" sz="2775" u="none" cap="none" strike="noStrike">
              <a:solidFill>
                <a:schemeClr val="dk1"/>
              </a:solidFill>
              <a:latin typeface="Calibri"/>
              <a:ea typeface="Calibri"/>
              <a:cs typeface="Calibri"/>
              <a:sym typeface="Calibri"/>
            </a:endParaRPr>
          </a:p>
        </p:txBody>
      </p:sp>
      <p:sp>
        <p:nvSpPr>
          <p:cNvPr id="835" name="Google Shape;835;g3f88e45ce95_0_837"/>
          <p:cNvSpPr/>
          <p:nvPr/>
        </p:nvSpPr>
        <p:spPr>
          <a:xfrm>
            <a:off x="9339560" y="6300788"/>
            <a:ext cx="11811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87,9</a:t>
            </a:r>
            <a:endParaRPr b="0" i="0" sz="2775" u="none" cap="none" strike="noStrike">
              <a:solidFill>
                <a:schemeClr val="dk1"/>
              </a:solidFill>
              <a:latin typeface="Calibri"/>
              <a:ea typeface="Calibri"/>
              <a:cs typeface="Calibri"/>
              <a:sym typeface="Calibri"/>
            </a:endParaRPr>
          </a:p>
        </p:txBody>
      </p:sp>
      <p:sp>
        <p:nvSpPr>
          <p:cNvPr id="836" name="Google Shape;836;g3f88e45ce95_0_837"/>
          <p:cNvSpPr/>
          <p:nvPr/>
        </p:nvSpPr>
        <p:spPr>
          <a:xfrm>
            <a:off x="10787360" y="6300788"/>
            <a:ext cx="14805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2,6</a:t>
            </a:r>
            <a:endParaRPr b="0" i="0" sz="2775" u="none" cap="none" strike="noStrike">
              <a:solidFill>
                <a:schemeClr val="dk1"/>
              </a:solidFill>
              <a:latin typeface="Calibri"/>
              <a:ea typeface="Calibri"/>
              <a:cs typeface="Calibri"/>
              <a:sym typeface="Calibri"/>
            </a:endParaRPr>
          </a:p>
        </p:txBody>
      </p:sp>
      <p:sp>
        <p:nvSpPr>
          <p:cNvPr id="837" name="Google Shape;837;g3f88e45ce95_0_837"/>
          <p:cNvSpPr/>
          <p:nvPr/>
        </p:nvSpPr>
        <p:spPr>
          <a:xfrm>
            <a:off x="12534454" y="6300788"/>
            <a:ext cx="13704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9,5</a:t>
            </a:r>
            <a:endParaRPr b="0" i="0" sz="2775" u="none" cap="none" strike="noStrike">
              <a:solidFill>
                <a:schemeClr val="dk1"/>
              </a:solidFill>
              <a:latin typeface="Calibri"/>
              <a:ea typeface="Calibri"/>
              <a:cs typeface="Calibri"/>
              <a:sym typeface="Calibri"/>
            </a:endParaRPr>
          </a:p>
        </p:txBody>
      </p:sp>
      <p:sp>
        <p:nvSpPr>
          <p:cNvPr id="838" name="Google Shape;838;g3f88e45ce95_0_837"/>
          <p:cNvSpPr/>
          <p:nvPr/>
        </p:nvSpPr>
        <p:spPr>
          <a:xfrm>
            <a:off x="14171563" y="6300788"/>
            <a:ext cx="1428000" cy="523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99,8</a:t>
            </a:r>
            <a:endParaRPr b="0" i="0" sz="2775" u="none" cap="none" strike="noStrike">
              <a:solidFill>
                <a:schemeClr val="dk1"/>
              </a:solidFill>
              <a:latin typeface="Calibri"/>
              <a:ea typeface="Calibri"/>
              <a:cs typeface="Calibri"/>
              <a:sym typeface="Calibri"/>
            </a:endParaRPr>
          </a:p>
        </p:txBody>
      </p:sp>
      <p:sp>
        <p:nvSpPr>
          <p:cNvPr id="839" name="Google Shape;839;g3f88e45ce95_0_837"/>
          <p:cNvSpPr/>
          <p:nvPr/>
        </p:nvSpPr>
        <p:spPr>
          <a:xfrm>
            <a:off x="16029384" y="6305550"/>
            <a:ext cx="1104900" cy="476400"/>
          </a:xfrm>
          <a:prstGeom prst="roundRect">
            <a:avLst>
              <a:gd fmla="val 2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g3f88e45ce95_0_837"/>
          <p:cNvSpPr/>
          <p:nvPr/>
        </p:nvSpPr>
        <p:spPr>
          <a:xfrm>
            <a:off x="16088439" y="6343650"/>
            <a:ext cx="986700" cy="438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89,8</a:t>
            </a:r>
            <a:endParaRPr b="0" i="0" sz="2775" u="none" cap="none" strike="noStrike">
              <a:solidFill>
                <a:schemeClr val="dk1"/>
              </a:solidFill>
              <a:latin typeface="Calibri"/>
              <a:ea typeface="Calibri"/>
              <a:cs typeface="Calibri"/>
              <a:sym typeface="Calibri"/>
            </a:endParaRPr>
          </a:p>
        </p:txBody>
      </p:sp>
      <p:sp>
        <p:nvSpPr>
          <p:cNvPr id="841" name="Google Shape;841;g3f88e45ce95_0_837"/>
          <p:cNvSpPr/>
          <p:nvPr/>
        </p:nvSpPr>
        <p:spPr>
          <a:xfrm>
            <a:off x="857250" y="741521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g3f88e45ce95_0_837"/>
          <p:cNvSpPr/>
          <p:nvPr/>
        </p:nvSpPr>
        <p:spPr>
          <a:xfrm>
            <a:off x="1028700" y="6938962"/>
            <a:ext cx="45303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Foundation-Sec</a:t>
            </a:r>
            <a:endParaRPr b="0" i="0" sz="2775" u="none" cap="none" strike="noStrike">
              <a:solidFill>
                <a:schemeClr val="dk1"/>
              </a:solidFill>
              <a:latin typeface="Calibri"/>
              <a:ea typeface="Calibri"/>
              <a:cs typeface="Calibri"/>
              <a:sym typeface="Calibri"/>
            </a:endParaRPr>
          </a:p>
        </p:txBody>
      </p:sp>
      <p:sp>
        <p:nvSpPr>
          <p:cNvPr id="843" name="Google Shape;843;g3f88e45ce95_0_837"/>
          <p:cNvSpPr/>
          <p:nvPr/>
        </p:nvSpPr>
        <p:spPr>
          <a:xfrm>
            <a:off x="5344775" y="6938962"/>
            <a:ext cx="2167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78,8</a:t>
            </a:r>
            <a:endParaRPr b="0" i="0" sz="2775" u="none" cap="none" strike="noStrike">
              <a:solidFill>
                <a:schemeClr val="dk1"/>
              </a:solidFill>
              <a:latin typeface="Calibri"/>
              <a:ea typeface="Calibri"/>
              <a:cs typeface="Calibri"/>
              <a:sym typeface="Calibri"/>
            </a:endParaRPr>
          </a:p>
        </p:txBody>
      </p:sp>
      <p:sp>
        <p:nvSpPr>
          <p:cNvPr id="844" name="Google Shape;844;g3f88e45ce95_0_837"/>
          <p:cNvSpPr/>
          <p:nvPr/>
        </p:nvSpPr>
        <p:spPr>
          <a:xfrm>
            <a:off x="7658852" y="6938962"/>
            <a:ext cx="1457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97,8</a:t>
            </a:r>
            <a:endParaRPr b="0" i="0" sz="2775" u="none" cap="none" strike="noStrike">
              <a:solidFill>
                <a:schemeClr val="dk1"/>
              </a:solidFill>
              <a:latin typeface="Calibri"/>
              <a:ea typeface="Calibri"/>
              <a:cs typeface="Calibri"/>
              <a:sym typeface="Calibri"/>
            </a:endParaRPr>
          </a:p>
        </p:txBody>
      </p:sp>
      <p:sp>
        <p:nvSpPr>
          <p:cNvPr id="845" name="Google Shape;845;g3f88e45ce95_0_837"/>
          <p:cNvSpPr/>
          <p:nvPr/>
        </p:nvSpPr>
        <p:spPr>
          <a:xfrm>
            <a:off x="9305270" y="6938962"/>
            <a:ext cx="12498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78,5</a:t>
            </a:r>
            <a:endParaRPr b="0" i="0" sz="2775" u="none" cap="none" strike="noStrike">
              <a:solidFill>
                <a:schemeClr val="dk1"/>
              </a:solidFill>
              <a:latin typeface="Calibri"/>
              <a:ea typeface="Calibri"/>
              <a:cs typeface="Calibri"/>
              <a:sym typeface="Calibri"/>
            </a:endParaRPr>
          </a:p>
        </p:txBody>
      </p:sp>
      <p:sp>
        <p:nvSpPr>
          <p:cNvPr id="846" name="Google Shape;846;g3f88e45ce95_0_837"/>
          <p:cNvSpPr/>
          <p:nvPr/>
        </p:nvSpPr>
        <p:spPr>
          <a:xfrm>
            <a:off x="10738105" y="6938962"/>
            <a:ext cx="15789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2,7</a:t>
            </a:r>
            <a:endParaRPr b="0" i="0" sz="2775" u="none" cap="none" strike="noStrike">
              <a:solidFill>
                <a:schemeClr val="dk1"/>
              </a:solidFill>
              <a:latin typeface="Calibri"/>
              <a:ea typeface="Calibri"/>
              <a:cs typeface="Calibri"/>
              <a:sym typeface="Calibri"/>
            </a:endParaRPr>
          </a:p>
        </p:txBody>
      </p:sp>
      <p:sp>
        <p:nvSpPr>
          <p:cNvPr id="847" name="Google Shape;847;g3f88e45ce95_0_837"/>
          <p:cNvSpPr/>
          <p:nvPr/>
        </p:nvSpPr>
        <p:spPr>
          <a:xfrm>
            <a:off x="12490698" y="6938962"/>
            <a:ext cx="14580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13,3</a:t>
            </a:r>
            <a:endParaRPr b="0" i="0" sz="2775" u="none" cap="none" strike="noStrike">
              <a:solidFill>
                <a:schemeClr val="dk1"/>
              </a:solidFill>
              <a:latin typeface="Calibri"/>
              <a:ea typeface="Calibri"/>
              <a:cs typeface="Calibri"/>
              <a:sym typeface="Calibri"/>
            </a:endParaRPr>
          </a:p>
        </p:txBody>
      </p:sp>
      <p:sp>
        <p:nvSpPr>
          <p:cNvPr id="848" name="Google Shape;848;g3f88e45ce95_0_837"/>
          <p:cNvSpPr/>
          <p:nvPr/>
        </p:nvSpPr>
        <p:spPr>
          <a:xfrm>
            <a:off x="14124928" y="6938962"/>
            <a:ext cx="15213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82,1</a:t>
            </a:r>
            <a:endParaRPr b="0" i="0" sz="2775" u="none" cap="none" strike="noStrike">
              <a:solidFill>
                <a:schemeClr val="dk1"/>
              </a:solidFill>
              <a:latin typeface="Calibri"/>
              <a:ea typeface="Calibri"/>
              <a:cs typeface="Calibri"/>
              <a:sym typeface="Calibri"/>
            </a:endParaRPr>
          </a:p>
        </p:txBody>
      </p:sp>
      <p:sp>
        <p:nvSpPr>
          <p:cNvPr id="849" name="Google Shape;849;g3f88e45ce95_0_837"/>
          <p:cNvSpPr/>
          <p:nvPr/>
        </p:nvSpPr>
        <p:spPr>
          <a:xfrm>
            <a:off x="15819477" y="6938962"/>
            <a:ext cx="15246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82,1</a:t>
            </a:r>
            <a:endParaRPr b="0" i="0" sz="2775" u="none" cap="none" strike="noStrike">
              <a:solidFill>
                <a:schemeClr val="dk1"/>
              </a:solidFill>
              <a:latin typeface="Calibri"/>
              <a:ea typeface="Calibri"/>
              <a:cs typeface="Calibri"/>
              <a:sym typeface="Calibri"/>
            </a:endParaRPr>
          </a:p>
        </p:txBody>
      </p:sp>
      <p:sp>
        <p:nvSpPr>
          <p:cNvPr id="850" name="Google Shape;850;g3f88e45ce95_0_837"/>
          <p:cNvSpPr/>
          <p:nvPr/>
        </p:nvSpPr>
        <p:spPr>
          <a:xfrm>
            <a:off x="857250" y="797718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g3f88e45ce95_0_837"/>
          <p:cNvSpPr/>
          <p:nvPr/>
        </p:nvSpPr>
        <p:spPr>
          <a:xfrm>
            <a:off x="1028700" y="7500938"/>
            <a:ext cx="45303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Primus-Merged</a:t>
            </a:r>
            <a:endParaRPr b="0" i="0" sz="2775" u="none" cap="none" strike="noStrike">
              <a:solidFill>
                <a:schemeClr val="dk1"/>
              </a:solidFill>
              <a:latin typeface="Calibri"/>
              <a:ea typeface="Calibri"/>
              <a:cs typeface="Calibri"/>
              <a:sym typeface="Calibri"/>
            </a:endParaRPr>
          </a:p>
        </p:txBody>
      </p:sp>
      <p:sp>
        <p:nvSpPr>
          <p:cNvPr id="852" name="Google Shape;852;g3f88e45ce95_0_837"/>
          <p:cNvSpPr/>
          <p:nvPr/>
        </p:nvSpPr>
        <p:spPr>
          <a:xfrm>
            <a:off x="5344775" y="7500938"/>
            <a:ext cx="2167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85,2</a:t>
            </a:r>
            <a:endParaRPr b="0" i="0" sz="2775" u="none" cap="none" strike="noStrike">
              <a:solidFill>
                <a:schemeClr val="dk1"/>
              </a:solidFill>
              <a:latin typeface="Calibri"/>
              <a:ea typeface="Calibri"/>
              <a:cs typeface="Calibri"/>
              <a:sym typeface="Calibri"/>
            </a:endParaRPr>
          </a:p>
        </p:txBody>
      </p:sp>
      <p:sp>
        <p:nvSpPr>
          <p:cNvPr id="853" name="Google Shape;853;g3f88e45ce95_0_837"/>
          <p:cNvSpPr/>
          <p:nvPr/>
        </p:nvSpPr>
        <p:spPr>
          <a:xfrm>
            <a:off x="7658852" y="7500938"/>
            <a:ext cx="1457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96,8</a:t>
            </a:r>
            <a:endParaRPr b="0" i="0" sz="2775" u="none" cap="none" strike="noStrike">
              <a:solidFill>
                <a:schemeClr val="dk1"/>
              </a:solidFill>
              <a:latin typeface="Calibri"/>
              <a:ea typeface="Calibri"/>
              <a:cs typeface="Calibri"/>
              <a:sym typeface="Calibri"/>
            </a:endParaRPr>
          </a:p>
        </p:txBody>
      </p:sp>
      <p:sp>
        <p:nvSpPr>
          <p:cNvPr id="854" name="Google Shape;854;g3f88e45ce95_0_837"/>
          <p:cNvSpPr/>
          <p:nvPr/>
        </p:nvSpPr>
        <p:spPr>
          <a:xfrm>
            <a:off x="9305270" y="7500938"/>
            <a:ext cx="12498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76,4</a:t>
            </a:r>
            <a:endParaRPr b="0" i="0" sz="2775" u="none" cap="none" strike="noStrike">
              <a:solidFill>
                <a:schemeClr val="dk1"/>
              </a:solidFill>
              <a:latin typeface="Calibri"/>
              <a:ea typeface="Calibri"/>
              <a:cs typeface="Calibri"/>
              <a:sym typeface="Calibri"/>
            </a:endParaRPr>
          </a:p>
        </p:txBody>
      </p:sp>
      <p:sp>
        <p:nvSpPr>
          <p:cNvPr id="855" name="Google Shape;855;g3f88e45ce95_0_837"/>
          <p:cNvSpPr/>
          <p:nvPr/>
        </p:nvSpPr>
        <p:spPr>
          <a:xfrm>
            <a:off x="10738105" y="7500938"/>
            <a:ext cx="15789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6,7</a:t>
            </a:r>
            <a:endParaRPr b="0" i="0" sz="2775" u="none" cap="none" strike="noStrike">
              <a:solidFill>
                <a:schemeClr val="dk1"/>
              </a:solidFill>
              <a:latin typeface="Calibri"/>
              <a:ea typeface="Calibri"/>
              <a:cs typeface="Calibri"/>
              <a:sym typeface="Calibri"/>
            </a:endParaRPr>
          </a:p>
        </p:txBody>
      </p:sp>
      <p:sp>
        <p:nvSpPr>
          <p:cNvPr id="856" name="Google Shape;856;g3f88e45ce95_0_837"/>
          <p:cNvSpPr/>
          <p:nvPr/>
        </p:nvSpPr>
        <p:spPr>
          <a:xfrm>
            <a:off x="12490698" y="7500938"/>
            <a:ext cx="14580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12,1</a:t>
            </a:r>
            <a:endParaRPr b="0" i="0" sz="2775" u="none" cap="none" strike="noStrike">
              <a:solidFill>
                <a:schemeClr val="dk1"/>
              </a:solidFill>
              <a:latin typeface="Calibri"/>
              <a:ea typeface="Calibri"/>
              <a:cs typeface="Calibri"/>
              <a:sym typeface="Calibri"/>
            </a:endParaRPr>
          </a:p>
        </p:txBody>
      </p:sp>
      <p:sp>
        <p:nvSpPr>
          <p:cNvPr id="857" name="Google Shape;857;g3f88e45ce95_0_837"/>
          <p:cNvSpPr/>
          <p:nvPr/>
        </p:nvSpPr>
        <p:spPr>
          <a:xfrm>
            <a:off x="14124928" y="7500938"/>
            <a:ext cx="15213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99,5</a:t>
            </a:r>
            <a:endParaRPr b="0" i="0" sz="2775" u="none" cap="none" strike="noStrike">
              <a:solidFill>
                <a:schemeClr val="dk1"/>
              </a:solidFill>
              <a:latin typeface="Calibri"/>
              <a:ea typeface="Calibri"/>
              <a:cs typeface="Calibri"/>
              <a:sym typeface="Calibri"/>
            </a:endParaRPr>
          </a:p>
        </p:txBody>
      </p:sp>
      <p:sp>
        <p:nvSpPr>
          <p:cNvPr id="858" name="Google Shape;858;g3f88e45ce95_0_837"/>
          <p:cNvSpPr/>
          <p:nvPr/>
        </p:nvSpPr>
        <p:spPr>
          <a:xfrm>
            <a:off x="15819477" y="7500938"/>
            <a:ext cx="15246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79,3</a:t>
            </a:r>
            <a:endParaRPr b="0" i="0" sz="2775" u="none" cap="none" strike="noStrike">
              <a:solidFill>
                <a:schemeClr val="dk1"/>
              </a:solidFill>
              <a:latin typeface="Calibri"/>
              <a:ea typeface="Calibri"/>
              <a:cs typeface="Calibri"/>
              <a:sym typeface="Calibri"/>
            </a:endParaRPr>
          </a:p>
        </p:txBody>
      </p:sp>
      <p:sp>
        <p:nvSpPr>
          <p:cNvPr id="859" name="Google Shape;859;g3f88e45ce95_0_837"/>
          <p:cNvSpPr/>
          <p:nvPr/>
        </p:nvSpPr>
        <p:spPr>
          <a:xfrm>
            <a:off x="857250" y="7986713"/>
            <a:ext cx="16573500" cy="976200"/>
          </a:xfrm>
          <a:prstGeom prst="rect">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g3f88e45ce95_0_837"/>
          <p:cNvSpPr/>
          <p:nvPr/>
        </p:nvSpPr>
        <p:spPr>
          <a:xfrm>
            <a:off x="1028700" y="8072438"/>
            <a:ext cx="4220100" cy="843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deepseek-v4-flash (nuvem)</a:t>
            </a:r>
            <a:endParaRPr b="0" i="0" sz="2775" u="none" cap="none" strike="noStrike">
              <a:solidFill>
                <a:schemeClr val="dk1"/>
              </a:solidFill>
              <a:latin typeface="Calibri"/>
              <a:ea typeface="Calibri"/>
              <a:cs typeface="Calibri"/>
              <a:sym typeface="Calibri"/>
            </a:endParaRPr>
          </a:p>
        </p:txBody>
      </p:sp>
      <p:sp>
        <p:nvSpPr>
          <p:cNvPr id="861" name="Google Shape;861;g3f88e45ce95_0_837"/>
          <p:cNvSpPr/>
          <p:nvPr/>
        </p:nvSpPr>
        <p:spPr>
          <a:xfrm>
            <a:off x="5420767" y="8072438"/>
            <a:ext cx="20151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94,2</a:t>
            </a:r>
            <a:endParaRPr b="0" i="0" sz="2775" u="none" cap="none" strike="noStrike">
              <a:solidFill>
                <a:schemeClr val="dk1"/>
              </a:solidFill>
              <a:latin typeface="Calibri"/>
              <a:ea typeface="Calibri"/>
              <a:cs typeface="Calibri"/>
              <a:sym typeface="Calibri"/>
            </a:endParaRPr>
          </a:p>
        </p:txBody>
      </p:sp>
      <p:sp>
        <p:nvSpPr>
          <p:cNvPr id="862" name="Google Shape;862;g3f88e45ce95_0_837"/>
          <p:cNvSpPr/>
          <p:nvPr/>
        </p:nvSpPr>
        <p:spPr>
          <a:xfrm>
            <a:off x="7702600" y="8072438"/>
            <a:ext cx="13704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99,0</a:t>
            </a:r>
            <a:endParaRPr b="0" i="0" sz="2775" u="none" cap="none" strike="noStrike">
              <a:solidFill>
                <a:schemeClr val="dk1"/>
              </a:solidFill>
              <a:latin typeface="Calibri"/>
              <a:ea typeface="Calibri"/>
              <a:cs typeface="Calibri"/>
              <a:sym typeface="Calibri"/>
            </a:endParaRPr>
          </a:p>
        </p:txBody>
      </p:sp>
      <p:sp>
        <p:nvSpPr>
          <p:cNvPr id="863" name="Google Shape;863;g3f88e45ce95_0_837"/>
          <p:cNvSpPr/>
          <p:nvPr/>
        </p:nvSpPr>
        <p:spPr>
          <a:xfrm>
            <a:off x="9339560" y="8072438"/>
            <a:ext cx="11811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92,2</a:t>
            </a:r>
            <a:endParaRPr b="0" i="0" sz="2775" u="none" cap="none" strike="noStrike">
              <a:solidFill>
                <a:schemeClr val="dk1"/>
              </a:solidFill>
              <a:latin typeface="Calibri"/>
              <a:ea typeface="Calibri"/>
              <a:cs typeface="Calibri"/>
              <a:sym typeface="Calibri"/>
            </a:endParaRPr>
          </a:p>
        </p:txBody>
      </p:sp>
      <p:sp>
        <p:nvSpPr>
          <p:cNvPr id="864" name="Google Shape;864;g3f88e45ce95_0_837"/>
          <p:cNvSpPr/>
          <p:nvPr/>
        </p:nvSpPr>
        <p:spPr>
          <a:xfrm>
            <a:off x="10787360" y="8072438"/>
            <a:ext cx="14805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1,3</a:t>
            </a:r>
            <a:endParaRPr b="0" i="0" sz="2775" u="none" cap="none" strike="noStrike">
              <a:solidFill>
                <a:schemeClr val="dk1"/>
              </a:solidFill>
              <a:latin typeface="Calibri"/>
              <a:ea typeface="Calibri"/>
              <a:cs typeface="Calibri"/>
              <a:sym typeface="Calibri"/>
            </a:endParaRPr>
          </a:p>
        </p:txBody>
      </p:sp>
      <p:sp>
        <p:nvSpPr>
          <p:cNvPr id="865" name="Google Shape;865;g3f88e45ce95_0_837"/>
          <p:cNvSpPr/>
          <p:nvPr/>
        </p:nvSpPr>
        <p:spPr>
          <a:xfrm>
            <a:off x="12534454" y="8072438"/>
            <a:ext cx="13704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5,3</a:t>
            </a:r>
            <a:endParaRPr b="0" i="0" sz="2775" u="none" cap="none" strike="noStrike">
              <a:solidFill>
                <a:schemeClr val="dk1"/>
              </a:solidFill>
              <a:latin typeface="Calibri"/>
              <a:ea typeface="Calibri"/>
              <a:cs typeface="Calibri"/>
              <a:sym typeface="Calibri"/>
            </a:endParaRPr>
          </a:p>
        </p:txBody>
      </p:sp>
      <p:sp>
        <p:nvSpPr>
          <p:cNvPr id="866" name="Google Shape;866;g3f88e45ce95_0_837"/>
          <p:cNvSpPr/>
          <p:nvPr/>
        </p:nvSpPr>
        <p:spPr>
          <a:xfrm>
            <a:off x="14171563" y="8072438"/>
            <a:ext cx="14280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100,0</a:t>
            </a:r>
            <a:endParaRPr b="0" i="0" sz="2775" u="none" cap="none" strike="noStrike">
              <a:solidFill>
                <a:schemeClr val="dk1"/>
              </a:solidFill>
              <a:latin typeface="Calibri"/>
              <a:ea typeface="Calibri"/>
              <a:cs typeface="Calibri"/>
              <a:sym typeface="Calibri"/>
            </a:endParaRPr>
          </a:p>
        </p:txBody>
      </p:sp>
      <p:sp>
        <p:nvSpPr>
          <p:cNvPr id="867" name="Google Shape;867;g3f88e45ce95_0_837"/>
          <p:cNvSpPr/>
          <p:nvPr/>
        </p:nvSpPr>
        <p:spPr>
          <a:xfrm>
            <a:off x="15866269" y="8072438"/>
            <a:ext cx="1431000" cy="843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94,1</a:t>
            </a:r>
            <a:endParaRPr b="0" i="0" sz="2775" u="none" cap="none" strike="noStrike">
              <a:solidFill>
                <a:schemeClr val="dk1"/>
              </a:solidFill>
              <a:latin typeface="Calibri"/>
              <a:ea typeface="Calibri"/>
              <a:cs typeface="Calibri"/>
              <a:sym typeface="Calibri"/>
            </a:endParaRPr>
          </a:p>
        </p:txBody>
      </p:sp>
      <p:sp>
        <p:nvSpPr>
          <p:cNvPr id="868" name="Google Shape;868;g3f88e45ce95_0_837"/>
          <p:cNvSpPr/>
          <p:nvPr/>
        </p:nvSpPr>
        <p:spPr>
          <a:xfrm>
            <a:off x="1333500" y="9563100"/>
            <a:ext cx="116013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Verde: melhor valor entre os locais em cada coluna. Médias de 5 execuções, em %</a:t>
            </a:r>
            <a:endParaRPr b="0" i="0" sz="2250" u="none" cap="none" strike="noStrike">
              <a:solidFill>
                <a:schemeClr val="dk1"/>
              </a:solidFill>
              <a:latin typeface="Calibri"/>
              <a:ea typeface="Calibri"/>
              <a:cs typeface="Calibri"/>
              <a:sym typeface="Calibri"/>
            </a:endParaRPr>
          </a:p>
        </p:txBody>
      </p:sp>
      <p:pic>
        <p:nvPicPr>
          <p:cNvPr descr="preencoded.png" id="869" name="Google Shape;869;g3f88e45ce95_0_837"/>
          <p:cNvPicPr preferRelativeResize="0"/>
          <p:nvPr/>
        </p:nvPicPr>
        <p:blipFill rotWithShape="1">
          <a:blip r:embed="rId3">
            <a:alphaModFix/>
          </a:blip>
          <a:srcRect b="0" l="0" r="0" t="0"/>
          <a:stretch/>
        </p:blipFill>
        <p:spPr>
          <a:xfrm>
            <a:off x="13863935" y="9534525"/>
            <a:ext cx="1558826" cy="381000"/>
          </a:xfrm>
          <a:prstGeom prst="rect">
            <a:avLst/>
          </a:prstGeom>
          <a:noFill/>
          <a:ln>
            <a:noFill/>
          </a:ln>
        </p:spPr>
      </p:pic>
      <p:pic>
        <p:nvPicPr>
          <p:cNvPr descr="preencoded.png" id="870" name="Google Shape;870;g3f88e45ce95_0_837"/>
          <p:cNvPicPr preferRelativeResize="0"/>
          <p:nvPr/>
        </p:nvPicPr>
        <p:blipFill rotWithShape="1">
          <a:blip r:embed="rId4">
            <a:alphaModFix/>
          </a:blip>
          <a:srcRect b="0" l="0" r="0" t="0"/>
          <a:stretch/>
        </p:blipFill>
        <p:spPr>
          <a:xfrm>
            <a:off x="15651361" y="9515475"/>
            <a:ext cx="636389" cy="419100"/>
          </a:xfrm>
          <a:prstGeom prst="rect">
            <a:avLst/>
          </a:prstGeom>
          <a:noFill/>
          <a:ln>
            <a:noFill/>
          </a:ln>
        </p:spPr>
      </p:pic>
      <p:pic>
        <p:nvPicPr>
          <p:cNvPr descr="preencoded.png" id="871" name="Google Shape;871;g3f88e45ce95_0_837"/>
          <p:cNvPicPr preferRelativeResize="0"/>
          <p:nvPr/>
        </p:nvPicPr>
        <p:blipFill rotWithShape="1">
          <a:blip r:embed="rId5">
            <a:alphaModFix/>
          </a:blip>
          <a:srcRect b="0" l="0" r="0" t="0"/>
          <a:stretch/>
        </p:blipFill>
        <p:spPr>
          <a:xfrm>
            <a:off x="16516350" y="9505950"/>
            <a:ext cx="438150" cy="4381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6" name="Shape 876"/>
        <p:cNvGrpSpPr/>
        <p:nvPr/>
      </p:nvGrpSpPr>
      <p:grpSpPr>
        <a:xfrm>
          <a:off x="0" y="0"/>
          <a:ext cx="0" cy="0"/>
          <a:chOff x="0" y="0"/>
          <a:chExt cx="0" cy="0"/>
        </a:xfrm>
      </p:grpSpPr>
      <p:sp>
        <p:nvSpPr>
          <p:cNvPr id="877" name="Google Shape;877;g3f88e45ce95_0_955"/>
          <p:cNvSpPr/>
          <p:nvPr/>
        </p:nvSpPr>
        <p:spPr>
          <a:xfrm>
            <a:off x="1333500" y="9525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878" name="Google Shape;878;g3f88e45ce95_0_955"/>
          <p:cNvSpPr/>
          <p:nvPr/>
        </p:nvSpPr>
        <p:spPr>
          <a:xfrm>
            <a:off x="1333500" y="1457325"/>
            <a:ext cx="17183100" cy="76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950"/>
              <a:buFont typeface="Arial"/>
              <a:buNone/>
            </a:pPr>
            <a:r>
              <a:rPr b="1" i="0" lang="en-US" sz="4950" u="none" cap="none" strike="noStrike">
                <a:solidFill>
                  <a:srgbClr val="0F2369"/>
                </a:solidFill>
                <a:latin typeface="Arial"/>
                <a:ea typeface="Arial"/>
                <a:cs typeface="Arial"/>
                <a:sym typeface="Arial"/>
              </a:rPr>
              <a:t>Custo: taxa por relatório ou GPU própria</a:t>
            </a:r>
            <a:endParaRPr b="0" i="0" sz="4950" u="none" cap="none" strike="noStrike">
              <a:solidFill>
                <a:schemeClr val="dk1"/>
              </a:solidFill>
              <a:latin typeface="Calibri"/>
              <a:ea typeface="Calibri"/>
              <a:cs typeface="Calibri"/>
              <a:sym typeface="Calibri"/>
            </a:endParaRPr>
          </a:p>
        </p:txBody>
      </p:sp>
      <p:sp>
        <p:nvSpPr>
          <p:cNvPr id="879" name="Google Shape;879;g3f88e45ce95_0_955"/>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g3f88e45ce95_0_955"/>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b="0" i="0" lang="en-US" sz="2400" u="none" cap="none" strike="noStrike">
                <a:solidFill>
                  <a:srgbClr val="6B7280"/>
                </a:solidFill>
                <a:latin typeface="Arial"/>
                <a:ea typeface="Arial"/>
                <a:cs typeface="Arial"/>
                <a:sym typeface="Arial"/>
              </a:rPr>
              <a:t>3</a:t>
            </a:r>
            <a:r>
              <a:rPr lang="en-US" sz="2400">
                <a:solidFill>
                  <a:srgbClr val="6B7280"/>
                </a:solidFill>
              </a:rPr>
              <a:t>4</a:t>
            </a:r>
            <a:endParaRPr b="0" i="0" sz="2400" u="none" cap="none" strike="noStrike">
              <a:solidFill>
                <a:schemeClr val="dk1"/>
              </a:solidFill>
              <a:latin typeface="Calibri"/>
              <a:ea typeface="Calibri"/>
              <a:cs typeface="Calibri"/>
              <a:sym typeface="Calibri"/>
            </a:endParaRPr>
          </a:p>
        </p:txBody>
      </p:sp>
      <p:sp>
        <p:nvSpPr>
          <p:cNvPr id="881" name="Google Shape;881;g3f88e45ce95_0_955"/>
          <p:cNvSpPr/>
          <p:nvPr/>
        </p:nvSpPr>
        <p:spPr>
          <a:xfrm>
            <a:off x="1333500" y="3833812"/>
            <a:ext cx="7581900" cy="3581400"/>
          </a:xfrm>
          <a:prstGeom prst="roundRect">
            <a:avLst>
              <a:gd fmla="val 4255"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g3f88e45ce95_0_955"/>
          <p:cNvSpPr/>
          <p:nvPr/>
        </p:nvSpPr>
        <p:spPr>
          <a:xfrm>
            <a:off x="1714500" y="4252913"/>
            <a:ext cx="75018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225"/>
              <a:buFont typeface="Arial"/>
              <a:buNone/>
            </a:pPr>
            <a:r>
              <a:rPr b="1" i="0" lang="en-US" sz="3225" u="none" cap="none" strike="noStrike">
                <a:solidFill>
                  <a:srgbClr val="0F2369"/>
                </a:solidFill>
                <a:latin typeface="Arial"/>
                <a:ea typeface="Arial"/>
                <a:cs typeface="Arial"/>
                <a:sym typeface="Arial"/>
              </a:rPr>
              <a:t>Local (on-premise)</a:t>
            </a:r>
            <a:endParaRPr b="0" i="0" sz="3225" u="none" cap="none" strike="noStrike">
              <a:solidFill>
                <a:schemeClr val="dk1"/>
              </a:solidFill>
              <a:latin typeface="Calibri"/>
              <a:ea typeface="Calibri"/>
              <a:cs typeface="Calibri"/>
              <a:sym typeface="Calibri"/>
            </a:endParaRPr>
          </a:p>
        </p:txBody>
      </p:sp>
      <p:sp>
        <p:nvSpPr>
          <p:cNvPr id="883" name="Google Shape;883;g3f88e45ce95_0_955"/>
          <p:cNvSpPr/>
          <p:nvPr/>
        </p:nvSpPr>
        <p:spPr>
          <a:xfrm>
            <a:off x="1714500" y="5548313"/>
            <a:ext cx="6819900" cy="192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g3f88e45ce95_0_955"/>
          <p:cNvSpPr/>
          <p:nvPr/>
        </p:nvSpPr>
        <p:spPr>
          <a:xfrm>
            <a:off x="1714500" y="4948238"/>
            <a:ext cx="37065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Taxa por chamada</a:t>
            </a:r>
            <a:endParaRPr b="0" i="0" sz="3225" u="none" cap="none" strike="noStrike">
              <a:solidFill>
                <a:schemeClr val="dk1"/>
              </a:solidFill>
              <a:latin typeface="Calibri"/>
              <a:ea typeface="Calibri"/>
              <a:cs typeface="Calibri"/>
              <a:sym typeface="Calibri"/>
            </a:endParaRPr>
          </a:p>
        </p:txBody>
      </p:sp>
      <p:sp>
        <p:nvSpPr>
          <p:cNvPr id="885" name="Google Shape;885;g3f88e45ce95_0_955"/>
          <p:cNvSpPr/>
          <p:nvPr/>
        </p:nvSpPr>
        <p:spPr>
          <a:xfrm>
            <a:off x="6713786" y="4948238"/>
            <a:ext cx="20028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nenhuma</a:t>
            </a:r>
            <a:endParaRPr b="0" i="0" sz="3225" u="none" cap="none" strike="noStrike">
              <a:solidFill>
                <a:schemeClr val="dk1"/>
              </a:solidFill>
              <a:latin typeface="Calibri"/>
              <a:ea typeface="Calibri"/>
              <a:cs typeface="Calibri"/>
              <a:sym typeface="Calibri"/>
            </a:endParaRPr>
          </a:p>
        </p:txBody>
      </p:sp>
      <p:sp>
        <p:nvSpPr>
          <p:cNvPr id="886" name="Google Shape;886;g3f88e45ce95_0_955"/>
          <p:cNvSpPr/>
          <p:nvPr/>
        </p:nvSpPr>
        <p:spPr>
          <a:xfrm>
            <a:off x="1714500" y="6338888"/>
            <a:ext cx="6819900" cy="192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g3f88e45ce95_0_955"/>
          <p:cNvSpPr/>
          <p:nvPr/>
        </p:nvSpPr>
        <p:spPr>
          <a:xfrm>
            <a:off x="1714500" y="5738813"/>
            <a:ext cx="29295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Pico de VRAM</a:t>
            </a:r>
            <a:endParaRPr b="0" i="0" sz="3225" u="none" cap="none" strike="noStrike">
              <a:solidFill>
                <a:schemeClr val="dk1"/>
              </a:solidFill>
              <a:latin typeface="Calibri"/>
              <a:ea typeface="Calibri"/>
              <a:cs typeface="Calibri"/>
              <a:sym typeface="Calibri"/>
            </a:endParaRPr>
          </a:p>
        </p:txBody>
      </p:sp>
      <p:sp>
        <p:nvSpPr>
          <p:cNvPr id="888" name="Google Shape;888;g3f88e45ce95_0_955"/>
          <p:cNvSpPr/>
          <p:nvPr/>
        </p:nvSpPr>
        <p:spPr>
          <a:xfrm>
            <a:off x="5984230" y="5738813"/>
            <a:ext cx="28053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1" i="0" lang="en-US" sz="3225" u="none" cap="none" strike="noStrike">
                <a:solidFill>
                  <a:srgbClr val="1F2937"/>
                </a:solidFill>
                <a:latin typeface="Arial"/>
                <a:ea typeface="Arial"/>
                <a:cs typeface="Arial"/>
                <a:sym typeface="Arial"/>
              </a:rPr>
              <a:t>6,9 – 13,5 GB</a:t>
            </a:r>
            <a:endParaRPr b="0" i="0" sz="3225" u="none" cap="none" strike="noStrike">
              <a:solidFill>
                <a:schemeClr val="dk1"/>
              </a:solidFill>
              <a:latin typeface="Calibri"/>
              <a:ea typeface="Calibri"/>
              <a:cs typeface="Calibri"/>
              <a:sym typeface="Calibri"/>
            </a:endParaRPr>
          </a:p>
        </p:txBody>
      </p:sp>
      <p:sp>
        <p:nvSpPr>
          <p:cNvPr id="889" name="Google Shape;889;g3f88e45ce95_0_955"/>
          <p:cNvSpPr/>
          <p:nvPr/>
        </p:nvSpPr>
        <p:spPr>
          <a:xfrm>
            <a:off x="1714500" y="6529388"/>
            <a:ext cx="44577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Exposição do relatório</a:t>
            </a:r>
            <a:endParaRPr b="0" i="0" sz="3225" u="none" cap="none" strike="noStrike">
              <a:solidFill>
                <a:schemeClr val="dk1"/>
              </a:solidFill>
              <a:latin typeface="Calibri"/>
              <a:ea typeface="Calibri"/>
              <a:cs typeface="Calibri"/>
              <a:sym typeface="Calibri"/>
            </a:endParaRPr>
          </a:p>
        </p:txBody>
      </p:sp>
      <p:sp>
        <p:nvSpPr>
          <p:cNvPr id="890" name="Google Shape;890;g3f88e45ce95_0_955"/>
          <p:cNvSpPr/>
          <p:nvPr/>
        </p:nvSpPr>
        <p:spPr>
          <a:xfrm>
            <a:off x="7692182" y="6529388"/>
            <a:ext cx="9183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3225"/>
              <a:buFont typeface="Arial"/>
              <a:buNone/>
            </a:pPr>
            <a:r>
              <a:rPr b="1" i="0" lang="en-US" sz="3225" u="none" cap="none" strike="noStrike">
                <a:solidFill>
                  <a:srgbClr val="0A866E"/>
                </a:solidFill>
                <a:latin typeface="Arial"/>
                <a:ea typeface="Arial"/>
                <a:cs typeface="Arial"/>
                <a:sym typeface="Arial"/>
              </a:rPr>
              <a:t>zero</a:t>
            </a:r>
            <a:endParaRPr b="0" i="0" sz="3225" u="none" cap="none" strike="noStrike">
              <a:solidFill>
                <a:schemeClr val="dk1"/>
              </a:solidFill>
              <a:latin typeface="Calibri"/>
              <a:ea typeface="Calibri"/>
              <a:cs typeface="Calibri"/>
              <a:sym typeface="Calibri"/>
            </a:endParaRPr>
          </a:p>
        </p:txBody>
      </p:sp>
      <p:sp>
        <p:nvSpPr>
          <p:cNvPr id="891" name="Google Shape;891;g3f88e45ce95_0_955"/>
          <p:cNvSpPr/>
          <p:nvPr/>
        </p:nvSpPr>
        <p:spPr>
          <a:xfrm>
            <a:off x="9372600" y="3833812"/>
            <a:ext cx="7581900" cy="3581400"/>
          </a:xfrm>
          <a:prstGeom prst="roundRect">
            <a:avLst>
              <a:gd fmla="val 4255" name="adj"/>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g3f88e45ce95_0_955"/>
          <p:cNvSpPr/>
          <p:nvPr/>
        </p:nvSpPr>
        <p:spPr>
          <a:xfrm>
            <a:off x="9753600" y="4252913"/>
            <a:ext cx="75018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1" i="0" lang="en-US" sz="3225" u="none" cap="none" strike="noStrike">
                <a:solidFill>
                  <a:srgbClr val="FFFFFF"/>
                </a:solidFill>
                <a:latin typeface="Arial"/>
                <a:ea typeface="Arial"/>
                <a:cs typeface="Arial"/>
                <a:sym typeface="Arial"/>
              </a:rPr>
              <a:t>Nuvem (API)</a:t>
            </a:r>
            <a:endParaRPr b="0" i="0" sz="3225" u="none" cap="none" strike="noStrike">
              <a:solidFill>
                <a:schemeClr val="dk1"/>
              </a:solidFill>
              <a:latin typeface="Calibri"/>
              <a:ea typeface="Calibri"/>
              <a:cs typeface="Calibri"/>
              <a:sym typeface="Calibri"/>
            </a:endParaRPr>
          </a:p>
        </p:txBody>
      </p:sp>
      <p:sp>
        <p:nvSpPr>
          <p:cNvPr id="893" name="Google Shape;893;g3f88e45ce95_0_955"/>
          <p:cNvSpPr/>
          <p:nvPr/>
        </p:nvSpPr>
        <p:spPr>
          <a:xfrm>
            <a:off x="9753600" y="5548313"/>
            <a:ext cx="6819900" cy="19200"/>
          </a:xfrm>
          <a:prstGeom prst="rect">
            <a:avLst/>
          </a:prstGeom>
          <a:solidFill>
            <a:srgbClr val="FFFFFF">
              <a:alpha val="2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g3f88e45ce95_0_955"/>
          <p:cNvSpPr/>
          <p:nvPr/>
        </p:nvSpPr>
        <p:spPr>
          <a:xfrm>
            <a:off x="9753600" y="4948238"/>
            <a:ext cx="37062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0" i="0" lang="en-US" sz="3225" u="none" cap="none" strike="noStrike">
                <a:solidFill>
                  <a:srgbClr val="FFFFFF"/>
                </a:solidFill>
                <a:latin typeface="Arial"/>
                <a:ea typeface="Arial"/>
                <a:cs typeface="Arial"/>
                <a:sym typeface="Arial"/>
              </a:rPr>
              <a:t>Custo por relatório</a:t>
            </a:r>
            <a:endParaRPr b="0" i="0" sz="3225" u="none" cap="none" strike="noStrike">
              <a:solidFill>
                <a:schemeClr val="dk1"/>
              </a:solidFill>
              <a:latin typeface="Calibri"/>
              <a:ea typeface="Calibri"/>
              <a:cs typeface="Calibri"/>
              <a:sym typeface="Calibri"/>
            </a:endParaRPr>
          </a:p>
        </p:txBody>
      </p:sp>
      <p:sp>
        <p:nvSpPr>
          <p:cNvPr id="895" name="Google Shape;895;g3f88e45ce95_0_955"/>
          <p:cNvSpPr/>
          <p:nvPr/>
        </p:nvSpPr>
        <p:spPr>
          <a:xfrm>
            <a:off x="14527113" y="4948238"/>
            <a:ext cx="22509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7A823"/>
              </a:buClr>
              <a:buSzPts val="3225"/>
              <a:buFont typeface="Arial"/>
              <a:buNone/>
            </a:pPr>
            <a:r>
              <a:rPr b="1" i="0" lang="en-US" sz="3225" u="none" cap="none" strike="noStrike">
                <a:solidFill>
                  <a:srgbClr val="F7A823"/>
                </a:solidFill>
                <a:latin typeface="Arial"/>
                <a:ea typeface="Arial"/>
                <a:cs typeface="Arial"/>
                <a:sym typeface="Arial"/>
              </a:rPr>
              <a:t>≈ US$ 0,14</a:t>
            </a:r>
            <a:endParaRPr b="0" i="0" sz="3225" u="none" cap="none" strike="noStrike">
              <a:solidFill>
                <a:schemeClr val="dk1"/>
              </a:solidFill>
              <a:latin typeface="Calibri"/>
              <a:ea typeface="Calibri"/>
              <a:cs typeface="Calibri"/>
              <a:sym typeface="Calibri"/>
            </a:endParaRPr>
          </a:p>
        </p:txBody>
      </p:sp>
      <p:sp>
        <p:nvSpPr>
          <p:cNvPr id="896" name="Google Shape;896;g3f88e45ce95_0_955"/>
          <p:cNvSpPr/>
          <p:nvPr/>
        </p:nvSpPr>
        <p:spPr>
          <a:xfrm>
            <a:off x="9753600" y="6338888"/>
            <a:ext cx="6819900" cy="19200"/>
          </a:xfrm>
          <a:prstGeom prst="rect">
            <a:avLst/>
          </a:prstGeom>
          <a:solidFill>
            <a:srgbClr val="FFFFFF">
              <a:alpha val="2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g3f88e45ce95_0_955"/>
          <p:cNvSpPr/>
          <p:nvPr/>
        </p:nvSpPr>
        <p:spPr>
          <a:xfrm>
            <a:off x="9753600" y="5738813"/>
            <a:ext cx="38985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0" i="0" lang="en-US" sz="3225" u="none" cap="none" strike="noStrike">
                <a:solidFill>
                  <a:srgbClr val="FFFFFF"/>
                </a:solidFill>
                <a:latin typeface="Arial"/>
                <a:ea typeface="Arial"/>
                <a:cs typeface="Arial"/>
                <a:sym typeface="Arial"/>
              </a:rPr>
              <a:t>Avaliação completa</a:t>
            </a:r>
            <a:endParaRPr b="0" i="0" sz="3225" u="none" cap="none" strike="noStrike">
              <a:solidFill>
                <a:schemeClr val="dk1"/>
              </a:solidFill>
              <a:latin typeface="Calibri"/>
              <a:ea typeface="Calibri"/>
              <a:cs typeface="Calibri"/>
              <a:sym typeface="Calibri"/>
            </a:endParaRPr>
          </a:p>
        </p:txBody>
      </p:sp>
      <p:sp>
        <p:nvSpPr>
          <p:cNvPr id="898" name="Google Shape;898;g3f88e45ce95_0_955"/>
          <p:cNvSpPr/>
          <p:nvPr/>
        </p:nvSpPr>
        <p:spPr>
          <a:xfrm>
            <a:off x="14865697" y="5738813"/>
            <a:ext cx="18786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1" i="0" lang="en-US" sz="3225" u="none" cap="none" strike="noStrike">
                <a:solidFill>
                  <a:srgbClr val="FFFFFF"/>
                </a:solidFill>
                <a:latin typeface="Arial"/>
                <a:ea typeface="Arial"/>
                <a:cs typeface="Arial"/>
                <a:sym typeface="Arial"/>
              </a:rPr>
              <a:t>US$ 2,08</a:t>
            </a:r>
            <a:endParaRPr b="0" i="0" sz="3225" u="none" cap="none" strike="noStrike">
              <a:solidFill>
                <a:schemeClr val="dk1"/>
              </a:solidFill>
              <a:latin typeface="Calibri"/>
              <a:ea typeface="Calibri"/>
              <a:cs typeface="Calibri"/>
              <a:sym typeface="Calibri"/>
            </a:endParaRPr>
          </a:p>
        </p:txBody>
      </p:sp>
      <p:sp>
        <p:nvSpPr>
          <p:cNvPr id="899" name="Google Shape;899;g3f88e45ce95_0_955"/>
          <p:cNvSpPr/>
          <p:nvPr/>
        </p:nvSpPr>
        <p:spPr>
          <a:xfrm>
            <a:off x="9753600" y="6529388"/>
            <a:ext cx="44577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225"/>
              <a:buFont typeface="Arial"/>
              <a:buNone/>
            </a:pPr>
            <a:r>
              <a:rPr b="0" i="0" lang="en-US" sz="3225" u="none" cap="none" strike="noStrike">
                <a:solidFill>
                  <a:srgbClr val="FFFFFF"/>
                </a:solidFill>
                <a:latin typeface="Arial"/>
                <a:ea typeface="Arial"/>
                <a:cs typeface="Arial"/>
                <a:sym typeface="Arial"/>
              </a:rPr>
              <a:t>Exposição do relatório</a:t>
            </a:r>
            <a:endParaRPr b="0" i="0" sz="3225" u="none" cap="none" strike="noStrike">
              <a:solidFill>
                <a:schemeClr val="dk1"/>
              </a:solidFill>
              <a:latin typeface="Calibri"/>
              <a:ea typeface="Calibri"/>
              <a:cs typeface="Calibri"/>
              <a:sym typeface="Calibri"/>
            </a:endParaRPr>
          </a:p>
        </p:txBody>
      </p:sp>
      <p:sp>
        <p:nvSpPr>
          <p:cNvPr id="900" name="Google Shape;900;g3f88e45ce95_0_955"/>
          <p:cNvSpPr/>
          <p:nvPr/>
        </p:nvSpPr>
        <p:spPr>
          <a:xfrm>
            <a:off x="15708809" y="6529388"/>
            <a:ext cx="940800" cy="50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7A823"/>
              </a:buClr>
              <a:buSzPts val="3225"/>
              <a:buFont typeface="Arial"/>
              <a:buNone/>
            </a:pPr>
            <a:r>
              <a:rPr b="1" i="0" lang="en-US" sz="3225" u="none" cap="none" strike="noStrike">
                <a:solidFill>
                  <a:srgbClr val="F7A823"/>
                </a:solidFill>
                <a:latin typeface="Arial"/>
                <a:ea typeface="Arial"/>
                <a:cs typeface="Arial"/>
                <a:sym typeface="Arial"/>
              </a:rPr>
              <a:t>total</a:t>
            </a:r>
            <a:endParaRPr b="0" i="0" sz="3225" u="none" cap="none" strike="noStrike">
              <a:solidFill>
                <a:schemeClr val="dk1"/>
              </a:solidFill>
              <a:latin typeface="Calibri"/>
              <a:ea typeface="Calibri"/>
              <a:cs typeface="Calibri"/>
              <a:sym typeface="Calibri"/>
            </a:endParaRPr>
          </a:p>
        </p:txBody>
      </p:sp>
      <p:sp>
        <p:nvSpPr>
          <p:cNvPr id="901" name="Google Shape;901;g3f88e45ce95_0_955"/>
          <p:cNvSpPr/>
          <p:nvPr/>
        </p:nvSpPr>
        <p:spPr>
          <a:xfrm>
            <a:off x="1333500" y="9258300"/>
            <a:ext cx="12906300"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Custo por relatório na nuvem varia de US$ 0,03 a US$ 0,30; latência e energia não são comparáveis entre GPUs</a:t>
            </a:r>
            <a:endParaRPr b="0" i="0" sz="2250" u="none" cap="none" strike="noStrike">
              <a:solidFill>
                <a:schemeClr val="dk1"/>
              </a:solidFill>
              <a:latin typeface="Calibri"/>
              <a:ea typeface="Calibri"/>
              <a:cs typeface="Calibri"/>
              <a:sym typeface="Calibri"/>
            </a:endParaRPr>
          </a:p>
        </p:txBody>
      </p:sp>
      <p:pic>
        <p:nvPicPr>
          <p:cNvPr descr="preencoded.png" id="902" name="Google Shape;902;g3f88e45ce95_0_955"/>
          <p:cNvPicPr preferRelativeResize="0"/>
          <p:nvPr/>
        </p:nvPicPr>
        <p:blipFill rotWithShape="1">
          <a:blip r:embed="rId3">
            <a:alphaModFix/>
          </a:blip>
          <a:srcRect b="0" l="0" r="0" t="0"/>
          <a:stretch/>
        </p:blipFill>
        <p:spPr>
          <a:xfrm>
            <a:off x="13863935" y="9391650"/>
            <a:ext cx="1558826" cy="381000"/>
          </a:xfrm>
          <a:prstGeom prst="rect">
            <a:avLst/>
          </a:prstGeom>
          <a:noFill/>
          <a:ln>
            <a:noFill/>
          </a:ln>
        </p:spPr>
      </p:pic>
      <p:pic>
        <p:nvPicPr>
          <p:cNvPr descr="preencoded.png" id="903" name="Google Shape;903;g3f88e45ce95_0_955"/>
          <p:cNvPicPr preferRelativeResize="0"/>
          <p:nvPr/>
        </p:nvPicPr>
        <p:blipFill rotWithShape="1">
          <a:blip r:embed="rId4">
            <a:alphaModFix/>
          </a:blip>
          <a:srcRect b="0" l="0" r="0" t="0"/>
          <a:stretch/>
        </p:blipFill>
        <p:spPr>
          <a:xfrm>
            <a:off x="15651361" y="9372600"/>
            <a:ext cx="636389" cy="419100"/>
          </a:xfrm>
          <a:prstGeom prst="rect">
            <a:avLst/>
          </a:prstGeom>
          <a:noFill/>
          <a:ln>
            <a:noFill/>
          </a:ln>
        </p:spPr>
      </p:pic>
      <p:sp>
        <p:nvSpPr>
          <p:cNvPr descr="preencoded.png" id="904" name="Google Shape;904;g3f88e45ce95_0_955"/>
          <p:cNvSpPr/>
          <p:nvPr/>
        </p:nvSpPr>
        <p:spPr>
          <a:xfrm>
            <a:off x="16516350" y="9363075"/>
            <a:ext cx="438150" cy="438150"/>
          </a:xfrm>
          <a:prstGeom prst="rect">
            <a:avLst/>
          </a:prstGeom>
          <a:noFill/>
          <a:ln>
            <a:noFill/>
          </a:ln>
        </p:spPr>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9" name="Shape 909"/>
        <p:cNvGrpSpPr/>
        <p:nvPr/>
      </p:nvGrpSpPr>
      <p:grpSpPr>
        <a:xfrm>
          <a:off x="0" y="0"/>
          <a:ext cx="0" cy="0"/>
          <a:chOff x="0" y="0"/>
          <a:chExt cx="0" cy="0"/>
        </a:xfrm>
      </p:grpSpPr>
      <p:sp>
        <p:nvSpPr>
          <p:cNvPr id="910" name="Google Shape;910;g3f88e45ce95_0_987"/>
          <p:cNvSpPr/>
          <p:nvPr/>
        </p:nvSpPr>
        <p:spPr>
          <a:xfrm>
            <a:off x="1333500" y="7620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911" name="Google Shape;911;g3f88e45ce95_0_987"/>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3f88e45ce95_0_987"/>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35</a:t>
            </a:r>
            <a:endParaRPr b="0" i="0" sz="2400" u="none" cap="none" strike="noStrike">
              <a:solidFill>
                <a:schemeClr val="dk1"/>
              </a:solidFill>
              <a:latin typeface="Calibri"/>
              <a:ea typeface="Calibri"/>
              <a:cs typeface="Calibri"/>
              <a:sym typeface="Calibri"/>
            </a:endParaRPr>
          </a:p>
        </p:txBody>
      </p:sp>
      <p:sp>
        <p:nvSpPr>
          <p:cNvPr id="913" name="Google Shape;913;g3f88e45ce95_0_987"/>
          <p:cNvSpPr/>
          <p:nvPr/>
        </p:nvSpPr>
        <p:spPr>
          <a:xfrm>
            <a:off x="857250" y="2105025"/>
            <a:ext cx="16573500" cy="571500"/>
          </a:xfrm>
          <a:prstGeom prst="rect">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g3f88e45ce95_0_987"/>
          <p:cNvSpPr/>
          <p:nvPr/>
        </p:nvSpPr>
        <p:spPr>
          <a:xfrm>
            <a:off x="1028700" y="2190750"/>
            <a:ext cx="5581200" cy="438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Modelo</a:t>
            </a:r>
            <a:endParaRPr b="0" i="0" sz="2775" u="none" cap="none" strike="noStrike">
              <a:solidFill>
                <a:schemeClr val="dk1"/>
              </a:solidFill>
              <a:latin typeface="Calibri"/>
              <a:ea typeface="Calibri"/>
              <a:cs typeface="Calibri"/>
              <a:sym typeface="Calibri"/>
            </a:endParaRPr>
          </a:p>
        </p:txBody>
      </p:sp>
      <p:sp>
        <p:nvSpPr>
          <p:cNvPr id="915" name="Google Shape;915;g3f88e45ce95_0_987"/>
          <p:cNvSpPr/>
          <p:nvPr/>
        </p:nvSpPr>
        <p:spPr>
          <a:xfrm>
            <a:off x="6742212" y="2190750"/>
            <a:ext cx="2013600" cy="438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GPU</a:t>
            </a:r>
            <a:endParaRPr b="0" i="0" sz="2775" u="none" cap="none" strike="noStrike">
              <a:solidFill>
                <a:schemeClr val="dk1"/>
              </a:solidFill>
              <a:latin typeface="Calibri"/>
              <a:ea typeface="Calibri"/>
              <a:cs typeface="Calibri"/>
              <a:sym typeface="Calibri"/>
            </a:endParaRPr>
          </a:p>
        </p:txBody>
      </p:sp>
      <p:sp>
        <p:nvSpPr>
          <p:cNvPr id="916" name="Google Shape;916;g3f88e45ce95_0_987"/>
          <p:cNvSpPr/>
          <p:nvPr/>
        </p:nvSpPr>
        <p:spPr>
          <a:xfrm>
            <a:off x="9022407" y="2190750"/>
            <a:ext cx="1364700" cy="438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VRAM</a:t>
            </a:r>
            <a:endParaRPr b="0" i="0" sz="2775" u="none" cap="none" strike="noStrike">
              <a:solidFill>
                <a:schemeClr val="dk1"/>
              </a:solidFill>
              <a:latin typeface="Calibri"/>
              <a:ea typeface="Calibri"/>
              <a:cs typeface="Calibri"/>
              <a:sym typeface="Calibri"/>
            </a:endParaRPr>
          </a:p>
        </p:txBody>
      </p:sp>
      <p:sp>
        <p:nvSpPr>
          <p:cNvPr id="917" name="Google Shape;917;g3f88e45ce95_0_987"/>
          <p:cNvSpPr/>
          <p:nvPr/>
        </p:nvSpPr>
        <p:spPr>
          <a:xfrm>
            <a:off x="10653861" y="2190750"/>
            <a:ext cx="1828200" cy="438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Latência</a:t>
            </a:r>
            <a:endParaRPr b="0" i="0" sz="2775" u="none" cap="none" strike="noStrike">
              <a:solidFill>
                <a:schemeClr val="dk1"/>
              </a:solidFill>
              <a:latin typeface="Calibri"/>
              <a:ea typeface="Calibri"/>
              <a:cs typeface="Calibri"/>
              <a:sym typeface="Calibri"/>
            </a:endParaRPr>
          </a:p>
        </p:txBody>
      </p:sp>
      <p:sp>
        <p:nvSpPr>
          <p:cNvPr id="918" name="Google Shape;918;g3f88e45ce95_0_987"/>
          <p:cNvSpPr/>
          <p:nvPr/>
        </p:nvSpPr>
        <p:spPr>
          <a:xfrm>
            <a:off x="12748617" y="2190750"/>
            <a:ext cx="1665900" cy="438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Energia</a:t>
            </a:r>
            <a:endParaRPr b="0" i="0" sz="2775" u="none" cap="none" strike="noStrike">
              <a:solidFill>
                <a:schemeClr val="dk1"/>
              </a:solidFill>
              <a:latin typeface="Calibri"/>
              <a:ea typeface="Calibri"/>
              <a:cs typeface="Calibri"/>
              <a:sym typeface="Calibri"/>
            </a:endParaRPr>
          </a:p>
        </p:txBody>
      </p:sp>
      <p:sp>
        <p:nvSpPr>
          <p:cNvPr id="919" name="Google Shape;919;g3f88e45ce95_0_987"/>
          <p:cNvSpPr/>
          <p:nvPr/>
        </p:nvSpPr>
        <p:spPr>
          <a:xfrm>
            <a:off x="14676157" y="2190750"/>
            <a:ext cx="2626500" cy="438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Utilização</a:t>
            </a:r>
            <a:endParaRPr b="0" i="0" sz="2775" u="none" cap="none" strike="noStrike">
              <a:solidFill>
                <a:schemeClr val="dk1"/>
              </a:solidFill>
              <a:latin typeface="Calibri"/>
              <a:ea typeface="Calibri"/>
              <a:cs typeface="Calibri"/>
              <a:sym typeface="Calibri"/>
            </a:endParaRPr>
          </a:p>
        </p:txBody>
      </p:sp>
      <p:sp>
        <p:nvSpPr>
          <p:cNvPr id="920" name="Google Shape;920;g3f88e45ce95_0_987"/>
          <p:cNvSpPr/>
          <p:nvPr/>
        </p:nvSpPr>
        <p:spPr>
          <a:xfrm>
            <a:off x="857250" y="322421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g3f88e45ce95_0_987"/>
          <p:cNvSpPr/>
          <p:nvPr/>
        </p:nvSpPr>
        <p:spPr>
          <a:xfrm>
            <a:off x="1028700" y="2752725"/>
            <a:ext cx="5983800" cy="442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Gemma 4 E4B</a:t>
            </a:r>
            <a:endParaRPr b="0" i="0" sz="2775" u="none" cap="none" strike="noStrike">
              <a:solidFill>
                <a:schemeClr val="dk1"/>
              </a:solidFill>
              <a:latin typeface="Calibri"/>
              <a:ea typeface="Calibri"/>
              <a:cs typeface="Calibri"/>
              <a:sym typeface="Calibri"/>
            </a:endParaRPr>
          </a:p>
        </p:txBody>
      </p:sp>
      <p:sp>
        <p:nvSpPr>
          <p:cNvPr id="922" name="Google Shape;922;g3f88e45ce95_0_987"/>
          <p:cNvSpPr/>
          <p:nvPr/>
        </p:nvSpPr>
        <p:spPr>
          <a:xfrm>
            <a:off x="6666302" y="2752725"/>
            <a:ext cx="21654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3060</a:t>
            </a:r>
            <a:endParaRPr b="0" i="0" sz="2775" u="none" cap="none" strike="noStrike">
              <a:solidFill>
                <a:schemeClr val="dk1"/>
              </a:solidFill>
              <a:latin typeface="Calibri"/>
              <a:ea typeface="Calibri"/>
              <a:cs typeface="Calibri"/>
              <a:sym typeface="Calibri"/>
            </a:endParaRPr>
          </a:p>
        </p:txBody>
      </p:sp>
      <p:sp>
        <p:nvSpPr>
          <p:cNvPr id="923" name="Google Shape;923;g3f88e45ce95_0_987"/>
          <p:cNvSpPr/>
          <p:nvPr/>
        </p:nvSpPr>
        <p:spPr>
          <a:xfrm>
            <a:off x="8978935" y="2752725"/>
            <a:ext cx="14517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9,8</a:t>
            </a:r>
            <a:endParaRPr b="0" i="0" sz="2775" u="none" cap="none" strike="noStrike">
              <a:solidFill>
                <a:schemeClr val="dk1"/>
              </a:solidFill>
              <a:latin typeface="Calibri"/>
              <a:ea typeface="Calibri"/>
              <a:cs typeface="Calibri"/>
              <a:sym typeface="Calibri"/>
            </a:endParaRPr>
          </a:p>
        </p:txBody>
      </p:sp>
      <p:sp>
        <p:nvSpPr>
          <p:cNvPr id="924" name="Google Shape;924;g3f88e45ce95_0_987"/>
          <p:cNvSpPr/>
          <p:nvPr/>
        </p:nvSpPr>
        <p:spPr>
          <a:xfrm>
            <a:off x="10587224" y="2752725"/>
            <a:ext cx="19614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82</a:t>
            </a:r>
            <a:endParaRPr b="0" i="0" sz="2775" u="none" cap="none" strike="noStrike">
              <a:solidFill>
                <a:schemeClr val="dk1"/>
              </a:solidFill>
              <a:latin typeface="Calibri"/>
              <a:ea typeface="Calibri"/>
              <a:cs typeface="Calibri"/>
              <a:sym typeface="Calibri"/>
            </a:endParaRPr>
          </a:p>
        </p:txBody>
      </p:sp>
      <p:sp>
        <p:nvSpPr>
          <p:cNvPr id="925" name="Google Shape;925;g3f88e45ce95_0_987"/>
          <p:cNvSpPr/>
          <p:nvPr/>
        </p:nvSpPr>
        <p:spPr>
          <a:xfrm>
            <a:off x="12690083" y="2752725"/>
            <a:ext cx="17832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191</a:t>
            </a:r>
            <a:endParaRPr b="0" i="0" sz="2775" u="none" cap="none" strike="noStrike">
              <a:solidFill>
                <a:schemeClr val="dk1"/>
              </a:solidFill>
              <a:latin typeface="Calibri"/>
              <a:ea typeface="Calibri"/>
              <a:cs typeface="Calibri"/>
              <a:sym typeface="Calibri"/>
            </a:endParaRPr>
          </a:p>
        </p:txBody>
      </p:sp>
      <p:sp>
        <p:nvSpPr>
          <p:cNvPr id="926" name="Google Shape;926;g3f88e45ce95_0_987"/>
          <p:cNvSpPr/>
          <p:nvPr/>
        </p:nvSpPr>
        <p:spPr>
          <a:xfrm>
            <a:off x="14575259" y="2752725"/>
            <a:ext cx="28281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93%</a:t>
            </a:r>
            <a:endParaRPr b="0" i="0" sz="2775" u="none" cap="none" strike="noStrike">
              <a:solidFill>
                <a:schemeClr val="dk1"/>
              </a:solidFill>
              <a:latin typeface="Calibri"/>
              <a:ea typeface="Calibri"/>
              <a:cs typeface="Calibri"/>
              <a:sym typeface="Calibri"/>
            </a:endParaRPr>
          </a:p>
        </p:txBody>
      </p:sp>
      <p:sp>
        <p:nvSpPr>
          <p:cNvPr id="927" name="Google Shape;927;g3f88e45ce95_0_987"/>
          <p:cNvSpPr/>
          <p:nvPr/>
        </p:nvSpPr>
        <p:spPr>
          <a:xfrm>
            <a:off x="857250" y="3233738"/>
            <a:ext cx="16573500" cy="561900"/>
          </a:xfrm>
          <a:prstGeom prst="rect">
            <a:avLst/>
          </a:prstGeom>
          <a:solidFill>
            <a:srgbClr val="E9F5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g3f88e45ce95_0_987"/>
          <p:cNvSpPr/>
          <p:nvPr/>
        </p:nvSpPr>
        <p:spPr>
          <a:xfrm>
            <a:off x="857250" y="378618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g3f88e45ce95_0_987"/>
          <p:cNvSpPr/>
          <p:nvPr/>
        </p:nvSpPr>
        <p:spPr>
          <a:xfrm>
            <a:off x="1028700" y="3309938"/>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Ministral 3</a:t>
            </a:r>
            <a:endParaRPr b="0" i="0" sz="2775" u="none" cap="none" strike="noStrike">
              <a:solidFill>
                <a:schemeClr val="dk1"/>
              </a:solidFill>
              <a:latin typeface="Calibri"/>
              <a:ea typeface="Calibri"/>
              <a:cs typeface="Calibri"/>
              <a:sym typeface="Calibri"/>
            </a:endParaRPr>
          </a:p>
        </p:txBody>
      </p:sp>
      <p:sp>
        <p:nvSpPr>
          <p:cNvPr id="930" name="Google Shape;930;g3f88e45ce95_0_987"/>
          <p:cNvSpPr/>
          <p:nvPr/>
        </p:nvSpPr>
        <p:spPr>
          <a:xfrm>
            <a:off x="6666302" y="3309938"/>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RTX 3060</a:t>
            </a:r>
            <a:endParaRPr b="0" i="0" sz="2775" u="none" cap="none" strike="noStrike">
              <a:solidFill>
                <a:schemeClr val="dk1"/>
              </a:solidFill>
              <a:latin typeface="Calibri"/>
              <a:ea typeface="Calibri"/>
              <a:cs typeface="Calibri"/>
              <a:sym typeface="Calibri"/>
            </a:endParaRPr>
          </a:p>
        </p:txBody>
      </p:sp>
      <p:sp>
        <p:nvSpPr>
          <p:cNvPr id="931" name="Google Shape;931;g3f88e45ce95_0_987"/>
          <p:cNvSpPr/>
          <p:nvPr/>
        </p:nvSpPr>
        <p:spPr>
          <a:xfrm>
            <a:off x="8978935" y="3309938"/>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9,0</a:t>
            </a:r>
            <a:endParaRPr b="0" i="0" sz="2775" u="none" cap="none" strike="noStrike">
              <a:solidFill>
                <a:schemeClr val="dk1"/>
              </a:solidFill>
              <a:latin typeface="Calibri"/>
              <a:ea typeface="Calibri"/>
              <a:cs typeface="Calibri"/>
              <a:sym typeface="Calibri"/>
            </a:endParaRPr>
          </a:p>
        </p:txBody>
      </p:sp>
      <p:sp>
        <p:nvSpPr>
          <p:cNvPr id="932" name="Google Shape;932;g3f88e45ce95_0_987"/>
          <p:cNvSpPr/>
          <p:nvPr/>
        </p:nvSpPr>
        <p:spPr>
          <a:xfrm>
            <a:off x="10587224" y="3309938"/>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36</a:t>
            </a:r>
            <a:endParaRPr b="0" i="0" sz="2775" u="none" cap="none" strike="noStrike">
              <a:solidFill>
                <a:schemeClr val="dk1"/>
              </a:solidFill>
              <a:latin typeface="Calibri"/>
              <a:ea typeface="Calibri"/>
              <a:cs typeface="Calibri"/>
              <a:sym typeface="Calibri"/>
            </a:endParaRPr>
          </a:p>
        </p:txBody>
      </p:sp>
      <p:sp>
        <p:nvSpPr>
          <p:cNvPr id="933" name="Google Shape;933;g3f88e45ce95_0_987"/>
          <p:cNvSpPr/>
          <p:nvPr/>
        </p:nvSpPr>
        <p:spPr>
          <a:xfrm>
            <a:off x="12690083" y="3309938"/>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100</a:t>
            </a:r>
            <a:endParaRPr b="0" i="0" sz="2775" u="none" cap="none" strike="noStrike">
              <a:solidFill>
                <a:schemeClr val="dk1"/>
              </a:solidFill>
              <a:latin typeface="Calibri"/>
              <a:ea typeface="Calibri"/>
              <a:cs typeface="Calibri"/>
              <a:sym typeface="Calibri"/>
            </a:endParaRPr>
          </a:p>
        </p:txBody>
      </p:sp>
      <p:sp>
        <p:nvSpPr>
          <p:cNvPr id="934" name="Google Shape;934;g3f88e45ce95_0_987"/>
          <p:cNvSpPr/>
          <p:nvPr/>
        </p:nvSpPr>
        <p:spPr>
          <a:xfrm>
            <a:off x="14575259" y="3309938"/>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96%</a:t>
            </a:r>
            <a:endParaRPr b="0" i="0" sz="2775" u="none" cap="none" strike="noStrike">
              <a:solidFill>
                <a:schemeClr val="dk1"/>
              </a:solidFill>
              <a:latin typeface="Calibri"/>
              <a:ea typeface="Calibri"/>
              <a:cs typeface="Calibri"/>
              <a:sym typeface="Calibri"/>
            </a:endParaRPr>
          </a:p>
        </p:txBody>
      </p:sp>
      <p:sp>
        <p:nvSpPr>
          <p:cNvPr id="935" name="Google Shape;935;g3f88e45ce95_0_987"/>
          <p:cNvSpPr/>
          <p:nvPr/>
        </p:nvSpPr>
        <p:spPr>
          <a:xfrm>
            <a:off x="857250" y="434816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g3f88e45ce95_0_987"/>
          <p:cNvSpPr/>
          <p:nvPr/>
        </p:nvSpPr>
        <p:spPr>
          <a:xfrm>
            <a:off x="1028700" y="3871913"/>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Qwen3</a:t>
            </a:r>
            <a:endParaRPr b="0" i="0" sz="2775" u="none" cap="none" strike="noStrike">
              <a:solidFill>
                <a:schemeClr val="dk1"/>
              </a:solidFill>
              <a:latin typeface="Calibri"/>
              <a:ea typeface="Calibri"/>
              <a:cs typeface="Calibri"/>
              <a:sym typeface="Calibri"/>
            </a:endParaRPr>
          </a:p>
        </p:txBody>
      </p:sp>
      <p:sp>
        <p:nvSpPr>
          <p:cNvPr id="937" name="Google Shape;937;g3f88e45ce95_0_987"/>
          <p:cNvSpPr/>
          <p:nvPr/>
        </p:nvSpPr>
        <p:spPr>
          <a:xfrm>
            <a:off x="6666302" y="3871913"/>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3060</a:t>
            </a:r>
            <a:endParaRPr b="0" i="0" sz="2775" u="none" cap="none" strike="noStrike">
              <a:solidFill>
                <a:schemeClr val="dk1"/>
              </a:solidFill>
              <a:latin typeface="Calibri"/>
              <a:ea typeface="Calibri"/>
              <a:cs typeface="Calibri"/>
              <a:sym typeface="Calibri"/>
            </a:endParaRPr>
          </a:p>
        </p:txBody>
      </p:sp>
      <p:sp>
        <p:nvSpPr>
          <p:cNvPr id="938" name="Google Shape;938;g3f88e45ce95_0_987"/>
          <p:cNvSpPr/>
          <p:nvPr/>
        </p:nvSpPr>
        <p:spPr>
          <a:xfrm>
            <a:off x="8978935" y="3871913"/>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7,5</a:t>
            </a:r>
            <a:endParaRPr b="0" i="0" sz="2775" u="none" cap="none" strike="noStrike">
              <a:solidFill>
                <a:schemeClr val="dk1"/>
              </a:solidFill>
              <a:latin typeface="Calibri"/>
              <a:ea typeface="Calibri"/>
              <a:cs typeface="Calibri"/>
              <a:sym typeface="Calibri"/>
            </a:endParaRPr>
          </a:p>
        </p:txBody>
      </p:sp>
      <p:sp>
        <p:nvSpPr>
          <p:cNvPr id="939" name="Google Shape;939;g3f88e45ce95_0_987"/>
          <p:cNvSpPr/>
          <p:nvPr/>
        </p:nvSpPr>
        <p:spPr>
          <a:xfrm>
            <a:off x="10587224" y="3871913"/>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76</a:t>
            </a:r>
            <a:endParaRPr b="0" i="0" sz="2775" u="none" cap="none" strike="noStrike">
              <a:solidFill>
                <a:schemeClr val="dk1"/>
              </a:solidFill>
              <a:latin typeface="Calibri"/>
              <a:ea typeface="Calibri"/>
              <a:cs typeface="Calibri"/>
              <a:sym typeface="Calibri"/>
            </a:endParaRPr>
          </a:p>
        </p:txBody>
      </p:sp>
      <p:sp>
        <p:nvSpPr>
          <p:cNvPr id="940" name="Google Shape;940;g3f88e45ce95_0_987"/>
          <p:cNvSpPr/>
          <p:nvPr/>
        </p:nvSpPr>
        <p:spPr>
          <a:xfrm>
            <a:off x="12690083" y="3871913"/>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215</a:t>
            </a:r>
            <a:endParaRPr b="0" i="0" sz="2775" u="none" cap="none" strike="noStrike">
              <a:solidFill>
                <a:schemeClr val="dk1"/>
              </a:solidFill>
              <a:latin typeface="Calibri"/>
              <a:ea typeface="Calibri"/>
              <a:cs typeface="Calibri"/>
              <a:sym typeface="Calibri"/>
            </a:endParaRPr>
          </a:p>
        </p:txBody>
      </p:sp>
      <p:sp>
        <p:nvSpPr>
          <p:cNvPr id="941" name="Google Shape;941;g3f88e45ce95_0_987"/>
          <p:cNvSpPr/>
          <p:nvPr/>
        </p:nvSpPr>
        <p:spPr>
          <a:xfrm>
            <a:off x="14575259" y="3871913"/>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96%</a:t>
            </a:r>
            <a:endParaRPr b="0" i="0" sz="2775" u="none" cap="none" strike="noStrike">
              <a:solidFill>
                <a:schemeClr val="dk1"/>
              </a:solidFill>
              <a:latin typeface="Calibri"/>
              <a:ea typeface="Calibri"/>
              <a:cs typeface="Calibri"/>
              <a:sym typeface="Calibri"/>
            </a:endParaRPr>
          </a:p>
        </p:txBody>
      </p:sp>
      <p:sp>
        <p:nvSpPr>
          <p:cNvPr id="942" name="Google Shape;942;g3f88e45ce95_0_987"/>
          <p:cNvSpPr/>
          <p:nvPr/>
        </p:nvSpPr>
        <p:spPr>
          <a:xfrm>
            <a:off x="857250" y="491013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g3f88e45ce95_0_987"/>
          <p:cNvSpPr/>
          <p:nvPr/>
        </p:nvSpPr>
        <p:spPr>
          <a:xfrm>
            <a:off x="1028700" y="4433888"/>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Llama 3.1</a:t>
            </a:r>
            <a:endParaRPr b="0" i="0" sz="2775" u="none" cap="none" strike="noStrike">
              <a:solidFill>
                <a:schemeClr val="dk1"/>
              </a:solidFill>
              <a:latin typeface="Calibri"/>
              <a:ea typeface="Calibri"/>
              <a:cs typeface="Calibri"/>
              <a:sym typeface="Calibri"/>
            </a:endParaRPr>
          </a:p>
        </p:txBody>
      </p:sp>
      <p:sp>
        <p:nvSpPr>
          <p:cNvPr id="944" name="Google Shape;944;g3f88e45ce95_0_987"/>
          <p:cNvSpPr/>
          <p:nvPr/>
        </p:nvSpPr>
        <p:spPr>
          <a:xfrm>
            <a:off x="6666302" y="4433888"/>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5080</a:t>
            </a:r>
            <a:endParaRPr b="0" i="0" sz="2775" u="none" cap="none" strike="noStrike">
              <a:solidFill>
                <a:schemeClr val="dk1"/>
              </a:solidFill>
              <a:latin typeface="Calibri"/>
              <a:ea typeface="Calibri"/>
              <a:cs typeface="Calibri"/>
              <a:sym typeface="Calibri"/>
            </a:endParaRPr>
          </a:p>
        </p:txBody>
      </p:sp>
      <p:sp>
        <p:nvSpPr>
          <p:cNvPr id="945" name="Google Shape;945;g3f88e45ce95_0_987"/>
          <p:cNvSpPr/>
          <p:nvPr/>
        </p:nvSpPr>
        <p:spPr>
          <a:xfrm>
            <a:off x="8978935" y="4433888"/>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6,9</a:t>
            </a:r>
            <a:endParaRPr b="0" i="0" sz="2775" u="none" cap="none" strike="noStrike">
              <a:solidFill>
                <a:schemeClr val="dk1"/>
              </a:solidFill>
              <a:latin typeface="Calibri"/>
              <a:ea typeface="Calibri"/>
              <a:cs typeface="Calibri"/>
              <a:sym typeface="Calibri"/>
            </a:endParaRPr>
          </a:p>
        </p:txBody>
      </p:sp>
      <p:sp>
        <p:nvSpPr>
          <p:cNvPr id="946" name="Google Shape;946;g3f88e45ce95_0_987"/>
          <p:cNvSpPr/>
          <p:nvPr/>
        </p:nvSpPr>
        <p:spPr>
          <a:xfrm>
            <a:off x="10587224" y="4433888"/>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a:t>
            </a:r>
            <a:endParaRPr b="0" i="0" sz="2775" u="none" cap="none" strike="noStrike">
              <a:solidFill>
                <a:schemeClr val="dk1"/>
              </a:solidFill>
              <a:latin typeface="Calibri"/>
              <a:ea typeface="Calibri"/>
              <a:cs typeface="Calibri"/>
              <a:sym typeface="Calibri"/>
            </a:endParaRPr>
          </a:p>
        </p:txBody>
      </p:sp>
      <p:sp>
        <p:nvSpPr>
          <p:cNvPr id="947" name="Google Shape;947;g3f88e45ce95_0_987"/>
          <p:cNvSpPr/>
          <p:nvPr/>
        </p:nvSpPr>
        <p:spPr>
          <a:xfrm>
            <a:off x="12690083" y="4433888"/>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45</a:t>
            </a:r>
            <a:endParaRPr b="0" i="0" sz="2775" u="none" cap="none" strike="noStrike">
              <a:solidFill>
                <a:schemeClr val="dk1"/>
              </a:solidFill>
              <a:latin typeface="Calibri"/>
              <a:ea typeface="Calibri"/>
              <a:cs typeface="Calibri"/>
              <a:sym typeface="Calibri"/>
            </a:endParaRPr>
          </a:p>
        </p:txBody>
      </p:sp>
      <p:sp>
        <p:nvSpPr>
          <p:cNvPr id="948" name="Google Shape;948;g3f88e45ce95_0_987"/>
          <p:cNvSpPr/>
          <p:nvPr/>
        </p:nvSpPr>
        <p:spPr>
          <a:xfrm>
            <a:off x="14575259" y="4433888"/>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90%</a:t>
            </a:r>
            <a:endParaRPr b="0" i="0" sz="2775" u="none" cap="none" strike="noStrike">
              <a:solidFill>
                <a:schemeClr val="dk1"/>
              </a:solidFill>
              <a:latin typeface="Calibri"/>
              <a:ea typeface="Calibri"/>
              <a:cs typeface="Calibri"/>
              <a:sym typeface="Calibri"/>
            </a:endParaRPr>
          </a:p>
        </p:txBody>
      </p:sp>
      <p:sp>
        <p:nvSpPr>
          <p:cNvPr id="949" name="Google Shape;949;g3f88e45ce95_0_987"/>
          <p:cNvSpPr/>
          <p:nvPr/>
        </p:nvSpPr>
        <p:spPr>
          <a:xfrm>
            <a:off x="857250" y="547211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g3f88e45ce95_0_987"/>
          <p:cNvSpPr/>
          <p:nvPr/>
        </p:nvSpPr>
        <p:spPr>
          <a:xfrm>
            <a:off x="1028700" y="4995862"/>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Phi-4</a:t>
            </a:r>
            <a:endParaRPr b="0" i="0" sz="2775" u="none" cap="none" strike="noStrike">
              <a:solidFill>
                <a:schemeClr val="dk1"/>
              </a:solidFill>
              <a:latin typeface="Calibri"/>
              <a:ea typeface="Calibri"/>
              <a:cs typeface="Calibri"/>
              <a:sym typeface="Calibri"/>
            </a:endParaRPr>
          </a:p>
        </p:txBody>
      </p:sp>
      <p:sp>
        <p:nvSpPr>
          <p:cNvPr id="951" name="Google Shape;951;g3f88e45ce95_0_987"/>
          <p:cNvSpPr/>
          <p:nvPr/>
        </p:nvSpPr>
        <p:spPr>
          <a:xfrm>
            <a:off x="6666302" y="4995862"/>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5080</a:t>
            </a:r>
            <a:endParaRPr b="0" i="0" sz="2775" u="none" cap="none" strike="noStrike">
              <a:solidFill>
                <a:schemeClr val="dk1"/>
              </a:solidFill>
              <a:latin typeface="Calibri"/>
              <a:ea typeface="Calibri"/>
              <a:cs typeface="Calibri"/>
              <a:sym typeface="Calibri"/>
            </a:endParaRPr>
          </a:p>
        </p:txBody>
      </p:sp>
      <p:sp>
        <p:nvSpPr>
          <p:cNvPr id="952" name="Google Shape;952;g3f88e45ce95_0_987"/>
          <p:cNvSpPr/>
          <p:nvPr/>
        </p:nvSpPr>
        <p:spPr>
          <a:xfrm>
            <a:off x="8978935" y="4995862"/>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11,9</a:t>
            </a:r>
            <a:endParaRPr b="0" i="0" sz="2775" u="none" cap="none" strike="noStrike">
              <a:solidFill>
                <a:schemeClr val="dk1"/>
              </a:solidFill>
              <a:latin typeface="Calibri"/>
              <a:ea typeface="Calibri"/>
              <a:cs typeface="Calibri"/>
              <a:sym typeface="Calibri"/>
            </a:endParaRPr>
          </a:p>
        </p:txBody>
      </p:sp>
      <p:sp>
        <p:nvSpPr>
          <p:cNvPr id="953" name="Google Shape;953;g3f88e45ce95_0_987"/>
          <p:cNvSpPr/>
          <p:nvPr/>
        </p:nvSpPr>
        <p:spPr>
          <a:xfrm>
            <a:off x="10587224" y="4995862"/>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19</a:t>
            </a:r>
            <a:endParaRPr b="0" i="0" sz="2775" u="none" cap="none" strike="noStrike">
              <a:solidFill>
                <a:schemeClr val="dk1"/>
              </a:solidFill>
              <a:latin typeface="Calibri"/>
              <a:ea typeface="Calibri"/>
              <a:cs typeface="Calibri"/>
              <a:sym typeface="Calibri"/>
            </a:endParaRPr>
          </a:p>
        </p:txBody>
      </p:sp>
      <p:sp>
        <p:nvSpPr>
          <p:cNvPr id="954" name="Google Shape;954;g3f88e45ce95_0_987"/>
          <p:cNvSpPr/>
          <p:nvPr/>
        </p:nvSpPr>
        <p:spPr>
          <a:xfrm>
            <a:off x="12690083" y="4995862"/>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109</a:t>
            </a:r>
            <a:endParaRPr b="0" i="0" sz="2775" u="none" cap="none" strike="noStrike">
              <a:solidFill>
                <a:schemeClr val="dk1"/>
              </a:solidFill>
              <a:latin typeface="Calibri"/>
              <a:ea typeface="Calibri"/>
              <a:cs typeface="Calibri"/>
              <a:sym typeface="Calibri"/>
            </a:endParaRPr>
          </a:p>
        </p:txBody>
      </p:sp>
      <p:sp>
        <p:nvSpPr>
          <p:cNvPr id="955" name="Google Shape;955;g3f88e45ce95_0_987"/>
          <p:cNvSpPr/>
          <p:nvPr/>
        </p:nvSpPr>
        <p:spPr>
          <a:xfrm>
            <a:off x="14575259" y="4995862"/>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97%</a:t>
            </a:r>
            <a:endParaRPr b="0" i="0" sz="2775" u="none" cap="none" strike="noStrike">
              <a:solidFill>
                <a:schemeClr val="dk1"/>
              </a:solidFill>
              <a:latin typeface="Calibri"/>
              <a:ea typeface="Calibri"/>
              <a:cs typeface="Calibri"/>
              <a:sym typeface="Calibri"/>
            </a:endParaRPr>
          </a:p>
        </p:txBody>
      </p:sp>
      <p:sp>
        <p:nvSpPr>
          <p:cNvPr id="956" name="Google Shape;956;g3f88e45ce95_0_987"/>
          <p:cNvSpPr/>
          <p:nvPr/>
        </p:nvSpPr>
        <p:spPr>
          <a:xfrm>
            <a:off x="857250" y="603408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g3f88e45ce95_0_987"/>
          <p:cNvSpPr/>
          <p:nvPr/>
        </p:nvSpPr>
        <p:spPr>
          <a:xfrm>
            <a:off x="1028700" y="5557838"/>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DeepSeek-Coder-V2</a:t>
            </a:r>
            <a:endParaRPr b="0" i="0" sz="2775" u="none" cap="none" strike="noStrike">
              <a:solidFill>
                <a:schemeClr val="dk1"/>
              </a:solidFill>
              <a:latin typeface="Calibri"/>
              <a:ea typeface="Calibri"/>
              <a:cs typeface="Calibri"/>
              <a:sym typeface="Calibri"/>
            </a:endParaRPr>
          </a:p>
        </p:txBody>
      </p:sp>
      <p:sp>
        <p:nvSpPr>
          <p:cNvPr id="958" name="Google Shape;958;g3f88e45ce95_0_987"/>
          <p:cNvSpPr/>
          <p:nvPr/>
        </p:nvSpPr>
        <p:spPr>
          <a:xfrm>
            <a:off x="6666302" y="5557838"/>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5080</a:t>
            </a:r>
            <a:endParaRPr b="0" i="0" sz="2775" u="none" cap="none" strike="noStrike">
              <a:solidFill>
                <a:schemeClr val="dk1"/>
              </a:solidFill>
              <a:latin typeface="Calibri"/>
              <a:ea typeface="Calibri"/>
              <a:cs typeface="Calibri"/>
              <a:sym typeface="Calibri"/>
            </a:endParaRPr>
          </a:p>
        </p:txBody>
      </p:sp>
      <p:sp>
        <p:nvSpPr>
          <p:cNvPr id="959" name="Google Shape;959;g3f88e45ce95_0_987"/>
          <p:cNvSpPr/>
          <p:nvPr/>
        </p:nvSpPr>
        <p:spPr>
          <a:xfrm>
            <a:off x="8978935" y="5557838"/>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13,5</a:t>
            </a:r>
            <a:endParaRPr b="0" i="0" sz="2775" u="none" cap="none" strike="noStrike">
              <a:solidFill>
                <a:schemeClr val="dk1"/>
              </a:solidFill>
              <a:latin typeface="Calibri"/>
              <a:ea typeface="Calibri"/>
              <a:cs typeface="Calibri"/>
              <a:sym typeface="Calibri"/>
            </a:endParaRPr>
          </a:p>
        </p:txBody>
      </p:sp>
      <p:sp>
        <p:nvSpPr>
          <p:cNvPr id="960" name="Google Shape;960;g3f88e45ce95_0_987"/>
          <p:cNvSpPr/>
          <p:nvPr/>
        </p:nvSpPr>
        <p:spPr>
          <a:xfrm>
            <a:off x="10587224" y="5557838"/>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16</a:t>
            </a:r>
            <a:endParaRPr b="0" i="0" sz="2775" u="none" cap="none" strike="noStrike">
              <a:solidFill>
                <a:schemeClr val="dk1"/>
              </a:solidFill>
              <a:latin typeface="Calibri"/>
              <a:ea typeface="Calibri"/>
              <a:cs typeface="Calibri"/>
              <a:sym typeface="Calibri"/>
            </a:endParaRPr>
          </a:p>
        </p:txBody>
      </p:sp>
      <p:sp>
        <p:nvSpPr>
          <p:cNvPr id="961" name="Google Shape;961;g3f88e45ce95_0_987"/>
          <p:cNvSpPr/>
          <p:nvPr/>
        </p:nvSpPr>
        <p:spPr>
          <a:xfrm>
            <a:off x="12690083" y="5557838"/>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86</a:t>
            </a:r>
            <a:endParaRPr b="0" i="0" sz="2775" u="none" cap="none" strike="noStrike">
              <a:solidFill>
                <a:schemeClr val="dk1"/>
              </a:solidFill>
              <a:latin typeface="Calibri"/>
              <a:ea typeface="Calibri"/>
              <a:cs typeface="Calibri"/>
              <a:sym typeface="Calibri"/>
            </a:endParaRPr>
          </a:p>
        </p:txBody>
      </p:sp>
      <p:sp>
        <p:nvSpPr>
          <p:cNvPr id="962" name="Google Shape;962;g3f88e45ce95_0_987"/>
          <p:cNvSpPr/>
          <p:nvPr/>
        </p:nvSpPr>
        <p:spPr>
          <a:xfrm>
            <a:off x="14575259" y="5557838"/>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94%</a:t>
            </a:r>
            <a:endParaRPr b="0" i="0" sz="2775" u="none" cap="none" strike="noStrike">
              <a:solidFill>
                <a:schemeClr val="dk1"/>
              </a:solidFill>
              <a:latin typeface="Calibri"/>
              <a:ea typeface="Calibri"/>
              <a:cs typeface="Calibri"/>
              <a:sym typeface="Calibri"/>
            </a:endParaRPr>
          </a:p>
        </p:txBody>
      </p:sp>
      <p:sp>
        <p:nvSpPr>
          <p:cNvPr id="963" name="Google Shape;963;g3f88e45ce95_0_987"/>
          <p:cNvSpPr/>
          <p:nvPr/>
        </p:nvSpPr>
        <p:spPr>
          <a:xfrm>
            <a:off x="857250" y="6043613"/>
            <a:ext cx="16573500" cy="561900"/>
          </a:xfrm>
          <a:prstGeom prst="rect">
            <a:avLst/>
          </a:prstGeom>
          <a:solidFill>
            <a:srgbClr val="E9F5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g3f88e45ce95_0_987"/>
          <p:cNvSpPr/>
          <p:nvPr/>
        </p:nvSpPr>
        <p:spPr>
          <a:xfrm>
            <a:off x="857250" y="659606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g3f88e45ce95_0_987"/>
          <p:cNvSpPr/>
          <p:nvPr/>
        </p:nvSpPr>
        <p:spPr>
          <a:xfrm>
            <a:off x="1028700" y="6119813"/>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gpt-oss</a:t>
            </a:r>
            <a:endParaRPr b="0" i="0" sz="2775" u="none" cap="none" strike="noStrike">
              <a:solidFill>
                <a:schemeClr val="dk1"/>
              </a:solidFill>
              <a:latin typeface="Calibri"/>
              <a:ea typeface="Calibri"/>
              <a:cs typeface="Calibri"/>
              <a:sym typeface="Calibri"/>
            </a:endParaRPr>
          </a:p>
        </p:txBody>
      </p:sp>
      <p:sp>
        <p:nvSpPr>
          <p:cNvPr id="966" name="Google Shape;966;g3f88e45ce95_0_987"/>
          <p:cNvSpPr/>
          <p:nvPr/>
        </p:nvSpPr>
        <p:spPr>
          <a:xfrm>
            <a:off x="6666302" y="6119813"/>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RTX 5080</a:t>
            </a:r>
            <a:endParaRPr b="0" i="0" sz="2775" u="none" cap="none" strike="noStrike">
              <a:solidFill>
                <a:schemeClr val="dk1"/>
              </a:solidFill>
              <a:latin typeface="Calibri"/>
              <a:ea typeface="Calibri"/>
              <a:cs typeface="Calibri"/>
              <a:sym typeface="Calibri"/>
            </a:endParaRPr>
          </a:p>
        </p:txBody>
      </p:sp>
      <p:sp>
        <p:nvSpPr>
          <p:cNvPr id="967" name="Google Shape;967;g3f88e45ce95_0_987"/>
          <p:cNvSpPr/>
          <p:nvPr/>
        </p:nvSpPr>
        <p:spPr>
          <a:xfrm>
            <a:off x="8978935" y="6119813"/>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12,9</a:t>
            </a:r>
            <a:endParaRPr b="0" i="0" sz="2775" u="none" cap="none" strike="noStrike">
              <a:solidFill>
                <a:schemeClr val="dk1"/>
              </a:solidFill>
              <a:latin typeface="Calibri"/>
              <a:ea typeface="Calibri"/>
              <a:cs typeface="Calibri"/>
              <a:sym typeface="Calibri"/>
            </a:endParaRPr>
          </a:p>
        </p:txBody>
      </p:sp>
      <p:sp>
        <p:nvSpPr>
          <p:cNvPr id="968" name="Google Shape;968;g3f88e45ce95_0_987"/>
          <p:cNvSpPr/>
          <p:nvPr/>
        </p:nvSpPr>
        <p:spPr>
          <a:xfrm>
            <a:off x="10587224" y="6119813"/>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13</a:t>
            </a:r>
            <a:endParaRPr b="0" i="0" sz="2775" u="none" cap="none" strike="noStrike">
              <a:solidFill>
                <a:schemeClr val="dk1"/>
              </a:solidFill>
              <a:latin typeface="Calibri"/>
              <a:ea typeface="Calibri"/>
              <a:cs typeface="Calibri"/>
              <a:sym typeface="Calibri"/>
            </a:endParaRPr>
          </a:p>
        </p:txBody>
      </p:sp>
      <p:sp>
        <p:nvSpPr>
          <p:cNvPr id="969" name="Google Shape;969;g3f88e45ce95_0_987"/>
          <p:cNvSpPr/>
          <p:nvPr/>
        </p:nvSpPr>
        <p:spPr>
          <a:xfrm>
            <a:off x="12690083" y="6119813"/>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56</a:t>
            </a:r>
            <a:endParaRPr b="0" i="0" sz="2775" u="none" cap="none" strike="noStrike">
              <a:solidFill>
                <a:schemeClr val="dk1"/>
              </a:solidFill>
              <a:latin typeface="Calibri"/>
              <a:ea typeface="Calibri"/>
              <a:cs typeface="Calibri"/>
              <a:sym typeface="Calibri"/>
            </a:endParaRPr>
          </a:p>
        </p:txBody>
      </p:sp>
      <p:sp>
        <p:nvSpPr>
          <p:cNvPr id="970" name="Google Shape;970;g3f88e45ce95_0_987"/>
          <p:cNvSpPr/>
          <p:nvPr/>
        </p:nvSpPr>
        <p:spPr>
          <a:xfrm>
            <a:off x="14575259" y="6119813"/>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1" i="0" lang="en-US" sz="2775" u="none" cap="none" strike="noStrike">
                <a:solidFill>
                  <a:srgbClr val="1F2937"/>
                </a:solidFill>
                <a:latin typeface="Arial"/>
                <a:ea typeface="Arial"/>
                <a:cs typeface="Arial"/>
                <a:sym typeface="Arial"/>
              </a:rPr>
              <a:t>89%</a:t>
            </a:r>
            <a:endParaRPr b="0" i="0" sz="2775" u="none" cap="none" strike="noStrike">
              <a:solidFill>
                <a:schemeClr val="dk1"/>
              </a:solidFill>
              <a:latin typeface="Calibri"/>
              <a:ea typeface="Calibri"/>
              <a:cs typeface="Calibri"/>
              <a:sym typeface="Calibri"/>
            </a:endParaRPr>
          </a:p>
        </p:txBody>
      </p:sp>
      <p:sp>
        <p:nvSpPr>
          <p:cNvPr id="971" name="Google Shape;971;g3f88e45ce95_0_987"/>
          <p:cNvSpPr/>
          <p:nvPr/>
        </p:nvSpPr>
        <p:spPr>
          <a:xfrm>
            <a:off x="857250" y="7158038"/>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g3f88e45ce95_0_987"/>
          <p:cNvSpPr/>
          <p:nvPr/>
        </p:nvSpPr>
        <p:spPr>
          <a:xfrm>
            <a:off x="1028700" y="6681787"/>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Foundation-Sec</a:t>
            </a:r>
            <a:endParaRPr b="0" i="0" sz="2775" u="none" cap="none" strike="noStrike">
              <a:solidFill>
                <a:schemeClr val="dk1"/>
              </a:solidFill>
              <a:latin typeface="Calibri"/>
              <a:ea typeface="Calibri"/>
              <a:cs typeface="Calibri"/>
              <a:sym typeface="Calibri"/>
            </a:endParaRPr>
          </a:p>
        </p:txBody>
      </p:sp>
      <p:sp>
        <p:nvSpPr>
          <p:cNvPr id="973" name="Google Shape;973;g3f88e45ce95_0_987"/>
          <p:cNvSpPr/>
          <p:nvPr/>
        </p:nvSpPr>
        <p:spPr>
          <a:xfrm>
            <a:off x="6666302" y="6681787"/>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5080</a:t>
            </a:r>
            <a:endParaRPr b="0" i="0" sz="2775" u="none" cap="none" strike="noStrike">
              <a:solidFill>
                <a:schemeClr val="dk1"/>
              </a:solidFill>
              <a:latin typeface="Calibri"/>
              <a:ea typeface="Calibri"/>
              <a:cs typeface="Calibri"/>
              <a:sym typeface="Calibri"/>
            </a:endParaRPr>
          </a:p>
        </p:txBody>
      </p:sp>
      <p:sp>
        <p:nvSpPr>
          <p:cNvPr id="974" name="Google Shape;974;g3f88e45ce95_0_987"/>
          <p:cNvSpPr/>
          <p:nvPr/>
        </p:nvSpPr>
        <p:spPr>
          <a:xfrm>
            <a:off x="8978935" y="6681787"/>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7,7</a:t>
            </a:r>
            <a:endParaRPr b="0" i="0" sz="2775" u="none" cap="none" strike="noStrike">
              <a:solidFill>
                <a:schemeClr val="dk1"/>
              </a:solidFill>
              <a:latin typeface="Calibri"/>
              <a:ea typeface="Calibri"/>
              <a:cs typeface="Calibri"/>
              <a:sym typeface="Calibri"/>
            </a:endParaRPr>
          </a:p>
        </p:txBody>
      </p:sp>
      <p:sp>
        <p:nvSpPr>
          <p:cNvPr id="975" name="Google Shape;975;g3f88e45ce95_0_987"/>
          <p:cNvSpPr/>
          <p:nvPr/>
        </p:nvSpPr>
        <p:spPr>
          <a:xfrm>
            <a:off x="10587224" y="6681787"/>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13</a:t>
            </a:r>
            <a:endParaRPr b="0" i="0" sz="2775" u="none" cap="none" strike="noStrike">
              <a:solidFill>
                <a:schemeClr val="dk1"/>
              </a:solidFill>
              <a:latin typeface="Calibri"/>
              <a:ea typeface="Calibri"/>
              <a:cs typeface="Calibri"/>
              <a:sym typeface="Calibri"/>
            </a:endParaRPr>
          </a:p>
        </p:txBody>
      </p:sp>
      <p:sp>
        <p:nvSpPr>
          <p:cNvPr id="976" name="Google Shape;976;g3f88e45ce95_0_987"/>
          <p:cNvSpPr/>
          <p:nvPr/>
        </p:nvSpPr>
        <p:spPr>
          <a:xfrm>
            <a:off x="12690083" y="6681787"/>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57</a:t>
            </a:r>
            <a:endParaRPr b="0" i="0" sz="2775" u="none" cap="none" strike="noStrike">
              <a:solidFill>
                <a:schemeClr val="dk1"/>
              </a:solidFill>
              <a:latin typeface="Calibri"/>
              <a:ea typeface="Calibri"/>
              <a:cs typeface="Calibri"/>
              <a:sym typeface="Calibri"/>
            </a:endParaRPr>
          </a:p>
        </p:txBody>
      </p:sp>
      <p:sp>
        <p:nvSpPr>
          <p:cNvPr id="977" name="Google Shape;977;g3f88e45ce95_0_987"/>
          <p:cNvSpPr/>
          <p:nvPr/>
        </p:nvSpPr>
        <p:spPr>
          <a:xfrm>
            <a:off x="14575259" y="6681787"/>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87%</a:t>
            </a:r>
            <a:endParaRPr b="0" i="0" sz="2775" u="none" cap="none" strike="noStrike">
              <a:solidFill>
                <a:schemeClr val="dk1"/>
              </a:solidFill>
              <a:latin typeface="Calibri"/>
              <a:ea typeface="Calibri"/>
              <a:cs typeface="Calibri"/>
              <a:sym typeface="Calibri"/>
            </a:endParaRPr>
          </a:p>
        </p:txBody>
      </p:sp>
      <p:sp>
        <p:nvSpPr>
          <p:cNvPr id="978" name="Google Shape;978;g3f88e45ce95_0_987"/>
          <p:cNvSpPr/>
          <p:nvPr/>
        </p:nvSpPr>
        <p:spPr>
          <a:xfrm>
            <a:off x="857250" y="7720013"/>
            <a:ext cx="16573500" cy="96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g3f88e45ce95_0_987"/>
          <p:cNvSpPr/>
          <p:nvPr/>
        </p:nvSpPr>
        <p:spPr>
          <a:xfrm>
            <a:off x="1028700" y="7243763"/>
            <a:ext cx="5983800" cy="447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Primus-Merged</a:t>
            </a:r>
            <a:endParaRPr b="0" i="0" sz="2775" u="none" cap="none" strike="noStrike">
              <a:solidFill>
                <a:schemeClr val="dk1"/>
              </a:solidFill>
              <a:latin typeface="Calibri"/>
              <a:ea typeface="Calibri"/>
              <a:cs typeface="Calibri"/>
              <a:sym typeface="Calibri"/>
            </a:endParaRPr>
          </a:p>
        </p:txBody>
      </p:sp>
      <p:sp>
        <p:nvSpPr>
          <p:cNvPr id="980" name="Google Shape;980;g3f88e45ce95_0_987"/>
          <p:cNvSpPr/>
          <p:nvPr/>
        </p:nvSpPr>
        <p:spPr>
          <a:xfrm>
            <a:off x="6666302" y="7243763"/>
            <a:ext cx="2165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RTX 5080</a:t>
            </a:r>
            <a:endParaRPr b="0" i="0" sz="2775" u="none" cap="none" strike="noStrike">
              <a:solidFill>
                <a:schemeClr val="dk1"/>
              </a:solidFill>
              <a:latin typeface="Calibri"/>
              <a:ea typeface="Calibri"/>
              <a:cs typeface="Calibri"/>
              <a:sym typeface="Calibri"/>
            </a:endParaRPr>
          </a:p>
        </p:txBody>
      </p:sp>
      <p:sp>
        <p:nvSpPr>
          <p:cNvPr id="981" name="Google Shape;981;g3f88e45ce95_0_987"/>
          <p:cNvSpPr/>
          <p:nvPr/>
        </p:nvSpPr>
        <p:spPr>
          <a:xfrm>
            <a:off x="8978935" y="7243763"/>
            <a:ext cx="14517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7,7</a:t>
            </a:r>
            <a:endParaRPr b="0" i="0" sz="2775" u="none" cap="none" strike="noStrike">
              <a:solidFill>
                <a:schemeClr val="dk1"/>
              </a:solidFill>
              <a:latin typeface="Calibri"/>
              <a:ea typeface="Calibri"/>
              <a:cs typeface="Calibri"/>
              <a:sym typeface="Calibri"/>
            </a:endParaRPr>
          </a:p>
        </p:txBody>
      </p:sp>
      <p:sp>
        <p:nvSpPr>
          <p:cNvPr id="982" name="Google Shape;982;g3f88e45ce95_0_987"/>
          <p:cNvSpPr/>
          <p:nvPr/>
        </p:nvSpPr>
        <p:spPr>
          <a:xfrm>
            <a:off x="10587224" y="7243763"/>
            <a:ext cx="1961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17</a:t>
            </a:r>
            <a:endParaRPr b="0" i="0" sz="2775" u="none" cap="none" strike="noStrike">
              <a:solidFill>
                <a:schemeClr val="dk1"/>
              </a:solidFill>
              <a:latin typeface="Calibri"/>
              <a:ea typeface="Calibri"/>
              <a:cs typeface="Calibri"/>
              <a:sym typeface="Calibri"/>
            </a:endParaRPr>
          </a:p>
        </p:txBody>
      </p:sp>
      <p:sp>
        <p:nvSpPr>
          <p:cNvPr id="983" name="Google Shape;983;g3f88e45ce95_0_987"/>
          <p:cNvSpPr/>
          <p:nvPr/>
        </p:nvSpPr>
        <p:spPr>
          <a:xfrm>
            <a:off x="12690083" y="7243763"/>
            <a:ext cx="1783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74</a:t>
            </a:r>
            <a:endParaRPr b="0" i="0" sz="2775" u="none" cap="none" strike="noStrike">
              <a:solidFill>
                <a:schemeClr val="dk1"/>
              </a:solidFill>
              <a:latin typeface="Calibri"/>
              <a:ea typeface="Calibri"/>
              <a:cs typeface="Calibri"/>
              <a:sym typeface="Calibri"/>
            </a:endParaRPr>
          </a:p>
        </p:txBody>
      </p:sp>
      <p:sp>
        <p:nvSpPr>
          <p:cNvPr id="984" name="Google Shape;984;g3f88e45ce95_0_987"/>
          <p:cNvSpPr/>
          <p:nvPr/>
        </p:nvSpPr>
        <p:spPr>
          <a:xfrm>
            <a:off x="14575259" y="7243763"/>
            <a:ext cx="2828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F2937"/>
              </a:buClr>
              <a:buSzPts val="2775"/>
              <a:buFont typeface="Arial"/>
              <a:buNone/>
            </a:pPr>
            <a:r>
              <a:rPr b="0" i="0" lang="en-US" sz="2775" u="none" cap="none" strike="noStrike">
                <a:solidFill>
                  <a:srgbClr val="1F2937"/>
                </a:solidFill>
                <a:latin typeface="Arial"/>
                <a:ea typeface="Arial"/>
                <a:cs typeface="Arial"/>
                <a:sym typeface="Arial"/>
              </a:rPr>
              <a:t>88%</a:t>
            </a:r>
            <a:endParaRPr b="0" i="0" sz="2775" u="none" cap="none" strike="noStrike">
              <a:solidFill>
                <a:schemeClr val="dk1"/>
              </a:solidFill>
              <a:latin typeface="Calibri"/>
              <a:ea typeface="Calibri"/>
              <a:cs typeface="Calibri"/>
              <a:sym typeface="Calibri"/>
            </a:endParaRPr>
          </a:p>
        </p:txBody>
      </p:sp>
      <p:sp>
        <p:nvSpPr>
          <p:cNvPr id="985" name="Google Shape;985;g3f88e45ce95_0_987"/>
          <p:cNvSpPr/>
          <p:nvPr/>
        </p:nvSpPr>
        <p:spPr>
          <a:xfrm>
            <a:off x="857250" y="7729538"/>
            <a:ext cx="16573500" cy="576300"/>
          </a:xfrm>
          <a:prstGeom prst="rect">
            <a:avLst/>
          </a:prstGeom>
          <a:solidFill>
            <a:srgbClr val="0F2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g3f88e45ce95_0_987"/>
          <p:cNvSpPr/>
          <p:nvPr/>
        </p:nvSpPr>
        <p:spPr>
          <a:xfrm>
            <a:off x="1028700" y="7815263"/>
            <a:ext cx="5581200" cy="442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deepseek-v4-flash (nuvem)</a:t>
            </a:r>
            <a:endParaRPr b="0" i="0" sz="2775" u="none" cap="none" strike="noStrike">
              <a:solidFill>
                <a:schemeClr val="dk1"/>
              </a:solidFill>
              <a:latin typeface="Calibri"/>
              <a:ea typeface="Calibri"/>
              <a:cs typeface="Calibri"/>
              <a:sym typeface="Calibri"/>
            </a:endParaRPr>
          </a:p>
        </p:txBody>
      </p:sp>
      <p:sp>
        <p:nvSpPr>
          <p:cNvPr id="987" name="Google Shape;987;g3f88e45ce95_0_987"/>
          <p:cNvSpPr/>
          <p:nvPr/>
        </p:nvSpPr>
        <p:spPr>
          <a:xfrm>
            <a:off x="6742212" y="7815263"/>
            <a:ext cx="20136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API</a:t>
            </a:r>
            <a:endParaRPr b="0" i="0" sz="2775" u="none" cap="none" strike="noStrike">
              <a:solidFill>
                <a:schemeClr val="dk1"/>
              </a:solidFill>
              <a:latin typeface="Calibri"/>
              <a:ea typeface="Calibri"/>
              <a:cs typeface="Calibri"/>
              <a:sym typeface="Calibri"/>
            </a:endParaRPr>
          </a:p>
        </p:txBody>
      </p:sp>
      <p:sp>
        <p:nvSpPr>
          <p:cNvPr id="988" name="Google Shape;988;g3f88e45ce95_0_987"/>
          <p:cNvSpPr/>
          <p:nvPr/>
        </p:nvSpPr>
        <p:spPr>
          <a:xfrm>
            <a:off x="9022407" y="7815263"/>
            <a:ext cx="13647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n/a</a:t>
            </a:r>
            <a:endParaRPr b="0" i="0" sz="2775" u="none" cap="none" strike="noStrike">
              <a:solidFill>
                <a:schemeClr val="dk1"/>
              </a:solidFill>
              <a:latin typeface="Calibri"/>
              <a:ea typeface="Calibri"/>
              <a:cs typeface="Calibri"/>
              <a:sym typeface="Calibri"/>
            </a:endParaRPr>
          </a:p>
        </p:txBody>
      </p:sp>
      <p:sp>
        <p:nvSpPr>
          <p:cNvPr id="989" name="Google Shape;989;g3f88e45ce95_0_987"/>
          <p:cNvSpPr/>
          <p:nvPr/>
        </p:nvSpPr>
        <p:spPr>
          <a:xfrm>
            <a:off x="10653861" y="7815263"/>
            <a:ext cx="18282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 48*</a:t>
            </a:r>
            <a:endParaRPr b="0" i="0" sz="2775" u="none" cap="none" strike="noStrike">
              <a:solidFill>
                <a:schemeClr val="dk1"/>
              </a:solidFill>
              <a:latin typeface="Calibri"/>
              <a:ea typeface="Calibri"/>
              <a:cs typeface="Calibri"/>
              <a:sym typeface="Calibri"/>
            </a:endParaRPr>
          </a:p>
        </p:txBody>
      </p:sp>
      <p:sp>
        <p:nvSpPr>
          <p:cNvPr id="990" name="Google Shape;990;g3f88e45ce95_0_987"/>
          <p:cNvSpPr/>
          <p:nvPr/>
        </p:nvSpPr>
        <p:spPr>
          <a:xfrm>
            <a:off x="12748617" y="7815263"/>
            <a:ext cx="16659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775"/>
              <a:buFont typeface="Arial"/>
              <a:buNone/>
            </a:pPr>
            <a:r>
              <a:rPr b="1" i="0" lang="en-US" sz="2775" u="none" cap="none" strike="noStrike">
                <a:solidFill>
                  <a:srgbClr val="FFFFFF"/>
                </a:solidFill>
                <a:latin typeface="Arial"/>
                <a:ea typeface="Arial"/>
                <a:cs typeface="Arial"/>
                <a:sym typeface="Arial"/>
              </a:rPr>
              <a:t>n/a</a:t>
            </a:r>
            <a:endParaRPr b="0" i="0" sz="2775" u="none" cap="none" strike="noStrike">
              <a:solidFill>
                <a:schemeClr val="dk1"/>
              </a:solidFill>
              <a:latin typeface="Calibri"/>
              <a:ea typeface="Calibri"/>
              <a:cs typeface="Calibri"/>
              <a:sym typeface="Calibri"/>
            </a:endParaRPr>
          </a:p>
        </p:txBody>
      </p:sp>
      <p:sp>
        <p:nvSpPr>
          <p:cNvPr id="991" name="Google Shape;991;g3f88e45ce95_0_987"/>
          <p:cNvSpPr/>
          <p:nvPr/>
        </p:nvSpPr>
        <p:spPr>
          <a:xfrm>
            <a:off x="14676157" y="7815263"/>
            <a:ext cx="26265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7A823"/>
              </a:buClr>
              <a:buSzPts val="2775"/>
              <a:buFont typeface="Arial"/>
              <a:buNone/>
            </a:pPr>
            <a:r>
              <a:rPr b="1" i="0" lang="en-US" sz="2775" u="none" cap="none" strike="noStrike">
                <a:solidFill>
                  <a:srgbClr val="F7A823"/>
                </a:solidFill>
                <a:latin typeface="Arial"/>
                <a:ea typeface="Arial"/>
                <a:cs typeface="Arial"/>
                <a:sym typeface="Arial"/>
              </a:rPr>
              <a:t>US$ 0,14/rel.</a:t>
            </a:r>
            <a:endParaRPr b="0" i="0" sz="2775" u="none" cap="none" strike="noStrike">
              <a:solidFill>
                <a:schemeClr val="dk1"/>
              </a:solidFill>
              <a:latin typeface="Calibri"/>
              <a:ea typeface="Calibri"/>
              <a:cs typeface="Calibri"/>
              <a:sym typeface="Calibri"/>
            </a:endParaRPr>
          </a:p>
        </p:txBody>
      </p:sp>
      <p:sp>
        <p:nvSpPr>
          <p:cNvPr id="992" name="Google Shape;992;g3f88e45ce95_0_987"/>
          <p:cNvSpPr/>
          <p:nvPr/>
        </p:nvSpPr>
        <p:spPr>
          <a:xfrm>
            <a:off x="1333500" y="9296400"/>
            <a:ext cx="12906300"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Verde: melhor custo-desempenho dentro de cada GPU. Latência e energia não são comparáveis entre as duas placas. *Wall-clock ponta a ponta</a:t>
            </a:r>
            <a:endParaRPr b="0" i="0" sz="2250" u="none" cap="none" strike="noStrike">
              <a:solidFill>
                <a:schemeClr val="dk1"/>
              </a:solidFill>
              <a:latin typeface="Calibri"/>
              <a:ea typeface="Calibri"/>
              <a:cs typeface="Calibri"/>
              <a:sym typeface="Calibri"/>
            </a:endParaRPr>
          </a:p>
        </p:txBody>
      </p:sp>
      <p:pic>
        <p:nvPicPr>
          <p:cNvPr descr="preencoded.png" id="993" name="Google Shape;993;g3f88e45ce95_0_987"/>
          <p:cNvPicPr preferRelativeResize="0"/>
          <p:nvPr/>
        </p:nvPicPr>
        <p:blipFill rotWithShape="1">
          <a:blip r:embed="rId3">
            <a:alphaModFix/>
          </a:blip>
          <a:srcRect b="0" l="0" r="0" t="0"/>
          <a:stretch/>
        </p:blipFill>
        <p:spPr>
          <a:xfrm>
            <a:off x="13863935" y="9429750"/>
            <a:ext cx="1558826" cy="381000"/>
          </a:xfrm>
          <a:prstGeom prst="rect">
            <a:avLst/>
          </a:prstGeom>
          <a:noFill/>
          <a:ln>
            <a:noFill/>
          </a:ln>
        </p:spPr>
      </p:pic>
      <p:pic>
        <p:nvPicPr>
          <p:cNvPr descr="preencoded.png" id="994" name="Google Shape;994;g3f88e45ce95_0_987"/>
          <p:cNvPicPr preferRelativeResize="0"/>
          <p:nvPr/>
        </p:nvPicPr>
        <p:blipFill rotWithShape="1">
          <a:blip r:embed="rId4">
            <a:alphaModFix/>
          </a:blip>
          <a:srcRect b="0" l="0" r="0" t="0"/>
          <a:stretch/>
        </p:blipFill>
        <p:spPr>
          <a:xfrm>
            <a:off x="15651361" y="9410700"/>
            <a:ext cx="636389" cy="419100"/>
          </a:xfrm>
          <a:prstGeom prst="rect">
            <a:avLst/>
          </a:prstGeom>
          <a:noFill/>
          <a:ln>
            <a:noFill/>
          </a:ln>
        </p:spPr>
      </p:pic>
      <p:pic>
        <p:nvPicPr>
          <p:cNvPr descr="preencoded.png" id="995" name="Google Shape;995;g3f88e45ce95_0_987"/>
          <p:cNvPicPr preferRelativeResize="0"/>
          <p:nvPr/>
        </p:nvPicPr>
        <p:blipFill rotWithShape="1">
          <a:blip r:embed="rId5">
            <a:alphaModFix/>
          </a:blip>
          <a:srcRect b="0" l="0" r="0" t="0"/>
          <a:stretch/>
        </p:blipFill>
        <p:spPr>
          <a:xfrm>
            <a:off x="16516350" y="9401175"/>
            <a:ext cx="438150" cy="4381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sp>
        <p:nvSpPr>
          <p:cNvPr id="1001" name="Google Shape;1001;g3f88e45ce95_0_1077"/>
          <p:cNvSpPr/>
          <p:nvPr/>
        </p:nvSpPr>
        <p:spPr>
          <a:xfrm>
            <a:off x="1333500" y="762000"/>
            <a:ext cx="171831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866E"/>
              </a:buClr>
              <a:buSzPts val="2400"/>
              <a:buFont typeface="Arial"/>
              <a:buNone/>
            </a:pPr>
            <a:r>
              <a:rPr b="1" i="0" lang="en-US" sz="2400" u="none" cap="none" strike="noStrike">
                <a:solidFill>
                  <a:srgbClr val="0A866E"/>
                </a:solidFill>
                <a:latin typeface="Arial"/>
                <a:ea typeface="Arial"/>
                <a:cs typeface="Arial"/>
                <a:sym typeface="Arial"/>
              </a:rPr>
              <a:t>RESERVA</a:t>
            </a:r>
            <a:endParaRPr b="0" i="0" sz="2400" u="none" cap="none" strike="noStrike">
              <a:solidFill>
                <a:schemeClr val="dk1"/>
              </a:solidFill>
              <a:latin typeface="Calibri"/>
              <a:ea typeface="Calibri"/>
              <a:cs typeface="Calibri"/>
              <a:sym typeface="Calibri"/>
            </a:endParaRPr>
          </a:p>
        </p:txBody>
      </p:sp>
      <p:sp>
        <p:nvSpPr>
          <p:cNvPr id="1002" name="Google Shape;1002;g3f88e45ce95_0_1077"/>
          <p:cNvSpPr/>
          <p:nvPr/>
        </p:nvSpPr>
        <p:spPr>
          <a:xfrm>
            <a:off x="1333500" y="1247775"/>
            <a:ext cx="17183100" cy="69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4500"/>
              <a:buFont typeface="Arial"/>
              <a:buNone/>
            </a:pPr>
            <a:r>
              <a:rPr b="1" i="0" lang="en-US" sz="4500" u="none" cap="none" strike="noStrike">
                <a:solidFill>
                  <a:srgbClr val="0F2369"/>
                </a:solidFill>
                <a:latin typeface="Arial"/>
                <a:ea typeface="Arial"/>
                <a:cs typeface="Arial"/>
                <a:sym typeface="Arial"/>
              </a:rPr>
              <a:t>Limitações</a:t>
            </a:r>
            <a:endParaRPr b="0" i="0" sz="4500" u="none" cap="none" strike="noStrike">
              <a:solidFill>
                <a:schemeClr val="dk1"/>
              </a:solidFill>
              <a:latin typeface="Calibri"/>
              <a:ea typeface="Calibri"/>
              <a:cs typeface="Calibri"/>
              <a:sym typeface="Calibri"/>
            </a:endParaRPr>
          </a:p>
        </p:txBody>
      </p:sp>
      <p:sp>
        <p:nvSpPr>
          <p:cNvPr id="1003" name="Google Shape;1003;g3f88e45ce95_0_1077"/>
          <p:cNvSpPr/>
          <p:nvPr/>
        </p:nvSpPr>
        <p:spPr>
          <a:xfrm>
            <a:off x="17148870" y="381000"/>
            <a:ext cx="605700" cy="428700"/>
          </a:xfrm>
          <a:prstGeom prst="roundRect">
            <a:avLst>
              <a:gd fmla="val 17778" name="adj"/>
            </a:avLst>
          </a:prstGeom>
          <a:solidFill>
            <a:srgbClr val="6B7280">
              <a:alpha val="1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g3f88e45ce95_0_1077"/>
          <p:cNvSpPr/>
          <p:nvPr/>
        </p:nvSpPr>
        <p:spPr>
          <a:xfrm>
            <a:off x="17282220" y="419100"/>
            <a:ext cx="3996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400"/>
              <a:buFont typeface="Arial"/>
              <a:buNone/>
            </a:pPr>
            <a:r>
              <a:rPr lang="en-US" sz="2400">
                <a:solidFill>
                  <a:srgbClr val="6B7280"/>
                </a:solidFill>
              </a:rPr>
              <a:t>36</a:t>
            </a:r>
            <a:endParaRPr b="0" i="0" sz="2400" u="none" cap="none" strike="noStrike">
              <a:solidFill>
                <a:schemeClr val="dk1"/>
              </a:solidFill>
              <a:latin typeface="Calibri"/>
              <a:ea typeface="Calibri"/>
              <a:cs typeface="Calibri"/>
              <a:sym typeface="Calibri"/>
            </a:endParaRPr>
          </a:p>
        </p:txBody>
      </p:sp>
      <p:sp>
        <p:nvSpPr>
          <p:cNvPr id="1005" name="Google Shape;1005;g3f88e45ce95_0_1077"/>
          <p:cNvSpPr/>
          <p:nvPr/>
        </p:nvSpPr>
        <p:spPr>
          <a:xfrm>
            <a:off x="1333500" y="2895600"/>
            <a:ext cx="5003700" cy="5619900"/>
          </a:xfrm>
          <a:prstGeom prst="roundRect">
            <a:avLst>
              <a:gd fmla="val 3046"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g3f88e45ce95_0_1077"/>
          <p:cNvSpPr/>
          <p:nvPr/>
        </p:nvSpPr>
        <p:spPr>
          <a:xfrm>
            <a:off x="1676400" y="3314700"/>
            <a:ext cx="133500" cy="419100"/>
          </a:xfrm>
          <a:prstGeom prst="roundRect">
            <a:avLst>
              <a:gd fmla="val 50000" name="adj"/>
            </a:avLst>
          </a:prstGeom>
          <a:solidFill>
            <a:srgbClr val="0A8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g3f88e45ce95_0_1077"/>
          <p:cNvSpPr/>
          <p:nvPr/>
        </p:nvSpPr>
        <p:spPr>
          <a:xfrm>
            <a:off x="1962150" y="3276600"/>
            <a:ext cx="1703100" cy="5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375"/>
              <a:buFont typeface="Arial"/>
              <a:buNone/>
            </a:pPr>
            <a:r>
              <a:rPr b="1" i="0" lang="en-US" sz="3375" u="none" cap="none" strike="noStrike">
                <a:solidFill>
                  <a:srgbClr val="0F2369"/>
                </a:solidFill>
                <a:latin typeface="Arial"/>
                <a:ea typeface="Arial"/>
                <a:cs typeface="Arial"/>
                <a:sym typeface="Arial"/>
              </a:rPr>
              <a:t>Escopo</a:t>
            </a:r>
            <a:endParaRPr b="0" i="0" sz="3375" u="none" cap="none" strike="noStrike">
              <a:solidFill>
                <a:schemeClr val="dk1"/>
              </a:solidFill>
              <a:latin typeface="Calibri"/>
              <a:ea typeface="Calibri"/>
              <a:cs typeface="Calibri"/>
              <a:sym typeface="Calibri"/>
            </a:endParaRPr>
          </a:p>
        </p:txBody>
      </p:sp>
      <p:sp>
        <p:nvSpPr>
          <p:cNvPr id="1008" name="Google Shape;1008;g3f88e45ce95_0_1077"/>
          <p:cNvSpPr/>
          <p:nvPr/>
        </p:nvSpPr>
        <p:spPr>
          <a:xfrm>
            <a:off x="1676400" y="3981450"/>
            <a:ext cx="44475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Três baselines de OpenVAS (208 vulnerabilidades).</a:t>
            </a:r>
            <a:endParaRPr b="0" i="0" sz="3225" u="none" cap="none" strike="noStrike">
              <a:solidFill>
                <a:schemeClr val="dk1"/>
              </a:solidFill>
              <a:latin typeface="Calibri"/>
              <a:ea typeface="Calibri"/>
              <a:cs typeface="Calibri"/>
              <a:sym typeface="Calibri"/>
            </a:endParaRPr>
          </a:p>
        </p:txBody>
      </p:sp>
      <p:sp>
        <p:nvSpPr>
          <p:cNvPr id="1009" name="Google Shape;1009;g3f88e45ce95_0_1077"/>
          <p:cNvSpPr/>
          <p:nvPr/>
        </p:nvSpPr>
        <p:spPr>
          <a:xfrm>
            <a:off x="1676400" y="5591175"/>
            <a:ext cx="4317900" cy="192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g3f88e45ce95_0_1077"/>
          <p:cNvSpPr/>
          <p:nvPr/>
        </p:nvSpPr>
        <p:spPr>
          <a:xfrm>
            <a:off x="1676400" y="5800725"/>
            <a:ext cx="44475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3225"/>
              <a:buFont typeface="Arial"/>
              <a:buNone/>
            </a:pPr>
            <a:r>
              <a:rPr b="0" i="0" lang="en-US" sz="3225" u="none" cap="none" strike="noStrike">
                <a:solidFill>
                  <a:srgbClr val="6B7280"/>
                </a:solidFill>
                <a:latin typeface="Arial"/>
                <a:ea typeface="Arial"/>
                <a:cs typeface="Arial"/>
                <a:sym typeface="Arial"/>
              </a:rPr>
              <a:t>Tenable WAS é suportado, mas ficou fora das baselines.</a:t>
            </a:r>
            <a:endParaRPr b="0" i="0" sz="3225" u="none" cap="none" strike="noStrike">
              <a:solidFill>
                <a:schemeClr val="dk1"/>
              </a:solidFill>
              <a:latin typeface="Calibri"/>
              <a:ea typeface="Calibri"/>
              <a:cs typeface="Calibri"/>
              <a:sym typeface="Calibri"/>
            </a:endParaRPr>
          </a:p>
        </p:txBody>
      </p:sp>
      <p:sp>
        <p:nvSpPr>
          <p:cNvPr id="1011" name="Google Shape;1011;g3f88e45ce95_0_1077"/>
          <p:cNvSpPr/>
          <p:nvPr/>
        </p:nvSpPr>
        <p:spPr>
          <a:xfrm>
            <a:off x="6642050" y="2895600"/>
            <a:ext cx="5003700" cy="5619900"/>
          </a:xfrm>
          <a:prstGeom prst="roundRect">
            <a:avLst>
              <a:gd fmla="val 3046"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g3f88e45ce95_0_1077"/>
          <p:cNvSpPr/>
          <p:nvPr/>
        </p:nvSpPr>
        <p:spPr>
          <a:xfrm>
            <a:off x="6984950" y="3314700"/>
            <a:ext cx="133500" cy="419100"/>
          </a:xfrm>
          <a:prstGeom prst="roundRect">
            <a:avLst>
              <a:gd fmla="val 50000" name="adj"/>
            </a:avLst>
          </a:prstGeom>
          <a:solidFill>
            <a:srgbClr val="127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g3f88e45ce95_0_1077"/>
          <p:cNvSpPr/>
          <p:nvPr/>
        </p:nvSpPr>
        <p:spPr>
          <a:xfrm>
            <a:off x="7270700" y="3276600"/>
            <a:ext cx="1886400" cy="5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375"/>
              <a:buFont typeface="Arial"/>
              <a:buNone/>
            </a:pPr>
            <a:r>
              <a:rPr b="1" i="0" lang="en-US" sz="3375" u="none" cap="none" strike="noStrike">
                <a:solidFill>
                  <a:srgbClr val="0F2369"/>
                </a:solidFill>
                <a:latin typeface="Arial"/>
                <a:ea typeface="Arial"/>
                <a:cs typeface="Arial"/>
                <a:sym typeface="Arial"/>
              </a:rPr>
              <a:t>Medição</a:t>
            </a:r>
            <a:endParaRPr b="0" i="0" sz="3375" u="none" cap="none" strike="noStrike">
              <a:solidFill>
                <a:schemeClr val="dk1"/>
              </a:solidFill>
              <a:latin typeface="Calibri"/>
              <a:ea typeface="Calibri"/>
              <a:cs typeface="Calibri"/>
              <a:sym typeface="Calibri"/>
            </a:endParaRPr>
          </a:p>
        </p:txBody>
      </p:sp>
      <p:sp>
        <p:nvSpPr>
          <p:cNvPr id="1014" name="Google Shape;1014;g3f88e45ce95_0_1077"/>
          <p:cNvSpPr/>
          <p:nvPr/>
        </p:nvSpPr>
        <p:spPr>
          <a:xfrm>
            <a:off x="6984950" y="3981450"/>
            <a:ext cx="44475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Latência e energia não são comparáveis entre as duas GPUs.</a:t>
            </a:r>
            <a:endParaRPr b="0" i="0" sz="3225" u="none" cap="none" strike="noStrike">
              <a:solidFill>
                <a:schemeClr val="dk1"/>
              </a:solidFill>
              <a:latin typeface="Calibri"/>
              <a:ea typeface="Calibri"/>
              <a:cs typeface="Calibri"/>
              <a:sym typeface="Calibri"/>
            </a:endParaRPr>
          </a:p>
        </p:txBody>
      </p:sp>
      <p:sp>
        <p:nvSpPr>
          <p:cNvPr id="1015" name="Google Shape;1015;g3f88e45ce95_0_1077"/>
          <p:cNvSpPr/>
          <p:nvPr/>
        </p:nvSpPr>
        <p:spPr>
          <a:xfrm>
            <a:off x="6984950" y="5591175"/>
            <a:ext cx="4317900" cy="192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g3f88e45ce95_0_1077"/>
          <p:cNvSpPr/>
          <p:nvPr/>
        </p:nvSpPr>
        <p:spPr>
          <a:xfrm>
            <a:off x="6984950" y="5800725"/>
            <a:ext cx="4447500" cy="2371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3225"/>
              <a:buFont typeface="Arial"/>
              <a:buNone/>
            </a:pPr>
            <a:r>
              <a:rPr b="0" i="0" lang="en-US" sz="3225" u="none" cap="none" strike="noStrike">
                <a:solidFill>
                  <a:srgbClr val="6B7280"/>
                </a:solidFill>
                <a:latin typeface="Arial"/>
                <a:ea typeface="Arial"/>
                <a:cs typeface="Arial"/>
                <a:sym typeface="Arial"/>
              </a:rPr>
              <a:t>Cada modelo rodou em uma única placa: não foi testado se a qualidade se mantém na outra GPU.</a:t>
            </a:r>
            <a:endParaRPr b="0" i="0" sz="3225" u="none" cap="none" strike="noStrike">
              <a:solidFill>
                <a:schemeClr val="dk1"/>
              </a:solidFill>
              <a:latin typeface="Calibri"/>
              <a:ea typeface="Calibri"/>
              <a:cs typeface="Calibri"/>
              <a:sym typeface="Calibri"/>
            </a:endParaRPr>
          </a:p>
        </p:txBody>
      </p:sp>
      <p:sp>
        <p:nvSpPr>
          <p:cNvPr id="1017" name="Google Shape;1017;g3f88e45ce95_0_1077"/>
          <p:cNvSpPr/>
          <p:nvPr/>
        </p:nvSpPr>
        <p:spPr>
          <a:xfrm>
            <a:off x="11950601" y="2895600"/>
            <a:ext cx="5003700" cy="5619900"/>
          </a:xfrm>
          <a:prstGeom prst="roundRect">
            <a:avLst>
              <a:gd fmla="val 3046" name="adj"/>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g3f88e45ce95_0_1077"/>
          <p:cNvSpPr/>
          <p:nvPr/>
        </p:nvSpPr>
        <p:spPr>
          <a:xfrm>
            <a:off x="12293501" y="3314700"/>
            <a:ext cx="133500" cy="419100"/>
          </a:xfrm>
          <a:prstGeom prst="roundRect">
            <a:avLst>
              <a:gd fmla="val 50000" name="adj"/>
            </a:avLst>
          </a:prstGeom>
          <a:solidFill>
            <a:srgbClr val="F7A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g3f88e45ce95_0_1077"/>
          <p:cNvSpPr/>
          <p:nvPr/>
        </p:nvSpPr>
        <p:spPr>
          <a:xfrm>
            <a:off x="12579251" y="3276600"/>
            <a:ext cx="1650900" cy="5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F2369"/>
              </a:buClr>
              <a:buSzPts val="3375"/>
              <a:buFont typeface="Arial"/>
              <a:buNone/>
            </a:pPr>
            <a:r>
              <a:rPr b="1" i="0" lang="en-US" sz="3375" u="none" cap="none" strike="noStrike">
                <a:solidFill>
                  <a:srgbClr val="0F2369"/>
                </a:solidFill>
                <a:latin typeface="Arial"/>
                <a:ea typeface="Arial"/>
                <a:cs typeface="Arial"/>
                <a:sym typeface="Arial"/>
              </a:rPr>
              <a:t>Métrica</a:t>
            </a:r>
            <a:endParaRPr b="0" i="0" sz="3375" u="none" cap="none" strike="noStrike">
              <a:solidFill>
                <a:schemeClr val="dk1"/>
              </a:solidFill>
              <a:latin typeface="Calibri"/>
              <a:ea typeface="Calibri"/>
              <a:cs typeface="Calibri"/>
              <a:sym typeface="Calibri"/>
            </a:endParaRPr>
          </a:p>
        </p:txBody>
      </p:sp>
      <p:sp>
        <p:nvSpPr>
          <p:cNvPr id="1020" name="Google Shape;1020;g3f88e45ce95_0_1077"/>
          <p:cNvSpPr/>
          <p:nvPr/>
        </p:nvSpPr>
        <p:spPr>
          <a:xfrm>
            <a:off x="12293501" y="3981450"/>
            <a:ext cx="44475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937"/>
              </a:buClr>
              <a:buSzPts val="3225"/>
              <a:buFont typeface="Arial"/>
              <a:buNone/>
            </a:pPr>
            <a:r>
              <a:rPr b="0" i="0" lang="en-US" sz="3225" u="none" cap="none" strike="noStrike">
                <a:solidFill>
                  <a:srgbClr val="1F2937"/>
                </a:solidFill>
                <a:latin typeface="Arial"/>
                <a:ea typeface="Arial"/>
                <a:cs typeface="Arial"/>
                <a:sym typeface="Arial"/>
              </a:rPr>
              <a:t>BERTScore mede similaridade, não correção factual.</a:t>
            </a:r>
            <a:endParaRPr b="0" i="0" sz="3225" u="none" cap="none" strike="noStrike">
              <a:solidFill>
                <a:schemeClr val="dk1"/>
              </a:solidFill>
              <a:latin typeface="Calibri"/>
              <a:ea typeface="Calibri"/>
              <a:cs typeface="Calibri"/>
              <a:sym typeface="Calibri"/>
            </a:endParaRPr>
          </a:p>
        </p:txBody>
      </p:sp>
      <p:sp>
        <p:nvSpPr>
          <p:cNvPr id="1021" name="Google Shape;1021;g3f88e45ce95_0_1077"/>
          <p:cNvSpPr/>
          <p:nvPr/>
        </p:nvSpPr>
        <p:spPr>
          <a:xfrm>
            <a:off x="12293501" y="5591175"/>
            <a:ext cx="4317900" cy="19200"/>
          </a:xfrm>
          <a:prstGeom prst="rect">
            <a:avLst/>
          </a:prstGeom>
          <a:solidFill>
            <a:srgbClr val="DDE3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g3f88e45ce95_0_1077"/>
          <p:cNvSpPr/>
          <p:nvPr/>
        </p:nvSpPr>
        <p:spPr>
          <a:xfrm>
            <a:off x="12293501" y="5800725"/>
            <a:ext cx="4447500" cy="14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3225"/>
              <a:buFont typeface="Arial"/>
              <a:buNone/>
            </a:pPr>
            <a:r>
              <a:rPr b="0" i="0" lang="en-US" sz="3225" u="none" cap="none" strike="noStrike">
                <a:solidFill>
                  <a:srgbClr val="6B7280"/>
                </a:solidFill>
                <a:latin typeface="Arial"/>
                <a:ea typeface="Arial"/>
                <a:cs typeface="Arial"/>
                <a:sym typeface="Arial"/>
              </a:rPr>
              <a:t>A checagem com SecureBERT não remove essa limitação.</a:t>
            </a:r>
            <a:endParaRPr b="0" i="0" sz="3225" u="none" cap="none" strike="noStrike">
              <a:solidFill>
                <a:schemeClr val="dk1"/>
              </a:solidFill>
              <a:latin typeface="Calibri"/>
              <a:ea typeface="Calibri"/>
              <a:cs typeface="Calibri"/>
              <a:sym typeface="Calibri"/>
            </a:endParaRPr>
          </a:p>
        </p:txBody>
      </p:sp>
      <p:sp>
        <p:nvSpPr>
          <p:cNvPr id="1023" name="Google Shape;1023;g3f88e45ce95_0_1077"/>
          <p:cNvSpPr/>
          <p:nvPr/>
        </p:nvSpPr>
        <p:spPr>
          <a:xfrm>
            <a:off x="1333500" y="9563100"/>
            <a:ext cx="62724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2250"/>
              <a:buFont typeface="Arial"/>
              <a:buNone/>
            </a:pPr>
            <a:r>
              <a:rPr b="0" i="0" lang="en-US" sz="2250" u="none" cap="none" strike="noStrike">
                <a:solidFill>
                  <a:srgbClr val="6B7280"/>
                </a:solidFill>
                <a:latin typeface="Arial"/>
                <a:ea typeface="Arial"/>
                <a:cs typeface="Arial"/>
                <a:sym typeface="Arial"/>
              </a:rPr>
              <a:t>XXVI SBSeg 2026 · Armação dos Búzios, RJ</a:t>
            </a:r>
            <a:endParaRPr b="0" i="0" sz="2250" u="none" cap="none" strike="noStrike">
              <a:solidFill>
                <a:schemeClr val="dk1"/>
              </a:solidFill>
              <a:latin typeface="Calibri"/>
              <a:ea typeface="Calibri"/>
              <a:cs typeface="Calibri"/>
              <a:sym typeface="Calibri"/>
            </a:endParaRPr>
          </a:p>
        </p:txBody>
      </p:sp>
      <p:pic>
        <p:nvPicPr>
          <p:cNvPr descr="preencoded.png" id="1024" name="Google Shape;1024;g3f88e45ce95_0_1077"/>
          <p:cNvPicPr preferRelativeResize="0"/>
          <p:nvPr/>
        </p:nvPicPr>
        <p:blipFill rotWithShape="1">
          <a:blip r:embed="rId3">
            <a:alphaModFix/>
          </a:blip>
          <a:srcRect b="0" l="0" r="0" t="0"/>
          <a:stretch/>
        </p:blipFill>
        <p:spPr>
          <a:xfrm>
            <a:off x="13863935" y="9534525"/>
            <a:ext cx="1558826" cy="381000"/>
          </a:xfrm>
          <a:prstGeom prst="rect">
            <a:avLst/>
          </a:prstGeom>
          <a:noFill/>
          <a:ln>
            <a:noFill/>
          </a:ln>
        </p:spPr>
      </p:pic>
      <p:pic>
        <p:nvPicPr>
          <p:cNvPr descr="preencoded.png" id="1025" name="Google Shape;1025;g3f88e45ce95_0_1077"/>
          <p:cNvPicPr preferRelativeResize="0"/>
          <p:nvPr/>
        </p:nvPicPr>
        <p:blipFill rotWithShape="1">
          <a:blip r:embed="rId4">
            <a:alphaModFix/>
          </a:blip>
          <a:srcRect b="0" l="0" r="0" t="0"/>
          <a:stretch/>
        </p:blipFill>
        <p:spPr>
          <a:xfrm>
            <a:off x="15651361" y="9515475"/>
            <a:ext cx="636389" cy="419100"/>
          </a:xfrm>
          <a:prstGeom prst="rect">
            <a:avLst/>
          </a:prstGeom>
          <a:noFill/>
          <a:ln>
            <a:noFill/>
          </a:ln>
        </p:spPr>
      </p:pic>
      <p:pic>
        <p:nvPicPr>
          <p:cNvPr descr="preencoded.png" id="1026" name="Google Shape;1026;g3f88e45ce95_0_1077"/>
          <p:cNvPicPr preferRelativeResize="0"/>
          <p:nvPr/>
        </p:nvPicPr>
        <p:blipFill rotWithShape="1">
          <a:blip r:embed="rId5">
            <a:alphaModFix/>
          </a:blip>
          <a:srcRect b="0" l="0" r="0" t="0"/>
          <a:stretch/>
        </p:blipFill>
        <p:spPr>
          <a:xfrm>
            <a:off x="16516350" y="9505950"/>
            <a:ext cx="438150" cy="438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2026-08-27T22:48:35Z</dcterms:created>
  <dc:creator>PptxGenJS</dc:creator>
</cp:coreProperties>
</file>
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y="6858000" cx="12191675"/>
  <p:notesSz cx="6858000" cy="9144000"/>
  <p:embeddedFontLst>
    <p:embeddedFont>
      <p:font typeface="Inter"/>
      <p:regular r:id="rId61"/>
      <p:bold r:id="rId62"/>
      <p:italic r:id="rId63"/>
      <p:boldItalic r:id="rId64"/>
    </p:embeddedFont>
    <p:embeddedFont>
      <p:font typeface="JetBrains Mono"/>
      <p:regular r:id="rId65"/>
      <p:bold r:id="rId66"/>
      <p:italic r:id="rId67"/>
      <p:boldItalic r:id="rId68"/>
    </p:embeddedFont>
    <p:embeddedFont>
      <p:font typeface="Space Grotesk"/>
      <p:regular r:id="rId69"/>
      <p:bold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1" roundtripDataSignature="AMtx7mhH+pO7KgMXmYBSk10/xTgwk3AY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customschemas.google.com/relationships/presentationmetadata" Target="metadata"/><Relationship Id="rId70" Type="http://schemas.openxmlformats.org/officeDocument/2006/relationships/font" Target="fonts/SpaceGrotesk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Inter-bold.fntdata"/><Relationship Id="rId61" Type="http://schemas.openxmlformats.org/officeDocument/2006/relationships/font" Target="fonts/Inter-regular.fntdata"/><Relationship Id="rId20" Type="http://schemas.openxmlformats.org/officeDocument/2006/relationships/slide" Target="slides/slide15.xml"/><Relationship Id="rId64" Type="http://schemas.openxmlformats.org/officeDocument/2006/relationships/font" Target="fonts/Inter-boldItalic.fntdata"/><Relationship Id="rId63" Type="http://schemas.openxmlformats.org/officeDocument/2006/relationships/font" Target="fonts/Inter-italic.fntdata"/><Relationship Id="rId22" Type="http://schemas.openxmlformats.org/officeDocument/2006/relationships/slide" Target="slides/slide17.xml"/><Relationship Id="rId66" Type="http://schemas.openxmlformats.org/officeDocument/2006/relationships/font" Target="fonts/JetBrainsMono-bold.fntdata"/><Relationship Id="rId21" Type="http://schemas.openxmlformats.org/officeDocument/2006/relationships/slide" Target="slides/slide16.xml"/><Relationship Id="rId65" Type="http://schemas.openxmlformats.org/officeDocument/2006/relationships/font" Target="fonts/JetBrainsMono-regular.fntdata"/><Relationship Id="rId24" Type="http://schemas.openxmlformats.org/officeDocument/2006/relationships/slide" Target="slides/slide19.xml"/><Relationship Id="rId68" Type="http://schemas.openxmlformats.org/officeDocument/2006/relationships/font" Target="fonts/JetBrainsMono-boldItalic.fntdata"/><Relationship Id="rId23" Type="http://schemas.openxmlformats.org/officeDocument/2006/relationships/slide" Target="slides/slide18.xml"/><Relationship Id="rId67" Type="http://schemas.openxmlformats.org/officeDocument/2006/relationships/font" Target="fonts/JetBrainsMono-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SpaceGrotesk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[14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Boa tarde. Cristhian Kapelinski, da UNIPAMPA, com Diego Kreutz, no AI Horizon Labs.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pergunta deste trabalho é curta, e eu repito no fim: as imagens do Docker Hub já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começaram a migrar para a criptografia pós-quântica?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Docker Hub: o registro público de onde as imagens de contêiner são baixadas.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Imagem de contêiner: o pacote que leva a aplicação e tudo de que ela depende.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Criptografia pós-quântica: a família de algoritmos que continua de pé diante de 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computador quântico. O NIST padronizou ML-KEM, ML-DSA e SLH-DSA em 2024.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ordem dos nomes é a do artigo, não a de quem apresenta. Enunciar a pergunta já 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capa e repeti-la na conclusão fecha o arco da apresentação. Financiamento, 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perguntarem: CAPES, CNPq e FAPERGS. Está no slide final.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[20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ataque não espera o computador quântico existir: quem grava tráfego cifrado hoje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guarda o arquivo para abrir quando a máquina chegar. O mecanismo é o algoritmo de Shor,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 fatora inteiros e resolve logaritmo discreto. Quem tem dado que precisa continuar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secreto por dez ou vinte anos já está exposto agora.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Colher agora, decifrar depois: o nome consagrado da estratégia. Em inglês, harvest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now, decrypt later.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Algoritmo de Shor: o algoritmo quântico que fatora inteiros e resolve logaritmo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discreto em tempo polinomial. Precisa de um computador quântico grande o bastante,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 ainda não existe.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Sigilo longo: dado cujo valor não vence, como prontuário, contrato e segredo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industrial.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Criptografia pós-quântica: a família de algoritmos que continua de pé diante desse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computador. O NIST padronizou ML-KEM, ML-DSA e SLH-DSA em 2024.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tela abre o deck porque sem ela a plateia trata o pós-quântico como problema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2035. Se perguntarem quando a máquina chega, a resposta honesta é que ninguém sabe,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é justamente por isso que quem manda é o prazo de sigilo do dado, não a data 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máquina.</a:t>
            </a:r>
            <a:endParaRPr/>
          </a:p>
        </p:txBody>
      </p:sp>
      <p:sp>
        <p:nvSpPr>
          <p:cNvPr id="112" name="Google Shape;11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[19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 há prazo. O NIST propõe, em cronograma ainda preliminar, depreciar RSA e curvas elípticas em 2030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 proibir os mesmos algoritmos em 2035. São cinco anos de janela de migração, e é dentro dela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 este censo pergunta onde as imagens estão hoje. O cartão embaixo é o próprio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rascunho, com o QR.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Depreciar: continuar aceitando, mas desaconselhar, com data para acabar. Proibir é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passo seguinte: o algoritmo deixa de ser permitido.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Nível de 112 bits de segurança: a medida de força de uma chave, expressa em quantos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teria uma chave simétrica equivalente. RSA de 2048 bits fica nesse nível.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Cronograma preliminar: o documento é uma minuta em consulta pública. Preliminar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propósito, porque a data pode mudar.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Não é opinião de mercado: está em cronograma publicado, e o cartão embaixo é o próprio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rascunho do NIST, com o QR para ele. O cronograma se lê como piso, não como teto: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mesmo que a data escorregue, o dado gravado hoje continua exposto pelo argumento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anterior.</a:t>
            </a:r>
            <a:endParaRPr/>
          </a:p>
        </p:txBody>
      </p:sp>
      <p:sp>
        <p:nvSpPr>
          <p:cNvPr id="127" name="Google Shape;12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[10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Parte do ecossistema já se mexeu. Em 2025, mais da metade do tráfego humano que chega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à Cloudflare já negocia troca de chaves híbrida pós-quântica.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Troca de chaves híbrida: o aperto de mão combina um algoritmo clássico com 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pós-quântico, e a sessão só cai se os dois caírem. É o caminho de migração que 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navegadores adotaram primeiro.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número está no deck porque ele é o contraste do resultado: a rede migrou. O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está gravado dentro da imagem é a pergunta dos dois próximos slides.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FONTE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cartão embaixo é o relatório da Cloudflare sobre o tráfego humano que passa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pela rede dela: ela separa requisição de pessoa de requisição de robô, e o número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é o da fatia humana. Se perguntarem por que só troca de chaves e não assinatura: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migração de assinatura depende de cadeia de certificados, que é mais lenta, e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exatamente o que este censo mede lá dentro.</a:t>
            </a:r>
            <a:endParaRPr/>
          </a:p>
        </p:txBody>
      </p:sp>
      <p:sp>
        <p:nvSpPr>
          <p:cNvPr id="142" name="Google Shape;14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[26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censos grandes de Docker Hub mediram vulnerabilidade, malware e segredo, nunca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criptografia. Os três mais próximos do nosso eixo estão aqui. Dahlmanns é o único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abre a imagem e extrai chave de verdade, mas olha vazamento e reuso, não algoritmo.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Strauss mede prontidão pós-quântica, mas em apps Android, fora do registro e sem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inferência populacional. A última linha é a única com as três colunas.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Inferência populacional: poder dizer que a proporção medida na amostra vale para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população inteira, com intervalo de confiança. Só se consegue quando a amostra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sorteada, e é isso que a terceira coluna marca.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Prontidão pós-quântica: quanto do material criptográfico já usa os padrões do NIST.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cruz registra o que o desenho PUBLICADO descreve, não o que ele poderia ser estendido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fazer. É a defesa contra "mas dava para adaptar". Dahlmanns e Strauss fazem bem o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propõem, e dizer isso em voz alta desarma a pergunta sobre comparação injusta.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anel está na coluna do pós-quântico porque é ali que a lacuna aparece.</a:t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desenho é um censo por sorteio: cada repositório com a mesma chance, e o que vier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aberto.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divisória existe para marcar a virada de motivação para método. Quem perde o fio aqui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perde os quatro slides seguintes.</a:t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[23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funil tem três degraus. A lista de partida vem do crawl de um estudo anterior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laboratório, o ChimangoScan, com cada repositório pareado com a tag latest, que é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única referência que existe para todos. Ordenar pelo hash do nome é o que torna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sorteio reprodutível: qualquer pessoa parte da mesma lista e chega às mesmas 20 mil.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Quadro amostral: a lista de onde se sorteia. Aqui, os 12,7 milhões de repositórios.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Digest: o identificador imutável da imagem, derivado do conteúdo. A tag pode mudar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alvo; o digest, não.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Achatar, ou flatten: aplicar as camadas da imagem em ordem e obter a árvore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arquivos final. Sem isso, um arquivo apagado numa camada de cima seria contado como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Vale ir devagar no remate, porque é ele que sustenta todo intervalo de confiança citado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depois. Se perguntarem por que 11.962 e não 20.000: um terço das referências não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resolve, e isso é o primeiro achado, no slide que abre a segunda parte.</a:t>
            </a:r>
            <a:endParaRPr/>
          </a:p>
        </p:txBody>
      </p:sp>
      <p:sp>
        <p:nvSpPr>
          <p:cNvPr id="204" name="Google Shape;20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[15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Achatar quer dizer empilhar as camadas e obter o sistema de arquivos como ele fica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quando o contêiner sobe. Dessas imagens saíram 4 milhões e 211 mil certificados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chaves, cada um com caminho, algoritmo, tamanho e impressão digital.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Achatar, ou flatten: aplicar as camadas da imagem em ordem e obter a árvore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arquivos final. Sem isso, um arquivo apagado em uma camada de cima seria contado como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Impressão digital: o hash da chave pública, que serve para saber quando a MESMA chave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aparece em imagens diferentes. É a base do slide de reuso.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Objeto: cada certificado ou arquivo de chave encontrado. O deck chama de material.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Só linux/amd64, e só imagens abaixo de 4 GiB, o que está declarado no slide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limites.</a:t>
            </a:r>
            <a:endParaRPr/>
          </a:p>
        </p:txBody>
      </p:sp>
      <p:sp>
        <p:nvSpPr>
          <p:cNvPr id="219" name="Google Shape;21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[20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Três rotinas leem cada sistema de arquivos. A primeira analisa certificado e chave 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X.509, PEM, DER e OpenSSH. A segunda procura cifra e protocolo obsoletos, e só 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arquivo de configuração de verdade, nunca em documentação. A terceira lê os bancos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pacote para achar quem já tem suporte pós-quântico instalado.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X.509: o formato padrão de certificado. PEM e DER são as duas codificações em que ele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costuma vir; OpenSSH é o formato próprio das chaves de SSH.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Impressão digital: o hash da chave pública, que serve para saber quando a MESMA chave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aparece em imagens diferentes. É a base do slide de reuso.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Token legado: a palavra que nomeia a cifra ou o protocolo dentro do arquivo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configuração, por exemplo RC4 ou SSLv3.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Só entra arquivo de configuração de verdade porque menção em README contaria como uso,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 não é. Dois detectores externos conferem esse inventário por fora, o CBOM-Lens e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Gitleaks, e a divergência entre eles está no slide de reserva.</a:t>
            </a:r>
            <a:endParaRPr/>
          </a:p>
        </p:txBody>
      </p:sp>
      <p:sp>
        <p:nvSpPr>
          <p:cNvPr id="230" name="Google Shape;23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[22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Uma decisão de classificação sustenta tudo o que vem depois. O que está no trust store é o pacote de autoridades que a distribuição embarca,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repetido em milhares de imagens. Sem separar os dois, ele afogaria qualquer análise: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uma raiz que aparece em 4 mil imagens não diz nada sobre aquelas imagens.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Trust store: o conjunto de certificados raiz em que o sistema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já confia de fábrica. Os caminhos que contam como trust store são /etc/ssl/certs,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/etc/pki, os pacotes de CA da distribuição e o certifi do Python.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Postura criptográfica: o retrato do que a imagem usa, em algoritmo, tamanho de chave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protocolo configurado.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é a decisão mais fácil de atacar do trabalho inteiro, então é melhor levantá-la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aqui. Se alguém disser que o corte é arbitrário, a resposta é que os caminhos estão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documentados no artefato, e a análise inteira roda de novo com outro corte. E uma raiz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 aparece em 4 mil imagens não é evidência de nada sobre aquelas imagens.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PRECISÃO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3.511.725 do trust store são certificados repetidos em imagens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iguais: é isso que os torna inúteis para descrever imagem, e é por isso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eles saem da conta daqui para a frente.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PRECISÃO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artigo divide os 4.211.380 objetos em quatro: 3.511.725 certificados e 2.532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arquivos de chave DENTRO do trust store, e 518.668 certificados e 178.455 arquivos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chave FORA. Os dois grupos somam 3.514.257 e 697.123, e fecham nos 4.211.380 da tela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anterior. É por isso que as 591.617 chaves RSA fora do trust store são um número maior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 os 518.668 certificados: a base delas são os 697.123, certificado mais arquivo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chave, e não só o certificado.</a:t>
            </a:r>
            <a:endParaRPr/>
          </a:p>
        </p:txBody>
      </p:sp>
      <p:sp>
        <p:nvSpPr>
          <p:cNvPr id="245" name="Google Shape;24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[4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Agora o resultado: o que o sorteio encontrou nas 11.962 imagens.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ordem dos achados é deliberada: primeiro o que o próprio quadro amostral revelou,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depois o resultado central, depois a dívida clássica.</a:t>
            </a:r>
            <a:endParaRPr/>
          </a:p>
        </p:txBody>
      </p:sp>
      <p:sp>
        <p:nvSpPr>
          <p:cNvPr id="260" name="Google Shape;26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[21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primeiro achado é do próprio quadro amostral: um terço das referências sorteadas não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resolve, porque o repositório existe e simplesmente não publica a tag latest. Para não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confundir isso com repositório apagado, 200 delas foram reconferidas na API sete semanas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depois. Só 7 tinham sumido. As estimativas seguintes valem para repositório com latest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baixável.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Tag latest: a tag que a maioria das ferramentas assume quando ninguém diz qual quer.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Não é obrigatória, e é justamente isso que o número mostra.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IC 95%, intervalo de confiança de 95%: a faixa em que a proporção da população deve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cair. Calculado por Wilson, que se comporta melhor em proporção extrema.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Subamostra: um sorteio dentro da amostra, feito para checar a explicação sem repetir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trabalho todo.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Escopo: linux/amd64, imagem pública, abaixo de 4 GiB de sistema de arquivos extraído.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achado não estava no plano: apareceu porque a amostra é equiprovável, e uma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amostra por popularidade nunca cairia nesses repositórios. A mediana do último envio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deles é 2022: é cauda longa de repositório antigo, vivo, que nunca publicou latest. 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perguntarem por que sete semanas, foi o intervalo entre a coleta e a auditoria, não uma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escolha de desenho.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PRECISÃO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34,7% vêm com intervalo de confiança de 34,1 a 35,4. Os 5,4% fora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escopo saem por tamanho ou arquitetura. Os 59,9% baixadas e analisadas são 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11.962 imagens que sustentam todo o resto do deck.</a:t>
            </a:r>
            <a:endParaRPr/>
          </a:p>
        </p:txBody>
      </p:sp>
      <p:sp>
        <p:nvSpPr>
          <p:cNvPr id="272" name="Google Shape;27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[8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5,4 por cento são 1.078 referências, e abrem assim. Elas resolvem, então contam como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resolvidas, mas não carregam medição de postura.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 429: o registro respondeu "excesso de requisições" e recusou o download. É limite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taxa do Docker Hub, não uma propriedade da imagem.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Erro transitório: falha de rede, de disco ou do registro no momento do download. Cada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uma dessas 81 já tinha sido tentada cinco vezes.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Variante amd64: a versão da imagem para processador Intel ou AMD de 64 bits. 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máquinas de coleta eram amd64, e é também a plataforma padrão do registro.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limite de 4 gigabytes existe para que uma única imagem gigante não consuma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orçamento de download inteiro. Ele é escolha de desenho e está declarado; 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perguntarem o que se perde, são imagens grandes, e a postura delas fica desconhecida.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PRECISÃO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81 são erro transitório de registro ou de infraestrutura: HTTP 429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limite de taxa, e conexões que estouraram o tempo.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SAIU DA TELA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81 restantes das 1.078 fora de escopo são erro transitório de registro 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infraestrutura: HTTP 429 de limite de taxa e conexões que estouraram o tempo.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657 + 192 + 148 + 81 = 1.078.</a:t>
            </a:r>
            <a:endParaRPr/>
          </a:p>
        </p:txBody>
      </p:sp>
      <p:sp>
        <p:nvSpPr>
          <p:cNvPr id="287" name="Google Shape;28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[13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é o resultado central, e ele é curto. Dos 4 milhões e 211 mil objetos, TODOS são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vulneráveis a computador quântico. A barra violeta é o pós-quântico.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Vulnerável a computador quântico: pertencer a uma família que o algoritmo de Shor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quebra, ou seja RSA, Diffie-Hellman, DSA, ECDSA e EdDSA.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ML-KEM, ML-DSA e SLH-DSA: os três padrões pós-quânticos que o NIST publicou em 2024.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primeiro é encapsulamento de chave; os outros dois são assinatura.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barra de altura zero é desenhada com um traço violeta em cima do eixo, de propósito: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barra ausente parece erro de renderização, e traço marcado lê como zero medido.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alcance do zero está no slide de limites: falamos de arquivo estático, nos formatos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extratores leem. Se um sistema negocia pós-quântico em execução, este censo não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veria. Detalhe honesto, se alguém perguntar: 88 dos objetos são chave pública X25519,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 o classificador do artefato deixou como desconhecida; são curva elíptica, ou seja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clássicas, e o artigo as conta entre as vulneráveis.</a:t>
            </a:r>
            <a:endParaRPr/>
          </a:p>
        </p:txBody>
      </p:sp>
      <p:sp>
        <p:nvSpPr>
          <p:cNvPr id="302" name="Google Shape;30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[13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Todo o material encontrado pertence a famílias clássicas, e do lado pós-quântico não há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nenhum dos três padrões do NIST. O zero não é lacuna de detecção: é ausência ao lado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material clássico abundante.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ECDSA e EdDSA: assinatura sobre curva elíptica. Continuam clássicas, e caem pelo mesmo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algoritmo de Shor que derruba RSA.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Diffie-Hellman de corpo finito: acordo de chave sobre inteiros módulo um primo. Também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cai por Shor, pelo logaritmo discreto.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Nomear as famílias clássicas encontradas fecha o argumento do slide anterior: o zero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não é lacuna de detecção, é ausência real ao lado de material clássico abundante.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repetir os três padrões, um a um, fecha qualquer dúvida sobre qual foi procurado e não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achado.</a:t>
            </a:r>
            <a:endParaRPr/>
          </a:p>
        </p:txBody>
      </p:sp>
      <p:sp>
        <p:nvSpPr>
          <p:cNvPr id="320" name="Google Shape;32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[11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 não é falta de ferramenta. Uma em cada quinze imagens já traz instalada uma biblioteca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 implementa os padrões pós-quânticos: OpenSSL 3.5 ou mais nova, ou a liboqs.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nenhuma dessas 801 tem uma única chave ou certificado pós-quântico.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OpenSSL 3.5: a primeira versão da OpenSSL que traz ML-KEM, ML-DSA e SLH-DSA de fábrica,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sem provedor externo.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liboqs: a biblioteca do projeto Open Quantum Safe, que implementa os candidatos e 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padrões pós-quânticos. É a rota mais comum antes da OpenSSL 3.5.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é o slide que transforma um resultado negativo em achado. Sem ele, o zero poderia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 explicado por indisponibilidade de biblioteca, e a conclusão seria "esperem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ferramenta chegar". As 801 são piso, não teto: só se leram dpkg e apk.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PRECISÃO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intervalo de confiança de 6,3 a 7,2% é da PORCENTAGEM, 6,7%, não 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contagem 801. Vem do artigo, Seção de resultados: 801 de 11.962 imagens, 6,7%, IC 95%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6,3 a 7,2%.</a:t>
            </a:r>
            <a:endParaRPr/>
          </a:p>
        </p:txBody>
      </p:sp>
      <p:sp>
        <p:nvSpPr>
          <p:cNvPr id="333" name="Google Shape;333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[18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Independente da questão quântica, a criptografia clássica dessas imagens já é fraca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hoje. SHA-1 sozinho aparece mais que SHA-256. No pacote de autoridades da própria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distribuição a taxa é menor, o que mostra que o problema está no material que a imagem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trouxe, não no sistema operacional.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Hash da assinatura: a função de resumo usada para assinar o certificado. É ela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garante que o conteúdo não mudou desde que a autoridade assinou.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Colisão: dois conteúdos diferentes com o mesmo valor de hash. Quem produz uma colisão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transfere uma assinatura legítima para um conteúdo forjado.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contraste com a distribuição é a prova de que o problema não é do sistema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operacional; é de quem construiu a imagem por cima dele. Se perguntarem pelo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denominador: são os certificados fora do trust store, e a taxa de 32,3% é descritiva,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sobre os 3,5 milhões do trust store.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CRONOLOGIA (saiu da tela, era um slide à parte)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Colisão forja dois conteúdos com o mesmo hash. Em 2011 a IETF declarou o MD5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inaceitável e o NIST depreciou o SHA-1 para assinatura. Em 2017 saiu a primeira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colisão prática de SHA-1. Se perguntarem desde quando isso é sabido, é essa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resposta.</a:t>
            </a:r>
            <a:endParaRPr/>
          </a:p>
        </p:txBody>
      </p:sp>
      <p:sp>
        <p:nvSpPr>
          <p:cNvPr id="345" name="Google Shape;345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[13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mesmo padrão nos tamanhos. A maior parte está em 2048 ou 4096 bits, que é o esperado.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três barras vermelhas somam quase 7 por cento abaixo do piso que o NIST ainda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aceita.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2048 bits: o piso que o NIST ainda aceita, correspondendo ao nível de 112 bits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segurança, e é o que o cronograma deprecia em 2030.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Balde, ou bucket: a faixa de tamanho em que a chave cai. Os baldes são os tamanhos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canônicos, mais dois que juntam o que está fora do padrão.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balde "outros abaixo de 2048" tem 1.654 chaves, e os tamanhos mais comuns dentro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dele são 2028 bits, com 756, 1014 bits, com 559, e 1023 bits, com 207. São chaves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geradas com um bit ou dois a menos que o nominal, o que costuma ser artefato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biblioteca antiga. Se perguntarem por que 3072 tem tão pouco: quase ninguém escolhe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3072 na mão; quem sai de 2048 vai direto para 4096.</a:t>
            </a:r>
            <a:endParaRPr/>
          </a:p>
        </p:txBody>
      </p:sp>
      <p:sp>
        <p:nvSpPr>
          <p:cNvPr id="375" name="Google Shape;375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[11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de 512 bits merecem parada própria. Esse tamanho não é teoricamente fraco,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praticamente quebrado: fatora-se por cerca de 75 dólares de tempo de nuvem, 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ferramenta pública.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Fatorar: achar os dois primos que multiplicados dão o módulo RSA. Quem fatora recupera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chave privada a partir da pública.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 de nuvem: o custo é de alugar máquina por hora, não de comprar equipamento. É por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isso que o número é tão baixo.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Eu insisto no 512 porque ele muda a natureza da conversa: não é dívida técnica para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resolver até 2035, é chave que qualquer um quebra hoje. Se perguntarem se essas chaves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estão em uso, a resposta honesta é que a maior parte é material de teste, e o slide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onde moram as chaves é que separa as duas coisas.</a:t>
            </a:r>
            <a:endParaRPr/>
          </a:p>
        </p:txBody>
      </p:sp>
      <p:sp>
        <p:nvSpPr>
          <p:cNvPr id="406" name="Google Shape;406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[18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terceiro eixo: token de protocolo e cifra obsoletos, contados em arquivo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configuração de TLS e SSH. MD5 e 3DES dominam. E o limite, antes que alguém pergunte: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presença estática não prova que a opção está ligada em execução, mostra que ela continua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escrita no arquivo.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3DES: três aplicações do DES em sequência. Tem bloco de 64 bits, o que abre o ataque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Sweet32 em sessão longa, e foi retirado do TLS 1.3.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Cifra NULL: conjunto de cifras que autentica mas não cifra nada. Existe para depuração.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RC4: cifra de fluxo proibida no TLS desde 2015, pela RFC 7465.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Ocorrência: cada vez que o token aparece, não cada imagem. Uma imagem pode contribuir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várias vezes.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busca é só em arquivo de configuração de verdade; documentação e código ficam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fora, para não contar menção solta. Se perguntarem por que MD5 aparece tanto 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configuração de SSH: ele sobrevive em lista de algoritmo de MAC e de impressão digital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chave de host, que é uso menos grave do que assinatura, e isso está no artigo. 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perguntarem por que não subimos os contêineres: onze mil imagens, cada uma com serviço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 configuração próprios, é outro trabalho, declarado como trabalho futuro.</a:t>
            </a:r>
            <a:endParaRPr/>
          </a:p>
        </p:txBody>
      </p:sp>
      <p:sp>
        <p:nvSpPr>
          <p:cNvPr id="420" name="Google Shape;420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5" name="Google Shape;455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[22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Fora do trust store o censo achou 178 mil arquivos de chave, e 37 mil deles são chave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privada ou de host. Quase noventa por cento moram em caminho de biblioteca, de teste 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exemplo: é material de teste, não segredo em uso. As três barras vermelhas são as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podem estar servindo tráfego de verdade.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Fixture: material de teste que existe para o teste rodar, sem valor de segredo.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Caminho operacional: o lugar de onde um serviço realmente lê a chave quando sobe. Aqui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são /etc/ssh, os diretórios de TLS do sistema, e o diretório da própria aplicação,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 no artigo são /app, /srv e /opt.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Chave de host SSH: a identidade do servidor SSH. Se ela se repete entre máquinas, 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atacante no meio do caminho se passa por qualquer uma delas.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classificação por caminho é o que separa alarme falso de achado: contar 37 mil chaves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privadas e parar aí seria manchete, não medição. Dizer em voz alta que noventa por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cento é fixture custa três segundos e compra o resto da seção. Se perguntarem como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sabemos que é fixture, é pelo caminho, e o critério está no artefato, não é julgamento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caso a caso. O Gitleaks foi rodado justamente para sustentar essa auditoria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caminho.</a:t>
            </a:r>
            <a:endParaRPr/>
          </a:p>
        </p:txBody>
      </p:sp>
      <p:sp>
        <p:nvSpPr>
          <p:cNvPr id="456" name="Google Shape;456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[22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Reuso. O número do meio engana: as duas impressões digitais mais espalhadas são chaves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públicas de assinatura de pacote do Alpine, feitas para serem distribuídas. É herança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imagem base funcionando como deveria. A conta que importa é a terceira, e nela sobram 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chaves privadas repetidas, quase sempre chave de host SSH ou de servidor TLS.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Impressão digital: o hash da chave pública. Duas imagens com a mesma impressão digital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carregam a mesma chave, byte a byte.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Herança de imagem base: a imagem foi construída a partir de outra e trouxe junto o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já estava lá. É o mecanismo normal do Docker, não uma falha.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Chave de assinatura de pacote: a chave PÚBLICA com que o gerenciador verifica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assinatura dos pacotes que baixa. Ela é feita para ser distribuída.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terceiro número é o que se defende, e os dois primeiros estão na tela para mostrar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onde ele veio: apresentar só o 36 pareceria pequeno, apresentar só o 2.412 seria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sensacionalismo. A distinção não é entre chave pública e privada apenas: é entre chave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 existe para ser distribuída e chave que existe para ficar secreta. Se perguntarem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impacto, chave de host SSH repetida permite que quem tem a imagem se passe por qualquer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serviço que use a mesma, e é exatamente o que Dahlmanns mediu na Internet.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Fingerprint: o hash SHA-256 da chave pública codificada em DER. É o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identifica a mesma chave, esteja ela num arquivo de chave ou num certificado.</a:t>
            </a:r>
            <a:endParaRPr/>
          </a:p>
        </p:txBody>
      </p:sp>
      <p:sp>
        <p:nvSpPr>
          <p:cNvPr id="486" name="Google Shape;486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8" name="Google Shape;508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[19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limites, antes que perguntem. Se um sistema gera a chave na hora em que sobe, 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negocia pós-quântico em execução, este censo não vê. A detecção de biblioteca lê só dpkg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 apk, então o zero vale para os formatos que os extratores leem. E é uma foto única.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Biblioteca ligada estaticamente: o código da biblioteca foi copiado para dentro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binário, então não há pacote instalado para o dpkg ou o apk listar.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Série temporal: repetir o mesmo sorteio em datas diferentes e comparar. É o trabalho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futuro mais direto, e o quadro amostral publicado é justamente o que permite fazer.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Declarar o limite antes do fecho é escolha deliberada: quem ouve a limitação depois 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conclusão acha que ela foi arrancada na pergunta. O alcance do zero é a frase que 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repete se alguém tentar generalizar demais o resultado.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SAIU DA TELA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"Fora: chave gerada em execução" repetia o primeiro bullet: se o censo só lê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arquivo estático, chave gerada, buscada ou negociada em execução já está fora por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construção. Se perguntarem, é essa a resposta.</a:t>
            </a:r>
            <a:endParaRPr/>
          </a:p>
        </p:txBody>
      </p:sp>
      <p:sp>
        <p:nvSpPr>
          <p:cNvPr id="509" name="Google Shape;509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Última parte: o que dá para fazer amanhã de manhã, e a volta à pergunta que abriu.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Fechar com recomendação operacional é o que o WTICG espera de um trabalho de medição: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não basta descrever o registro, é preciso dizer o que muda na prática.</a:t>
            </a:r>
            <a:endParaRPr/>
          </a:p>
        </p:txBody>
      </p:sp>
      <p:sp>
        <p:nvSpPr>
          <p:cNvPr id="524" name="Google Shape;524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5" name="Google Shape;535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[21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quem opera serviço em contêiner, a lição cabe em uma frase: trate estado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criptográfico como dado de implantação, não como conteúdo de imagem. Chave que nasce 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construção é copiada para toda instância. E a mesma conferência do build vale quando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imagem base é atualizada, porque camada herdada traz material criptográfico junto.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Gerenciador de segredo: serviço que guarda segredo fora da imagem e o entrega ao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processo em tempo de execução, com política e auditoria.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Segredo montado: o orquestrador monta o arquivo dentro do contêiner na hora de subir,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 não fica gravado em camada nenhuma.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Preso ao digest: o inventário fica indexado pelo identificador imutável da imagem, e não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pela tag, para que ele não se descole do que foi de fato publicado.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dois primeiros marcadores atacam chave repetida e chave em caminho operacional; 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dois últimos, assinatura fraca e chave curta. Estão todos na Seção 4.6 do artigo, que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de implicações operacionais. A recomendação sobre pós-quântico é o slide seguinte,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porque é a que responde diretamente ao resultado central.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SAIU DA TELA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"Inventário por build, ligado ao digest" saiu da tela. O artigo recomenda que cada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 inventarie certificados, chaves, bibliotecas e configuração de protocolo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vincule o resultado ao digest da imagem. Fica na fala, junto com o bullet do build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 rejeita chave curta e hash fraco.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SAIU DA TELA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"Segredo montado, nunca gravado na imagem" saiu. O artigo recomenda segredo por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gerenciador ou montagem, nunca gravado na imagem; fica na fala, junto com o bullet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 chave gerada na implantação, que é a mesma ideia.</a:t>
            </a:r>
            <a:endParaRPr/>
          </a:p>
        </p:txBody>
      </p:sp>
      <p:sp>
        <p:nvSpPr>
          <p:cNvPr id="536" name="Google Shape;536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8" name="Google Shape;548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[12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 a recomendação que responde ao resultado central: ter a biblioteca instalada não é 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migrado. Faltam três passos, e as 801 imagens que já têm a biblioteca pararam antes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primeiro.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Negociar: no aperto de mão, cliente e servidor combinam qual algoritmo usar. Ter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algoritmo compilado não faz ele entrar na lista negociada.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Provisionar: gerar ou receber a chave e o certificado, e colocá-los onde o serviço lê.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slide é a ponte entre o achado e a ação, e é o que impede a leitura preguiçosa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 basta atualizar a OpenSSL. Se perguntarem qual dos três é o gargalo real, a resposta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honesta é o segundo: certificado pós-quântico depende de autoridade certificadora que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emita, e isso ainda está começando.</a:t>
            </a:r>
            <a:endParaRPr/>
          </a:p>
        </p:txBody>
      </p:sp>
      <p:sp>
        <p:nvSpPr>
          <p:cNvPr id="549" name="Google Shape;549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6" name="Google Shape;566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[8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Fechando. A contribuição é o primeiro censo equiprovável de postura criptográfica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Docker Hub, com pipeline, dado e quadro amostral abertos.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Postura criptográfica: o retrato do que a imagem usa, em algoritmo, tamanho de chave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protocolo configurado. É o termo que dá nome ao trabalho.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Quadro amostral aberto: a lista de onde se sorteou está publicada, o que permite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outra pessoa refazer o mesmo sorteio, ou repeti-lo mais tarde.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palavra-chave de cada linha está em destaque porque é ela que a plateia leva embora.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impacto, e o fecho do arco, ficam no slide seguinte.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SAIU DA TELA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11.962 imagens e os 4.211.380 certificados e chaves já estão nas telas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censo, e repetir aqui gastava um bullet. O que os dados abertos incluem é o quadro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amostral, a lista de 12.716.568 repositórios de onde o sorteio saiu: sem ela ninguém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refaz o sorteio. Se perguntarem o nome técnico do desenho, é censo equiprovável.</a:t>
            </a:r>
            <a:endParaRPr/>
          </a:p>
        </p:txBody>
      </p:sp>
      <p:sp>
        <p:nvSpPr>
          <p:cNvPr id="567" name="Google Shape;567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1" name="Google Shape;581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[13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CTA avalia o artefato de cada trabalho aceito, em processo separado da revisão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artigo, e concede até quatro selos. Os números que vocês viram foram recomputados por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outra pessoa, do zero.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Artefatos Disponíveis: repositório público e estável, com documentação mínima ligando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artefato ao artigo.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Artefatos Funcionais: o avaliador consegue instalar, executar e ver a funcionalidade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Artefatos Sustentáveis: código modularizado, legível e documentado, a ponto de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avaliador achar no código as reivindicações do artigo.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Experimentos Reprodutíveis: o avaliador recomputa os números do artigo a partir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repositório.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quarto selo é o que dá peso aos gráficos: não sou eu dizendo que os números fecham,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 avaliador que os refez sozinho. Este slide fica antes do encerramento, no mesmo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lugar em que aparece nos outros decks do laboratório.</a:t>
            </a:r>
            <a:endParaRPr/>
          </a:p>
        </p:txBody>
      </p:sp>
      <p:sp>
        <p:nvSpPr>
          <p:cNvPr id="582" name="Google Shape;582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2" name="Google Shape;592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[12 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Obrigado. Na tela, o QR da esquerda leva ao repositório do artefato, com o dado,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pipeline e o quadro amostral; o da direita, ao laboratório. Fico à disposição para 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Quadro amostral publicado: a lista de repositórios de onde o sorteio saiu. É o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permite a outra pessoa refazer a mesma amostra.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Tenho oito slides de reserva: o teste de primo compartilhado e como a taxa dele 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compara; a comparação dos nossos números com as medições anteriores, em duas telas;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forma do material fora do trust store e o que ela quer dizer; e a divergência entre 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dois detectores, com a leitura dela. Financiamento, se perguntarem: CAPES, CNPq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FAPERGS.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=== BANCO DE PERGUNTAS ===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O zero não é só efeito de vocês olharem arquivo estático?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É exatamente o alcance dele, e está no slide de limites. O que eu afirmo é que não há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chave nem certificado pós-quântico GRAVADO na imagem, nos formatos que os extratores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leem. Se um serviço negocia pós-quântico em execução, este censo não veria. O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torna o zero interessante não é ele sozinho, é ele ao lado das 801 imagens que já têm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a biblioteca instalada.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Por que sortear, se ninguém usa a maior parte dessas imagens?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Porque a pergunta é sobre o registro, não sobre o que o desenvolvedor baixa. Amostra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por popularidade responde outra pergunta, também legítima, e todos os censos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anteriores já responderam essa. Além disso, foi o sorteio que revelou o achado de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um terço das referências não tem tag latest, que uma amostra ranqueada nunca veria.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20.000 referências é pouco para 12,7 milhões de repositórios?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Para estimar proporção, o que manda é o tamanho absoluto da amostra, não a fração 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população. Com 11.962 imagens analisadas, o intervalo de confiança de 95% fica 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torno de um ponto percentual, e é isso que os intervalos publicados mostram.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 Vocês contaram a mesma imagem várias vezes?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Não. Cada repositório entra uma vez, pareado com a tag latest, e a imagem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identificada pelo digest. Repositórios diferentes podem apontar para a mesma imagem,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e isso está tratado no artefato.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5. Os 43 por cento de SHA-1 e MD5 não são só certificado de teste?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Boa parte é, e o slide de reserva mostra que quase todo esse material tem a forma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raiz privada, autoassinada e marcada como autoridade. Mas raiz privada em trust store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de aplicação é usada para validar conexão de verdade, então assinatura fraca ali não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inofensiva. E o número da distribuição, 32 por cento, é mais baixo, o que mostra que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problema é do material que a imagem trouxe.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6. As 36 chaves repetidas estão em uso mesmo?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Eu não afirmo isso, e é por isso que o critério é o CAMINHO. O que eu digo é que elas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estão no lugar de onde um serviço leria a chave ao subir. Dahlmanns mediu o passo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seguinte, na Internet, e achou 275 mil hosts autenticando com chave vinda de imagem.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7. Por que não subir os contêineres e testar a negociação?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Porque são quase doze mil imagens, cada uma com serviço, porta e configuração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próprios, e muitas nem sobem sem parâmetro. Está declarado como trabalho futuro, e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o complemento natural deste censo.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 O CBOM-Lens relata metade do que vocês relatam. Quem está certo?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Não dá para dizer, e eu não digo. Não existe verdade de referência para essa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comparação. O que a divergência mostra é que a cobertura dos dois é diferente. Todas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as contagens do trabalho vêm do detector interno, e a divergência está publicada.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9. Vocês recomendam parar de embutir certificado na imagem?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Certificado público, não. O que a recomendação diz é sobre chave privada e chave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host: essas se provisionam quando o contêiner sobe. Certificado de servidor também,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porque ele vence e a imagem não.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 Qual é o próximo passo do trabalho?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Repetir o mesmo sorteio em datas diferentes, para virar série temporal em vez de foto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única. O quadro amostral está publicado justamente para isso, e quem quiser pode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repetir sem depender de nós.</a:t>
            </a:r>
            <a:endParaRPr/>
          </a:p>
        </p:txBody>
      </p:sp>
      <p:sp>
        <p:nvSpPr>
          <p:cNvPr id="593" name="Google Shape;593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8" name="Google Shape;618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[reserva]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Trouxemos um instrumento clássico da medição de rede para dentro da imagem: o teste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máximo divisor comum em lote, que compara todo par de módulos RSA de uma vez e acha 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 compartilham um primo. Dos 6.116 módulos distintos, quatro compartilham primo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portanto são inteiramente recuperáveis. A taxa é de 0,065 por cento.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Módulo RSA: o número que é o produto de dois primos, e que é a parte pública da chave.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Máximo divisor comum em lote: em vez de testar par a par, calcula o produto de todos 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módulos e depois desce a árvore, o que torna viável comparar milhares de chaves.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Recuperável: se dois módulos compartilham um primo, o máximo divisor comum entre eles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esse primo, e a partir dele se obtém a chave privada dos dois.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Primo compartilhado é sintoma de entropia ruim no momento em que a chave foi gerada,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é típico de dispositivo ou contêiner que gera chave no primeiro boot sem fonte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aleatoriedade decente. O limite do teste é meu e está no slide seguinte.</a:t>
            </a:r>
            <a:endParaRPr/>
          </a:p>
        </p:txBody>
      </p:sp>
      <p:sp>
        <p:nvSpPr>
          <p:cNvPr id="619" name="Google Shape;619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6" name="Google Shape;636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[reserva]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dar escala ao número. A taxa deste censo, 0,065 por cento, fica abaixo do meio por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cento que Heninger encontrou em hosts TLS da Internet em 2012, e fica duas ordens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grandeza acima da taxa que Baumer mediu em chaves SSH de desenvolvedores em 2025. 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seja: melhor que a Internet de 2012, pior que quem gera chave num laptop.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Heninger, 2012: o estudo que varreu a Internet inteira e mostrou que chave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dispositivo embarcado repetia primo por falta de entropia no boot.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Baumer, 2025: a medição equivalente em chaves SSH de desenvolvedor, onde a geração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acontece numa máquina com entropia farta.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comparação é de contexto, não de replicação: as populações e os denominadores são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diferentes. Eu digo isso em voz alta antes que alguém aponte. O que a posição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intermediária sugere é que parte das chaves de imagem nasce em ambiente com pouca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entropia, que é exatamente o cenário de contêiner gerando chave no primeiro boot.</a:t>
            </a:r>
            <a:endParaRPr/>
          </a:p>
        </p:txBody>
      </p:sp>
      <p:sp>
        <p:nvSpPr>
          <p:cNvPr id="637" name="Google Shape;637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3" name="Google Shape;653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[reserva]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primeira metade da tabela de comparação, agrupada por propriedade. Em hash 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assinatura, Holz mediu 17,3 por cento de MD5 em certificados da Web em 2011, e este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trabalho mede 43 por cento de MD5 ou SHA-1 em certificados de imagem. Em primo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compartilhado, Heninger achou meio por cento dos hosts TLS da Internet em 2012, Baumer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achou 0,00056 por cento em chaves SSH de desenvolvedores em 2025, e este trabalho mede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0,065 por cento dos módulos de imagem.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Holz, 2011: a medição de referência sobre a saúde dos certificados da Web, feita 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scan de host e captura de tráfego.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populações e os denominadores são diferentes, então isso dá contexto, não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replicação. Eu separo as linhas deste trabalho com fundo, para ninguém ler nossos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números como se fossem do estudo de cima. A tabela virou duas telas porque nove linhas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piso de 25 pt não cabem em uma.</a:t>
            </a:r>
            <a:endParaRPr/>
          </a:p>
        </p:txBody>
      </p:sp>
      <p:sp>
        <p:nvSpPr>
          <p:cNvPr id="654" name="Google Shape;654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5" name="Google Shape;685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[reserva]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segunda metade. Em chave privada, Dahlmanns achou 52.107 chaves privadas em 337 mil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imagens, em 2023; este trabalho conta 36 chaves repetidas em caminho operacional, 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11.962 imagens. Os dois números medem coisas diferentes: o dele é quantidade de chave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privada encontrada, o nosso é quantas se repetem entre imagens depois do corte por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caminho. Em uso pós-quântico, Strauss não detectou nenhum em aplicativos Android 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produção, e nós não detectamos nenhum em chaves e certificados de imagem.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Corte por caminho: excluir teste, exemplo, biblioteca e dependência de runtime,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manter só host SSH, TLS do sistema e diretório de aplicação.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linha do Strauss é a mais importante da tabela inteira, porque é a única que mede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MESMA propriedade que nós, em outra população. Dois ecossistemas independentes, mesmo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resultado, é o que transforma o nosso zero de curiosidade em indício de padrão.</a:t>
            </a:r>
            <a:endParaRPr/>
          </a:p>
        </p:txBody>
      </p:sp>
      <p:sp>
        <p:nvSpPr>
          <p:cNvPr id="686" name="Google Shape;686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6" name="Google Shape;716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[reserva]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Quase todo certificado fora do trust store é autoassinado, 95,6 por cento, e 92,9 por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cento vêm marcados como autoridade certificadora. Um em cada cinco, 20,2 por cento,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está expirado.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Autoassinado: o certificado foi assinado pela própria chave que ele carrega, em vez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uma autoridade acima dele. É a forma de um certificado raiz.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Marcado como CA: o certificado traz a extensão que autoriza assinar outros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certificados.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Sobreposição: como as duas proporções somam mais de 188 por cento, pelo menos 88 por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cento dos certificados têm as duas características ao mesmo tempo. É aritmética, não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medição direta.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leitura desse formato está no slide seguinte. O importante aqui é que a forma é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raiz privada, e não de certificado de servidor vazado, o que muda completamente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gravidade do achado.</a:t>
            </a:r>
            <a:endParaRPr/>
          </a:p>
        </p:txBody>
      </p:sp>
      <p:sp>
        <p:nvSpPr>
          <p:cNvPr id="717" name="Google Shape;717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7" name="Google Shape;737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[reserva]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leitura. A maior parte desse material tem a forma de uma raiz privada, e não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certificado de servidor vazado, o que é uma notícia melhor do que parece à primeira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vista. Autoassinar não é fraqueza por si: é assim que toda raiz começa. O que pesa é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expirado, porque certificado vencido e ainda em uso faz o verificador de data rejeitar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conexão, e a reação comum a isso é desligar a verificação, que é o pior dos mundos.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Raiz privada: autoridade certificadora criada pela própria organização, para uso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interno. É legítima, desde que a chave dela seja cuidada.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Verificador de data: a checagem de validade que toda biblioteca TLS faz antes de aceitar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certificado.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slide existe para eu não exagerar o achado anterior. O caminho da conclusão é: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forma é de raiz privada, então o risco não é vazamento de servidor; o risco é gestão,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 raiz vencida, assinada com hash fraco, e sem quem a renove.</a:t>
            </a:r>
            <a:endParaRPr/>
          </a:p>
        </p:txBody>
      </p:sp>
      <p:sp>
        <p:nvSpPr>
          <p:cNvPr id="738" name="Google Shape;738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4" name="Google Shape;754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[reserva]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Rodamos o CBOM-Lens, que gera um inventário criptográfico no padrão CycloneDX, sobre 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mesmos arquivos. Nas 9.888 imagens em que o detector interno acha certificado,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CBOM-Lens relata, na mediana, metade da quantidade, e em 18 por cento das imagens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iguala ou supera a contagem interna.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CycloneDX: o padrão de lista de materiais de software. O CBOM é o perfil dele para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inventário criptográfico.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Mediana da razão: para cada imagem calculamos a razão entre as duas contagens, e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mediana dessas razões é 50 por cento. Não é a razão das somas.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conferência independente existe porque uma contagem sem segunda opinião não 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sustenta em revisão. O que ela permite afirmar, e o que não permite, está no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seguinte.</a:t>
            </a:r>
            <a:endParaRPr/>
          </a:p>
        </p:txBody>
      </p:sp>
      <p:sp>
        <p:nvSpPr>
          <p:cNvPr id="755" name="Google Shape;755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4" name="Google Shape;774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[reserva]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que a divergência mostra é que a cobertura dos dois detectores é diferente. O que ela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NÃO mostra é a taxa de erro de nenhum deles, porque não existe verdade de referência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comparar. O Gitleaks entra como terceiro detector, e serve só para sustentar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auditoria de caminho, sem entrar em contagem nenhuma.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Verdade de referência, ou ground truth: um conjunto em que se sabe, por construção,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quantos certificados existem. Sem isso, discordância entre dois detectores não diz qual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está errado.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Auditoria de caminho: conferir se a classificação de teste, biblioteca e caminho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operacional está correta numa amostra manual.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Declarar que a taxa de erro fica em aberto é mais forte do que inventar uma. 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perguntarem por que não construímos uma verdade de referência: exigiria rotular à mão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 conjunto grande o bastante de imagens reais, e fica como trabalho futuro. 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contagens do corpo do trabalho vêm todas do detector interno, e a divergência está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publicada no artefato.</a:t>
            </a:r>
            <a:endParaRPr/>
          </a:p>
        </p:txBody>
      </p:sp>
      <p:sp>
        <p:nvSpPr>
          <p:cNvPr id="775" name="Google Shape;775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1" name="Google Shape;791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É a pergunta mais provável do trabalho inteiro, e a resposta é o desenho do quadro amostral, não uma desculpa.</a:t>
            </a:r>
            <a:endParaRPr/>
          </a:p>
        </p:txBody>
      </p:sp>
      <p:sp>
        <p:nvSpPr>
          <p:cNvPr id="792" name="Google Shape;792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1" name="Google Shape;801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honestidade aqui é dizer de que população a estimativa fala. O crawl é o quadro; o registro inteiro não é.</a:t>
            </a:r>
            <a:endParaRPr/>
          </a:p>
        </p:txBody>
      </p:sp>
      <p:sp>
        <p:nvSpPr>
          <p:cNvPr id="802" name="Google Shape;802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1" name="Google Shape;811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Limitação declarada, não descuido. Repetir a palavra estático.</a:t>
            </a:r>
            <a:endParaRPr/>
          </a:p>
        </p:txBody>
      </p:sp>
      <p:sp>
        <p:nvSpPr>
          <p:cNvPr id="812" name="Google Shape;812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1" name="Google Shape;821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Separa as duas contagens: a das bibliotecas tem limite inferior, a das chaves é zero e não depende do gerenciador de pacotes.</a:t>
            </a:r>
            <a:endParaRPr/>
          </a:p>
        </p:txBody>
      </p:sp>
      <p:sp>
        <p:nvSpPr>
          <p:cNvPr id="822" name="Google Shape;822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1" name="Google Shape;831;p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defesa é a reprodutibilidade: o corte está no artefato e pode ser trocado.</a:t>
            </a:r>
            <a:endParaRPr/>
          </a:p>
        </p:txBody>
      </p:sp>
      <p:sp>
        <p:nvSpPr>
          <p:cNvPr id="832" name="Google Shape;832;p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1" name="Google Shape;841;p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é a pergunta que tenta desqualificar o achado. A resposta é o contraste com o transporte, que migrou com a mesma ferramenta disponível.</a:t>
            </a:r>
            <a:endParaRPr/>
          </a:p>
        </p:txBody>
      </p:sp>
      <p:sp>
        <p:nvSpPr>
          <p:cNvPr id="842" name="Google Shape;842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1" name="Google Shape;851;p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Conceder o ponto e devolver o que sobra: a forma é de raiz privada, e raiz privada fraca ainda é raiz fraca.</a:t>
            </a:r>
            <a:endParaRPr/>
          </a:p>
        </p:txBody>
      </p:sp>
      <p:sp>
        <p:nvSpPr>
          <p:cNvPr id="852" name="Google Shape;852;p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1" name="Google Shape;861;p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resposta é de ética de medição. Não afirmar exploração é mais forte do que insinuar.</a:t>
            </a:r>
            <a:endParaRPr/>
          </a:p>
        </p:txBody>
      </p:sp>
      <p:sp>
        <p:nvSpPr>
          <p:cNvPr id="862" name="Google Shape;862;p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1" name="Google Shape;871;p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valor do teste é a comparação com dois pontos externos, não o número sozinho.</a:t>
            </a:r>
            <a:endParaRPr/>
          </a:p>
        </p:txBody>
      </p:sp>
      <p:sp>
        <p:nvSpPr>
          <p:cNvPr id="872" name="Google Shape;872;p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1" name="Google Shape;881;p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Declarar em aberto é mais forte do que inventar um número. É a última tela de reserva de propósito.</a:t>
            </a:r>
            <a:endParaRPr/>
          </a:p>
        </p:txBody>
      </p:sp>
      <p:sp>
        <p:nvSpPr>
          <p:cNvPr id="882" name="Google Shape;882;p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1" name="Google Shape;891;p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[reserva]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zero vale para o que os extratores leem, e isso está declarado. A rotina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certificado e chave percorre arquivo comum de até 2 megabytes e usa parser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criptográfico para X.509 e para chave privada, pública e SSH, em DER, PEM ou material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 OpenSSH. A detecção de biblioteca lê só as bases de pacote do dpkg e do apk. Fica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fora o que está ligado estaticamente, ofuscado, em formato que a lista não cobre, 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gerado e negociado em tempo de execução. A defesa do zero é esta: uma chave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pós-quântica gravada em formato padrão seria lida pelos MESMOS parsers que leram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milhões e 211 mil objetos clássicos.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Parser criptográfico: código que decodifica a estrutura do arquivo e devolve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algoritmo, o tamanho da chave e o hash da assinatura. Não é busca por palavra.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Ligada estaticamente: o código da biblioteca foi copiado para dentro do binário, então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não há pacote instalado para o dpkg ou o apk listar.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dois limites puxam para lados diferentes, e vale dizer isso em voz alta. O limite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cobertura de ARQUIVO poderia esconder um objeto pós-quântico, e é por isso que o zero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declarado como "nos formatos que lemos". O limite de cobertura de BIBLIOTECA puxa ao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contrário: com mais gerenciadores de pacote, as 801 imagens capazes seriam MAIS, e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distância entre capacidade instalada e uso ficaria maior, não menor. Se perguntarem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pelo limite de 2 MB: material dentro de bundle de certificado gigante fica subcontado,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artigo declara isso na Seção 3.</a:t>
            </a:r>
            <a:endParaRPr/>
          </a:p>
        </p:txBody>
      </p:sp>
      <p:sp>
        <p:nvSpPr>
          <p:cNvPr id="892" name="Google Shape;892;p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9" name="Google Shape;909;p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[reserva]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classificação não é opinião, é uma lista fechada, e ela está no artefato. À esquerda,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famílias que um computador quântico quebra: RSA e Diffie-Hellman de corpo finito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caem pelo algoritmo de Shor; DSA, ECDSA, ECDH, Ed25519, Ed448, X25519 e X448 caem pela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extensão dele ao logaritmo discreto em curva elíptica. À direita, as famílias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pós-quânticas: os três padrões que o NIST publicou em 2024, mais Falcon, 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encapsulamentos de rede e de código, e as assinaturas com estado baseadas em hash.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Nenhum dos 4 milhões e 211 mil objetos caiu na coluna da direita.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ElGamal também está na lista da esquerda; não apareceu nenhuma vez no corpo extraído,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 por isso não está na tela.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Nome composto: se o nome do algoritmo traz uma família pós-quântica em qualquer parte,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exemplo X25519-ML-KEM-768, o objeto é classificado como pós-quântico. A regra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deliberadamente generosa para o lado pós-quântico.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XMSS e LMS: assinaturas com estado baseadas em hash, resistentes ao quântico, embora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não sejam parte da tríade FIPS de 2024.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generosidade da regra importa para a defesa do zero: um híbrido conta como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pós-quântico, e mesmo assim o resultado é zero. Se perguntarem por que EdDSA está entre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vulneráveis, sendo moderna: moderna não é o mesmo que pós-quântica. Ed25519 é curva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elíptica, e curva elíptica cai por Shor.</a:t>
            </a:r>
            <a:endParaRPr/>
          </a:p>
        </p:txBody>
      </p:sp>
      <p:sp>
        <p:nvSpPr>
          <p:cNvPr id="910" name="Google Shape;910;p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4" name="Google Shape;934;p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[reserva]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Quem abrir o assets.csv do artefato e somar a coluna de classificação encontra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4.211.292 objetos vulneráveis, e não os 4.211.380 do artigo. A diferença é de 88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objetos, e eu sei exatamente quais são: são chaves públicas X25519, todas fora do trust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store, que o classificador da época da coleta devolveu como desconhecidas porque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parser reporta o nome da classe, X25519PublicKey, e não a família crua. X25519 é troca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chave em curva elíptica: é clássica e cai pela mesma extensão do algoritmo de Shor.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artefato já foi corrigido, o CSV é que não foi regerado. Nenhum dos 88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pós-quântico, então o zero não se move.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X25519: acordo de chave Diffie-Hellman sobre a curva Curve25519. É o que a maior parte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 TLS moderno usa para trocar a chave de sessão.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Nome de classe: a biblioteca de parsing devolve X25519PublicKey; a lista de famílias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esperava X25519. A correção passou a casar a família como subcadeia do nome.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correção está no artefato, no commit bd9f2ce, "Classify class-name key types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(X25519PublicKey, Ed25519...) as quantum-vulnerable", posterior à execução que gerou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dataset. Dizer isso é mais forte do que esconder: mostra que a discrepância é de rótulo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 não de medição, e que sabemos objeto por objeto o que está dentro dela. O artigo já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escreve, na Seção de prontidão, que o material Ed25519, Ed448 e X25519 permanece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clássico.</a:t>
            </a:r>
            <a:endParaRPr/>
          </a:p>
        </p:txBody>
      </p:sp>
      <p:sp>
        <p:nvSpPr>
          <p:cNvPr id="935" name="Google Shape;935;p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5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2" name="Google Shape;952;p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[reserva]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alguém quiser conferir a conta na hora, ela fecha: 3 milhões e 511 mil certificados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trust store, mais 518 mil certificados fora dele, mais 178 mil chaves fora dele,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mais 2.532 chaves dentro, dá exatamente 4 milhões, 211 mil e 380. Repare na primeira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linha: 83 por cento do total é bundle de trust store, isto é, a mesma lista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autoridades certificadoras que o sistema operacional distribui, repetida em milhares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imagens. É por isso que existe o corte por caminho, e é o slide seguinte.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Bundle de trust store: o arquivo com as autoridades certificadoras em que o sistema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confia. Vem da distribuição, não do autor da imagem.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Objeto de chave pública: cada certificado ou arquivo de chave que o extrator conseguiu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decodificar. Um arquivo com vários certificados conta cada um.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slide existe porque "4,2 milhões" soa grande e vago, e um revisor pede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denominador. Dar a decomposição fechada muda a conversa: não é um número de efeito,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 inventário. E deixa claro o que o corte por caminho tira e o que ele deixa: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posture do artigo é medido sobre os 697 mil objetos fora do trust store, e não sobre 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4,2 milhões.</a:t>
            </a:r>
            <a:endParaRPr/>
          </a:p>
        </p:txBody>
      </p:sp>
      <p:sp>
        <p:nvSpPr>
          <p:cNvPr id="953" name="Google Shape;953;p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5" name="Google Shape;975;p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[reserva]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corte é por caminho e está declarado: entra no trust store o que está sob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barra-etc-ssl-certs, barra-etc-pki, os pacotes de autoridade certificadora e os bundles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runtime, como o certifi do Python. Tudo o mais é material fora do trust store. Sem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esse corte, o bundle compartilhado domina toda análise: as duas impressões digitais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mais repetidas do censo são chaves públicas de assinatura de pacote do Alpine, e cada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uma aparece em 4.186 imagens. Elas responderiam sozinhas pela conclusão de reuso. E 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dois lados estão publicados: 43 por cento de assinatura fraca fora do trust store, 32,3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cento dentro. O limite do critério também está no artigo: caminho não estabelece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quem criou nem quem usa o arquivo.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certifi: o pacote Python que embarca a própria lista de autoridades certificadoras,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independente da do sistema.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Impressão digital: o SHA-256 da chave pública em DER. A mesma chave casa esteja ela num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arquivo de chave ou dentro de um certificado.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perguntarem se o corte foi escolhido para dar 43 por cento, a resposta é que os dois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números estão no artigo, lado a lado, e o de dentro do trust store é mais baixo. Isso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oposto de escolher o denominador conveniente: mostra que o material que a IMAGEM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trouxe é pior do que o que a distribuição trouxe, que é exatamente o achado.</a:t>
            </a:r>
            <a:endParaRPr/>
          </a:p>
        </p:txBody>
      </p:sp>
      <p:sp>
        <p:nvSpPr>
          <p:cNvPr id="976" name="Google Shape;976;p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3" name="Google Shape;993;p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[reserva]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crítica correta a fazer aqui é de quadro amostral, e ela tem resposta. O crawl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ChimangoScan enumera repositórios, não a lista de tags de cada um, então latest é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única referência que existe para TODO repositório, e é também a tag padrão do registro.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consequência não foi escondida, virou achado: 34,7 por cento das referências não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resolvem, com intervalo de 34,1 a 35,4. E para separar isso de repositório apagado,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sorteamos 200 delas e reconferimos na API sete semanas depois: 193 ainda existiam,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nenhuma com latest, e 7 tinham sumido. A mediana do último envio delas é 2022. Então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estimativa de postura vale para repositório que expõe latest baixável e cabe nos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limites de varredura, e é assim que o artigo a declara.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Quadro amostral: a lista de onde se sorteia. Se ela não cobre a população, a estimativa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não cobre a população.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Manifest unknown: a resposta do registro quando o repositório existe mas a tag pedida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não. Foi o caso de todas as não resolvidas, menos uma, que era repositório apagado.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viés é real e está declarado, não negado: repositório que publica só tag de versão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fica de fora. O que a auditoria das 200 mostra é que não se trata de repositório morto,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 sim de repositório vivo que nunca publicou latest. Se perguntarem como corrigir: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precisaria de um enumerador de tags por repositório, que multiplica o custo de coleta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uma ordem de grandeza. Está declarado como trabalho futuro.</a:t>
            </a:r>
            <a:endParaRPr/>
          </a:p>
        </p:txBody>
      </p:sp>
      <p:sp>
        <p:nvSpPr>
          <p:cNvPr id="994" name="Google Shape;994;p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5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1" name="Google Shape;1011;p5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[reserva]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1.078 referências fora do escopo, 5,4 por cento, resolvem mas não carregam medição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postura. A maior parte, 657, passa do limite de 4 gigabytes de sistema de arquivos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extraído; são as imagens grandes, tipicamente de aprendizado de máquina, com CUDA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pesos de modelo dentro. O limite existe para que uma imagem gigante não consuma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orçamento de download inteiro, é escolha de desenho e está declarada. O que se perde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justamente a postura dessas imagens, e ela pode ser diferente da das outras: essa é uma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ameaça à validade que eu não consigo descartar. As 192 privadas e as 148 sem variante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amd64 não são propriedade da criptografia, então excluí-las não enviesa o resultado.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Variante amd64: a versão da imagem para processador Intel ou AMD de 64 bits. 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máquinas de coleta eram amd64, que é também a plataforma padrão do registro.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81 restantes merecem a resposta exata, porque quem abrir o run_manifest.csv vai 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Só 18 são HTTP 429 do registro e cerca de 6 são tempo esgotado; 46 delas são um defeito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 nosso próprio código, uma chamada a export_rootfs com um argumento que a função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daquela versão não aceitava, e as 7 últimas são arquivo que não abriu. Como esse texto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erro não está na lista de marcadores transitórios do worker, essas 46 não foram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repetidas. São 46 em 19.982, ou 0,23 por cento, e não movem nenhuma estimativa; mas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resposta honesta é essa, e não "erro de rede".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ERRATA A LEVAR PARA O ARTIGO, se perguntarem: o artigo diz 19.977 referências 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resultado determinado e 81 erros transitórios; o run_manifest.csv do artefato traz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19.982 registros e 78 nesse grupo. As proporções não mudam (5,4% e 34,7% nos dois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casos), mas os dois inteiros precisam ser alinhados numa próxima versão.</a:t>
            </a:r>
            <a:endParaRPr/>
          </a:p>
        </p:txBody>
      </p:sp>
      <p:sp>
        <p:nvSpPr>
          <p:cNvPr id="1012" name="Google Shape;1012;p5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9" name="Google Shape;1029;p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[reserva]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limitação mais honesta do trabalho: é uma foto única. Ela mede um NÍVEL, e não uma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tendência. Não sei dizer se o zero de hoje é um zero que está começando a subir ou 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zero parado, porque não há medição anterior comparável para o mesmo quadro amostral.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que o desenho garante é a repetibilidade: o sorteio ordena a lista pelo SHA-256 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semente mais a referência e toma os primeiros 20 mil, então a mesma semente devolve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sempre a mesma amostra, sem guardar estado aleatório nenhum. Repetir em outra data, 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mesma semente ou com outra, transforma o resultado em série temporal, e o quadro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amostral está publicado exatamente para que outra pessoa possa fazer isso sem depender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nós.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Semente: a cadeia "cryptocensus", que entra no hash junto com a referência. Trocar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semente dá outra amostra, igualmente equiprovável.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Nível e tendência: nível é quanto existe agora; tendência é como isso muda. Uma medição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só dá o primeiro.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Vale dizer o que uma segunda rodada mediria bem e o que não mediria: a fração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imagens com biblioteca capaz deve subir rápido, porque acompanha a atualização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imagem base; a fração com chave pós-quântica gravada depende de autoridade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certificadora emitindo certificado pós-quântico, e é a que deve demorar. Essa previsão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é minha, e a próxima rodada é que decide.</a:t>
            </a:r>
            <a:endParaRPr/>
          </a:p>
        </p:txBody>
      </p:sp>
      <p:sp>
        <p:nvSpPr>
          <p:cNvPr id="1030" name="Google Shape;1030;p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11" Type="http://schemas.openxmlformats.org/officeDocument/2006/relationships/image" Target="../media/image10.png"/><Relationship Id="rId10" Type="http://schemas.openxmlformats.org/officeDocument/2006/relationships/image" Target="../media/image4.png"/><Relationship Id="rId9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2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9.png"/><Relationship Id="rId7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jpg"/><Relationship Id="rId4" Type="http://schemas.openxmlformats.org/officeDocument/2006/relationships/image" Target="../media/image12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2" Type="http://schemas.openxmlformats.org/officeDocument/2006/relationships/image" Target="../media/image22.png"/><Relationship Id="rId9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5.png"/><Relationship Id="rId8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9171432" y="3840480"/>
            <a:ext cx="6035040" cy="6035040"/>
          </a:xfrm>
          <a:prstGeom prst="ellipse">
            <a:avLst/>
          </a:prstGeom>
          <a:noFill/>
          <a:ln cap="flat" cmpd="sng" w="19050">
            <a:solidFill>
              <a:srgbClr val="14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9902952" y="4572000"/>
            <a:ext cx="4572000" cy="4572000"/>
          </a:xfrm>
          <a:prstGeom prst="ellipse">
            <a:avLst/>
          </a:prstGeom>
          <a:noFill/>
          <a:ln cap="flat" cmpd="sng" w="19050">
            <a:solidFill>
              <a:srgbClr val="14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0634472" y="5303520"/>
            <a:ext cx="3108960" cy="3108960"/>
          </a:xfrm>
          <a:prstGeom prst="ellipse">
            <a:avLst/>
          </a:prstGeom>
          <a:noFill/>
          <a:ln cap="flat" cmpd="sng" w="19050">
            <a:solidFill>
              <a:srgbClr val="14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658368" y="438912"/>
            <a:ext cx="8366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9E5FC"/>
                </a:solidFill>
                <a:latin typeface="Inter"/>
                <a:ea typeface="Inter"/>
                <a:cs typeface="Inter"/>
                <a:sym typeface="Inter"/>
              </a:rPr>
              <a:t>SBSEG 2026  ·  BÚZIOS, RJ  ·  1 A 4 DE SETEMBRO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658368" y="1133856"/>
            <a:ext cx="8366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CryptoCensus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58368" y="2121408"/>
            <a:ext cx="83667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D9E5FC"/>
                </a:solidFill>
                <a:latin typeface="Inter"/>
                <a:ea typeface="Inter"/>
                <a:cs typeface="Inter"/>
                <a:sym typeface="Inter"/>
              </a:rPr>
              <a:t>Postura criptográfica e prontidão pós-quântica do Docker Hub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658368" y="3986784"/>
            <a:ext cx="1463040" cy="54864"/>
          </a:xfrm>
          <a:prstGeom prst="rect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58368" y="4151376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Cristhian Kapelinski · Diego Kreutz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658368" y="4645152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D9E5FC"/>
                </a:solidFill>
                <a:latin typeface="Inter"/>
                <a:ea typeface="Inter"/>
                <a:cs typeface="Inter"/>
                <a:sym typeface="Inter"/>
              </a:rPr>
              <a:t>AI Horizon Labs · UNIPAMPA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658368" y="5138928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D9E5FC"/>
                </a:solidFill>
                <a:latin typeface="Inter"/>
                <a:ea typeface="Inter"/>
                <a:cs typeface="Inter"/>
                <a:sym typeface="Inter"/>
              </a:rPr>
              <a:t>WTICG · trabalho completo</a:t>
            </a:r>
            <a:endParaRPr/>
          </a:p>
        </p:txBody>
      </p:sp>
      <p:pic>
        <p:nvPicPr>
          <p:cNvPr descr="disponiveis.png"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9720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uncionais.png"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2368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stentaveis.png" id="99" name="Google Shape;9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15016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produziveis.png" id="100" name="Google Shape;10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27664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/>
          <p:nvPr/>
        </p:nvSpPr>
        <p:spPr>
          <a:xfrm>
            <a:off x="9189720" y="1463040"/>
            <a:ext cx="2340864" cy="2340864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bseg2026.png" id="102" name="Google Shape;10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18320" y="2111049"/>
            <a:ext cx="1883664" cy="104484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horizonlabs.png" id="104" name="Google Shape;10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368" y="5888736"/>
            <a:ext cx="3442106" cy="8412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105" name="Google Shape;10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03394" y="5806440"/>
            <a:ext cx="1527386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106" name="Google Shape;106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14851" y="5875020"/>
            <a:ext cx="1566070" cy="868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f.png" id="107" name="Google Shape;107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92402" y="5861304"/>
            <a:ext cx="872836" cy="896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c.png" id="108" name="Google Shape;108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176719" y="5843016"/>
            <a:ext cx="619040" cy="932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ABERTURA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 ameaça quântica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713232" y="211226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1133856" y="1965960"/>
            <a:ext cx="104607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Colher agora, decifrar depois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713232" y="316382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1133856" y="3017520"/>
            <a:ext cx="104607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Shor quebra RSA e curvas elípticas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713232" y="4215383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1133856" y="4069079"/>
            <a:ext cx="104607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Dado com sigilo longo já está exposto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29" name="Google Shape;1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ABERTURA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Cronograma do NIST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713232" y="1645920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No nível de 112 bits de segurança</a:t>
            </a:r>
            <a:endParaRPr/>
          </a:p>
        </p:txBody>
      </p:sp>
      <p:pic>
        <p:nvPicPr>
          <p:cNvPr descr="nist.png" id="134" name="Google Shape;13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1440" y="4809744"/>
            <a:ext cx="5768814" cy="131673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"/>
          <p:cNvSpPr/>
          <p:nvPr/>
        </p:nvSpPr>
        <p:spPr>
          <a:xfrm>
            <a:off x="713232" y="266090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1133856" y="2514600"/>
            <a:ext cx="104607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2030</a:t>
            </a: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  depreciar RSA e curvas elípticas</a:t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713232" y="3712463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1133856" y="3566160"/>
            <a:ext cx="104607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2035</a:t>
            </a: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  proibir RSA e curvas elípticas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44" name="Google Shape;1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ABERTURA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713232" y="914400"/>
            <a:ext cx="1077163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Tráfego humano na Cloudflare, 2025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713232" y="2271776"/>
            <a:ext cx="10771632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mais da metade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713232" y="3946652"/>
            <a:ext cx="1077163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com troca de chaves híbrida</a:t>
            </a:r>
            <a:endParaRPr/>
          </a:p>
        </p:txBody>
      </p:sp>
      <p:pic>
        <p:nvPicPr>
          <p:cNvPr descr="cloudflare.png" id="150" name="Google Shape;15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6285" y="4809744"/>
            <a:ext cx="5619124" cy="13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56" name="Google Shape;1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  <a:endParaRPr/>
          </a:p>
        </p:txBody>
      </p:sp>
      <p:sp>
        <p:nvSpPr>
          <p:cNvPr id="158" name="Google Shape;158;p6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ESTADO DA ARTE</a:t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Os três trabalhos mais próximos</a:t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365760" y="1645920"/>
            <a:ext cx="3931920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Trabalho</a:t>
            </a:r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4297680" y="1645920"/>
            <a:ext cx="2606040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Inventário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6903720" y="1645920"/>
            <a:ext cx="22402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Pós-quântico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9144000" y="1645920"/>
            <a:ext cx="2606040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Sorteio</a:t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365760" y="2615184"/>
            <a:ext cx="11457432" cy="32004"/>
          </a:xfrm>
          <a:prstGeom prst="rect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365760" y="2761488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Dahlmanns, 2023</a:t>
            </a:r>
            <a:endParaRPr/>
          </a:p>
        </p:txBody>
      </p:sp>
      <p:sp>
        <p:nvSpPr>
          <p:cNvPr id="166" name="Google Shape;166;p6"/>
          <p:cNvSpPr txBox="1"/>
          <p:nvPr/>
        </p:nvSpPr>
        <p:spPr>
          <a:xfrm>
            <a:off x="365760" y="3182112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337.171 imagens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4297680" y="2944368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●</a:t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6903720" y="2944368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○</a:t>
            </a:r>
            <a:endParaRPr/>
          </a:p>
        </p:txBody>
      </p:sp>
      <p:sp>
        <p:nvSpPr>
          <p:cNvPr id="169" name="Google Shape;169;p6"/>
          <p:cNvSpPr txBox="1"/>
          <p:nvPr/>
        </p:nvSpPr>
        <p:spPr>
          <a:xfrm>
            <a:off x="9144000" y="2944368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○</a:t>
            </a:r>
            <a:endParaRPr/>
          </a:p>
        </p:txBody>
      </p:sp>
      <p:sp>
        <p:nvSpPr>
          <p:cNvPr id="170" name="Google Shape;170;p6"/>
          <p:cNvSpPr txBox="1"/>
          <p:nvPr/>
        </p:nvSpPr>
        <p:spPr>
          <a:xfrm>
            <a:off x="365760" y="3785615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Strauss, 2025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365760" y="4206240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4.018 apps Android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4297680" y="3968496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●</a:t>
            </a:r>
            <a:endParaRPr/>
          </a:p>
        </p:txBody>
      </p:sp>
      <p:sp>
        <p:nvSpPr>
          <p:cNvPr id="173" name="Google Shape;173;p6"/>
          <p:cNvSpPr txBox="1"/>
          <p:nvPr/>
        </p:nvSpPr>
        <p:spPr>
          <a:xfrm>
            <a:off x="6903720" y="3968496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●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9144000" y="3968496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○</a:t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292608" y="4736592"/>
            <a:ext cx="11603736" cy="1225296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365760" y="4809744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CryptoCensus</a:t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365760" y="5294376"/>
            <a:ext cx="2423160" cy="274320"/>
          </a:xfrm>
          <a:prstGeom prst="roundRect">
            <a:avLst>
              <a:gd fmla="val 6000" name="adj"/>
            </a:avLst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365760" y="5294376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ESTE TRABALHO</a:t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365760" y="5623559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11.962 imagens</a:t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4297680" y="5221224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●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6903720" y="5221224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●</a:t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9144000" y="5221224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●</a:t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6793992" y="1554480"/>
            <a:ext cx="2459736" cy="4572000"/>
          </a:xfrm>
          <a:prstGeom prst="roundRect">
            <a:avLst>
              <a:gd fmla="val 10000" name="adj"/>
            </a:avLst>
          </a:prstGeom>
          <a:noFill/>
          <a:ln cap="flat" cmpd="sng" w="63500">
            <a:solidFill>
              <a:srgbClr val="256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365760" y="3712463"/>
            <a:ext cx="11457432" cy="41148"/>
          </a:xfrm>
          <a:prstGeom prst="rect">
            <a:avLst/>
          </a:prstGeom>
          <a:solidFill>
            <a:srgbClr val="5B79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365760" y="4736592"/>
            <a:ext cx="11457432" cy="41148"/>
          </a:xfrm>
          <a:prstGeom prst="rect">
            <a:avLst/>
          </a:prstGeom>
          <a:solidFill>
            <a:srgbClr val="5B79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233672" y="1645920"/>
            <a:ext cx="41148" cy="4443984"/>
          </a:xfrm>
          <a:prstGeom prst="rect">
            <a:avLst/>
          </a:prstGeom>
          <a:solidFill>
            <a:srgbClr val="5B79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839712" y="1645920"/>
            <a:ext cx="41148" cy="4443984"/>
          </a:xfrm>
          <a:prstGeom prst="rect">
            <a:avLst/>
          </a:prstGeom>
          <a:solidFill>
            <a:srgbClr val="5B79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9079992" y="1645920"/>
            <a:ext cx="41148" cy="4443984"/>
          </a:xfrm>
          <a:prstGeom prst="rect">
            <a:avLst/>
          </a:prstGeom>
          <a:solidFill>
            <a:srgbClr val="5B79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bseg2026_rodape_branco.png" id="195" name="Google Shape;1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</a:t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4224528" y="868680"/>
            <a:ext cx="7589520" cy="51206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04_bancada_justo.jpg" id="198" name="Google Shape;19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0" y="2091360"/>
            <a:ext cx="7077456" cy="267527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7"/>
          <p:cNvSpPr txBox="1"/>
          <p:nvPr/>
        </p:nvSpPr>
        <p:spPr>
          <a:xfrm>
            <a:off x="749808" y="1207008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/>
          </a:p>
        </p:txBody>
      </p:sp>
      <p:sp>
        <p:nvSpPr>
          <p:cNvPr id="200" name="Google Shape;200;p7"/>
          <p:cNvSpPr txBox="1"/>
          <p:nvPr/>
        </p:nvSpPr>
        <p:spPr>
          <a:xfrm>
            <a:off x="749808" y="2615184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Censo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06" name="Google Shape;2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/>
          </a:p>
        </p:txBody>
      </p:sp>
      <p:sp>
        <p:nvSpPr>
          <p:cNvPr id="208" name="Google Shape;208;p8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01 · CENSO</a:t>
            </a:r>
            <a:endParaRPr/>
          </a:p>
        </p:txBody>
      </p:sp>
      <p:sp>
        <p:nvSpPr>
          <p:cNvPr id="209" name="Google Shape;209;p8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sorteio, com chance igual</a:t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713232" y="247802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1133856" y="2331720"/>
            <a:ext cx="104607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12.716.568</a:t>
            </a: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  repositórios enumerados</a:t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713232" y="352958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1133856" y="3383280"/>
            <a:ext cx="104607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20.000</a:t>
            </a: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  sorteados</a:t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713232" y="458114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1133856" y="4434840"/>
            <a:ext cx="104607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11.962</a:t>
            </a: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  imagens analisadas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21" name="Google Shape;2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9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</a:t>
            </a:r>
            <a:endParaRPr/>
          </a:p>
        </p:txBody>
      </p:sp>
      <p:sp>
        <p:nvSpPr>
          <p:cNvPr id="223" name="Google Shape;223;p9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01 · CENSO</a:t>
            </a:r>
            <a:endParaRPr/>
          </a:p>
        </p:txBody>
      </p:sp>
      <p:sp>
        <p:nvSpPr>
          <p:cNvPr id="224" name="Google Shape;224;p9"/>
          <p:cNvSpPr txBox="1"/>
          <p:nvPr/>
        </p:nvSpPr>
        <p:spPr>
          <a:xfrm>
            <a:off x="713232" y="1325880"/>
            <a:ext cx="1077163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Nas 11.962 imagens,</a:t>
            </a:r>
            <a:endParaRPr/>
          </a:p>
        </p:txBody>
      </p:sp>
      <p:sp>
        <p:nvSpPr>
          <p:cNvPr id="225" name="Google Shape;225;p9"/>
          <p:cNvSpPr txBox="1"/>
          <p:nvPr/>
        </p:nvSpPr>
        <p:spPr>
          <a:xfrm>
            <a:off x="713232" y="2829559"/>
            <a:ext cx="10771632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256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4.211.380</a:t>
            </a:r>
            <a:endParaRPr/>
          </a:p>
        </p:txBody>
      </p:sp>
      <p:sp>
        <p:nvSpPr>
          <p:cNvPr id="226" name="Google Shape;226;p9"/>
          <p:cNvSpPr txBox="1"/>
          <p:nvPr/>
        </p:nvSpPr>
        <p:spPr>
          <a:xfrm>
            <a:off x="713232" y="4714240"/>
            <a:ext cx="1077163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certificados e chaves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32" name="Google Shape;2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/>
          </a:p>
        </p:txBody>
      </p:sp>
      <p:sp>
        <p:nvSpPr>
          <p:cNvPr id="234" name="Google Shape;234;p10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01 · CENSO</a:t>
            </a:r>
            <a:endParaRPr/>
          </a:p>
        </p:txBody>
      </p:sp>
      <p:sp>
        <p:nvSpPr>
          <p:cNvPr id="235" name="Google Shape;235;p10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o extrator lê</a:t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713232" y="211226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 txBox="1"/>
          <p:nvPr/>
        </p:nvSpPr>
        <p:spPr>
          <a:xfrm>
            <a:off x="1133856" y="1965960"/>
            <a:ext cx="104607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Certificados e chaves</a:t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713232" y="316382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 txBox="1"/>
          <p:nvPr/>
        </p:nvSpPr>
        <p:spPr>
          <a:xfrm>
            <a:off x="1133856" y="3017520"/>
            <a:ext cx="104607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Tokens legados de TLS e SSH</a:t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713232" y="4215383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 txBox="1"/>
          <p:nvPr/>
        </p:nvSpPr>
        <p:spPr>
          <a:xfrm>
            <a:off x="1133856" y="4069079"/>
            <a:ext cx="104607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Bibliotecas em dpkg e apk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47" name="Google Shape;2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</a:t>
            </a:r>
            <a:endParaRPr/>
          </a:p>
        </p:txBody>
      </p:sp>
      <p:sp>
        <p:nvSpPr>
          <p:cNvPr id="249" name="Google Shape;249;p11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01 · CENSO</a:t>
            </a:r>
            <a:endParaRPr/>
          </a:p>
        </p:txBody>
      </p:sp>
      <p:sp>
        <p:nvSpPr>
          <p:cNvPr id="250" name="Google Shape;250;p11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Trust store, e o que está fora dele</a:t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484632" y="4894072"/>
            <a:ext cx="11247120" cy="1217168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868680" y="5003800"/>
            <a:ext cx="10515600" cy="997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Daqui em diante: fora do trust store.</a:t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713232" y="224942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 txBox="1"/>
          <p:nvPr/>
        </p:nvSpPr>
        <p:spPr>
          <a:xfrm>
            <a:off x="1133856" y="2103120"/>
            <a:ext cx="104607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3.514.257</a:t>
            </a: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  no trust store da distribuição</a:t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713232" y="330098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1133856" y="3154680"/>
            <a:ext cx="104607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697.123</a:t>
            </a: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  trazidos pela própria imagem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bseg2026_rodape_branco.png" id="263" name="Google Shape;2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2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4224528" y="868680"/>
            <a:ext cx="7589520" cy="51206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05_bandeja_justo.jpg" id="266" name="Google Shape;26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0" y="1305763"/>
            <a:ext cx="7077456" cy="4246473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2"/>
          <p:cNvSpPr txBox="1"/>
          <p:nvPr/>
        </p:nvSpPr>
        <p:spPr>
          <a:xfrm>
            <a:off x="749808" y="1207008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/>
          </a:p>
        </p:txBody>
      </p:sp>
      <p:sp>
        <p:nvSpPr>
          <p:cNvPr id="268" name="Google Shape;268;p12"/>
          <p:cNvSpPr txBox="1"/>
          <p:nvPr/>
        </p:nvSpPr>
        <p:spPr>
          <a:xfrm>
            <a:off x="749808" y="2615184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Os achados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74" name="Google Shape;27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3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</a:t>
            </a:r>
            <a:endParaRPr/>
          </a:p>
        </p:txBody>
      </p:sp>
      <p:sp>
        <p:nvSpPr>
          <p:cNvPr id="276" name="Google Shape;276;p13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02 · ACHADOS</a:t>
            </a:r>
            <a:endParaRPr/>
          </a:p>
        </p:txBody>
      </p:sp>
      <p:sp>
        <p:nvSpPr>
          <p:cNvPr id="277" name="Google Shape;277;p13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as 20.000 referências devolveram</a:t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713232" y="247802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1133856" y="2331720"/>
            <a:ext cx="104607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34,7%</a:t>
            </a: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  sem publicar latest</a:t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713232" y="352958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 txBox="1"/>
          <p:nvPr/>
        </p:nvSpPr>
        <p:spPr>
          <a:xfrm>
            <a:off x="1133856" y="3383280"/>
            <a:ext cx="104607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5,4%</a:t>
            </a: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  fora do escopo</a:t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713232" y="458114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1133856" y="4434840"/>
            <a:ext cx="104607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59,9%</a:t>
            </a: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  baixadas e analisadas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89" name="Google Shape;2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4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</a:t>
            </a:r>
            <a:endParaRPr/>
          </a:p>
        </p:txBody>
      </p:sp>
      <p:sp>
        <p:nvSpPr>
          <p:cNvPr id="291" name="Google Shape;291;p14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02 · ACHADOS</a:t>
            </a:r>
            <a:endParaRPr/>
          </a:p>
        </p:txBody>
      </p:sp>
      <p:sp>
        <p:nvSpPr>
          <p:cNvPr id="292" name="Google Shape;292;p14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ficou fora do escopo</a:t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713232" y="211226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 txBox="1"/>
          <p:nvPr/>
        </p:nvSpPr>
        <p:spPr>
          <a:xfrm>
            <a:off x="1133856" y="1965960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657 passam de 4 GiB extraídos</a:t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>
            <a:off x="713232" y="316382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 txBox="1"/>
          <p:nvPr/>
        </p:nvSpPr>
        <p:spPr>
          <a:xfrm>
            <a:off x="1133856" y="3017520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192 são privadas</a:t>
            </a:r>
            <a:endParaRPr/>
          </a:p>
        </p:txBody>
      </p:sp>
      <p:sp>
        <p:nvSpPr>
          <p:cNvPr id="297" name="Google Shape;297;p14"/>
          <p:cNvSpPr/>
          <p:nvPr/>
        </p:nvSpPr>
        <p:spPr>
          <a:xfrm>
            <a:off x="713232" y="421538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 txBox="1"/>
          <p:nvPr/>
        </p:nvSpPr>
        <p:spPr>
          <a:xfrm>
            <a:off x="1133856" y="4069080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148 não têm variante amd64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304" name="Google Shape;3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5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  <a:endParaRPr/>
          </a:p>
        </p:txBody>
      </p:sp>
      <p:sp>
        <p:nvSpPr>
          <p:cNvPr id="306" name="Google Shape;306;p15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02 · ACHADOS</a:t>
            </a:r>
            <a:endParaRPr/>
          </a:p>
        </p:txBody>
      </p:sp>
      <p:sp>
        <p:nvSpPr>
          <p:cNvPr id="307" name="Google Shape;307;p15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Prontidão pós-quântica</a:t>
            </a: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1879092" y="2331719"/>
            <a:ext cx="3168396" cy="3108960"/>
          </a:xfrm>
          <a:prstGeom prst="rect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 txBox="1"/>
          <p:nvPr/>
        </p:nvSpPr>
        <p:spPr>
          <a:xfrm>
            <a:off x="512064" y="1892807"/>
            <a:ext cx="59024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4.211.380</a:t>
            </a:r>
            <a:endParaRPr/>
          </a:p>
        </p:txBody>
      </p:sp>
      <p:sp>
        <p:nvSpPr>
          <p:cNvPr id="310" name="Google Shape;310;p15"/>
          <p:cNvSpPr txBox="1"/>
          <p:nvPr/>
        </p:nvSpPr>
        <p:spPr>
          <a:xfrm>
            <a:off x="822960" y="5550407"/>
            <a:ext cx="52806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Vulnerável ao quântico</a:t>
            </a:r>
            <a:endParaRPr/>
          </a:p>
        </p:txBody>
      </p:sp>
      <p:sp>
        <p:nvSpPr>
          <p:cNvPr id="311" name="Google Shape;311;p15"/>
          <p:cNvSpPr txBox="1"/>
          <p:nvPr/>
        </p:nvSpPr>
        <p:spPr>
          <a:xfrm>
            <a:off x="5792724" y="5001767"/>
            <a:ext cx="59024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/>
          </a:p>
        </p:txBody>
      </p:sp>
      <p:sp>
        <p:nvSpPr>
          <p:cNvPr id="312" name="Google Shape;312;p15"/>
          <p:cNvSpPr txBox="1"/>
          <p:nvPr/>
        </p:nvSpPr>
        <p:spPr>
          <a:xfrm>
            <a:off x="6103620" y="5550407"/>
            <a:ext cx="52806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Pós-quântico</a:t>
            </a:r>
            <a:endParaRPr/>
          </a:p>
        </p:txBody>
      </p:sp>
      <p:sp>
        <p:nvSpPr>
          <p:cNvPr id="313" name="Google Shape;313;p15"/>
          <p:cNvSpPr/>
          <p:nvPr/>
        </p:nvSpPr>
        <p:spPr>
          <a:xfrm>
            <a:off x="822960" y="5440679"/>
            <a:ext cx="10561320" cy="18288"/>
          </a:xfrm>
          <a:prstGeom prst="rect">
            <a:avLst/>
          </a:prstGeom>
          <a:solidFill>
            <a:srgbClr val="5A6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7159752" y="5440680"/>
            <a:ext cx="3168396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6675120" y="1874519"/>
            <a:ext cx="4937760" cy="30886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5B3F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 txBox="1"/>
          <p:nvPr/>
        </p:nvSpPr>
        <p:spPr>
          <a:xfrm>
            <a:off x="7059168" y="1874519"/>
            <a:ext cx="4169664" cy="308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5B3FD6"/>
                </a:solidFill>
                <a:latin typeface="Space Grotesk"/>
                <a:ea typeface="Space Grotesk"/>
                <a:cs typeface="Space Grotesk"/>
                <a:sym typeface="Space Grotesk"/>
              </a:rPr>
              <a:t>Ausência, não proporção pequena.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322" name="Google Shape;3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6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</a:t>
            </a:r>
            <a:endParaRPr/>
          </a:p>
        </p:txBody>
      </p:sp>
      <p:sp>
        <p:nvSpPr>
          <p:cNvPr id="324" name="Google Shape;324;p16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02 · ACHADOS</a:t>
            </a:r>
            <a:endParaRPr/>
          </a:p>
        </p:txBody>
      </p:sp>
      <p:sp>
        <p:nvSpPr>
          <p:cNvPr id="325" name="Google Shape;325;p16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Todas as famílias são clássicas</a:t>
            </a:r>
            <a:endParaRPr/>
          </a:p>
        </p:txBody>
      </p:sp>
      <p:sp>
        <p:nvSpPr>
          <p:cNvPr id="326" name="Google Shape;326;p16"/>
          <p:cNvSpPr/>
          <p:nvPr/>
        </p:nvSpPr>
        <p:spPr>
          <a:xfrm>
            <a:off x="713232" y="252374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 txBox="1"/>
          <p:nvPr/>
        </p:nvSpPr>
        <p:spPr>
          <a:xfrm>
            <a:off x="1133856" y="2377440"/>
            <a:ext cx="104607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RSA, Diffie-Hellman, DSA, ECDSA e EdDSA</a:t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713232" y="371246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 txBox="1"/>
          <p:nvPr/>
        </p:nvSpPr>
        <p:spPr>
          <a:xfrm>
            <a:off x="1133856" y="3566160"/>
            <a:ext cx="104607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Nenhum ML-KEM, ML-DSA ou SLH-DSA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335" name="Google Shape;3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7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</a:t>
            </a:r>
            <a:endParaRPr/>
          </a:p>
        </p:txBody>
      </p:sp>
      <p:sp>
        <p:nvSpPr>
          <p:cNvPr id="337" name="Google Shape;337;p17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02 · ACHADOS</a:t>
            </a:r>
            <a:endParaRPr/>
          </a:p>
        </p:txBody>
      </p:sp>
      <p:sp>
        <p:nvSpPr>
          <p:cNvPr id="338" name="Google Shape;338;p17"/>
          <p:cNvSpPr txBox="1"/>
          <p:nvPr/>
        </p:nvSpPr>
        <p:spPr>
          <a:xfrm>
            <a:off x="713232" y="914400"/>
            <a:ext cx="1077163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Das 11.962 imagens sorteadas,</a:t>
            </a:r>
            <a:endParaRPr/>
          </a:p>
        </p:txBody>
      </p:sp>
      <p:sp>
        <p:nvSpPr>
          <p:cNvPr id="339" name="Google Shape;339;p17"/>
          <p:cNvSpPr txBox="1"/>
          <p:nvPr/>
        </p:nvSpPr>
        <p:spPr>
          <a:xfrm>
            <a:off x="713232" y="2006600"/>
            <a:ext cx="10771632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0" u="none" cap="none" strike="noStrike">
                <a:solidFill>
                  <a:srgbClr val="256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801</a:t>
            </a:r>
            <a:endParaRPr/>
          </a:p>
        </p:txBody>
      </p:sp>
      <p:sp>
        <p:nvSpPr>
          <p:cNvPr id="340" name="Google Shape;340;p17"/>
          <p:cNvSpPr txBox="1"/>
          <p:nvPr/>
        </p:nvSpPr>
        <p:spPr>
          <a:xfrm>
            <a:off x="713232" y="3797300"/>
            <a:ext cx="10771632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imagens já trazem OpenSSL 3.5 ou liboqs instalada</a:t>
            </a:r>
            <a:endParaRPr/>
          </a:p>
        </p:txBody>
      </p:sp>
      <p:sp>
        <p:nvSpPr>
          <p:cNvPr id="341" name="Google Shape;341;p17"/>
          <p:cNvSpPr txBox="1"/>
          <p:nvPr/>
        </p:nvSpPr>
        <p:spPr>
          <a:xfrm>
            <a:off x="713232" y="5295900"/>
            <a:ext cx="10771632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6,7% do total, IC 95% de 6,3 a 7,2%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347" name="Google Shape;3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8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</a:t>
            </a:r>
            <a:endParaRPr/>
          </a:p>
        </p:txBody>
      </p:sp>
      <p:sp>
        <p:nvSpPr>
          <p:cNvPr id="349" name="Google Shape;349;p18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02 · ACHADOS</a:t>
            </a:r>
            <a:endParaRPr/>
          </a:p>
        </p:txBody>
      </p:sp>
      <p:sp>
        <p:nvSpPr>
          <p:cNvPr id="350" name="Google Shape;350;p18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Hash da assinatura</a:t>
            </a:r>
            <a:endParaRPr/>
          </a:p>
        </p:txBody>
      </p:sp>
      <p:sp>
        <p:nvSpPr>
          <p:cNvPr id="351" name="Google Shape;351;p18"/>
          <p:cNvSpPr txBox="1"/>
          <p:nvPr/>
        </p:nvSpPr>
        <p:spPr>
          <a:xfrm>
            <a:off x="713232" y="148132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Nos 518.668 certificados fora do trust store.</a:t>
            </a:r>
            <a:endParaRPr/>
          </a:p>
        </p:txBody>
      </p:sp>
      <p:sp>
        <p:nvSpPr>
          <p:cNvPr id="352" name="Google Shape;352;p18"/>
          <p:cNvSpPr/>
          <p:nvPr/>
        </p:nvSpPr>
        <p:spPr>
          <a:xfrm>
            <a:off x="1021080" y="2560320"/>
            <a:ext cx="1088136" cy="292608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 txBox="1"/>
          <p:nvPr/>
        </p:nvSpPr>
        <p:spPr>
          <a:xfrm>
            <a:off x="347471" y="2121408"/>
            <a:ext cx="2435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17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213.416</a:t>
            </a:r>
            <a:endParaRPr/>
          </a:p>
        </p:txBody>
      </p:sp>
      <p:sp>
        <p:nvSpPr>
          <p:cNvPr id="354" name="Google Shape;354;p18"/>
          <p:cNvSpPr txBox="1"/>
          <p:nvPr/>
        </p:nvSpPr>
        <p:spPr>
          <a:xfrm>
            <a:off x="658368" y="5596128"/>
            <a:ext cx="1813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SHA-1</a:t>
            </a:r>
            <a:endParaRPr/>
          </a:p>
        </p:txBody>
      </p:sp>
      <p:sp>
        <p:nvSpPr>
          <p:cNvPr id="355" name="Google Shape;355;p18"/>
          <p:cNvSpPr/>
          <p:nvPr/>
        </p:nvSpPr>
        <p:spPr>
          <a:xfrm>
            <a:off x="2834639" y="2708916"/>
            <a:ext cx="1088136" cy="2777483"/>
          </a:xfrm>
          <a:prstGeom prst="rect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 txBox="1"/>
          <p:nvPr/>
        </p:nvSpPr>
        <p:spPr>
          <a:xfrm>
            <a:off x="2161032" y="2270004"/>
            <a:ext cx="2435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202.578</a:t>
            </a:r>
            <a:endParaRPr/>
          </a:p>
        </p:txBody>
      </p:sp>
      <p:sp>
        <p:nvSpPr>
          <p:cNvPr id="357" name="Google Shape;357;p18"/>
          <p:cNvSpPr txBox="1"/>
          <p:nvPr/>
        </p:nvSpPr>
        <p:spPr>
          <a:xfrm>
            <a:off x="2471928" y="5596128"/>
            <a:ext cx="1813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SHA-256</a:t>
            </a:r>
            <a:endParaRPr/>
          </a:p>
        </p:txBody>
      </p:sp>
      <p:sp>
        <p:nvSpPr>
          <p:cNvPr id="358" name="Google Shape;358;p18"/>
          <p:cNvSpPr/>
          <p:nvPr/>
        </p:nvSpPr>
        <p:spPr>
          <a:xfrm>
            <a:off x="4648200" y="4340049"/>
            <a:ext cx="1088136" cy="1146350"/>
          </a:xfrm>
          <a:prstGeom prst="rect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 txBox="1"/>
          <p:nvPr/>
        </p:nvSpPr>
        <p:spPr>
          <a:xfrm>
            <a:off x="3974592" y="3901137"/>
            <a:ext cx="2435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83.610</a:t>
            </a:r>
            <a:endParaRPr/>
          </a:p>
        </p:txBody>
      </p:sp>
      <p:sp>
        <p:nvSpPr>
          <p:cNvPr id="360" name="Google Shape;360;p18"/>
          <p:cNvSpPr txBox="1"/>
          <p:nvPr/>
        </p:nvSpPr>
        <p:spPr>
          <a:xfrm>
            <a:off x="4285488" y="5596128"/>
            <a:ext cx="1813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SHA-384</a:t>
            </a:r>
            <a:endParaRPr/>
          </a:p>
        </p:txBody>
      </p:sp>
      <p:sp>
        <p:nvSpPr>
          <p:cNvPr id="361" name="Google Shape;361;p18"/>
          <p:cNvSpPr/>
          <p:nvPr/>
        </p:nvSpPr>
        <p:spPr>
          <a:xfrm>
            <a:off x="6461760" y="5353845"/>
            <a:ext cx="1088136" cy="132554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 txBox="1"/>
          <p:nvPr/>
        </p:nvSpPr>
        <p:spPr>
          <a:xfrm>
            <a:off x="5788152" y="4914933"/>
            <a:ext cx="2435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17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9.668</a:t>
            </a:r>
            <a:endParaRPr/>
          </a:p>
        </p:txBody>
      </p:sp>
      <p:sp>
        <p:nvSpPr>
          <p:cNvPr id="363" name="Google Shape;363;p18"/>
          <p:cNvSpPr txBox="1"/>
          <p:nvPr/>
        </p:nvSpPr>
        <p:spPr>
          <a:xfrm>
            <a:off x="6099048" y="5596128"/>
            <a:ext cx="1813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MD5</a:t>
            </a:r>
            <a:endParaRPr/>
          </a:p>
        </p:txBody>
      </p:sp>
      <p:sp>
        <p:nvSpPr>
          <p:cNvPr id="364" name="Google Shape;364;p18"/>
          <p:cNvSpPr/>
          <p:nvPr/>
        </p:nvSpPr>
        <p:spPr>
          <a:xfrm>
            <a:off x="8275320" y="5363497"/>
            <a:ext cx="1088136" cy="122902"/>
          </a:xfrm>
          <a:prstGeom prst="rect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 txBox="1"/>
          <p:nvPr/>
        </p:nvSpPr>
        <p:spPr>
          <a:xfrm>
            <a:off x="7601712" y="4924585"/>
            <a:ext cx="2435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8.964</a:t>
            </a:r>
            <a:endParaRPr/>
          </a:p>
        </p:txBody>
      </p:sp>
      <p:sp>
        <p:nvSpPr>
          <p:cNvPr id="366" name="Google Shape;366;p18"/>
          <p:cNvSpPr txBox="1"/>
          <p:nvPr/>
        </p:nvSpPr>
        <p:spPr>
          <a:xfrm>
            <a:off x="7912608" y="5596128"/>
            <a:ext cx="1813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SHA-512</a:t>
            </a:r>
            <a:endParaRPr/>
          </a:p>
        </p:txBody>
      </p:sp>
      <p:sp>
        <p:nvSpPr>
          <p:cNvPr id="367" name="Google Shape;367;p18"/>
          <p:cNvSpPr txBox="1"/>
          <p:nvPr/>
        </p:nvSpPr>
        <p:spPr>
          <a:xfrm>
            <a:off x="9415272" y="5041564"/>
            <a:ext cx="2435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432</a:t>
            </a:r>
            <a:endParaRPr/>
          </a:p>
        </p:txBody>
      </p:sp>
      <p:sp>
        <p:nvSpPr>
          <p:cNvPr id="368" name="Google Shape;368;p18"/>
          <p:cNvSpPr txBox="1"/>
          <p:nvPr/>
        </p:nvSpPr>
        <p:spPr>
          <a:xfrm>
            <a:off x="9726168" y="5596128"/>
            <a:ext cx="1813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outros</a:t>
            </a:r>
            <a:endParaRPr/>
          </a:p>
        </p:txBody>
      </p:sp>
      <p:sp>
        <p:nvSpPr>
          <p:cNvPr id="369" name="Google Shape;369;p18"/>
          <p:cNvSpPr/>
          <p:nvPr/>
        </p:nvSpPr>
        <p:spPr>
          <a:xfrm>
            <a:off x="658368" y="5486400"/>
            <a:ext cx="10881360" cy="18288"/>
          </a:xfrm>
          <a:prstGeom prst="rect">
            <a:avLst/>
          </a:prstGeom>
          <a:solidFill>
            <a:srgbClr val="5A6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6309360" y="2103120"/>
            <a:ext cx="5230368" cy="2531872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C01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 txBox="1"/>
          <p:nvPr/>
        </p:nvSpPr>
        <p:spPr>
          <a:xfrm>
            <a:off x="6693408" y="2103120"/>
            <a:ext cx="4462272" cy="253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1722"/>
                </a:solidFill>
                <a:latin typeface="Space Grotesk"/>
                <a:ea typeface="Space Grotesk"/>
                <a:cs typeface="Space Grotesk"/>
                <a:sym typeface="Space Grotesk"/>
              </a:rPr>
              <a:t>43% em SHA-1 ou MD5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1722"/>
                </a:solidFill>
                <a:latin typeface="Space Grotesk"/>
                <a:ea typeface="Space Grotesk"/>
                <a:cs typeface="Space Grotesk"/>
                <a:sym typeface="Space Grotesk"/>
              </a:rPr>
              <a:t>32,3% no trust store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377" name="Google Shape;3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9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19</a:t>
            </a:r>
            <a:endParaRPr/>
          </a:p>
        </p:txBody>
      </p:sp>
      <p:sp>
        <p:nvSpPr>
          <p:cNvPr id="379" name="Google Shape;379;p19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02 · ACHADOS</a:t>
            </a:r>
            <a:endParaRPr/>
          </a:p>
        </p:txBody>
      </p:sp>
      <p:sp>
        <p:nvSpPr>
          <p:cNvPr id="380" name="Google Shape;380;p19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Tamanho das chaves RSA</a:t>
            </a:r>
            <a:endParaRPr/>
          </a:p>
        </p:txBody>
      </p:sp>
      <p:sp>
        <p:nvSpPr>
          <p:cNvPr id="381" name="Google Shape;381;p19"/>
          <p:cNvSpPr txBox="1"/>
          <p:nvPr/>
        </p:nvSpPr>
        <p:spPr>
          <a:xfrm>
            <a:off x="713232" y="148132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Das 697.123 fora do trust store, 591.617 são RSA.</a:t>
            </a: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969264" y="5122495"/>
            <a:ext cx="932688" cy="43864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/>
          <p:nvPr/>
        </p:nvSpPr>
        <p:spPr>
          <a:xfrm>
            <a:off x="347472" y="4683583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17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5.552</a:t>
            </a:r>
            <a:endParaRPr/>
          </a:p>
        </p:txBody>
      </p:sp>
      <p:sp>
        <p:nvSpPr>
          <p:cNvPr id="384" name="Google Shape;384;p19"/>
          <p:cNvSpPr txBox="1"/>
          <p:nvPr/>
        </p:nvSpPr>
        <p:spPr>
          <a:xfrm>
            <a:off x="658368" y="5276088"/>
            <a:ext cx="155448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512</a:t>
            </a:r>
            <a:endParaRPr/>
          </a:p>
        </p:txBody>
      </p:sp>
      <p:sp>
        <p:nvSpPr>
          <p:cNvPr id="385" name="Google Shape;385;p19"/>
          <p:cNvSpPr/>
          <p:nvPr/>
        </p:nvSpPr>
        <p:spPr>
          <a:xfrm>
            <a:off x="2523744" y="4901578"/>
            <a:ext cx="932688" cy="264781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 txBox="1"/>
          <p:nvPr/>
        </p:nvSpPr>
        <p:spPr>
          <a:xfrm>
            <a:off x="1901952" y="4462666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17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33.514</a:t>
            </a:r>
            <a:endParaRPr/>
          </a:p>
        </p:txBody>
      </p:sp>
      <p:sp>
        <p:nvSpPr>
          <p:cNvPr id="387" name="Google Shape;387;p19"/>
          <p:cNvSpPr txBox="1"/>
          <p:nvPr/>
        </p:nvSpPr>
        <p:spPr>
          <a:xfrm>
            <a:off x="2212848" y="5276088"/>
            <a:ext cx="155448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1024</a:t>
            </a:r>
            <a:endParaRPr/>
          </a:p>
        </p:txBody>
      </p:sp>
      <p:sp>
        <p:nvSpPr>
          <p:cNvPr id="388" name="Google Shape;388;p19"/>
          <p:cNvSpPr txBox="1"/>
          <p:nvPr/>
        </p:nvSpPr>
        <p:spPr>
          <a:xfrm>
            <a:off x="3456432" y="4714380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17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1.654</a:t>
            </a:r>
            <a:endParaRPr/>
          </a:p>
        </p:txBody>
      </p:sp>
      <p:sp>
        <p:nvSpPr>
          <p:cNvPr id="389" name="Google Shape;389;p19"/>
          <p:cNvSpPr txBox="1"/>
          <p:nvPr/>
        </p:nvSpPr>
        <p:spPr>
          <a:xfrm>
            <a:off x="3767328" y="5276088"/>
            <a:ext cx="155448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outros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&lt; 2048</a:t>
            </a:r>
            <a:endParaRPr/>
          </a:p>
        </p:txBody>
      </p:sp>
      <p:sp>
        <p:nvSpPr>
          <p:cNvPr id="390" name="Google Shape;390;p19"/>
          <p:cNvSpPr/>
          <p:nvPr/>
        </p:nvSpPr>
        <p:spPr>
          <a:xfrm>
            <a:off x="5632703" y="2560320"/>
            <a:ext cx="932688" cy="2606040"/>
          </a:xfrm>
          <a:prstGeom prst="rect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 txBox="1"/>
          <p:nvPr/>
        </p:nvSpPr>
        <p:spPr>
          <a:xfrm>
            <a:off x="5010912" y="2121408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329.853</a:t>
            </a:r>
            <a:endParaRPr/>
          </a:p>
        </p:txBody>
      </p:sp>
      <p:sp>
        <p:nvSpPr>
          <p:cNvPr id="392" name="Google Shape;392;p19"/>
          <p:cNvSpPr txBox="1"/>
          <p:nvPr/>
        </p:nvSpPr>
        <p:spPr>
          <a:xfrm>
            <a:off x="5321807" y="5276088"/>
            <a:ext cx="155448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2048</a:t>
            </a:r>
            <a:endParaRPr/>
          </a:p>
        </p:txBody>
      </p:sp>
      <p:sp>
        <p:nvSpPr>
          <p:cNvPr id="393" name="Google Shape;393;p19"/>
          <p:cNvSpPr txBox="1"/>
          <p:nvPr/>
        </p:nvSpPr>
        <p:spPr>
          <a:xfrm>
            <a:off x="6565392" y="4712792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1.855</a:t>
            </a:r>
            <a:endParaRPr/>
          </a:p>
        </p:txBody>
      </p:sp>
      <p:sp>
        <p:nvSpPr>
          <p:cNvPr id="394" name="Google Shape;394;p19"/>
          <p:cNvSpPr txBox="1"/>
          <p:nvPr/>
        </p:nvSpPr>
        <p:spPr>
          <a:xfrm>
            <a:off x="6876288" y="5276088"/>
            <a:ext cx="155448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3072</a:t>
            </a:r>
            <a:endParaRPr/>
          </a:p>
        </p:txBody>
      </p:sp>
      <p:sp>
        <p:nvSpPr>
          <p:cNvPr id="395" name="Google Shape;395;p19"/>
          <p:cNvSpPr/>
          <p:nvPr/>
        </p:nvSpPr>
        <p:spPr>
          <a:xfrm>
            <a:off x="8741664" y="3435296"/>
            <a:ext cx="932688" cy="1731063"/>
          </a:xfrm>
          <a:prstGeom prst="rect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9"/>
          <p:cNvSpPr txBox="1"/>
          <p:nvPr/>
        </p:nvSpPr>
        <p:spPr>
          <a:xfrm>
            <a:off x="8119872" y="2996384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219.105</a:t>
            </a:r>
            <a:endParaRPr/>
          </a:p>
        </p:txBody>
      </p:sp>
      <p:sp>
        <p:nvSpPr>
          <p:cNvPr id="397" name="Google Shape;397;p19"/>
          <p:cNvSpPr txBox="1"/>
          <p:nvPr/>
        </p:nvSpPr>
        <p:spPr>
          <a:xfrm>
            <a:off x="8430768" y="5276088"/>
            <a:ext cx="155448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4096</a:t>
            </a:r>
            <a:endParaRPr/>
          </a:p>
        </p:txBody>
      </p:sp>
      <p:sp>
        <p:nvSpPr>
          <p:cNvPr id="398" name="Google Shape;398;p19"/>
          <p:cNvSpPr txBox="1"/>
          <p:nvPr/>
        </p:nvSpPr>
        <p:spPr>
          <a:xfrm>
            <a:off x="9674352" y="4726784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84</a:t>
            </a:r>
            <a:endParaRPr/>
          </a:p>
        </p:txBody>
      </p:sp>
      <p:sp>
        <p:nvSpPr>
          <p:cNvPr id="399" name="Google Shape;399;p19"/>
          <p:cNvSpPr txBox="1"/>
          <p:nvPr/>
        </p:nvSpPr>
        <p:spPr>
          <a:xfrm>
            <a:off x="9985248" y="5276088"/>
            <a:ext cx="155448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outros</a:t>
            </a:r>
            <a:endParaRPr/>
          </a:p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≥ 2048</a:t>
            </a:r>
            <a:endParaRPr/>
          </a:p>
        </p:txBody>
      </p:sp>
      <p:sp>
        <p:nvSpPr>
          <p:cNvPr id="400" name="Google Shape;400;p19"/>
          <p:cNvSpPr/>
          <p:nvPr/>
        </p:nvSpPr>
        <p:spPr>
          <a:xfrm>
            <a:off x="658368" y="5166360"/>
            <a:ext cx="10881360" cy="18288"/>
          </a:xfrm>
          <a:prstGeom prst="rect">
            <a:avLst/>
          </a:prstGeom>
          <a:solidFill>
            <a:srgbClr val="5A6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713232" y="2148840"/>
            <a:ext cx="4434840" cy="1975104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C01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9"/>
          <p:cNvSpPr txBox="1"/>
          <p:nvPr/>
        </p:nvSpPr>
        <p:spPr>
          <a:xfrm>
            <a:off x="1097280" y="2148840"/>
            <a:ext cx="3666744" cy="197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1722"/>
                </a:solidFill>
                <a:latin typeface="Space Grotesk"/>
                <a:ea typeface="Space Grotesk"/>
                <a:cs typeface="Space Grotesk"/>
                <a:sym typeface="Space Grotesk"/>
              </a:rPr>
              <a:t>40.720 chaves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1722"/>
                </a:solidFill>
                <a:latin typeface="Space Grotesk"/>
                <a:ea typeface="Space Grotesk"/>
                <a:cs typeface="Space Grotesk"/>
                <a:sym typeface="Space Grotesk"/>
              </a:rPr>
              <a:t>abaixo de 2048 bits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08" name="Google Shape;4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0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endParaRPr/>
          </a:p>
        </p:txBody>
      </p:sp>
      <p:sp>
        <p:nvSpPr>
          <p:cNvPr id="410" name="Google Shape;410;p20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02 · ACHADOS</a:t>
            </a:r>
            <a:endParaRPr/>
          </a:p>
        </p:txBody>
      </p:sp>
      <p:sp>
        <p:nvSpPr>
          <p:cNvPr id="411" name="Google Shape;411;p20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Chaves RSA de 512 bits</a:t>
            </a:r>
            <a:endParaRPr/>
          </a:p>
        </p:txBody>
      </p:sp>
      <p:sp>
        <p:nvSpPr>
          <p:cNvPr id="412" name="Google Shape;412;p20"/>
          <p:cNvSpPr txBox="1"/>
          <p:nvPr/>
        </p:nvSpPr>
        <p:spPr>
          <a:xfrm>
            <a:off x="713232" y="1691640"/>
            <a:ext cx="10771632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Não é fraco na teoria: está quebrado na prática.</a:t>
            </a:r>
            <a:endParaRPr/>
          </a:p>
        </p:txBody>
      </p:sp>
      <p:sp>
        <p:nvSpPr>
          <p:cNvPr id="413" name="Google Shape;413;p20"/>
          <p:cNvSpPr txBox="1"/>
          <p:nvPr/>
        </p:nvSpPr>
        <p:spPr>
          <a:xfrm>
            <a:off x="713232" y="2501392"/>
            <a:ext cx="10771632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0" u="none" cap="none" strike="noStrike">
                <a:solidFill>
                  <a:srgbClr val="256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5.552</a:t>
            </a:r>
            <a:endParaRPr/>
          </a:p>
        </p:txBody>
      </p:sp>
      <p:sp>
        <p:nvSpPr>
          <p:cNvPr id="414" name="Google Shape;414;p20"/>
          <p:cNvSpPr txBox="1"/>
          <p:nvPr/>
        </p:nvSpPr>
        <p:spPr>
          <a:xfrm>
            <a:off x="713232" y="4136644"/>
            <a:ext cx="10771632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das 591.617 chaves RSA fora do trust store</a:t>
            </a: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713232" y="4946396"/>
            <a:ext cx="10771632" cy="8686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 txBox="1"/>
          <p:nvPr/>
        </p:nvSpPr>
        <p:spPr>
          <a:xfrm>
            <a:off x="1097280" y="5126736"/>
            <a:ext cx="1037844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1722"/>
                </a:solidFill>
                <a:latin typeface="Space Grotesk"/>
                <a:ea typeface="Space Grotesk"/>
                <a:cs typeface="Space Grotesk"/>
                <a:sym typeface="Space Grotesk"/>
              </a:rPr>
              <a:t>75 dólares de nuvem, com ferramenta pública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22" name="Google Shape;4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1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</a:t>
            </a:r>
            <a:endParaRPr/>
          </a:p>
        </p:txBody>
      </p:sp>
      <p:sp>
        <p:nvSpPr>
          <p:cNvPr id="424" name="Google Shape;424;p21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02 · ACHADOS</a:t>
            </a:r>
            <a:endParaRPr/>
          </a:p>
        </p:txBody>
      </p:sp>
      <p:sp>
        <p:nvSpPr>
          <p:cNvPr id="425" name="Google Shape;425;p21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Tokens legados na configuração</a:t>
            </a:r>
            <a:endParaRPr/>
          </a:p>
        </p:txBody>
      </p:sp>
      <p:sp>
        <p:nvSpPr>
          <p:cNvPr id="426" name="Google Shape;426;p21"/>
          <p:cNvSpPr txBox="1"/>
          <p:nvPr/>
        </p:nvSpPr>
        <p:spPr>
          <a:xfrm>
            <a:off x="713232" y="148132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Ocorrências em configuração de TLS e SSH.</a:t>
            </a:r>
            <a:endParaRPr/>
          </a:p>
        </p:txBody>
      </p:sp>
      <p:sp>
        <p:nvSpPr>
          <p:cNvPr id="427" name="Google Shape;427;p21"/>
          <p:cNvSpPr txBox="1"/>
          <p:nvPr/>
        </p:nvSpPr>
        <p:spPr>
          <a:xfrm>
            <a:off x="658368" y="1993163"/>
            <a:ext cx="2761488" cy="6542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MD5</a:t>
            </a:r>
            <a:endParaRPr/>
          </a:p>
        </p:txBody>
      </p:sp>
      <p:sp>
        <p:nvSpPr>
          <p:cNvPr id="428" name="Google Shape;428;p21"/>
          <p:cNvSpPr/>
          <p:nvPr/>
        </p:nvSpPr>
        <p:spPr>
          <a:xfrm>
            <a:off x="3584448" y="2194331"/>
            <a:ext cx="6355080" cy="251917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1"/>
          <p:cNvSpPr txBox="1"/>
          <p:nvPr/>
        </p:nvSpPr>
        <p:spPr>
          <a:xfrm>
            <a:off x="10067544" y="2084603"/>
            <a:ext cx="1645920" cy="471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4.645</a:t>
            </a:r>
            <a:endParaRPr/>
          </a:p>
        </p:txBody>
      </p:sp>
      <p:sp>
        <p:nvSpPr>
          <p:cNvPr id="430" name="Google Shape;430;p21"/>
          <p:cNvSpPr txBox="1"/>
          <p:nvPr/>
        </p:nvSpPr>
        <p:spPr>
          <a:xfrm>
            <a:off x="658368" y="2427503"/>
            <a:ext cx="2761488" cy="6542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3DES</a:t>
            </a:r>
            <a:endParaRPr/>
          </a:p>
        </p:txBody>
      </p:sp>
      <p:sp>
        <p:nvSpPr>
          <p:cNvPr id="431" name="Google Shape;431;p21"/>
          <p:cNvSpPr/>
          <p:nvPr/>
        </p:nvSpPr>
        <p:spPr>
          <a:xfrm>
            <a:off x="3584448" y="2628671"/>
            <a:ext cx="4358941" cy="251917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1"/>
          <p:cNvSpPr txBox="1"/>
          <p:nvPr/>
        </p:nvSpPr>
        <p:spPr>
          <a:xfrm>
            <a:off x="8071405" y="2518943"/>
            <a:ext cx="1645920" cy="471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3.186</a:t>
            </a:r>
            <a:endParaRPr/>
          </a:p>
        </p:txBody>
      </p:sp>
      <p:sp>
        <p:nvSpPr>
          <p:cNvPr id="433" name="Google Shape;433;p21"/>
          <p:cNvSpPr txBox="1"/>
          <p:nvPr/>
        </p:nvSpPr>
        <p:spPr>
          <a:xfrm>
            <a:off x="658368" y="2861843"/>
            <a:ext cx="2761488" cy="6542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SSL 3</a:t>
            </a:r>
            <a:endParaRPr/>
          </a:p>
        </p:txBody>
      </p:sp>
      <p:sp>
        <p:nvSpPr>
          <p:cNvPr id="434" name="Google Shape;434;p21"/>
          <p:cNvSpPr/>
          <p:nvPr/>
        </p:nvSpPr>
        <p:spPr>
          <a:xfrm>
            <a:off x="3584448" y="3063011"/>
            <a:ext cx="959076" cy="251917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1"/>
          <p:cNvSpPr txBox="1"/>
          <p:nvPr/>
        </p:nvSpPr>
        <p:spPr>
          <a:xfrm>
            <a:off x="4671540" y="2953283"/>
            <a:ext cx="1645920" cy="471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701</a:t>
            </a:r>
            <a:endParaRPr/>
          </a:p>
        </p:txBody>
      </p:sp>
      <p:sp>
        <p:nvSpPr>
          <p:cNvPr id="436" name="Google Shape;436;p21"/>
          <p:cNvSpPr txBox="1"/>
          <p:nvPr/>
        </p:nvSpPr>
        <p:spPr>
          <a:xfrm>
            <a:off x="658368" y="3296183"/>
            <a:ext cx="2761488" cy="6542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TLS 1.1</a:t>
            </a:r>
            <a:endParaRPr/>
          </a:p>
        </p:txBody>
      </p:sp>
      <p:sp>
        <p:nvSpPr>
          <p:cNvPr id="437" name="Google Shape;437;p21"/>
          <p:cNvSpPr/>
          <p:nvPr/>
        </p:nvSpPr>
        <p:spPr>
          <a:xfrm>
            <a:off x="3584448" y="3497351"/>
            <a:ext cx="653978" cy="251917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1"/>
          <p:cNvSpPr txBox="1"/>
          <p:nvPr/>
        </p:nvSpPr>
        <p:spPr>
          <a:xfrm>
            <a:off x="4366442" y="3387623"/>
            <a:ext cx="1645920" cy="471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478</a:t>
            </a:r>
            <a:endParaRPr/>
          </a:p>
        </p:txBody>
      </p:sp>
      <p:sp>
        <p:nvSpPr>
          <p:cNvPr id="439" name="Google Shape;439;p21"/>
          <p:cNvSpPr txBox="1"/>
          <p:nvPr/>
        </p:nvSpPr>
        <p:spPr>
          <a:xfrm>
            <a:off x="658368" y="3730523"/>
            <a:ext cx="2761488" cy="6542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RC4</a:t>
            </a:r>
            <a:endParaRPr/>
          </a:p>
        </p:txBody>
      </p:sp>
      <p:sp>
        <p:nvSpPr>
          <p:cNvPr id="440" name="Google Shape;440;p21"/>
          <p:cNvSpPr/>
          <p:nvPr/>
        </p:nvSpPr>
        <p:spPr>
          <a:xfrm>
            <a:off x="3584448" y="3931691"/>
            <a:ext cx="532212" cy="251917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1"/>
          <p:cNvSpPr txBox="1"/>
          <p:nvPr/>
        </p:nvSpPr>
        <p:spPr>
          <a:xfrm>
            <a:off x="4244676" y="3821963"/>
            <a:ext cx="1645920" cy="471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389</a:t>
            </a:r>
            <a:endParaRPr/>
          </a:p>
        </p:txBody>
      </p:sp>
      <p:sp>
        <p:nvSpPr>
          <p:cNvPr id="442" name="Google Shape;442;p21"/>
          <p:cNvSpPr txBox="1"/>
          <p:nvPr/>
        </p:nvSpPr>
        <p:spPr>
          <a:xfrm>
            <a:off x="658368" y="4164863"/>
            <a:ext cx="2761488" cy="6542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NULL</a:t>
            </a:r>
            <a:endParaRPr/>
          </a:p>
        </p:txBody>
      </p:sp>
      <p:sp>
        <p:nvSpPr>
          <p:cNvPr id="443" name="Google Shape;443;p21"/>
          <p:cNvSpPr/>
          <p:nvPr/>
        </p:nvSpPr>
        <p:spPr>
          <a:xfrm>
            <a:off x="3584448" y="4366031"/>
            <a:ext cx="398133" cy="251917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1"/>
          <p:cNvSpPr txBox="1"/>
          <p:nvPr/>
        </p:nvSpPr>
        <p:spPr>
          <a:xfrm>
            <a:off x="4110597" y="4256303"/>
            <a:ext cx="1645920" cy="471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291</a:t>
            </a:r>
            <a:endParaRPr/>
          </a:p>
        </p:txBody>
      </p:sp>
      <p:sp>
        <p:nvSpPr>
          <p:cNvPr id="445" name="Google Shape;445;p21"/>
          <p:cNvSpPr txBox="1"/>
          <p:nvPr/>
        </p:nvSpPr>
        <p:spPr>
          <a:xfrm>
            <a:off x="658368" y="4599203"/>
            <a:ext cx="2761488" cy="6542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DES</a:t>
            </a:r>
            <a:endParaRPr/>
          </a:p>
        </p:txBody>
      </p:sp>
      <p:sp>
        <p:nvSpPr>
          <p:cNvPr id="446" name="Google Shape;446;p21"/>
          <p:cNvSpPr/>
          <p:nvPr/>
        </p:nvSpPr>
        <p:spPr>
          <a:xfrm>
            <a:off x="3584448" y="4800371"/>
            <a:ext cx="220272" cy="251917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1"/>
          <p:cNvSpPr txBox="1"/>
          <p:nvPr/>
        </p:nvSpPr>
        <p:spPr>
          <a:xfrm>
            <a:off x="3932736" y="4690643"/>
            <a:ext cx="1645920" cy="471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161</a:t>
            </a:r>
            <a:endParaRPr/>
          </a:p>
        </p:txBody>
      </p:sp>
      <p:sp>
        <p:nvSpPr>
          <p:cNvPr id="448" name="Google Shape;448;p21"/>
          <p:cNvSpPr txBox="1"/>
          <p:nvPr/>
        </p:nvSpPr>
        <p:spPr>
          <a:xfrm>
            <a:off x="658368" y="5033543"/>
            <a:ext cx="2761488" cy="6542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SSL 2</a:t>
            </a:r>
            <a:endParaRPr/>
          </a:p>
        </p:txBody>
      </p:sp>
      <p:sp>
        <p:nvSpPr>
          <p:cNvPr id="449" name="Google Shape;449;p21"/>
          <p:cNvSpPr/>
          <p:nvPr/>
        </p:nvSpPr>
        <p:spPr>
          <a:xfrm>
            <a:off x="3584448" y="5234711"/>
            <a:ext cx="123133" cy="251917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1"/>
          <p:cNvSpPr txBox="1"/>
          <p:nvPr/>
        </p:nvSpPr>
        <p:spPr>
          <a:xfrm>
            <a:off x="3835597" y="5124983"/>
            <a:ext cx="1645920" cy="471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90</a:t>
            </a:r>
            <a:endParaRPr/>
          </a:p>
        </p:txBody>
      </p:sp>
      <p:sp>
        <p:nvSpPr>
          <p:cNvPr id="451" name="Google Shape;451;p21"/>
          <p:cNvSpPr/>
          <p:nvPr/>
        </p:nvSpPr>
        <p:spPr>
          <a:xfrm>
            <a:off x="5806440" y="4617720"/>
            <a:ext cx="5577840" cy="1975104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256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1"/>
          <p:cNvSpPr txBox="1"/>
          <p:nvPr/>
        </p:nvSpPr>
        <p:spPr>
          <a:xfrm>
            <a:off x="6190488" y="4617720"/>
            <a:ext cx="4809744" cy="197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Presença estática não prova opção ligada.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58" name="Google Shape;45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2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22</a:t>
            </a:r>
            <a:endParaRPr/>
          </a:p>
        </p:txBody>
      </p:sp>
      <p:sp>
        <p:nvSpPr>
          <p:cNvPr id="460" name="Google Shape;460;p22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02 · ACHADOS</a:t>
            </a:r>
            <a:endParaRPr/>
          </a:p>
        </p:txBody>
      </p:sp>
      <p:sp>
        <p:nvSpPr>
          <p:cNvPr id="461" name="Google Shape;461;p22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Onde estão as chaves privadas</a:t>
            </a:r>
            <a:endParaRPr/>
          </a:p>
        </p:txBody>
      </p:sp>
      <p:sp>
        <p:nvSpPr>
          <p:cNvPr id="462" name="Google Shape;462;p22"/>
          <p:cNvSpPr txBox="1"/>
          <p:nvPr/>
        </p:nvSpPr>
        <p:spPr>
          <a:xfrm>
            <a:off x="713232" y="148132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Nas 37.077 chaves privadas e de host SSH.</a:t>
            </a:r>
            <a:endParaRPr/>
          </a:p>
        </p:txBody>
      </p:sp>
      <p:sp>
        <p:nvSpPr>
          <p:cNvPr id="463" name="Google Shape;463;p22"/>
          <p:cNvSpPr txBox="1"/>
          <p:nvPr/>
        </p:nvSpPr>
        <p:spPr>
          <a:xfrm>
            <a:off x="658368" y="2026767"/>
            <a:ext cx="4133088" cy="747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biblioteca e outros</a:t>
            </a:r>
            <a:endParaRPr/>
          </a:p>
        </p:txBody>
      </p:sp>
      <p:sp>
        <p:nvSpPr>
          <p:cNvPr id="464" name="Google Shape;464;p22"/>
          <p:cNvSpPr/>
          <p:nvPr/>
        </p:nvSpPr>
        <p:spPr>
          <a:xfrm>
            <a:off x="4956048" y="2227935"/>
            <a:ext cx="5212079" cy="344728"/>
          </a:xfrm>
          <a:prstGeom prst="rect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2"/>
          <p:cNvSpPr txBox="1"/>
          <p:nvPr/>
        </p:nvSpPr>
        <p:spPr>
          <a:xfrm>
            <a:off x="10296143" y="2118207"/>
            <a:ext cx="1417320" cy="564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45,0%</a:t>
            </a:r>
            <a:endParaRPr/>
          </a:p>
        </p:txBody>
      </p:sp>
      <p:sp>
        <p:nvSpPr>
          <p:cNvPr id="466" name="Google Shape;466;p22"/>
          <p:cNvSpPr txBox="1"/>
          <p:nvPr/>
        </p:nvSpPr>
        <p:spPr>
          <a:xfrm>
            <a:off x="658368" y="2621127"/>
            <a:ext cx="4133088" cy="747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teste e exemplo</a:t>
            </a:r>
            <a:endParaRPr/>
          </a:p>
        </p:txBody>
      </p:sp>
      <p:sp>
        <p:nvSpPr>
          <p:cNvPr id="467" name="Google Shape;467;p22"/>
          <p:cNvSpPr/>
          <p:nvPr/>
        </p:nvSpPr>
        <p:spPr>
          <a:xfrm>
            <a:off x="4956048" y="2822295"/>
            <a:ext cx="5188915" cy="344728"/>
          </a:xfrm>
          <a:prstGeom prst="rect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2"/>
          <p:cNvSpPr txBox="1"/>
          <p:nvPr/>
        </p:nvSpPr>
        <p:spPr>
          <a:xfrm>
            <a:off x="10272979" y="2712567"/>
            <a:ext cx="1417320" cy="564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44,8%</a:t>
            </a:r>
            <a:endParaRPr/>
          </a:p>
        </p:txBody>
      </p:sp>
      <p:sp>
        <p:nvSpPr>
          <p:cNvPr id="469" name="Google Shape;469;p22"/>
          <p:cNvSpPr txBox="1"/>
          <p:nvPr/>
        </p:nvSpPr>
        <p:spPr>
          <a:xfrm>
            <a:off x="658368" y="3215487"/>
            <a:ext cx="4133088" cy="747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dependência de runtime</a:t>
            </a:r>
            <a:endParaRPr/>
          </a:p>
        </p:txBody>
      </p:sp>
      <p:sp>
        <p:nvSpPr>
          <p:cNvPr id="470" name="Google Shape;470;p22"/>
          <p:cNvSpPr/>
          <p:nvPr/>
        </p:nvSpPr>
        <p:spPr>
          <a:xfrm>
            <a:off x="4956048" y="3416655"/>
            <a:ext cx="787603" cy="344728"/>
          </a:xfrm>
          <a:prstGeom prst="rect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2"/>
          <p:cNvSpPr txBox="1"/>
          <p:nvPr/>
        </p:nvSpPr>
        <p:spPr>
          <a:xfrm>
            <a:off x="5871667" y="3306927"/>
            <a:ext cx="1417320" cy="564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6,8%</a:t>
            </a:r>
            <a:endParaRPr/>
          </a:p>
        </p:txBody>
      </p:sp>
      <p:sp>
        <p:nvSpPr>
          <p:cNvPr id="472" name="Google Shape;472;p22"/>
          <p:cNvSpPr txBox="1"/>
          <p:nvPr/>
        </p:nvSpPr>
        <p:spPr>
          <a:xfrm>
            <a:off x="658368" y="3809847"/>
            <a:ext cx="4133088" cy="747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chave de host SSH</a:t>
            </a:r>
            <a:endParaRPr/>
          </a:p>
        </p:txBody>
      </p:sp>
      <p:sp>
        <p:nvSpPr>
          <p:cNvPr id="473" name="Google Shape;473;p22"/>
          <p:cNvSpPr/>
          <p:nvPr/>
        </p:nvSpPr>
        <p:spPr>
          <a:xfrm>
            <a:off x="4956048" y="4011015"/>
            <a:ext cx="173735" cy="344728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2"/>
          <p:cNvSpPr txBox="1"/>
          <p:nvPr/>
        </p:nvSpPr>
        <p:spPr>
          <a:xfrm>
            <a:off x="5257800" y="3901287"/>
            <a:ext cx="1417320" cy="564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17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1,5%</a:t>
            </a:r>
            <a:endParaRPr/>
          </a:p>
        </p:txBody>
      </p:sp>
      <p:sp>
        <p:nvSpPr>
          <p:cNvPr id="475" name="Google Shape;475;p22"/>
          <p:cNvSpPr txBox="1"/>
          <p:nvPr/>
        </p:nvSpPr>
        <p:spPr>
          <a:xfrm>
            <a:off x="658368" y="4404207"/>
            <a:ext cx="4133088" cy="747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aplicação</a:t>
            </a:r>
            <a:endParaRPr/>
          </a:p>
        </p:txBody>
      </p:sp>
      <p:sp>
        <p:nvSpPr>
          <p:cNvPr id="476" name="Google Shape;476;p22"/>
          <p:cNvSpPr/>
          <p:nvPr/>
        </p:nvSpPr>
        <p:spPr>
          <a:xfrm>
            <a:off x="4956048" y="4605375"/>
            <a:ext cx="138988" cy="344728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2"/>
          <p:cNvSpPr txBox="1"/>
          <p:nvPr/>
        </p:nvSpPr>
        <p:spPr>
          <a:xfrm>
            <a:off x="5223052" y="4495647"/>
            <a:ext cx="1417320" cy="564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17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1,2%</a:t>
            </a:r>
            <a:endParaRPr/>
          </a:p>
        </p:txBody>
      </p:sp>
      <p:sp>
        <p:nvSpPr>
          <p:cNvPr id="478" name="Google Shape;478;p22"/>
          <p:cNvSpPr txBox="1"/>
          <p:nvPr/>
        </p:nvSpPr>
        <p:spPr>
          <a:xfrm>
            <a:off x="658368" y="4998567"/>
            <a:ext cx="4133088" cy="747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TLS do sistema</a:t>
            </a:r>
            <a:endParaRPr/>
          </a:p>
        </p:txBody>
      </p:sp>
      <p:sp>
        <p:nvSpPr>
          <p:cNvPr id="479" name="Google Shape;479;p22"/>
          <p:cNvSpPr/>
          <p:nvPr/>
        </p:nvSpPr>
        <p:spPr>
          <a:xfrm>
            <a:off x="4956048" y="5199735"/>
            <a:ext cx="92659" cy="344728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2"/>
          <p:cNvSpPr txBox="1"/>
          <p:nvPr/>
        </p:nvSpPr>
        <p:spPr>
          <a:xfrm>
            <a:off x="5176723" y="5090007"/>
            <a:ext cx="1417320" cy="564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17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0,8%</a:t>
            </a:r>
            <a:endParaRPr/>
          </a:p>
        </p:txBody>
      </p:sp>
      <p:sp>
        <p:nvSpPr>
          <p:cNvPr id="481" name="Google Shape;481;p22"/>
          <p:cNvSpPr/>
          <p:nvPr/>
        </p:nvSpPr>
        <p:spPr>
          <a:xfrm>
            <a:off x="6949440" y="3977639"/>
            <a:ext cx="4846320" cy="14183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C01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2"/>
          <p:cNvSpPr txBox="1"/>
          <p:nvPr/>
        </p:nvSpPr>
        <p:spPr>
          <a:xfrm>
            <a:off x="7333488" y="3977639"/>
            <a:ext cx="4078224" cy="1418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1722"/>
                </a:solidFill>
                <a:latin typeface="Space Grotesk"/>
                <a:ea typeface="Space Grotesk"/>
                <a:cs typeface="Space Grotesk"/>
                <a:sym typeface="Space Grotesk"/>
              </a:rPr>
              <a:t>3,5% em caminho operacional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88" name="Google Shape;48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23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23</a:t>
            </a:r>
            <a:endParaRPr/>
          </a:p>
        </p:txBody>
      </p:sp>
      <p:sp>
        <p:nvSpPr>
          <p:cNvPr id="490" name="Google Shape;490;p23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02 · ACHADOS</a:t>
            </a:r>
            <a:endParaRPr/>
          </a:p>
        </p:txBody>
      </p:sp>
      <p:sp>
        <p:nvSpPr>
          <p:cNvPr id="491" name="Google Shape;491;p23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Reuso de chave entre imagens</a:t>
            </a:r>
            <a:endParaRPr/>
          </a:p>
        </p:txBody>
      </p:sp>
      <p:sp>
        <p:nvSpPr>
          <p:cNvPr id="492" name="Google Shape;492;p23"/>
          <p:cNvSpPr/>
          <p:nvPr/>
        </p:nvSpPr>
        <p:spPr>
          <a:xfrm>
            <a:off x="502920" y="1645920"/>
            <a:ext cx="11201400" cy="1115568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3"/>
          <p:cNvSpPr txBox="1"/>
          <p:nvPr/>
        </p:nvSpPr>
        <p:spPr>
          <a:xfrm>
            <a:off x="822960" y="1828800"/>
            <a:ext cx="21031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256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7.141</a:t>
            </a:r>
            <a:endParaRPr/>
          </a:p>
        </p:txBody>
      </p:sp>
      <p:sp>
        <p:nvSpPr>
          <p:cNvPr id="494" name="Google Shape;494;p23"/>
          <p:cNvSpPr txBox="1"/>
          <p:nvPr/>
        </p:nvSpPr>
        <p:spPr>
          <a:xfrm>
            <a:off x="3108960" y="177393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Fora do trust store</a:t>
            </a:r>
            <a:endParaRPr/>
          </a:p>
        </p:txBody>
      </p:sp>
      <p:sp>
        <p:nvSpPr>
          <p:cNvPr id="495" name="Google Shape;495;p23"/>
          <p:cNvSpPr txBox="1"/>
          <p:nvPr/>
        </p:nvSpPr>
        <p:spPr>
          <a:xfrm>
            <a:off x="3108960" y="2267712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fingerprints distintos</a:t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502920" y="2889504"/>
            <a:ext cx="11201400" cy="1115568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3"/>
          <p:cNvSpPr txBox="1"/>
          <p:nvPr/>
        </p:nvSpPr>
        <p:spPr>
          <a:xfrm>
            <a:off x="822960" y="3072384"/>
            <a:ext cx="21031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256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2.412</a:t>
            </a:r>
            <a:endParaRPr/>
          </a:p>
        </p:txBody>
      </p:sp>
      <p:sp>
        <p:nvSpPr>
          <p:cNvPr id="498" name="Google Shape;498;p23"/>
          <p:cNvSpPr txBox="1"/>
          <p:nvPr/>
        </p:nvSpPr>
        <p:spPr>
          <a:xfrm>
            <a:off x="3108960" y="3017520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Repetem em outra imagem</a:t>
            </a:r>
            <a:endParaRPr/>
          </a:p>
        </p:txBody>
      </p:sp>
      <p:sp>
        <p:nvSpPr>
          <p:cNvPr id="499" name="Google Shape;499;p23"/>
          <p:cNvSpPr txBox="1"/>
          <p:nvPr/>
        </p:nvSpPr>
        <p:spPr>
          <a:xfrm>
            <a:off x="3108960" y="3511296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por herança de imagem base</a:t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502920" y="4133088"/>
            <a:ext cx="11201400" cy="1115568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3"/>
          <p:cNvSpPr txBox="1"/>
          <p:nvPr/>
        </p:nvSpPr>
        <p:spPr>
          <a:xfrm>
            <a:off x="822960" y="4315968"/>
            <a:ext cx="21031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C017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36</a:t>
            </a:r>
            <a:endParaRPr/>
          </a:p>
        </p:txBody>
      </p:sp>
      <p:sp>
        <p:nvSpPr>
          <p:cNvPr id="502" name="Google Shape;502;p23"/>
          <p:cNvSpPr txBox="1"/>
          <p:nvPr/>
        </p:nvSpPr>
        <p:spPr>
          <a:xfrm>
            <a:off x="3108960" y="4261104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Só em caminho operacional</a:t>
            </a:r>
            <a:endParaRPr/>
          </a:p>
        </p:txBody>
      </p:sp>
      <p:sp>
        <p:nvSpPr>
          <p:cNvPr id="503" name="Google Shape;503;p23"/>
          <p:cNvSpPr txBox="1"/>
          <p:nvPr/>
        </p:nvSpPr>
        <p:spPr>
          <a:xfrm>
            <a:off x="3108960" y="4754880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chaves privadas que se repetem</a:t>
            </a:r>
            <a:endParaRPr/>
          </a:p>
        </p:txBody>
      </p:sp>
      <p:sp>
        <p:nvSpPr>
          <p:cNvPr id="504" name="Google Shape;504;p23"/>
          <p:cNvSpPr/>
          <p:nvPr/>
        </p:nvSpPr>
        <p:spPr>
          <a:xfrm>
            <a:off x="484632" y="5376672"/>
            <a:ext cx="11247120" cy="786384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3"/>
          <p:cNvSpPr txBox="1"/>
          <p:nvPr/>
        </p:nvSpPr>
        <p:spPr>
          <a:xfrm>
            <a:off x="868680" y="548640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As duas mais repetidas assinam pacote do Alpine.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511" name="Google Shape;5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4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24</a:t>
            </a:r>
            <a:endParaRPr/>
          </a:p>
        </p:txBody>
      </p:sp>
      <p:sp>
        <p:nvSpPr>
          <p:cNvPr id="513" name="Google Shape;513;p24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02 · ACHADOS</a:t>
            </a:r>
            <a:endParaRPr/>
          </a:p>
        </p:txBody>
      </p:sp>
      <p:sp>
        <p:nvSpPr>
          <p:cNvPr id="514" name="Google Shape;514;p24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Limitações</a:t>
            </a:r>
            <a:endParaRPr/>
          </a:p>
        </p:txBody>
      </p:sp>
      <p:sp>
        <p:nvSpPr>
          <p:cNvPr id="515" name="Google Shape;515;p24"/>
          <p:cNvSpPr/>
          <p:nvPr/>
        </p:nvSpPr>
        <p:spPr>
          <a:xfrm>
            <a:off x="713232" y="211226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4"/>
          <p:cNvSpPr txBox="1"/>
          <p:nvPr/>
        </p:nvSpPr>
        <p:spPr>
          <a:xfrm>
            <a:off x="1133856" y="1965960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Só arquivo estático, só linux/amd64</a:t>
            </a:r>
            <a:endParaRPr/>
          </a:p>
        </p:txBody>
      </p:sp>
      <p:sp>
        <p:nvSpPr>
          <p:cNvPr id="517" name="Google Shape;517;p24"/>
          <p:cNvSpPr/>
          <p:nvPr/>
        </p:nvSpPr>
        <p:spPr>
          <a:xfrm>
            <a:off x="713232" y="316382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4"/>
          <p:cNvSpPr txBox="1"/>
          <p:nvPr/>
        </p:nvSpPr>
        <p:spPr>
          <a:xfrm>
            <a:off x="1133856" y="3017520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Biblioteca só por dpkg e apk: 801 é limite inferior</a:t>
            </a:r>
            <a:endParaRPr/>
          </a:p>
        </p:txBody>
      </p:sp>
      <p:sp>
        <p:nvSpPr>
          <p:cNvPr id="519" name="Google Shape;519;p24"/>
          <p:cNvSpPr/>
          <p:nvPr/>
        </p:nvSpPr>
        <p:spPr>
          <a:xfrm>
            <a:off x="713232" y="421538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4"/>
          <p:cNvSpPr txBox="1"/>
          <p:nvPr/>
        </p:nvSpPr>
        <p:spPr>
          <a:xfrm>
            <a:off x="1133856" y="4069080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Uma medição única: nível, não tendência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bseg2026_rodape_branco.png" id="527" name="Google Shape;52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5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25</a:t>
            </a:r>
            <a:endParaRPr/>
          </a:p>
        </p:txBody>
      </p:sp>
      <p:sp>
        <p:nvSpPr>
          <p:cNvPr id="529" name="Google Shape;529;p25"/>
          <p:cNvSpPr/>
          <p:nvPr/>
        </p:nvSpPr>
        <p:spPr>
          <a:xfrm>
            <a:off x="4224528" y="868680"/>
            <a:ext cx="7589520" cy="51206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07_entrega_justo.jpg" id="530" name="Google Shape;53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0" y="1982839"/>
            <a:ext cx="7077456" cy="2892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25"/>
          <p:cNvSpPr txBox="1"/>
          <p:nvPr/>
        </p:nvSpPr>
        <p:spPr>
          <a:xfrm>
            <a:off x="749808" y="1207008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/>
          </a:p>
        </p:txBody>
      </p:sp>
      <p:sp>
        <p:nvSpPr>
          <p:cNvPr id="532" name="Google Shape;532;p25"/>
          <p:cNvSpPr txBox="1"/>
          <p:nvPr/>
        </p:nvSpPr>
        <p:spPr>
          <a:xfrm>
            <a:off x="749808" y="2615184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Conclusões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538" name="Google Shape;5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26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</a:t>
            </a:r>
            <a:endParaRPr/>
          </a:p>
        </p:txBody>
      </p:sp>
      <p:sp>
        <p:nvSpPr>
          <p:cNvPr id="540" name="Google Shape;540;p26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03 · CONCLUSÕES</a:t>
            </a:r>
            <a:endParaRPr/>
          </a:p>
        </p:txBody>
      </p:sp>
      <p:sp>
        <p:nvSpPr>
          <p:cNvPr id="541" name="Google Shape;541;p26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Recomendações</a:t>
            </a:r>
            <a:endParaRPr/>
          </a:p>
        </p:txBody>
      </p:sp>
      <p:sp>
        <p:nvSpPr>
          <p:cNvPr id="542" name="Google Shape;542;p26"/>
          <p:cNvSpPr/>
          <p:nvPr/>
        </p:nvSpPr>
        <p:spPr>
          <a:xfrm>
            <a:off x="713232" y="2724912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6"/>
          <p:cNvSpPr txBox="1"/>
          <p:nvPr/>
        </p:nvSpPr>
        <p:spPr>
          <a:xfrm>
            <a:off x="1133856" y="2578608"/>
            <a:ext cx="104607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Chave gerada na implantação, não na imagem</a:t>
            </a:r>
            <a:endParaRPr/>
          </a:p>
        </p:txBody>
      </p:sp>
      <p:sp>
        <p:nvSpPr>
          <p:cNvPr id="544" name="Google Shape;544;p26"/>
          <p:cNvSpPr/>
          <p:nvPr/>
        </p:nvSpPr>
        <p:spPr>
          <a:xfrm>
            <a:off x="713232" y="3776472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6"/>
          <p:cNvSpPr txBox="1"/>
          <p:nvPr/>
        </p:nvSpPr>
        <p:spPr>
          <a:xfrm>
            <a:off x="1133856" y="3630168"/>
            <a:ext cx="104607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Build rejeita RSA &lt; 2048 e SHA-1 ou MD5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551" name="Google Shape;5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7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27</a:t>
            </a:r>
            <a:endParaRPr/>
          </a:p>
        </p:txBody>
      </p:sp>
      <p:sp>
        <p:nvSpPr>
          <p:cNvPr id="553" name="Google Shape;553;p27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03 · CONCLUSÕES</a:t>
            </a:r>
            <a:endParaRPr/>
          </a:p>
        </p:txBody>
      </p:sp>
      <p:sp>
        <p:nvSpPr>
          <p:cNvPr id="554" name="Google Shape;554;p27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Migração pós-quântica</a:t>
            </a:r>
            <a:endParaRPr/>
          </a:p>
        </p:txBody>
      </p:sp>
      <p:sp>
        <p:nvSpPr>
          <p:cNvPr id="555" name="Google Shape;555;p27"/>
          <p:cNvSpPr txBox="1"/>
          <p:nvPr/>
        </p:nvSpPr>
        <p:spPr>
          <a:xfrm>
            <a:off x="713232" y="148132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Ter a biblioteca instalada não é ter migrado.</a:t>
            </a:r>
            <a:endParaRPr/>
          </a:p>
        </p:txBody>
      </p:sp>
      <p:sp>
        <p:nvSpPr>
          <p:cNvPr id="556" name="Google Shape;556;p27"/>
          <p:cNvSpPr/>
          <p:nvPr/>
        </p:nvSpPr>
        <p:spPr>
          <a:xfrm>
            <a:off x="713232" y="238658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7"/>
          <p:cNvSpPr txBox="1"/>
          <p:nvPr/>
        </p:nvSpPr>
        <p:spPr>
          <a:xfrm>
            <a:off x="1133856" y="2240280"/>
            <a:ext cx="104607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Configurar o protocolo para negociar pós-quântico</a:t>
            </a:r>
            <a:endParaRPr/>
          </a:p>
        </p:txBody>
      </p:sp>
      <p:sp>
        <p:nvSpPr>
          <p:cNvPr id="558" name="Google Shape;558;p27"/>
          <p:cNvSpPr/>
          <p:nvPr/>
        </p:nvSpPr>
        <p:spPr>
          <a:xfrm>
            <a:off x="713232" y="339242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7"/>
          <p:cNvSpPr txBox="1"/>
          <p:nvPr/>
        </p:nvSpPr>
        <p:spPr>
          <a:xfrm>
            <a:off x="1133856" y="3246120"/>
            <a:ext cx="104607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Provisionar chave ou certificado pós-quântico</a:t>
            </a:r>
            <a:endParaRPr/>
          </a:p>
        </p:txBody>
      </p:sp>
      <p:sp>
        <p:nvSpPr>
          <p:cNvPr id="560" name="Google Shape;560;p27"/>
          <p:cNvSpPr/>
          <p:nvPr/>
        </p:nvSpPr>
        <p:spPr>
          <a:xfrm>
            <a:off x="713232" y="439826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7"/>
          <p:cNvSpPr txBox="1"/>
          <p:nvPr/>
        </p:nvSpPr>
        <p:spPr>
          <a:xfrm>
            <a:off x="1133856" y="4251960"/>
            <a:ext cx="104607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Testar a negociação em execução</a:t>
            </a:r>
            <a:endParaRPr/>
          </a:p>
        </p:txBody>
      </p:sp>
      <p:sp>
        <p:nvSpPr>
          <p:cNvPr id="562" name="Google Shape;562;p27"/>
          <p:cNvSpPr/>
          <p:nvPr/>
        </p:nvSpPr>
        <p:spPr>
          <a:xfrm>
            <a:off x="484632" y="5349240"/>
            <a:ext cx="11247120" cy="786384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7"/>
          <p:cNvSpPr txBox="1"/>
          <p:nvPr/>
        </p:nvSpPr>
        <p:spPr>
          <a:xfrm>
            <a:off x="868680" y="5458968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As 801 pararam no primeiro passo.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569" name="Google Shape;56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28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28</a:t>
            </a:r>
            <a:endParaRPr/>
          </a:p>
        </p:txBody>
      </p:sp>
      <p:sp>
        <p:nvSpPr>
          <p:cNvPr id="571" name="Google Shape;571;p28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03 · CONCLUSÕES</a:t>
            </a:r>
            <a:endParaRPr/>
          </a:p>
        </p:txBody>
      </p:sp>
      <p:sp>
        <p:nvSpPr>
          <p:cNvPr id="572" name="Google Shape;572;p28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Contribuição</a:t>
            </a:r>
            <a:endParaRPr/>
          </a:p>
        </p:txBody>
      </p:sp>
      <p:sp>
        <p:nvSpPr>
          <p:cNvPr id="573" name="Google Shape;573;p28"/>
          <p:cNvSpPr/>
          <p:nvPr/>
        </p:nvSpPr>
        <p:spPr>
          <a:xfrm>
            <a:off x="713232" y="247802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8"/>
          <p:cNvSpPr txBox="1"/>
          <p:nvPr/>
        </p:nvSpPr>
        <p:spPr>
          <a:xfrm>
            <a:off x="1133856" y="2331720"/>
            <a:ext cx="104607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Censo atual da postura criptográfica do Docker Hub</a:t>
            </a:r>
            <a:endParaRPr/>
          </a:p>
        </p:txBody>
      </p:sp>
      <p:sp>
        <p:nvSpPr>
          <p:cNvPr id="575" name="Google Shape;575;p28"/>
          <p:cNvSpPr/>
          <p:nvPr/>
        </p:nvSpPr>
        <p:spPr>
          <a:xfrm>
            <a:off x="713232" y="352958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8"/>
          <p:cNvSpPr txBox="1"/>
          <p:nvPr/>
        </p:nvSpPr>
        <p:spPr>
          <a:xfrm>
            <a:off x="1133856" y="3383280"/>
            <a:ext cx="104607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Nenhum pós-quântico, nem nas 801 com biblioteca</a:t>
            </a:r>
            <a:endParaRPr/>
          </a:p>
        </p:txBody>
      </p:sp>
      <p:sp>
        <p:nvSpPr>
          <p:cNvPr id="577" name="Google Shape;577;p28"/>
          <p:cNvSpPr/>
          <p:nvPr/>
        </p:nvSpPr>
        <p:spPr>
          <a:xfrm>
            <a:off x="713232" y="458114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8"/>
          <p:cNvSpPr txBox="1"/>
          <p:nvPr/>
        </p:nvSpPr>
        <p:spPr>
          <a:xfrm>
            <a:off x="1133856" y="4434840"/>
            <a:ext cx="1046073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Pipeline e dados abertos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584" name="Google Shape;58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29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29</a:t>
            </a:r>
            <a:endParaRPr/>
          </a:p>
        </p:txBody>
      </p:sp>
      <p:pic>
        <p:nvPicPr>
          <p:cNvPr descr="disponiveis.png" id="586" name="Google Shape;58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2" y="2148840"/>
            <a:ext cx="2697480" cy="2697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uncionais.png" id="587" name="Google Shape;58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1042" y="2148840"/>
            <a:ext cx="2697480" cy="2697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stentaveis.png" id="588" name="Google Shape;58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83172" y="2148840"/>
            <a:ext cx="2697480" cy="2697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produziveis.png" id="589" name="Google Shape;589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55303" y="2148840"/>
            <a:ext cx="2697480" cy="2697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08_fecho.jpg" id="595" name="Google Shape;59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2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_rodape.png" id="596" name="Google Shape;59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0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</a:t>
            </a:r>
            <a:endParaRPr/>
          </a:p>
        </p:txBody>
      </p:sp>
      <p:sp>
        <p:nvSpPr>
          <p:cNvPr id="598" name="Google Shape;598;p30"/>
          <p:cNvSpPr txBox="1"/>
          <p:nvPr/>
        </p:nvSpPr>
        <p:spPr>
          <a:xfrm>
            <a:off x="713232" y="960120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Obrigado!</a:t>
            </a:r>
            <a:endParaRPr/>
          </a:p>
        </p:txBody>
      </p:sp>
      <p:sp>
        <p:nvSpPr>
          <p:cNvPr id="599" name="Google Shape;599;p30"/>
          <p:cNvSpPr txBox="1"/>
          <p:nvPr/>
        </p:nvSpPr>
        <p:spPr>
          <a:xfrm>
            <a:off x="713232" y="1810512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Perguntas são bem-vindas</a:t>
            </a:r>
            <a:endParaRPr/>
          </a:p>
        </p:txBody>
      </p:sp>
      <p:sp>
        <p:nvSpPr>
          <p:cNvPr id="600" name="Google Shape;600;p30"/>
          <p:cNvSpPr txBox="1"/>
          <p:nvPr/>
        </p:nvSpPr>
        <p:spPr>
          <a:xfrm>
            <a:off x="713232" y="2359152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Cristhian Kapelinski</a:t>
            </a:r>
            <a:endParaRPr/>
          </a:p>
        </p:txBody>
      </p:sp>
      <p:sp>
        <p:nvSpPr>
          <p:cNvPr id="601" name="Google Shape;601;p30"/>
          <p:cNvSpPr txBox="1"/>
          <p:nvPr/>
        </p:nvSpPr>
        <p:spPr>
          <a:xfrm>
            <a:off x="713232" y="2944368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cristhianavila.aluno@unipampa.edu.br</a:t>
            </a:r>
            <a:endParaRPr/>
          </a:p>
        </p:txBody>
      </p:sp>
      <p:pic>
        <p:nvPicPr>
          <p:cNvPr descr="aihorizonlabs.png" id="602" name="Google Shape;60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49440" y="2368296"/>
            <a:ext cx="1945538" cy="475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603" name="Google Shape;603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8320" y="2295144"/>
            <a:ext cx="94420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tefato.png" id="604" name="Google Shape;604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8096" y="3950208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30"/>
          <p:cNvSpPr txBox="1"/>
          <p:nvPr/>
        </p:nvSpPr>
        <p:spPr>
          <a:xfrm>
            <a:off x="219456" y="50292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Artefato</a:t>
            </a:r>
            <a:endParaRPr/>
          </a:p>
        </p:txBody>
      </p:sp>
      <p:pic>
        <p:nvPicPr>
          <p:cNvPr descr="lab.png" id="606" name="Google Shape;606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26080" y="3950208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30"/>
          <p:cNvSpPr txBox="1"/>
          <p:nvPr/>
        </p:nvSpPr>
        <p:spPr>
          <a:xfrm>
            <a:off x="2377440" y="50292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0"/>
          <p:cNvSpPr txBox="1"/>
          <p:nvPr/>
        </p:nvSpPr>
        <p:spPr>
          <a:xfrm>
            <a:off x="2130552" y="502920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Laboratório</a:t>
            </a:r>
            <a:endParaRPr/>
          </a:p>
        </p:txBody>
      </p:sp>
      <p:sp>
        <p:nvSpPr>
          <p:cNvPr id="609" name="Google Shape;609;p30"/>
          <p:cNvSpPr/>
          <p:nvPr/>
        </p:nvSpPr>
        <p:spPr>
          <a:xfrm>
            <a:off x="621792" y="5504688"/>
            <a:ext cx="5138928" cy="658368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0"/>
          <p:cNvSpPr txBox="1"/>
          <p:nvPr/>
        </p:nvSpPr>
        <p:spPr>
          <a:xfrm>
            <a:off x="841248" y="5623560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Apoio</a:t>
            </a:r>
            <a:endParaRPr/>
          </a:p>
        </p:txBody>
      </p:sp>
      <p:pic>
        <p:nvPicPr>
          <p:cNvPr descr="capes.png" id="611" name="Google Shape;611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21992" y="5689840"/>
            <a:ext cx="383334" cy="288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npq.png" id="612" name="Google Shape;612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78478" y="5689840"/>
            <a:ext cx="956587" cy="288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pergs.png" id="613" name="Google Shape;613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08218" y="5689840"/>
            <a:ext cx="1851333" cy="288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r_CryptoCensus.png" id="614" name="Google Shape;614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084064" y="3950208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0"/>
          <p:cNvSpPr txBox="1"/>
          <p:nvPr/>
        </p:nvSpPr>
        <p:spPr>
          <a:xfrm>
            <a:off x="4535424" y="50292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Artigo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621" name="Google Shape;62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31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31</a:t>
            </a:r>
            <a:endParaRPr/>
          </a:p>
        </p:txBody>
      </p:sp>
      <p:sp>
        <p:nvSpPr>
          <p:cNvPr id="623" name="Google Shape;623;p31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/>
          </a:p>
        </p:txBody>
      </p:sp>
      <p:sp>
        <p:nvSpPr>
          <p:cNvPr id="624" name="Google Shape;624;p31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Primo compartilhado entre módulos</a:t>
            </a:r>
            <a:endParaRPr/>
          </a:p>
        </p:txBody>
      </p:sp>
      <p:sp>
        <p:nvSpPr>
          <p:cNvPr id="625" name="Google Shape;625;p31"/>
          <p:cNvSpPr txBox="1"/>
          <p:nvPr/>
        </p:nvSpPr>
        <p:spPr>
          <a:xfrm>
            <a:off x="713232" y="148132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Compara todo par de módulos RSA de uma vez.</a:t>
            </a:r>
            <a:endParaRPr/>
          </a:p>
        </p:txBody>
      </p:sp>
      <p:sp>
        <p:nvSpPr>
          <p:cNvPr id="626" name="Google Shape;626;p31"/>
          <p:cNvSpPr txBox="1"/>
          <p:nvPr/>
        </p:nvSpPr>
        <p:spPr>
          <a:xfrm>
            <a:off x="713232" y="2514600"/>
            <a:ext cx="5257800" cy="942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Fora do trust store, o corpo do teste tem</a:t>
            </a:r>
            <a:endParaRPr/>
          </a:p>
        </p:txBody>
      </p:sp>
      <p:sp>
        <p:nvSpPr>
          <p:cNvPr id="627" name="Google Shape;627;p31"/>
          <p:cNvSpPr txBox="1"/>
          <p:nvPr/>
        </p:nvSpPr>
        <p:spPr>
          <a:xfrm>
            <a:off x="713232" y="3622040"/>
            <a:ext cx="5257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256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6.116</a:t>
            </a:r>
            <a:endParaRPr/>
          </a:p>
        </p:txBody>
      </p:sp>
      <p:sp>
        <p:nvSpPr>
          <p:cNvPr id="628" name="Google Shape;628;p31"/>
          <p:cNvSpPr txBox="1"/>
          <p:nvPr/>
        </p:nvSpPr>
        <p:spPr>
          <a:xfrm>
            <a:off x="713232" y="4371848"/>
            <a:ext cx="5257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módulos RSA distintos</a:t>
            </a:r>
            <a:endParaRPr/>
          </a:p>
        </p:txBody>
      </p:sp>
      <p:sp>
        <p:nvSpPr>
          <p:cNvPr id="629" name="Google Shape;629;p31"/>
          <p:cNvSpPr txBox="1"/>
          <p:nvPr/>
        </p:nvSpPr>
        <p:spPr>
          <a:xfrm>
            <a:off x="6291072" y="2514600"/>
            <a:ext cx="5257800" cy="942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Compartilham um primo e são recuperáveis</a:t>
            </a:r>
            <a:endParaRPr/>
          </a:p>
        </p:txBody>
      </p:sp>
      <p:sp>
        <p:nvSpPr>
          <p:cNvPr id="630" name="Google Shape;630;p31"/>
          <p:cNvSpPr txBox="1"/>
          <p:nvPr/>
        </p:nvSpPr>
        <p:spPr>
          <a:xfrm>
            <a:off x="6291072" y="3622040"/>
            <a:ext cx="5257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C017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/>
          </a:p>
        </p:txBody>
      </p:sp>
      <p:sp>
        <p:nvSpPr>
          <p:cNvPr id="631" name="Google Shape;631;p31"/>
          <p:cNvSpPr txBox="1"/>
          <p:nvPr/>
        </p:nvSpPr>
        <p:spPr>
          <a:xfrm>
            <a:off x="6291072" y="4371848"/>
            <a:ext cx="5257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módulos, ou 0,065%</a:t>
            </a:r>
            <a:endParaRPr/>
          </a:p>
        </p:txBody>
      </p:sp>
      <p:sp>
        <p:nvSpPr>
          <p:cNvPr id="632" name="Google Shape;632;p31"/>
          <p:cNvSpPr/>
          <p:nvPr/>
        </p:nvSpPr>
        <p:spPr>
          <a:xfrm>
            <a:off x="484632" y="5120640"/>
            <a:ext cx="11247120" cy="960120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1"/>
          <p:cNvSpPr txBox="1"/>
          <p:nvPr/>
        </p:nvSpPr>
        <p:spPr>
          <a:xfrm>
            <a:off x="868680" y="5230368"/>
            <a:ext cx="10515600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Um primo comum recupera os dois módulos.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639" name="Google Shape;63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32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32</a:t>
            </a:r>
            <a:endParaRPr/>
          </a:p>
        </p:txBody>
      </p:sp>
      <p:sp>
        <p:nvSpPr>
          <p:cNvPr id="641" name="Google Shape;641;p32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/>
          </a:p>
        </p:txBody>
      </p:sp>
      <p:sp>
        <p:nvSpPr>
          <p:cNvPr id="642" name="Google Shape;642;p32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Como a taxa se compara</a:t>
            </a:r>
            <a:endParaRPr/>
          </a:p>
        </p:txBody>
      </p:sp>
      <p:sp>
        <p:nvSpPr>
          <p:cNvPr id="643" name="Google Shape;643;p32"/>
          <p:cNvSpPr txBox="1"/>
          <p:nvPr/>
        </p:nvSpPr>
        <p:spPr>
          <a:xfrm>
            <a:off x="777240" y="237744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0,50%</a:t>
            </a:r>
            <a:endParaRPr/>
          </a:p>
        </p:txBody>
      </p:sp>
      <p:sp>
        <p:nvSpPr>
          <p:cNvPr id="644" name="Google Shape;644;p32"/>
          <p:cNvSpPr txBox="1"/>
          <p:nvPr/>
        </p:nvSpPr>
        <p:spPr>
          <a:xfrm>
            <a:off x="3246120" y="237744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dos hosts TLS da Internet (Heninger, 2012)</a:t>
            </a:r>
            <a:endParaRPr/>
          </a:p>
        </p:txBody>
      </p:sp>
      <p:sp>
        <p:nvSpPr>
          <p:cNvPr id="645" name="Google Shape;645;p32"/>
          <p:cNvSpPr txBox="1"/>
          <p:nvPr/>
        </p:nvSpPr>
        <p:spPr>
          <a:xfrm>
            <a:off x="777240" y="324612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17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0,065%</a:t>
            </a:r>
            <a:endParaRPr/>
          </a:p>
        </p:txBody>
      </p:sp>
      <p:sp>
        <p:nvSpPr>
          <p:cNvPr id="646" name="Google Shape;646;p32"/>
          <p:cNvSpPr txBox="1"/>
          <p:nvPr/>
        </p:nvSpPr>
        <p:spPr>
          <a:xfrm>
            <a:off x="3246120" y="324612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dos módulos deste censo</a:t>
            </a:r>
            <a:endParaRPr/>
          </a:p>
        </p:txBody>
      </p:sp>
      <p:sp>
        <p:nvSpPr>
          <p:cNvPr id="647" name="Google Shape;647;p32"/>
          <p:cNvSpPr txBox="1"/>
          <p:nvPr/>
        </p:nvSpPr>
        <p:spPr>
          <a:xfrm>
            <a:off x="777240" y="411480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0,00056%</a:t>
            </a:r>
            <a:endParaRPr/>
          </a:p>
        </p:txBody>
      </p:sp>
      <p:sp>
        <p:nvSpPr>
          <p:cNvPr id="648" name="Google Shape;648;p32"/>
          <p:cNvSpPr txBox="1"/>
          <p:nvPr/>
        </p:nvSpPr>
        <p:spPr>
          <a:xfrm>
            <a:off x="3246120" y="411480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das chaves SSH de desenvolvedores (Baumer, 2025)</a:t>
            </a:r>
            <a:endParaRPr/>
          </a:p>
        </p:txBody>
      </p:sp>
      <p:sp>
        <p:nvSpPr>
          <p:cNvPr id="649" name="Google Shape;649;p32"/>
          <p:cNvSpPr/>
          <p:nvPr/>
        </p:nvSpPr>
        <p:spPr>
          <a:xfrm>
            <a:off x="484632" y="4937760"/>
            <a:ext cx="11247120" cy="1217168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2"/>
          <p:cNvSpPr txBox="1"/>
          <p:nvPr/>
        </p:nvSpPr>
        <p:spPr>
          <a:xfrm>
            <a:off x="868680" y="5047488"/>
            <a:ext cx="10515600" cy="997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Só esse modo de falha, e só neste corpo.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Chave de baixa entropia fica de fora.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656" name="Google Shape;65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33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33</a:t>
            </a:r>
            <a:endParaRPr/>
          </a:p>
        </p:txBody>
      </p:sp>
      <p:sp>
        <p:nvSpPr>
          <p:cNvPr id="658" name="Google Shape;658;p33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/>
          </a:p>
        </p:txBody>
      </p:sp>
      <p:sp>
        <p:nvSpPr>
          <p:cNvPr id="659" name="Google Shape;659;p33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Comparação com o que já se mediu</a:t>
            </a:r>
            <a:endParaRPr/>
          </a:p>
        </p:txBody>
      </p:sp>
      <p:sp>
        <p:nvSpPr>
          <p:cNvPr id="660" name="Google Shape;660;p33"/>
          <p:cNvSpPr txBox="1"/>
          <p:nvPr/>
        </p:nvSpPr>
        <p:spPr>
          <a:xfrm>
            <a:off x="777240" y="1920240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Estudo</a:t>
            </a:r>
            <a:endParaRPr/>
          </a:p>
        </p:txBody>
      </p:sp>
      <p:sp>
        <p:nvSpPr>
          <p:cNvPr id="661" name="Google Shape;661;p33"/>
          <p:cNvSpPr txBox="1"/>
          <p:nvPr/>
        </p:nvSpPr>
        <p:spPr>
          <a:xfrm>
            <a:off x="3977639" y="1920240"/>
            <a:ext cx="4114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População</a:t>
            </a:r>
            <a:endParaRPr/>
          </a:p>
        </p:txBody>
      </p:sp>
      <p:sp>
        <p:nvSpPr>
          <p:cNvPr id="662" name="Google Shape;662;p33"/>
          <p:cNvSpPr txBox="1"/>
          <p:nvPr/>
        </p:nvSpPr>
        <p:spPr>
          <a:xfrm>
            <a:off x="8183879" y="1920240"/>
            <a:ext cx="3749039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</a:t>
            </a:r>
            <a:endParaRPr/>
          </a:p>
        </p:txBody>
      </p:sp>
      <p:sp>
        <p:nvSpPr>
          <p:cNvPr id="663" name="Google Shape;663;p33"/>
          <p:cNvSpPr/>
          <p:nvPr/>
        </p:nvSpPr>
        <p:spPr>
          <a:xfrm>
            <a:off x="777240" y="2377440"/>
            <a:ext cx="10881360" cy="18288"/>
          </a:xfrm>
          <a:prstGeom prst="rect">
            <a:avLst/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3"/>
          <p:cNvSpPr txBox="1"/>
          <p:nvPr/>
        </p:nvSpPr>
        <p:spPr>
          <a:xfrm>
            <a:off x="777240" y="245059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Hash da assinatura</a:t>
            </a:r>
            <a:endParaRPr/>
          </a:p>
        </p:txBody>
      </p:sp>
      <p:sp>
        <p:nvSpPr>
          <p:cNvPr id="665" name="Google Shape;665;p33"/>
          <p:cNvSpPr txBox="1"/>
          <p:nvPr/>
        </p:nvSpPr>
        <p:spPr>
          <a:xfrm>
            <a:off x="777240" y="2889504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Holz, 2011</a:t>
            </a:r>
            <a:endParaRPr/>
          </a:p>
        </p:txBody>
      </p:sp>
      <p:sp>
        <p:nvSpPr>
          <p:cNvPr id="666" name="Google Shape;666;p33"/>
          <p:cNvSpPr txBox="1"/>
          <p:nvPr/>
        </p:nvSpPr>
        <p:spPr>
          <a:xfrm>
            <a:off x="3977639" y="2889504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Certificados da Web</a:t>
            </a:r>
            <a:endParaRPr/>
          </a:p>
        </p:txBody>
      </p:sp>
      <p:sp>
        <p:nvSpPr>
          <p:cNvPr id="667" name="Google Shape;667;p33"/>
          <p:cNvSpPr txBox="1"/>
          <p:nvPr/>
        </p:nvSpPr>
        <p:spPr>
          <a:xfrm>
            <a:off x="8183879" y="2889504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17,3% em MD5</a:t>
            </a:r>
            <a:endParaRPr/>
          </a:p>
        </p:txBody>
      </p:sp>
      <p:sp>
        <p:nvSpPr>
          <p:cNvPr id="668" name="Google Shape;668;p33"/>
          <p:cNvSpPr/>
          <p:nvPr/>
        </p:nvSpPr>
        <p:spPr>
          <a:xfrm>
            <a:off x="640080" y="3383280"/>
            <a:ext cx="11064240" cy="530352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3"/>
          <p:cNvSpPr txBox="1"/>
          <p:nvPr/>
        </p:nvSpPr>
        <p:spPr>
          <a:xfrm>
            <a:off x="777240" y="3438144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Este trabalho</a:t>
            </a:r>
            <a:endParaRPr/>
          </a:p>
        </p:txBody>
      </p:sp>
      <p:sp>
        <p:nvSpPr>
          <p:cNvPr id="670" name="Google Shape;670;p33"/>
          <p:cNvSpPr txBox="1"/>
          <p:nvPr/>
        </p:nvSpPr>
        <p:spPr>
          <a:xfrm>
            <a:off x="3977639" y="3438144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Certificados de imagem</a:t>
            </a:r>
            <a:endParaRPr/>
          </a:p>
        </p:txBody>
      </p:sp>
      <p:sp>
        <p:nvSpPr>
          <p:cNvPr id="671" name="Google Shape;671;p33"/>
          <p:cNvSpPr txBox="1"/>
          <p:nvPr/>
        </p:nvSpPr>
        <p:spPr>
          <a:xfrm>
            <a:off x="8183879" y="3438144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43% MD5 ou SHA-1</a:t>
            </a:r>
            <a:endParaRPr/>
          </a:p>
        </p:txBody>
      </p:sp>
      <p:sp>
        <p:nvSpPr>
          <p:cNvPr id="672" name="Google Shape;672;p33"/>
          <p:cNvSpPr txBox="1"/>
          <p:nvPr/>
        </p:nvSpPr>
        <p:spPr>
          <a:xfrm>
            <a:off x="777240" y="4133088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Primo compartilhado</a:t>
            </a:r>
            <a:endParaRPr/>
          </a:p>
        </p:txBody>
      </p:sp>
      <p:sp>
        <p:nvSpPr>
          <p:cNvPr id="673" name="Google Shape;673;p33"/>
          <p:cNvSpPr txBox="1"/>
          <p:nvPr/>
        </p:nvSpPr>
        <p:spPr>
          <a:xfrm>
            <a:off x="777240" y="45720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Heninger, 2012</a:t>
            </a:r>
            <a:endParaRPr/>
          </a:p>
        </p:txBody>
      </p:sp>
      <p:sp>
        <p:nvSpPr>
          <p:cNvPr id="674" name="Google Shape;674;p33"/>
          <p:cNvSpPr txBox="1"/>
          <p:nvPr/>
        </p:nvSpPr>
        <p:spPr>
          <a:xfrm>
            <a:off x="3977639" y="45720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Hosts TLS da Internet</a:t>
            </a:r>
            <a:endParaRPr/>
          </a:p>
        </p:txBody>
      </p:sp>
      <p:sp>
        <p:nvSpPr>
          <p:cNvPr id="675" name="Google Shape;675;p33"/>
          <p:cNvSpPr txBox="1"/>
          <p:nvPr/>
        </p:nvSpPr>
        <p:spPr>
          <a:xfrm>
            <a:off x="8183879" y="457200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0,50% dos hosts</a:t>
            </a:r>
            <a:endParaRPr/>
          </a:p>
        </p:txBody>
      </p:sp>
      <p:sp>
        <p:nvSpPr>
          <p:cNvPr id="676" name="Google Shape;676;p33"/>
          <p:cNvSpPr txBox="1"/>
          <p:nvPr/>
        </p:nvSpPr>
        <p:spPr>
          <a:xfrm>
            <a:off x="777240" y="51206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Baumer, 2025</a:t>
            </a:r>
            <a:endParaRPr/>
          </a:p>
        </p:txBody>
      </p:sp>
      <p:sp>
        <p:nvSpPr>
          <p:cNvPr id="677" name="Google Shape;677;p33"/>
          <p:cNvSpPr txBox="1"/>
          <p:nvPr/>
        </p:nvSpPr>
        <p:spPr>
          <a:xfrm>
            <a:off x="3977639" y="51206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Chaves SSH de devs</a:t>
            </a:r>
            <a:endParaRPr/>
          </a:p>
        </p:txBody>
      </p:sp>
      <p:sp>
        <p:nvSpPr>
          <p:cNvPr id="678" name="Google Shape;678;p33"/>
          <p:cNvSpPr txBox="1"/>
          <p:nvPr/>
        </p:nvSpPr>
        <p:spPr>
          <a:xfrm>
            <a:off x="8183879" y="512064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0,00056% das chaves</a:t>
            </a:r>
            <a:endParaRPr/>
          </a:p>
        </p:txBody>
      </p:sp>
      <p:sp>
        <p:nvSpPr>
          <p:cNvPr id="679" name="Google Shape;679;p33"/>
          <p:cNvSpPr/>
          <p:nvPr/>
        </p:nvSpPr>
        <p:spPr>
          <a:xfrm>
            <a:off x="640080" y="5614416"/>
            <a:ext cx="11064240" cy="530352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3"/>
          <p:cNvSpPr txBox="1"/>
          <p:nvPr/>
        </p:nvSpPr>
        <p:spPr>
          <a:xfrm>
            <a:off x="777240" y="5669279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Este trabalho</a:t>
            </a:r>
            <a:endParaRPr/>
          </a:p>
        </p:txBody>
      </p:sp>
      <p:sp>
        <p:nvSpPr>
          <p:cNvPr id="681" name="Google Shape;681;p33"/>
          <p:cNvSpPr txBox="1"/>
          <p:nvPr/>
        </p:nvSpPr>
        <p:spPr>
          <a:xfrm>
            <a:off x="3977639" y="5669279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Módulos RSA de imagem</a:t>
            </a:r>
            <a:endParaRPr/>
          </a:p>
        </p:txBody>
      </p:sp>
      <p:sp>
        <p:nvSpPr>
          <p:cNvPr id="682" name="Google Shape;682;p33"/>
          <p:cNvSpPr txBox="1"/>
          <p:nvPr/>
        </p:nvSpPr>
        <p:spPr>
          <a:xfrm>
            <a:off x="8183879" y="5669279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0,065% dos módulos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688" name="Google Shape;68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34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34</a:t>
            </a:r>
            <a:endParaRPr/>
          </a:p>
        </p:txBody>
      </p:sp>
      <p:sp>
        <p:nvSpPr>
          <p:cNvPr id="690" name="Google Shape;690;p34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/>
          </a:p>
        </p:txBody>
      </p:sp>
      <p:sp>
        <p:nvSpPr>
          <p:cNvPr id="691" name="Google Shape;691;p34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Comparação com o que já se mediu</a:t>
            </a:r>
            <a:endParaRPr/>
          </a:p>
        </p:txBody>
      </p:sp>
      <p:sp>
        <p:nvSpPr>
          <p:cNvPr id="692" name="Google Shape;692;p34"/>
          <p:cNvSpPr txBox="1"/>
          <p:nvPr/>
        </p:nvSpPr>
        <p:spPr>
          <a:xfrm>
            <a:off x="777240" y="1920240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Estudo</a:t>
            </a:r>
            <a:endParaRPr/>
          </a:p>
        </p:txBody>
      </p:sp>
      <p:sp>
        <p:nvSpPr>
          <p:cNvPr id="693" name="Google Shape;693;p34"/>
          <p:cNvSpPr txBox="1"/>
          <p:nvPr/>
        </p:nvSpPr>
        <p:spPr>
          <a:xfrm>
            <a:off x="3977639" y="1920240"/>
            <a:ext cx="4114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População</a:t>
            </a:r>
            <a:endParaRPr/>
          </a:p>
        </p:txBody>
      </p:sp>
      <p:sp>
        <p:nvSpPr>
          <p:cNvPr id="694" name="Google Shape;694;p34"/>
          <p:cNvSpPr txBox="1"/>
          <p:nvPr/>
        </p:nvSpPr>
        <p:spPr>
          <a:xfrm>
            <a:off x="8183879" y="1920240"/>
            <a:ext cx="3749039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</a:t>
            </a:r>
            <a:endParaRPr/>
          </a:p>
        </p:txBody>
      </p:sp>
      <p:sp>
        <p:nvSpPr>
          <p:cNvPr id="695" name="Google Shape;695;p34"/>
          <p:cNvSpPr/>
          <p:nvPr/>
        </p:nvSpPr>
        <p:spPr>
          <a:xfrm>
            <a:off x="777240" y="2377440"/>
            <a:ext cx="10881360" cy="18288"/>
          </a:xfrm>
          <a:prstGeom prst="rect">
            <a:avLst/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4"/>
          <p:cNvSpPr txBox="1"/>
          <p:nvPr/>
        </p:nvSpPr>
        <p:spPr>
          <a:xfrm>
            <a:off x="777240" y="2450592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Chave privada</a:t>
            </a:r>
            <a:endParaRPr/>
          </a:p>
        </p:txBody>
      </p:sp>
      <p:sp>
        <p:nvSpPr>
          <p:cNvPr id="697" name="Google Shape;697;p34"/>
          <p:cNvSpPr txBox="1"/>
          <p:nvPr/>
        </p:nvSpPr>
        <p:spPr>
          <a:xfrm>
            <a:off x="777240" y="2889504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Dahlmanns, 2023</a:t>
            </a:r>
            <a:endParaRPr/>
          </a:p>
        </p:txBody>
      </p:sp>
      <p:sp>
        <p:nvSpPr>
          <p:cNvPr id="698" name="Google Shape;698;p34"/>
          <p:cNvSpPr txBox="1"/>
          <p:nvPr/>
        </p:nvSpPr>
        <p:spPr>
          <a:xfrm>
            <a:off x="3977639" y="2889504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337.171 imagens</a:t>
            </a:r>
            <a:endParaRPr/>
          </a:p>
        </p:txBody>
      </p:sp>
      <p:sp>
        <p:nvSpPr>
          <p:cNvPr id="699" name="Google Shape;699;p34"/>
          <p:cNvSpPr txBox="1"/>
          <p:nvPr/>
        </p:nvSpPr>
        <p:spPr>
          <a:xfrm>
            <a:off x="8183879" y="2889504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52.107 chaves privadas</a:t>
            </a:r>
            <a:endParaRPr/>
          </a:p>
        </p:txBody>
      </p:sp>
      <p:sp>
        <p:nvSpPr>
          <p:cNvPr id="700" name="Google Shape;700;p34"/>
          <p:cNvSpPr/>
          <p:nvPr/>
        </p:nvSpPr>
        <p:spPr>
          <a:xfrm>
            <a:off x="640080" y="3383280"/>
            <a:ext cx="11064240" cy="530352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4"/>
          <p:cNvSpPr txBox="1"/>
          <p:nvPr/>
        </p:nvSpPr>
        <p:spPr>
          <a:xfrm>
            <a:off x="777240" y="3438144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Este trabalho</a:t>
            </a:r>
            <a:endParaRPr/>
          </a:p>
        </p:txBody>
      </p:sp>
      <p:sp>
        <p:nvSpPr>
          <p:cNvPr id="702" name="Google Shape;702;p34"/>
          <p:cNvSpPr txBox="1"/>
          <p:nvPr/>
        </p:nvSpPr>
        <p:spPr>
          <a:xfrm>
            <a:off x="3977639" y="3438144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11.962 imagens</a:t>
            </a:r>
            <a:endParaRPr/>
          </a:p>
        </p:txBody>
      </p:sp>
      <p:sp>
        <p:nvSpPr>
          <p:cNvPr id="703" name="Google Shape;703;p34"/>
          <p:cNvSpPr txBox="1"/>
          <p:nvPr/>
        </p:nvSpPr>
        <p:spPr>
          <a:xfrm>
            <a:off x="8183879" y="3438144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36 chaves repetidas</a:t>
            </a:r>
            <a:endParaRPr/>
          </a:p>
        </p:txBody>
      </p:sp>
      <p:sp>
        <p:nvSpPr>
          <p:cNvPr id="704" name="Google Shape;704;p34"/>
          <p:cNvSpPr txBox="1"/>
          <p:nvPr/>
        </p:nvSpPr>
        <p:spPr>
          <a:xfrm>
            <a:off x="777240" y="4133088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Uso pós-quântico</a:t>
            </a:r>
            <a:endParaRPr/>
          </a:p>
        </p:txBody>
      </p:sp>
      <p:sp>
        <p:nvSpPr>
          <p:cNvPr id="705" name="Google Shape;705;p34"/>
          <p:cNvSpPr txBox="1"/>
          <p:nvPr/>
        </p:nvSpPr>
        <p:spPr>
          <a:xfrm>
            <a:off x="777240" y="45720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Strauss, 2025</a:t>
            </a:r>
            <a:endParaRPr/>
          </a:p>
        </p:txBody>
      </p:sp>
      <p:sp>
        <p:nvSpPr>
          <p:cNvPr id="706" name="Google Shape;706;p34"/>
          <p:cNvSpPr txBox="1"/>
          <p:nvPr/>
        </p:nvSpPr>
        <p:spPr>
          <a:xfrm>
            <a:off x="3977639" y="45720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Apps Android em produção</a:t>
            </a:r>
            <a:endParaRPr/>
          </a:p>
        </p:txBody>
      </p:sp>
      <p:sp>
        <p:nvSpPr>
          <p:cNvPr id="707" name="Google Shape;707;p34"/>
          <p:cNvSpPr txBox="1"/>
          <p:nvPr/>
        </p:nvSpPr>
        <p:spPr>
          <a:xfrm>
            <a:off x="8183879" y="457200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Nenhum detectado</a:t>
            </a:r>
            <a:endParaRPr/>
          </a:p>
        </p:txBody>
      </p:sp>
      <p:sp>
        <p:nvSpPr>
          <p:cNvPr id="708" name="Google Shape;708;p34"/>
          <p:cNvSpPr/>
          <p:nvPr/>
        </p:nvSpPr>
        <p:spPr>
          <a:xfrm>
            <a:off x="640080" y="5065776"/>
            <a:ext cx="11064240" cy="530352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4"/>
          <p:cNvSpPr txBox="1"/>
          <p:nvPr/>
        </p:nvSpPr>
        <p:spPr>
          <a:xfrm>
            <a:off x="777240" y="51206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Este trabalho</a:t>
            </a:r>
            <a:endParaRPr/>
          </a:p>
        </p:txBody>
      </p:sp>
      <p:sp>
        <p:nvSpPr>
          <p:cNvPr id="710" name="Google Shape;710;p34"/>
          <p:cNvSpPr txBox="1"/>
          <p:nvPr/>
        </p:nvSpPr>
        <p:spPr>
          <a:xfrm>
            <a:off x="3977639" y="51206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Chaves e certificados</a:t>
            </a:r>
            <a:endParaRPr/>
          </a:p>
        </p:txBody>
      </p:sp>
      <p:sp>
        <p:nvSpPr>
          <p:cNvPr id="711" name="Google Shape;711;p34"/>
          <p:cNvSpPr txBox="1"/>
          <p:nvPr/>
        </p:nvSpPr>
        <p:spPr>
          <a:xfrm>
            <a:off x="8183879" y="512064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Nenhum detectado</a:t>
            </a:r>
            <a:endParaRPr/>
          </a:p>
        </p:txBody>
      </p:sp>
      <p:sp>
        <p:nvSpPr>
          <p:cNvPr id="712" name="Google Shape;712;p34"/>
          <p:cNvSpPr/>
          <p:nvPr/>
        </p:nvSpPr>
        <p:spPr>
          <a:xfrm>
            <a:off x="484632" y="5504688"/>
            <a:ext cx="11247120" cy="694944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4"/>
          <p:cNvSpPr txBox="1"/>
          <p:nvPr/>
        </p:nvSpPr>
        <p:spPr>
          <a:xfrm>
            <a:off x="868680" y="5614416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Contexto, não replicação.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719" name="Google Shape;71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35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35</a:t>
            </a:r>
            <a:endParaRPr/>
          </a:p>
        </p:txBody>
      </p:sp>
      <p:sp>
        <p:nvSpPr>
          <p:cNvPr id="721" name="Google Shape;721;p35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/>
          </a:p>
        </p:txBody>
      </p:sp>
      <p:sp>
        <p:nvSpPr>
          <p:cNvPr id="722" name="Google Shape;722;p35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 forma do material extraído</a:t>
            </a:r>
            <a:endParaRPr/>
          </a:p>
        </p:txBody>
      </p:sp>
      <p:sp>
        <p:nvSpPr>
          <p:cNvPr id="723" name="Google Shape;723;p35"/>
          <p:cNvSpPr txBox="1"/>
          <p:nvPr/>
        </p:nvSpPr>
        <p:spPr>
          <a:xfrm>
            <a:off x="713232" y="148132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Dos 518.668 certificados fora do trust store.</a:t>
            </a:r>
            <a:endParaRPr/>
          </a:p>
        </p:txBody>
      </p:sp>
      <p:sp>
        <p:nvSpPr>
          <p:cNvPr id="724" name="Google Shape;724;p35"/>
          <p:cNvSpPr txBox="1"/>
          <p:nvPr/>
        </p:nvSpPr>
        <p:spPr>
          <a:xfrm>
            <a:off x="658368" y="2257653"/>
            <a:ext cx="4041648" cy="879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autoassinado</a:t>
            </a:r>
            <a:endParaRPr/>
          </a:p>
        </p:txBody>
      </p:sp>
      <p:sp>
        <p:nvSpPr>
          <p:cNvPr id="725" name="Google Shape;725;p35"/>
          <p:cNvSpPr/>
          <p:nvPr/>
        </p:nvSpPr>
        <p:spPr>
          <a:xfrm>
            <a:off x="4864607" y="2458821"/>
            <a:ext cx="5166359" cy="477316"/>
          </a:xfrm>
          <a:prstGeom prst="rect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5"/>
          <p:cNvSpPr txBox="1"/>
          <p:nvPr/>
        </p:nvSpPr>
        <p:spPr>
          <a:xfrm>
            <a:off x="10158984" y="2349093"/>
            <a:ext cx="1554480" cy="696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95,6%</a:t>
            </a:r>
            <a:endParaRPr/>
          </a:p>
        </p:txBody>
      </p:sp>
      <p:sp>
        <p:nvSpPr>
          <p:cNvPr id="727" name="Google Shape;727;p35"/>
          <p:cNvSpPr txBox="1"/>
          <p:nvPr/>
        </p:nvSpPr>
        <p:spPr>
          <a:xfrm>
            <a:off x="658368" y="3080613"/>
            <a:ext cx="4041648" cy="879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marcado como CA</a:t>
            </a:r>
            <a:endParaRPr/>
          </a:p>
        </p:txBody>
      </p:sp>
      <p:sp>
        <p:nvSpPr>
          <p:cNvPr id="728" name="Google Shape;728;p35"/>
          <p:cNvSpPr/>
          <p:nvPr/>
        </p:nvSpPr>
        <p:spPr>
          <a:xfrm>
            <a:off x="4864607" y="3281781"/>
            <a:ext cx="5020448" cy="477316"/>
          </a:xfrm>
          <a:prstGeom prst="rect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5"/>
          <p:cNvSpPr txBox="1"/>
          <p:nvPr/>
        </p:nvSpPr>
        <p:spPr>
          <a:xfrm>
            <a:off x="10013072" y="3172053"/>
            <a:ext cx="1554480" cy="696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92,9%</a:t>
            </a:r>
            <a:endParaRPr/>
          </a:p>
        </p:txBody>
      </p:sp>
      <p:sp>
        <p:nvSpPr>
          <p:cNvPr id="730" name="Google Shape;730;p35"/>
          <p:cNvSpPr txBox="1"/>
          <p:nvPr/>
        </p:nvSpPr>
        <p:spPr>
          <a:xfrm>
            <a:off x="658368" y="3903573"/>
            <a:ext cx="4041648" cy="879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expirado</a:t>
            </a:r>
            <a:endParaRPr/>
          </a:p>
        </p:txBody>
      </p:sp>
      <p:sp>
        <p:nvSpPr>
          <p:cNvPr id="731" name="Google Shape;731;p35"/>
          <p:cNvSpPr/>
          <p:nvPr/>
        </p:nvSpPr>
        <p:spPr>
          <a:xfrm>
            <a:off x="4864607" y="4104741"/>
            <a:ext cx="1091636" cy="477316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5"/>
          <p:cNvSpPr txBox="1"/>
          <p:nvPr/>
        </p:nvSpPr>
        <p:spPr>
          <a:xfrm>
            <a:off x="6084260" y="3995013"/>
            <a:ext cx="1554480" cy="696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017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20,2%</a:t>
            </a:r>
            <a:endParaRPr/>
          </a:p>
        </p:txBody>
      </p:sp>
      <p:sp>
        <p:nvSpPr>
          <p:cNvPr id="733" name="Google Shape;733;p35"/>
          <p:cNvSpPr/>
          <p:nvPr/>
        </p:nvSpPr>
        <p:spPr>
          <a:xfrm>
            <a:off x="484632" y="4956048"/>
            <a:ext cx="11247120" cy="1217168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5"/>
          <p:cNvSpPr txBox="1"/>
          <p:nvPr/>
        </p:nvSpPr>
        <p:spPr>
          <a:xfrm>
            <a:off x="868680" y="5065776"/>
            <a:ext cx="10515600" cy="997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Autoassinado e CA se sobrepõem em 88%.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É a forma de uma raiz privada.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740" name="Google Shape;74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36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36</a:t>
            </a:r>
            <a:endParaRPr/>
          </a:p>
        </p:txBody>
      </p:sp>
      <p:sp>
        <p:nvSpPr>
          <p:cNvPr id="742" name="Google Shape;742;p36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/>
          </a:p>
        </p:txBody>
      </p:sp>
      <p:sp>
        <p:nvSpPr>
          <p:cNvPr id="743" name="Google Shape;743;p36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essa forma quer dizer</a:t>
            </a:r>
            <a:endParaRPr/>
          </a:p>
        </p:txBody>
      </p:sp>
      <p:sp>
        <p:nvSpPr>
          <p:cNvPr id="744" name="Google Shape;744;p36"/>
          <p:cNvSpPr/>
          <p:nvPr/>
        </p:nvSpPr>
        <p:spPr>
          <a:xfrm>
            <a:off x="713232" y="224942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6"/>
          <p:cNvSpPr txBox="1"/>
          <p:nvPr/>
        </p:nvSpPr>
        <p:spPr>
          <a:xfrm>
            <a:off x="1133856" y="2103120"/>
            <a:ext cx="1046073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 maior parte tem forma de raiz privada, não de certificado de servidor vazado</a:t>
            </a:r>
            <a:endParaRPr/>
          </a:p>
        </p:txBody>
      </p:sp>
      <p:sp>
        <p:nvSpPr>
          <p:cNvPr id="746" name="Google Shape;746;p36"/>
          <p:cNvSpPr/>
          <p:nvPr/>
        </p:nvSpPr>
        <p:spPr>
          <a:xfrm>
            <a:off x="713232" y="343814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6"/>
          <p:cNvSpPr txBox="1"/>
          <p:nvPr/>
        </p:nvSpPr>
        <p:spPr>
          <a:xfrm>
            <a:off x="1133856" y="3291839"/>
            <a:ext cx="1046073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Autoassinar não é fraqueza por si</a:t>
            </a:r>
            <a:endParaRPr/>
          </a:p>
        </p:txBody>
      </p:sp>
      <p:sp>
        <p:nvSpPr>
          <p:cNvPr id="748" name="Google Shape;748;p36"/>
          <p:cNvSpPr/>
          <p:nvPr/>
        </p:nvSpPr>
        <p:spPr>
          <a:xfrm>
            <a:off x="713232" y="462686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6"/>
          <p:cNvSpPr txBox="1"/>
          <p:nvPr/>
        </p:nvSpPr>
        <p:spPr>
          <a:xfrm>
            <a:off x="1133856" y="4480560"/>
            <a:ext cx="1046073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Certificado expirado e em uso faz o verificador de data rejeitar a conexão</a:t>
            </a:r>
            <a:endParaRPr/>
          </a:p>
        </p:txBody>
      </p:sp>
      <p:sp>
        <p:nvSpPr>
          <p:cNvPr id="750" name="Google Shape;750;p36"/>
          <p:cNvSpPr/>
          <p:nvPr/>
        </p:nvSpPr>
        <p:spPr>
          <a:xfrm>
            <a:off x="484632" y="5394960"/>
            <a:ext cx="11247120" cy="786384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6"/>
          <p:cNvSpPr txBox="1"/>
          <p:nvPr/>
        </p:nvSpPr>
        <p:spPr>
          <a:xfrm>
            <a:off x="868680" y="5504688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Um em cada cinco certificados está expirado.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757" name="Google Shape;75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37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37</a:t>
            </a:r>
            <a:endParaRPr/>
          </a:p>
        </p:txBody>
      </p:sp>
      <p:sp>
        <p:nvSpPr>
          <p:cNvPr id="759" name="Google Shape;759;p37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/>
          </a:p>
        </p:txBody>
      </p:sp>
      <p:sp>
        <p:nvSpPr>
          <p:cNvPr id="760" name="Google Shape;760;p37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Divergência entre detectores</a:t>
            </a:r>
            <a:endParaRPr/>
          </a:p>
        </p:txBody>
      </p:sp>
      <p:sp>
        <p:nvSpPr>
          <p:cNvPr id="761" name="Google Shape;761;p37"/>
          <p:cNvSpPr txBox="1"/>
          <p:nvPr/>
        </p:nvSpPr>
        <p:spPr>
          <a:xfrm>
            <a:off x="713232" y="2057400"/>
            <a:ext cx="356616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Onde o detector achou certificado</a:t>
            </a:r>
            <a:endParaRPr/>
          </a:p>
        </p:txBody>
      </p:sp>
      <p:sp>
        <p:nvSpPr>
          <p:cNvPr id="762" name="Google Shape;762;p37"/>
          <p:cNvSpPr txBox="1"/>
          <p:nvPr/>
        </p:nvSpPr>
        <p:spPr>
          <a:xfrm>
            <a:off x="713232" y="3721608"/>
            <a:ext cx="3566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256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9.888</a:t>
            </a:r>
            <a:endParaRPr/>
          </a:p>
        </p:txBody>
      </p:sp>
      <p:sp>
        <p:nvSpPr>
          <p:cNvPr id="763" name="Google Shape;763;p37"/>
          <p:cNvSpPr txBox="1"/>
          <p:nvPr/>
        </p:nvSpPr>
        <p:spPr>
          <a:xfrm>
            <a:off x="713232" y="4471416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imagens</a:t>
            </a:r>
            <a:endParaRPr/>
          </a:p>
        </p:txBody>
      </p:sp>
      <p:sp>
        <p:nvSpPr>
          <p:cNvPr id="764" name="Google Shape;764;p37"/>
          <p:cNvSpPr txBox="1"/>
          <p:nvPr/>
        </p:nvSpPr>
        <p:spPr>
          <a:xfrm>
            <a:off x="4507992" y="2057400"/>
            <a:ext cx="356616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CBOM-Lens relata, na mediana,</a:t>
            </a:r>
            <a:endParaRPr/>
          </a:p>
        </p:txBody>
      </p:sp>
      <p:sp>
        <p:nvSpPr>
          <p:cNvPr id="765" name="Google Shape;765;p37"/>
          <p:cNvSpPr txBox="1"/>
          <p:nvPr/>
        </p:nvSpPr>
        <p:spPr>
          <a:xfrm>
            <a:off x="4507992" y="3721608"/>
            <a:ext cx="3566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256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50%</a:t>
            </a:r>
            <a:endParaRPr/>
          </a:p>
        </p:txBody>
      </p:sp>
      <p:sp>
        <p:nvSpPr>
          <p:cNvPr id="766" name="Google Shape;766;p37"/>
          <p:cNvSpPr txBox="1"/>
          <p:nvPr/>
        </p:nvSpPr>
        <p:spPr>
          <a:xfrm>
            <a:off x="4507992" y="4471416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do que o detector interno encontra</a:t>
            </a:r>
            <a:endParaRPr/>
          </a:p>
        </p:txBody>
      </p:sp>
      <p:sp>
        <p:nvSpPr>
          <p:cNvPr id="767" name="Google Shape;767;p37"/>
          <p:cNvSpPr txBox="1"/>
          <p:nvPr/>
        </p:nvSpPr>
        <p:spPr>
          <a:xfrm>
            <a:off x="8302752" y="2057400"/>
            <a:ext cx="356616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Das 9.888 imagens, o CBOM-Lens</a:t>
            </a:r>
            <a:endParaRPr/>
          </a:p>
        </p:txBody>
      </p:sp>
      <p:sp>
        <p:nvSpPr>
          <p:cNvPr id="768" name="Google Shape;768;p37"/>
          <p:cNvSpPr txBox="1"/>
          <p:nvPr/>
        </p:nvSpPr>
        <p:spPr>
          <a:xfrm>
            <a:off x="8302752" y="3721608"/>
            <a:ext cx="3566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256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18%</a:t>
            </a:r>
            <a:endParaRPr/>
          </a:p>
        </p:txBody>
      </p:sp>
      <p:sp>
        <p:nvSpPr>
          <p:cNvPr id="769" name="Google Shape;769;p37"/>
          <p:cNvSpPr txBox="1"/>
          <p:nvPr/>
        </p:nvSpPr>
        <p:spPr>
          <a:xfrm>
            <a:off x="8302752" y="4471416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iguala ou supera a contagem</a:t>
            </a:r>
            <a:endParaRPr/>
          </a:p>
        </p:txBody>
      </p:sp>
      <p:sp>
        <p:nvSpPr>
          <p:cNvPr id="770" name="Google Shape;770;p37"/>
          <p:cNvSpPr/>
          <p:nvPr/>
        </p:nvSpPr>
        <p:spPr>
          <a:xfrm>
            <a:off x="484632" y="4800600"/>
            <a:ext cx="11247120" cy="1217168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7"/>
          <p:cNvSpPr txBox="1"/>
          <p:nvPr/>
        </p:nvSpPr>
        <p:spPr>
          <a:xfrm>
            <a:off x="868680" y="4910328"/>
            <a:ext cx="10515600" cy="997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detector interno dá as contagens.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CBOM-Lens segue o padrão CycloneDX.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777" name="Google Shape;77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38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38</a:t>
            </a:r>
            <a:endParaRPr/>
          </a:p>
        </p:txBody>
      </p:sp>
      <p:sp>
        <p:nvSpPr>
          <p:cNvPr id="779" name="Google Shape;779;p38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/>
          </a:p>
        </p:txBody>
      </p:sp>
      <p:sp>
        <p:nvSpPr>
          <p:cNvPr id="780" name="Google Shape;780;p38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a divergência mostra</a:t>
            </a:r>
            <a:endParaRPr/>
          </a:p>
        </p:txBody>
      </p:sp>
      <p:sp>
        <p:nvSpPr>
          <p:cNvPr id="781" name="Google Shape;781;p38"/>
          <p:cNvSpPr/>
          <p:nvPr/>
        </p:nvSpPr>
        <p:spPr>
          <a:xfrm>
            <a:off x="713232" y="224942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8"/>
          <p:cNvSpPr txBox="1"/>
          <p:nvPr/>
        </p:nvSpPr>
        <p:spPr>
          <a:xfrm>
            <a:off x="1133856" y="2103120"/>
            <a:ext cx="1046073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 cobertura dos dois detectores é diferente</a:t>
            </a:r>
            <a:endParaRPr/>
          </a:p>
        </p:txBody>
      </p:sp>
      <p:sp>
        <p:nvSpPr>
          <p:cNvPr id="783" name="Google Shape;783;p38"/>
          <p:cNvSpPr/>
          <p:nvPr/>
        </p:nvSpPr>
        <p:spPr>
          <a:xfrm>
            <a:off x="713232" y="343814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8"/>
          <p:cNvSpPr txBox="1"/>
          <p:nvPr/>
        </p:nvSpPr>
        <p:spPr>
          <a:xfrm>
            <a:off x="1133856" y="3291839"/>
            <a:ext cx="1046073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 taxa de erro fica em aberto: não há verdade de referência</a:t>
            </a:r>
            <a:endParaRPr/>
          </a:p>
        </p:txBody>
      </p:sp>
      <p:sp>
        <p:nvSpPr>
          <p:cNvPr id="785" name="Google Shape;785;p38"/>
          <p:cNvSpPr/>
          <p:nvPr/>
        </p:nvSpPr>
        <p:spPr>
          <a:xfrm>
            <a:off x="713232" y="462686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8"/>
          <p:cNvSpPr txBox="1"/>
          <p:nvPr/>
        </p:nvSpPr>
        <p:spPr>
          <a:xfrm>
            <a:off x="1133856" y="4480560"/>
            <a:ext cx="1046073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Gitleaks entra como terceiro detector, só na auditoria de caminho</a:t>
            </a:r>
            <a:endParaRPr/>
          </a:p>
        </p:txBody>
      </p:sp>
      <p:sp>
        <p:nvSpPr>
          <p:cNvPr id="787" name="Google Shape;787;p38"/>
          <p:cNvSpPr/>
          <p:nvPr/>
        </p:nvSpPr>
        <p:spPr>
          <a:xfrm>
            <a:off x="484632" y="5394960"/>
            <a:ext cx="11247120" cy="786384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8"/>
          <p:cNvSpPr txBox="1"/>
          <p:nvPr/>
        </p:nvSpPr>
        <p:spPr>
          <a:xfrm>
            <a:off x="868680" y="5504688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Nenhum externo entra nas contagens.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9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 · PERGUNTAS</a:t>
            </a:r>
            <a:endParaRPr/>
          </a:p>
        </p:txBody>
      </p:sp>
      <p:sp>
        <p:nvSpPr>
          <p:cNvPr id="795" name="Google Shape;795;p39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39</a:t>
            </a:r>
            <a:endParaRPr/>
          </a:p>
        </p:txBody>
      </p:sp>
      <p:sp>
        <p:nvSpPr>
          <p:cNvPr id="796" name="Google Shape;796;p39"/>
          <p:cNvSpPr txBox="1"/>
          <p:nvPr/>
        </p:nvSpPr>
        <p:spPr>
          <a:xfrm>
            <a:off x="713232" y="530352"/>
            <a:ext cx="10881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Por que a tag latest, se 34,7% não resolvem?</a:t>
            </a:r>
            <a:endParaRPr/>
          </a:p>
        </p:txBody>
      </p:sp>
      <p:sp>
        <p:nvSpPr>
          <p:cNvPr id="797" name="Google Shape;797;p39"/>
          <p:cNvSpPr txBox="1"/>
          <p:nvPr/>
        </p:nvSpPr>
        <p:spPr>
          <a:xfrm>
            <a:off x="713232" y="2240280"/>
            <a:ext cx="10881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crawl enumera repositório, não a lista de tags: latest é a única referência que existe para todos, e é a tag padrão do registro. Sete semanas depois, 193 de 200 referências não resolvidas continuavam no ar, nenhuma com latest, e a mediana do último envio delas é 2022. A estimativa vale para quem publica latest.</a:t>
            </a:r>
            <a:endParaRPr/>
          </a:p>
        </p:txBody>
      </p:sp>
      <p:pic>
        <p:nvPicPr>
          <p:cNvPr descr="image.png" id="798" name="Google Shape;79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40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 · PERGUNTAS</a:t>
            </a:r>
            <a:endParaRPr/>
          </a:p>
        </p:txBody>
      </p:sp>
      <p:sp>
        <p:nvSpPr>
          <p:cNvPr id="805" name="Google Shape;805;p40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40</a:t>
            </a:r>
            <a:endParaRPr/>
          </a:p>
        </p:txBody>
      </p:sp>
      <p:sp>
        <p:nvSpPr>
          <p:cNvPr id="806" name="Google Shape;806;p40"/>
          <p:cNvSpPr txBox="1"/>
          <p:nvPr/>
        </p:nvSpPr>
        <p:spPr>
          <a:xfrm>
            <a:off x="713232" y="530352"/>
            <a:ext cx="10881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sorteio é equiprovável do registro inteiro?</a:t>
            </a:r>
            <a:endParaRPr/>
          </a:p>
        </p:txBody>
      </p:sp>
      <p:sp>
        <p:nvSpPr>
          <p:cNvPr id="807" name="Google Shape;807;p40"/>
          <p:cNvSpPr txBox="1"/>
          <p:nvPr/>
        </p:nvSpPr>
        <p:spPr>
          <a:xfrm>
            <a:off x="713232" y="2240280"/>
            <a:ext cx="10881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Do quadro amostral: os 12.716.568 repositórios do crawl do ChimangoScan. Dentro dele, cada repositório tem exatamente a mesma chance. A ordem sai do SHA-256 de cryptocensus:referência, e entram os 20.000 primeiros. Não afirmo nada sobre repositório que não está no crawl.</a:t>
            </a:r>
            <a:endParaRPr/>
          </a:p>
        </p:txBody>
      </p:sp>
      <p:pic>
        <p:nvPicPr>
          <p:cNvPr descr="image.png" id="808" name="Google Shape;80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 · PERGUNTAS</a:t>
            </a:r>
            <a:endParaRPr/>
          </a:p>
        </p:txBody>
      </p:sp>
      <p:sp>
        <p:nvSpPr>
          <p:cNvPr id="815" name="Google Shape;815;p41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41</a:t>
            </a:r>
            <a:endParaRPr/>
          </a:p>
        </p:txBody>
      </p:sp>
      <p:sp>
        <p:nvSpPr>
          <p:cNvPr id="816" name="Google Shape;816;p41"/>
          <p:cNvSpPr txBox="1"/>
          <p:nvPr/>
        </p:nvSpPr>
        <p:spPr>
          <a:xfrm>
            <a:off x="713232" y="530352"/>
            <a:ext cx="10881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E a criptografia negociada em execução?</a:t>
            </a:r>
            <a:endParaRPr/>
          </a:p>
        </p:txBody>
      </p:sp>
      <p:sp>
        <p:nvSpPr>
          <p:cNvPr id="817" name="Google Shape;817;p41"/>
          <p:cNvSpPr txBox="1"/>
          <p:nvPr/>
        </p:nvSpPr>
        <p:spPr>
          <a:xfrm>
            <a:off x="713232" y="2240280"/>
            <a:ext cx="10881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Fica fora. O censo lê arquivo estático de imagem linux/amd64, não o que é gerado, buscado ou negociado quando o contêiner roda. Observação em execução pode revelar uso pós-quântico que este censo não vê. Está declarado nas limitações do artigo.</a:t>
            </a:r>
            <a:endParaRPr/>
          </a:p>
        </p:txBody>
      </p:sp>
      <p:pic>
        <p:nvPicPr>
          <p:cNvPr descr="image.png" id="818" name="Google Shape;81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2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 · PERGUNTAS</a:t>
            </a:r>
            <a:endParaRPr/>
          </a:p>
        </p:txBody>
      </p:sp>
      <p:sp>
        <p:nvSpPr>
          <p:cNvPr id="825" name="Google Shape;825;p42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42</a:t>
            </a:r>
            <a:endParaRPr/>
          </a:p>
        </p:txBody>
      </p:sp>
      <p:sp>
        <p:nvSpPr>
          <p:cNvPr id="826" name="Google Shape;826;p42"/>
          <p:cNvSpPr txBox="1"/>
          <p:nvPr/>
        </p:nvSpPr>
        <p:spPr>
          <a:xfrm>
            <a:off x="713232" y="530352"/>
            <a:ext cx="10881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E biblioteca ligada estaticamente?</a:t>
            </a:r>
            <a:endParaRPr/>
          </a:p>
        </p:txBody>
      </p:sp>
      <p:sp>
        <p:nvSpPr>
          <p:cNvPr id="827" name="Google Shape;827;p42"/>
          <p:cNvSpPr txBox="1"/>
          <p:nvPr/>
        </p:nvSpPr>
        <p:spPr>
          <a:xfrm>
            <a:off x="713232" y="2240280"/>
            <a:ext cx="10881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 detecção de biblioteca lê só dpkg e apk, então as 801 são limite inferior. Mas o zero não é de biblioteca, é de chave e certificado: nenhum dos 4.211.380 objetos extraídos é pós-quântico. Biblioteca ligada estaticamente não deixa chave pós-quântica no sistema de arquivos.</a:t>
            </a:r>
            <a:endParaRPr/>
          </a:p>
        </p:txBody>
      </p:sp>
      <p:pic>
        <p:nvPicPr>
          <p:cNvPr descr="image.png" id="828" name="Google Shape;82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43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 · PERGUNTAS</a:t>
            </a:r>
            <a:endParaRPr/>
          </a:p>
        </p:txBody>
      </p:sp>
      <p:sp>
        <p:nvSpPr>
          <p:cNvPr id="835" name="Google Shape;835;p43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43</a:t>
            </a:r>
            <a:endParaRPr/>
          </a:p>
        </p:txBody>
      </p:sp>
      <p:sp>
        <p:nvSpPr>
          <p:cNvPr id="836" name="Google Shape;836;p43"/>
          <p:cNvSpPr txBox="1"/>
          <p:nvPr/>
        </p:nvSpPr>
        <p:spPr>
          <a:xfrm>
            <a:off x="713232" y="530352"/>
            <a:ext cx="10881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corte do trust store é arbitrário?</a:t>
            </a:r>
            <a:endParaRPr/>
          </a:p>
        </p:txBody>
      </p:sp>
      <p:sp>
        <p:nvSpPr>
          <p:cNvPr id="837" name="Google Shape;837;p43"/>
          <p:cNvSpPr txBox="1"/>
          <p:nvPr/>
        </p:nvSpPr>
        <p:spPr>
          <a:xfrm>
            <a:off x="713232" y="2240280"/>
            <a:ext cx="10881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Os caminhos estão documentados no artefato: /etc/ssl/certs, /etc/pki, os pacotes de CA da distribuição e o certifi do Python. Sem o corte, um pacote de CA repetido em milhares de imagens afoga a análise de postura, de reuso e de primo compartilhado. A análise inteira roda de novo com outro corte.</a:t>
            </a:r>
            <a:endParaRPr/>
          </a:p>
        </p:txBody>
      </p:sp>
      <p:pic>
        <p:nvPicPr>
          <p:cNvPr descr="image.png" id="838" name="Google Shape;83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44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 · PERGUNTAS</a:t>
            </a:r>
            <a:endParaRPr/>
          </a:p>
        </p:txBody>
      </p:sp>
      <p:sp>
        <p:nvSpPr>
          <p:cNvPr id="845" name="Google Shape;845;p44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44</a:t>
            </a:r>
            <a:endParaRPr/>
          </a:p>
        </p:txBody>
      </p:sp>
      <p:sp>
        <p:nvSpPr>
          <p:cNvPr id="846" name="Google Shape;846;p44"/>
          <p:cNvSpPr txBox="1"/>
          <p:nvPr/>
        </p:nvSpPr>
        <p:spPr>
          <a:xfrm>
            <a:off x="713232" y="530352"/>
            <a:ext cx="10881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Zero pós-quântico não é cedo demais?</a:t>
            </a:r>
            <a:endParaRPr/>
          </a:p>
        </p:txBody>
      </p:sp>
      <p:sp>
        <p:nvSpPr>
          <p:cNvPr id="847" name="Google Shape;847;p44"/>
          <p:cNvSpPr txBox="1"/>
          <p:nvPr/>
        </p:nvSpPr>
        <p:spPr>
          <a:xfrm>
            <a:off x="713232" y="2240280"/>
            <a:ext cx="10881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 ferramenta já existe. O NIST padronizou em 2024, a OpenSSL 3.5 traz ML-KEM, ML-DSA e SLH-DSA de fábrica, e 801 imagens já a têm instalada. No transporte, mais da metade do tráfego humano da Cloudflare já negocia híbrido. O que falta não é ferramenta, é uso.</a:t>
            </a:r>
            <a:endParaRPr/>
          </a:p>
        </p:txBody>
      </p:sp>
      <p:pic>
        <p:nvPicPr>
          <p:cNvPr descr="image.png" id="848" name="Google Shape;84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5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 · PERGUNTAS</a:t>
            </a:r>
            <a:endParaRPr/>
          </a:p>
        </p:txBody>
      </p:sp>
      <p:sp>
        <p:nvSpPr>
          <p:cNvPr id="855" name="Google Shape;855;p45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45</a:t>
            </a:r>
            <a:endParaRPr/>
          </a:p>
        </p:txBody>
      </p:sp>
      <p:sp>
        <p:nvSpPr>
          <p:cNvPr id="856" name="Google Shape;856;p45"/>
          <p:cNvSpPr txBox="1"/>
          <p:nvPr/>
        </p:nvSpPr>
        <p:spPr>
          <a:xfrm>
            <a:off x="713232" y="530352"/>
            <a:ext cx="10881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43% em SHA-1 ou MD5 é grave, se é quase tudo raiz privada?</a:t>
            </a:r>
            <a:endParaRPr/>
          </a:p>
        </p:txBody>
      </p:sp>
      <p:sp>
        <p:nvSpPr>
          <p:cNvPr id="857" name="Google Shape;857;p45"/>
          <p:cNvSpPr txBox="1"/>
          <p:nvPr/>
        </p:nvSpPr>
        <p:spPr>
          <a:xfrm>
            <a:off x="713232" y="2240280"/>
            <a:ext cx="10881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96% são autoassinados e 93% vêm marcados como autoridade: a forma é de raiz privada, não de certificado de servidor vazado. Isso muda o risco de vazamento para gestão. Mas raiz privada assinada com SHA-1 continua fraca, e 20% do material já venceu.</a:t>
            </a:r>
            <a:endParaRPr/>
          </a:p>
        </p:txBody>
      </p:sp>
      <p:pic>
        <p:nvPicPr>
          <p:cNvPr descr="image.png" id="858" name="Google Shape;85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46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 · PERGUNTAS</a:t>
            </a:r>
            <a:endParaRPr/>
          </a:p>
        </p:txBody>
      </p:sp>
      <p:sp>
        <p:nvSpPr>
          <p:cNvPr id="865" name="Google Shape;865;p46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46</a:t>
            </a:r>
            <a:endParaRPr/>
          </a:p>
        </p:txBody>
      </p:sp>
      <p:sp>
        <p:nvSpPr>
          <p:cNvPr id="866" name="Google Shape;866;p46"/>
          <p:cNvSpPr txBox="1"/>
          <p:nvPr/>
        </p:nvSpPr>
        <p:spPr>
          <a:xfrm>
            <a:off x="713232" y="530352"/>
            <a:ext cx="10881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As 36 chaves repetidas são exploráveis?</a:t>
            </a:r>
            <a:endParaRPr/>
          </a:p>
        </p:txBody>
      </p:sp>
      <p:sp>
        <p:nvSpPr>
          <p:cNvPr id="867" name="Google Shape;867;p46"/>
          <p:cNvSpPr txBox="1"/>
          <p:nvPr/>
        </p:nvSpPr>
        <p:spPr>
          <a:xfrm>
            <a:off x="713232" y="2240280"/>
            <a:ext cx="10881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Não testei, e por escolha. As imagens são lidas como dado estático, nunca executadas, e nenhuma chave foi testada contra sistema vivo. O que a medição afirma é que 36 chaves privadas em caminho operacional aparecem em mais de uma imagem. Se uma delas for usada em execução, todas as imagens dependem do mesmo segredo.</a:t>
            </a:r>
            <a:endParaRPr/>
          </a:p>
        </p:txBody>
      </p:sp>
      <p:pic>
        <p:nvPicPr>
          <p:cNvPr descr="image.png" id="868" name="Google Shape;86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47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 · PERGUNTAS</a:t>
            </a:r>
            <a:endParaRPr/>
          </a:p>
        </p:txBody>
      </p:sp>
      <p:sp>
        <p:nvSpPr>
          <p:cNvPr id="875" name="Google Shape;875;p47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47</a:t>
            </a:r>
            <a:endParaRPr/>
          </a:p>
        </p:txBody>
      </p:sp>
      <p:sp>
        <p:nvSpPr>
          <p:cNvPr id="876" name="Google Shape;876;p47"/>
          <p:cNvSpPr txBox="1"/>
          <p:nvPr/>
        </p:nvSpPr>
        <p:spPr>
          <a:xfrm>
            <a:off x="713232" y="530352"/>
            <a:ext cx="10881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Só 4 módulos com primo compartilhado. Valeu o batch-GCD?</a:t>
            </a:r>
            <a:endParaRPr/>
          </a:p>
        </p:txBody>
      </p:sp>
      <p:sp>
        <p:nvSpPr>
          <p:cNvPr id="877" name="Google Shape;877;p47"/>
          <p:cNvSpPr txBox="1"/>
          <p:nvPr/>
        </p:nvSpPr>
        <p:spPr>
          <a:xfrm>
            <a:off x="713232" y="2240280"/>
            <a:ext cx="10881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São 4 em 6.116 módulos, 0,065%. Abaixo dos 0,50% que Heninger achou em hosts TLS da Internet, e duas ordens de grandeza acima dos 0,00056% de chaves SSH de desenvolvedor. O teste acha só primo compartilhado: chave de baixa entropia que não colide fica de fora.</a:t>
            </a:r>
            <a:endParaRPr/>
          </a:p>
        </p:txBody>
      </p:sp>
      <p:pic>
        <p:nvPicPr>
          <p:cNvPr descr="image.png" id="878" name="Google Shape;87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48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 · PERGUNTAS</a:t>
            </a:r>
            <a:endParaRPr/>
          </a:p>
        </p:txBody>
      </p:sp>
      <p:sp>
        <p:nvSpPr>
          <p:cNvPr id="885" name="Google Shape;885;p48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48</a:t>
            </a:r>
            <a:endParaRPr/>
          </a:p>
        </p:txBody>
      </p:sp>
      <p:sp>
        <p:nvSpPr>
          <p:cNvPr id="886" name="Google Shape;886;p48"/>
          <p:cNvSpPr txBox="1"/>
          <p:nvPr/>
        </p:nvSpPr>
        <p:spPr>
          <a:xfrm>
            <a:off x="713232" y="530352"/>
            <a:ext cx="10881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Qual a taxa de erro do extrator?</a:t>
            </a:r>
            <a:endParaRPr/>
          </a:p>
        </p:txBody>
      </p:sp>
      <p:sp>
        <p:nvSpPr>
          <p:cNvPr id="887" name="Google Shape;887;p48"/>
          <p:cNvSpPr txBox="1"/>
          <p:nvPr/>
        </p:nvSpPr>
        <p:spPr>
          <a:xfrm>
            <a:off x="713232" y="2240280"/>
            <a:ext cx="10881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Fica em aberto, e digo isso de propósito. Nas 9.888 imagens em que o detector interno acha certificado, o CBOM-Lens relata na mediana metade, e supera o interno em 18% delas. Isso mostra cobertura diferente, não taxa de erro: não há verdade de referência, e inventar uma seria pior do que declarar em aberto.</a:t>
            </a:r>
            <a:endParaRPr/>
          </a:p>
        </p:txBody>
      </p:sp>
      <p:pic>
        <p:nvPicPr>
          <p:cNvPr descr="image.png" id="888" name="Google Shape;88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894" name="Google Shape;89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49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49</a:t>
            </a:r>
            <a:endParaRPr/>
          </a:p>
        </p:txBody>
      </p:sp>
      <p:sp>
        <p:nvSpPr>
          <p:cNvPr id="896" name="Google Shape;896;p49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/>
          </a:p>
        </p:txBody>
      </p:sp>
      <p:sp>
        <p:nvSpPr>
          <p:cNvPr id="897" name="Google Shape;897;p49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alcance do zero</a:t>
            </a:r>
            <a:endParaRPr/>
          </a:p>
        </p:txBody>
      </p:sp>
      <p:sp>
        <p:nvSpPr>
          <p:cNvPr id="898" name="Google Shape;898;p49"/>
          <p:cNvSpPr txBox="1"/>
          <p:nvPr/>
        </p:nvSpPr>
        <p:spPr>
          <a:xfrm>
            <a:off x="713232" y="148132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que os extratores leem, e o que não leem.</a:t>
            </a:r>
            <a:endParaRPr/>
          </a:p>
        </p:txBody>
      </p:sp>
      <p:sp>
        <p:nvSpPr>
          <p:cNvPr id="899" name="Google Shape;899;p49"/>
          <p:cNvSpPr/>
          <p:nvPr/>
        </p:nvSpPr>
        <p:spPr>
          <a:xfrm>
            <a:off x="713232" y="2542032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49"/>
          <p:cNvSpPr txBox="1"/>
          <p:nvPr/>
        </p:nvSpPr>
        <p:spPr>
          <a:xfrm>
            <a:off x="1133856" y="2395728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Arquivo comum até 2 MB: DER, PEM, OpenSSH</a:t>
            </a:r>
            <a:endParaRPr/>
          </a:p>
        </p:txBody>
      </p:sp>
      <p:sp>
        <p:nvSpPr>
          <p:cNvPr id="901" name="Google Shape;901;p49"/>
          <p:cNvSpPr/>
          <p:nvPr/>
        </p:nvSpPr>
        <p:spPr>
          <a:xfrm>
            <a:off x="713232" y="3511296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49"/>
          <p:cNvSpPr txBox="1"/>
          <p:nvPr/>
        </p:nvSpPr>
        <p:spPr>
          <a:xfrm>
            <a:off x="1133856" y="3364992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Lê biblioteca instalada por dpkg e apk</a:t>
            </a:r>
            <a:endParaRPr/>
          </a:p>
        </p:txBody>
      </p:sp>
      <p:sp>
        <p:nvSpPr>
          <p:cNvPr id="903" name="Google Shape;903;p49"/>
          <p:cNvSpPr/>
          <p:nvPr/>
        </p:nvSpPr>
        <p:spPr>
          <a:xfrm>
            <a:off x="713232" y="4480560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49"/>
          <p:cNvSpPr txBox="1"/>
          <p:nvPr/>
        </p:nvSpPr>
        <p:spPr>
          <a:xfrm>
            <a:off x="1133856" y="4334256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Fora: estática, ofuscada, feita em execução</a:t>
            </a:r>
            <a:endParaRPr/>
          </a:p>
        </p:txBody>
      </p:sp>
      <p:sp>
        <p:nvSpPr>
          <p:cNvPr id="905" name="Google Shape;905;p49"/>
          <p:cNvSpPr/>
          <p:nvPr/>
        </p:nvSpPr>
        <p:spPr>
          <a:xfrm>
            <a:off x="484632" y="5303520"/>
            <a:ext cx="11247120" cy="786384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49"/>
          <p:cNvSpPr txBox="1"/>
          <p:nvPr/>
        </p:nvSpPr>
        <p:spPr>
          <a:xfrm>
            <a:off x="868680" y="5413248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Os mesmos parsers leram 4.211.380 objetos.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912" name="Google Shape;91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50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</a:t>
            </a:r>
            <a:endParaRPr/>
          </a:p>
        </p:txBody>
      </p:sp>
      <p:sp>
        <p:nvSpPr>
          <p:cNvPr id="914" name="Google Shape;914;p50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/>
          </a:p>
        </p:txBody>
      </p:sp>
      <p:sp>
        <p:nvSpPr>
          <p:cNvPr id="915" name="Google Shape;915;p50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conta como vulnerável</a:t>
            </a:r>
            <a:endParaRPr/>
          </a:p>
        </p:txBody>
      </p:sp>
      <p:sp>
        <p:nvSpPr>
          <p:cNvPr id="916" name="Google Shape;916;p50"/>
          <p:cNvSpPr txBox="1"/>
          <p:nvPr/>
        </p:nvSpPr>
        <p:spPr>
          <a:xfrm>
            <a:off x="713232" y="148132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Nenhum objeto caiu na coluna pós-quântica.</a:t>
            </a:r>
            <a:endParaRPr/>
          </a:p>
        </p:txBody>
      </p:sp>
      <p:sp>
        <p:nvSpPr>
          <p:cNvPr id="917" name="Google Shape;917;p50"/>
          <p:cNvSpPr txBox="1"/>
          <p:nvPr/>
        </p:nvSpPr>
        <p:spPr>
          <a:xfrm>
            <a:off x="777240" y="233172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Vulneráveis ao quântico</a:t>
            </a:r>
            <a:endParaRPr/>
          </a:p>
        </p:txBody>
      </p:sp>
      <p:sp>
        <p:nvSpPr>
          <p:cNvPr id="918" name="Google Shape;918;p50"/>
          <p:cNvSpPr txBox="1"/>
          <p:nvPr/>
        </p:nvSpPr>
        <p:spPr>
          <a:xfrm>
            <a:off x="6400800" y="2331720"/>
            <a:ext cx="5394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Pós-quânticas</a:t>
            </a:r>
            <a:endParaRPr/>
          </a:p>
        </p:txBody>
      </p:sp>
      <p:sp>
        <p:nvSpPr>
          <p:cNvPr id="919" name="Google Shape;919;p50"/>
          <p:cNvSpPr/>
          <p:nvPr/>
        </p:nvSpPr>
        <p:spPr>
          <a:xfrm>
            <a:off x="777240" y="2852928"/>
            <a:ext cx="10881360" cy="18288"/>
          </a:xfrm>
          <a:prstGeom prst="rect">
            <a:avLst/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50"/>
          <p:cNvSpPr txBox="1"/>
          <p:nvPr/>
        </p:nvSpPr>
        <p:spPr>
          <a:xfrm>
            <a:off x="777240" y="292608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RSA</a:t>
            </a:r>
            <a:endParaRPr/>
          </a:p>
        </p:txBody>
      </p:sp>
      <p:sp>
        <p:nvSpPr>
          <p:cNvPr id="921" name="Google Shape;921;p50"/>
          <p:cNvSpPr txBox="1"/>
          <p:nvPr/>
        </p:nvSpPr>
        <p:spPr>
          <a:xfrm>
            <a:off x="6400800" y="292608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5B3FD6"/>
                </a:solidFill>
                <a:latin typeface="Inter"/>
                <a:ea typeface="Inter"/>
                <a:cs typeface="Inter"/>
                <a:sym typeface="Inter"/>
              </a:rPr>
              <a:t>ML-KEM (Kyber)</a:t>
            </a:r>
            <a:endParaRPr/>
          </a:p>
        </p:txBody>
      </p:sp>
      <p:sp>
        <p:nvSpPr>
          <p:cNvPr id="922" name="Google Shape;922;p50"/>
          <p:cNvSpPr txBox="1"/>
          <p:nvPr/>
        </p:nvSpPr>
        <p:spPr>
          <a:xfrm>
            <a:off x="777240" y="3456432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DSA</a:t>
            </a:r>
            <a:endParaRPr/>
          </a:p>
        </p:txBody>
      </p:sp>
      <p:sp>
        <p:nvSpPr>
          <p:cNvPr id="923" name="Google Shape;923;p50"/>
          <p:cNvSpPr txBox="1"/>
          <p:nvPr/>
        </p:nvSpPr>
        <p:spPr>
          <a:xfrm>
            <a:off x="6400800" y="3456432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5B3FD6"/>
                </a:solidFill>
                <a:latin typeface="Inter"/>
                <a:ea typeface="Inter"/>
                <a:cs typeface="Inter"/>
                <a:sym typeface="Inter"/>
              </a:rPr>
              <a:t>ML-DSA (Dilithium)</a:t>
            </a:r>
            <a:endParaRPr/>
          </a:p>
        </p:txBody>
      </p:sp>
      <p:sp>
        <p:nvSpPr>
          <p:cNvPr id="924" name="Google Shape;924;p50"/>
          <p:cNvSpPr txBox="1"/>
          <p:nvPr/>
        </p:nvSpPr>
        <p:spPr>
          <a:xfrm>
            <a:off x="777240" y="3986784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Diffie-Hellman</a:t>
            </a:r>
            <a:endParaRPr/>
          </a:p>
        </p:txBody>
      </p:sp>
      <p:sp>
        <p:nvSpPr>
          <p:cNvPr id="925" name="Google Shape;925;p50"/>
          <p:cNvSpPr txBox="1"/>
          <p:nvPr/>
        </p:nvSpPr>
        <p:spPr>
          <a:xfrm>
            <a:off x="6400800" y="3986784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5B3FD6"/>
                </a:solidFill>
                <a:latin typeface="Inter"/>
                <a:ea typeface="Inter"/>
                <a:cs typeface="Inter"/>
                <a:sym typeface="Inter"/>
              </a:rPr>
              <a:t>SLH-DSA (SPHINCS+)</a:t>
            </a:r>
            <a:endParaRPr/>
          </a:p>
        </p:txBody>
      </p:sp>
      <p:sp>
        <p:nvSpPr>
          <p:cNvPr id="926" name="Google Shape;926;p50"/>
          <p:cNvSpPr txBox="1"/>
          <p:nvPr/>
        </p:nvSpPr>
        <p:spPr>
          <a:xfrm>
            <a:off x="777240" y="4517136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ECDSA e ECDH</a:t>
            </a:r>
            <a:endParaRPr/>
          </a:p>
        </p:txBody>
      </p:sp>
      <p:sp>
        <p:nvSpPr>
          <p:cNvPr id="927" name="Google Shape;927;p50"/>
          <p:cNvSpPr txBox="1"/>
          <p:nvPr/>
        </p:nvSpPr>
        <p:spPr>
          <a:xfrm>
            <a:off x="6400800" y="4517136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5B3FD6"/>
                </a:solidFill>
                <a:latin typeface="Inter"/>
                <a:ea typeface="Inter"/>
                <a:cs typeface="Inter"/>
                <a:sym typeface="Inter"/>
              </a:rPr>
              <a:t>FN-DSA (Falcon)</a:t>
            </a:r>
            <a:endParaRPr/>
          </a:p>
        </p:txBody>
      </p:sp>
      <p:sp>
        <p:nvSpPr>
          <p:cNvPr id="928" name="Google Shape;928;p50"/>
          <p:cNvSpPr txBox="1"/>
          <p:nvPr/>
        </p:nvSpPr>
        <p:spPr>
          <a:xfrm>
            <a:off x="777240" y="5047488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Ed25519 e Ed448</a:t>
            </a:r>
            <a:endParaRPr/>
          </a:p>
        </p:txBody>
      </p:sp>
      <p:sp>
        <p:nvSpPr>
          <p:cNvPr id="929" name="Google Shape;929;p50"/>
          <p:cNvSpPr txBox="1"/>
          <p:nvPr/>
        </p:nvSpPr>
        <p:spPr>
          <a:xfrm>
            <a:off x="6400800" y="5047488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5B3FD6"/>
                </a:solidFill>
                <a:latin typeface="Inter"/>
                <a:ea typeface="Inter"/>
                <a:cs typeface="Inter"/>
                <a:sym typeface="Inter"/>
              </a:rPr>
              <a:t>FrodoKEM, HQC, BIKE</a:t>
            </a:r>
            <a:endParaRPr/>
          </a:p>
        </p:txBody>
      </p:sp>
      <p:sp>
        <p:nvSpPr>
          <p:cNvPr id="930" name="Google Shape;930;p50"/>
          <p:cNvSpPr txBox="1"/>
          <p:nvPr/>
        </p:nvSpPr>
        <p:spPr>
          <a:xfrm>
            <a:off x="777240" y="557784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X25519 e X448</a:t>
            </a:r>
            <a:endParaRPr/>
          </a:p>
        </p:txBody>
      </p:sp>
      <p:sp>
        <p:nvSpPr>
          <p:cNvPr id="931" name="Google Shape;931;p50"/>
          <p:cNvSpPr txBox="1"/>
          <p:nvPr/>
        </p:nvSpPr>
        <p:spPr>
          <a:xfrm>
            <a:off x="6400800" y="557784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5B3FD6"/>
                </a:solidFill>
                <a:latin typeface="Inter"/>
                <a:ea typeface="Inter"/>
                <a:cs typeface="Inter"/>
                <a:sym typeface="Inter"/>
              </a:rPr>
              <a:t>McEliece, XMSS, LMS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937" name="Google Shape;9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51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51</a:t>
            </a:r>
            <a:endParaRPr/>
          </a:p>
        </p:txBody>
      </p:sp>
      <p:sp>
        <p:nvSpPr>
          <p:cNvPr id="939" name="Google Shape;939;p51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/>
          </a:p>
        </p:txBody>
      </p:sp>
      <p:sp>
        <p:nvSpPr>
          <p:cNvPr id="940" name="Google Shape;940;p51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Por que o CSV diz 4.211.292</a:t>
            </a:r>
            <a:endParaRPr/>
          </a:p>
        </p:txBody>
      </p:sp>
      <p:sp>
        <p:nvSpPr>
          <p:cNvPr id="941" name="Google Shape;941;p51"/>
          <p:cNvSpPr txBox="1"/>
          <p:nvPr/>
        </p:nvSpPr>
        <p:spPr>
          <a:xfrm>
            <a:off x="713232" y="148132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88 objetos que a coleta deixou sem rótulo.</a:t>
            </a:r>
            <a:endParaRPr/>
          </a:p>
        </p:txBody>
      </p:sp>
      <p:sp>
        <p:nvSpPr>
          <p:cNvPr id="942" name="Google Shape;942;p51"/>
          <p:cNvSpPr/>
          <p:nvPr/>
        </p:nvSpPr>
        <p:spPr>
          <a:xfrm>
            <a:off x="713232" y="2542032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51"/>
          <p:cNvSpPr txBox="1"/>
          <p:nvPr/>
        </p:nvSpPr>
        <p:spPr>
          <a:xfrm>
            <a:off x="1133856" y="2395728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Chave pública X25519, fora do trust store</a:t>
            </a:r>
            <a:endParaRPr/>
          </a:p>
        </p:txBody>
      </p:sp>
      <p:sp>
        <p:nvSpPr>
          <p:cNvPr id="944" name="Google Shape;944;p51"/>
          <p:cNvSpPr/>
          <p:nvPr/>
        </p:nvSpPr>
        <p:spPr>
          <a:xfrm>
            <a:off x="713232" y="3511296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51"/>
          <p:cNvSpPr txBox="1"/>
          <p:nvPr/>
        </p:nvSpPr>
        <p:spPr>
          <a:xfrm>
            <a:off x="1133856" y="3364992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X25519 é curva elíptica, e cai por Shor</a:t>
            </a:r>
            <a:endParaRPr/>
          </a:p>
        </p:txBody>
      </p:sp>
      <p:sp>
        <p:nvSpPr>
          <p:cNvPr id="946" name="Google Shape;946;p51"/>
          <p:cNvSpPr/>
          <p:nvPr/>
        </p:nvSpPr>
        <p:spPr>
          <a:xfrm>
            <a:off x="713232" y="4480560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51"/>
          <p:cNvSpPr txBox="1"/>
          <p:nvPr/>
        </p:nvSpPr>
        <p:spPr>
          <a:xfrm>
            <a:off x="1133856" y="4334256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Corrigido no artefato; o CSV não foi regerado</a:t>
            </a:r>
            <a:endParaRPr/>
          </a:p>
        </p:txBody>
      </p:sp>
      <p:sp>
        <p:nvSpPr>
          <p:cNvPr id="948" name="Google Shape;948;p51"/>
          <p:cNvSpPr/>
          <p:nvPr/>
        </p:nvSpPr>
        <p:spPr>
          <a:xfrm>
            <a:off x="484632" y="5303520"/>
            <a:ext cx="11247120" cy="786384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51"/>
          <p:cNvSpPr txBox="1"/>
          <p:nvPr/>
        </p:nvSpPr>
        <p:spPr>
          <a:xfrm>
            <a:off x="868680" y="5413248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Nenhum dos 88 é pós-quântico. O zero fica.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955" name="Google Shape;95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52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52</a:t>
            </a:r>
            <a:endParaRPr/>
          </a:p>
        </p:txBody>
      </p:sp>
      <p:sp>
        <p:nvSpPr>
          <p:cNvPr id="957" name="Google Shape;957;p52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/>
          </a:p>
        </p:txBody>
      </p:sp>
      <p:sp>
        <p:nvSpPr>
          <p:cNvPr id="958" name="Google Shape;958;p52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 onde vêm os 4.211.380</a:t>
            </a:r>
            <a:endParaRPr/>
          </a:p>
        </p:txBody>
      </p:sp>
      <p:sp>
        <p:nvSpPr>
          <p:cNvPr id="959" name="Google Shape;959;p52"/>
          <p:cNvSpPr txBox="1"/>
          <p:nvPr/>
        </p:nvSpPr>
        <p:spPr>
          <a:xfrm>
            <a:off x="713232" y="148132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Os quatro grupos, e a soma que fecha.</a:t>
            </a:r>
            <a:endParaRPr/>
          </a:p>
        </p:txBody>
      </p:sp>
      <p:sp>
        <p:nvSpPr>
          <p:cNvPr id="960" name="Google Shape;960;p52"/>
          <p:cNvSpPr txBox="1"/>
          <p:nvPr/>
        </p:nvSpPr>
        <p:spPr>
          <a:xfrm>
            <a:off x="777240" y="2359152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Certificados no trust store</a:t>
            </a:r>
            <a:endParaRPr/>
          </a:p>
        </p:txBody>
      </p:sp>
      <p:sp>
        <p:nvSpPr>
          <p:cNvPr id="961" name="Google Shape;961;p52"/>
          <p:cNvSpPr txBox="1"/>
          <p:nvPr/>
        </p:nvSpPr>
        <p:spPr>
          <a:xfrm>
            <a:off x="8778240" y="2359152"/>
            <a:ext cx="2880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3.511.725</a:t>
            </a:r>
            <a:endParaRPr/>
          </a:p>
        </p:txBody>
      </p:sp>
      <p:sp>
        <p:nvSpPr>
          <p:cNvPr id="962" name="Google Shape;962;p52"/>
          <p:cNvSpPr txBox="1"/>
          <p:nvPr/>
        </p:nvSpPr>
        <p:spPr>
          <a:xfrm>
            <a:off x="777240" y="2926080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Certificados fora do trust store</a:t>
            </a:r>
            <a:endParaRPr/>
          </a:p>
        </p:txBody>
      </p:sp>
      <p:sp>
        <p:nvSpPr>
          <p:cNvPr id="963" name="Google Shape;963;p52"/>
          <p:cNvSpPr txBox="1"/>
          <p:nvPr/>
        </p:nvSpPr>
        <p:spPr>
          <a:xfrm>
            <a:off x="8778240" y="2926080"/>
            <a:ext cx="2880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518.668</a:t>
            </a:r>
            <a:endParaRPr/>
          </a:p>
        </p:txBody>
      </p:sp>
      <p:sp>
        <p:nvSpPr>
          <p:cNvPr id="964" name="Google Shape;964;p52"/>
          <p:cNvSpPr txBox="1"/>
          <p:nvPr/>
        </p:nvSpPr>
        <p:spPr>
          <a:xfrm>
            <a:off x="777240" y="3493008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Chaves fora do trust store</a:t>
            </a:r>
            <a:endParaRPr/>
          </a:p>
        </p:txBody>
      </p:sp>
      <p:sp>
        <p:nvSpPr>
          <p:cNvPr id="965" name="Google Shape;965;p52"/>
          <p:cNvSpPr txBox="1"/>
          <p:nvPr/>
        </p:nvSpPr>
        <p:spPr>
          <a:xfrm>
            <a:off x="8778240" y="3493008"/>
            <a:ext cx="2880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178.455</a:t>
            </a:r>
            <a:endParaRPr/>
          </a:p>
        </p:txBody>
      </p:sp>
      <p:sp>
        <p:nvSpPr>
          <p:cNvPr id="966" name="Google Shape;966;p52"/>
          <p:cNvSpPr txBox="1"/>
          <p:nvPr/>
        </p:nvSpPr>
        <p:spPr>
          <a:xfrm>
            <a:off x="777240" y="4059935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Chaves no trust store</a:t>
            </a:r>
            <a:endParaRPr/>
          </a:p>
        </p:txBody>
      </p:sp>
      <p:sp>
        <p:nvSpPr>
          <p:cNvPr id="967" name="Google Shape;967;p52"/>
          <p:cNvSpPr txBox="1"/>
          <p:nvPr/>
        </p:nvSpPr>
        <p:spPr>
          <a:xfrm>
            <a:off x="8778240" y="4059935"/>
            <a:ext cx="2880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2.532</a:t>
            </a:r>
            <a:endParaRPr/>
          </a:p>
        </p:txBody>
      </p:sp>
      <p:sp>
        <p:nvSpPr>
          <p:cNvPr id="968" name="Google Shape;968;p52"/>
          <p:cNvSpPr/>
          <p:nvPr/>
        </p:nvSpPr>
        <p:spPr>
          <a:xfrm>
            <a:off x="777240" y="4700016"/>
            <a:ext cx="10881360" cy="18288"/>
          </a:xfrm>
          <a:prstGeom prst="rect">
            <a:avLst/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52"/>
          <p:cNvSpPr txBox="1"/>
          <p:nvPr/>
        </p:nvSpPr>
        <p:spPr>
          <a:xfrm>
            <a:off x="777240" y="4791456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Total de chave pública</a:t>
            </a:r>
            <a:endParaRPr/>
          </a:p>
        </p:txBody>
      </p:sp>
      <p:sp>
        <p:nvSpPr>
          <p:cNvPr id="970" name="Google Shape;970;p52"/>
          <p:cNvSpPr txBox="1"/>
          <p:nvPr/>
        </p:nvSpPr>
        <p:spPr>
          <a:xfrm>
            <a:off x="8778240" y="4791456"/>
            <a:ext cx="2880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4.211.380</a:t>
            </a:r>
            <a:endParaRPr/>
          </a:p>
        </p:txBody>
      </p:sp>
      <p:sp>
        <p:nvSpPr>
          <p:cNvPr id="971" name="Google Shape;971;p52"/>
          <p:cNvSpPr/>
          <p:nvPr/>
        </p:nvSpPr>
        <p:spPr>
          <a:xfrm>
            <a:off x="484632" y="5413248"/>
            <a:ext cx="11247120" cy="786384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52"/>
          <p:cNvSpPr txBox="1"/>
          <p:nvPr/>
        </p:nvSpPr>
        <p:spPr>
          <a:xfrm>
            <a:off x="868680" y="5522976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83% do total é bundle de trust store.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978" name="Google Shape;97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53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53</a:t>
            </a:r>
            <a:endParaRPr/>
          </a:p>
        </p:txBody>
      </p:sp>
      <p:sp>
        <p:nvSpPr>
          <p:cNvPr id="980" name="Google Shape;980;p53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/>
          </a:p>
        </p:txBody>
      </p:sp>
      <p:sp>
        <p:nvSpPr>
          <p:cNvPr id="981" name="Google Shape;981;p53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Por que separar o trust store</a:t>
            </a:r>
            <a:endParaRPr/>
          </a:p>
        </p:txBody>
      </p:sp>
      <p:sp>
        <p:nvSpPr>
          <p:cNvPr id="982" name="Google Shape;982;p53"/>
          <p:cNvSpPr txBox="1"/>
          <p:nvPr/>
        </p:nvSpPr>
        <p:spPr>
          <a:xfrm>
            <a:off x="713232" y="148132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Sem o corte, o bundle compartilhado domina.</a:t>
            </a:r>
            <a:endParaRPr/>
          </a:p>
        </p:txBody>
      </p:sp>
      <p:sp>
        <p:nvSpPr>
          <p:cNvPr id="983" name="Google Shape;983;p53"/>
          <p:cNvSpPr/>
          <p:nvPr/>
        </p:nvSpPr>
        <p:spPr>
          <a:xfrm>
            <a:off x="713232" y="2542032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53"/>
          <p:cNvSpPr txBox="1"/>
          <p:nvPr/>
        </p:nvSpPr>
        <p:spPr>
          <a:xfrm>
            <a:off x="1133856" y="2395728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Entra: /etc/ssl/certs, /etc/pki e o certifi</a:t>
            </a:r>
            <a:endParaRPr/>
          </a:p>
        </p:txBody>
      </p:sp>
      <p:sp>
        <p:nvSpPr>
          <p:cNvPr id="985" name="Google Shape;985;p53"/>
          <p:cNvSpPr/>
          <p:nvPr/>
        </p:nvSpPr>
        <p:spPr>
          <a:xfrm>
            <a:off x="713232" y="3511296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53"/>
          <p:cNvSpPr txBox="1"/>
          <p:nvPr/>
        </p:nvSpPr>
        <p:spPr>
          <a:xfrm>
            <a:off x="1133856" y="3364992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Duas chaves do apk: em 4.186 imagens cada</a:t>
            </a:r>
            <a:endParaRPr/>
          </a:p>
        </p:txBody>
      </p:sp>
      <p:sp>
        <p:nvSpPr>
          <p:cNvPr id="987" name="Google Shape;987;p53"/>
          <p:cNvSpPr/>
          <p:nvPr/>
        </p:nvSpPr>
        <p:spPr>
          <a:xfrm>
            <a:off x="713232" y="4480560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53"/>
          <p:cNvSpPr txBox="1"/>
          <p:nvPr/>
        </p:nvSpPr>
        <p:spPr>
          <a:xfrm>
            <a:off x="1133856" y="4334256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Fora do trust store 43%, dentro 32,3%</a:t>
            </a:r>
            <a:endParaRPr/>
          </a:p>
        </p:txBody>
      </p:sp>
      <p:sp>
        <p:nvSpPr>
          <p:cNvPr id="989" name="Google Shape;989;p53"/>
          <p:cNvSpPr/>
          <p:nvPr/>
        </p:nvSpPr>
        <p:spPr>
          <a:xfrm>
            <a:off x="713232" y="544982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53"/>
          <p:cNvSpPr txBox="1"/>
          <p:nvPr/>
        </p:nvSpPr>
        <p:spPr>
          <a:xfrm>
            <a:off x="1133856" y="5303520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Caminho não diz quem criou nem quem usa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996" name="Google Shape;99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54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54</a:t>
            </a:r>
            <a:endParaRPr/>
          </a:p>
        </p:txBody>
      </p:sp>
      <p:sp>
        <p:nvSpPr>
          <p:cNvPr id="998" name="Google Shape;998;p54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/>
          </a:p>
        </p:txBody>
      </p:sp>
      <p:sp>
        <p:nvSpPr>
          <p:cNvPr id="999" name="Google Shape;999;p54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Por que só a tag latest</a:t>
            </a:r>
            <a:endParaRPr/>
          </a:p>
        </p:txBody>
      </p:sp>
      <p:sp>
        <p:nvSpPr>
          <p:cNvPr id="1000" name="Google Shape;1000;p54"/>
          <p:cNvSpPr txBox="1"/>
          <p:nvPr/>
        </p:nvSpPr>
        <p:spPr>
          <a:xfrm>
            <a:off x="713232" y="148132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crawl enumera repositório, não lista de tags.</a:t>
            </a:r>
            <a:endParaRPr/>
          </a:p>
        </p:txBody>
      </p:sp>
      <p:sp>
        <p:nvSpPr>
          <p:cNvPr id="1001" name="Google Shape;1001;p54"/>
          <p:cNvSpPr/>
          <p:nvPr/>
        </p:nvSpPr>
        <p:spPr>
          <a:xfrm>
            <a:off x="713232" y="2542032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54"/>
          <p:cNvSpPr txBox="1"/>
          <p:nvPr/>
        </p:nvSpPr>
        <p:spPr>
          <a:xfrm>
            <a:off x="1133856" y="2395728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latest é a única referência de todo repositório</a:t>
            </a:r>
            <a:endParaRPr/>
          </a:p>
        </p:txBody>
      </p:sp>
      <p:sp>
        <p:nvSpPr>
          <p:cNvPr id="1003" name="Google Shape;1003;p54"/>
          <p:cNvSpPr/>
          <p:nvPr/>
        </p:nvSpPr>
        <p:spPr>
          <a:xfrm>
            <a:off x="713232" y="3511296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54"/>
          <p:cNvSpPr txBox="1"/>
          <p:nvPr/>
        </p:nvSpPr>
        <p:spPr>
          <a:xfrm>
            <a:off x="1133856" y="3364992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34,7% não resolvem: existem, sem latest</a:t>
            </a:r>
            <a:endParaRPr/>
          </a:p>
        </p:txBody>
      </p:sp>
      <p:sp>
        <p:nvSpPr>
          <p:cNvPr id="1005" name="Google Shape;1005;p54"/>
          <p:cNvSpPr/>
          <p:nvPr/>
        </p:nvSpPr>
        <p:spPr>
          <a:xfrm>
            <a:off x="713232" y="4480560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54"/>
          <p:cNvSpPr txBox="1"/>
          <p:nvPr/>
        </p:nvSpPr>
        <p:spPr>
          <a:xfrm>
            <a:off x="1133856" y="4334256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193 de 200 reconferidas ainda existiam</a:t>
            </a:r>
            <a:endParaRPr/>
          </a:p>
        </p:txBody>
      </p:sp>
      <p:sp>
        <p:nvSpPr>
          <p:cNvPr id="1007" name="Google Shape;1007;p54"/>
          <p:cNvSpPr/>
          <p:nvPr/>
        </p:nvSpPr>
        <p:spPr>
          <a:xfrm>
            <a:off x="484632" y="5303520"/>
            <a:ext cx="11247120" cy="786384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54"/>
          <p:cNvSpPr txBox="1"/>
          <p:nvPr/>
        </p:nvSpPr>
        <p:spPr>
          <a:xfrm>
            <a:off x="868680" y="5413248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As estimativas valem para latest baixável.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014" name="Google Shape;101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55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55</a:t>
            </a:r>
            <a:endParaRPr/>
          </a:p>
        </p:txBody>
      </p:sp>
      <p:sp>
        <p:nvSpPr>
          <p:cNvPr id="1016" name="Google Shape;1016;p55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/>
          </a:p>
        </p:txBody>
      </p:sp>
      <p:sp>
        <p:nvSpPr>
          <p:cNvPr id="1017" name="Google Shape;1017;p55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se perde nas 1.078</a:t>
            </a:r>
            <a:endParaRPr/>
          </a:p>
        </p:txBody>
      </p:sp>
      <p:sp>
        <p:nvSpPr>
          <p:cNvPr id="1018" name="Google Shape;1018;p55"/>
          <p:cNvSpPr txBox="1"/>
          <p:nvPr/>
        </p:nvSpPr>
        <p:spPr>
          <a:xfrm>
            <a:off x="713232" y="148132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limite de 4 GiB é escolha declarada.</a:t>
            </a:r>
            <a:endParaRPr/>
          </a:p>
        </p:txBody>
      </p:sp>
      <p:sp>
        <p:nvSpPr>
          <p:cNvPr id="1019" name="Google Shape;1019;p55"/>
          <p:cNvSpPr/>
          <p:nvPr/>
        </p:nvSpPr>
        <p:spPr>
          <a:xfrm>
            <a:off x="713232" y="2523744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55"/>
          <p:cNvSpPr txBox="1"/>
          <p:nvPr/>
        </p:nvSpPr>
        <p:spPr>
          <a:xfrm>
            <a:off x="1133856" y="2377440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657 passam de 4 GiB: são as imagens grandes</a:t>
            </a:r>
            <a:endParaRPr/>
          </a:p>
        </p:txBody>
      </p:sp>
      <p:sp>
        <p:nvSpPr>
          <p:cNvPr id="1021" name="Google Shape;1021;p55"/>
          <p:cNvSpPr/>
          <p:nvPr/>
        </p:nvSpPr>
        <p:spPr>
          <a:xfrm>
            <a:off x="713232" y="3493008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55"/>
          <p:cNvSpPr txBox="1"/>
          <p:nvPr/>
        </p:nvSpPr>
        <p:spPr>
          <a:xfrm>
            <a:off x="1133856" y="3346704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 postura delas fica desconhecida</a:t>
            </a:r>
            <a:endParaRPr/>
          </a:p>
        </p:txBody>
      </p:sp>
      <p:sp>
        <p:nvSpPr>
          <p:cNvPr id="1023" name="Google Shape;1023;p55"/>
          <p:cNvSpPr/>
          <p:nvPr/>
        </p:nvSpPr>
        <p:spPr>
          <a:xfrm>
            <a:off x="713232" y="4462272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55"/>
          <p:cNvSpPr txBox="1"/>
          <p:nvPr/>
        </p:nvSpPr>
        <p:spPr>
          <a:xfrm>
            <a:off x="1133856" y="4315968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192 privadas e 148 sem variante amd64</a:t>
            </a:r>
            <a:endParaRPr/>
          </a:p>
        </p:txBody>
      </p:sp>
      <p:sp>
        <p:nvSpPr>
          <p:cNvPr id="1025" name="Google Shape;1025;p55"/>
          <p:cNvSpPr/>
          <p:nvPr/>
        </p:nvSpPr>
        <p:spPr>
          <a:xfrm>
            <a:off x="713232" y="5431536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55"/>
          <p:cNvSpPr txBox="1"/>
          <p:nvPr/>
        </p:nvSpPr>
        <p:spPr>
          <a:xfrm>
            <a:off x="1133856" y="5285232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Das 81 que falharam, 46 são defeito nosso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032" name="Google Shape;103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56"/>
          <p:cNvSpPr txBox="1"/>
          <p:nvPr/>
        </p:nvSpPr>
        <p:spPr>
          <a:xfrm>
            <a:off x="11402568" y="63642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56</a:t>
            </a:r>
            <a:endParaRPr/>
          </a:p>
        </p:txBody>
      </p:sp>
      <p:sp>
        <p:nvSpPr>
          <p:cNvPr id="1034" name="Google Shape;1034;p56"/>
          <p:cNvSpPr txBox="1"/>
          <p:nvPr/>
        </p:nvSpPr>
        <p:spPr>
          <a:xfrm>
            <a:off x="731520" y="128016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/>
          </a:p>
        </p:txBody>
      </p:sp>
      <p:sp>
        <p:nvSpPr>
          <p:cNvPr id="1035" name="Google Shape;1035;p56"/>
          <p:cNvSpPr txBox="1"/>
          <p:nvPr/>
        </p:nvSpPr>
        <p:spPr>
          <a:xfrm>
            <a:off x="713232" y="530352"/>
            <a:ext cx="10881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Uma foto só, não uma série</a:t>
            </a:r>
            <a:endParaRPr/>
          </a:p>
        </p:txBody>
      </p:sp>
      <p:sp>
        <p:nvSpPr>
          <p:cNvPr id="1036" name="Google Shape;1036;p56"/>
          <p:cNvSpPr txBox="1"/>
          <p:nvPr/>
        </p:nvSpPr>
        <p:spPr>
          <a:xfrm>
            <a:off x="713232" y="148132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censo mede nível, não tendência.</a:t>
            </a:r>
            <a:endParaRPr/>
          </a:p>
        </p:txBody>
      </p:sp>
      <p:sp>
        <p:nvSpPr>
          <p:cNvPr id="1037" name="Google Shape;1037;p56"/>
          <p:cNvSpPr/>
          <p:nvPr/>
        </p:nvSpPr>
        <p:spPr>
          <a:xfrm>
            <a:off x="713232" y="2542032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56"/>
          <p:cNvSpPr txBox="1"/>
          <p:nvPr/>
        </p:nvSpPr>
        <p:spPr>
          <a:xfrm>
            <a:off x="1133856" y="2395728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Não sabemos se o zero está subindo ou parado</a:t>
            </a:r>
            <a:endParaRPr/>
          </a:p>
        </p:txBody>
      </p:sp>
      <p:sp>
        <p:nvSpPr>
          <p:cNvPr id="1039" name="Google Shape;1039;p56"/>
          <p:cNvSpPr/>
          <p:nvPr/>
        </p:nvSpPr>
        <p:spPr>
          <a:xfrm>
            <a:off x="713232" y="3511296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56"/>
          <p:cNvSpPr txBox="1"/>
          <p:nvPr/>
        </p:nvSpPr>
        <p:spPr>
          <a:xfrm>
            <a:off x="1133856" y="3364992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Mesma semente, mesma amostra: sorteio fixo</a:t>
            </a:r>
            <a:endParaRPr/>
          </a:p>
        </p:txBody>
      </p:sp>
      <p:sp>
        <p:nvSpPr>
          <p:cNvPr id="1041" name="Google Shape;1041;p56"/>
          <p:cNvSpPr/>
          <p:nvPr/>
        </p:nvSpPr>
        <p:spPr>
          <a:xfrm>
            <a:off x="713232" y="4480560"/>
            <a:ext cx="182880" cy="182880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56"/>
          <p:cNvSpPr txBox="1"/>
          <p:nvPr/>
        </p:nvSpPr>
        <p:spPr>
          <a:xfrm>
            <a:off x="1133856" y="4334256"/>
            <a:ext cx="1046073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Repetir em outra data vira série temporal</a:t>
            </a:r>
            <a:endParaRPr/>
          </a:p>
        </p:txBody>
      </p:sp>
      <p:sp>
        <p:nvSpPr>
          <p:cNvPr id="1043" name="Google Shape;1043;p56"/>
          <p:cNvSpPr/>
          <p:nvPr/>
        </p:nvSpPr>
        <p:spPr>
          <a:xfrm>
            <a:off x="484632" y="5303520"/>
            <a:ext cx="11247120" cy="786384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56"/>
          <p:cNvSpPr txBox="1"/>
          <p:nvPr/>
        </p:nvSpPr>
        <p:spPr>
          <a:xfrm>
            <a:off x="868680" y="5413248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quadro amostral está publicado para isso.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
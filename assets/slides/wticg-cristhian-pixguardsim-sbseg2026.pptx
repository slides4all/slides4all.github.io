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6858000" cx="12191675"/>
  <p:notesSz cx="6858000" cy="9144000"/>
  <p:embeddedFontLst>
    <p:embeddedFont>
      <p:font typeface="Inter"/>
      <p:regular r:id="rId61"/>
      <p:bold r:id="rId62"/>
      <p:italic r:id="rId63"/>
      <p:boldItalic r:id="rId64"/>
    </p:embeddedFont>
    <p:embeddedFont>
      <p:font typeface="JetBrains Mono"/>
      <p:regular r:id="rId65"/>
      <p:bold r:id="rId66"/>
      <p:italic r:id="rId67"/>
      <p:boldItalic r:id="rId68"/>
    </p:embeddedFont>
    <p:embeddedFont>
      <p:font typeface="Space Grotesk"/>
      <p:regular r:id="rId69"/>
      <p:bold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1" roundtripDataSignature="AMtx7mhwZzpVnXyajnaWSO50bmFVSGaF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customschemas.google.com/relationships/presentationmetadata" Target="metadata"/><Relationship Id="rId70" Type="http://schemas.openxmlformats.org/officeDocument/2006/relationships/font" Target="fonts/SpaceGrotesk-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nter-bold.fntdata"/><Relationship Id="rId61" Type="http://schemas.openxmlformats.org/officeDocument/2006/relationships/font" Target="fonts/Inter-regular.fntdata"/><Relationship Id="rId20" Type="http://schemas.openxmlformats.org/officeDocument/2006/relationships/slide" Target="slides/slide15.xml"/><Relationship Id="rId64" Type="http://schemas.openxmlformats.org/officeDocument/2006/relationships/font" Target="fonts/Inter-boldItalic.fntdata"/><Relationship Id="rId63" Type="http://schemas.openxmlformats.org/officeDocument/2006/relationships/font" Target="fonts/Inter-italic.fntdata"/><Relationship Id="rId22" Type="http://schemas.openxmlformats.org/officeDocument/2006/relationships/slide" Target="slides/slide17.xml"/><Relationship Id="rId66" Type="http://schemas.openxmlformats.org/officeDocument/2006/relationships/font" Target="fonts/JetBrainsMono-bold.fntdata"/><Relationship Id="rId21" Type="http://schemas.openxmlformats.org/officeDocument/2006/relationships/slide" Target="slides/slide16.xml"/><Relationship Id="rId65" Type="http://schemas.openxmlformats.org/officeDocument/2006/relationships/font" Target="fonts/JetBrainsMono-regular.fntdata"/><Relationship Id="rId24" Type="http://schemas.openxmlformats.org/officeDocument/2006/relationships/slide" Target="slides/slide19.xml"/><Relationship Id="rId68" Type="http://schemas.openxmlformats.org/officeDocument/2006/relationships/font" Target="fonts/JetBrainsMono-boldItalic.fntdata"/><Relationship Id="rId23" Type="http://schemas.openxmlformats.org/officeDocument/2006/relationships/slide" Target="slides/slide18.xml"/><Relationship Id="rId67" Type="http://schemas.openxmlformats.org/officeDocument/2006/relationships/font" Target="fonts/JetBrainsMono-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SpaceGrotesk-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[22 s] FALA Boa tarde. Meu nome é Cristhian Kapelinski, da Universidade Federal do Pampa, e este trabalho é em coautoria com o professor Diego Kreutz. A pergunta que guia a apresentação é esta: quando a regulação dá à instituição pagadora cerca de um segundo e meio para decidir, o que a acurácia de um detector de fraude ainda significa?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PixGuard-Sim: nome do testbed aberto apresentado neste trabalho, que pontua um detector de fraude no Pix contra o prazo de decisão medido a partir da própria latência do detector, e não contra um orçamento configurado de antemão.</a:t>
            </a:r>
            <a:endParaRPr/>
          </a:p>
          <a:p>
            <a:pPr indent="0" lvl="0" marL="0" rtl="0" algn="l">
              <a:lnSpc>
                <a:spcPct val="100000"/>
              </a:lnSpc>
              <a:spcBef>
                <a:spcPts val="0"/>
              </a:spcBef>
              <a:spcAft>
                <a:spcPts val="0"/>
              </a:spcAft>
              <a:buSzPts val="1100"/>
              <a:buNone/>
            </a:pPr>
            <a:r>
              <a:rPr lang="en-US"/>
              <a:t>Pix: sistema de pagamento instantâneo lançado pelo Banco Central do Brasil em 2020, hoje o meio de pagamento dominante do país.</a:t>
            </a:r>
            <a:endParaRPr/>
          </a:p>
          <a:p>
            <a:pPr indent="0" lvl="0" marL="0" rtl="0" algn="l">
              <a:lnSpc>
                <a:spcPct val="100000"/>
              </a:lnSpc>
              <a:spcBef>
                <a:spcPts val="0"/>
              </a:spcBef>
              <a:spcAft>
                <a:spcPts val="0"/>
              </a:spcAft>
              <a:buSzPts val="1100"/>
              <a:buNone/>
            </a:pPr>
            <a:r>
              <a:rPr lang="en-US"/>
              <a:t>Deadline-aware testbed: ambiente de avaliação que soma, a um score de acurácia, a latência real medida do detector e um prazo de decisão configurável, em vez de avaliar só em lote.</a:t>
            </a:r>
            <a:endParaRPr/>
          </a:p>
          <a:p>
            <a:pPr indent="0" lvl="0" marL="0" rtl="0" algn="l">
              <a:lnSpc>
                <a:spcPct val="100000"/>
              </a:lnSpc>
              <a:spcBef>
                <a:spcPts val="0"/>
              </a:spcBef>
              <a:spcAft>
                <a:spcPts val="0"/>
              </a:spcAft>
              <a:buSzPts val="1100"/>
              <a:buNone/>
            </a:pPr>
            <a:r>
              <a:rPr lang="en-US"/>
              <a:t>SBSeg 2026 / WTICG: XXVI Simpósio Brasileiro de Cibersegurança, realizado em Armação dos Búzios, RJ, cuja trilha de trabalhos de iniciação científica e de graduação é o WTICG, onde este trabalho é apresentado.</a:t>
            </a:r>
            <a:endParaRPr/>
          </a:p>
          <a:p>
            <a:pPr indent="0" lvl="0" marL="0" rtl="0" algn="l">
              <a:lnSpc>
                <a:spcPct val="100000"/>
              </a:lnSpc>
              <a:spcBef>
                <a:spcPts val="0"/>
              </a:spcBef>
              <a:spcAft>
                <a:spcPts val="0"/>
              </a:spcAft>
              <a:buSzPts val="1100"/>
              <a:buNone/>
            </a:pPr>
            <a:r>
              <a:rPr lang="en-US"/>
              <a:t>AI Horizon Labs / UNIPAMPA: laboratório e universidade de vínculo dos autores.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pergunta de abertura já embute a tese do trabalho, então ela substitui uma saudação genérica: a acurácia sozinha, calculada em lote, não diz se a decisão chegaria antes de a transferência se tornar irrevogável, e o restante da apresentação existe para justificar essa frase com números do artigo. Se perguntarem por que o título está em inglês: é o título oficial do artigo submetido ao SBSeg 2026, e a tradução aparece logo abaixo dele no próprio slide para a plateia não gastar os primeiros segundos traduzindo de cabeça. Se perguntarem quem é Diego Kreutz: orientador do trabalho e coautor do artigo, também da UNIPAMPA.</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[18 s] FALA O Pix é o trilho de pagamento do Brasil. Sessenta e três vírgula oito bilhões de transferências em dois mil e vinte e quatro, e cinquenta e quatro vírgula sete por cento dos pagamentos do país no segundo semestre de dois mil e vinte e cinco.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Pix: sistema de pagamento instantâneo do Banco Central do Brasil, lançado em 2020, que resolve uma chave, telefone, CPF ou CNPJ, ou token aleatório, para a conta de destino por meio do DICT, o Diretório de Identificadores de Contas Transacionais.</a:t>
            </a:r>
            <a:endParaRPr/>
          </a:p>
          <a:p>
            <a:pPr indent="0" lvl="0" marL="0" rtl="0" algn="l">
              <a:lnSpc>
                <a:spcPct val="100000"/>
              </a:lnSpc>
              <a:spcBef>
                <a:spcPts val="0"/>
              </a:spcBef>
              <a:spcAft>
                <a:spcPts val="0"/>
              </a:spcAft>
              <a:buSzPts val="1100"/>
              <a:buNone/>
            </a:pPr>
            <a:r>
              <a:rPr lang="en-US"/>
              <a:t>Febraban: Federação Brasileira de Bancos, fonte da manchete de 63,8 bilhões de transferências e 26,9 trilhões de reais movimentados em 2024, mostrada no cartão de fonte do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Os números vêm do artigo (Seção 1, Introdução), que cita a Febraban para volume, 26,9 trilhões de reais movimentados em 2024, e valor, uma reportagem da IstoÉ Dinheiro para o percentual de 54,7% no segundo semestre de 2025, e estatísticas do Banco Central para os cerca de 170 milhões de pessoas alcançadas por cerca de 890 milhões de chaves registradas. A razão de abrir com esses números é estabelecer a escala antes de falar de fraude: qualquer taxa de fraude, por menor que seja, se multiplica por um volume desse tamanho.</a:t>
            </a:r>
            <a:endParaRP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[18 s] FALA O que torna o Pix atraente é o que torna o golpe caro: a transferência compensa em segundos e, uma vez compensada, é final, sem janela de contestação. Por isso a prevenção precisa acontecer antes da liquidação, e é contra esse intervalo que este trabalho mede detectores.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Liquidação (settlement): o instante em que o sistema de pagamentos instantâneos troca os dois saldos e a transferência deixa de poder ser desfeita unilateralmente pelo pagador.</a:t>
            </a:r>
            <a:endParaRPr/>
          </a:p>
          <a:p>
            <a:pPr indent="0" lvl="0" marL="0" rtl="0" algn="l">
              <a:lnSpc>
                <a:spcPct val="100000"/>
              </a:lnSpc>
              <a:spcBef>
                <a:spcPts val="0"/>
              </a:spcBef>
              <a:spcAft>
                <a:spcPts val="0"/>
              </a:spcAft>
              <a:buSzPts val="1100"/>
              <a:buNone/>
            </a:pPr>
            <a:r>
              <a:rPr lang="en-US"/>
              <a:t>Compensar/liquidar em segundos: no Pix, ao contrário de um cartão de crédito, não existe uma janela de contestação depois que a transferência é confirmada; o pagador não consegue desfazer sozinho, como faria contestando uma compra no cartão.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frase deste slide, sobre liquidar em segundos e ser final, é a premissa que sustenta toda a apresentação: se a transferência pudesse ser desfeita depois, o prazo de decisão não importaria tanto. É por isso que a ilustração acompanha justamente esta frase, e não os números de escala do slide anterior.</a:t>
            </a:r>
            <a:endParaRPr/>
          </a:p>
        </p:txBody>
      </p:sp>
      <p:sp>
        <p:nvSpPr>
          <p:cNvPr id="126" name="Google Shape;12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[20 s] FALA E o prejuízo mora depois da liquidação. Em dois mil e vinte e quatro, vítimas e instituições pediram de volta quatro vírgula noventa e quatro bilhões de reais e não receberam, setenta por cento a mais que em dois mil e vinte e três. Foram três vírgula quarenta e cinco milhões de pedidos rejeitados, porque a conta recebedora já tinha sido fechada ou esvaziada.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TERMOS Pedido de devolução: solicitação feita por vítima ou instituição, depois de a fraude ser estabelecida, para reaver um valor transferido por Pix; pressupõe que o dinheiro já saiu da conta do pagador.</a:t>
            </a:r>
            <a:endParaRPr/>
          </a:p>
          <a:p>
            <a:pPr indent="-298450" lvl="0" marL="457200" rtl="0" algn="l">
              <a:lnSpc>
                <a:spcPct val="100000"/>
              </a:lnSpc>
              <a:spcBef>
                <a:spcPts val="0"/>
              </a:spcBef>
              <a:spcAft>
                <a:spcPts val="0"/>
              </a:spcAft>
              <a:buSzPts val="1100"/>
              <a:buChar char="●"/>
            </a:pPr>
            <a:r>
              <a:rPr lang="en-US" sz="1100"/>
              <a:t>Pedido rejeitado: pedido de devolução que não resulta em recuperação de valor, geralmente porque a conta recebedora já foi fechada ou esvaziada quando a devolução é tentada.</a:t>
            </a:r>
            <a:endParaRPr/>
          </a:p>
          <a:p>
            <a:pPr indent="-298450" lvl="0" marL="457200" rtl="0" algn="l">
              <a:lnSpc>
                <a:spcPct val="100000"/>
              </a:lnSpc>
              <a:spcBef>
                <a:spcPts val="0"/>
              </a:spcBef>
              <a:spcAft>
                <a:spcPts val="0"/>
              </a:spcAft>
              <a:buSzPts val="1100"/>
              <a:buChar char="●"/>
            </a:pPr>
            <a:r>
              <a:rPr lang="en-US" sz="1100"/>
              <a:t>InfoMoney/Estadão: fonte jornalística, apoiada em dados do Banco Central, para os valores de prejuízo e de crescimento anual mostrados no cartão de fonte do slide.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 Os três números vêm do artigo (Seção 1) e do mesmo relatório do Banco Central; eram três slides, e como todos falam do mesmo ano e do mesmo fato, viraram um. O crescimento ano a ano mostra que o problema não é estável, está piorando; e a contagem de pedidos rejeitados mostra o mecanismo concreto da perda: mesmo quando a vítima pede de volta, o dinheiro já saiu da conta de destino antes de a devolução ser tentada. Se perguntarem se esses R$ 4,94 bilhões incluem golpes de coação: sim, o mesmo relatório cita o manual operacional do DICT definindo fraude para incluir transferência iniciada sob coação ou extorsão, origem do cenário de coação apresentado mais adiante.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PRECISÃO</a:t>
            </a:r>
            <a:endParaRPr/>
          </a:p>
          <a:p>
            <a:pPr indent="-298450" lvl="0" marL="457200" rtl="0" algn="l">
              <a:lnSpc>
                <a:spcPct val="100000"/>
              </a:lnSpc>
              <a:spcBef>
                <a:spcPts val="0"/>
              </a:spcBef>
              <a:spcAft>
                <a:spcPts val="0"/>
              </a:spcAft>
              <a:buSzPts val="1100"/>
              <a:buChar char="●"/>
            </a:pPr>
            <a:r>
              <a:rPr lang="en-US" sz="1100"/>
              <a:t>O artigo: vítimas e instituições pediram R$ 4,94 bilhões de volta em 2024, depois</a:t>
            </a:r>
            <a:endParaRPr/>
          </a:p>
          <a:p>
            <a:pPr indent="-298450" lvl="0" marL="457200" rtl="0" algn="l">
              <a:lnSpc>
                <a:spcPct val="100000"/>
              </a:lnSpc>
              <a:spcBef>
                <a:spcPts val="0"/>
              </a:spcBef>
              <a:spcAft>
                <a:spcPts val="0"/>
              </a:spcAft>
              <a:buSzPts val="1100"/>
              <a:buChar char="●"/>
            </a:pPr>
            <a:r>
              <a:rPr lang="en-US" sz="1100"/>
              <a:t>de a fraude estar estabelecida, e não receberam; alta de 70% sobre 2023. Foram</a:t>
            </a:r>
            <a:endParaRPr/>
          </a:p>
          <a:p>
            <a:pPr indent="-298450" lvl="0" marL="457200" rtl="0" algn="l">
              <a:lnSpc>
                <a:spcPct val="100000"/>
              </a:lnSpc>
              <a:spcBef>
                <a:spcPts val="0"/>
              </a:spcBef>
              <a:spcAft>
                <a:spcPts val="0"/>
              </a:spcAft>
              <a:buSzPts val="1100"/>
              <a:buChar char="●"/>
            </a:pPr>
            <a:r>
              <a:rPr lang="en-US" sz="1100"/>
              <a:t>3,45 milhões de pedidos negados, porque a conta recebedora já tinha sido fechada ou</a:t>
            </a:r>
            <a:endParaRPr/>
          </a:p>
          <a:p>
            <a:pPr indent="-298450" lvl="0" marL="457200" rtl="0" algn="l">
              <a:lnSpc>
                <a:spcPct val="100000"/>
              </a:lnSpc>
              <a:spcBef>
                <a:spcPts val="0"/>
              </a:spcBef>
              <a:spcAft>
                <a:spcPts val="0"/>
              </a:spcAft>
              <a:buSzPts val="1100"/>
              <a:buChar char="●"/>
            </a:pPr>
            <a:r>
              <a:rPr lang="en-US" sz="1100"/>
              <a:t>esvaziada. O rótulo antigo, "Pedidos de devolução negados", trocava a CONTAGEM de</a:t>
            </a:r>
            <a:endParaRPr/>
          </a:p>
          <a:p>
            <a:pPr indent="-298450" lvl="0" marL="457200" rtl="0" algn="l">
              <a:lnSpc>
                <a:spcPct val="100000"/>
              </a:lnSpc>
              <a:spcBef>
                <a:spcPts val="0"/>
              </a:spcBef>
              <a:spcAft>
                <a:spcPts val="0"/>
              </a:spcAft>
              <a:buSzPts val="1100"/>
              <a:buChar char="●"/>
            </a:pPr>
            <a:r>
              <a:rPr lang="en-US" sz="1100"/>
              <a:t>pedidos pelo VALOR. Todo pedido é posterior à liquidação: é por isso que a perda se</a:t>
            </a:r>
            <a:endParaRPr/>
          </a:p>
          <a:p>
            <a:pPr indent="-298450" lvl="0" marL="457200" rtl="0" algn="l">
              <a:lnSpc>
                <a:spcPct val="100000"/>
              </a:lnSpc>
              <a:spcBef>
                <a:spcPts val="0"/>
              </a:spcBef>
              <a:spcAft>
                <a:spcPts val="0"/>
              </a:spcAft>
              <a:buSzPts val="1100"/>
              <a:buChar char="●"/>
            </a:pPr>
            <a:r>
              <a:rPr lang="en-US" sz="1100"/>
              <a:t>concentra na recuperação depois do fato, e é essa a razão de medir a detecção antes.</a:t>
            </a:r>
            <a:endParaRPr/>
          </a:p>
        </p:txBody>
      </p:sp>
      <p:sp>
        <p:nvSpPr>
          <p:cNvPr id="135" name="Google Shape;13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[18 s] FALA A resposta do regulador foi sair da devolução reativa para a prevenção em tempo real. A Resolução BCB número quatrocentos e noventa e três tornou obrigatória a funcionalidade de recuperação de valores do MED dois ponto zero a partir de dois de fevereiro de dois mil e vinte e seis, ou seja, a obrigação já está em vigor quando esta apresentação é feita.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MED (Mecanismo Especial de Devolução): mecanismo especial de devolução do Banco Central para vítimas de fraude no Pix; a versão 2.0 é o que este trabalho chama de MED-2.0.</a:t>
            </a:r>
            <a:endParaRPr/>
          </a:p>
          <a:p>
            <a:pPr indent="0" lvl="0" marL="0" rtl="0" algn="l">
              <a:lnSpc>
                <a:spcPct val="100000"/>
              </a:lnSpc>
              <a:spcBef>
                <a:spcPts val="0"/>
              </a:spcBef>
              <a:spcAft>
                <a:spcPts val="0"/>
              </a:spcAft>
              <a:buSzPts val="1100"/>
              <a:buNone/>
            </a:pPr>
            <a:r>
              <a:rPr lang="en-US"/>
              <a:t>Resolução BCB nº 493: norma do Banco Central, de 28 de agosto de 2025, cujo artigo 121 torna obrigatória a funcionalidade de recuperação de valores do MED-2.0, para participantes que atuam como provedores de conta transacional ou liquidantes especiais.</a:t>
            </a:r>
            <a:endParaRPr/>
          </a:p>
          <a:p>
            <a:pPr indent="0" lvl="0" marL="0" rtl="0" algn="l">
              <a:lnSpc>
                <a:spcPct val="100000"/>
              </a:lnSpc>
              <a:spcBef>
                <a:spcPts val="0"/>
              </a:spcBef>
              <a:spcAft>
                <a:spcPts val="0"/>
              </a:spcAft>
              <a:buSzPts val="1100"/>
              <a:buNone/>
            </a:pPr>
            <a:r>
              <a:rPr lang="en-US"/>
              <a:t>2/2/2026: data em que essa obrigação passa a valer.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citação exata do artigo é o parágrafo final da Introdução do artigo. A data importa porque estabelece a urgência prática do trabalho, e por isso ela fica na mesma tela que a norma: separadas, a data ficava sem sujeito e a norma sem urgência. O próximo slide detalha o que essa obrigação muda de fato.</a:t>
            </a:r>
            <a:endParaRPr/>
          </a:p>
        </p:txBody>
      </p:sp>
      <p:sp>
        <p:nvSpPr>
          <p:cNvPr id="147" name="Google Shape;14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[24 s] FALA O avanço declarado é de alcance. Antes, bloqueio e devolução valiam só para a primeira conta que recebeu o dinheiro; o MED dois ponto zero rastreia além dela. O diretório passa a enviar avisos de infração às instituições no caminho provável da saída do dinheiro, que congelam o saldo e revisam. Na prática, a regra obriga a raciocinar sobre cadeias de contas, e não sobre transferências isoladas: é exatamente a estrutura que nenhum dado aberto de Pix carrega.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Rastreio além da primeira conta: no mecanismo anterior, bloqueio e devolução só alcançavam a primeira conta que recebeu o valor fraudado; o MED-2.0 segue a cadeia de repasses adiante dela.</a:t>
            </a:r>
            <a:endParaRPr/>
          </a:p>
          <a:p>
            <a:pPr indent="0" lvl="0" marL="0" rtl="0" algn="l">
              <a:lnSpc>
                <a:spcPct val="100000"/>
              </a:lnSpc>
              <a:spcBef>
                <a:spcPts val="0"/>
              </a:spcBef>
              <a:spcAft>
                <a:spcPts val="0"/>
              </a:spcAft>
              <a:buSzPts val="1100"/>
              <a:buNone/>
            </a:pPr>
            <a:r>
              <a:rPr lang="en-US"/>
              <a:t>Diretório (DICT): a mesma estrutura que resolve chaves para contas, e que no MED-2.0 também envia avisos de infração às instituições no caminho provável da saída do dinheiro.</a:t>
            </a:r>
            <a:endParaRPr/>
          </a:p>
          <a:p>
            <a:pPr indent="0" lvl="0" marL="0" rtl="0" algn="l">
              <a:lnSpc>
                <a:spcPct val="100000"/>
              </a:lnSpc>
              <a:spcBef>
                <a:spcPts val="0"/>
              </a:spcBef>
              <a:spcAft>
                <a:spcPts val="0"/>
              </a:spcAft>
              <a:buSzPts val="1100"/>
              <a:buNone/>
            </a:pPr>
            <a:r>
              <a:rPr lang="en-US"/>
              <a:t>Cadeia de contas: sequência de contas por onde o dinheiro fraudado passa, ligadas por transferências sucessivas, em vez de uma única transferência isolada.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Os três pontos nascem do parágrafo final da Introdução do artigo, e o terceiro é a ponte para a Seção 3: é justamente porque nenhum dado aberto de Pix carrega essa estrutura de cadeia que este trabalho constrói cenários próprios de MED em múltiplas camadas e de laranjas, apresentados mais à frente. Se perguntarem o que muda de fato para uma instituição: ela passa a ter de rastrear e potencialmente reter valores em contas além da primeira.</a:t>
            </a:r>
            <a:endParaRPr/>
          </a:p>
        </p:txBody>
      </p:sp>
      <p:sp>
        <p:nvSpPr>
          <p:cNvPr id="160" name="Google Shape;16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[14 s]</a:t>
            </a:r>
            <a:endParaRPr/>
          </a:p>
          <a:p>
            <a:pPr indent="-298450" lvl="0" marL="457200" rtl="0" algn="l">
              <a:lnSpc>
                <a:spcPct val="100000"/>
              </a:lnSpc>
              <a:spcBef>
                <a:spcPts val="0"/>
              </a:spcBef>
              <a:spcAft>
                <a:spcPts val="0"/>
              </a:spcAft>
              <a:buSzPts val="1100"/>
              <a:buChar char="●"/>
            </a:pPr>
            <a:r>
              <a:rPr lang="en-US" sz="1100"/>
              <a:t>FALA</a:t>
            </a:r>
            <a:endParaRPr/>
          </a:p>
          <a:p>
            <a:pPr indent="-298450" lvl="0" marL="457200" rtl="0" algn="l">
              <a:lnSpc>
                <a:spcPct val="100000"/>
              </a:lnSpc>
              <a:spcBef>
                <a:spcPts val="0"/>
              </a:spcBef>
              <a:spcAft>
                <a:spcPts val="0"/>
              </a:spcAft>
              <a:buSzPts val="1100"/>
              <a:buChar char="●"/>
            </a:pPr>
            <a:r>
              <a:rPr lang="en-US" sz="1100"/>
              <a:t>O regulador publica quanto tempo cada participante pode gastar. A instituição</a:t>
            </a:r>
            <a:endParaRPr/>
          </a:p>
          <a:p>
            <a:pPr indent="-298450" lvl="0" marL="457200" rtl="0" algn="l">
              <a:lnSpc>
                <a:spcPct val="100000"/>
              </a:lnSpc>
              <a:spcBef>
                <a:spcPts val="0"/>
              </a:spcBef>
              <a:spcAft>
                <a:spcPts val="0"/>
              </a:spcAft>
              <a:buSzPts val="1100"/>
              <a:buChar char="●"/>
            </a:pPr>
            <a:r>
              <a:rPr lang="en-US" sz="1100"/>
              <a:t>pagadora tem um segundo e meio, no percentil 95, para autorizar o pagamento. É dentro</a:t>
            </a:r>
            <a:endParaRPr/>
          </a:p>
          <a:p>
            <a:pPr indent="-298450" lvl="0" marL="457200" rtl="0" algn="l">
              <a:lnSpc>
                <a:spcPct val="100000"/>
              </a:lnSpc>
              <a:spcBef>
                <a:spcPts val="0"/>
              </a:spcBef>
              <a:spcAft>
                <a:spcPts val="0"/>
              </a:spcAft>
              <a:buSzPts val="1100"/>
              <a:buChar char="●"/>
            </a:pPr>
            <a:r>
              <a:rPr lang="en-US" sz="1100"/>
              <a:t>desse intervalo que o detector tem de decidir: deixa a transferência seguir, ou desvia</a:t>
            </a:r>
            <a:endParaRPr/>
          </a:p>
          <a:p>
            <a:pPr indent="-298450" lvl="0" marL="457200" rtl="0" algn="l">
              <a:lnSpc>
                <a:spcPct val="100000"/>
              </a:lnSpc>
              <a:spcBef>
                <a:spcPts val="0"/>
              </a:spcBef>
              <a:spcAft>
                <a:spcPts val="0"/>
              </a:spcAft>
              <a:buSzPts val="1100"/>
              <a:buChar char="●"/>
            </a:pPr>
            <a:r>
              <a:rPr lang="en-US" sz="1100"/>
              <a:t>para revisão.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TERMOS</a:t>
            </a:r>
            <a:endParaRPr/>
          </a:p>
          <a:p>
            <a:pPr indent="-298450" lvl="0" marL="457200" rtl="0" algn="l">
              <a:lnSpc>
                <a:spcPct val="100000"/>
              </a:lnSpc>
              <a:spcBef>
                <a:spcPts val="0"/>
              </a:spcBef>
              <a:spcAft>
                <a:spcPts val="0"/>
              </a:spcAft>
              <a:buSzPts val="1100"/>
              <a:buChar char="●"/>
            </a:pPr>
            <a:r>
              <a:rPr lang="en-US" sz="1100"/>
              <a:t>p95: o valor que 95% das transferências não ultrapassam.</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a:t>
            </a:r>
            <a:endParaRPr/>
          </a:p>
          <a:p>
            <a:pPr indent="-298450" lvl="0" marL="457200" rtl="0" algn="l">
              <a:lnSpc>
                <a:spcPct val="100000"/>
              </a:lnSpc>
              <a:spcBef>
                <a:spcPts val="0"/>
              </a:spcBef>
              <a:spcAft>
                <a:spcPts val="0"/>
              </a:spcAft>
              <a:buSzPts val="1100"/>
              <a:buChar char="●"/>
            </a:pPr>
            <a:r>
              <a:rPr lang="en-US" sz="1100"/>
              <a:t>Este é o número do trabalho inteiro. Ele não é nosso: sai do Manual de Tempos do Pix.</a:t>
            </a:r>
            <a:endParaRPr/>
          </a:p>
        </p:txBody>
      </p:sp>
      <p:sp>
        <p:nvSpPr>
          <p:cNvPr id="173" name="Google Shape;173;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[10 s]</a:t>
            </a:r>
            <a:endParaRPr/>
          </a:p>
          <a:p>
            <a:pPr indent="-298450" lvl="0" marL="457200" rtl="0" algn="l">
              <a:lnSpc>
                <a:spcPct val="100000"/>
              </a:lnSpc>
              <a:spcBef>
                <a:spcPts val="0"/>
              </a:spcBef>
              <a:spcAft>
                <a:spcPts val="0"/>
              </a:spcAft>
              <a:buSzPts val="1100"/>
              <a:buChar char="●"/>
            </a:pPr>
            <a:r>
              <a:rPr lang="en-US" sz="1100"/>
              <a:t>FALA</a:t>
            </a:r>
            <a:endParaRPr/>
          </a:p>
          <a:p>
            <a:pPr indent="-298450" lvl="0" marL="457200" rtl="0" algn="l">
              <a:lnSpc>
                <a:spcPct val="100000"/>
              </a:lnSpc>
              <a:spcBef>
                <a:spcPts val="0"/>
              </a:spcBef>
              <a:spcAft>
                <a:spcPts val="0"/>
              </a:spcAft>
              <a:buSzPts val="1100"/>
              <a:buChar char="●"/>
            </a:pPr>
            <a:r>
              <a:rPr lang="en-US" sz="1100"/>
              <a:t>Do outro lado, a transferência inteira fecha em dez segundos no percentil 99.</a:t>
            </a:r>
            <a:endParaRPr/>
          </a:p>
          <a:p>
            <a:pPr indent="-298450" lvl="0" marL="457200" rtl="0" algn="l">
              <a:lnSpc>
                <a:spcPct val="100000"/>
              </a:lnSpc>
              <a:spcBef>
                <a:spcPts val="0"/>
              </a:spcBef>
              <a:spcAft>
                <a:spcPts val="0"/>
              </a:spcAft>
              <a:buSzPts val="1100"/>
              <a:buChar char="●"/>
            </a:pPr>
            <a:r>
              <a:rPr lang="en-US" sz="1100"/>
              <a:t>Passou disso, o dinheiro é do recebedor: não há decisão que valha.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a:t>
            </a:r>
            <a:endParaRPr/>
          </a:p>
          <a:p>
            <a:pPr indent="-298450" lvl="0" marL="457200" rtl="0" algn="l">
              <a:lnSpc>
                <a:spcPct val="100000"/>
              </a:lnSpc>
              <a:spcBef>
                <a:spcPts val="0"/>
              </a:spcBef>
              <a:spcAft>
                <a:spcPts val="0"/>
              </a:spcAft>
              <a:buSzPts val="1100"/>
              <a:buChar char="●"/>
            </a:pPr>
            <a:r>
              <a:rPr lang="en-US" sz="1100"/>
              <a:t>Esta tela existe para fechar a janela pela direita. Sem ela, o 1,5 s parece</a:t>
            </a:r>
            <a:endParaRPr/>
          </a:p>
          <a:p>
            <a:pPr indent="-298450" lvl="0" marL="457200" rtl="0" algn="l">
              <a:lnSpc>
                <a:spcPct val="100000"/>
              </a:lnSpc>
              <a:spcBef>
                <a:spcPts val="0"/>
              </a:spcBef>
              <a:spcAft>
                <a:spcPts val="0"/>
              </a:spcAft>
              <a:buSzPts val="1100"/>
              <a:buChar char="●"/>
            </a:pPr>
            <a:r>
              <a:rPr lang="en-US" sz="1100"/>
              <a:t>arbitrário.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[12 s]</a:t>
            </a:r>
            <a:endParaRPr/>
          </a:p>
          <a:p>
            <a:pPr indent="-298450" lvl="0" marL="457200" rtl="0" algn="l">
              <a:lnSpc>
                <a:spcPct val="100000"/>
              </a:lnSpc>
              <a:spcBef>
                <a:spcPts val="0"/>
              </a:spcBef>
              <a:spcAft>
                <a:spcPts val="0"/>
              </a:spcAft>
              <a:buSzPts val="1100"/>
              <a:buChar char="●"/>
            </a:pPr>
            <a:r>
              <a:rPr lang="en-US" sz="1100"/>
              <a:t>FALA</a:t>
            </a:r>
            <a:endParaRPr/>
          </a:p>
          <a:p>
            <a:pPr indent="-298450" lvl="0" marL="457200" rtl="0" algn="l">
              <a:lnSpc>
                <a:spcPct val="100000"/>
              </a:lnSpc>
              <a:spcBef>
                <a:spcPts val="0"/>
              </a:spcBef>
              <a:spcAft>
                <a:spcPts val="0"/>
              </a:spcAft>
              <a:buSzPts val="1100"/>
              <a:buChar char="●"/>
            </a:pPr>
            <a:r>
              <a:rPr lang="en-US" sz="1100"/>
              <a:t>E o mesmo manual abre a janela: uma vez que a ordem já está sob suspeita, o prazo</a:t>
            </a:r>
            <a:endParaRPr/>
          </a:p>
          <a:p>
            <a:pPr indent="-298450" lvl="0" marL="457200" rtl="0" algn="l">
              <a:lnSpc>
                <a:spcPct val="100000"/>
              </a:lnSpc>
              <a:spcBef>
                <a:spcPts val="0"/>
              </a:spcBef>
              <a:spcAft>
                <a:spcPts val="0"/>
              </a:spcAft>
              <a:buSzPts val="1100"/>
              <a:buChar char="●"/>
            </a:pPr>
            <a:r>
              <a:rPr lang="en-US" sz="1100"/>
              <a:t>vai a trinta minutos, ou sessenta fora do horário comercial. O detector não precisa</a:t>
            </a:r>
            <a:endParaRPr/>
          </a:p>
          <a:p>
            <a:pPr indent="-298450" lvl="0" marL="457200" rtl="0" algn="l">
              <a:lnSpc>
                <a:spcPct val="100000"/>
              </a:lnSpc>
              <a:spcBef>
                <a:spcPts val="0"/>
              </a:spcBef>
              <a:spcAft>
                <a:spcPts val="0"/>
              </a:spcAft>
              <a:buSzPts val="1100"/>
              <a:buChar char="●"/>
            </a:pPr>
            <a:r>
              <a:rPr lang="en-US" sz="1100"/>
              <a:t>concluir a investigação em um segundo e meio. Ele precisa decidir, nesse tempo, se vale</a:t>
            </a:r>
            <a:endParaRPr/>
          </a:p>
          <a:p>
            <a:pPr indent="-298450" lvl="0" marL="457200" rtl="0" algn="l">
              <a:lnSpc>
                <a:spcPct val="100000"/>
              </a:lnSpc>
              <a:spcBef>
                <a:spcPts val="0"/>
              </a:spcBef>
              <a:spcAft>
                <a:spcPts val="0"/>
              </a:spcAft>
              <a:buSzPts val="1100"/>
              <a:buChar char="●"/>
            </a:pPr>
            <a:r>
              <a:rPr lang="en-US" sz="1100"/>
              <a:t>mandar a transferência para a janela larga.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a:t>
            </a:r>
            <a:endParaRPr/>
          </a:p>
          <a:p>
            <a:pPr indent="-298450" lvl="0" marL="457200" rtl="0" algn="l">
              <a:lnSpc>
                <a:spcPct val="100000"/>
              </a:lnSpc>
              <a:spcBef>
                <a:spcPts val="0"/>
              </a:spcBef>
              <a:spcAft>
                <a:spcPts val="0"/>
              </a:spcAft>
              <a:buSzPts val="1100"/>
              <a:buChar char="●"/>
            </a:pPr>
            <a:r>
              <a:rPr lang="en-US" sz="1100"/>
              <a:t>É o que separa este trabalho de "detectar fraude": a decisão medida é a de desviar,</a:t>
            </a:r>
            <a:endParaRPr/>
          </a:p>
          <a:p>
            <a:pPr indent="-298450" lvl="0" marL="457200" rtl="0" algn="l">
              <a:lnSpc>
                <a:spcPct val="100000"/>
              </a:lnSpc>
              <a:spcBef>
                <a:spcPts val="0"/>
              </a:spcBef>
              <a:spcAft>
                <a:spcPts val="0"/>
              </a:spcAft>
              <a:buSzPts val="1100"/>
              <a:buChar char="●"/>
            </a:pPr>
            <a:r>
              <a:rPr lang="en-US" sz="1100"/>
              <a:t>não a de concluir.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[20 s] FALA E este é o descompasso que o trabalho ataca. Precisão e recall, do jeito convencional, são calculadas em lote, depois do fato, e não dizem se o alerta chegaria antes do ponto de decisão irrevogável. Os artefatos abertos mais próximos deixam essa pergunta em aberto: um simulador de dinheiro móvel, o PaySim, um simulador de lavagem entre contas bancárias, o Tide, e o único conjunto aberto nativo de Pix, o pix-fraud-br. Nenhum deles avalia um detector contra a janela pré-transação que acabamos de ver.</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TERMOS Precisão e recall em lote (batch): métricas de acurácia calculadas depois de todos os eventos terem sido pontuados, sem levar em conta quando a decisão do detector estaria disponível em relação ao momento da liquidação.</a:t>
            </a:r>
            <a:endParaRPr/>
          </a:p>
          <a:p>
            <a:pPr indent="-298450" lvl="0" marL="457200" rtl="0" algn="l">
              <a:lnSpc>
                <a:spcPct val="100000"/>
              </a:lnSpc>
              <a:spcBef>
                <a:spcPts val="0"/>
              </a:spcBef>
              <a:spcAft>
                <a:spcPts val="0"/>
              </a:spcAft>
              <a:buSzPts val="1100"/>
              <a:buChar char="●"/>
            </a:pPr>
            <a:r>
              <a:rPr lang="en-US" sz="1100"/>
              <a:t>PaySim: simulador de dinheiro móvel baseado em agentes que avança o tempo em passos horários; o desenho publicado cobre só tráfego legítimo, e injetar fraude é declarado como trabalho futuro pelos autores.</a:t>
            </a:r>
            <a:endParaRPr/>
          </a:p>
          <a:p>
            <a:pPr indent="-298450" lvl="0" marL="457200" rtl="0" algn="l">
              <a:lnSpc>
                <a:spcPct val="100000"/>
              </a:lnSpc>
              <a:spcBef>
                <a:spcPts val="0"/>
              </a:spcBef>
              <a:spcAft>
                <a:spcPts val="0"/>
              </a:spcAft>
              <a:buSzPts val="1100"/>
              <a:buChar char="●"/>
            </a:pPr>
            <a:r>
              <a:rPr lang="en-US" sz="1100"/>
              <a:t>Tide: simulador de lavagem de dinheiro entre contas bancárias que encadeia transferências ilícitas por dois a cinco saltos, com atrasos de uma a quarenta e oito horas entre eles; é o análogo aberto mais próximo do rastreio em camadas do MED-2.0, mas sem semântica de pagamento instantâneo.</a:t>
            </a:r>
            <a:endParaRPr/>
          </a:p>
          <a:p>
            <a:pPr indent="-298450" lvl="0" marL="457200" rtl="0" algn="l">
              <a:lnSpc>
                <a:spcPct val="100000"/>
              </a:lnSpc>
              <a:spcBef>
                <a:spcPts val="0"/>
              </a:spcBef>
              <a:spcAft>
                <a:spcPts val="0"/>
              </a:spcAft>
              <a:buSzPts val="1100"/>
              <a:buChar char="●"/>
            </a:pPr>
            <a:r>
              <a:rPr lang="en-US" sz="1100"/>
              <a:t>pix-fraud-br: o único conjunto de dados aberto nativo de Pix identificado pelo artigo; modela tomada de conta seguida de uma única transferência para um único laranja, e para nesse primeiro salto.</a:t>
            </a:r>
            <a:endParaRPr/>
          </a:p>
          <a:p>
            <a:pPr indent="-298450" lvl="0" marL="457200" rtl="0" algn="l">
              <a:lnSpc>
                <a:spcPct val="100000"/>
              </a:lnSpc>
              <a:spcBef>
                <a:spcPts val="0"/>
              </a:spcBef>
              <a:spcAft>
                <a:spcPts val="0"/>
              </a:spcAft>
              <a:buSzPts val="1100"/>
              <a:buChar char="●"/>
            </a:pPr>
            <a:r>
              <a:rPr lang="en-US" sz="1100"/>
              <a:t>Janela pré-transação: o intervalo entre o pedido de pagamento e a liquidação, mostrado no slide do relógio do Pix, contra o qual este trabalho passa a medir o detector.</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 Este parágrafo resume o terceiro parágrafo da Introdução e a Seção 2 do artigo, em especial o argumento de que os simuladores de lavagem modelam topologia de lavagem, escrita para ser agnóstica de jurisdição, e não a dinâmica de golpe ao consumidor no Pix. Se perguntarem por que não usar só o Tide ou só o pix-fraud-br: nenhum dos dois carrega coação nem o rastreio de MED-2.0 em múltiplos saltos, os dois cenários que este trabalho contribui.</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SAIU DA TELA</a:t>
            </a:r>
            <a:endParaRPr/>
          </a:p>
          <a:p>
            <a:pPr indent="-298450" lvl="0" marL="457200" rtl="0" algn="l">
              <a:lnSpc>
                <a:spcPct val="100000"/>
              </a:lnSpc>
              <a:spcBef>
                <a:spcPts val="0"/>
              </a:spcBef>
              <a:spcAft>
                <a:spcPts val="0"/>
              </a:spcAft>
              <a:buSzPts val="1100"/>
              <a:buChar char="●"/>
            </a:pPr>
            <a:r>
              <a:rPr lang="en-US" sz="1100"/>
              <a:t>Eram duas frases corridas. A segunda dizia por extenso "avalia um detector</a:t>
            </a:r>
            <a:endParaRPr/>
          </a:p>
          <a:p>
            <a:pPr indent="-298450" lvl="0" marL="457200" rtl="0" algn="l">
              <a:lnSpc>
                <a:spcPct val="100000"/>
              </a:lnSpc>
              <a:spcBef>
                <a:spcPts val="0"/>
              </a:spcBef>
              <a:spcAft>
                <a:spcPts val="0"/>
              </a:spcAft>
              <a:buSzPts val="1100"/>
              <a:buChar char="●"/>
            </a:pPr>
            <a:r>
              <a:rPr lang="en-US" sz="1100"/>
              <a:t>contra a janela antes da liquidação"; na tela ficou o essencial, e o "antes da</a:t>
            </a:r>
            <a:endParaRPr/>
          </a:p>
          <a:p>
            <a:pPr indent="-298450" lvl="0" marL="457200" rtl="0" algn="l">
              <a:lnSpc>
                <a:spcPct val="100000"/>
              </a:lnSpc>
              <a:spcBef>
                <a:spcPts val="0"/>
              </a:spcBef>
              <a:spcAft>
                <a:spcPts val="0"/>
              </a:spcAft>
              <a:buSzPts val="1100"/>
              <a:buChar char="●"/>
            </a:pPr>
            <a:r>
              <a:rPr lang="en-US" sz="1100"/>
              <a:t>liquidação" fica na fala.</a:t>
            </a:r>
            <a:endParaRPr/>
          </a:p>
        </p:txBody>
      </p:sp>
      <p:sp>
        <p:nvSpPr>
          <p:cNvPr id="279" name="Google Shape;279;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[8 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FALA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Dinheiro móvel, um passo por hora. O desenho publicado só gera tráfego legítimo.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Um trabalho por tela: a tabela inteira de uma vez não se lê.</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[8 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FALA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Derivado do PaySim, em termos de Pix. Para na primeira conta laranja.</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Um trabalho por tela: a tabela inteira de uma vez não se lê.</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[8 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FALA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Lavagem em cadeia, de 1 a 48 h entre saltos. O análogo aberto mais próximo do MED.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Um trabalho por tela: a tabela inteira de uma vez não se lê.</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[19 s] FALA Essa tabela resume o posicionamento nas dimensões que decidem para bloqueio pré-transação no Pix. Um simulador de dinheiro móvel, o PaySim, modela passos de uma hora, mas só tráfego legítimo publicado. O único conjunto nativo de Pix, o pix-fraud-br, carimba o tempo, mas para em um salto. Um simulador de lavagem, o Tide, encadeia de dois a cinco saltos, com uma a quarenta e oito horas entre eles, mas sem semântica de pagamento instantâneo.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Cadeia (chain depth): número de saltos, ou contas intermediárias, que uma fraude modelada atravessa antes de chegar ao destino final do dinheiro.</a:t>
            </a:r>
            <a:endParaRPr/>
          </a:p>
          <a:p>
            <a:pPr indent="0" lvl="0" marL="0" rtl="0" algn="l">
              <a:lnSpc>
                <a:spcPct val="100000"/>
              </a:lnSpc>
              <a:spcBef>
                <a:spcPts val="0"/>
              </a:spcBef>
              <a:spcAft>
                <a:spcPts val="0"/>
              </a:spcAft>
              <a:buSzPts val="1100"/>
              <a:buNone/>
            </a:pPr>
            <a:r>
              <a:rPr lang="en-US"/>
              <a:t>Prazo (deadline scoring): coluna que marca se o trabalho pontua um detector levando em conta se a decisão chegaria a tempo de impedir a transferência.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tabela é a Tabela 1 do artigo (tab:related), reduzida às linhas que decidem: a última coluna só é sim na fila deste trabalho. A Tabela 1 completa traz ainda IBM AMLworld e FraudTransformer, na linha de lavagem e de sequência; as duas repetem o mesmo 'não' desta coluna, e por isso saíram da tela. Se perguntarem sobre a linha de streaming e verificação: a latência que ela modela é a de VERIFICAÇÃO, os dias até o rótulo verdadeiro chegar, e não os milissegundos antes de a liquidação ficar irrevogável.</a:t>
            </a:r>
            <a:endParaRPr/>
          </a:p>
        </p:txBody>
      </p:sp>
      <p:sp>
        <p:nvSpPr>
          <p:cNvPr id="427" name="Google Shape;427;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[9 s] FALA Vou apresentar agora o que construímos: um testbed que mede, ao mesmo tempo, o que o detector acerta e quando a resposta dele chega.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Testbed: ambiente de avaliação controlado e reproduzível, aqui usado para pontuar detectores de fraude contra dado sintético rotulado e um prazo de decisão.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Este é um slide de transição, sem conteúdo técnico novo: seu papel é sinalizar a virada da motivação, por que medir prazo, para a proposta, como o PixGuard-Sim mede prazo. A fala é deliberadamente curta para não repetir o que o próximo slide, o da arquitetura, já vai detalhar.</a:t>
            </a:r>
            <a:endParaRPr/>
          </a:p>
        </p:txBody>
      </p:sp>
      <p:sp>
        <p:nvSpPr>
          <p:cNvPr id="473" name="Google Shape;473;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[10 s]</a:t>
            </a:r>
            <a:endParaRPr/>
          </a:p>
          <a:p>
            <a:pPr indent="-298450" lvl="0" marL="457200" rtl="0" algn="l">
              <a:lnSpc>
                <a:spcPct val="100000"/>
              </a:lnSpc>
              <a:spcBef>
                <a:spcPts val="0"/>
              </a:spcBef>
              <a:spcAft>
                <a:spcPts val="0"/>
              </a:spcAft>
              <a:buSzPts val="1100"/>
              <a:buChar char="●"/>
            </a:pPr>
            <a:r>
              <a:rPr lang="en-US" sz="1100"/>
              <a:t>FALA</a:t>
            </a:r>
            <a:endParaRPr/>
          </a:p>
          <a:p>
            <a:pPr indent="-298450" lvl="0" marL="457200" rtl="0" algn="l">
              <a:lnSpc>
                <a:spcPct val="100000"/>
              </a:lnSpc>
              <a:spcBef>
                <a:spcPts val="0"/>
              </a:spcBef>
              <a:spcAft>
                <a:spcPts val="0"/>
              </a:spcAft>
              <a:buSzPts val="1100"/>
              <a:buChar char="●"/>
            </a:pPr>
            <a:r>
              <a:rPr lang="en-US" sz="1100"/>
              <a:t>O gerador emite quatro cenários. Dois deles, coação e falsa devolução MED</a:t>
            </a:r>
            <a:endParaRPr/>
          </a:p>
          <a:p>
            <a:pPr indent="-298450" lvl="0" marL="457200" rtl="0" algn="l">
              <a:lnSpc>
                <a:spcPct val="100000"/>
              </a:lnSpc>
              <a:spcBef>
                <a:spcPts val="0"/>
              </a:spcBef>
              <a:spcAft>
                <a:spcPts val="0"/>
              </a:spcAft>
              <a:buSzPts val="1100"/>
              <a:buChar char="●"/>
            </a:pPr>
            <a:r>
              <a:rPr lang="en-US" sz="1100"/>
              <a:t>multi-salto, nenhum dado aberto traz. Vou um a um.</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a:t>
            </a:r>
            <a:endParaRPr/>
          </a:p>
          <a:p>
            <a:pPr indent="-298450" lvl="0" marL="457200" rtl="0" algn="l">
              <a:lnSpc>
                <a:spcPct val="100000"/>
              </a:lnSpc>
              <a:spcBef>
                <a:spcPts val="0"/>
              </a:spcBef>
              <a:spcAft>
                <a:spcPts val="0"/>
              </a:spcAft>
              <a:buSzPts val="1100"/>
              <a:buChar char="●"/>
            </a:pPr>
            <a:r>
              <a:rPr lang="en-US" sz="1100"/>
              <a:t>Esta é a tela de abertura da sequência: os quatro juntos, antes de qualquer</a:t>
            </a:r>
            <a:endParaRPr/>
          </a:p>
          <a:p>
            <a:pPr indent="-298450" lvl="0" marL="457200" rtl="0" algn="l">
              <a:lnSpc>
                <a:spcPct val="100000"/>
              </a:lnSpc>
              <a:spcBef>
                <a:spcPts val="0"/>
              </a:spcBef>
              <a:spcAft>
                <a:spcPts val="0"/>
              </a:spcAft>
              <a:buSzPts val="1100"/>
              <a:buChar char="●"/>
            </a:pPr>
            <a:r>
              <a:rPr lang="en-US" sz="1100"/>
              <a:t>uma ser detalhada.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[12 s]</a:t>
            </a:r>
            <a:endParaRPr/>
          </a:p>
          <a:p>
            <a:pPr indent="-298450" lvl="0" marL="457200" rtl="0" algn="l">
              <a:lnSpc>
                <a:spcPct val="100000"/>
              </a:lnSpc>
              <a:spcBef>
                <a:spcPts val="0"/>
              </a:spcBef>
              <a:spcAft>
                <a:spcPts val="0"/>
              </a:spcAft>
              <a:buSzPts val="1100"/>
              <a:buChar char="●"/>
            </a:pPr>
            <a:r>
              <a:rPr lang="en-US" sz="1100"/>
              <a:t>FALA</a:t>
            </a:r>
            <a:endParaRPr/>
          </a:p>
          <a:p>
            <a:pPr indent="-298450" lvl="0" marL="457200" rtl="0" algn="l">
              <a:lnSpc>
                <a:spcPct val="100000"/>
              </a:lnSpc>
              <a:spcBef>
                <a:spcPts val="0"/>
              </a:spcBef>
              <a:spcAft>
                <a:spcPts val="0"/>
              </a:spcAft>
              <a:buSzPts val="1100"/>
              <a:buChar char="●"/>
            </a:pPr>
            <a:r>
              <a:rPr lang="en-US" sz="1100"/>
              <a:t>Tomada de conta. Sessão remota na conta da vítima. Um salto, e é o que o dado aberto já traz.</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a:t>
            </a:r>
            <a:endParaRPr/>
          </a:p>
          <a:p>
            <a:pPr indent="-298450" lvl="0" marL="457200" rtl="0" algn="l">
              <a:lnSpc>
                <a:spcPct val="100000"/>
              </a:lnSpc>
              <a:spcBef>
                <a:spcPts val="0"/>
              </a:spcBef>
              <a:spcAft>
                <a:spcPts val="0"/>
              </a:spcAft>
              <a:buSzPts val="1100"/>
              <a:buChar char="●"/>
            </a:pPr>
            <a:r>
              <a:rPr lang="en-US" sz="1100"/>
              <a:t>Um cenário por tela: coação e falsa devolução MED não existem em dado aberto,</a:t>
            </a:r>
            <a:endParaRPr/>
          </a:p>
          <a:p>
            <a:pPr indent="-298450" lvl="0" marL="457200" rtl="0" algn="l">
              <a:lnSpc>
                <a:spcPct val="100000"/>
              </a:lnSpc>
              <a:spcBef>
                <a:spcPts val="0"/>
              </a:spcBef>
              <a:spcAft>
                <a:spcPts val="0"/>
              </a:spcAft>
              <a:buSzPts val="1100"/>
              <a:buChar char="●"/>
            </a:pPr>
            <a:r>
              <a:rPr lang="en-US" sz="1100"/>
              <a:t>e antes desta sequência eles apareciam citados sem nunca terem sido apresentados.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[12 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FALA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Coação. A vítima paga sob ameaça, do próprio aparelho. Sobram o valor e o recebedor novo.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Um cenário por tela: coação e falsa devolução MED não existem em dado aberto,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 antes desta sequência eles apareciam citados sem nunca terem sido apresentados.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[12 s]</a:t>
            </a:r>
            <a:endParaRPr/>
          </a:p>
          <a:p>
            <a:pPr indent="-298450" lvl="0" marL="457200" rtl="0" algn="l">
              <a:lnSpc>
                <a:spcPct val="100000"/>
              </a:lnSpc>
              <a:spcBef>
                <a:spcPts val="0"/>
              </a:spcBef>
              <a:spcAft>
                <a:spcPts val="0"/>
              </a:spcAft>
              <a:buSzPts val="1100"/>
              <a:buChar char="●"/>
            </a:pPr>
            <a:r>
              <a:rPr lang="en-US" sz="1100"/>
              <a:t>FALA</a:t>
            </a:r>
            <a:endParaRPr/>
          </a:p>
          <a:p>
            <a:pPr indent="-298450" lvl="0" marL="457200" rtl="0" algn="l">
              <a:lnSpc>
                <a:spcPct val="100000"/>
              </a:lnSpc>
              <a:spcBef>
                <a:spcPts val="0"/>
              </a:spcBef>
              <a:spcAft>
                <a:spcPts val="0"/>
              </a:spcAft>
              <a:buSzPts val="1100"/>
              <a:buChar char="●"/>
            </a:pPr>
            <a:r>
              <a:rPr lang="en-US" sz="1100"/>
              <a:t>Falsa devolução MED. O fluxo de devolução, abusado. Até cinco camadas, e o sinal desbota a cada salto.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a:t>
            </a:r>
            <a:endParaRPr/>
          </a:p>
          <a:p>
            <a:pPr indent="-298450" lvl="0" marL="457200" rtl="0" algn="l">
              <a:lnSpc>
                <a:spcPct val="100000"/>
              </a:lnSpc>
              <a:spcBef>
                <a:spcPts val="0"/>
              </a:spcBef>
              <a:spcAft>
                <a:spcPts val="0"/>
              </a:spcAft>
              <a:buSzPts val="1100"/>
              <a:buChar char="●"/>
            </a:pPr>
            <a:r>
              <a:rPr lang="en-US" sz="1100"/>
              <a:t>Um cenário por tela: coação e falsa devolução MED não existem em dado aberto,</a:t>
            </a:r>
            <a:endParaRPr/>
          </a:p>
          <a:p>
            <a:pPr indent="-298450" lvl="0" marL="457200" rtl="0" algn="l">
              <a:lnSpc>
                <a:spcPct val="100000"/>
              </a:lnSpc>
              <a:spcBef>
                <a:spcPts val="0"/>
              </a:spcBef>
              <a:spcAft>
                <a:spcPts val="0"/>
              </a:spcAft>
              <a:buSzPts val="1100"/>
              <a:buChar char="●"/>
            </a:pPr>
            <a:r>
              <a:rPr lang="en-US" sz="1100"/>
              <a:t>e antes desta sequência eles apareciam citados sem nunca terem sido apresentados.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PRECISÃO</a:t>
            </a:r>
            <a:endParaRPr/>
          </a:p>
          <a:p>
            <a:pPr indent="-298450" lvl="0" marL="457200" rtl="0" algn="l">
              <a:lnSpc>
                <a:spcPct val="100000"/>
              </a:lnSpc>
              <a:spcBef>
                <a:spcPts val="0"/>
              </a:spcBef>
              <a:spcAft>
                <a:spcPts val="0"/>
              </a:spcAft>
              <a:buSzPts val="1100"/>
              <a:buChar char="●"/>
            </a:pPr>
            <a:r>
              <a:rPr lang="en-US" sz="1100"/>
              <a:t>O artigo: "A MED chain is the abused refund flow that the regulator's tracing</a:t>
            </a:r>
            <a:endParaRPr/>
          </a:p>
          <a:p>
            <a:pPr indent="-298450" lvl="0" marL="457200" rtl="0" algn="l">
              <a:lnSpc>
                <a:spcPct val="100000"/>
              </a:lnSpc>
              <a:spcBef>
                <a:spcPts val="0"/>
              </a:spcBef>
              <a:spcAft>
                <a:spcPts val="0"/>
              </a:spcAft>
              <a:buSzPts val="1100"/>
              <a:buChar char="●"/>
            </a:pPr>
            <a:r>
              <a:rPr lang="en-US" sz="1100"/>
              <a:t>follows: no remote session at any layer, every signal fading by a fixed factor per</a:t>
            </a:r>
            <a:endParaRPr/>
          </a:p>
          <a:p>
            <a:pPr indent="-298450" lvl="0" marL="457200" rtl="0" algn="l">
              <a:lnSpc>
                <a:spcPct val="100000"/>
              </a:lnSpc>
              <a:spcBef>
                <a:spcPts val="0"/>
              </a:spcBef>
              <a:spcAft>
                <a:spcPts val="0"/>
              </a:spcAft>
              <a:buSzPts val="1100"/>
              <a:buChar char="●"/>
            </a:pPr>
            <a:r>
              <a:rPr lang="en-US" sz="1100"/>
              <a:t>hop", com rastreamento MED-2.0 de até cinco camadas. Na tela a frase diz quem faz</a:t>
            </a:r>
            <a:endParaRPr/>
          </a:p>
          <a:p>
            <a:pPr indent="-298450" lvl="0" marL="457200" rtl="0" algn="l">
              <a:lnSpc>
                <a:spcPct val="100000"/>
              </a:lnSpc>
              <a:spcBef>
                <a:spcPts val="0"/>
              </a:spcBef>
              <a:spcAft>
                <a:spcPts val="0"/>
              </a:spcAft>
              <a:buSzPts val="1100"/>
              <a:buChar char="●"/>
            </a:pPr>
            <a:r>
              <a:rPr lang="en-US" sz="1100"/>
              <a:t>o quê, em vez de decalcar "abused refund flow".</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[12 s]</a:t>
            </a:r>
            <a:endParaRPr/>
          </a:p>
          <a:p>
            <a:pPr indent="-298450" lvl="0" marL="457200" rtl="0" algn="l">
              <a:lnSpc>
                <a:spcPct val="100000"/>
              </a:lnSpc>
              <a:spcBef>
                <a:spcPts val="0"/>
              </a:spcBef>
              <a:spcAft>
                <a:spcPts val="0"/>
              </a:spcAft>
              <a:buSzPts val="1100"/>
              <a:buChar char="●"/>
            </a:pPr>
            <a:r>
              <a:rPr lang="en-US" sz="1100"/>
              <a:t>FALA</a:t>
            </a:r>
            <a:endParaRPr/>
          </a:p>
          <a:p>
            <a:pPr indent="-298450" lvl="0" marL="457200" rtl="0" algn="l">
              <a:lnSpc>
                <a:spcPct val="100000"/>
              </a:lnSpc>
              <a:spcBef>
                <a:spcPts val="0"/>
              </a:spcBef>
              <a:spcAft>
                <a:spcPts val="0"/>
              </a:spcAft>
              <a:buSzPts val="1100"/>
              <a:buChar char="●"/>
            </a:pPr>
            <a:r>
              <a:rPr lang="en-US" sz="1100"/>
              <a:t>Cadeia de laranjas. Dispersa dinheiro já tomado. O primeiro salto ainda parece tomada de conta.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a:t>
            </a:r>
            <a:endParaRPr/>
          </a:p>
          <a:p>
            <a:pPr indent="-298450" lvl="0" marL="457200" rtl="0" algn="l">
              <a:lnSpc>
                <a:spcPct val="100000"/>
              </a:lnSpc>
              <a:spcBef>
                <a:spcPts val="0"/>
              </a:spcBef>
              <a:spcAft>
                <a:spcPts val="0"/>
              </a:spcAft>
              <a:buSzPts val="1100"/>
              <a:buChar char="●"/>
            </a:pPr>
            <a:r>
              <a:rPr lang="en-US" sz="1100"/>
              <a:t>Um cenário por tela: coação e falsa devolução MED não existem em dado aberto,</a:t>
            </a:r>
            <a:endParaRPr/>
          </a:p>
          <a:p>
            <a:pPr indent="-298450" lvl="0" marL="457200" rtl="0" algn="l">
              <a:lnSpc>
                <a:spcPct val="100000"/>
              </a:lnSpc>
              <a:spcBef>
                <a:spcPts val="0"/>
              </a:spcBef>
              <a:spcAft>
                <a:spcPts val="0"/>
              </a:spcAft>
              <a:buSzPts val="1100"/>
              <a:buChar char="●"/>
            </a:pPr>
            <a:r>
              <a:rPr lang="en-US" sz="1100"/>
              <a:t>e antes desta sequência eles apareciam citados sem nunca terem sido apresentados.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 name="Google Shape;577;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[22 s] FALA Esta matriz é a fração de eventos de cada cenário que acende cada sinal, e ela separa os quatro de uma vez. Tomada de conta acende tudo: aparelho trocado em sessenta e um por cento, recebedor novo e sessão remota em cem. A cadeia de laranjas acende menos, e esmaece a cada salto. A devolução MED falsa não acende sessão remota em camada nenhuma. E a coação, embaixo, é o caso duro: aparelho trocado em ZERO, sessão remota em ZERO, porque a vítima está no aparelho de sempre. Sobra o recebedor novo, sozinho.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TERMOS Fração: a proporção de eventos daquele cenário em que o sinal está presente, não uma probabilidade estimada.</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 Painel (b) da Figura 2. É a explicação, em dado, do recall de 0,146 da coação que o resultado 3 vai mostrar: das três colunas na tela, duas ficam em zero nesse cenário. Se perguntarem se a coação foi feita indetectável de propósito: não — valor e recebedor novo continuam lá, e há um slide de reserva com essa conta.</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PRECISÃO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 artigo: na coação a vítima usa o próprio aparelho, em sessão genuína, então não há troca 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aparelho nem sessão remota; sobram o valor, acima da mediana legítima, e 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recebedor novo. Se perguntarem da bandeira de coação: é sinal nativo do gerador,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que fonte externa nenhuma carrega, e por isso ficou fora da comparação.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VEIO DE OUTRA TELA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tela "CENÁRIOS · Quatro cenários", que só listava tomada de conta, coação,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falsa devolução MED e cadeia de laranjas, saiu: a figura do passo 3 do pipeline já</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mostra os quatro, e ainda com a profundidade de cada cadeia. Era ela que fazia os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cenários parecerem citados antes de apresentados.</a:t>
            </a:r>
            <a:endParaRPr/>
          </a:p>
        </p:txBody>
      </p:sp>
      <p:sp>
        <p:nvSpPr>
          <p:cNvPr id="578" name="Google Shape;578;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[22 s] FALA O arcabouço é um pipeline de quatro estágios, e é a Figura 1 do artigo. A janela, que é o relógio de liquidação que cada evento carrega. As fontes, que três adaptadores reduzem a um esquema só. Os cenários, que a biblioteca instancia, incluindo os dois que nenhum dado aberto tem. E o veredito, onde a nota do detector e a latência medida dele entram na mesma régua. Vou passar por um de cada vez; a regra que fecha a lacuna é a da faixa de baixo: uma decisão correta que chega tarde demais não conta como sucesso.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TERMOS Pipeline de quatro estágios: a arquitetura da Seção 3 do artigo. Detector e gerador são trocáveis sem tocar no arcabouço, o que permite rodar a mesma avaliação sobre o gerador próprio e sobre os dois conjuntos externos sem escrever código por fonte.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 Esta tela é o MAPA, e é a única em que a figura aparece inteira. Ninguém lê o que está escrito dentro dos painéis aqui, e não precisa: o que ela tem de entregar é que são quatro caixas em sequência, com nome. As quatro telas seguintes ampliam um painel cada, até a borda, e é lá que o conteúdo é lido. Antes, esta tira era a ÚNICA aparição da figura, com o rótulo interno saindo em ~14 pt na projeção.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SAIU DA TELA</a:t>
            </a:r>
            <a:endParaRPr/>
          </a:p>
          <a:p>
            <a:pPr indent="-298450" lvl="0" marL="457200" rtl="0" algn="l">
              <a:lnSpc>
                <a:spcPct val="100000"/>
              </a:lnSpc>
              <a:spcBef>
                <a:spcPts val="0"/>
              </a:spcBef>
              <a:spcAft>
                <a:spcPts val="0"/>
              </a:spcAft>
              <a:buSzPts val="1100"/>
              <a:buChar char="●"/>
            </a:pPr>
            <a:r>
              <a:rPr lang="en-US" sz="1100"/>
              <a:t>"Só conta se couber em 1,5 s." saiu do rodapé desta tela; a regra é dita na</a:t>
            </a:r>
            <a:endParaRPr/>
          </a:p>
          <a:p>
            <a:pPr indent="-298450" lvl="0" marL="457200" rtl="0" algn="l">
              <a:lnSpc>
                <a:spcPct val="100000"/>
              </a:lnSpc>
              <a:spcBef>
                <a:spcPts val="0"/>
              </a:spcBef>
              <a:spcAft>
                <a:spcPts val="0"/>
              </a:spcAft>
              <a:buSzPts val="1100"/>
              <a:buChar char="●"/>
            </a:pPr>
            <a:r>
              <a:rPr lang="en-US" sz="1100"/>
              <a:t>tela da métrica, onde ela é o assunto.</a:t>
            </a:r>
            <a:endParaRPr/>
          </a:p>
        </p:txBody>
      </p:sp>
      <p:sp>
        <p:nvSpPr>
          <p:cNvPr id="591" name="Google Shape;59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0" name="Google Shape;61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[18 s] FALA Primeiro estágio: a janela. Cada evento carrega o instante em que a transferência se torna irrevogável — um por evento, não uma média do conjunto. É a borda direita da barra: passou dali, não há decisão que valha. E este é o campo que nenhuma outra fonte aberta carrega, o que é a razão de o gerador ser nativo em vez de um mapeamento.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TERMOS Janela de liquidação: o intervalo, por evento, entre o pedido de pagamento e o instante em que a transferência deixa de poder ser desfeita. É parâmetro do gerador, mais apertado que o ciclo do regulador, e nunca entra na métrica de prazo.</a:t>
            </a:r>
            <a:endParaRPr/>
          </a:p>
          <a:p>
            <a:pPr indent="-298450" lvl="0" marL="457200" rtl="0" algn="l">
              <a:lnSpc>
                <a:spcPct val="100000"/>
              </a:lnSpc>
              <a:spcBef>
                <a:spcPts val="0"/>
              </a:spcBef>
              <a:spcAft>
                <a:spcPts val="0"/>
              </a:spcAft>
              <a:buSzPts val="1100"/>
              <a:buChar char="●"/>
            </a:pPr>
            <a:r>
              <a:rPr lang="en-US" sz="1100"/>
              <a:t>Carimbo de irrevogabilidade: o campo, por evento, que marca esse instante.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 Painel (a) da Figura 1. Sem um carimbo de irrevogabilidade por evento não há como dizer se uma decisão chegou a tempo, e é isso que separa este arcabouço dos conjuntos da tabela de trabalhos relacionados.</a:t>
            </a:r>
            <a:endParaRPr/>
          </a:p>
          <a:p>
            <a:pPr indent="-298450" lvl="0" marL="457200" rtl="0" algn="l">
              <a:lnSpc>
                <a:spcPct val="100000"/>
              </a:lnSpc>
              <a:spcBef>
                <a:spcPts val="0"/>
              </a:spcBef>
              <a:spcAft>
                <a:spcPts val="0"/>
              </a:spcAft>
              <a:buSzPts val="1100"/>
              <a:buChar char="●"/>
            </a:pPr>
            <a:r>
              <a:rPr lang="en-US" sz="1100"/>
              <a:t>A FAIXA de 300 a 1.999 ms saiu da tela de propósito. O deck inteiro passou a falar de UM prazo, o 1,5 s do regulador; a janela do gerador é outro número, e o artigo é explícito em que ela é parâmetro do gerador e nunca entra na métrica de prazo. Duas durações na tela faziam a plateia procurar qual das duas era o prazo. Se alguém perguntar, o número está aqui e tem tela de reserva.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SAIU DA TELA</a:t>
            </a:r>
            <a:endParaRPr/>
          </a:p>
          <a:p>
            <a:pPr indent="-298450" lvl="0" marL="457200" rtl="0" algn="l">
              <a:lnSpc>
                <a:spcPct val="100000"/>
              </a:lnSpc>
              <a:spcBef>
                <a:spcPts val="0"/>
              </a:spcBef>
              <a:spcAft>
                <a:spcPts val="0"/>
              </a:spcAft>
              <a:buSzPts val="1100"/>
              <a:buChar char="●"/>
            </a:pPr>
            <a:r>
              <a:rPr lang="en-US" sz="1100"/>
              <a:t>O terceiro bullet era "Só o nosso gerador traz esse carimbo" e a frase de remate era</a:t>
            </a:r>
            <a:endParaRPr/>
          </a:p>
          <a:p>
            <a:pPr indent="-298450" lvl="0" marL="457200" rtl="0" algn="l">
              <a:lnSpc>
                <a:spcPct val="100000"/>
              </a:lnSpc>
              <a:spcBef>
                <a:spcPts val="0"/>
              </a:spcBef>
              <a:spcAft>
                <a:spcPts val="0"/>
              </a:spcAft>
              <a:buSzPts val="1100"/>
              <a:buChar char="●"/>
            </a:pPr>
            <a:r>
              <a:rPr lang="en-US" sz="1100"/>
              <a:t>"Passou da borda direita, não há decisão que valha." Os dois ficam na fala; a tela guarda só o que sustenta a etapa.</a:t>
            </a:r>
            <a:endParaRPr/>
          </a:p>
        </p:txBody>
      </p:sp>
      <p:sp>
        <p:nvSpPr>
          <p:cNvPr id="611" name="Google Shape;611;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[20 s] FALA Segundo estágio: a adaptação. Um adaptador por gerador mapeia cada uma das três fontes para o mesmo esquema de evento, de quinze campos, sem alterar o dado original. É isso que permite rodar a mesma avaliação sobre o nosso gerador e sobre os dois conjuntos externos sem escrever código por fonte, e é a condição para a comparação do resultado 4 significar alguma coisa.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TERMOS Esquema comum: o registro normalizado de evento, de quinze campos, que toda fonte passa a falar depois do adaptador. O apêndice do artigo lista os campos e diz quais sobrevivem quando a fonte é externa.</a:t>
            </a:r>
            <a:endParaRPr/>
          </a:p>
          <a:p>
            <a:pPr indent="-298450" lvl="0" marL="457200" rtl="0" algn="l">
              <a:lnSpc>
                <a:spcPct val="100000"/>
              </a:lnSpc>
              <a:spcBef>
                <a:spcPts val="0"/>
              </a:spcBef>
              <a:spcAft>
                <a:spcPts val="0"/>
              </a:spcAft>
              <a:buSzPts val="1100"/>
              <a:buChar char="●"/>
            </a:pPr>
            <a:r>
              <a:rPr lang="en-US" sz="1100"/>
              <a:t>Adaptador: componente que traduz o formato de uma fonte externa para esse esquema.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 Painel (b) da Figura 1. Detector e gerador são trocáveis sem tocar no arcabouço: é a alegação que a arquitetura sustenta. Se perguntarem quanto sobra de uma fonte externa depois do mapeamento, a resposta está três telas adiante: das quatro colunas do detector tabular, só o valor sobrevive.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SAIU DA TELA</a:t>
            </a:r>
            <a:endParaRPr/>
          </a:p>
          <a:p>
            <a:pPr indent="-298450" lvl="0" marL="457200" rtl="0" algn="l">
              <a:lnSpc>
                <a:spcPct val="100000"/>
              </a:lnSpc>
              <a:spcBef>
                <a:spcPts val="0"/>
              </a:spcBef>
              <a:spcAft>
                <a:spcPts val="0"/>
              </a:spcAft>
              <a:buSzPts val="1100"/>
              <a:buChar char="●"/>
            </a:pPr>
            <a:r>
              <a:rPr lang="en-US" sz="1100"/>
              <a:t>O terceiro bullet era "Sem código por fonte no detector" e a frase de remate era</a:t>
            </a:r>
            <a:endParaRPr/>
          </a:p>
          <a:p>
            <a:pPr indent="-298450" lvl="0" marL="457200" rtl="0" algn="l">
              <a:lnSpc>
                <a:spcPct val="100000"/>
              </a:lnSpc>
              <a:spcBef>
                <a:spcPts val="0"/>
              </a:spcBef>
              <a:spcAft>
                <a:spcPts val="0"/>
              </a:spcAft>
              <a:buSzPts val="1100"/>
              <a:buChar char="●"/>
            </a:pPr>
            <a:r>
              <a:rPr lang="en-US" sz="1100"/>
              <a:t>"Um esquema só: o mesmo detector roda nas três." Os dois ficam na fala; a tela guarda só o que sustenta a etapa.</a:t>
            </a:r>
            <a:endParaRPr/>
          </a:p>
        </p:txBody>
      </p:sp>
      <p:sp>
        <p:nvSpPr>
          <p:cNvPr id="631" name="Google Shape;631;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2" name="Google Shape;65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[22 s] FALA Terceiro estágio: a biblioteca de cenários. São quatro. Tomada de conta, de salto único, e cadeia de laranjas, de quatro saltos. Falsa devolução MED, que simula o rastreio do MED dois ponto zero por até cinco camadas de repasse. E coação, em que a própria vítima inicia a transferência, sob ameaça, do aparelho de sempre. Os dois de baixo, destacados na figura, são acréscimos deste trabalho: nenhum conjunto aberto de dado de Pix os carrega, e é por isso que eles precisavam de um gerador nativo.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TERMOS Falsa devolução MED: cadeia de até cinco camadas de repasse que explora o Mecanismo Especial de Devolução, sem sessão remota em camada nenhuma.</a:t>
            </a:r>
            <a:endParaRPr/>
          </a:p>
          <a:p>
            <a:pPr indent="-298450" lvl="0" marL="457200" rtl="0" algn="l">
              <a:lnSpc>
                <a:spcPct val="100000"/>
              </a:lnSpc>
              <a:spcBef>
                <a:spcPts val="0"/>
              </a:spcBef>
              <a:spcAft>
                <a:spcPts val="0"/>
              </a:spcAft>
              <a:buSzPts val="1100"/>
              <a:buChar char="●"/>
            </a:pPr>
            <a:r>
              <a:rPr lang="en-US" sz="1100"/>
              <a:t>Coação: transferência iniciada pela própria vítima, no aparelho de sempre, sob ameaça, o que faz o evento quase não acender sinal de dispositivo.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 Painel (c) da Figura 1. O destaque laranja é do próprio artigo, e a legenda dentro da figura diz o que ele significa. Os quatro cenários vêm detalhados um a um mais adiante, e a matriz de sinais por cenário mostra, em dado, por que a coação é o caso duro.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SAIU DA TELA</a:t>
            </a:r>
            <a:endParaRPr/>
          </a:p>
          <a:p>
            <a:pPr indent="-298450" lvl="0" marL="457200" rtl="0" algn="l">
              <a:lnSpc>
                <a:spcPct val="100000"/>
              </a:lnSpc>
              <a:spcBef>
                <a:spcPts val="0"/>
              </a:spcBef>
              <a:spcAft>
                <a:spcPts val="0"/>
              </a:spcAft>
              <a:buSzPts val="1100"/>
              <a:buChar char="●"/>
            </a:pPr>
            <a:r>
              <a:rPr lang="en-US" sz="1100"/>
              <a:t>O terceiro bullet era "Coação, iniciada pela vítima" e a frase de remate era</a:t>
            </a:r>
            <a:endParaRPr/>
          </a:p>
          <a:p>
            <a:pPr indent="-298450" lvl="0" marL="457200" rtl="0" algn="l">
              <a:lnSpc>
                <a:spcPct val="100000"/>
              </a:lnSpc>
              <a:spcBef>
                <a:spcPts val="0"/>
              </a:spcBef>
              <a:spcAft>
                <a:spcPts val="0"/>
              </a:spcAft>
              <a:buSzPts val="1100"/>
              <a:buChar char="●"/>
            </a:pPr>
            <a:r>
              <a:rPr lang="en-US" sz="1100"/>
              <a:t>"Os dois destacados não existem em dado aberto." Os dois ficam na fala; a tela guarda só o que sustenta a etapa.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PRECISÃO</a:t>
            </a:r>
            <a:endParaRPr/>
          </a:p>
          <a:p>
            <a:pPr indent="-298450" lvl="0" marL="457200" rtl="0" algn="l">
              <a:lnSpc>
                <a:spcPct val="100000"/>
              </a:lnSpc>
              <a:spcBef>
                <a:spcPts val="0"/>
              </a:spcBef>
              <a:spcAft>
                <a:spcPts val="0"/>
              </a:spcAft>
              <a:buSzPts val="1100"/>
              <a:buChar char="●"/>
            </a:pPr>
            <a:r>
              <a:rPr lang="en-US" sz="1100"/>
              <a:t>Esta tela não nomeia mais os cenários: tomada de conta, coação, falsa devolução</a:t>
            </a:r>
            <a:endParaRPr/>
          </a:p>
          <a:p>
            <a:pPr indent="-298450" lvl="0" marL="457200" rtl="0" algn="l">
              <a:lnSpc>
                <a:spcPct val="100000"/>
              </a:lnSpc>
              <a:spcBef>
                <a:spcPts val="0"/>
              </a:spcBef>
              <a:spcAft>
                <a:spcPts val="0"/>
              </a:spcAft>
              <a:buSzPts val="1100"/>
              <a:buChar char="●"/>
            </a:pPr>
            <a:r>
              <a:rPr lang="en-US" sz="1100"/>
              <a:t>MED e cadeia de laranjas aparecem pela primeira vez na tela CENÁRIOS, mais adiante.</a:t>
            </a:r>
            <a:endParaRPr/>
          </a:p>
          <a:p>
            <a:pPr indent="-298450" lvl="0" marL="457200" rtl="0" algn="l">
              <a:lnSpc>
                <a:spcPct val="100000"/>
              </a:lnSpc>
              <a:spcBef>
                <a:spcPts val="0"/>
              </a:spcBef>
              <a:spcAft>
                <a:spcPts val="0"/>
              </a:spcAft>
              <a:buSzPts val="1100"/>
              <a:buChar char="●"/>
            </a:pPr>
            <a:r>
              <a:rPr lang="en-US" sz="1100"/>
              <a:t>Antes, coação e falsa devolução MED eram citados aqui, antes de existirem para a plateia.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PRECISÃO</a:t>
            </a:r>
            <a:endParaRPr/>
          </a:p>
          <a:p>
            <a:pPr indent="-298450" lvl="0" marL="457200" rtl="0" algn="l">
              <a:lnSpc>
                <a:spcPct val="100000"/>
              </a:lnSpc>
              <a:spcBef>
                <a:spcPts val="0"/>
              </a:spcBef>
              <a:spcAft>
                <a:spcPts val="0"/>
              </a:spcAft>
              <a:buSzPts val="1100"/>
              <a:buChar char="●"/>
            </a:pPr>
            <a:r>
              <a:rPr lang="en-US" sz="1100"/>
              <a:t>Esta tela dizia "Quatro cenários, um por evento / Dois não existem em dado aberto",</a:t>
            </a:r>
            <a:endParaRPr/>
          </a:p>
          <a:p>
            <a:pPr indent="-298450" lvl="0" marL="457200" rtl="0" algn="l">
              <a:lnSpc>
                <a:spcPct val="100000"/>
              </a:lnSpc>
              <a:spcBef>
                <a:spcPts val="0"/>
              </a:spcBef>
              <a:spcAft>
                <a:spcPts val="0"/>
              </a:spcAft>
              <a:buSzPts val="1100"/>
              <a:buChar char="●"/>
            </a:pPr>
            <a:r>
              <a:rPr lang="en-US" sz="1100"/>
              <a:t>que é exatamente o que as cinco telas anteriores acabaram de mostrar, uma a uma. Agora</a:t>
            </a:r>
            <a:endParaRPr/>
          </a:p>
          <a:p>
            <a:pPr indent="-298450" lvl="0" marL="457200" rtl="0" algn="l">
              <a:lnSpc>
                <a:spcPct val="100000"/>
              </a:lnSpc>
              <a:spcBef>
                <a:spcPts val="0"/>
              </a:spcBef>
              <a:spcAft>
                <a:spcPts val="0"/>
              </a:spcAft>
              <a:buSzPts val="1100"/>
              <a:buChar char="●"/>
            </a:pPr>
            <a:r>
              <a:rPr lang="en-US" sz="1100"/>
              <a:t>ela diz o que a ETAPA faz: a biblioteca é plugável, e cada camada de uma cadeia é um</a:t>
            </a:r>
            <a:endParaRPr/>
          </a:p>
          <a:p>
            <a:pPr indent="-298450" lvl="0" marL="457200" rtl="0" algn="l">
              <a:lnSpc>
                <a:spcPct val="100000"/>
              </a:lnSpc>
              <a:spcBef>
                <a:spcPts val="0"/>
              </a:spcBef>
              <a:spcAft>
                <a:spcPts val="0"/>
              </a:spcAft>
              <a:buSzPts val="1100"/>
              <a:buChar char="●"/>
            </a:pPr>
            <a:r>
              <a:rPr lang="en-US" sz="1100"/>
              <a:t>evento pontuado separadamente. Os cenários em si já foram apresentados.</a:t>
            </a:r>
            <a:endParaRPr/>
          </a:p>
        </p:txBody>
      </p:sp>
      <p:sp>
        <p:nvSpPr>
          <p:cNvPr id="653" name="Google Shape;653;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 name="Google Shape;67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[24 s] FALA Quarto estágio: o avaliador sensível ao prazo. Ele treina o detector, cronometra a latência real de cada evento — cronometrada na execução, não configurada — e põe as duas coisas na mesma régua: a nota de acurácia e a linha vermelha de um vírgula cinco segundo, que não é escolha nossa, é o percentil noventa e cinco da autorização da instituição pagadora no Manual de Tempos do Pix. À esquerda da linha, a decisão chega a tempo; à direita, ela chega quando a transferência já é irrevogável, e uma decisão correta que chega tarde não conta como sucesso.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TERMOS Avaliador sensível ao prazo (deadline-aware scorer): componente que treina o detector, mede o tempo real que ele leva para pontuar cada evento, e reporta a acurácia junto com a fração de fraudes decididas dentro do prazo.</a:t>
            </a:r>
            <a:endParaRPr/>
          </a:p>
          <a:p>
            <a:pPr indent="-298450" lvl="0" marL="457200" rtl="0" algn="l">
              <a:lnSpc>
                <a:spcPct val="100000"/>
              </a:lnSpc>
              <a:spcBef>
                <a:spcPts val="0"/>
              </a:spcBef>
              <a:spcAft>
                <a:spcPts val="0"/>
              </a:spcAft>
              <a:buSzPts val="1100"/>
              <a:buChar char="●"/>
            </a:pPr>
            <a:r>
              <a:rPr lang="en-US" sz="1100"/>
              <a:t>Orçamento de 1,5 s: o p95 da autorização da instituição pagadora no Manual de Tempos do Pix v7.</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POR QUE Painel (d) da Figura 1, e é a regra que fecha a lacuna: precisão e recall se calculam em lote, depois do fato, e nenhum artefato aberto avaliava um detector contra a janela pré-transação. Se perguntarem por que 1,5 s e não os 30 minutos da janela de suspeita: o detector está competindo pelo orçamento da própria pagadora ANTES de ela decidir se sinaliza; é só depois de sinalizar que a transferência entra na janela larga.</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SAIU DA TELA</a:t>
            </a:r>
            <a:endParaRPr/>
          </a:p>
          <a:p>
            <a:pPr indent="-298450" lvl="0" marL="457200" rtl="0" algn="l">
              <a:lnSpc>
                <a:spcPct val="100000"/>
              </a:lnSpc>
              <a:spcBef>
                <a:spcPts val="0"/>
              </a:spcBef>
              <a:spcAft>
                <a:spcPts val="0"/>
              </a:spcAft>
              <a:buSzPts val="1100"/>
              <a:buChar char="●"/>
            </a:pPr>
            <a:r>
              <a:rPr lang="en-US" sz="1100"/>
              <a:t>O terceiro bullet era "Acurácia e prazo saem juntos" e a frase de remate era</a:t>
            </a:r>
            <a:endParaRPr/>
          </a:p>
          <a:p>
            <a:pPr indent="-298450" lvl="0" marL="457200" rtl="0" algn="l">
              <a:lnSpc>
                <a:spcPct val="100000"/>
              </a:lnSpc>
              <a:spcBef>
                <a:spcPts val="0"/>
              </a:spcBef>
              <a:spcAft>
                <a:spcPts val="0"/>
              </a:spcAft>
              <a:buSzPts val="1100"/>
              <a:buChar char="●"/>
            </a:pPr>
            <a:r>
              <a:rPr lang="en-US" sz="1100"/>
              <a:t>"À direita da linha, a decisão chega tarde demais." Os dois ficam na fala; a tela guarda só o que sustenta a etapa.</a:t>
            </a:r>
            <a:endParaRPr/>
          </a:p>
        </p:txBody>
      </p:sp>
      <p:sp>
        <p:nvSpPr>
          <p:cNvPr id="671" name="Google Shape;671;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2" name="Google Shape;692;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[16 s] FALA A métrica junta duas condições, e as duas valem sobre as fraudes verdadeiras. A primeira é o detector sinalizar: a nota dele passou do limiar. A segunda é ele ter decidido a tempo: a latência MEDIDA dele, cronometrada na execução e não configurada, ficou dentro do prazo. Uma fraude só entra na conta se as duas valerem ao mesmo tempo, e é essa segunda condição que nenhum trabalho anterior aplica.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Limiar (τ): o valor de corte que a nota do detector precisa ultrapassar para o evento ser tratado como um alerta de fraude.</a:t>
            </a:r>
            <a:endParaRPr/>
          </a:p>
          <a:p>
            <a:pPr indent="0" lvl="0" marL="0" rtl="0" algn="l">
              <a:lnSpc>
                <a:spcPct val="100000"/>
              </a:lnSpc>
              <a:spcBef>
                <a:spcPts val="0"/>
              </a:spcBef>
              <a:spcAft>
                <a:spcPts val="0"/>
              </a:spcAft>
              <a:buSzPts val="1100"/>
              <a:buNone/>
            </a:pPr>
            <a:r>
              <a:rPr lang="en-US"/>
              <a:t>Fração no prazo: a média, sobre as fraudes verdadeiras, do produto dos dois indicadores.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definição formal está na Seção 3 do artigo. Eram duas telas, uma por condição, com um anel se movendo entre elas; o ponto é que a fração no prazo exige as DUAS ao mesmo tempo, e uma tela com as duas diz isso mais rápido. O artigo também é explícito no que isto NÃO é: é recall restrita às decisões a tempo, uma segunda condição sobre uma quantidade familiar, não um estimador novo. Para um detector tabular, que decide em menos de 0,01 ms, a fração no prazo é simplesmente a recall dele: a métrica só separa quando a latência medida se aproxima da janela.</a:t>
            </a:r>
            <a:endParaRPr/>
          </a:p>
        </p:txBody>
      </p:sp>
      <p:sp>
        <p:nvSpPr>
          <p:cNvPr id="693" name="Google Shape;693;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7" name="Google Shape;70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[4 s] FALA Vamos aos resultados, que neste trabalho são a contribuição principal.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(Nenhum termo novo neste slide de transição.)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Slide de transição puro, entre o método e os resultados medidos: o papel dele é sinalizar que os próximos oito slides deixam de descrever o arcabouço e passam a reportar números medidos sobre oito detectores.</a:t>
            </a:r>
            <a:endParaRPr/>
          </a:p>
        </p:txBody>
      </p:sp>
      <p:sp>
        <p:nvSpPr>
          <p:cNvPr id="708" name="Google Shape;70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0" name="Google Shape;720;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[25 s] FALA A montagem do experimento decide o que os números podem dizer. O gerador emite quarenta mil quatrocentos e oitenta e dois eventos, com taxa de fraude de um vírgula dezenove por cento, e a avaliação usa dezesseis mil cento e noventa e três, com cento e noventa e três fraudes. Para a comparação com os modelos de linguagem existe uma fatia à parte de mil eventos, enriquecida para os intervalos não dependerem de poucos casos. Os intervalos de confiança são de noventa e cinco por cento, Wilson para proporções e bootstrap para F1 e PR-AUC.</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Divisão estratificada por rótulo: separação dos eventos em treino e avaliação que preserva, nas duas partes, a mesma proporção de fraude e de transações legítimas do conjunto original.</a:t>
            </a:r>
            <a:endParaRPr/>
          </a:p>
          <a:p>
            <a:pPr indent="0" lvl="0" marL="0" rtl="0" algn="l">
              <a:lnSpc>
                <a:spcPct val="100000"/>
              </a:lnSpc>
              <a:spcBef>
                <a:spcPts val="0"/>
              </a:spcBef>
              <a:spcAft>
                <a:spcPts val="0"/>
              </a:spcAft>
              <a:buSzPts val="1100"/>
              <a:buNone/>
            </a:pPr>
            <a:r>
              <a:rPr lang="en-US"/>
              <a:t>Fatia enriquecida: o subconjunto de mil eventos usado para comparar com os modelos de linguagem, montado com 150 fraudes, uma proporção de 15% bem acima da taxa natural de 1,19% do gerador, para que os intervalos de confiança sobre a fraude não dependam de poucos casos.</a:t>
            </a:r>
            <a:endParaRPr/>
          </a:p>
          <a:p>
            <a:pPr indent="0" lvl="0" marL="0" rtl="0" algn="l">
              <a:lnSpc>
                <a:spcPct val="100000"/>
              </a:lnSpc>
              <a:spcBef>
                <a:spcPts val="0"/>
              </a:spcBef>
              <a:spcAft>
                <a:spcPts val="0"/>
              </a:spcAft>
              <a:buSzPts val="1100"/>
              <a:buNone/>
            </a:pPr>
            <a:r>
              <a:rPr lang="en-US"/>
              <a:t>Intervalo de confiança de 95%: faixa que, com 95% de confiança, contém o valor real da métrica; o artigo usa intervalos de Wilson para proporções e intervalos de bootstrap, com 1000 reamostragens, para F1 e PR-AUC.</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Se perguntarem por que enriquecer a fatia de mil eventos: porque com a taxa natural de 1,19% sobrariam poucas dezenas de fraudes para calcular intervalo de confiança, e o enriquecimento é declarado explicitamente como limite da comparação, não como taxa real. A tela dedicada aos intervalos de confiança saiu: ficha de reprodução não vai para a tela, quem quer repetir lê o artigo e o artefato. Cada figura do artigo é traçada por um script do artefato, dos mesmos arquivos de resultado que as tabelas leem, o que sustenta o selo de Experimentos Reprodutíveis mostrado no fim da apresentação.</a:t>
            </a:r>
            <a:endParaRPr/>
          </a:p>
        </p:txBody>
      </p:sp>
      <p:sp>
        <p:nvSpPr>
          <p:cNvPr id="721" name="Google Shape;721;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3" name="Google Shape;73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[20 s] FALA Este é o slide central do trabalho, e ele tem duas leituras. A primeira: por PR-AUC, nesta fatia, quem lidera é a floresta aleatória, com zero vírgula novecentos e trinta e um, e ela é a única dos cinco que foi ajustada a estes dados. A segunda, que é o achado: os dois modelos de nuvem chegam a zero vírgula oitocentos e quarenta e seis e zero vírgula oitocentos e quarenta e nove sem nunca ter visto um evento rotulado deste fluxo, contra zero vírgula cento e cinquenta que um detector ao acaso teria aqui. Daqui a pouco, em contagens, eles achariam mais fraude que a floresta.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DeepSeek v4-flash e v4-pro: os dois modelos de raciocínio chamados pela nuvem, pedindo uma transferência por chamada, com PR-AUC de 0,846 e 0,849, e nenhum dos dois viu um evento rotulado deste fluxo.</a:t>
            </a:r>
            <a:endParaRPr/>
          </a:p>
          <a:p>
            <a:pPr indent="0" lvl="0" marL="0" rtl="0" algn="l">
              <a:lnSpc>
                <a:spcPct val="100000"/>
              </a:lnSpc>
              <a:spcBef>
                <a:spcPts val="0"/>
              </a:spcBef>
              <a:spcAft>
                <a:spcPts val="0"/>
              </a:spcAft>
              <a:buSzPts val="1100"/>
              <a:buNone/>
            </a:pPr>
            <a:r>
              <a:rPr lang="en-US"/>
              <a:t>PR-AUC ao acaso: o valor esperado de PR-AUC de um detector que pontuasse aleatoriamente, igual à taxa de fraude da fatia, 0,150 aqui.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Cuidado com a formulação: o resumo do artigo diz que os detectores mais acurados são os dois de nuvem, e a forma como a Seção 4.2 sustenta isso é em CONTAGEM de fraude encontrada, 112 contra 93, e em recall, 0,747 contra 0,620, não em PR-AUC. Por PR-AUC e por precisão, nesta mesma fatia, a floresta ganha, com 0,931 e precisão 0,989 contra 0,849 e 0,789. Por isso este slide não afirma que os de nuvem são os mais acurados: ele mostra a PR-AUC dos cinco e deixa o achado para o slide de contagens. Se perguntarem qual dos dois é o melhor: depende da métrica, e é justamente por isso que o trabalho argumenta que um número isolado não decide.</a:t>
            </a:r>
            <a:endParaRPr/>
          </a:p>
        </p:txBody>
      </p:sp>
      <p:sp>
        <p:nvSpPr>
          <p:cNvPr id="734" name="Google Shape;734;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7" name="Google Shape;76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[14 s] FALA E o segundo eixo: a fração no prazo dos dois de nuvem é zero. Toda fraude que eles pegam, pegam depois de o dinheiro já ter ido embora. No percentil noventa e cinco eles gastam cinco mil e vinte e cinco e dez mil trezentos e vinte e nove milissegundos, trezentos e trinta e cinco por cento e seiscentos e oitenta e nove por cento do orçamento.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TERMOS Percentil 95 de latência (p95): o tempo que 95% das decisões daquele detector respeitam; usado porque é o mesmo percentil que o manual de tempos do Pix usa para o orçamento de 1,5 segundo.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Fração no prazo (in time): a mesma fração pré-prazo definida no slide da métrica, aqui calculada sobre os mesmos mil eventos para os cinco detectores.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 A comparação entre PR-AUC, no slide anterior, e fração no prazo, aqui, é desenhada para que a plateia veja o contraste em duas imagens sucessivas antes de qualquer explicação. Uma pergunta previsível: por que o modelo de raciocínio local aparece com fração no prazo de 0,993, a maior de todas? Porque ele sinalizou 999 dos 1.000 eventos: as 850 legítimas e 149 das 150 fraudes, precisão de 0,149. O 0,993 é o que se ganha respondendo fraude para tudo. A random forest, com 0,620, sinalizou 94 eventos e errou um; ela chega a tempo E acerta, e é o contraste que sustenta o achado. O próximo bloco explica por que isso acontece, usando esse modelo local como controle.</a:t>
            </a:r>
            <a:endParaRPr/>
          </a:p>
        </p:txBody>
      </p:sp>
      <p:sp>
        <p:nvSpPr>
          <p:cNvPr id="768" name="Google Shape;768;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1" name="Google Shape;80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[26 s] FALA E aqui está o achado central, na régua. O eixo é a latência medida por evento, em escala logarítmica. A linha vermelha é o orçamento de um vírgula cinco segundo; a faixa azul é a janela de liquidação. A floresta aleatória decide em cinco milésimos de milissegundo por evento. O modelo local direto, entre cinquenta e oito e setenta milissegundos. O local com raciocínio, entre noventa e três e setecentos e oito. Os três cabem, com folga. Os dois de nuvem, não: o mais rápido deles vai de mil setecentos e quarenta e três a doze mil novecentos e vinte e três milissegundos, e o outro chega a vinte e dois mil. Eles decidem quando a transferência já é irrevogável, e é por isso que a fração no prazo dos dois é zero vírgula zero zero zero.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Barra e marcador: a barra vai do mínimo ao máximo medido, e o marcador é a mediana. A floresta pontua um quadro inteiro numa chamada vetorizada, então tem média por evento e não tem dispersão por evento para desenhar.</a:t>
            </a:r>
            <a:endParaRPr/>
          </a:p>
          <a:p>
            <a:pPr indent="0" lvl="0" marL="0" rtl="0" algn="l">
              <a:lnSpc>
                <a:spcPct val="100000"/>
              </a:lnSpc>
              <a:spcBef>
                <a:spcPts val="0"/>
              </a:spcBef>
              <a:spcAft>
                <a:spcPts val="0"/>
              </a:spcAft>
              <a:buSzPts val="1100"/>
              <a:buNone/>
            </a:pPr>
            <a:r>
              <a:rPr lang="en-US"/>
              <a:t>Latência de nuvem: é a ida e volta até o provedor, não o tempo de máquina desta bancada.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Painel (b) da Figura 3, e é a tela que o artigo inteiro sustenta. Ela junta o que as duas barras anteriores mostram em separado: a nota do detector e o instante em que essa nota fica disponível. Se perguntarem se um modelo de nuvem melhor resolveria: o slide seguinte responde com o custo, 689% do orçamento no p95, e o de reserva sobre a máquina responde que hardware não fecha um fator de 3,4× e 6,9×.</a:t>
            </a:r>
            <a:endParaRPr/>
          </a:p>
        </p:txBody>
      </p:sp>
      <p:sp>
        <p:nvSpPr>
          <p:cNvPr id="802" name="Google Shape;80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[20 s] FALA Este é o achado, em contagens absolutas: o modelo de nuvem mais forte sinaliza cento e doze das cento e cinquenta fraudes, contra noventa e três da floresta aleatória, que foi treinada nesses dados. Um modelo sem qualquer contato com esta distribuição acha mais fraude do que um ajustado a ela. O preço são trinta alarmes falsos entre oitocentas e cinquenta transferências legítimas, contra um só da floresta.</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TERMOS Verdadeiro positivo (TP): fraude que o detector sinaliza corretamente; 112 para o DeepSeek v4-pro e 93 para a floresta aleatória, sobre as 150 fraudes da fatia de mil eventos.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Falso positivo (FP): transação legítima que o detector sinaliza por engano como fraude; 30 para o DeepSeek v4-pro e 1 para a floresta aleatória, sobre as 850 transações legítimas da mesma fatia.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Modelo sem contato com a distribuição (zero-shot): o DeepSeek v4-pro nunca foi treinado ou ajustado sobre dados deste fluxo específico; ele avalia cada evento só pelo que consegue inferir do texto do prompt.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 É nesta contagem, e não em PR-AUC, que o artigo enuncia o achado de que um modelo sem contato acha mais fraude que um ajustado à distribuição; por PR-AUC e por precisão, nesta mesma fatia, a floresta ganha. Reportar as duas contagens lado a lado é a escolha do próprio artigo, e 112 de 150 comunica melhor que 0,849. Duas ressalvas ficam para o slide de limitações: só a floresta foi ajustada a esta distribuição, e a fatia é enriquecida a 15% de fraude, então nenhuma dessas contagens é taxa de produção.</a:t>
            </a:r>
            <a:endParaRPr/>
          </a:p>
        </p:txBody>
      </p:sp>
      <p:sp>
        <p:nvSpPr>
          <p:cNvPr id="815" name="Google Shape;815;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0" name="Google Shape;830;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[9 s] FALA E o preço no relógio: no percentil noventa e cinco, esse mesmo modelo gasta seiscentos e oitenta e nove por cento do orçamento, dez mil trezentos e vinte e nove milissegundos contra mil e quinhentos. O outro, o mais rápido dos dois de nuvem, gasta trezentos e trinta e cinco por cento.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p95: o mesmo percentil 95 de latência do slide do achado central, aqui aplicado ao DeepSeek v4-pro, que é o modelo de nuvem mais forte em recall e em contagem de fraudes achadas.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Este número fecha o contraste do slide anterior: mais fraude sinalizada não significa nada se a decisão chega tarde demais para contar. Ele é também o que sustenta a limitação de que trocar de hardware não muda o veredito: uma folga de 6,9 vezes não se fecha com quantização nem com uma GPU melhor, o que teria de encolher é a própria deliberação.</a:t>
            </a:r>
            <a:endParaRPr/>
          </a:p>
        </p:txBody>
      </p:sp>
      <p:sp>
        <p:nvSpPr>
          <p:cNvPr id="831" name="Google Shape;831;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1" name="Google Shape;841;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[42 s] FALA As limitações, e prefiro dizê-las antes que perguntem. Primeira: dado real de Pix é privado, então tudo aqui é sintético e nenhuma taxa deste trabalho estima o que uma instituição veria. Segunda: a fatia comparativa dos cinco detectores tem quinze por cento de fraude, bem acima da taxa natural de um vírgula dezenove por cento, e foi enriquecida só para os intervalos não dependerem de poucos casos. Terceira: o veredito de prazo é de uma máquina, uma rede e uma pilha de software declaradas, e precisa ser remedido, não herdado. Quarta: rodar o mesmo modelo dentro da instituição, quantizado ou em GPU de servidor, tiraria a rede e a fila do provedor, mas é correção pequena demais, porque os dois de nuvem gastam três vírgula quatro e seis vírgula nove vezes o orçamento; o que teria de encolher é a deliberação. Quinta: o cenário de coação não é livre de sinal em geral, ele é pobre em duas das quatro colunas e ainda carrega valor e destinatário novo. E sexta: o mapeamento dos cenários na taxonomia e o detector de grafo são propostas dos autores, não resultados competitivos.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TERMOS Dado sintético: todo evento usado neste trabalho é gerado artificialmente ou vem de um conjunto sintético liberado por outro grupo; nenhum dado real de transação Pix foi usado, porque esse dado é privado.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Fatia comparativa: os mil eventos usados para comparar os cinco detectores no resultado 2, com 150 fraudes, 15% do total.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Veredito de prazo: a conclusão de que um detector chega, ou não, dentro do orçamento de 1,5 s; depende da máquina, da rede e da pilha de software usadas para medir a latência.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Quantização: técnica que reduz a precisão numérica de um modelo de linguagem para rodar mais rápido, geralmente com alguma perda de qualidade de resposta.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Livre de sinal: um cenário em que nenhuma coluna do esquema comum ajuda a detecção. A coação não é livre de sinal em geral: ela ainda carrega valor e destinatário novo.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Arquitetura de grafo pequena: o GraphSAGE de duas camadas do apêndice, escolhido para mostrar o arcabouço funcionando com um detector de grafo, não como o melhor detector de grafo possível.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 Esta tela segue de perto o parágrafo de Limitações da Seção 5 do artigo, e a ordem dos marcadores é a ordem em que as limitações aparecem no texto. Eram seis telas de uma frase cada, e como limitação é lista, viraram uma. Se perguntarem por que não testar em produção: porque dado real de Pix é privado e não está disponível para este trabalho, exatamente a primeira limitação.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SAIU DA TELA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Quatro limites desceram para a fala: a fatia comparada tem 15% de fraude e não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1,19%; máquina melhor não cobre 3,4x e 6,9x de estouro; na coação dois dos quatro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sinais ficam em zero; e o mapeamento e o detector de grafo são propostas nossas.</a:t>
            </a:r>
            <a:endParaRPr/>
          </a:p>
        </p:txBody>
      </p:sp>
      <p:sp>
        <p:nvSpPr>
          <p:cNvPr id="842" name="Google Shape;842;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4" name="Google Shape;854;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[3 s] FALA Para fechar, o que muda na prática.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(Nenhum termo novo neste slide de transição.)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Slide de transição puro, entre os resultados detalhados e a conclusão. A fala é curta de propósito, para que o peso da apresentação fique nos três slides seguintes, que trazem contribuição, resultado e impacto.</a:t>
            </a:r>
            <a:endParaRPr/>
          </a:p>
        </p:txBody>
      </p:sp>
      <p:sp>
        <p:nvSpPr>
          <p:cNvPr id="855" name="Google Shape;855;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7" name="Google Shape;867;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[20 s] FALA Fechando o laço: o que a nota de um detector significa depois que o regulador dá cerca de um segundo para decidir. A contribuição tem três partes. Um protocolo de avaliação que junta a nota do detector, a latência medida por evento e um prazo configurável. Um gerador nativo de Pix que carrega o relógio de liquidação, com definições de referência para os dois cenários que faltavam. E a comparação do mesmo detector em três fontes produzidas de forma independente. O artigo é explícito em dizer que isso é uma contribuição, e não três: o prazo só é mensurável porque o gerador carrega o relógio, e só é interpretável porque três fontes independentes pontuam o mesmo detector.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Protocolo de avaliação sensível ao prazo: a combinação de nota do detector, latência medida por evento e prazo de decisão configurável, reportada junto com precisão, recall, F1 e PR-AUC com intervalos de 95%.</a:t>
            </a:r>
            <a:endParaRPr/>
          </a:p>
          <a:p>
            <a:pPr indent="0" lvl="0" marL="0" rtl="0" algn="l">
              <a:lnSpc>
                <a:spcPct val="100000"/>
              </a:lnSpc>
              <a:spcBef>
                <a:spcPts val="0"/>
              </a:spcBef>
              <a:spcAft>
                <a:spcPts val="0"/>
              </a:spcAft>
              <a:buSzPts val="1100"/>
              <a:buNone/>
            </a:pPr>
            <a:r>
              <a:rPr lang="en-US"/>
              <a:t>Relógio de liquidação: o carimbo, por evento, do instante em que a transferência se torna irrevogável; é o que nenhuma outra fonte aberta carrega.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Este slide segue o parágrafo de Contribuições do artigo, na mesma ordem. Os próximos slides trazem o resultado e o impacto dessa contribuição.</a:t>
            </a:r>
            <a:endParaRPr/>
          </a:p>
        </p:txBody>
      </p:sp>
      <p:sp>
        <p:nvSpPr>
          <p:cNvPr id="868" name="Google Shape;868;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0" name="Google Shape;880;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[10 s] FALA O resultado é que os dois detectores que acham mais fraude não respondem a tempo, enquanto o que responde a tempo acha menos. A conclusão do artigo é direta: ordenar só por acurácia escolhe o que não dá para implantar.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Os dois de nuvem: DeepSeek v4-flash e v4-pro, do resultado 2, com PR-AUC de 0,846 e 0,849 e recall de 0,380 e 0,747, mas fração no prazo de 0,000.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Esta é a tese que a apresentação inteira foi construída para sustentar com números: acurácia e utilidade prática podem apontar para detectores diferentes. A formulação escolhida aqui, "os dois que acham mais fraude", segue a Seção 4.2 do artigo, que sustenta o achado em contagem e em recall; por PR-AUC e por precisão, na mesma fatia, quem lidera é a floresta aleatória.</a:t>
            </a:r>
            <a:endParaRPr/>
          </a:p>
        </p:txBody>
      </p:sp>
      <p:sp>
        <p:nvSpPr>
          <p:cNvPr id="881" name="Google Shape;881;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9" name="Google Shape;889;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[15 s] FALA Este é o slide do Comitê de Artefatos, que avalia o artefato de cada trabalho aceito, em processo separado da revisão do artigo, e concede até quatro selos: disponível, funcional, sustentável e reprodutível. O artefato deste trabalho recebeu os quatro.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CTA (Comitê de Avaliação de Artefatos): comitê do SBSeg responsável por avaliar, de forma separada da revisão do artigo, o artefato de software que acompanha um trabalho aceito.</a:t>
            </a:r>
            <a:endParaRPr/>
          </a:p>
          <a:p>
            <a:pPr indent="0" lvl="0" marL="0" rtl="0" algn="l">
              <a:lnSpc>
                <a:spcPct val="100000"/>
              </a:lnSpc>
              <a:spcBef>
                <a:spcPts val="0"/>
              </a:spcBef>
              <a:spcAft>
                <a:spcPts val="0"/>
              </a:spcAft>
              <a:buSzPts val="1100"/>
              <a:buNone/>
            </a:pPr>
            <a:r>
              <a:rPr lang="en-US"/>
              <a:t>Selo Artefatos Disponíveis: concedido quando o artefato está em um repositório público e estável, com documentação mínima que liga o artefato ao artigo.</a:t>
            </a:r>
            <a:endParaRPr/>
          </a:p>
          <a:p>
            <a:pPr indent="0" lvl="0" marL="0" rtl="0" algn="l">
              <a:lnSpc>
                <a:spcPct val="100000"/>
              </a:lnSpc>
              <a:spcBef>
                <a:spcPts val="0"/>
              </a:spcBef>
              <a:spcAft>
                <a:spcPts val="0"/>
              </a:spcAft>
              <a:buSzPts val="1100"/>
              <a:buNone/>
            </a:pPr>
            <a:r>
              <a:rPr lang="en-US"/>
              <a:t>Selo Artefatos Funcionais: concedido quando um avaliador independente consegue instalar, executar e observar a funcionalidade descrita no artigo.</a:t>
            </a:r>
            <a:endParaRPr/>
          </a:p>
          <a:p>
            <a:pPr indent="0" lvl="0" marL="0" rtl="0" algn="l">
              <a:lnSpc>
                <a:spcPct val="100000"/>
              </a:lnSpc>
              <a:spcBef>
                <a:spcPts val="0"/>
              </a:spcBef>
              <a:spcAft>
                <a:spcPts val="0"/>
              </a:spcAft>
              <a:buSzPts val="1100"/>
              <a:buNone/>
            </a:pPr>
            <a:r>
              <a:rPr lang="en-US"/>
              <a:t>Selo Artefatos Sustentáveis: concedido quando o código é modularizado, legível e documentado o bastante para que o avaliador localize nele as reivindicações do artigo.</a:t>
            </a:r>
            <a:endParaRPr/>
          </a:p>
          <a:p>
            <a:pPr indent="0" lvl="0" marL="0" rtl="0" algn="l">
              <a:lnSpc>
                <a:spcPct val="100000"/>
              </a:lnSpc>
              <a:spcBef>
                <a:spcPts val="0"/>
              </a:spcBef>
              <a:spcAft>
                <a:spcPts val="0"/>
              </a:spcAft>
              <a:buSzPts val="1100"/>
              <a:buNone/>
            </a:pPr>
            <a:r>
              <a:rPr lang="en-US"/>
              <a:t>Selo Experimentos Reprodutíveis: concedido quando um avaliador independente recomputa, do zero, os números reportados no artigo a partir do repositório liberado.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Este slide não descreve um achado do artigo, descreve o processo de avaliação do artefato que o acompanha, cujo link está na nota de rodapé da Conclusão do artigo, o repositório no GitHub. A frase mais importante para a credibilidade da apresentação é a última: os quatro selos significam, na prática, que todos os números mostrados nesta apresentação foram recomputados por uma pessoa diferente dos autores, a partir do artefato liberado, sem ajuda deles. Se perguntarem se os quatro selos são automáticos: não, cada um exige uma avaliação humana independente e critérios próprios, e é possível receber só parte deles.</a:t>
            </a:r>
            <a:endParaRPr/>
          </a:p>
        </p:txBody>
      </p:sp>
      <p:sp>
        <p:nvSpPr>
          <p:cNvPr id="890" name="Google Shape;890;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0" name="Google Shape;900;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[15 s] FALA Termino por aqui. O QR da esquerda leva ao artefato, com o gerador, os oito detectores e os scripts que produzem cada número mostrado nesta apresentação; o da direita leva ao laboratório. Muito obrigado, e fico à disposição para perguntas.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Artefato: o repositório público que acompanha o artigo, contendo o código do gerador, dos oito detectores avaliados e dos scripts que recomputam cada número e cada figura mostrados nesta apresentação, incluindo esta.</a:t>
            </a:r>
            <a:endParaRPr/>
          </a:p>
          <a:p>
            <a:pPr indent="0" lvl="0" marL="0" rtl="0" algn="l">
              <a:lnSpc>
                <a:spcPct val="100000"/>
              </a:lnSpc>
              <a:spcBef>
                <a:spcPts val="0"/>
              </a:spcBef>
              <a:spcAft>
                <a:spcPts val="0"/>
              </a:spcAft>
              <a:buSzPts val="1100"/>
              <a:buNone/>
            </a:pPr>
            <a:r>
              <a:rPr lang="en-US"/>
              <a:t>AI Horizon Labs: o laboratório de vínculo do autor de contato, apontado pelo segundo QR do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Este é o slide de fechamento, então a fala é curta de propósito: seu papel é indicar onde a plateia encontra o material para verificar qualquer número contestado durante as perguntas, sem repetir conteúdo já apresentado. O QR do artefato é o mesmo repositório citado na nota de rodapé da Conclusão do artigo e é o que sustenta os quatro selos do CTA mostrados no slide anterior.</a:t>
            </a:r>
            <a:endParaRPr/>
          </a:p>
        </p:txBody>
      </p:sp>
      <p:sp>
        <p:nvSpPr>
          <p:cNvPr id="901" name="Google Shape;901;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6" name="Google Shape;926;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É a primeira pergunta e ela é justa. Dado real de Pix é privado, então toda entrada aqui é sintética, e o artigo declara isso na primeira linha das limitações: nenhuma taxa de fraude e nenhuma acurácia deste trabalho estima o que uma instituição veria. Mas o achado central não depende do dado. Ele depende de duas coisas que não são sintéticas. A primeira é a latência: ela é CRONOMETRADA, com o modelo de verdade, no relógio da máquina, e não configurada como orçamento. Um modelo de raciocínio na nuvem gastando cinco vírgula sete segundos de média é medida, não simulação. A segunda é o prazo, que é do regulador: um vírgula cinco segundo no percentil noventa e cinco, do manual de tempos do Pix. E há uma terceira defesa: das três fontes, duas foram construídas por outros grupos, para outros fins, e o nosso gerador entra para fornecer os dois cenários que faltam, não para emprestar credibilidade.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Fonte sintética: dado gerado por um simulador, com rótulo conhecido por construção, usado porque o dado real não é publicável.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saída honesta é esta: o que este trabalho mede bem é a RELAÇÃO entre acurácia e prazo, e essa relação é robusta ao dado porque o prazo não vem do dado. O que ele não mede é prevalência de fraude no Pix real, e não fazemos essa afirmação em lugar nenhum.</a:t>
            </a:r>
            <a:endParaRPr/>
          </a:p>
        </p:txBody>
      </p:sp>
      <p:sp>
        <p:nvSpPr>
          <p:cNvPr id="927" name="Google Shape;927;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5" name="Google Shape;945;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A fatia comparativa tem mil eventos, cento e cinquenta fraudes e oitocentas e cinquenta legítimas, ou quinze por cento, contra um vírgula dezenove por cento do corpus inteiro. O enriquecimento é declarado e tem uma razão: com a taxa natural sobrariam poucas dezenas de fraudes em mil eventos, e todo intervalo de confiança do lado da fraude repousaria num punhado de casos. A consequência que precisa ser dita é que o valor de referência muda junto: nesta fatia, um detector que sinalize ao acaso chega a zero vírgula cento e cinquenta de PR-AUC, e é contra esse número que se leem os zero vírgula oitenta e cinco dos modelos de nuvem, não contra um vírgula dezenove por cento. E o preço: a precisão e o F1 medidos aqui descrevem esta comparação, não uma taxa de alarme em produção. Com a taxa real, a precisão de todos cairia.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Enriquecimento: sobreamostrar a classe rara para que as estimativas do lado raro tenham n suficiente. Valor ao acaso da PR-AUC: numa amostra com prevalência p, um detector aleatório tem PR-AUC igual a 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O que o enriquecimento NÃO afeta: a latência medida de cada detector, que não depende da mistura de classes, e portanto o ordenamento entre acurácia e prazo, que é o achado. Se um revisor quiser o número em produção, a resposta honesta é que este trabalho não o produz.</a:t>
            </a:r>
            <a:endParaRPr/>
          </a:p>
        </p:txBody>
      </p:sp>
      <p:sp>
        <p:nvSpPr>
          <p:cNvPr id="946" name="Google Shape;946;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4" name="Google Shape;964;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Sim, é uma máquina só, e o artigo diz que o veredito de prazo é propriedade de um detector NUMA máquina, NUMA rede e NUMA pilha de software declaradas. A máquina é um AMD Ryzen 5 8600G de seis núcleos, trinta e dois gigabytes e uma RTX 5060 Ti de dezesseis gigabytes. O que mudaria com hardware melhor: um checkpoint quantizado ou uma GPU de servidor mexeriam no modelo que roda localmente, e rodar o mesmo modelo de nuvem dentro da instituição tiraria o salto de rede e a fila do provedor. O que NÃO mudaria: os dois modelos de nuvem gastam três vírgula quatro e seis vírgula nove vezes o orçamento. Uma folga de quase sete vezes não se fecha com hardware; o que teria de encolher é a própria deliberação, e o número de tokens é a evidência disso. A regra que o artigo propõe é que qualquer veredito desses seja re-medido pela instituição, não herdado de um artigo.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Checkpoint quantizado: versão do modelo com pesos em menos bits, que ocupa menos memória e responde mais rápido, ao custo de alguma qualidade.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Existe um controle nesta apresentação que separa hardware de deliberação: o modelo pequeno na NOSSA máquina, com o mesmo pedido de raciocínio, responde em cento e nove milissegundos. A diferença entre ele e os de nuvem não é a máquina nem a rede, é quanto cada um fala.</a:t>
            </a:r>
            <a:endParaRPr/>
          </a:p>
        </p:txBody>
      </p:sp>
      <p:sp>
        <p:nvSpPr>
          <p:cNvPr id="965" name="Google Shape;965;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3" name="Google Shape;983;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 prazo não é nosso. O Manual de Tempos do Pix, versão sete, publica o nível de serviço de cada perna de uma transferência, e a primeira linha é a autorização da própria instituição PAGADORA: zero vírgula nove segundo na mediana e um vírgula cinco segundo no percentil noventa e cinco. A mesma tabela abre trinta minutos, ou sessenta fora do horário comercial, para uma ordem que já está sob suspeita de fraude. Os dois números juntos definem a tarefa: o detector não precisa concluir uma investigação antes da liquidação, precisa decidir, dentro do um vírgula cinco segundo que é da instituição pagadora, se aquela transferência vale ser desviada para a janela larga. Por isso o prazo é da ordem de um segundo e não da ordem de uma hora. E por que não os quatro vírgula seis segundos da liquidação nem os quarenta segundos do limite duro: essas são pernas de OUTROS participantes, que a instituição pagadora não controla.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t0' e t1: na notação do manual, o instante em que a instituição pagadora recebe a confirmação do pagador e o instante em que ela cria a mensagem de liquidação. Janela de liquidação do gerador: no nosso gerador, cada transferência se torna irrevogável entre trezentos e mil novecentos e noventa e nove milissegundos após a iniciação, com mediana de mil cento e cinquenta e um. É parâmetro do gerador, mais apertado que o ciclo do regulador, e NUNCA entra na métrica de prazo, que compara latência medida contra o orçamento de autorização.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Ressalva honesta: nenhuma linha do manual é um prazo de DETECÇÃO. O manual limita participante, não modelo. O que ele entrega é o intervalo dentro do qual a decisão precisa existir para que a transferência possa ser segurada, e é isso que a métrica pontua.</a:t>
            </a:r>
            <a:endParaRPr/>
          </a:p>
        </p:txBody>
      </p:sp>
      <p:sp>
        <p:nvSpPr>
          <p:cNvPr id="984" name="Google Shape;984;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2" name="Google Shape;1002;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A pergunta é boa porque a confusão é real: são duas condições sobre a mesma quantidade familiar. A fração pré-prazo é, para o conjunto das fraudes verdadeiras, a parcela em que o detector fez as DUAS coisas: a nota passou do limiar E a latência medida ficou dentro do prazo. Não é estimador novo, e o artigo escreve isso: é recall restrita às decisões que chegam a tempo. A consequência prática é que ela não distingue nada entre detectores baratos. Os três tabulares decidem em menos de um centésimo de milissegundo, então passam em qualquer prazo, e a fração pré-prazo de cada um é exatamente a recall dele. A métrica só começa a separar detectores quando a latência medida se aproxima da janela, que é o regime em que um modelo pesado entra.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Fração pré-prazo: média, sobre as fraudes verdadeiras, do produto de dois indicadores, o de a nota passar do limiar e o de a latência caber no prazo. De onde vem a latência: um detector que pontua um evento por chamada, como um modelo de linguagem, contribui o próprio tempo de geração daquele evento; um que pontua um quadro inteiro de uma vez contribui o tempo médio por evento daquele quadro.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É por isso que as duas colunas aparecem sempre lado a lado nesta apresentação, e nunca uma sozinha. Uma fração pré-prazo alta pode vir de um detector que sinaliza quase tudo, e o próximo slide de reserva é exatamente esse caso.</a:t>
            </a:r>
            <a:endParaRPr/>
          </a:p>
        </p:txBody>
      </p:sp>
      <p:sp>
        <p:nvSpPr>
          <p:cNvPr id="1003" name="Google Shape;1003;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1" name="Google Shape;102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Este é o número mais fácil de ler errado da apresentação, e ele é real. O modelo de raciocínio na máquina local tem a MAIOR fração no prazo de todos, zero vírgula novecentos e noventa e três, e a PIOR PR-AUC útil, zero vírgula cento e sessenta, que é nível de acaso nesta fatia. Os dois números são compatíveis porque ele sinaliza quase tudo: cento e quarenta e nove das cento e cinquenta fraudes, mas também oitocentos e cinquenta alarmes falsos entre as oitocentas e cinquenta transações legítimas. A precisão dele é zero vírgula cento e quarenta e nove. Ou seja, ele chega a tempo e erra quase tudo, o que é o problema exatamente oposto ao dos dois de nuvem, que acertam e chegam tarde. É a demonstração de que a fração no prazo não substitui a acurácia: as duas se leem juntas ou nenhuma delas quer dizer coisa alguma.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Precisão: entre os eventos que o detector sinalizou, a parcela que era mesmo fraude. Um detector que sinaliza tudo tem recall um e precisão igual à prevalência.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Este modelo entra na avaliação como CONTROLE, e não como candidato: ele mostra que o problema dos dois de nuvem é deliberação, e não modelo de linguagem como categoria. Pedido o mesmo raciocínio, ele emite um veredito seco e para, com mediana de oito tokens gerados, e por isso responde dentro do orçamento.</a:t>
            </a:r>
            <a:endParaRPr/>
          </a:p>
        </p:txBody>
      </p:sp>
      <p:sp>
        <p:nvSpPr>
          <p:cNvPr id="1022" name="Google Shape;1022;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0" name="Google Shape;1040;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Os dois números são reais, são do MESMO conjunto de dados, e não se contradizem: o que muda entre eles é o esquema de atributos, não o detector nem o dado. Zero vírgula novecentos e vinte é o XGBoost rodando sobre os atributos PRÓPRIOS do pix-fraud-br, com intervalo de noventa e cinco por cento entre zero vírgula novecentos e sete e zero vírgula novecentos e trinta. Zero vírgula cento e trinta e sete é uma random forest sobre o mesmo dado reduzido ao esquema COMUM de quatro colunas, que é o único caminho pelo qual as três fontes podem ser comparadas entre si. A queda tem causa nomeada: a maior parte do que tornava aquele dado separável vivia em campos que o esquema comum não carrega, e o principal deles é o saldo prévio da conta recebedora, que a própria análise da fonte coloca em dois terços da importância do modelo dela. A transferência entre fontes é ainda mais dura: uma random forest que marca zero vírgula setecentos e quarenta e três no nosso dado cai para zero vírgula zero vinte e um no pix-fraud-br.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Esquema comum: as quatro colunas numéricas que toda fonte consegue preencher, valor, aparelho trocado, recebedor novo e velocidade do pagador. Só o valor vem da fonte externa; as outras três são injetadas.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Não atribuímos o colapso entre fontes a uma causa única, e o artigo diz isso: as fontes diferem ao mesmo tempo na raridade do ilícito, em quais campos sobrevivem, na escala do único campo que sempre sobrevive e na forma do grafo, e este experimento não separa as quatro. A terceira é a mais fácil de esquecer e a maior: a mediana do valor legítimo é cem no nosso dado, sessenta e seis no Tide-HI e quatrocentos e noventa e dois mil e noventa e sete no pix-fraud-br, cada uma nas unidades da própria fonte.</a:t>
            </a:r>
            <a:endParaRPr/>
          </a:p>
        </p:txBody>
      </p:sp>
      <p:sp>
        <p:nvSpPr>
          <p:cNvPr id="1041" name="Google Shape;1041;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9" name="Google Shape;1059;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Esta é a matriz de sinais por cenário, redesenhada em português a partir do painel (b) da segunda figura do artigo. Cada célula é a fração dos eventos daquele cenário em que aquele sinal está presente. Duas leituras importam. A primeira é que nenhum sinal é alcançável só a partir da fraude: o tráfego legítimo também troca de aparelho, em seis por cento dos eventos, e também paga recebedor novo, em três por cento. Isso é deliberado, e o artigo diz por quê: um sinal que só aparecesse na fraude seria o rótulo disfarçado, e o detector que o lesse estaria sendo pontuado sobre a nossa injeção, não sobre o dado. A segunda leitura é a linha da coação: aparelho trocado zero, sessão remota zero, e recebedor novo um vírgula zero zero. É a linha que explica por que a recall do detector de salto único despenca ali.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Sessão remota: sinal nativo do Pix que o nosso gerador emite, marcando a sessão de acesso remoto da fraude conhecida como mão fantasma. O detector tabular NÃO o vê: as quatro colunas que ele recebe são valor, aparelho trocado, recebedor novo e velocidade do pagador.</a:t>
            </a:r>
            <a:endParaRPr/>
          </a:p>
          <a:p>
            <a:pPr indent="0" lvl="0" marL="0" rtl="0" algn="l">
              <a:lnSpc>
                <a:spcPct val="100000"/>
              </a:lnSpc>
              <a:spcBef>
                <a:spcPts val="0"/>
              </a:spcBef>
              <a:spcAft>
                <a:spcPts val="0"/>
              </a:spcAft>
              <a:buSzPts val="1100"/>
              <a:buNone/>
            </a:pPr>
            <a:r>
              <a:rPr lang="en-US"/>
              <a:t>Sinalizador de coação: não está nesta tabela porque ele vale um vírgula zero zero exatamente na coação e zero em todo o resto, e o detector também não o vê. Ele existe no esquema para rotular o cenário, não para ser lido.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Esta tela substitui a que colava a Figura 2 do artigo inteira, com quatro painéis, rótulo em inglês e tipo de cerca de oito pontos projetado. Dos quatro painéis daquela figura, três já são reapresentados no corpo em tabela e barra nativas; este era o único que não estava em lugar nenhum.</a:t>
            </a:r>
            <a:endParaRPr/>
          </a:p>
        </p:txBody>
      </p:sp>
      <p:sp>
        <p:nvSpPr>
          <p:cNvPr id="1060" name="Google Shape;1060;p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1" name="Google Shape;1101;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 apêndice do artigo lista os quinze campos do registro normalizado de evento, e a tabela resume os cinco grupos e o que sobra deles quando a fonte é externa. Identidade e rótulo, três campos, nunca expostos a detector nenhum: identificador do evento, nome do cenário e o rótulo verdadeiro. Contas, três campos, vistos só pelo detector de grafo: pagador, recebedor e a chave DICT resolvida, que numa fonte externa é enchimento. Linha do tempo, três campos: a iniciação vem da fonte, a liquidação é preenchida mil milissegundos depois e o índice de camada da cadeia fica sempre em zero, porque nenhuma fonte externa carrega cadeia rotulada por camada. Atributos do detector, quatro campos, e aqui está o ponto: só o VALOR vem da fonte; aparelho trocado, recebedor novo e velocidade do pagador são injetados. E sinais nativos do Pix, dois campos, sessão remota e coação, sempre zero numa fonte externa porque só o nosso gerador os emite.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Enchimento: valor preenchido pelo arcabouço para completar o registro, sem correlação nenhuma com o rótulo. Sinal injetado: valor sorteado de um processo de ruído fixo, correlacionado com o rótulo e sorteado das DUAS classes.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Este é o slide que responde à pergunta sobre o que uma fonte externa realmente entrega. A resposta é: um número real e três sinais injetados. E os três sozinhos carregam pouco: nas fatias do Tide, um detector que use só eles chega a PR-AUC de zero vírgula zero quatro ou menos. É por isso que uma PR-AUC citada para um detector é também uma afirmação sobre o esquema em que ela foi medida.</a:t>
            </a:r>
            <a:endParaRPr/>
          </a:p>
        </p:txBody>
      </p:sp>
      <p:sp>
        <p:nvSpPr>
          <p:cNvPr id="1102" name="Google Shape;1102;p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6" name="Google Shape;1136;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Não, e o artigo é explícito nisso nas limitações. O nosso cenário de coação eleva o valor e usa sempre um recebedor novo, então ele NÃO é livre de sinal em geral: das quatro colunas que um detector tabular recebe, duas separam o caso. O que ele é, e isso é deliberado, é pobre nas duas colunas em que um detector treinado só em tomada de conta aprendeu a se apoiar. A vítima paga do próprio aparelho, numa sessão genuína, então aparelho trocado fica em zero; e a velocidade do pagador coagido fica ABAIXO da média legítima, e não acima. As duas colunas empurram o detector para o lado errado. O resultado é recall de zero vírgula cento e quarenta e seis, com intervalo de noventa e cinco por cento entre zero vírgula zero sessenta e nove e zero vírgula duzentos e oitenta e quatro, sobre quarenta e um eventos de coação, o extremo da queda por cenário.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Coação: transferência que o pagador inicia sob ameaça ou extorsão. Entra como cenário porque o manual operacional do DICT, citado no relatório do Banco Central, define a fraude para incluir esse caso, e não como curiosidade.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objeção correta a fazer aqui não é que construímos um caso impossível, e sim que um cenário sintético só é informativo na medida dos sinais que ele carrega. É a frase que fecha essa seção do artigo. Se um revisor apontar que a coação real teria outros sinais, ele tem razão, e o artefato deixa o cenário como definição de referência que outros podem redesenhar.</a:t>
            </a:r>
            <a:endParaRPr/>
          </a:p>
        </p:txBody>
      </p:sp>
      <p:sp>
        <p:nvSpPr>
          <p:cNvPr id="1137" name="Google Shape;1137;p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5" name="Google Shape;1155;p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 n por cenário é pequeno, e é por isso que todo valor da tela vem com intervalo. São cinquenta e três eventos de tomada de conta, sessenta de cadeia de laranjas, trinta e nove de devolução MED falsa e quarenta e um de coação, no conjunto de avaliação de dezesseis mil cento e noventa e três eventos com cento e noventa e três fraudes. Os intervalos são de Wilson, apropriados para proporção com n pequeno. E a leitura correta é a que a tabela mostra: os EXTREMOS se separam, porque o intervalo da tomada de conta, de zero vírgula seiscentos e quatro a zero vírgula oitocentos e trinta e seis, não encosta no da coação, de zero vírgula zero sessenta e nove a zero vírgula duzentos e oitenta e quatro. Mas os dois do meio, cadeia de laranjas e devolução MED, têm intervalos que se sobrepõem: entre esses dois, a ordem NÃO é distinguível com este 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Intervalo de Wilson: intervalo de confiança para proporção que continua válido quando o número de sucessos é pequeno, ao contrário do intervalo normal simples.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afirmação que o artigo faz, e que sobrevive ao n pequeno, é sobre a ORDEM entre o cenário treinado e o mais distante dele, não sobre o valor pontual de cada degrau. Se um revisor cobrar a ordem entre laranjas e MED, a resposta honesta é que este experimento não a estabelece. Aumentar o n é barato aqui, porque o gerador é nosso, e é uma correção óbvia para a próxima versão.</a:t>
            </a:r>
            <a:endParaRPr/>
          </a:p>
        </p:txBody>
      </p:sp>
      <p:sp>
        <p:nvSpPr>
          <p:cNvPr id="1156" name="Google Shape;1156;p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2" name="Google Shape;1192;p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 apêndice do artigo traz o detector de grafo, e a resposta curta é que ler a rede de contas não ajudou nos cenários de múltiplos saltos. O GraphSAGE tem duas camadas de agregação por média sobre as arestas de pagador para recebedor, ajusta em cerca de dois vírgula quatro segundos, e chega a PR-AUC de zero vírgula duzentos e quarenta e sete no nosso dado e zero vírgula zero onze no grafo do Tide-HI, abaixo de todo detector tabular. Ele tem recall alta, zero vírgula oitocentos e cinquenta, mas precisão de zero vírgula zero oitenta e dois: sinaliza demais. A razão que damos é dos grafos e não do modelo: nenhum dos dois dá muito a agregar para uma rede de duas camadas, porque uma conta transaciona em média com vinte contrapartes no nosso dado e vinte e nove no Tide-HI, e nos dois os pares que de fato transacionam são uma fração pequena dos possíveis. A latência de inferência dele é submilissegundo, como a dos tabulares, então aqui também o prazo não mexe no ranqueamento.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GraphSAGE: rede neural de grafo que constrói a representação de um nó agregando as representações dos vizinhos, o que a faz generalizar para contas que não estavam no treino.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A limitação está declarada no artigo: é UMA arquitetura pequena, e reportamos o resultado como detector de grafo funcionando dentro do arcabouço, não como veredito de que grafo não serve para fraude em Pix. Um revisor que trabalhe com grafo tem razão em pedir CARE-GNN ou EvolveGCN, e o arcabouço aceita qualquer um deles sem tocar no restante.</a:t>
            </a:r>
            <a:endParaRPr/>
          </a:p>
        </p:txBody>
      </p:sp>
      <p:sp>
        <p:nvSpPr>
          <p:cNvPr id="1193" name="Google Shape;1193;p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1" name="Google Shape;1211;p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Os quatro números de modelo de linguagem da avaliação se separam pelo que o prompt PEDE, então os prompts pertencem ao lado dos números, e o apêndice do artigo os traz na íntegra. Os dois veem o mesmo evento, renderizado como uma linha a partir das quatro colunas do esquema comum. O prompt DIRETO diz, em tradução: você é um sistema de detecção de fraude no Pix brasileiro; avalie uma transferência instantânea e responda apenas uma probabilidade de fraude entre zero e um; termina com a palavra Probability, dois pontos. O prompt de RACIOCÍNIO diz: você é um analista de detecção de fraude no Pix; pense passo a passo em cada sinal, e ele NOMEIA os quatro, valor alto, aparelho trocado, recebedor novo em folha e velocidade incomum; mantenha o raciocínio em no máximo três frases curtas, pare, e escreva o veredito na linha final exatamente como Probability, dois pontos, X, com duas casas decimais.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TERMOS Teto de geração: número máximo de tokens que o modelo pode emitir na resposta. É oito no prompt direto, trezentos e vinte no raciocínio local e mil e vinte e quatro no raciocínio na nuvem. O teto é um limite superior, não um cronograma, e não prende nenhum dos quatro: pedido a deliberar em até trezentos e vinte tokens, o modelo local tem mediana de oito tokens de resposta e responde entre noventa e três e setecentos e oito milissegundos.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POR QUE Três detalhes de leitura, todos declarados no apêndice. O veredito é extraído da linha final Probability; uma resposta que nunca chega a ela cai no valor do limiar, que o arcabouço conta como sinalização, e por isso ele reporta quantas respostas caíram nesse caso: nas execuções relatadas aqui, nenhuma. O prompt de raciocínio nomeia os quatro sinais, então a acurácia baixa do modelo local não é falha em ACHAR os atributos, é falha em PESÁ-LOS: com o mesmo prompt, os dois de nuvem chegam a zero vírgula oitocentos e quarenta e seis e zero vírgula oitocentos e quarenta e nove. E as chamadas de nuvem saem com no máximo oito em voo, o que encurta a execução sem mudar o que se mede, já que a latência de cada evento é a ida e volta dele; o arcabouço confere isso cronometrando as mesmas chamadas em série e em paralelo.</a:t>
            </a:r>
            <a:endParaRPr/>
          </a:p>
        </p:txBody>
      </p:sp>
      <p:sp>
        <p:nvSpPr>
          <p:cNvPr id="1212" name="Google Shape;1212;p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0" name="Google Shape;123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[reserva] FALA Os detectores são pontuados em três fontes independentes. A primeira é o gerador deste trabalho, a única com coação e com MED dois ponto zero em múltiplos saltos: o papel dela é fornecer esses cenários, não emprestar credibilidade externa. As outras duas vêm de fora: o pix-fraud-br, de salto único, com um baseline publicado, e o Tide, com cadeias multi-salto em taxas de ilícito bem mais raras. Todas são sintéticas, com rótulo por construção.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TERMOS Taxa ilícita: a fração de eventos, no total de uma fonte de dado, que é fraude; 1,19% no gerador deste trabalho, 0,77% no pix-fraud-br, e 0,19% e 0,10% nas fatias HI e LI do Tide, seis a doze vezes mais raras que a nossa.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Licença (MIT, ODC-BY, CC BY 4.0): os termos legais sob os quais cada fonte de dado é disponibilizada; todas permitem uso e redistribuição, com condições distintas de atribuição.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Tide HI / LI: as duas fatias liberadas do Tide, de alta e de baixa intensidade de ilícito.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Rótulo por construção: em dado sintético, o rótulo de fraude vem do próprio processo gerador, não de uma investigação humana; é exato por definição, ao contrário de um rótulo real, sujeito a atraso e erro.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Grafo de Barabási-Albert: modelo de rede em que novas ligações preferem se conectar a nós já bem conectados, produzindo uma rede livre de escala em que poucas contas concentram muitas ligações, como em redes de pagamento reais; é assim que o gerador deste trabalho monta a rede de contas.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 A Tabela 2 do artigo (tab:datasets) sustenta licença, taxa ilícita e papel de cada fonte. Havia uma segunda tela repetindo em prosa a coluna de papel; ela virou a quarta coluna desta tabela. A fila destacada é a fonte deste trabalho. Se perguntarem por que uma taxa ilícita tão diferente entre fontes: ela reflete a escolha de desenho de cada gerador, não uma medição de fraude real observada em produção.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VEIO DE OUTRA TELA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Era uma tela só de texto: "Das quatro colunas do detector tabular,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só o VALOR sobrevive ao mapeamento. As outras três o arcabouço injeta, com ruído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correlacionado ao rótulo." Virou a faixa de remate desta tabela, em forma telegráfica.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 ruído correlacionado ao rótulo fica na fala.</a:t>
            </a:r>
            <a:endParaRPr/>
          </a:p>
        </p:txBody>
      </p:sp>
      <p:sp>
        <p:nvSpPr>
          <p:cNvPr id="1231" name="Google Shape;1231;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3" name="Google Shape;126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[reserva] FALA Primeiro resultado, de propósito o menos surpreendente. Entre os três detectores tabulares mais baratos, a floresta aleatória, na fila destacada, é a mais forte, com PR-AUC de zero vírgula setecentos e quarenta e três, contra zero vírgula setecentos e seis da regressão logística e zero vírgula quatrocentos e trinta e um da regra fixa.</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TERMOS RULE (regra fixa): detector de piso que sinaliza fraude quando o valor da transferência ou a velocidade do pagador ultrapassa um limiar fixo, sem aprendizado.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LR (regressão logística): modelo linear que estima a probabilidade de fraude a partir das quatro colunas numéricas do esquema comum.</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RF (random forest, floresta aleatória): conjunto de árvores de decisão treinadas sobre amostras diferentes dos dados; é o detector tabular mais forte medido neste trabalho.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F1: média harmônica entre precisão e recall, usada como resumo de acurácia junto com PR-AUC e recall na tabela.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PR-AUC: área sob a curva de precisão contra recall. Em base muito desbalanceada, como esta, ela informa mais do que acurácia bruta.</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POR QUE Esta é a Tabela 3 do artigo (tab:e1). O próprio texto do artigo avisa que este resultado é de propósito o menos empolgante: ele existe para estabelecer, antes dos resultados seguintes, o piso de comparação. A faixa de remate que dizia "a floresta aleatória é a mais forte das três" saiu da tela porque a fila destacada já diz isso; a frase continua na fala.</a:t>
            </a:r>
            <a:endParaRPr/>
          </a:p>
        </p:txBody>
      </p:sp>
      <p:sp>
        <p:nvSpPr>
          <p:cNvPr id="1264" name="Google Shape;126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5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5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5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5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6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2"/>
          <p:cNvSpPr/>
          <p:nvPr>
            <p:ph idx="2" type="pic"/>
          </p:nvPr>
        </p:nvSpPr>
        <p:spPr>
          <a:xfrm>
            <a:off x="1792288" y="612775"/>
            <a:ext cx="5486400" cy="4114800"/>
          </a:xfrm>
          <a:prstGeom prst="rect">
            <a:avLst/>
          </a:prstGeom>
          <a:noFill/>
          <a:ln>
            <a:noFill/>
          </a:ln>
        </p:spPr>
      </p:sp>
      <p:sp>
        <p:nvSpPr>
          <p:cNvPr id="64" name="Google Shape;64;p6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1.png"/><Relationship Id="rId11" Type="http://schemas.openxmlformats.org/officeDocument/2006/relationships/image" Target="../media/image13.png"/><Relationship Id="rId10"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1.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3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5.jpg"/><Relationship Id="rId4" Type="http://schemas.openxmlformats.org/officeDocument/2006/relationships/image" Target="../media/image2.png"/><Relationship Id="rId11" Type="http://schemas.openxmlformats.org/officeDocument/2006/relationships/image" Target="../media/image28.png"/><Relationship Id="rId10" Type="http://schemas.openxmlformats.org/officeDocument/2006/relationships/image" Target="../media/image30.png"/><Relationship Id="rId12" Type="http://schemas.openxmlformats.org/officeDocument/2006/relationships/image" Target="../media/image27.png"/><Relationship Id="rId9" Type="http://schemas.openxmlformats.org/officeDocument/2006/relationships/image" Target="../media/image29.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32.png"/><Relationship Id="rId8"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0"/>
            <a:ext cx="12191695" cy="91440"/>
          </a:xfrm>
          <a:prstGeom prst="rect">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9171432" y="3840480"/>
            <a:ext cx="6035040" cy="6035040"/>
          </a:xfrm>
          <a:prstGeom prst="ellipse">
            <a:avLst/>
          </a:prstGeom>
          <a:noFill/>
          <a:ln cap="flat" cmpd="sng" w="19050">
            <a:solidFill>
              <a:srgbClr val="163F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p:nvPr/>
        </p:nvSpPr>
        <p:spPr>
          <a:xfrm>
            <a:off x="9902952" y="4572000"/>
            <a:ext cx="4572000" cy="4572000"/>
          </a:xfrm>
          <a:prstGeom prst="ellipse">
            <a:avLst/>
          </a:prstGeom>
          <a:noFill/>
          <a:ln cap="flat" cmpd="sng" w="19050">
            <a:solidFill>
              <a:srgbClr val="163F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p:nvPr/>
        </p:nvSpPr>
        <p:spPr>
          <a:xfrm>
            <a:off x="10634472" y="5303520"/>
            <a:ext cx="3108960" cy="3108960"/>
          </a:xfrm>
          <a:prstGeom prst="ellipse">
            <a:avLst/>
          </a:prstGeom>
          <a:noFill/>
          <a:ln cap="flat" cmpd="sng" w="19050">
            <a:solidFill>
              <a:srgbClr val="163F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658368" y="438912"/>
            <a:ext cx="90525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FFFFFF"/>
                </a:solidFill>
                <a:latin typeface="Inter"/>
                <a:ea typeface="Inter"/>
                <a:cs typeface="Inter"/>
                <a:sym typeface="Inter"/>
              </a:rPr>
              <a:t>SBSEG 2026  ·  BÚZIOS, RJ  ·  1 A 4 DE SETEMBRO</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658368" y="1005840"/>
            <a:ext cx="9052560"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rPr b="1" i="0" lang="en-US" sz="4600" u="none" cap="none" strike="noStrike">
                <a:solidFill>
                  <a:srgbClr val="FFFFFF"/>
                </a:solidFill>
                <a:latin typeface="Space Grotesk"/>
                <a:ea typeface="Space Grotesk"/>
                <a:cs typeface="Space Grotesk"/>
                <a:sym typeface="Space Grotesk"/>
              </a:rPr>
              <a:t>PixGuard-Sim</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658368" y="2011680"/>
            <a:ext cx="8366760" cy="160020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Um testbed sensível a prazo para detectores de fraude no Pix</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658368" y="4041648"/>
            <a:ext cx="1463040" cy="54864"/>
          </a:xfrm>
          <a:prstGeom prst="rect">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658368" y="4224528"/>
            <a:ext cx="905256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Cristhian Kapelinski  ·  Diego Kreutz</a:t>
            </a:r>
            <a:endParaRPr b="0" i="0" sz="1400" u="none" cap="none" strike="noStrike">
              <a:solidFill>
                <a:srgbClr val="000000"/>
              </a:solidFill>
              <a:latin typeface="Arial"/>
              <a:ea typeface="Arial"/>
              <a:cs typeface="Arial"/>
              <a:sym typeface="Arial"/>
            </a:endParaRPr>
          </a:p>
        </p:txBody>
      </p:sp>
      <p:sp>
        <p:nvSpPr>
          <p:cNvPr id="95" name="Google Shape;95;p1"/>
          <p:cNvSpPr txBox="1"/>
          <p:nvPr/>
        </p:nvSpPr>
        <p:spPr>
          <a:xfrm>
            <a:off x="658368" y="4791456"/>
            <a:ext cx="90525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E6F2EF"/>
                </a:solidFill>
                <a:latin typeface="Inter"/>
                <a:ea typeface="Inter"/>
                <a:cs typeface="Inter"/>
                <a:sym typeface="Inter"/>
              </a:rPr>
              <a:t>AI Horizon Labs  ·  UNIPAMPA</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9189720" y="1463040"/>
            <a:ext cx="2340864" cy="2340864"/>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disponiveis.png" id="97" name="Google Shape;97;p1"/>
          <p:cNvPicPr preferRelativeResize="0"/>
          <p:nvPr/>
        </p:nvPicPr>
        <p:blipFill rotWithShape="1">
          <a:blip r:embed="rId3">
            <a:alphaModFix/>
          </a:blip>
          <a:srcRect b="0" l="0" r="0" t="0"/>
          <a:stretch/>
        </p:blipFill>
        <p:spPr>
          <a:xfrm>
            <a:off x="9189720" y="566928"/>
            <a:ext cx="502920" cy="502920"/>
          </a:xfrm>
          <a:prstGeom prst="rect">
            <a:avLst/>
          </a:prstGeom>
          <a:noFill/>
          <a:ln>
            <a:noFill/>
          </a:ln>
        </p:spPr>
      </p:pic>
      <p:pic>
        <p:nvPicPr>
          <p:cNvPr descr="funcionais.png" id="98" name="Google Shape;98;p1"/>
          <p:cNvPicPr preferRelativeResize="0"/>
          <p:nvPr/>
        </p:nvPicPr>
        <p:blipFill rotWithShape="1">
          <a:blip r:embed="rId4">
            <a:alphaModFix/>
          </a:blip>
          <a:srcRect b="0" l="0" r="0" t="0"/>
          <a:stretch/>
        </p:blipFill>
        <p:spPr>
          <a:xfrm>
            <a:off x="9802368" y="566928"/>
            <a:ext cx="502920" cy="502920"/>
          </a:xfrm>
          <a:prstGeom prst="rect">
            <a:avLst/>
          </a:prstGeom>
          <a:noFill/>
          <a:ln>
            <a:noFill/>
          </a:ln>
        </p:spPr>
      </p:pic>
      <p:pic>
        <p:nvPicPr>
          <p:cNvPr descr="sustentaveis.png" id="99" name="Google Shape;99;p1"/>
          <p:cNvPicPr preferRelativeResize="0"/>
          <p:nvPr/>
        </p:nvPicPr>
        <p:blipFill rotWithShape="1">
          <a:blip r:embed="rId5">
            <a:alphaModFix/>
          </a:blip>
          <a:srcRect b="0" l="0" r="0" t="0"/>
          <a:stretch/>
        </p:blipFill>
        <p:spPr>
          <a:xfrm>
            <a:off x="10415016" y="566928"/>
            <a:ext cx="502920" cy="502920"/>
          </a:xfrm>
          <a:prstGeom prst="rect">
            <a:avLst/>
          </a:prstGeom>
          <a:noFill/>
          <a:ln>
            <a:noFill/>
          </a:ln>
        </p:spPr>
      </p:pic>
      <p:pic>
        <p:nvPicPr>
          <p:cNvPr descr="reproduziveis.png" id="100" name="Google Shape;100;p1"/>
          <p:cNvPicPr preferRelativeResize="0"/>
          <p:nvPr/>
        </p:nvPicPr>
        <p:blipFill rotWithShape="1">
          <a:blip r:embed="rId6">
            <a:alphaModFix/>
          </a:blip>
          <a:srcRect b="0" l="0" r="0" t="0"/>
          <a:stretch/>
        </p:blipFill>
        <p:spPr>
          <a:xfrm>
            <a:off x="11027664" y="566928"/>
            <a:ext cx="502920" cy="502920"/>
          </a:xfrm>
          <a:prstGeom prst="rect">
            <a:avLst/>
          </a:prstGeom>
          <a:noFill/>
          <a:ln>
            <a:noFill/>
          </a:ln>
        </p:spPr>
      </p:pic>
      <p:pic>
        <p:nvPicPr>
          <p:cNvPr descr="sbseg2026.png" id="101" name="Google Shape;101;p1"/>
          <p:cNvPicPr preferRelativeResize="0"/>
          <p:nvPr/>
        </p:nvPicPr>
        <p:blipFill rotWithShape="1">
          <a:blip r:embed="rId7">
            <a:alphaModFix/>
          </a:blip>
          <a:srcRect b="0" l="0" r="0" t="0"/>
          <a:stretch/>
        </p:blipFill>
        <p:spPr>
          <a:xfrm>
            <a:off x="9418320" y="2111049"/>
            <a:ext cx="1883664" cy="1044844"/>
          </a:xfrm>
          <a:prstGeom prst="rect">
            <a:avLst/>
          </a:prstGeom>
          <a:noFill/>
          <a:ln>
            <a:noFill/>
          </a:ln>
        </p:spPr>
      </p:pic>
      <p:sp>
        <p:nvSpPr>
          <p:cNvPr id="102" name="Google Shape;102;p1"/>
          <p:cNvSpPr/>
          <p:nvPr/>
        </p:nvSpPr>
        <p:spPr>
          <a:xfrm>
            <a:off x="0" y="5760720"/>
            <a:ext cx="12191695" cy="109728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ihorizonlabs.png" id="103" name="Google Shape;103;p1"/>
          <p:cNvPicPr preferRelativeResize="0"/>
          <p:nvPr/>
        </p:nvPicPr>
        <p:blipFill rotWithShape="1">
          <a:blip r:embed="rId8">
            <a:alphaModFix/>
          </a:blip>
          <a:srcRect b="0" l="0" r="0" t="0"/>
          <a:stretch/>
        </p:blipFill>
        <p:spPr>
          <a:xfrm>
            <a:off x="658368" y="5888736"/>
            <a:ext cx="3442106" cy="841248"/>
          </a:xfrm>
          <a:prstGeom prst="rect">
            <a:avLst/>
          </a:prstGeom>
          <a:noFill/>
          <a:ln>
            <a:noFill/>
          </a:ln>
        </p:spPr>
      </p:pic>
      <p:pic>
        <p:nvPicPr>
          <p:cNvPr descr="unipampa.png" id="104" name="Google Shape;104;p1"/>
          <p:cNvPicPr preferRelativeResize="0"/>
          <p:nvPr/>
        </p:nvPicPr>
        <p:blipFill rotWithShape="1">
          <a:blip r:embed="rId9">
            <a:alphaModFix/>
          </a:blip>
          <a:srcRect b="0" l="0" r="0" t="0"/>
          <a:stretch/>
        </p:blipFill>
        <p:spPr>
          <a:xfrm>
            <a:off x="4603394" y="5806440"/>
            <a:ext cx="1527386" cy="1005840"/>
          </a:xfrm>
          <a:prstGeom prst="rect">
            <a:avLst/>
          </a:prstGeom>
          <a:noFill/>
          <a:ln>
            <a:noFill/>
          </a:ln>
        </p:spPr>
      </p:pic>
      <p:pic>
        <p:nvPicPr>
          <p:cNvPr descr="sbseg2026.png" id="105" name="Google Shape;105;p1"/>
          <p:cNvPicPr preferRelativeResize="0"/>
          <p:nvPr/>
        </p:nvPicPr>
        <p:blipFill rotWithShape="1">
          <a:blip r:embed="rId7">
            <a:alphaModFix/>
          </a:blip>
          <a:srcRect b="0" l="0" r="0" t="0"/>
          <a:stretch/>
        </p:blipFill>
        <p:spPr>
          <a:xfrm>
            <a:off x="7914851" y="5875020"/>
            <a:ext cx="1566070" cy="868680"/>
          </a:xfrm>
          <a:prstGeom prst="rect">
            <a:avLst/>
          </a:prstGeom>
          <a:noFill/>
          <a:ln>
            <a:noFill/>
          </a:ln>
        </p:spPr>
      </p:pic>
      <p:pic>
        <p:nvPicPr>
          <p:cNvPr descr="uff.png" id="106" name="Google Shape;106;p1"/>
          <p:cNvPicPr preferRelativeResize="0"/>
          <p:nvPr/>
        </p:nvPicPr>
        <p:blipFill rotWithShape="1">
          <a:blip r:embed="rId10">
            <a:alphaModFix/>
          </a:blip>
          <a:srcRect b="0" l="0" r="0" t="0"/>
          <a:stretch/>
        </p:blipFill>
        <p:spPr>
          <a:xfrm>
            <a:off x="9892402" y="5861304"/>
            <a:ext cx="872836" cy="896112"/>
          </a:xfrm>
          <a:prstGeom prst="rect">
            <a:avLst/>
          </a:prstGeom>
          <a:noFill/>
          <a:ln>
            <a:noFill/>
          </a:ln>
        </p:spPr>
      </p:pic>
      <p:pic>
        <p:nvPicPr>
          <p:cNvPr descr="sbc.png" id="107" name="Google Shape;107;p1"/>
          <p:cNvPicPr preferRelativeResize="0"/>
          <p:nvPr/>
        </p:nvPicPr>
        <p:blipFill rotWithShape="1">
          <a:blip r:embed="rId11">
            <a:alphaModFix/>
          </a:blip>
          <a:srcRect b="0" l="0" r="0" t="0"/>
          <a:stretch/>
        </p:blipFill>
        <p:spPr>
          <a:xfrm>
            <a:off x="11176719" y="5843016"/>
            <a:ext cx="619040" cy="9326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sbseg2026_rodape.png" id="113" name="Google Shape;113;p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4" name="Google Shape;114;p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02</a:t>
            </a:r>
            <a:endParaRPr b="0" i="0" sz="1400" u="none" cap="none" strike="noStrike">
              <a:solidFill>
                <a:srgbClr val="000000"/>
              </a:solidFill>
              <a:latin typeface="Arial"/>
              <a:ea typeface="Arial"/>
              <a:cs typeface="Arial"/>
              <a:sym typeface="Arial"/>
            </a:endParaRPr>
          </a:p>
        </p:txBody>
      </p:sp>
      <p:sp>
        <p:nvSpPr>
          <p:cNvPr id="115" name="Google Shape;115;p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 PIX EM NÚMEROS</a:t>
            </a:r>
            <a:endParaRPr b="0" i="0" sz="1400" u="none" cap="none" strike="noStrike">
              <a:solidFill>
                <a:srgbClr val="000000"/>
              </a:solidFill>
              <a:latin typeface="Arial"/>
              <a:ea typeface="Arial"/>
              <a:cs typeface="Arial"/>
              <a:sym typeface="Arial"/>
            </a:endParaRPr>
          </a:p>
        </p:txBody>
      </p:sp>
      <p:sp>
        <p:nvSpPr>
          <p:cNvPr id="116" name="Google Shape;116;p2"/>
          <p:cNvSpPr/>
          <p:nvPr/>
        </p:nvSpPr>
        <p:spPr>
          <a:xfrm>
            <a:off x="713232" y="1371600"/>
            <a:ext cx="5212080" cy="3108960"/>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2"/>
          <p:cNvSpPr txBox="1"/>
          <p:nvPr/>
        </p:nvSpPr>
        <p:spPr>
          <a:xfrm>
            <a:off x="713232" y="1737360"/>
            <a:ext cx="5212080" cy="10058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rgbClr val="000000"/>
                </a:solidFill>
                <a:latin typeface="JetBrains Mono"/>
                <a:ea typeface="JetBrains Mono"/>
                <a:cs typeface="JetBrains Mono"/>
                <a:sym typeface="JetBrains Mono"/>
              </a:rPr>
              <a:t>63,8 bi</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713232" y="2926080"/>
            <a:ext cx="5212080" cy="8229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transferências em 2024</a:t>
            </a:r>
            <a:endParaRPr b="0" i="0" sz="1400" u="none" cap="none" strike="noStrike">
              <a:solidFill>
                <a:srgbClr val="000000"/>
              </a:solidFill>
              <a:latin typeface="Arial"/>
              <a:ea typeface="Arial"/>
              <a:cs typeface="Arial"/>
              <a:sym typeface="Arial"/>
            </a:endParaRPr>
          </a:p>
        </p:txBody>
      </p:sp>
      <p:sp>
        <p:nvSpPr>
          <p:cNvPr id="119" name="Google Shape;119;p2"/>
          <p:cNvSpPr/>
          <p:nvPr/>
        </p:nvSpPr>
        <p:spPr>
          <a:xfrm>
            <a:off x="6263640" y="1371600"/>
            <a:ext cx="5212080" cy="3108960"/>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2"/>
          <p:cNvSpPr txBox="1"/>
          <p:nvPr/>
        </p:nvSpPr>
        <p:spPr>
          <a:xfrm>
            <a:off x="6263640" y="1737360"/>
            <a:ext cx="5212080" cy="10058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rgbClr val="000000"/>
                </a:solidFill>
                <a:latin typeface="JetBrains Mono"/>
                <a:ea typeface="JetBrains Mono"/>
                <a:cs typeface="JetBrains Mono"/>
                <a:sym typeface="JetBrains Mono"/>
              </a:rPr>
              <a:t>54,7%</a:t>
            </a:r>
            <a:endParaRPr b="0" i="0" sz="1400" u="none" cap="none" strike="noStrike">
              <a:solidFill>
                <a:srgbClr val="000000"/>
              </a:solidFill>
              <a:latin typeface="Arial"/>
              <a:ea typeface="Arial"/>
              <a:cs typeface="Arial"/>
              <a:sym typeface="Arial"/>
            </a:endParaRPr>
          </a:p>
        </p:txBody>
      </p:sp>
      <p:sp>
        <p:nvSpPr>
          <p:cNvPr id="121" name="Google Shape;121;p2"/>
          <p:cNvSpPr txBox="1"/>
          <p:nvPr/>
        </p:nvSpPr>
        <p:spPr>
          <a:xfrm>
            <a:off x="6263640" y="2926080"/>
            <a:ext cx="5212080" cy="8229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dos pagamentos do país</a:t>
            </a:r>
            <a:endParaRPr b="0" i="0" sz="1400" u="none" cap="none" strike="noStrike">
              <a:solidFill>
                <a:srgbClr val="000000"/>
              </a:solidFill>
              <a:latin typeface="Arial"/>
              <a:ea typeface="Arial"/>
              <a:cs typeface="Arial"/>
              <a:sym typeface="Arial"/>
            </a:endParaRPr>
          </a:p>
          <a:p>
            <a:pPr indent="0" lvl="0" marL="0" marR="0" rtl="0" algn="ctr">
              <a:lnSpc>
                <a:spcPct val="116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(2º sem. 2025)</a:t>
            </a:r>
            <a:endParaRPr b="0" i="0" sz="1400" u="none" cap="none" strike="noStrike">
              <a:solidFill>
                <a:srgbClr val="000000"/>
              </a:solidFill>
              <a:latin typeface="Arial"/>
              <a:ea typeface="Arial"/>
              <a:cs typeface="Arial"/>
              <a:sym typeface="Arial"/>
            </a:endParaRPr>
          </a:p>
        </p:txBody>
      </p:sp>
      <p:pic>
        <p:nvPicPr>
          <p:cNvPr descr="febraban.png" id="122" name="Google Shape;122;p2"/>
          <p:cNvPicPr preferRelativeResize="0"/>
          <p:nvPr/>
        </p:nvPicPr>
        <p:blipFill rotWithShape="1">
          <a:blip r:embed="rId4">
            <a:alphaModFix/>
          </a:blip>
          <a:srcRect b="0" l="0" r="0" t="0"/>
          <a:stretch/>
        </p:blipFill>
        <p:spPr>
          <a:xfrm>
            <a:off x="713232" y="5120640"/>
            <a:ext cx="10744200" cy="89903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img01_faixa.jpg" id="128" name="Google Shape;128;p3"/>
          <p:cNvPicPr preferRelativeResize="0"/>
          <p:nvPr/>
        </p:nvPicPr>
        <p:blipFill rotWithShape="1">
          <a:blip r:embed="rId3">
            <a:alphaModFix/>
          </a:blip>
          <a:srcRect b="0" l="0" r="0" t="0"/>
          <a:stretch/>
        </p:blipFill>
        <p:spPr>
          <a:xfrm>
            <a:off x="0" y="0"/>
            <a:ext cx="12191695" cy="6858000"/>
          </a:xfrm>
          <a:prstGeom prst="rect">
            <a:avLst/>
          </a:prstGeom>
          <a:noFill/>
          <a:ln>
            <a:noFill/>
          </a:ln>
        </p:spPr>
      </p:pic>
      <p:pic>
        <p:nvPicPr>
          <p:cNvPr descr="sbseg2026_rodape.png" id="129" name="Google Shape;129;p3"/>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130" name="Google Shape;130;p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03</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713232" y="896112"/>
            <a:ext cx="10881360" cy="1737360"/>
          </a:xfrm>
          <a:prstGeom prst="rect">
            <a:avLst/>
          </a:prstGeom>
          <a:noFill/>
          <a:ln>
            <a:noFill/>
          </a:ln>
        </p:spPr>
        <p:txBody>
          <a:bodyPr anchorCtr="0" anchor="t" bIns="0" lIns="0" spcFirstLastPara="1" rIns="0" wrap="square" tIns="0">
            <a:spAutoFit/>
          </a:bodyPr>
          <a:lstStyle/>
          <a:p>
            <a:pPr indent="0" lvl="0" marL="0" marR="0" rtl="0" algn="ctr">
              <a:lnSpc>
                <a:spcPct val="118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Uma vez confirmado, não volta: liquida em segundos, e é irreversível.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sbseg2026_rodape.png" id="137" name="Google Shape;137;p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38" name="Google Shape;138;p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04</a:t>
            </a:r>
            <a:endParaRPr b="0" i="0" sz="1400" u="none" cap="none" strike="noStrike">
              <a:solidFill>
                <a:srgbClr val="000000"/>
              </a:solidFill>
              <a:latin typeface="Arial"/>
              <a:ea typeface="Arial"/>
              <a:cs typeface="Arial"/>
              <a:sym typeface="Arial"/>
            </a:endParaRPr>
          </a:p>
        </p:txBody>
      </p:sp>
      <p:sp>
        <p:nvSpPr>
          <p:cNvPr id="139" name="Google Shape;139;p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ONDE A PERDA SE CONCENTRA</a:t>
            </a:r>
            <a:endParaRPr b="0" i="0" sz="1400" u="none" cap="none" strike="noStrike">
              <a:solidFill>
                <a:srgbClr val="000000"/>
              </a:solidFill>
              <a:latin typeface="Arial"/>
              <a:ea typeface="Arial"/>
              <a:cs typeface="Arial"/>
              <a:sym typeface="Arial"/>
            </a:endParaRPr>
          </a:p>
        </p:txBody>
      </p:sp>
      <p:sp>
        <p:nvSpPr>
          <p:cNvPr id="140" name="Google Shape;140;p4"/>
          <p:cNvSpPr txBox="1"/>
          <p:nvPr/>
        </p:nvSpPr>
        <p:spPr>
          <a:xfrm>
            <a:off x="713232" y="1280160"/>
            <a:ext cx="10789920"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0C2B27"/>
                </a:solidFill>
                <a:latin typeface="Inter"/>
                <a:ea typeface="Inter"/>
                <a:cs typeface="Inter"/>
                <a:sym typeface="Inter"/>
              </a:rPr>
              <a:t>Não devolvido às vítimas em 2024</a:t>
            </a:r>
            <a:endParaRPr b="0" i="0" sz="1400" u="none" cap="none" strike="noStrike">
              <a:solidFill>
                <a:srgbClr val="000000"/>
              </a:solidFill>
              <a:latin typeface="Arial"/>
              <a:ea typeface="Arial"/>
              <a:cs typeface="Arial"/>
              <a:sym typeface="Arial"/>
            </a:endParaRPr>
          </a:p>
        </p:txBody>
      </p:sp>
      <p:sp>
        <p:nvSpPr>
          <p:cNvPr id="141" name="Google Shape;141;p4"/>
          <p:cNvSpPr txBox="1"/>
          <p:nvPr/>
        </p:nvSpPr>
        <p:spPr>
          <a:xfrm>
            <a:off x="713232" y="1920240"/>
            <a:ext cx="10789920" cy="12801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200"/>
              <a:buFont typeface="Arial"/>
              <a:buNone/>
            </a:pPr>
            <a:r>
              <a:rPr b="1" i="0" lang="en-US" sz="9200" u="none" cap="none" strike="noStrike">
                <a:solidFill>
                  <a:srgbClr val="1A5145"/>
                </a:solidFill>
                <a:latin typeface="JetBrains Mono"/>
                <a:ea typeface="JetBrains Mono"/>
                <a:cs typeface="JetBrains Mono"/>
                <a:sym typeface="JetBrains Mono"/>
              </a:rPr>
              <a:t>R$ 4,94 bi</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713232" y="3383280"/>
            <a:ext cx="10789920"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0C2B27"/>
                </a:solidFill>
                <a:latin typeface="Space Grotesk"/>
                <a:ea typeface="Space Grotesk"/>
                <a:cs typeface="Space Grotesk"/>
                <a:sym typeface="Space Grotesk"/>
              </a:rPr>
              <a:t>+70% sobre 2023</a:t>
            </a:r>
            <a:endParaRPr b="0" i="0" sz="1400" u="none" cap="none" strike="noStrike">
              <a:solidFill>
                <a:srgbClr val="000000"/>
              </a:solidFill>
              <a:latin typeface="Arial"/>
              <a:ea typeface="Arial"/>
              <a:cs typeface="Arial"/>
              <a:sym typeface="Arial"/>
            </a:endParaRPr>
          </a:p>
        </p:txBody>
      </p:sp>
      <p:pic>
        <p:nvPicPr>
          <p:cNvPr descr="infomoney.png" id="143" name="Google Shape;143;p4"/>
          <p:cNvPicPr preferRelativeResize="0"/>
          <p:nvPr/>
        </p:nvPicPr>
        <p:blipFill rotWithShape="1">
          <a:blip r:embed="rId4">
            <a:alphaModFix/>
          </a:blip>
          <a:srcRect b="0" l="0" r="0" t="0"/>
          <a:stretch/>
        </p:blipFill>
        <p:spPr>
          <a:xfrm>
            <a:off x="2804007" y="5301386"/>
            <a:ext cx="6583680" cy="8250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sbseg2026_rodape.png" id="149" name="Google Shape;149;p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50" name="Google Shape;150;p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05</a:t>
            </a:r>
            <a:endParaRPr b="0" i="0" sz="1400" u="none" cap="none" strike="noStrike">
              <a:solidFill>
                <a:srgbClr val="000000"/>
              </a:solidFill>
              <a:latin typeface="Arial"/>
              <a:ea typeface="Arial"/>
              <a:cs typeface="Arial"/>
              <a:sym typeface="Arial"/>
            </a:endParaRPr>
          </a:p>
        </p:txBody>
      </p:sp>
      <p:sp>
        <p:nvSpPr>
          <p:cNvPr id="151" name="Google Shape;151;p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RESPOSTA REGULATÓRIA</a:t>
            </a:r>
            <a:endParaRPr b="0" i="0" sz="1400" u="none" cap="none" strike="noStrike">
              <a:solidFill>
                <a:srgbClr val="000000"/>
              </a:solidFill>
              <a:latin typeface="Arial"/>
              <a:ea typeface="Arial"/>
              <a:cs typeface="Arial"/>
              <a:sym typeface="Arial"/>
            </a:endParaRPr>
          </a:p>
        </p:txBody>
      </p:sp>
      <p:sp>
        <p:nvSpPr>
          <p:cNvPr id="152" name="Google Shape;152;p6"/>
          <p:cNvSpPr txBox="1"/>
          <p:nvPr/>
        </p:nvSpPr>
        <p:spPr>
          <a:xfrm>
            <a:off x="713232" y="1243584"/>
            <a:ext cx="10789920" cy="7315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600"/>
              <a:buFont typeface="Arial"/>
              <a:buNone/>
            </a:pPr>
            <a:r>
              <a:rPr b="1" i="0" lang="en-US" sz="4600" u="none" cap="none" strike="noStrike">
                <a:solidFill>
                  <a:srgbClr val="0C2B27"/>
                </a:solidFill>
                <a:latin typeface="Space Grotesk"/>
                <a:ea typeface="Space Grotesk"/>
                <a:cs typeface="Space Grotesk"/>
                <a:sym typeface="Space Grotesk"/>
              </a:rPr>
              <a:t>Resolução BCB nº 493</a:t>
            </a:r>
            <a:endParaRPr b="0" i="0" sz="1400" u="none" cap="none" strike="noStrike">
              <a:solidFill>
                <a:srgbClr val="000000"/>
              </a:solidFill>
              <a:latin typeface="Arial"/>
              <a:ea typeface="Arial"/>
              <a:cs typeface="Arial"/>
              <a:sym typeface="Arial"/>
            </a:endParaRPr>
          </a:p>
        </p:txBody>
      </p:sp>
      <p:sp>
        <p:nvSpPr>
          <p:cNvPr id="153" name="Google Shape;153;p6"/>
          <p:cNvSpPr txBox="1"/>
          <p:nvPr/>
        </p:nvSpPr>
        <p:spPr>
          <a:xfrm>
            <a:off x="713232" y="2011680"/>
            <a:ext cx="107899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C2B27"/>
                </a:solidFill>
                <a:latin typeface="Inter"/>
                <a:ea typeface="Inter"/>
                <a:cs typeface="Inter"/>
                <a:sym typeface="Inter"/>
              </a:rPr>
              <a:t>de 28 de agosto de 2025, artigo 121</a:t>
            </a:r>
            <a:endParaRPr b="0" i="0" sz="1400" u="none" cap="none" strike="noStrike">
              <a:solidFill>
                <a:srgbClr val="000000"/>
              </a:solidFill>
              <a:latin typeface="Arial"/>
              <a:ea typeface="Arial"/>
              <a:cs typeface="Arial"/>
              <a:sym typeface="Arial"/>
            </a:endParaRPr>
          </a:p>
        </p:txBody>
      </p:sp>
      <p:sp>
        <p:nvSpPr>
          <p:cNvPr id="154" name="Google Shape;154;p6"/>
          <p:cNvSpPr txBox="1"/>
          <p:nvPr/>
        </p:nvSpPr>
        <p:spPr>
          <a:xfrm>
            <a:off x="713232" y="2724912"/>
            <a:ext cx="107899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C2B27"/>
                </a:solidFill>
                <a:latin typeface="Inter"/>
                <a:ea typeface="Inter"/>
                <a:cs typeface="Inter"/>
                <a:sym typeface="Inter"/>
              </a:rPr>
              <a:t>MED 2.0 obrigatório desde</a:t>
            </a:r>
            <a:endParaRPr b="0" i="0" sz="1400" u="none" cap="none" strike="noStrike">
              <a:solidFill>
                <a:srgbClr val="000000"/>
              </a:solidFill>
              <a:latin typeface="Arial"/>
              <a:ea typeface="Arial"/>
              <a:cs typeface="Arial"/>
              <a:sym typeface="Arial"/>
            </a:endParaRPr>
          </a:p>
        </p:txBody>
      </p:sp>
      <p:sp>
        <p:nvSpPr>
          <p:cNvPr id="155" name="Google Shape;155;p6"/>
          <p:cNvSpPr txBox="1"/>
          <p:nvPr/>
        </p:nvSpPr>
        <p:spPr>
          <a:xfrm>
            <a:off x="713232" y="3310128"/>
            <a:ext cx="10789920" cy="10972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600"/>
              <a:buFont typeface="Arial"/>
              <a:buNone/>
            </a:pPr>
            <a:r>
              <a:rPr b="1" i="0" lang="en-US" sz="7600" u="none" cap="none" strike="noStrike">
                <a:solidFill>
                  <a:srgbClr val="A3121F"/>
                </a:solidFill>
                <a:latin typeface="JetBrains Mono"/>
                <a:ea typeface="JetBrains Mono"/>
                <a:cs typeface="JetBrains Mono"/>
                <a:sym typeface="JetBrains Mono"/>
              </a:rPr>
              <a:t>2/2/2026</a:t>
            </a:r>
            <a:endParaRPr b="0" i="0" sz="1400" u="none" cap="none" strike="noStrike">
              <a:solidFill>
                <a:srgbClr val="000000"/>
              </a:solidFill>
              <a:latin typeface="Arial"/>
              <a:ea typeface="Arial"/>
              <a:cs typeface="Arial"/>
              <a:sym typeface="Arial"/>
            </a:endParaRPr>
          </a:p>
        </p:txBody>
      </p:sp>
      <p:pic>
        <p:nvPicPr>
          <p:cNvPr descr="bcb493.png" id="156" name="Google Shape;156;p6"/>
          <p:cNvPicPr preferRelativeResize="0"/>
          <p:nvPr/>
        </p:nvPicPr>
        <p:blipFill rotWithShape="1">
          <a:blip r:embed="rId4">
            <a:alphaModFix/>
          </a:blip>
          <a:srcRect b="0" l="0" r="0" t="0"/>
          <a:stretch/>
        </p:blipFill>
        <p:spPr>
          <a:xfrm>
            <a:off x="3125697" y="4809744"/>
            <a:ext cx="5940301" cy="13167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sbseg2026_rodape.png" id="162" name="Google Shape;162;p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63" name="Google Shape;163;p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06</a:t>
            </a:r>
            <a:endParaRPr b="0" i="0" sz="1400" u="none" cap="none" strike="noStrike">
              <a:solidFill>
                <a:srgbClr val="000000"/>
              </a:solidFill>
              <a:latin typeface="Arial"/>
              <a:ea typeface="Arial"/>
              <a:cs typeface="Arial"/>
              <a:sym typeface="Arial"/>
            </a:endParaRPr>
          </a:p>
        </p:txBody>
      </p:sp>
      <p:sp>
        <p:nvSpPr>
          <p:cNvPr id="164" name="Google Shape;164;p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RESPOSTA REGULATÓRIA</a:t>
            </a:r>
            <a:endParaRPr b="0" i="0" sz="1400" u="none" cap="none" strike="noStrike">
              <a:solidFill>
                <a:srgbClr val="000000"/>
              </a:solidFill>
              <a:latin typeface="Arial"/>
              <a:ea typeface="Arial"/>
              <a:cs typeface="Arial"/>
              <a:sym typeface="Arial"/>
            </a:endParaRPr>
          </a:p>
        </p:txBody>
      </p:sp>
      <p:sp>
        <p:nvSpPr>
          <p:cNvPr id="165" name="Google Shape;165;p7"/>
          <p:cNvSpPr txBox="1"/>
          <p:nvPr/>
        </p:nvSpPr>
        <p:spPr>
          <a:xfrm>
            <a:off x="713232" y="566928"/>
            <a:ext cx="10881300" cy="1323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MED 2.0 (Mecanismo Especial de Devolução)</a:t>
            </a:r>
            <a:endParaRPr b="0" i="0" sz="1400" u="none" cap="none" strike="noStrike">
              <a:solidFill>
                <a:srgbClr val="000000"/>
              </a:solidFill>
              <a:latin typeface="Arial"/>
              <a:ea typeface="Arial"/>
              <a:cs typeface="Arial"/>
              <a:sym typeface="Arial"/>
            </a:endParaRPr>
          </a:p>
        </p:txBody>
      </p:sp>
      <p:sp>
        <p:nvSpPr>
          <p:cNvPr id="166" name="Google Shape;166;p7"/>
          <p:cNvSpPr/>
          <p:nvPr/>
        </p:nvSpPr>
        <p:spPr>
          <a:xfrm>
            <a:off x="713232" y="227685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 name="Google Shape;167;p7"/>
          <p:cNvSpPr txBox="1"/>
          <p:nvPr/>
        </p:nvSpPr>
        <p:spPr>
          <a:xfrm>
            <a:off x="1060704" y="2103120"/>
            <a:ext cx="10259567" cy="614476"/>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600"/>
              <a:buFont typeface="Arial"/>
              <a:buNone/>
            </a:pPr>
            <a:r>
              <a:rPr b="1" i="0" lang="en-US" sz="3600" u="none" cap="none" strike="noStrike">
                <a:solidFill>
                  <a:srgbClr val="0C2B27"/>
                </a:solidFill>
                <a:latin typeface="Inter"/>
                <a:ea typeface="Inter"/>
                <a:cs typeface="Inter"/>
                <a:sym typeface="Inter"/>
              </a:rPr>
              <a:t>Rastrear além da primeira conta</a:t>
            </a:r>
            <a:endParaRPr b="0" i="0" sz="1400" u="none" cap="none" strike="noStrike">
              <a:solidFill>
                <a:srgbClr val="000000"/>
              </a:solidFill>
              <a:latin typeface="Arial"/>
              <a:ea typeface="Arial"/>
              <a:cs typeface="Arial"/>
              <a:sym typeface="Arial"/>
            </a:endParaRPr>
          </a:p>
        </p:txBody>
      </p:sp>
      <p:sp>
        <p:nvSpPr>
          <p:cNvPr id="168" name="Google Shape;168;p7"/>
          <p:cNvSpPr/>
          <p:nvPr/>
        </p:nvSpPr>
        <p:spPr>
          <a:xfrm>
            <a:off x="713232" y="3465576"/>
            <a:ext cx="155400" cy="155400"/>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7"/>
          <p:cNvSpPr txBox="1"/>
          <p:nvPr/>
        </p:nvSpPr>
        <p:spPr>
          <a:xfrm>
            <a:off x="1060704" y="3291840"/>
            <a:ext cx="10259700" cy="1143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600"/>
              <a:buFont typeface="Arial"/>
              <a:buNone/>
            </a:pPr>
            <a:r>
              <a:rPr b="1" i="0" lang="en-US" sz="3600" u="none" cap="none" strike="noStrike">
                <a:solidFill>
                  <a:srgbClr val="0C2B27"/>
                </a:solidFill>
                <a:latin typeface="Inter"/>
                <a:ea typeface="Inter"/>
                <a:cs typeface="Inter"/>
                <a:sym typeface="Inter"/>
              </a:rPr>
              <a:t>O DICT, diretório de chaves do Pix, avisa as instituições no caminho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sbseg2026_rodape.png" id="175" name="Google Shape;175;p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76" name="Google Shape;176;p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07</a:t>
            </a:r>
            <a:endParaRPr b="0" i="0" sz="1400" u="none" cap="none" strike="noStrike">
              <a:solidFill>
                <a:srgbClr val="000000"/>
              </a:solidFill>
              <a:latin typeface="Arial"/>
              <a:ea typeface="Arial"/>
              <a:cs typeface="Arial"/>
              <a:sym typeface="Arial"/>
            </a:endParaRPr>
          </a:p>
        </p:txBody>
      </p:sp>
      <p:sp>
        <p:nvSpPr>
          <p:cNvPr id="177" name="Google Shape;177;p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 PRAZO DO DETECTOR</a:t>
            </a:r>
            <a:endParaRPr b="0" i="0" sz="1400" u="none" cap="none" strike="noStrike">
              <a:solidFill>
                <a:srgbClr val="000000"/>
              </a:solidFill>
              <a:latin typeface="Arial"/>
              <a:ea typeface="Arial"/>
              <a:cs typeface="Arial"/>
              <a:sym typeface="Arial"/>
            </a:endParaRPr>
          </a:p>
        </p:txBody>
      </p:sp>
      <p:sp>
        <p:nvSpPr>
          <p:cNvPr id="178" name="Google Shape;178;p8"/>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Os tempos publicados do Pix</a:t>
            </a:r>
            <a:endParaRPr b="0" i="0" sz="1400" u="none" cap="none" strike="noStrike">
              <a:solidFill>
                <a:srgbClr val="000000"/>
              </a:solidFill>
              <a:latin typeface="Arial"/>
              <a:ea typeface="Arial"/>
              <a:cs typeface="Arial"/>
              <a:sym typeface="Arial"/>
            </a:endParaRPr>
          </a:p>
        </p:txBody>
      </p:sp>
      <p:sp>
        <p:nvSpPr>
          <p:cNvPr id="179" name="Google Shape;179;p8"/>
          <p:cNvSpPr/>
          <p:nvPr/>
        </p:nvSpPr>
        <p:spPr>
          <a:xfrm>
            <a:off x="713232" y="1463039"/>
            <a:ext cx="10881360" cy="713232"/>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8"/>
          <p:cNvSpPr txBox="1"/>
          <p:nvPr/>
        </p:nvSpPr>
        <p:spPr>
          <a:xfrm>
            <a:off x="822960" y="1627632"/>
            <a:ext cx="270662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Intervalo</a:t>
            </a:r>
            <a:endParaRPr b="0" i="0" sz="1400" u="none" cap="none" strike="noStrike">
              <a:solidFill>
                <a:srgbClr val="000000"/>
              </a:solidFill>
              <a:latin typeface="Arial"/>
              <a:ea typeface="Arial"/>
              <a:cs typeface="Arial"/>
              <a:sym typeface="Arial"/>
            </a:endParaRPr>
          </a:p>
        </p:txBody>
      </p:sp>
      <p:sp>
        <p:nvSpPr>
          <p:cNvPr id="181" name="Google Shape;181;p8"/>
          <p:cNvSpPr txBox="1"/>
          <p:nvPr/>
        </p:nvSpPr>
        <p:spPr>
          <a:xfrm>
            <a:off x="3749040" y="1627632"/>
            <a:ext cx="969264"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p50</a:t>
            </a:r>
            <a:endParaRPr b="0" i="0" sz="1400" u="none" cap="none" strike="noStrike">
              <a:solidFill>
                <a:srgbClr val="000000"/>
              </a:solidFill>
              <a:latin typeface="Arial"/>
              <a:ea typeface="Arial"/>
              <a:cs typeface="Arial"/>
              <a:sym typeface="Arial"/>
            </a:endParaRPr>
          </a:p>
        </p:txBody>
      </p:sp>
      <p:sp>
        <p:nvSpPr>
          <p:cNvPr id="182" name="Google Shape;182;p8"/>
          <p:cNvSpPr txBox="1"/>
          <p:nvPr/>
        </p:nvSpPr>
        <p:spPr>
          <a:xfrm>
            <a:off x="4937760" y="1627632"/>
            <a:ext cx="2523744"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p95 / p99</a:t>
            </a:r>
            <a:endParaRPr b="0" i="0" sz="1400" u="none" cap="none" strike="noStrike">
              <a:solidFill>
                <a:srgbClr val="000000"/>
              </a:solidFill>
              <a:latin typeface="Arial"/>
              <a:ea typeface="Arial"/>
              <a:cs typeface="Arial"/>
              <a:sym typeface="Arial"/>
            </a:endParaRPr>
          </a:p>
        </p:txBody>
      </p:sp>
      <p:sp>
        <p:nvSpPr>
          <p:cNvPr id="183" name="Google Shape;183;p8"/>
          <p:cNvSpPr txBox="1"/>
          <p:nvPr/>
        </p:nvSpPr>
        <p:spPr>
          <a:xfrm>
            <a:off x="7680960" y="1627632"/>
            <a:ext cx="380390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O que ele limita</a:t>
            </a:r>
            <a:endParaRPr b="0" i="0" sz="1400" u="none" cap="none" strike="noStrike">
              <a:solidFill>
                <a:srgbClr val="000000"/>
              </a:solidFill>
              <a:latin typeface="Arial"/>
              <a:ea typeface="Arial"/>
              <a:cs typeface="Arial"/>
              <a:sym typeface="Arial"/>
            </a:endParaRPr>
          </a:p>
        </p:txBody>
      </p:sp>
      <p:sp>
        <p:nvSpPr>
          <p:cNvPr id="184" name="Google Shape;184;p8"/>
          <p:cNvSpPr/>
          <p:nvPr/>
        </p:nvSpPr>
        <p:spPr>
          <a:xfrm>
            <a:off x="713232" y="2066543"/>
            <a:ext cx="10881360" cy="1110081"/>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8"/>
          <p:cNvSpPr txBox="1"/>
          <p:nvPr/>
        </p:nvSpPr>
        <p:spPr>
          <a:xfrm>
            <a:off x="822960" y="2221991"/>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Pagadora</a:t>
            </a:r>
            <a:endParaRPr b="0" i="0" sz="1400" u="none" cap="none" strike="noStrike">
              <a:solidFill>
                <a:srgbClr val="000000"/>
              </a:solidFill>
              <a:latin typeface="Arial"/>
              <a:ea typeface="Arial"/>
              <a:cs typeface="Arial"/>
              <a:sym typeface="Arial"/>
            </a:endParaRPr>
          </a:p>
        </p:txBody>
      </p:sp>
      <p:sp>
        <p:nvSpPr>
          <p:cNvPr id="186" name="Google Shape;186;p8"/>
          <p:cNvSpPr txBox="1"/>
          <p:nvPr/>
        </p:nvSpPr>
        <p:spPr>
          <a:xfrm>
            <a:off x="3749040" y="2221991"/>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0,9 s</a:t>
            </a:r>
            <a:endParaRPr b="0" i="0" sz="1400" u="none" cap="none" strike="noStrike">
              <a:solidFill>
                <a:srgbClr val="000000"/>
              </a:solidFill>
              <a:latin typeface="Arial"/>
              <a:ea typeface="Arial"/>
              <a:cs typeface="Arial"/>
              <a:sym typeface="Arial"/>
            </a:endParaRPr>
          </a:p>
        </p:txBody>
      </p:sp>
      <p:sp>
        <p:nvSpPr>
          <p:cNvPr id="187" name="Google Shape;187;p8"/>
          <p:cNvSpPr txBox="1"/>
          <p:nvPr/>
        </p:nvSpPr>
        <p:spPr>
          <a:xfrm>
            <a:off x="4937760" y="2221991"/>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1,5 s (p95)</a:t>
            </a:r>
            <a:endParaRPr b="0" i="0" sz="1400" u="none" cap="none" strike="noStrike">
              <a:solidFill>
                <a:srgbClr val="000000"/>
              </a:solidFill>
              <a:latin typeface="Arial"/>
              <a:ea typeface="Arial"/>
              <a:cs typeface="Arial"/>
              <a:sym typeface="Arial"/>
            </a:endParaRPr>
          </a:p>
        </p:txBody>
      </p:sp>
      <p:sp>
        <p:nvSpPr>
          <p:cNvPr id="188" name="Google Shape;188;p8"/>
          <p:cNvSpPr txBox="1"/>
          <p:nvPr/>
        </p:nvSpPr>
        <p:spPr>
          <a:xfrm>
            <a:off x="7680960" y="2221991"/>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Autorizar ou desviar</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713232" y="2701137"/>
            <a:ext cx="1088136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8"/>
          <p:cNvSpPr/>
          <p:nvPr/>
        </p:nvSpPr>
        <p:spPr>
          <a:xfrm>
            <a:off x="713232" y="3268065"/>
            <a:ext cx="1088136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8"/>
          <p:cNvSpPr txBox="1"/>
          <p:nvPr/>
        </p:nvSpPr>
        <p:spPr>
          <a:xfrm>
            <a:off x="822960" y="2788920"/>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Ponta a ponta</a:t>
            </a:r>
            <a:endParaRPr b="0" i="0" sz="1400" u="none" cap="none" strike="noStrike">
              <a:solidFill>
                <a:srgbClr val="000000"/>
              </a:solidFill>
              <a:latin typeface="Arial"/>
              <a:ea typeface="Arial"/>
              <a:cs typeface="Arial"/>
              <a:sym typeface="Arial"/>
            </a:endParaRPr>
          </a:p>
        </p:txBody>
      </p:sp>
      <p:sp>
        <p:nvSpPr>
          <p:cNvPr id="192" name="Google Shape;192;p8"/>
          <p:cNvSpPr txBox="1"/>
          <p:nvPr/>
        </p:nvSpPr>
        <p:spPr>
          <a:xfrm>
            <a:off x="3749040" y="2788920"/>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6,0 s</a:t>
            </a:r>
            <a:endParaRPr b="0" i="0" sz="1400" u="none" cap="none" strike="noStrike">
              <a:solidFill>
                <a:srgbClr val="000000"/>
              </a:solidFill>
              <a:latin typeface="Arial"/>
              <a:ea typeface="Arial"/>
              <a:cs typeface="Arial"/>
              <a:sym typeface="Arial"/>
            </a:endParaRPr>
          </a:p>
        </p:txBody>
      </p:sp>
      <p:sp>
        <p:nvSpPr>
          <p:cNvPr id="193" name="Google Shape;193;p8"/>
          <p:cNvSpPr txBox="1"/>
          <p:nvPr/>
        </p:nvSpPr>
        <p:spPr>
          <a:xfrm>
            <a:off x="4937760" y="2788920"/>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10,0 s (p99)</a:t>
            </a:r>
            <a:endParaRPr b="0" i="0" sz="1400" u="none" cap="none" strike="noStrike">
              <a:solidFill>
                <a:srgbClr val="000000"/>
              </a:solidFill>
              <a:latin typeface="Arial"/>
              <a:ea typeface="Arial"/>
              <a:cs typeface="Arial"/>
              <a:sym typeface="Arial"/>
            </a:endParaRPr>
          </a:p>
        </p:txBody>
      </p:sp>
      <p:sp>
        <p:nvSpPr>
          <p:cNvPr id="194" name="Google Shape;194;p8"/>
          <p:cNvSpPr txBox="1"/>
          <p:nvPr/>
        </p:nvSpPr>
        <p:spPr>
          <a:xfrm>
            <a:off x="7680960" y="2788920"/>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Já liquidou</a:t>
            </a:r>
            <a:endParaRPr b="0" i="0" sz="1400" u="none" cap="none" strike="noStrike">
              <a:solidFill>
                <a:srgbClr val="000000"/>
              </a:solidFill>
              <a:latin typeface="Arial"/>
              <a:ea typeface="Arial"/>
              <a:cs typeface="Arial"/>
              <a:sym typeface="Arial"/>
            </a:endParaRPr>
          </a:p>
        </p:txBody>
      </p:sp>
      <p:sp>
        <p:nvSpPr>
          <p:cNvPr id="195" name="Google Shape;195;p8"/>
          <p:cNvSpPr/>
          <p:nvPr/>
        </p:nvSpPr>
        <p:spPr>
          <a:xfrm>
            <a:off x="713232" y="3200400"/>
            <a:ext cx="10881360" cy="713232"/>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8"/>
          <p:cNvSpPr txBox="1"/>
          <p:nvPr/>
        </p:nvSpPr>
        <p:spPr>
          <a:xfrm>
            <a:off x="822960" y="3355848"/>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Suspeita</a:t>
            </a:r>
            <a:endParaRPr b="0" i="0" sz="1400" u="none" cap="none" strike="noStrike">
              <a:solidFill>
                <a:srgbClr val="000000"/>
              </a:solidFill>
              <a:latin typeface="Arial"/>
              <a:ea typeface="Arial"/>
              <a:cs typeface="Arial"/>
              <a:sym typeface="Arial"/>
            </a:endParaRPr>
          </a:p>
        </p:txBody>
      </p:sp>
      <p:sp>
        <p:nvSpPr>
          <p:cNvPr id="197" name="Google Shape;197;p8"/>
          <p:cNvSpPr txBox="1"/>
          <p:nvPr/>
        </p:nvSpPr>
        <p:spPr>
          <a:xfrm>
            <a:off x="3749040" y="3355848"/>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198" name="Google Shape;198;p8"/>
          <p:cNvSpPr txBox="1"/>
          <p:nvPr/>
        </p:nvSpPr>
        <p:spPr>
          <a:xfrm>
            <a:off x="4937760" y="3355848"/>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199" name="Google Shape;199;p8"/>
          <p:cNvSpPr txBox="1"/>
          <p:nvPr/>
        </p:nvSpPr>
        <p:spPr>
          <a:xfrm>
            <a:off x="7680960" y="3355848"/>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30 a 60 min</a:t>
            </a:r>
            <a:endParaRPr b="0" i="0" sz="1400" u="none" cap="none" strike="noStrike">
              <a:solidFill>
                <a:srgbClr val="000000"/>
              </a:solidFill>
              <a:latin typeface="Arial"/>
              <a:ea typeface="Arial"/>
              <a:cs typeface="Arial"/>
              <a:sym typeface="Arial"/>
            </a:endParaRPr>
          </a:p>
        </p:txBody>
      </p:sp>
      <p:sp>
        <p:nvSpPr>
          <p:cNvPr id="200" name="Google Shape;200;p8"/>
          <p:cNvSpPr/>
          <p:nvPr/>
        </p:nvSpPr>
        <p:spPr>
          <a:xfrm>
            <a:off x="363382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8"/>
          <p:cNvSpPr/>
          <p:nvPr/>
        </p:nvSpPr>
        <p:spPr>
          <a:xfrm>
            <a:off x="482254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8"/>
          <p:cNvSpPr/>
          <p:nvPr/>
        </p:nvSpPr>
        <p:spPr>
          <a:xfrm>
            <a:off x="756574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p8"/>
          <p:cNvSpPr/>
          <p:nvPr/>
        </p:nvSpPr>
        <p:spPr>
          <a:xfrm>
            <a:off x="4864608" y="2121408"/>
            <a:ext cx="2670048" cy="603504"/>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8"/>
          <p:cNvSpPr/>
          <p:nvPr/>
        </p:nvSpPr>
        <p:spPr>
          <a:xfrm>
            <a:off x="5952744" y="3913632"/>
            <a:ext cx="493776" cy="292608"/>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8"/>
          <p:cNvSpPr/>
          <p:nvPr/>
        </p:nvSpPr>
        <p:spPr>
          <a:xfrm>
            <a:off x="1463040" y="4187952"/>
            <a:ext cx="9262872" cy="1700784"/>
          </a:xfrm>
          <a:prstGeom prst="roundRect">
            <a:avLst>
              <a:gd fmla="val 16667" name="adj"/>
            </a:avLst>
          </a:prstGeom>
          <a:solidFill>
            <a:srgbClr val="0C2B27"/>
          </a:solidFill>
          <a:ln>
            <a:noFill/>
          </a:ln>
        </p:spPr>
        <p:txBody>
          <a:bodyPr anchorCtr="0" anchor="ctr" bIns="45700" lIns="310875" spcFirstLastPara="1" rIns="310875" wrap="square" tIns="45700">
            <a:noAutofit/>
          </a:bodyPr>
          <a:lstStyle/>
          <a:p>
            <a:pPr indent="0" lvl="0" marL="0" marR="0" rtl="0" algn="ctr">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Inter"/>
                <a:ea typeface="Inter"/>
                <a:cs typeface="Inter"/>
                <a:sym typeface="Inter"/>
              </a:rPr>
              <a:t>A pagadora tem 1,5 s para autorizar. É aí que o detector decide se desvia</a:t>
            </a:r>
            <a:r>
              <a:rPr b="1" lang="en-US" sz="3400">
                <a:solidFill>
                  <a:srgbClr val="FFFFFF"/>
                </a:solidFill>
                <a:latin typeface="Inter"/>
                <a:ea typeface="Inter"/>
                <a:cs typeface="Inter"/>
                <a:sym typeface="Inter"/>
              </a:rPr>
              <a:t> para investigação.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sbseg2026_rodape.png" id="210" name="Google Shape;210;p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11" name="Google Shape;211;p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08</a:t>
            </a:r>
            <a:endParaRPr b="0" i="0" sz="1400" u="none" cap="none" strike="noStrike">
              <a:solidFill>
                <a:srgbClr val="000000"/>
              </a:solidFill>
              <a:latin typeface="Arial"/>
              <a:ea typeface="Arial"/>
              <a:cs typeface="Arial"/>
              <a:sym typeface="Arial"/>
            </a:endParaRPr>
          </a:p>
        </p:txBody>
      </p:sp>
      <p:sp>
        <p:nvSpPr>
          <p:cNvPr id="212" name="Google Shape;212;p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 PRAZO DO DETECTOR</a:t>
            </a:r>
            <a:endParaRPr b="0" i="0" sz="1400" u="none" cap="none" strike="noStrike">
              <a:solidFill>
                <a:srgbClr val="000000"/>
              </a:solidFill>
              <a:latin typeface="Arial"/>
              <a:ea typeface="Arial"/>
              <a:cs typeface="Arial"/>
              <a:sym typeface="Arial"/>
            </a:endParaRPr>
          </a:p>
        </p:txBody>
      </p:sp>
      <p:sp>
        <p:nvSpPr>
          <p:cNvPr id="213" name="Google Shape;213;p5"/>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Os tempos publicados do Pix</a:t>
            </a:r>
            <a:endParaRPr b="0" i="0" sz="1400" u="none" cap="none" strike="noStrike">
              <a:solidFill>
                <a:srgbClr val="000000"/>
              </a:solidFill>
              <a:latin typeface="Arial"/>
              <a:ea typeface="Arial"/>
              <a:cs typeface="Arial"/>
              <a:sym typeface="Arial"/>
            </a:endParaRPr>
          </a:p>
        </p:txBody>
      </p:sp>
      <p:sp>
        <p:nvSpPr>
          <p:cNvPr id="214" name="Google Shape;214;p5"/>
          <p:cNvSpPr/>
          <p:nvPr/>
        </p:nvSpPr>
        <p:spPr>
          <a:xfrm>
            <a:off x="713232" y="1463039"/>
            <a:ext cx="10881360" cy="713232"/>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5"/>
          <p:cNvSpPr txBox="1"/>
          <p:nvPr/>
        </p:nvSpPr>
        <p:spPr>
          <a:xfrm>
            <a:off x="822960" y="1627632"/>
            <a:ext cx="270662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Intervalo</a:t>
            </a:r>
            <a:endParaRPr b="0" i="0" sz="1400" u="none" cap="none" strike="noStrike">
              <a:solidFill>
                <a:srgbClr val="000000"/>
              </a:solidFill>
              <a:latin typeface="Arial"/>
              <a:ea typeface="Arial"/>
              <a:cs typeface="Arial"/>
              <a:sym typeface="Arial"/>
            </a:endParaRPr>
          </a:p>
        </p:txBody>
      </p:sp>
      <p:sp>
        <p:nvSpPr>
          <p:cNvPr id="216" name="Google Shape;216;p5"/>
          <p:cNvSpPr txBox="1"/>
          <p:nvPr/>
        </p:nvSpPr>
        <p:spPr>
          <a:xfrm>
            <a:off x="3749040" y="1627632"/>
            <a:ext cx="969264"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p50</a:t>
            </a:r>
            <a:endParaRPr b="0" i="0" sz="1400" u="none" cap="none" strike="noStrike">
              <a:solidFill>
                <a:srgbClr val="000000"/>
              </a:solidFill>
              <a:latin typeface="Arial"/>
              <a:ea typeface="Arial"/>
              <a:cs typeface="Arial"/>
              <a:sym typeface="Arial"/>
            </a:endParaRPr>
          </a:p>
        </p:txBody>
      </p:sp>
      <p:sp>
        <p:nvSpPr>
          <p:cNvPr id="217" name="Google Shape;217;p5"/>
          <p:cNvSpPr txBox="1"/>
          <p:nvPr/>
        </p:nvSpPr>
        <p:spPr>
          <a:xfrm>
            <a:off x="4937760" y="1627632"/>
            <a:ext cx="2523744"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p95 / p99</a:t>
            </a:r>
            <a:endParaRPr b="0" i="0" sz="1400" u="none" cap="none" strike="noStrike">
              <a:solidFill>
                <a:srgbClr val="000000"/>
              </a:solidFill>
              <a:latin typeface="Arial"/>
              <a:ea typeface="Arial"/>
              <a:cs typeface="Arial"/>
              <a:sym typeface="Arial"/>
            </a:endParaRPr>
          </a:p>
        </p:txBody>
      </p:sp>
      <p:sp>
        <p:nvSpPr>
          <p:cNvPr id="218" name="Google Shape;218;p5"/>
          <p:cNvSpPr txBox="1"/>
          <p:nvPr/>
        </p:nvSpPr>
        <p:spPr>
          <a:xfrm>
            <a:off x="7680960" y="1627632"/>
            <a:ext cx="380390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O que ele limita</a:t>
            </a:r>
            <a:endParaRPr b="0" i="0" sz="1400" u="none" cap="none" strike="noStrike">
              <a:solidFill>
                <a:srgbClr val="000000"/>
              </a:solidFill>
              <a:latin typeface="Arial"/>
              <a:ea typeface="Arial"/>
              <a:cs typeface="Arial"/>
              <a:sym typeface="Arial"/>
            </a:endParaRPr>
          </a:p>
        </p:txBody>
      </p:sp>
      <p:sp>
        <p:nvSpPr>
          <p:cNvPr id="219" name="Google Shape;219;p5"/>
          <p:cNvSpPr/>
          <p:nvPr/>
        </p:nvSpPr>
        <p:spPr>
          <a:xfrm>
            <a:off x="713232" y="2066543"/>
            <a:ext cx="10881360" cy="1110081"/>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5"/>
          <p:cNvSpPr txBox="1"/>
          <p:nvPr/>
        </p:nvSpPr>
        <p:spPr>
          <a:xfrm>
            <a:off x="822960" y="2221991"/>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Pagadora</a:t>
            </a:r>
            <a:endParaRPr b="0" i="0" sz="1400" u="none" cap="none" strike="noStrike">
              <a:solidFill>
                <a:srgbClr val="000000"/>
              </a:solidFill>
              <a:latin typeface="Arial"/>
              <a:ea typeface="Arial"/>
              <a:cs typeface="Arial"/>
              <a:sym typeface="Arial"/>
            </a:endParaRPr>
          </a:p>
        </p:txBody>
      </p:sp>
      <p:sp>
        <p:nvSpPr>
          <p:cNvPr id="221" name="Google Shape;221;p5"/>
          <p:cNvSpPr txBox="1"/>
          <p:nvPr/>
        </p:nvSpPr>
        <p:spPr>
          <a:xfrm>
            <a:off x="3749040" y="2221991"/>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0,9 s</a:t>
            </a:r>
            <a:endParaRPr b="0" i="0" sz="1400" u="none" cap="none" strike="noStrike">
              <a:solidFill>
                <a:srgbClr val="000000"/>
              </a:solidFill>
              <a:latin typeface="Arial"/>
              <a:ea typeface="Arial"/>
              <a:cs typeface="Arial"/>
              <a:sym typeface="Arial"/>
            </a:endParaRPr>
          </a:p>
        </p:txBody>
      </p:sp>
      <p:sp>
        <p:nvSpPr>
          <p:cNvPr id="222" name="Google Shape;222;p5"/>
          <p:cNvSpPr txBox="1"/>
          <p:nvPr/>
        </p:nvSpPr>
        <p:spPr>
          <a:xfrm>
            <a:off x="4937760" y="2221991"/>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1,5 s (p95)</a:t>
            </a:r>
            <a:endParaRPr b="0" i="0" sz="1400" u="none" cap="none" strike="noStrike">
              <a:solidFill>
                <a:srgbClr val="000000"/>
              </a:solidFill>
              <a:latin typeface="Arial"/>
              <a:ea typeface="Arial"/>
              <a:cs typeface="Arial"/>
              <a:sym typeface="Arial"/>
            </a:endParaRPr>
          </a:p>
        </p:txBody>
      </p:sp>
      <p:sp>
        <p:nvSpPr>
          <p:cNvPr id="223" name="Google Shape;223;p5"/>
          <p:cNvSpPr txBox="1"/>
          <p:nvPr/>
        </p:nvSpPr>
        <p:spPr>
          <a:xfrm>
            <a:off x="7680960" y="2221991"/>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Autorizar ou desviar</a:t>
            </a:r>
            <a:endParaRPr b="0" i="0" sz="1400" u="none" cap="none" strike="noStrike">
              <a:solidFill>
                <a:srgbClr val="000000"/>
              </a:solidFill>
              <a:latin typeface="Arial"/>
              <a:ea typeface="Arial"/>
              <a:cs typeface="Arial"/>
              <a:sym typeface="Arial"/>
            </a:endParaRPr>
          </a:p>
        </p:txBody>
      </p:sp>
      <p:sp>
        <p:nvSpPr>
          <p:cNvPr id="224" name="Google Shape;224;p5"/>
          <p:cNvSpPr/>
          <p:nvPr/>
        </p:nvSpPr>
        <p:spPr>
          <a:xfrm>
            <a:off x="713232" y="2701137"/>
            <a:ext cx="1088136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5"/>
          <p:cNvSpPr/>
          <p:nvPr/>
        </p:nvSpPr>
        <p:spPr>
          <a:xfrm>
            <a:off x="713232" y="3268065"/>
            <a:ext cx="1088136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5"/>
          <p:cNvSpPr txBox="1"/>
          <p:nvPr/>
        </p:nvSpPr>
        <p:spPr>
          <a:xfrm>
            <a:off x="822960" y="2788920"/>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Ponta a ponta</a:t>
            </a:r>
            <a:endParaRPr b="0" i="0" sz="1400" u="none" cap="none" strike="noStrike">
              <a:solidFill>
                <a:srgbClr val="000000"/>
              </a:solidFill>
              <a:latin typeface="Arial"/>
              <a:ea typeface="Arial"/>
              <a:cs typeface="Arial"/>
              <a:sym typeface="Arial"/>
            </a:endParaRPr>
          </a:p>
        </p:txBody>
      </p:sp>
      <p:sp>
        <p:nvSpPr>
          <p:cNvPr id="227" name="Google Shape;227;p5"/>
          <p:cNvSpPr txBox="1"/>
          <p:nvPr/>
        </p:nvSpPr>
        <p:spPr>
          <a:xfrm>
            <a:off x="3749040" y="2788920"/>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6,0 s</a:t>
            </a:r>
            <a:endParaRPr b="0" i="0" sz="1400" u="none" cap="none" strike="noStrike">
              <a:solidFill>
                <a:srgbClr val="000000"/>
              </a:solidFill>
              <a:latin typeface="Arial"/>
              <a:ea typeface="Arial"/>
              <a:cs typeface="Arial"/>
              <a:sym typeface="Arial"/>
            </a:endParaRPr>
          </a:p>
        </p:txBody>
      </p:sp>
      <p:sp>
        <p:nvSpPr>
          <p:cNvPr id="228" name="Google Shape;228;p5"/>
          <p:cNvSpPr txBox="1"/>
          <p:nvPr/>
        </p:nvSpPr>
        <p:spPr>
          <a:xfrm>
            <a:off x="4937760" y="2788920"/>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10,0 s (p99)</a:t>
            </a:r>
            <a:endParaRPr b="0" i="0" sz="1400" u="none" cap="none" strike="noStrike">
              <a:solidFill>
                <a:srgbClr val="000000"/>
              </a:solidFill>
              <a:latin typeface="Arial"/>
              <a:ea typeface="Arial"/>
              <a:cs typeface="Arial"/>
              <a:sym typeface="Arial"/>
            </a:endParaRPr>
          </a:p>
        </p:txBody>
      </p:sp>
      <p:sp>
        <p:nvSpPr>
          <p:cNvPr id="229" name="Google Shape;229;p5"/>
          <p:cNvSpPr txBox="1"/>
          <p:nvPr/>
        </p:nvSpPr>
        <p:spPr>
          <a:xfrm>
            <a:off x="7680960" y="2788920"/>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Já liquidou</a:t>
            </a:r>
            <a:endParaRPr b="0" i="0" sz="1400" u="none" cap="none" strike="noStrike">
              <a:solidFill>
                <a:srgbClr val="000000"/>
              </a:solidFill>
              <a:latin typeface="Arial"/>
              <a:ea typeface="Arial"/>
              <a:cs typeface="Arial"/>
              <a:sym typeface="Arial"/>
            </a:endParaRPr>
          </a:p>
        </p:txBody>
      </p:sp>
      <p:sp>
        <p:nvSpPr>
          <p:cNvPr id="230" name="Google Shape;230;p5"/>
          <p:cNvSpPr/>
          <p:nvPr/>
        </p:nvSpPr>
        <p:spPr>
          <a:xfrm>
            <a:off x="713232" y="3200400"/>
            <a:ext cx="10881360" cy="713232"/>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p5"/>
          <p:cNvSpPr txBox="1"/>
          <p:nvPr/>
        </p:nvSpPr>
        <p:spPr>
          <a:xfrm>
            <a:off x="822960" y="3355848"/>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Suspeita</a:t>
            </a:r>
            <a:endParaRPr b="0" i="0" sz="1400" u="none" cap="none" strike="noStrike">
              <a:solidFill>
                <a:srgbClr val="000000"/>
              </a:solidFill>
              <a:latin typeface="Arial"/>
              <a:ea typeface="Arial"/>
              <a:cs typeface="Arial"/>
              <a:sym typeface="Arial"/>
            </a:endParaRPr>
          </a:p>
        </p:txBody>
      </p:sp>
      <p:sp>
        <p:nvSpPr>
          <p:cNvPr id="232" name="Google Shape;232;p5"/>
          <p:cNvSpPr txBox="1"/>
          <p:nvPr/>
        </p:nvSpPr>
        <p:spPr>
          <a:xfrm>
            <a:off x="3749040" y="3355848"/>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233" name="Google Shape;233;p5"/>
          <p:cNvSpPr txBox="1"/>
          <p:nvPr/>
        </p:nvSpPr>
        <p:spPr>
          <a:xfrm>
            <a:off x="4937760" y="3355848"/>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234" name="Google Shape;234;p5"/>
          <p:cNvSpPr txBox="1"/>
          <p:nvPr/>
        </p:nvSpPr>
        <p:spPr>
          <a:xfrm>
            <a:off x="7680960" y="3355848"/>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30 a 60 min</a:t>
            </a:r>
            <a:endParaRPr b="0" i="0" sz="1400" u="none" cap="none" strike="noStrike">
              <a:solidFill>
                <a:srgbClr val="000000"/>
              </a:solidFill>
              <a:latin typeface="Arial"/>
              <a:ea typeface="Arial"/>
              <a:cs typeface="Arial"/>
              <a:sym typeface="Arial"/>
            </a:endParaRPr>
          </a:p>
        </p:txBody>
      </p:sp>
      <p:sp>
        <p:nvSpPr>
          <p:cNvPr id="235" name="Google Shape;235;p5"/>
          <p:cNvSpPr/>
          <p:nvPr/>
        </p:nvSpPr>
        <p:spPr>
          <a:xfrm>
            <a:off x="363382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5"/>
          <p:cNvSpPr/>
          <p:nvPr/>
        </p:nvSpPr>
        <p:spPr>
          <a:xfrm>
            <a:off x="482254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5"/>
          <p:cNvSpPr/>
          <p:nvPr/>
        </p:nvSpPr>
        <p:spPr>
          <a:xfrm>
            <a:off x="756574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5"/>
          <p:cNvSpPr/>
          <p:nvPr/>
        </p:nvSpPr>
        <p:spPr>
          <a:xfrm>
            <a:off x="4864608" y="2688336"/>
            <a:ext cx="2670048" cy="603504"/>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5"/>
          <p:cNvSpPr/>
          <p:nvPr/>
        </p:nvSpPr>
        <p:spPr>
          <a:xfrm>
            <a:off x="5952744" y="3913632"/>
            <a:ext cx="493776" cy="292608"/>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5"/>
          <p:cNvSpPr/>
          <p:nvPr/>
        </p:nvSpPr>
        <p:spPr>
          <a:xfrm>
            <a:off x="1463040" y="4187952"/>
            <a:ext cx="9262872" cy="1700784"/>
          </a:xfrm>
          <a:prstGeom prst="roundRect">
            <a:avLst>
              <a:gd fmla="val 16667" name="adj"/>
            </a:avLst>
          </a:prstGeom>
          <a:solidFill>
            <a:srgbClr val="0C2B27"/>
          </a:solidFill>
          <a:ln>
            <a:noFill/>
          </a:ln>
        </p:spPr>
        <p:txBody>
          <a:bodyPr anchorCtr="0" anchor="ctr" bIns="45700" lIns="310875" spcFirstLastPara="1" rIns="310875" wrap="square" tIns="45700">
            <a:noAutofit/>
          </a:bodyPr>
          <a:lstStyle/>
          <a:p>
            <a:pPr indent="0" lvl="0" marL="0" marR="0" rtl="0" algn="ctr">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Inter"/>
                <a:ea typeface="Inter"/>
                <a:cs typeface="Inter"/>
                <a:sym typeface="Inter"/>
              </a:rPr>
              <a:t>Em 10 s a transferência já liquidou. Depois disso não há o que desviar.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sbseg2026_rodape.png" id="245" name="Google Shape;245;p6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46" name="Google Shape;246;p6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09</a:t>
            </a:r>
            <a:endParaRPr b="0" i="0" sz="1400" u="none" cap="none" strike="noStrike">
              <a:solidFill>
                <a:srgbClr val="000000"/>
              </a:solidFill>
              <a:latin typeface="Arial"/>
              <a:ea typeface="Arial"/>
              <a:cs typeface="Arial"/>
              <a:sym typeface="Arial"/>
            </a:endParaRPr>
          </a:p>
        </p:txBody>
      </p:sp>
      <p:sp>
        <p:nvSpPr>
          <p:cNvPr id="247" name="Google Shape;247;p6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 PRAZO DO DETECTOR</a:t>
            </a:r>
            <a:endParaRPr b="0" i="0" sz="1400" u="none" cap="none" strike="noStrike">
              <a:solidFill>
                <a:srgbClr val="000000"/>
              </a:solidFill>
              <a:latin typeface="Arial"/>
              <a:ea typeface="Arial"/>
              <a:cs typeface="Arial"/>
              <a:sym typeface="Arial"/>
            </a:endParaRPr>
          </a:p>
        </p:txBody>
      </p:sp>
      <p:sp>
        <p:nvSpPr>
          <p:cNvPr id="248" name="Google Shape;248;p65"/>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Os tempos publicados do Pix</a:t>
            </a:r>
            <a:endParaRPr b="0" i="0" sz="1400" u="none" cap="none" strike="noStrike">
              <a:solidFill>
                <a:srgbClr val="000000"/>
              </a:solidFill>
              <a:latin typeface="Arial"/>
              <a:ea typeface="Arial"/>
              <a:cs typeface="Arial"/>
              <a:sym typeface="Arial"/>
            </a:endParaRPr>
          </a:p>
        </p:txBody>
      </p:sp>
      <p:sp>
        <p:nvSpPr>
          <p:cNvPr id="249" name="Google Shape;249;p65"/>
          <p:cNvSpPr/>
          <p:nvPr/>
        </p:nvSpPr>
        <p:spPr>
          <a:xfrm>
            <a:off x="713232" y="1463039"/>
            <a:ext cx="10881360" cy="713232"/>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p65"/>
          <p:cNvSpPr txBox="1"/>
          <p:nvPr/>
        </p:nvSpPr>
        <p:spPr>
          <a:xfrm>
            <a:off x="822960" y="1627632"/>
            <a:ext cx="270662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Intervalo</a:t>
            </a:r>
            <a:endParaRPr b="0" i="0" sz="1400" u="none" cap="none" strike="noStrike">
              <a:solidFill>
                <a:srgbClr val="000000"/>
              </a:solidFill>
              <a:latin typeface="Arial"/>
              <a:ea typeface="Arial"/>
              <a:cs typeface="Arial"/>
              <a:sym typeface="Arial"/>
            </a:endParaRPr>
          </a:p>
        </p:txBody>
      </p:sp>
      <p:sp>
        <p:nvSpPr>
          <p:cNvPr id="251" name="Google Shape;251;p65"/>
          <p:cNvSpPr txBox="1"/>
          <p:nvPr/>
        </p:nvSpPr>
        <p:spPr>
          <a:xfrm>
            <a:off x="3749040" y="1627632"/>
            <a:ext cx="969264"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p50</a:t>
            </a:r>
            <a:endParaRPr b="0" i="0" sz="1400" u="none" cap="none" strike="noStrike">
              <a:solidFill>
                <a:srgbClr val="000000"/>
              </a:solidFill>
              <a:latin typeface="Arial"/>
              <a:ea typeface="Arial"/>
              <a:cs typeface="Arial"/>
              <a:sym typeface="Arial"/>
            </a:endParaRPr>
          </a:p>
        </p:txBody>
      </p:sp>
      <p:sp>
        <p:nvSpPr>
          <p:cNvPr id="252" name="Google Shape;252;p65"/>
          <p:cNvSpPr txBox="1"/>
          <p:nvPr/>
        </p:nvSpPr>
        <p:spPr>
          <a:xfrm>
            <a:off x="4937760" y="1627632"/>
            <a:ext cx="2523744"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p95 / p99</a:t>
            </a:r>
            <a:endParaRPr b="0" i="0" sz="1400" u="none" cap="none" strike="noStrike">
              <a:solidFill>
                <a:srgbClr val="000000"/>
              </a:solidFill>
              <a:latin typeface="Arial"/>
              <a:ea typeface="Arial"/>
              <a:cs typeface="Arial"/>
              <a:sym typeface="Arial"/>
            </a:endParaRPr>
          </a:p>
        </p:txBody>
      </p:sp>
      <p:sp>
        <p:nvSpPr>
          <p:cNvPr id="253" name="Google Shape;253;p65"/>
          <p:cNvSpPr txBox="1"/>
          <p:nvPr/>
        </p:nvSpPr>
        <p:spPr>
          <a:xfrm>
            <a:off x="7680960" y="1627632"/>
            <a:ext cx="380390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O que ele limita</a:t>
            </a:r>
            <a:endParaRPr b="0" i="0" sz="1400" u="none" cap="none" strike="noStrike">
              <a:solidFill>
                <a:srgbClr val="000000"/>
              </a:solidFill>
              <a:latin typeface="Arial"/>
              <a:ea typeface="Arial"/>
              <a:cs typeface="Arial"/>
              <a:sym typeface="Arial"/>
            </a:endParaRPr>
          </a:p>
        </p:txBody>
      </p:sp>
      <p:sp>
        <p:nvSpPr>
          <p:cNvPr id="254" name="Google Shape;254;p65"/>
          <p:cNvSpPr/>
          <p:nvPr/>
        </p:nvSpPr>
        <p:spPr>
          <a:xfrm>
            <a:off x="713232" y="2066543"/>
            <a:ext cx="10881360" cy="1110081"/>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65"/>
          <p:cNvSpPr txBox="1"/>
          <p:nvPr/>
        </p:nvSpPr>
        <p:spPr>
          <a:xfrm>
            <a:off x="822960" y="2221991"/>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Pagadora</a:t>
            </a:r>
            <a:endParaRPr b="0" i="0" sz="1400" u="none" cap="none" strike="noStrike">
              <a:solidFill>
                <a:srgbClr val="000000"/>
              </a:solidFill>
              <a:latin typeface="Arial"/>
              <a:ea typeface="Arial"/>
              <a:cs typeface="Arial"/>
              <a:sym typeface="Arial"/>
            </a:endParaRPr>
          </a:p>
        </p:txBody>
      </p:sp>
      <p:sp>
        <p:nvSpPr>
          <p:cNvPr id="256" name="Google Shape;256;p65"/>
          <p:cNvSpPr txBox="1"/>
          <p:nvPr/>
        </p:nvSpPr>
        <p:spPr>
          <a:xfrm>
            <a:off x="3749040" y="2221991"/>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0,9 s</a:t>
            </a:r>
            <a:endParaRPr b="0" i="0" sz="1400" u="none" cap="none" strike="noStrike">
              <a:solidFill>
                <a:srgbClr val="000000"/>
              </a:solidFill>
              <a:latin typeface="Arial"/>
              <a:ea typeface="Arial"/>
              <a:cs typeface="Arial"/>
              <a:sym typeface="Arial"/>
            </a:endParaRPr>
          </a:p>
        </p:txBody>
      </p:sp>
      <p:sp>
        <p:nvSpPr>
          <p:cNvPr id="257" name="Google Shape;257;p65"/>
          <p:cNvSpPr txBox="1"/>
          <p:nvPr/>
        </p:nvSpPr>
        <p:spPr>
          <a:xfrm>
            <a:off x="4937760" y="2221991"/>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1,5 s (p95)</a:t>
            </a:r>
            <a:endParaRPr b="0" i="0" sz="1400" u="none" cap="none" strike="noStrike">
              <a:solidFill>
                <a:srgbClr val="000000"/>
              </a:solidFill>
              <a:latin typeface="Arial"/>
              <a:ea typeface="Arial"/>
              <a:cs typeface="Arial"/>
              <a:sym typeface="Arial"/>
            </a:endParaRPr>
          </a:p>
        </p:txBody>
      </p:sp>
      <p:sp>
        <p:nvSpPr>
          <p:cNvPr id="258" name="Google Shape;258;p65"/>
          <p:cNvSpPr txBox="1"/>
          <p:nvPr/>
        </p:nvSpPr>
        <p:spPr>
          <a:xfrm>
            <a:off x="7680960" y="2221991"/>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Autorizar ou desviar</a:t>
            </a:r>
            <a:endParaRPr b="0" i="0" sz="1400" u="none" cap="none" strike="noStrike">
              <a:solidFill>
                <a:srgbClr val="000000"/>
              </a:solidFill>
              <a:latin typeface="Arial"/>
              <a:ea typeface="Arial"/>
              <a:cs typeface="Arial"/>
              <a:sym typeface="Arial"/>
            </a:endParaRPr>
          </a:p>
        </p:txBody>
      </p:sp>
      <p:sp>
        <p:nvSpPr>
          <p:cNvPr id="259" name="Google Shape;259;p65"/>
          <p:cNvSpPr/>
          <p:nvPr/>
        </p:nvSpPr>
        <p:spPr>
          <a:xfrm>
            <a:off x="713232" y="2701137"/>
            <a:ext cx="1088136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65"/>
          <p:cNvSpPr/>
          <p:nvPr/>
        </p:nvSpPr>
        <p:spPr>
          <a:xfrm>
            <a:off x="713232" y="3268065"/>
            <a:ext cx="1088136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65"/>
          <p:cNvSpPr txBox="1"/>
          <p:nvPr/>
        </p:nvSpPr>
        <p:spPr>
          <a:xfrm>
            <a:off x="822960" y="2788920"/>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Ponta a ponta</a:t>
            </a:r>
            <a:endParaRPr b="0" i="0" sz="1400" u="none" cap="none" strike="noStrike">
              <a:solidFill>
                <a:srgbClr val="000000"/>
              </a:solidFill>
              <a:latin typeface="Arial"/>
              <a:ea typeface="Arial"/>
              <a:cs typeface="Arial"/>
              <a:sym typeface="Arial"/>
            </a:endParaRPr>
          </a:p>
        </p:txBody>
      </p:sp>
      <p:sp>
        <p:nvSpPr>
          <p:cNvPr id="262" name="Google Shape;262;p65"/>
          <p:cNvSpPr txBox="1"/>
          <p:nvPr/>
        </p:nvSpPr>
        <p:spPr>
          <a:xfrm>
            <a:off x="3749040" y="2788920"/>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6,0 s</a:t>
            </a:r>
            <a:endParaRPr b="0" i="0" sz="1400" u="none" cap="none" strike="noStrike">
              <a:solidFill>
                <a:srgbClr val="000000"/>
              </a:solidFill>
              <a:latin typeface="Arial"/>
              <a:ea typeface="Arial"/>
              <a:cs typeface="Arial"/>
              <a:sym typeface="Arial"/>
            </a:endParaRPr>
          </a:p>
        </p:txBody>
      </p:sp>
      <p:sp>
        <p:nvSpPr>
          <p:cNvPr id="263" name="Google Shape;263;p65"/>
          <p:cNvSpPr txBox="1"/>
          <p:nvPr/>
        </p:nvSpPr>
        <p:spPr>
          <a:xfrm>
            <a:off x="4937760" y="2788920"/>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10,0 s (p99)</a:t>
            </a:r>
            <a:endParaRPr b="0" i="0" sz="1400" u="none" cap="none" strike="noStrike">
              <a:solidFill>
                <a:srgbClr val="000000"/>
              </a:solidFill>
              <a:latin typeface="Arial"/>
              <a:ea typeface="Arial"/>
              <a:cs typeface="Arial"/>
              <a:sym typeface="Arial"/>
            </a:endParaRPr>
          </a:p>
        </p:txBody>
      </p:sp>
      <p:sp>
        <p:nvSpPr>
          <p:cNvPr id="264" name="Google Shape;264;p65"/>
          <p:cNvSpPr txBox="1"/>
          <p:nvPr/>
        </p:nvSpPr>
        <p:spPr>
          <a:xfrm>
            <a:off x="7680960" y="2788920"/>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Já liquidou</a:t>
            </a:r>
            <a:endParaRPr b="0" i="0" sz="1400" u="none" cap="none" strike="noStrike">
              <a:solidFill>
                <a:srgbClr val="000000"/>
              </a:solidFill>
              <a:latin typeface="Arial"/>
              <a:ea typeface="Arial"/>
              <a:cs typeface="Arial"/>
              <a:sym typeface="Arial"/>
            </a:endParaRPr>
          </a:p>
        </p:txBody>
      </p:sp>
      <p:sp>
        <p:nvSpPr>
          <p:cNvPr id="265" name="Google Shape;265;p65"/>
          <p:cNvSpPr/>
          <p:nvPr/>
        </p:nvSpPr>
        <p:spPr>
          <a:xfrm>
            <a:off x="713232" y="3200400"/>
            <a:ext cx="10881360" cy="713232"/>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65"/>
          <p:cNvSpPr txBox="1"/>
          <p:nvPr/>
        </p:nvSpPr>
        <p:spPr>
          <a:xfrm>
            <a:off x="822960" y="3355848"/>
            <a:ext cx="270662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Suspeita</a:t>
            </a:r>
            <a:endParaRPr b="0" i="0" sz="1400" u="none" cap="none" strike="noStrike">
              <a:solidFill>
                <a:srgbClr val="000000"/>
              </a:solidFill>
              <a:latin typeface="Arial"/>
              <a:ea typeface="Arial"/>
              <a:cs typeface="Arial"/>
              <a:sym typeface="Arial"/>
            </a:endParaRPr>
          </a:p>
        </p:txBody>
      </p:sp>
      <p:sp>
        <p:nvSpPr>
          <p:cNvPr id="267" name="Google Shape;267;p65"/>
          <p:cNvSpPr txBox="1"/>
          <p:nvPr/>
        </p:nvSpPr>
        <p:spPr>
          <a:xfrm>
            <a:off x="3749040" y="3355848"/>
            <a:ext cx="96926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268" name="Google Shape;268;p65"/>
          <p:cNvSpPr txBox="1"/>
          <p:nvPr/>
        </p:nvSpPr>
        <p:spPr>
          <a:xfrm>
            <a:off x="4937760" y="3355848"/>
            <a:ext cx="2523744"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269" name="Google Shape;269;p65"/>
          <p:cNvSpPr txBox="1"/>
          <p:nvPr/>
        </p:nvSpPr>
        <p:spPr>
          <a:xfrm>
            <a:off x="7680960" y="3355848"/>
            <a:ext cx="3803904"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30 a 60 min</a:t>
            </a:r>
            <a:endParaRPr b="0" i="0" sz="1400" u="none" cap="none" strike="noStrike">
              <a:solidFill>
                <a:srgbClr val="000000"/>
              </a:solidFill>
              <a:latin typeface="Arial"/>
              <a:ea typeface="Arial"/>
              <a:cs typeface="Arial"/>
              <a:sym typeface="Arial"/>
            </a:endParaRPr>
          </a:p>
        </p:txBody>
      </p:sp>
      <p:sp>
        <p:nvSpPr>
          <p:cNvPr id="270" name="Google Shape;270;p65"/>
          <p:cNvSpPr/>
          <p:nvPr/>
        </p:nvSpPr>
        <p:spPr>
          <a:xfrm>
            <a:off x="363382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p65"/>
          <p:cNvSpPr/>
          <p:nvPr/>
        </p:nvSpPr>
        <p:spPr>
          <a:xfrm>
            <a:off x="482254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p65"/>
          <p:cNvSpPr/>
          <p:nvPr/>
        </p:nvSpPr>
        <p:spPr>
          <a:xfrm>
            <a:off x="7565745" y="2139696"/>
            <a:ext cx="10972" cy="1773936"/>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65"/>
          <p:cNvSpPr/>
          <p:nvPr/>
        </p:nvSpPr>
        <p:spPr>
          <a:xfrm>
            <a:off x="7607808" y="3255264"/>
            <a:ext cx="3950208" cy="603504"/>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65"/>
          <p:cNvSpPr/>
          <p:nvPr/>
        </p:nvSpPr>
        <p:spPr>
          <a:xfrm>
            <a:off x="9336024" y="3913632"/>
            <a:ext cx="493776" cy="292608"/>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65"/>
          <p:cNvSpPr/>
          <p:nvPr/>
        </p:nvSpPr>
        <p:spPr>
          <a:xfrm>
            <a:off x="1463040" y="4187952"/>
            <a:ext cx="9262872" cy="1700784"/>
          </a:xfrm>
          <a:prstGeom prst="roundRect">
            <a:avLst>
              <a:gd fmla="val 16667" name="adj"/>
            </a:avLst>
          </a:prstGeom>
          <a:solidFill>
            <a:srgbClr val="0C2B27"/>
          </a:solidFill>
          <a:ln>
            <a:noFill/>
          </a:ln>
        </p:spPr>
        <p:txBody>
          <a:bodyPr anchorCtr="0" anchor="ctr" bIns="45700" lIns="310875" spcFirstLastPara="1" rIns="310875" wrap="square" tIns="45700">
            <a:noAutofit/>
          </a:bodyPr>
          <a:lstStyle/>
          <a:p>
            <a:pPr indent="0" lvl="0" marL="0" marR="0" rtl="0" algn="ctr">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Inter"/>
                <a:ea typeface="Inter"/>
                <a:cs typeface="Inter"/>
                <a:sym typeface="Inter"/>
              </a:rPr>
              <a:t>Desviada dentro do 1,5 s, a transferência ganha de 30 a 60 min de investigação.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descr="img02_faixa.jpg" id="281" name="Google Shape;281;p10"/>
          <p:cNvPicPr preferRelativeResize="0"/>
          <p:nvPr/>
        </p:nvPicPr>
        <p:blipFill rotWithShape="1">
          <a:blip r:embed="rId3">
            <a:alphaModFix/>
          </a:blip>
          <a:srcRect b="0" l="0" r="0" t="0"/>
          <a:stretch/>
        </p:blipFill>
        <p:spPr>
          <a:xfrm>
            <a:off x="-631311" y="993625"/>
            <a:ext cx="8799723" cy="4949976"/>
          </a:xfrm>
          <a:prstGeom prst="rect">
            <a:avLst/>
          </a:prstGeom>
          <a:noFill/>
          <a:ln>
            <a:noFill/>
          </a:ln>
        </p:spPr>
      </p:pic>
      <p:pic>
        <p:nvPicPr>
          <p:cNvPr descr="sbseg2026_rodape.png" id="282" name="Google Shape;282;p10"/>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283" name="Google Shape;283;p1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10</a:t>
            </a:r>
            <a:endParaRPr b="0" i="0" sz="1400" u="none" cap="none" strike="noStrike">
              <a:solidFill>
                <a:srgbClr val="000000"/>
              </a:solidFill>
              <a:latin typeface="Arial"/>
              <a:ea typeface="Arial"/>
              <a:cs typeface="Arial"/>
              <a:sym typeface="Arial"/>
            </a:endParaRPr>
          </a:p>
        </p:txBody>
      </p:sp>
      <p:sp>
        <p:nvSpPr>
          <p:cNvPr id="284" name="Google Shape;284;p1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A LACUNA</a:t>
            </a:r>
            <a:endParaRPr b="0" i="0" sz="1400" u="none" cap="none" strike="noStrike">
              <a:solidFill>
                <a:srgbClr val="000000"/>
              </a:solidFill>
              <a:latin typeface="Arial"/>
              <a:ea typeface="Arial"/>
              <a:cs typeface="Arial"/>
              <a:sym typeface="Arial"/>
            </a:endParaRPr>
          </a:p>
        </p:txBody>
      </p:sp>
      <p:sp>
        <p:nvSpPr>
          <p:cNvPr id="285" name="Google Shape;285;p10"/>
          <p:cNvSpPr/>
          <p:nvPr/>
        </p:nvSpPr>
        <p:spPr>
          <a:xfrm>
            <a:off x="822960" y="1755648"/>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10"/>
          <p:cNvSpPr txBox="1"/>
          <p:nvPr/>
        </p:nvSpPr>
        <p:spPr>
          <a:xfrm>
            <a:off x="1188720" y="1572768"/>
            <a:ext cx="10241280"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4000"/>
              <a:buFont typeface="Arial"/>
              <a:buNone/>
            </a:pPr>
            <a:r>
              <a:rPr b="1" i="0" lang="en-US" sz="4000" u="none" cap="none" strike="noStrike">
                <a:solidFill>
                  <a:srgbClr val="0C2B27"/>
                </a:solidFill>
                <a:latin typeface="Inter"/>
                <a:ea typeface="Inter"/>
                <a:cs typeface="Inter"/>
                <a:sym typeface="Inter"/>
              </a:rPr>
              <a:t>Precisão e recall: em lote, depois do fato</a:t>
            </a:r>
            <a:endParaRPr b="0" i="0" sz="1400" u="none" cap="none" strike="noStrike">
              <a:solidFill>
                <a:srgbClr val="000000"/>
              </a:solidFill>
              <a:latin typeface="Arial"/>
              <a:ea typeface="Arial"/>
              <a:cs typeface="Arial"/>
              <a:sym typeface="Arial"/>
            </a:endParaRPr>
          </a:p>
        </p:txBody>
      </p:sp>
      <p:sp>
        <p:nvSpPr>
          <p:cNvPr id="287" name="Google Shape;287;p10"/>
          <p:cNvSpPr/>
          <p:nvPr/>
        </p:nvSpPr>
        <p:spPr>
          <a:xfrm>
            <a:off x="822960" y="2798064"/>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0"/>
          <p:cNvSpPr txBox="1"/>
          <p:nvPr/>
        </p:nvSpPr>
        <p:spPr>
          <a:xfrm>
            <a:off x="1188720" y="2615184"/>
            <a:ext cx="10241280"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4000"/>
              <a:buFont typeface="Arial"/>
              <a:buNone/>
            </a:pPr>
            <a:r>
              <a:rPr b="1" i="0" lang="en-US" sz="4000" u="none" cap="none" strike="noStrike">
                <a:solidFill>
                  <a:srgbClr val="0C2B27"/>
                </a:solidFill>
                <a:latin typeface="Inter"/>
                <a:ea typeface="Inter"/>
                <a:cs typeface="Inter"/>
                <a:sym typeface="Inter"/>
              </a:rPr>
              <a:t>Nenhum artefato aberto pontua contra a janela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descr="sbseg2026_rodape.png" id="293" name="Google Shape;293;p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94" name="Google Shape;294;p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11</a:t>
            </a:r>
            <a:endParaRPr b="0" i="0" sz="1400" u="none" cap="none" strike="noStrike">
              <a:solidFill>
                <a:srgbClr val="000000"/>
              </a:solidFill>
              <a:latin typeface="Arial"/>
              <a:ea typeface="Arial"/>
              <a:cs typeface="Arial"/>
              <a:sym typeface="Arial"/>
            </a:endParaRPr>
          </a:p>
        </p:txBody>
      </p:sp>
      <p:sp>
        <p:nvSpPr>
          <p:cNvPr id="295" name="Google Shape;295;p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TRABALHOS RELACIONADOS</a:t>
            </a:r>
            <a:endParaRPr b="0" i="0" sz="1400" u="none" cap="none" strike="noStrike">
              <a:solidFill>
                <a:srgbClr val="000000"/>
              </a:solidFill>
              <a:latin typeface="Arial"/>
              <a:ea typeface="Arial"/>
              <a:cs typeface="Arial"/>
              <a:sym typeface="Arial"/>
            </a:endParaRPr>
          </a:p>
        </p:txBody>
      </p:sp>
      <p:sp>
        <p:nvSpPr>
          <p:cNvPr id="296" name="Google Shape;296;p9"/>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geradores, e o que cada um mede</a:t>
            </a:r>
            <a:endParaRPr b="0" i="0" sz="1400" u="none" cap="none" strike="noStrike">
              <a:solidFill>
                <a:srgbClr val="000000"/>
              </a:solidFill>
              <a:latin typeface="Arial"/>
              <a:ea typeface="Arial"/>
              <a:cs typeface="Arial"/>
              <a:sym typeface="Arial"/>
            </a:endParaRPr>
          </a:p>
        </p:txBody>
      </p:sp>
      <p:sp>
        <p:nvSpPr>
          <p:cNvPr id="297" name="Google Shape;297;p9"/>
          <p:cNvSpPr/>
          <p:nvPr/>
        </p:nvSpPr>
        <p:spPr>
          <a:xfrm>
            <a:off x="365760" y="1444751"/>
            <a:ext cx="11457432" cy="768096"/>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8" name="Google Shape;298;p9"/>
          <p:cNvSpPr txBox="1"/>
          <p:nvPr/>
        </p:nvSpPr>
        <p:spPr>
          <a:xfrm>
            <a:off x="475488" y="1609344"/>
            <a:ext cx="3026663"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Trabalho</a:t>
            </a:r>
            <a:endParaRPr b="0" i="0" sz="1400" u="none" cap="none" strike="noStrike">
              <a:solidFill>
                <a:srgbClr val="000000"/>
              </a:solidFill>
              <a:latin typeface="Arial"/>
              <a:ea typeface="Arial"/>
              <a:cs typeface="Arial"/>
              <a:sym typeface="Arial"/>
            </a:endParaRPr>
          </a:p>
        </p:txBody>
      </p:sp>
      <p:sp>
        <p:nvSpPr>
          <p:cNvPr id="299" name="Google Shape;299;p9"/>
          <p:cNvSpPr txBox="1"/>
          <p:nvPr/>
        </p:nvSpPr>
        <p:spPr>
          <a:xfrm>
            <a:off x="3721607" y="1609344"/>
            <a:ext cx="1975104"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Domínio</a:t>
            </a:r>
            <a:endParaRPr b="0" i="0" sz="1400" u="none" cap="none" strike="noStrike">
              <a:solidFill>
                <a:srgbClr val="000000"/>
              </a:solidFill>
              <a:latin typeface="Arial"/>
              <a:ea typeface="Arial"/>
              <a:cs typeface="Arial"/>
              <a:sym typeface="Arial"/>
            </a:endParaRPr>
          </a:p>
        </p:txBody>
      </p:sp>
      <p:sp>
        <p:nvSpPr>
          <p:cNvPr id="300" name="Google Shape;300;p9"/>
          <p:cNvSpPr txBox="1"/>
          <p:nvPr/>
        </p:nvSpPr>
        <p:spPr>
          <a:xfrm>
            <a:off x="5916168" y="1609344"/>
            <a:ext cx="1655063" cy="5120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Cadeia</a:t>
            </a:r>
            <a:endParaRPr b="0" i="0" sz="1400" u="none" cap="none" strike="noStrike">
              <a:solidFill>
                <a:srgbClr val="000000"/>
              </a:solidFill>
              <a:latin typeface="Arial"/>
              <a:ea typeface="Arial"/>
              <a:cs typeface="Arial"/>
              <a:sym typeface="Arial"/>
            </a:endParaRPr>
          </a:p>
        </p:txBody>
      </p:sp>
      <p:sp>
        <p:nvSpPr>
          <p:cNvPr id="301" name="Google Shape;301;p9"/>
          <p:cNvSpPr txBox="1"/>
          <p:nvPr/>
        </p:nvSpPr>
        <p:spPr>
          <a:xfrm>
            <a:off x="7790687" y="1609344"/>
            <a:ext cx="2459736"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Tempo</a:t>
            </a:r>
            <a:endParaRPr b="0" i="0" sz="1400" u="none" cap="none" strike="noStrike">
              <a:solidFill>
                <a:srgbClr val="000000"/>
              </a:solidFill>
              <a:latin typeface="Arial"/>
              <a:ea typeface="Arial"/>
              <a:cs typeface="Arial"/>
              <a:sym typeface="Arial"/>
            </a:endParaRPr>
          </a:p>
        </p:txBody>
      </p:sp>
      <p:sp>
        <p:nvSpPr>
          <p:cNvPr id="302" name="Google Shape;302;p9"/>
          <p:cNvSpPr txBox="1"/>
          <p:nvPr/>
        </p:nvSpPr>
        <p:spPr>
          <a:xfrm>
            <a:off x="10469879" y="1609344"/>
            <a:ext cx="1243584" cy="5120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Prazo</a:t>
            </a:r>
            <a:endParaRPr b="0" i="0" sz="1400" u="none" cap="none" strike="noStrike">
              <a:solidFill>
                <a:srgbClr val="000000"/>
              </a:solidFill>
              <a:latin typeface="Arial"/>
              <a:ea typeface="Arial"/>
              <a:cs typeface="Arial"/>
              <a:sym typeface="Arial"/>
            </a:endParaRPr>
          </a:p>
        </p:txBody>
      </p:sp>
      <p:sp>
        <p:nvSpPr>
          <p:cNvPr id="303" name="Google Shape;303;p9"/>
          <p:cNvSpPr txBox="1"/>
          <p:nvPr/>
        </p:nvSpPr>
        <p:spPr>
          <a:xfrm>
            <a:off x="475488" y="228600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PaySim</a:t>
            </a:r>
            <a:endParaRPr b="0" i="0" sz="1400" u="none" cap="none" strike="noStrike">
              <a:solidFill>
                <a:srgbClr val="000000"/>
              </a:solidFill>
              <a:latin typeface="Arial"/>
              <a:ea typeface="Arial"/>
              <a:cs typeface="Arial"/>
              <a:sym typeface="Arial"/>
            </a:endParaRPr>
          </a:p>
        </p:txBody>
      </p:sp>
      <p:sp>
        <p:nvSpPr>
          <p:cNvPr id="304" name="Google Shape;304;p9"/>
          <p:cNvSpPr txBox="1"/>
          <p:nvPr/>
        </p:nvSpPr>
        <p:spPr>
          <a:xfrm>
            <a:off x="3721607" y="228600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Din. móvel</a:t>
            </a:r>
            <a:endParaRPr b="0" i="0" sz="1400" u="none" cap="none" strike="noStrike">
              <a:solidFill>
                <a:srgbClr val="000000"/>
              </a:solidFill>
              <a:latin typeface="Arial"/>
              <a:ea typeface="Arial"/>
              <a:cs typeface="Arial"/>
              <a:sym typeface="Arial"/>
            </a:endParaRPr>
          </a:p>
        </p:txBody>
      </p:sp>
      <p:sp>
        <p:nvSpPr>
          <p:cNvPr id="305" name="Google Shape;305;p9"/>
          <p:cNvSpPr txBox="1"/>
          <p:nvPr/>
        </p:nvSpPr>
        <p:spPr>
          <a:xfrm>
            <a:off x="5916168" y="228600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306" name="Google Shape;306;p9"/>
          <p:cNvSpPr txBox="1"/>
          <p:nvPr/>
        </p:nvSpPr>
        <p:spPr>
          <a:xfrm>
            <a:off x="7790687" y="228600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 h por passo</a:t>
            </a:r>
            <a:endParaRPr b="0" i="0" sz="1400" u="none" cap="none" strike="noStrike">
              <a:solidFill>
                <a:srgbClr val="000000"/>
              </a:solidFill>
              <a:latin typeface="Arial"/>
              <a:ea typeface="Arial"/>
              <a:cs typeface="Arial"/>
              <a:sym typeface="Arial"/>
            </a:endParaRPr>
          </a:p>
        </p:txBody>
      </p:sp>
      <p:sp>
        <p:nvSpPr>
          <p:cNvPr id="307" name="Google Shape;307;p9"/>
          <p:cNvSpPr txBox="1"/>
          <p:nvPr/>
        </p:nvSpPr>
        <p:spPr>
          <a:xfrm>
            <a:off x="10469879" y="228600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08" name="Google Shape;308;p9"/>
          <p:cNvSpPr/>
          <p:nvPr/>
        </p:nvSpPr>
        <p:spPr>
          <a:xfrm>
            <a:off x="365760" y="2944368"/>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9"/>
          <p:cNvSpPr txBox="1"/>
          <p:nvPr/>
        </p:nvSpPr>
        <p:spPr>
          <a:xfrm>
            <a:off x="475488" y="301752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pix-fraud-br</a:t>
            </a:r>
            <a:endParaRPr b="0" i="0" sz="1400" u="none" cap="none" strike="noStrike">
              <a:solidFill>
                <a:srgbClr val="000000"/>
              </a:solidFill>
              <a:latin typeface="Arial"/>
              <a:ea typeface="Arial"/>
              <a:cs typeface="Arial"/>
              <a:sym typeface="Arial"/>
            </a:endParaRPr>
          </a:p>
        </p:txBody>
      </p:sp>
      <p:sp>
        <p:nvSpPr>
          <p:cNvPr id="310" name="Google Shape;310;p9"/>
          <p:cNvSpPr txBox="1"/>
          <p:nvPr/>
        </p:nvSpPr>
        <p:spPr>
          <a:xfrm>
            <a:off x="3721607" y="301752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Pix</a:t>
            </a:r>
            <a:endParaRPr b="0" i="0" sz="1400" u="none" cap="none" strike="noStrike">
              <a:solidFill>
                <a:srgbClr val="000000"/>
              </a:solidFill>
              <a:latin typeface="Arial"/>
              <a:ea typeface="Arial"/>
              <a:cs typeface="Arial"/>
              <a:sym typeface="Arial"/>
            </a:endParaRPr>
          </a:p>
        </p:txBody>
      </p:sp>
      <p:sp>
        <p:nvSpPr>
          <p:cNvPr id="311" name="Google Shape;311;p9"/>
          <p:cNvSpPr txBox="1"/>
          <p:nvPr/>
        </p:nvSpPr>
        <p:spPr>
          <a:xfrm>
            <a:off x="5916168" y="301752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 salto</a:t>
            </a:r>
            <a:endParaRPr b="0" i="0" sz="1400" u="none" cap="none" strike="noStrike">
              <a:solidFill>
                <a:srgbClr val="000000"/>
              </a:solidFill>
              <a:latin typeface="Arial"/>
              <a:ea typeface="Arial"/>
              <a:cs typeface="Arial"/>
              <a:sym typeface="Arial"/>
            </a:endParaRPr>
          </a:p>
        </p:txBody>
      </p:sp>
      <p:sp>
        <p:nvSpPr>
          <p:cNvPr id="312" name="Google Shape;312;p9"/>
          <p:cNvSpPr txBox="1"/>
          <p:nvPr/>
        </p:nvSpPr>
        <p:spPr>
          <a:xfrm>
            <a:off x="7790687" y="301752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Carimbo</a:t>
            </a:r>
            <a:endParaRPr b="0" i="0" sz="1400" u="none" cap="none" strike="noStrike">
              <a:solidFill>
                <a:srgbClr val="000000"/>
              </a:solidFill>
              <a:latin typeface="Arial"/>
              <a:ea typeface="Arial"/>
              <a:cs typeface="Arial"/>
              <a:sym typeface="Arial"/>
            </a:endParaRPr>
          </a:p>
        </p:txBody>
      </p:sp>
      <p:sp>
        <p:nvSpPr>
          <p:cNvPr id="313" name="Google Shape;313;p9"/>
          <p:cNvSpPr txBox="1"/>
          <p:nvPr/>
        </p:nvSpPr>
        <p:spPr>
          <a:xfrm>
            <a:off x="10469879" y="301752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14" name="Google Shape;314;p9"/>
          <p:cNvSpPr/>
          <p:nvPr/>
        </p:nvSpPr>
        <p:spPr>
          <a:xfrm>
            <a:off x="365760" y="3675887"/>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5" name="Google Shape;315;p9"/>
          <p:cNvSpPr txBox="1"/>
          <p:nvPr/>
        </p:nvSpPr>
        <p:spPr>
          <a:xfrm>
            <a:off x="475488" y="3749039"/>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Tide</a:t>
            </a:r>
            <a:endParaRPr b="0" i="0" sz="1400" u="none" cap="none" strike="noStrike">
              <a:solidFill>
                <a:srgbClr val="000000"/>
              </a:solidFill>
              <a:latin typeface="Arial"/>
              <a:ea typeface="Arial"/>
              <a:cs typeface="Arial"/>
              <a:sym typeface="Arial"/>
            </a:endParaRPr>
          </a:p>
        </p:txBody>
      </p:sp>
      <p:sp>
        <p:nvSpPr>
          <p:cNvPr id="316" name="Google Shape;316;p9"/>
          <p:cNvSpPr txBox="1"/>
          <p:nvPr/>
        </p:nvSpPr>
        <p:spPr>
          <a:xfrm>
            <a:off x="3721607" y="3749039"/>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Bancária</a:t>
            </a:r>
            <a:endParaRPr b="0" i="0" sz="1400" u="none" cap="none" strike="noStrike">
              <a:solidFill>
                <a:srgbClr val="000000"/>
              </a:solidFill>
              <a:latin typeface="Arial"/>
              <a:ea typeface="Arial"/>
              <a:cs typeface="Arial"/>
              <a:sym typeface="Arial"/>
            </a:endParaRPr>
          </a:p>
        </p:txBody>
      </p:sp>
      <p:sp>
        <p:nvSpPr>
          <p:cNvPr id="317" name="Google Shape;317;p9"/>
          <p:cNvSpPr txBox="1"/>
          <p:nvPr/>
        </p:nvSpPr>
        <p:spPr>
          <a:xfrm>
            <a:off x="5916168" y="3749039"/>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2–5</a:t>
            </a:r>
            <a:endParaRPr b="0" i="0" sz="1400" u="none" cap="none" strike="noStrike">
              <a:solidFill>
                <a:srgbClr val="000000"/>
              </a:solidFill>
              <a:latin typeface="Arial"/>
              <a:ea typeface="Arial"/>
              <a:cs typeface="Arial"/>
              <a:sym typeface="Arial"/>
            </a:endParaRPr>
          </a:p>
        </p:txBody>
      </p:sp>
      <p:sp>
        <p:nvSpPr>
          <p:cNvPr id="318" name="Google Shape;318;p9"/>
          <p:cNvSpPr txBox="1"/>
          <p:nvPr/>
        </p:nvSpPr>
        <p:spPr>
          <a:xfrm>
            <a:off x="7790687" y="3749039"/>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1–48 h</a:t>
            </a:r>
            <a:endParaRPr b="0" i="0" sz="1400" u="none" cap="none" strike="noStrike">
              <a:solidFill>
                <a:srgbClr val="000000"/>
              </a:solidFill>
              <a:latin typeface="Arial"/>
              <a:ea typeface="Arial"/>
              <a:cs typeface="Arial"/>
              <a:sym typeface="Arial"/>
            </a:endParaRPr>
          </a:p>
        </p:txBody>
      </p:sp>
      <p:sp>
        <p:nvSpPr>
          <p:cNvPr id="319" name="Google Shape;319;p9"/>
          <p:cNvSpPr txBox="1"/>
          <p:nvPr/>
        </p:nvSpPr>
        <p:spPr>
          <a:xfrm>
            <a:off x="10469879" y="3749039"/>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20" name="Google Shape;320;p9"/>
          <p:cNvSpPr/>
          <p:nvPr/>
        </p:nvSpPr>
        <p:spPr>
          <a:xfrm>
            <a:off x="365760" y="4407408"/>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1" name="Google Shape;321;p9"/>
          <p:cNvSpPr/>
          <p:nvPr/>
        </p:nvSpPr>
        <p:spPr>
          <a:xfrm>
            <a:off x="365760" y="4407408"/>
            <a:ext cx="11457432" cy="786384"/>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2" name="Google Shape;322;p9"/>
          <p:cNvSpPr txBox="1"/>
          <p:nvPr/>
        </p:nvSpPr>
        <p:spPr>
          <a:xfrm>
            <a:off x="475488" y="448056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PixGuard-Sim</a:t>
            </a:r>
            <a:endParaRPr b="0" i="0" sz="1400" u="none" cap="none" strike="noStrike">
              <a:solidFill>
                <a:srgbClr val="000000"/>
              </a:solidFill>
              <a:latin typeface="Arial"/>
              <a:ea typeface="Arial"/>
              <a:cs typeface="Arial"/>
              <a:sym typeface="Arial"/>
            </a:endParaRPr>
          </a:p>
        </p:txBody>
      </p:sp>
      <p:sp>
        <p:nvSpPr>
          <p:cNvPr id="323" name="Google Shape;323;p9"/>
          <p:cNvSpPr txBox="1"/>
          <p:nvPr/>
        </p:nvSpPr>
        <p:spPr>
          <a:xfrm>
            <a:off x="3721607" y="448056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a:t>
            </a:r>
            <a:endParaRPr b="0" i="0" sz="1400" u="none" cap="none" strike="noStrike">
              <a:solidFill>
                <a:srgbClr val="000000"/>
              </a:solidFill>
              <a:latin typeface="Arial"/>
              <a:ea typeface="Arial"/>
              <a:cs typeface="Arial"/>
              <a:sym typeface="Arial"/>
            </a:endParaRPr>
          </a:p>
        </p:txBody>
      </p:sp>
      <p:sp>
        <p:nvSpPr>
          <p:cNvPr id="324" name="Google Shape;324;p9"/>
          <p:cNvSpPr txBox="1"/>
          <p:nvPr/>
        </p:nvSpPr>
        <p:spPr>
          <a:xfrm>
            <a:off x="5916168" y="448056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 e multi</a:t>
            </a:r>
            <a:endParaRPr b="0" i="0" sz="1400" u="none" cap="none" strike="noStrike">
              <a:solidFill>
                <a:srgbClr val="000000"/>
              </a:solidFill>
              <a:latin typeface="Arial"/>
              <a:ea typeface="Arial"/>
              <a:cs typeface="Arial"/>
              <a:sym typeface="Arial"/>
            </a:endParaRPr>
          </a:p>
        </p:txBody>
      </p:sp>
      <p:sp>
        <p:nvSpPr>
          <p:cNvPr id="325" name="Google Shape;325;p9"/>
          <p:cNvSpPr txBox="1"/>
          <p:nvPr/>
        </p:nvSpPr>
        <p:spPr>
          <a:xfrm>
            <a:off x="7790687" y="448056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Por evento</a:t>
            </a:r>
            <a:endParaRPr b="0" i="0" sz="1400" u="none" cap="none" strike="noStrike">
              <a:solidFill>
                <a:srgbClr val="000000"/>
              </a:solidFill>
              <a:latin typeface="Arial"/>
              <a:ea typeface="Arial"/>
              <a:cs typeface="Arial"/>
              <a:sym typeface="Arial"/>
            </a:endParaRPr>
          </a:p>
        </p:txBody>
      </p:sp>
      <p:sp>
        <p:nvSpPr>
          <p:cNvPr id="326" name="Google Shape;326;p9"/>
          <p:cNvSpPr txBox="1"/>
          <p:nvPr/>
        </p:nvSpPr>
        <p:spPr>
          <a:xfrm>
            <a:off x="10469879" y="448056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0A5C2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27" name="Google Shape;327;p9"/>
          <p:cNvSpPr/>
          <p:nvPr/>
        </p:nvSpPr>
        <p:spPr>
          <a:xfrm>
            <a:off x="360639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9"/>
          <p:cNvSpPr/>
          <p:nvPr/>
        </p:nvSpPr>
        <p:spPr>
          <a:xfrm>
            <a:off x="580095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9" name="Google Shape;329;p9"/>
          <p:cNvSpPr/>
          <p:nvPr/>
        </p:nvSpPr>
        <p:spPr>
          <a:xfrm>
            <a:off x="767547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p9"/>
          <p:cNvSpPr/>
          <p:nvPr/>
        </p:nvSpPr>
        <p:spPr>
          <a:xfrm>
            <a:off x="10354665"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9"/>
          <p:cNvSpPr/>
          <p:nvPr/>
        </p:nvSpPr>
        <p:spPr>
          <a:xfrm>
            <a:off x="402336" y="2212848"/>
            <a:ext cx="11384280" cy="786384"/>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9"/>
          <p:cNvSpPr/>
          <p:nvPr/>
        </p:nvSpPr>
        <p:spPr>
          <a:xfrm>
            <a:off x="5852160" y="4956048"/>
            <a:ext cx="493776" cy="292608"/>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9"/>
          <p:cNvSpPr/>
          <p:nvPr/>
        </p:nvSpPr>
        <p:spPr>
          <a:xfrm>
            <a:off x="1463040" y="5230368"/>
            <a:ext cx="9326880" cy="932688"/>
          </a:xfrm>
          <a:prstGeom prst="roundRect">
            <a:avLst>
              <a:gd fmla="val 16667" name="adj"/>
            </a:avLst>
          </a:prstGeom>
          <a:solidFill>
            <a:srgbClr val="0C2B27"/>
          </a:solidFill>
          <a:ln>
            <a:noFill/>
          </a:ln>
        </p:spPr>
        <p:txBody>
          <a:bodyPr anchorCtr="0" anchor="ctr" bIns="128000" lIns="475475" spcFirstLastPara="1" rIns="475475" wrap="square" tIns="1280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Inter"/>
                <a:ea typeface="Inter"/>
                <a:cs typeface="Inter"/>
                <a:sym typeface="Inter"/>
              </a:rPr>
              <a:t>Dinheiro móvel, um passo por hora. O desenho publicado só gera tráfego legítimo.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descr="sbseg2026_rodape.png" id="338" name="Google Shape;338;p2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39" name="Google Shape;339;p2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12</a:t>
            </a:r>
            <a:endParaRPr b="0" i="0" sz="1400" u="none" cap="none" strike="noStrike">
              <a:solidFill>
                <a:srgbClr val="000000"/>
              </a:solidFill>
              <a:latin typeface="Arial"/>
              <a:ea typeface="Arial"/>
              <a:cs typeface="Arial"/>
              <a:sym typeface="Arial"/>
            </a:endParaRPr>
          </a:p>
        </p:txBody>
      </p:sp>
      <p:sp>
        <p:nvSpPr>
          <p:cNvPr id="340" name="Google Shape;340;p2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TRABALHOS RELACIONADOS</a:t>
            </a:r>
            <a:endParaRPr b="0" i="0" sz="1400" u="none" cap="none" strike="noStrike">
              <a:solidFill>
                <a:srgbClr val="000000"/>
              </a:solidFill>
              <a:latin typeface="Arial"/>
              <a:ea typeface="Arial"/>
              <a:cs typeface="Arial"/>
              <a:sym typeface="Arial"/>
            </a:endParaRPr>
          </a:p>
        </p:txBody>
      </p:sp>
      <p:sp>
        <p:nvSpPr>
          <p:cNvPr id="341" name="Google Shape;341;p20"/>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geradores, e o que cada um mede</a:t>
            </a:r>
            <a:endParaRPr b="0" i="0" sz="1400" u="none" cap="none" strike="noStrike">
              <a:solidFill>
                <a:srgbClr val="000000"/>
              </a:solidFill>
              <a:latin typeface="Arial"/>
              <a:ea typeface="Arial"/>
              <a:cs typeface="Arial"/>
              <a:sym typeface="Arial"/>
            </a:endParaRPr>
          </a:p>
        </p:txBody>
      </p:sp>
      <p:sp>
        <p:nvSpPr>
          <p:cNvPr id="342" name="Google Shape;342;p20"/>
          <p:cNvSpPr/>
          <p:nvPr/>
        </p:nvSpPr>
        <p:spPr>
          <a:xfrm>
            <a:off x="365760" y="1444751"/>
            <a:ext cx="11457432" cy="768096"/>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20"/>
          <p:cNvSpPr txBox="1"/>
          <p:nvPr/>
        </p:nvSpPr>
        <p:spPr>
          <a:xfrm>
            <a:off x="475488" y="1609344"/>
            <a:ext cx="3026663"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Trabalho</a:t>
            </a:r>
            <a:endParaRPr b="0" i="0" sz="1400" u="none" cap="none" strike="noStrike">
              <a:solidFill>
                <a:srgbClr val="000000"/>
              </a:solidFill>
              <a:latin typeface="Arial"/>
              <a:ea typeface="Arial"/>
              <a:cs typeface="Arial"/>
              <a:sym typeface="Arial"/>
            </a:endParaRPr>
          </a:p>
        </p:txBody>
      </p:sp>
      <p:sp>
        <p:nvSpPr>
          <p:cNvPr id="344" name="Google Shape;344;p20"/>
          <p:cNvSpPr txBox="1"/>
          <p:nvPr/>
        </p:nvSpPr>
        <p:spPr>
          <a:xfrm>
            <a:off x="3721607" y="1609344"/>
            <a:ext cx="1975104"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Domínio</a:t>
            </a:r>
            <a:endParaRPr b="0" i="0" sz="1400" u="none" cap="none" strike="noStrike">
              <a:solidFill>
                <a:srgbClr val="000000"/>
              </a:solidFill>
              <a:latin typeface="Arial"/>
              <a:ea typeface="Arial"/>
              <a:cs typeface="Arial"/>
              <a:sym typeface="Arial"/>
            </a:endParaRPr>
          </a:p>
        </p:txBody>
      </p:sp>
      <p:sp>
        <p:nvSpPr>
          <p:cNvPr id="345" name="Google Shape;345;p20"/>
          <p:cNvSpPr txBox="1"/>
          <p:nvPr/>
        </p:nvSpPr>
        <p:spPr>
          <a:xfrm>
            <a:off x="5916168" y="1609344"/>
            <a:ext cx="1655063" cy="5120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Cadeia</a:t>
            </a:r>
            <a:endParaRPr b="0" i="0" sz="1400" u="none" cap="none" strike="noStrike">
              <a:solidFill>
                <a:srgbClr val="000000"/>
              </a:solidFill>
              <a:latin typeface="Arial"/>
              <a:ea typeface="Arial"/>
              <a:cs typeface="Arial"/>
              <a:sym typeface="Arial"/>
            </a:endParaRPr>
          </a:p>
        </p:txBody>
      </p:sp>
      <p:sp>
        <p:nvSpPr>
          <p:cNvPr id="346" name="Google Shape;346;p20"/>
          <p:cNvSpPr txBox="1"/>
          <p:nvPr/>
        </p:nvSpPr>
        <p:spPr>
          <a:xfrm>
            <a:off x="7790687" y="1609344"/>
            <a:ext cx="2459736"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Tempo</a:t>
            </a:r>
            <a:endParaRPr b="0" i="0" sz="1400" u="none" cap="none" strike="noStrike">
              <a:solidFill>
                <a:srgbClr val="000000"/>
              </a:solidFill>
              <a:latin typeface="Arial"/>
              <a:ea typeface="Arial"/>
              <a:cs typeface="Arial"/>
              <a:sym typeface="Arial"/>
            </a:endParaRPr>
          </a:p>
        </p:txBody>
      </p:sp>
      <p:sp>
        <p:nvSpPr>
          <p:cNvPr id="347" name="Google Shape;347;p20"/>
          <p:cNvSpPr txBox="1"/>
          <p:nvPr/>
        </p:nvSpPr>
        <p:spPr>
          <a:xfrm>
            <a:off x="10469879" y="1609344"/>
            <a:ext cx="1243584" cy="5120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Prazo</a:t>
            </a:r>
            <a:endParaRPr b="0" i="0" sz="1400" u="none" cap="none" strike="noStrike">
              <a:solidFill>
                <a:srgbClr val="000000"/>
              </a:solidFill>
              <a:latin typeface="Arial"/>
              <a:ea typeface="Arial"/>
              <a:cs typeface="Arial"/>
              <a:sym typeface="Arial"/>
            </a:endParaRPr>
          </a:p>
        </p:txBody>
      </p:sp>
      <p:sp>
        <p:nvSpPr>
          <p:cNvPr id="348" name="Google Shape;348;p20"/>
          <p:cNvSpPr txBox="1"/>
          <p:nvPr/>
        </p:nvSpPr>
        <p:spPr>
          <a:xfrm>
            <a:off x="475488" y="228600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PaySim</a:t>
            </a:r>
            <a:endParaRPr b="0" i="0" sz="1400" u="none" cap="none" strike="noStrike">
              <a:solidFill>
                <a:srgbClr val="000000"/>
              </a:solidFill>
              <a:latin typeface="Arial"/>
              <a:ea typeface="Arial"/>
              <a:cs typeface="Arial"/>
              <a:sym typeface="Arial"/>
            </a:endParaRPr>
          </a:p>
        </p:txBody>
      </p:sp>
      <p:sp>
        <p:nvSpPr>
          <p:cNvPr id="349" name="Google Shape;349;p20"/>
          <p:cNvSpPr txBox="1"/>
          <p:nvPr/>
        </p:nvSpPr>
        <p:spPr>
          <a:xfrm>
            <a:off x="3721607" y="228600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Din. móvel</a:t>
            </a:r>
            <a:endParaRPr b="0" i="0" sz="1400" u="none" cap="none" strike="noStrike">
              <a:solidFill>
                <a:srgbClr val="000000"/>
              </a:solidFill>
              <a:latin typeface="Arial"/>
              <a:ea typeface="Arial"/>
              <a:cs typeface="Arial"/>
              <a:sym typeface="Arial"/>
            </a:endParaRPr>
          </a:p>
        </p:txBody>
      </p:sp>
      <p:sp>
        <p:nvSpPr>
          <p:cNvPr id="350" name="Google Shape;350;p20"/>
          <p:cNvSpPr txBox="1"/>
          <p:nvPr/>
        </p:nvSpPr>
        <p:spPr>
          <a:xfrm>
            <a:off x="5916168" y="228600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351" name="Google Shape;351;p20"/>
          <p:cNvSpPr txBox="1"/>
          <p:nvPr/>
        </p:nvSpPr>
        <p:spPr>
          <a:xfrm>
            <a:off x="7790687" y="228600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 h por passo</a:t>
            </a:r>
            <a:endParaRPr b="0" i="0" sz="1400" u="none" cap="none" strike="noStrike">
              <a:solidFill>
                <a:srgbClr val="000000"/>
              </a:solidFill>
              <a:latin typeface="Arial"/>
              <a:ea typeface="Arial"/>
              <a:cs typeface="Arial"/>
              <a:sym typeface="Arial"/>
            </a:endParaRPr>
          </a:p>
        </p:txBody>
      </p:sp>
      <p:sp>
        <p:nvSpPr>
          <p:cNvPr id="352" name="Google Shape;352;p20"/>
          <p:cNvSpPr txBox="1"/>
          <p:nvPr/>
        </p:nvSpPr>
        <p:spPr>
          <a:xfrm>
            <a:off x="10469879" y="228600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53" name="Google Shape;353;p20"/>
          <p:cNvSpPr/>
          <p:nvPr/>
        </p:nvSpPr>
        <p:spPr>
          <a:xfrm>
            <a:off x="365760" y="2944368"/>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p20"/>
          <p:cNvSpPr txBox="1"/>
          <p:nvPr/>
        </p:nvSpPr>
        <p:spPr>
          <a:xfrm>
            <a:off x="475488" y="301752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pix-fraud-br</a:t>
            </a:r>
            <a:endParaRPr b="0" i="0" sz="1400" u="none" cap="none" strike="noStrike">
              <a:solidFill>
                <a:srgbClr val="000000"/>
              </a:solidFill>
              <a:latin typeface="Arial"/>
              <a:ea typeface="Arial"/>
              <a:cs typeface="Arial"/>
              <a:sym typeface="Arial"/>
            </a:endParaRPr>
          </a:p>
        </p:txBody>
      </p:sp>
      <p:sp>
        <p:nvSpPr>
          <p:cNvPr id="355" name="Google Shape;355;p20"/>
          <p:cNvSpPr txBox="1"/>
          <p:nvPr/>
        </p:nvSpPr>
        <p:spPr>
          <a:xfrm>
            <a:off x="3721607" y="301752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Pix</a:t>
            </a:r>
            <a:endParaRPr b="0" i="0" sz="1400" u="none" cap="none" strike="noStrike">
              <a:solidFill>
                <a:srgbClr val="000000"/>
              </a:solidFill>
              <a:latin typeface="Arial"/>
              <a:ea typeface="Arial"/>
              <a:cs typeface="Arial"/>
              <a:sym typeface="Arial"/>
            </a:endParaRPr>
          </a:p>
        </p:txBody>
      </p:sp>
      <p:sp>
        <p:nvSpPr>
          <p:cNvPr id="356" name="Google Shape;356;p20"/>
          <p:cNvSpPr txBox="1"/>
          <p:nvPr/>
        </p:nvSpPr>
        <p:spPr>
          <a:xfrm>
            <a:off x="5916168" y="301752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 salto</a:t>
            </a:r>
            <a:endParaRPr b="0" i="0" sz="1400" u="none" cap="none" strike="noStrike">
              <a:solidFill>
                <a:srgbClr val="000000"/>
              </a:solidFill>
              <a:latin typeface="Arial"/>
              <a:ea typeface="Arial"/>
              <a:cs typeface="Arial"/>
              <a:sym typeface="Arial"/>
            </a:endParaRPr>
          </a:p>
        </p:txBody>
      </p:sp>
      <p:sp>
        <p:nvSpPr>
          <p:cNvPr id="357" name="Google Shape;357;p20"/>
          <p:cNvSpPr txBox="1"/>
          <p:nvPr/>
        </p:nvSpPr>
        <p:spPr>
          <a:xfrm>
            <a:off x="7790687" y="301752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Carimbo</a:t>
            </a:r>
            <a:endParaRPr b="0" i="0" sz="1400" u="none" cap="none" strike="noStrike">
              <a:solidFill>
                <a:srgbClr val="000000"/>
              </a:solidFill>
              <a:latin typeface="Arial"/>
              <a:ea typeface="Arial"/>
              <a:cs typeface="Arial"/>
              <a:sym typeface="Arial"/>
            </a:endParaRPr>
          </a:p>
        </p:txBody>
      </p:sp>
      <p:sp>
        <p:nvSpPr>
          <p:cNvPr id="358" name="Google Shape;358;p20"/>
          <p:cNvSpPr txBox="1"/>
          <p:nvPr/>
        </p:nvSpPr>
        <p:spPr>
          <a:xfrm>
            <a:off x="10469879" y="301752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59" name="Google Shape;359;p20"/>
          <p:cNvSpPr/>
          <p:nvPr/>
        </p:nvSpPr>
        <p:spPr>
          <a:xfrm>
            <a:off x="365760" y="3675887"/>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20"/>
          <p:cNvSpPr txBox="1"/>
          <p:nvPr/>
        </p:nvSpPr>
        <p:spPr>
          <a:xfrm>
            <a:off x="475488" y="3749039"/>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Tide</a:t>
            </a:r>
            <a:endParaRPr b="0" i="0" sz="1400" u="none" cap="none" strike="noStrike">
              <a:solidFill>
                <a:srgbClr val="000000"/>
              </a:solidFill>
              <a:latin typeface="Arial"/>
              <a:ea typeface="Arial"/>
              <a:cs typeface="Arial"/>
              <a:sym typeface="Arial"/>
            </a:endParaRPr>
          </a:p>
        </p:txBody>
      </p:sp>
      <p:sp>
        <p:nvSpPr>
          <p:cNvPr id="361" name="Google Shape;361;p20"/>
          <p:cNvSpPr txBox="1"/>
          <p:nvPr/>
        </p:nvSpPr>
        <p:spPr>
          <a:xfrm>
            <a:off x="3721607" y="3749039"/>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Bancária</a:t>
            </a:r>
            <a:endParaRPr b="0" i="0" sz="1400" u="none" cap="none" strike="noStrike">
              <a:solidFill>
                <a:srgbClr val="000000"/>
              </a:solidFill>
              <a:latin typeface="Arial"/>
              <a:ea typeface="Arial"/>
              <a:cs typeface="Arial"/>
              <a:sym typeface="Arial"/>
            </a:endParaRPr>
          </a:p>
        </p:txBody>
      </p:sp>
      <p:sp>
        <p:nvSpPr>
          <p:cNvPr id="362" name="Google Shape;362;p20"/>
          <p:cNvSpPr txBox="1"/>
          <p:nvPr/>
        </p:nvSpPr>
        <p:spPr>
          <a:xfrm>
            <a:off x="5916168" y="3749039"/>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2–5</a:t>
            </a:r>
            <a:endParaRPr b="0" i="0" sz="1400" u="none" cap="none" strike="noStrike">
              <a:solidFill>
                <a:srgbClr val="000000"/>
              </a:solidFill>
              <a:latin typeface="Arial"/>
              <a:ea typeface="Arial"/>
              <a:cs typeface="Arial"/>
              <a:sym typeface="Arial"/>
            </a:endParaRPr>
          </a:p>
        </p:txBody>
      </p:sp>
      <p:sp>
        <p:nvSpPr>
          <p:cNvPr id="363" name="Google Shape;363;p20"/>
          <p:cNvSpPr txBox="1"/>
          <p:nvPr/>
        </p:nvSpPr>
        <p:spPr>
          <a:xfrm>
            <a:off x="7790687" y="3749039"/>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1–48 h</a:t>
            </a:r>
            <a:endParaRPr b="0" i="0" sz="1400" u="none" cap="none" strike="noStrike">
              <a:solidFill>
                <a:srgbClr val="000000"/>
              </a:solidFill>
              <a:latin typeface="Arial"/>
              <a:ea typeface="Arial"/>
              <a:cs typeface="Arial"/>
              <a:sym typeface="Arial"/>
            </a:endParaRPr>
          </a:p>
        </p:txBody>
      </p:sp>
      <p:sp>
        <p:nvSpPr>
          <p:cNvPr id="364" name="Google Shape;364;p20"/>
          <p:cNvSpPr txBox="1"/>
          <p:nvPr/>
        </p:nvSpPr>
        <p:spPr>
          <a:xfrm>
            <a:off x="10469879" y="3749039"/>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65" name="Google Shape;365;p20"/>
          <p:cNvSpPr/>
          <p:nvPr/>
        </p:nvSpPr>
        <p:spPr>
          <a:xfrm>
            <a:off x="365760" y="4407408"/>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6" name="Google Shape;366;p20"/>
          <p:cNvSpPr/>
          <p:nvPr/>
        </p:nvSpPr>
        <p:spPr>
          <a:xfrm>
            <a:off x="365760" y="4407408"/>
            <a:ext cx="11457432" cy="786384"/>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20"/>
          <p:cNvSpPr txBox="1"/>
          <p:nvPr/>
        </p:nvSpPr>
        <p:spPr>
          <a:xfrm>
            <a:off x="475488" y="448056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PixGuard-Sim</a:t>
            </a:r>
            <a:endParaRPr b="0" i="0" sz="1400" u="none" cap="none" strike="noStrike">
              <a:solidFill>
                <a:srgbClr val="000000"/>
              </a:solidFill>
              <a:latin typeface="Arial"/>
              <a:ea typeface="Arial"/>
              <a:cs typeface="Arial"/>
              <a:sym typeface="Arial"/>
            </a:endParaRPr>
          </a:p>
        </p:txBody>
      </p:sp>
      <p:sp>
        <p:nvSpPr>
          <p:cNvPr id="368" name="Google Shape;368;p20"/>
          <p:cNvSpPr txBox="1"/>
          <p:nvPr/>
        </p:nvSpPr>
        <p:spPr>
          <a:xfrm>
            <a:off x="3721607" y="448056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a:t>
            </a:r>
            <a:endParaRPr b="0" i="0" sz="1400" u="none" cap="none" strike="noStrike">
              <a:solidFill>
                <a:srgbClr val="000000"/>
              </a:solidFill>
              <a:latin typeface="Arial"/>
              <a:ea typeface="Arial"/>
              <a:cs typeface="Arial"/>
              <a:sym typeface="Arial"/>
            </a:endParaRPr>
          </a:p>
        </p:txBody>
      </p:sp>
      <p:sp>
        <p:nvSpPr>
          <p:cNvPr id="369" name="Google Shape;369;p20"/>
          <p:cNvSpPr txBox="1"/>
          <p:nvPr/>
        </p:nvSpPr>
        <p:spPr>
          <a:xfrm>
            <a:off x="5916168" y="448056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 e multi</a:t>
            </a:r>
            <a:endParaRPr b="0" i="0" sz="1400" u="none" cap="none" strike="noStrike">
              <a:solidFill>
                <a:srgbClr val="000000"/>
              </a:solidFill>
              <a:latin typeface="Arial"/>
              <a:ea typeface="Arial"/>
              <a:cs typeface="Arial"/>
              <a:sym typeface="Arial"/>
            </a:endParaRPr>
          </a:p>
        </p:txBody>
      </p:sp>
      <p:sp>
        <p:nvSpPr>
          <p:cNvPr id="370" name="Google Shape;370;p20"/>
          <p:cNvSpPr txBox="1"/>
          <p:nvPr/>
        </p:nvSpPr>
        <p:spPr>
          <a:xfrm>
            <a:off x="7790687" y="448056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Por evento</a:t>
            </a:r>
            <a:endParaRPr b="0" i="0" sz="1400" u="none" cap="none" strike="noStrike">
              <a:solidFill>
                <a:srgbClr val="000000"/>
              </a:solidFill>
              <a:latin typeface="Arial"/>
              <a:ea typeface="Arial"/>
              <a:cs typeface="Arial"/>
              <a:sym typeface="Arial"/>
            </a:endParaRPr>
          </a:p>
        </p:txBody>
      </p:sp>
      <p:sp>
        <p:nvSpPr>
          <p:cNvPr id="371" name="Google Shape;371;p20"/>
          <p:cNvSpPr txBox="1"/>
          <p:nvPr/>
        </p:nvSpPr>
        <p:spPr>
          <a:xfrm>
            <a:off x="10469879" y="448056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0A5C2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72" name="Google Shape;372;p20"/>
          <p:cNvSpPr/>
          <p:nvPr/>
        </p:nvSpPr>
        <p:spPr>
          <a:xfrm>
            <a:off x="360639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20"/>
          <p:cNvSpPr/>
          <p:nvPr/>
        </p:nvSpPr>
        <p:spPr>
          <a:xfrm>
            <a:off x="580095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4" name="Google Shape;374;p20"/>
          <p:cNvSpPr/>
          <p:nvPr/>
        </p:nvSpPr>
        <p:spPr>
          <a:xfrm>
            <a:off x="767547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p20"/>
          <p:cNvSpPr/>
          <p:nvPr/>
        </p:nvSpPr>
        <p:spPr>
          <a:xfrm>
            <a:off x="10354665"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20"/>
          <p:cNvSpPr/>
          <p:nvPr/>
        </p:nvSpPr>
        <p:spPr>
          <a:xfrm>
            <a:off x="402336" y="2944368"/>
            <a:ext cx="11384280" cy="786384"/>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0"/>
          <p:cNvSpPr/>
          <p:nvPr/>
        </p:nvSpPr>
        <p:spPr>
          <a:xfrm>
            <a:off x="5852160" y="4956048"/>
            <a:ext cx="493776" cy="292608"/>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0"/>
          <p:cNvSpPr/>
          <p:nvPr/>
        </p:nvSpPr>
        <p:spPr>
          <a:xfrm>
            <a:off x="1463040" y="5230368"/>
            <a:ext cx="9326880" cy="932688"/>
          </a:xfrm>
          <a:prstGeom prst="roundRect">
            <a:avLst>
              <a:gd fmla="val 16667" name="adj"/>
            </a:avLst>
          </a:prstGeom>
          <a:solidFill>
            <a:srgbClr val="0C2B27"/>
          </a:solidFill>
          <a:ln>
            <a:noFill/>
          </a:ln>
        </p:spPr>
        <p:txBody>
          <a:bodyPr anchorCtr="0" anchor="ctr" bIns="128000" lIns="475475" spcFirstLastPara="1" rIns="475475" wrap="square" tIns="1280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Inter"/>
                <a:ea typeface="Inter"/>
                <a:cs typeface="Inter"/>
                <a:sym typeface="Inter"/>
              </a:rPr>
              <a:t>Derivado do PaySim, em termos de Pix. Para na primeira conta laranja.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descr="sbseg2026_rodape.png" id="383" name="Google Shape;383;p2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84" name="Google Shape;384;p2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13</a:t>
            </a:r>
            <a:endParaRPr b="0" i="0" sz="1400" u="none" cap="none" strike="noStrike">
              <a:solidFill>
                <a:srgbClr val="000000"/>
              </a:solidFill>
              <a:latin typeface="Arial"/>
              <a:ea typeface="Arial"/>
              <a:cs typeface="Arial"/>
              <a:sym typeface="Arial"/>
            </a:endParaRPr>
          </a:p>
        </p:txBody>
      </p:sp>
      <p:sp>
        <p:nvSpPr>
          <p:cNvPr id="385" name="Google Shape;385;p2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TRABALHOS RELACIONADOS</a:t>
            </a:r>
            <a:endParaRPr b="0" i="0" sz="1400" u="none" cap="none" strike="noStrike">
              <a:solidFill>
                <a:srgbClr val="000000"/>
              </a:solidFill>
              <a:latin typeface="Arial"/>
              <a:ea typeface="Arial"/>
              <a:cs typeface="Arial"/>
              <a:sym typeface="Arial"/>
            </a:endParaRPr>
          </a:p>
        </p:txBody>
      </p:sp>
      <p:sp>
        <p:nvSpPr>
          <p:cNvPr id="386" name="Google Shape;386;p21"/>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geradores, e o que cada um mede</a:t>
            </a:r>
            <a:endParaRPr b="0" i="0" sz="1400" u="none" cap="none" strike="noStrike">
              <a:solidFill>
                <a:srgbClr val="000000"/>
              </a:solidFill>
              <a:latin typeface="Arial"/>
              <a:ea typeface="Arial"/>
              <a:cs typeface="Arial"/>
              <a:sym typeface="Arial"/>
            </a:endParaRPr>
          </a:p>
        </p:txBody>
      </p:sp>
      <p:sp>
        <p:nvSpPr>
          <p:cNvPr id="387" name="Google Shape;387;p21"/>
          <p:cNvSpPr/>
          <p:nvPr/>
        </p:nvSpPr>
        <p:spPr>
          <a:xfrm>
            <a:off x="365760" y="1444751"/>
            <a:ext cx="11457432" cy="768096"/>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21"/>
          <p:cNvSpPr txBox="1"/>
          <p:nvPr/>
        </p:nvSpPr>
        <p:spPr>
          <a:xfrm>
            <a:off x="475488" y="1609344"/>
            <a:ext cx="3026663"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Trabalho</a:t>
            </a:r>
            <a:endParaRPr b="0" i="0" sz="1400" u="none" cap="none" strike="noStrike">
              <a:solidFill>
                <a:srgbClr val="000000"/>
              </a:solidFill>
              <a:latin typeface="Arial"/>
              <a:ea typeface="Arial"/>
              <a:cs typeface="Arial"/>
              <a:sym typeface="Arial"/>
            </a:endParaRPr>
          </a:p>
        </p:txBody>
      </p:sp>
      <p:sp>
        <p:nvSpPr>
          <p:cNvPr id="389" name="Google Shape;389;p21"/>
          <p:cNvSpPr txBox="1"/>
          <p:nvPr/>
        </p:nvSpPr>
        <p:spPr>
          <a:xfrm>
            <a:off x="3721607" y="1609344"/>
            <a:ext cx="1975104"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Domínio</a:t>
            </a:r>
            <a:endParaRPr b="0" i="0" sz="1400" u="none" cap="none" strike="noStrike">
              <a:solidFill>
                <a:srgbClr val="000000"/>
              </a:solidFill>
              <a:latin typeface="Arial"/>
              <a:ea typeface="Arial"/>
              <a:cs typeface="Arial"/>
              <a:sym typeface="Arial"/>
            </a:endParaRPr>
          </a:p>
        </p:txBody>
      </p:sp>
      <p:sp>
        <p:nvSpPr>
          <p:cNvPr id="390" name="Google Shape;390;p21"/>
          <p:cNvSpPr txBox="1"/>
          <p:nvPr/>
        </p:nvSpPr>
        <p:spPr>
          <a:xfrm>
            <a:off x="5916168" y="1609344"/>
            <a:ext cx="1655063" cy="5120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Cadeia</a:t>
            </a:r>
            <a:endParaRPr b="0" i="0" sz="1400" u="none" cap="none" strike="noStrike">
              <a:solidFill>
                <a:srgbClr val="000000"/>
              </a:solidFill>
              <a:latin typeface="Arial"/>
              <a:ea typeface="Arial"/>
              <a:cs typeface="Arial"/>
              <a:sym typeface="Arial"/>
            </a:endParaRPr>
          </a:p>
        </p:txBody>
      </p:sp>
      <p:sp>
        <p:nvSpPr>
          <p:cNvPr id="391" name="Google Shape;391;p21"/>
          <p:cNvSpPr txBox="1"/>
          <p:nvPr/>
        </p:nvSpPr>
        <p:spPr>
          <a:xfrm>
            <a:off x="7790687" y="1609344"/>
            <a:ext cx="2459736"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Tempo</a:t>
            </a:r>
            <a:endParaRPr b="0" i="0" sz="1400" u="none" cap="none" strike="noStrike">
              <a:solidFill>
                <a:srgbClr val="000000"/>
              </a:solidFill>
              <a:latin typeface="Arial"/>
              <a:ea typeface="Arial"/>
              <a:cs typeface="Arial"/>
              <a:sym typeface="Arial"/>
            </a:endParaRPr>
          </a:p>
        </p:txBody>
      </p:sp>
      <p:sp>
        <p:nvSpPr>
          <p:cNvPr id="392" name="Google Shape;392;p21"/>
          <p:cNvSpPr txBox="1"/>
          <p:nvPr/>
        </p:nvSpPr>
        <p:spPr>
          <a:xfrm>
            <a:off x="10469879" y="1609344"/>
            <a:ext cx="1243584" cy="5120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Prazo</a:t>
            </a:r>
            <a:endParaRPr b="0" i="0" sz="1400" u="none" cap="none" strike="noStrike">
              <a:solidFill>
                <a:srgbClr val="000000"/>
              </a:solidFill>
              <a:latin typeface="Arial"/>
              <a:ea typeface="Arial"/>
              <a:cs typeface="Arial"/>
              <a:sym typeface="Arial"/>
            </a:endParaRPr>
          </a:p>
        </p:txBody>
      </p:sp>
      <p:sp>
        <p:nvSpPr>
          <p:cNvPr id="393" name="Google Shape;393;p21"/>
          <p:cNvSpPr txBox="1"/>
          <p:nvPr/>
        </p:nvSpPr>
        <p:spPr>
          <a:xfrm>
            <a:off x="475488" y="228600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PaySim</a:t>
            </a:r>
            <a:endParaRPr b="0" i="0" sz="1400" u="none" cap="none" strike="noStrike">
              <a:solidFill>
                <a:srgbClr val="000000"/>
              </a:solidFill>
              <a:latin typeface="Arial"/>
              <a:ea typeface="Arial"/>
              <a:cs typeface="Arial"/>
              <a:sym typeface="Arial"/>
            </a:endParaRPr>
          </a:p>
        </p:txBody>
      </p:sp>
      <p:sp>
        <p:nvSpPr>
          <p:cNvPr id="394" name="Google Shape;394;p21"/>
          <p:cNvSpPr txBox="1"/>
          <p:nvPr/>
        </p:nvSpPr>
        <p:spPr>
          <a:xfrm>
            <a:off x="3721607" y="228600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Din. móvel</a:t>
            </a:r>
            <a:endParaRPr b="0" i="0" sz="1400" u="none" cap="none" strike="noStrike">
              <a:solidFill>
                <a:srgbClr val="000000"/>
              </a:solidFill>
              <a:latin typeface="Arial"/>
              <a:ea typeface="Arial"/>
              <a:cs typeface="Arial"/>
              <a:sym typeface="Arial"/>
            </a:endParaRPr>
          </a:p>
        </p:txBody>
      </p:sp>
      <p:sp>
        <p:nvSpPr>
          <p:cNvPr id="395" name="Google Shape;395;p21"/>
          <p:cNvSpPr txBox="1"/>
          <p:nvPr/>
        </p:nvSpPr>
        <p:spPr>
          <a:xfrm>
            <a:off x="5916168" y="228600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396" name="Google Shape;396;p21"/>
          <p:cNvSpPr txBox="1"/>
          <p:nvPr/>
        </p:nvSpPr>
        <p:spPr>
          <a:xfrm>
            <a:off x="7790687" y="228600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 h por passo</a:t>
            </a:r>
            <a:endParaRPr b="0" i="0" sz="1400" u="none" cap="none" strike="noStrike">
              <a:solidFill>
                <a:srgbClr val="000000"/>
              </a:solidFill>
              <a:latin typeface="Arial"/>
              <a:ea typeface="Arial"/>
              <a:cs typeface="Arial"/>
              <a:sym typeface="Arial"/>
            </a:endParaRPr>
          </a:p>
        </p:txBody>
      </p:sp>
      <p:sp>
        <p:nvSpPr>
          <p:cNvPr id="397" name="Google Shape;397;p21"/>
          <p:cNvSpPr txBox="1"/>
          <p:nvPr/>
        </p:nvSpPr>
        <p:spPr>
          <a:xfrm>
            <a:off x="10469879" y="228600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98" name="Google Shape;398;p21"/>
          <p:cNvSpPr/>
          <p:nvPr/>
        </p:nvSpPr>
        <p:spPr>
          <a:xfrm>
            <a:off x="365760" y="2944368"/>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21"/>
          <p:cNvSpPr txBox="1"/>
          <p:nvPr/>
        </p:nvSpPr>
        <p:spPr>
          <a:xfrm>
            <a:off x="475488" y="301752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pix-fraud-br</a:t>
            </a:r>
            <a:endParaRPr b="0" i="0" sz="1400" u="none" cap="none" strike="noStrike">
              <a:solidFill>
                <a:srgbClr val="000000"/>
              </a:solidFill>
              <a:latin typeface="Arial"/>
              <a:ea typeface="Arial"/>
              <a:cs typeface="Arial"/>
              <a:sym typeface="Arial"/>
            </a:endParaRPr>
          </a:p>
        </p:txBody>
      </p:sp>
      <p:sp>
        <p:nvSpPr>
          <p:cNvPr id="400" name="Google Shape;400;p21"/>
          <p:cNvSpPr txBox="1"/>
          <p:nvPr/>
        </p:nvSpPr>
        <p:spPr>
          <a:xfrm>
            <a:off x="3721607" y="301752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Pix</a:t>
            </a:r>
            <a:endParaRPr b="0" i="0" sz="1400" u="none" cap="none" strike="noStrike">
              <a:solidFill>
                <a:srgbClr val="000000"/>
              </a:solidFill>
              <a:latin typeface="Arial"/>
              <a:ea typeface="Arial"/>
              <a:cs typeface="Arial"/>
              <a:sym typeface="Arial"/>
            </a:endParaRPr>
          </a:p>
        </p:txBody>
      </p:sp>
      <p:sp>
        <p:nvSpPr>
          <p:cNvPr id="401" name="Google Shape;401;p21"/>
          <p:cNvSpPr txBox="1"/>
          <p:nvPr/>
        </p:nvSpPr>
        <p:spPr>
          <a:xfrm>
            <a:off x="5916168" y="301752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 salto</a:t>
            </a:r>
            <a:endParaRPr b="0" i="0" sz="1400" u="none" cap="none" strike="noStrike">
              <a:solidFill>
                <a:srgbClr val="000000"/>
              </a:solidFill>
              <a:latin typeface="Arial"/>
              <a:ea typeface="Arial"/>
              <a:cs typeface="Arial"/>
              <a:sym typeface="Arial"/>
            </a:endParaRPr>
          </a:p>
        </p:txBody>
      </p:sp>
      <p:sp>
        <p:nvSpPr>
          <p:cNvPr id="402" name="Google Shape;402;p21"/>
          <p:cNvSpPr txBox="1"/>
          <p:nvPr/>
        </p:nvSpPr>
        <p:spPr>
          <a:xfrm>
            <a:off x="7790687" y="301752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Carimbo</a:t>
            </a:r>
            <a:endParaRPr b="0" i="0" sz="1400" u="none" cap="none" strike="noStrike">
              <a:solidFill>
                <a:srgbClr val="000000"/>
              </a:solidFill>
              <a:latin typeface="Arial"/>
              <a:ea typeface="Arial"/>
              <a:cs typeface="Arial"/>
              <a:sym typeface="Arial"/>
            </a:endParaRPr>
          </a:p>
        </p:txBody>
      </p:sp>
      <p:sp>
        <p:nvSpPr>
          <p:cNvPr id="403" name="Google Shape;403;p21"/>
          <p:cNvSpPr txBox="1"/>
          <p:nvPr/>
        </p:nvSpPr>
        <p:spPr>
          <a:xfrm>
            <a:off x="10469879" y="301752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404" name="Google Shape;404;p21"/>
          <p:cNvSpPr/>
          <p:nvPr/>
        </p:nvSpPr>
        <p:spPr>
          <a:xfrm>
            <a:off x="365760" y="3675887"/>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p21"/>
          <p:cNvSpPr txBox="1"/>
          <p:nvPr/>
        </p:nvSpPr>
        <p:spPr>
          <a:xfrm>
            <a:off x="475488" y="3749039"/>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Tide</a:t>
            </a:r>
            <a:endParaRPr b="0" i="0" sz="1400" u="none" cap="none" strike="noStrike">
              <a:solidFill>
                <a:srgbClr val="000000"/>
              </a:solidFill>
              <a:latin typeface="Arial"/>
              <a:ea typeface="Arial"/>
              <a:cs typeface="Arial"/>
              <a:sym typeface="Arial"/>
            </a:endParaRPr>
          </a:p>
        </p:txBody>
      </p:sp>
      <p:sp>
        <p:nvSpPr>
          <p:cNvPr id="406" name="Google Shape;406;p21"/>
          <p:cNvSpPr txBox="1"/>
          <p:nvPr/>
        </p:nvSpPr>
        <p:spPr>
          <a:xfrm>
            <a:off x="3721607" y="3749039"/>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Bancária</a:t>
            </a:r>
            <a:endParaRPr b="0" i="0" sz="1400" u="none" cap="none" strike="noStrike">
              <a:solidFill>
                <a:srgbClr val="000000"/>
              </a:solidFill>
              <a:latin typeface="Arial"/>
              <a:ea typeface="Arial"/>
              <a:cs typeface="Arial"/>
              <a:sym typeface="Arial"/>
            </a:endParaRPr>
          </a:p>
        </p:txBody>
      </p:sp>
      <p:sp>
        <p:nvSpPr>
          <p:cNvPr id="407" name="Google Shape;407;p21"/>
          <p:cNvSpPr txBox="1"/>
          <p:nvPr/>
        </p:nvSpPr>
        <p:spPr>
          <a:xfrm>
            <a:off x="5916168" y="3749039"/>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2–5</a:t>
            </a:r>
            <a:endParaRPr b="0" i="0" sz="1400" u="none" cap="none" strike="noStrike">
              <a:solidFill>
                <a:srgbClr val="000000"/>
              </a:solidFill>
              <a:latin typeface="Arial"/>
              <a:ea typeface="Arial"/>
              <a:cs typeface="Arial"/>
              <a:sym typeface="Arial"/>
            </a:endParaRPr>
          </a:p>
        </p:txBody>
      </p:sp>
      <p:sp>
        <p:nvSpPr>
          <p:cNvPr id="408" name="Google Shape;408;p21"/>
          <p:cNvSpPr txBox="1"/>
          <p:nvPr/>
        </p:nvSpPr>
        <p:spPr>
          <a:xfrm>
            <a:off x="7790687" y="3749039"/>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1–48 h</a:t>
            </a:r>
            <a:endParaRPr b="0" i="0" sz="1400" u="none" cap="none" strike="noStrike">
              <a:solidFill>
                <a:srgbClr val="000000"/>
              </a:solidFill>
              <a:latin typeface="Arial"/>
              <a:ea typeface="Arial"/>
              <a:cs typeface="Arial"/>
              <a:sym typeface="Arial"/>
            </a:endParaRPr>
          </a:p>
        </p:txBody>
      </p:sp>
      <p:sp>
        <p:nvSpPr>
          <p:cNvPr id="409" name="Google Shape;409;p21"/>
          <p:cNvSpPr txBox="1"/>
          <p:nvPr/>
        </p:nvSpPr>
        <p:spPr>
          <a:xfrm>
            <a:off x="10469879" y="3749039"/>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410" name="Google Shape;410;p21"/>
          <p:cNvSpPr/>
          <p:nvPr/>
        </p:nvSpPr>
        <p:spPr>
          <a:xfrm>
            <a:off x="365760" y="4407408"/>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1" name="Google Shape;411;p21"/>
          <p:cNvSpPr/>
          <p:nvPr/>
        </p:nvSpPr>
        <p:spPr>
          <a:xfrm>
            <a:off x="365760" y="4407408"/>
            <a:ext cx="11457432" cy="786384"/>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21"/>
          <p:cNvSpPr txBox="1"/>
          <p:nvPr/>
        </p:nvSpPr>
        <p:spPr>
          <a:xfrm>
            <a:off x="475488" y="448056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PixGuard-Sim</a:t>
            </a:r>
            <a:endParaRPr b="0" i="0" sz="1400" u="none" cap="none" strike="noStrike">
              <a:solidFill>
                <a:srgbClr val="000000"/>
              </a:solidFill>
              <a:latin typeface="Arial"/>
              <a:ea typeface="Arial"/>
              <a:cs typeface="Arial"/>
              <a:sym typeface="Arial"/>
            </a:endParaRPr>
          </a:p>
        </p:txBody>
      </p:sp>
      <p:sp>
        <p:nvSpPr>
          <p:cNvPr id="413" name="Google Shape;413;p21"/>
          <p:cNvSpPr txBox="1"/>
          <p:nvPr/>
        </p:nvSpPr>
        <p:spPr>
          <a:xfrm>
            <a:off x="3721607" y="448056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a:t>
            </a:r>
            <a:endParaRPr b="0" i="0" sz="1400" u="none" cap="none" strike="noStrike">
              <a:solidFill>
                <a:srgbClr val="000000"/>
              </a:solidFill>
              <a:latin typeface="Arial"/>
              <a:ea typeface="Arial"/>
              <a:cs typeface="Arial"/>
              <a:sym typeface="Arial"/>
            </a:endParaRPr>
          </a:p>
        </p:txBody>
      </p:sp>
      <p:sp>
        <p:nvSpPr>
          <p:cNvPr id="414" name="Google Shape;414;p21"/>
          <p:cNvSpPr txBox="1"/>
          <p:nvPr/>
        </p:nvSpPr>
        <p:spPr>
          <a:xfrm>
            <a:off x="5916168" y="448056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 e multi</a:t>
            </a:r>
            <a:endParaRPr b="0" i="0" sz="1400" u="none" cap="none" strike="noStrike">
              <a:solidFill>
                <a:srgbClr val="000000"/>
              </a:solidFill>
              <a:latin typeface="Arial"/>
              <a:ea typeface="Arial"/>
              <a:cs typeface="Arial"/>
              <a:sym typeface="Arial"/>
            </a:endParaRPr>
          </a:p>
        </p:txBody>
      </p:sp>
      <p:sp>
        <p:nvSpPr>
          <p:cNvPr id="415" name="Google Shape;415;p21"/>
          <p:cNvSpPr txBox="1"/>
          <p:nvPr/>
        </p:nvSpPr>
        <p:spPr>
          <a:xfrm>
            <a:off x="7790687" y="448056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Por evento</a:t>
            </a:r>
            <a:endParaRPr b="0" i="0" sz="1400" u="none" cap="none" strike="noStrike">
              <a:solidFill>
                <a:srgbClr val="000000"/>
              </a:solidFill>
              <a:latin typeface="Arial"/>
              <a:ea typeface="Arial"/>
              <a:cs typeface="Arial"/>
              <a:sym typeface="Arial"/>
            </a:endParaRPr>
          </a:p>
        </p:txBody>
      </p:sp>
      <p:sp>
        <p:nvSpPr>
          <p:cNvPr id="416" name="Google Shape;416;p21"/>
          <p:cNvSpPr txBox="1"/>
          <p:nvPr/>
        </p:nvSpPr>
        <p:spPr>
          <a:xfrm>
            <a:off x="10469879" y="448056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0A5C2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417" name="Google Shape;417;p21"/>
          <p:cNvSpPr/>
          <p:nvPr/>
        </p:nvSpPr>
        <p:spPr>
          <a:xfrm>
            <a:off x="360639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21"/>
          <p:cNvSpPr/>
          <p:nvPr/>
        </p:nvSpPr>
        <p:spPr>
          <a:xfrm>
            <a:off x="580095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9" name="Google Shape;419;p21"/>
          <p:cNvSpPr/>
          <p:nvPr/>
        </p:nvSpPr>
        <p:spPr>
          <a:xfrm>
            <a:off x="767547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0" name="Google Shape;420;p21"/>
          <p:cNvSpPr/>
          <p:nvPr/>
        </p:nvSpPr>
        <p:spPr>
          <a:xfrm>
            <a:off x="10354665"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21"/>
          <p:cNvSpPr/>
          <p:nvPr/>
        </p:nvSpPr>
        <p:spPr>
          <a:xfrm>
            <a:off x="402336" y="3675887"/>
            <a:ext cx="11384280" cy="786384"/>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1"/>
          <p:cNvSpPr/>
          <p:nvPr/>
        </p:nvSpPr>
        <p:spPr>
          <a:xfrm>
            <a:off x="5852160" y="4956048"/>
            <a:ext cx="493776" cy="292608"/>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1"/>
          <p:cNvSpPr/>
          <p:nvPr/>
        </p:nvSpPr>
        <p:spPr>
          <a:xfrm>
            <a:off x="1463040" y="5230368"/>
            <a:ext cx="9326880" cy="932688"/>
          </a:xfrm>
          <a:prstGeom prst="roundRect">
            <a:avLst>
              <a:gd fmla="val 16667" name="adj"/>
            </a:avLst>
          </a:prstGeom>
          <a:solidFill>
            <a:srgbClr val="0C2B27"/>
          </a:solidFill>
          <a:ln>
            <a:noFill/>
          </a:ln>
        </p:spPr>
        <p:txBody>
          <a:bodyPr anchorCtr="0" anchor="ctr" bIns="128000" lIns="475475" spcFirstLastPara="1" rIns="475475" wrap="square" tIns="1280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Inter"/>
                <a:ea typeface="Inter"/>
                <a:cs typeface="Inter"/>
                <a:sym typeface="Inter"/>
              </a:rPr>
              <a:t>Lavagem em cadeia, de 1 a 48 h entre saltos. O análogo aberto mais próximo do MED.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descr="sbseg2026_rodape.png" id="429" name="Google Shape;429;p1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30" name="Google Shape;430;p1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14</a:t>
            </a:r>
            <a:endParaRPr b="0" i="0" sz="1400" u="none" cap="none" strike="noStrike">
              <a:solidFill>
                <a:srgbClr val="000000"/>
              </a:solidFill>
              <a:latin typeface="Arial"/>
              <a:ea typeface="Arial"/>
              <a:cs typeface="Arial"/>
              <a:sym typeface="Arial"/>
            </a:endParaRPr>
          </a:p>
        </p:txBody>
      </p:sp>
      <p:sp>
        <p:nvSpPr>
          <p:cNvPr id="431" name="Google Shape;431;p1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TRABALHOS RELACIONADOS</a:t>
            </a:r>
            <a:endParaRPr b="0" i="0" sz="1400" u="none" cap="none" strike="noStrike">
              <a:solidFill>
                <a:srgbClr val="000000"/>
              </a:solidFill>
              <a:latin typeface="Arial"/>
              <a:ea typeface="Arial"/>
              <a:cs typeface="Arial"/>
              <a:sym typeface="Arial"/>
            </a:endParaRPr>
          </a:p>
        </p:txBody>
      </p:sp>
      <p:sp>
        <p:nvSpPr>
          <p:cNvPr id="432" name="Google Shape;432;p11"/>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geradores, e o que cada um mede</a:t>
            </a:r>
            <a:endParaRPr b="0" i="0" sz="1400" u="none" cap="none" strike="noStrike">
              <a:solidFill>
                <a:srgbClr val="000000"/>
              </a:solidFill>
              <a:latin typeface="Arial"/>
              <a:ea typeface="Arial"/>
              <a:cs typeface="Arial"/>
              <a:sym typeface="Arial"/>
            </a:endParaRPr>
          </a:p>
        </p:txBody>
      </p:sp>
      <p:sp>
        <p:nvSpPr>
          <p:cNvPr id="433" name="Google Shape;433;p11"/>
          <p:cNvSpPr/>
          <p:nvPr/>
        </p:nvSpPr>
        <p:spPr>
          <a:xfrm>
            <a:off x="365760" y="1444751"/>
            <a:ext cx="11457432" cy="768096"/>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11"/>
          <p:cNvSpPr txBox="1"/>
          <p:nvPr/>
        </p:nvSpPr>
        <p:spPr>
          <a:xfrm>
            <a:off x="475488" y="1609344"/>
            <a:ext cx="3026663"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Trabalho</a:t>
            </a:r>
            <a:endParaRPr b="0" i="0" sz="1400" u="none" cap="none" strike="noStrike">
              <a:solidFill>
                <a:srgbClr val="000000"/>
              </a:solidFill>
              <a:latin typeface="Arial"/>
              <a:ea typeface="Arial"/>
              <a:cs typeface="Arial"/>
              <a:sym typeface="Arial"/>
            </a:endParaRPr>
          </a:p>
        </p:txBody>
      </p:sp>
      <p:sp>
        <p:nvSpPr>
          <p:cNvPr id="435" name="Google Shape;435;p11"/>
          <p:cNvSpPr txBox="1"/>
          <p:nvPr/>
        </p:nvSpPr>
        <p:spPr>
          <a:xfrm>
            <a:off x="3721607" y="1609344"/>
            <a:ext cx="1975104"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Domínio</a:t>
            </a:r>
            <a:endParaRPr b="0" i="0" sz="1400" u="none" cap="none" strike="noStrike">
              <a:solidFill>
                <a:srgbClr val="000000"/>
              </a:solidFill>
              <a:latin typeface="Arial"/>
              <a:ea typeface="Arial"/>
              <a:cs typeface="Arial"/>
              <a:sym typeface="Arial"/>
            </a:endParaRPr>
          </a:p>
        </p:txBody>
      </p:sp>
      <p:sp>
        <p:nvSpPr>
          <p:cNvPr id="436" name="Google Shape;436;p11"/>
          <p:cNvSpPr txBox="1"/>
          <p:nvPr/>
        </p:nvSpPr>
        <p:spPr>
          <a:xfrm>
            <a:off x="5916168" y="1609344"/>
            <a:ext cx="1655063" cy="5120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Cadeia</a:t>
            </a:r>
            <a:endParaRPr b="0" i="0" sz="1400" u="none" cap="none" strike="noStrike">
              <a:solidFill>
                <a:srgbClr val="000000"/>
              </a:solidFill>
              <a:latin typeface="Arial"/>
              <a:ea typeface="Arial"/>
              <a:cs typeface="Arial"/>
              <a:sym typeface="Arial"/>
            </a:endParaRPr>
          </a:p>
        </p:txBody>
      </p:sp>
      <p:sp>
        <p:nvSpPr>
          <p:cNvPr id="437" name="Google Shape;437;p11"/>
          <p:cNvSpPr txBox="1"/>
          <p:nvPr/>
        </p:nvSpPr>
        <p:spPr>
          <a:xfrm>
            <a:off x="7790687" y="1609344"/>
            <a:ext cx="2459736" cy="5120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Tempo</a:t>
            </a:r>
            <a:endParaRPr b="0" i="0" sz="1400" u="none" cap="none" strike="noStrike">
              <a:solidFill>
                <a:srgbClr val="000000"/>
              </a:solidFill>
              <a:latin typeface="Arial"/>
              <a:ea typeface="Arial"/>
              <a:cs typeface="Arial"/>
              <a:sym typeface="Arial"/>
            </a:endParaRPr>
          </a:p>
        </p:txBody>
      </p:sp>
      <p:sp>
        <p:nvSpPr>
          <p:cNvPr id="438" name="Google Shape;438;p11"/>
          <p:cNvSpPr txBox="1"/>
          <p:nvPr/>
        </p:nvSpPr>
        <p:spPr>
          <a:xfrm>
            <a:off x="10469879" y="1609344"/>
            <a:ext cx="1243584" cy="5120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Prazo</a:t>
            </a:r>
            <a:endParaRPr b="0" i="0" sz="1400" u="none" cap="none" strike="noStrike">
              <a:solidFill>
                <a:srgbClr val="000000"/>
              </a:solidFill>
              <a:latin typeface="Arial"/>
              <a:ea typeface="Arial"/>
              <a:cs typeface="Arial"/>
              <a:sym typeface="Arial"/>
            </a:endParaRPr>
          </a:p>
        </p:txBody>
      </p:sp>
      <p:sp>
        <p:nvSpPr>
          <p:cNvPr id="439" name="Google Shape;439;p11"/>
          <p:cNvSpPr txBox="1"/>
          <p:nvPr/>
        </p:nvSpPr>
        <p:spPr>
          <a:xfrm>
            <a:off x="475488" y="228600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PaySim</a:t>
            </a:r>
            <a:endParaRPr b="0" i="0" sz="1400" u="none" cap="none" strike="noStrike">
              <a:solidFill>
                <a:srgbClr val="000000"/>
              </a:solidFill>
              <a:latin typeface="Arial"/>
              <a:ea typeface="Arial"/>
              <a:cs typeface="Arial"/>
              <a:sym typeface="Arial"/>
            </a:endParaRPr>
          </a:p>
        </p:txBody>
      </p:sp>
      <p:sp>
        <p:nvSpPr>
          <p:cNvPr id="440" name="Google Shape;440;p11"/>
          <p:cNvSpPr txBox="1"/>
          <p:nvPr/>
        </p:nvSpPr>
        <p:spPr>
          <a:xfrm>
            <a:off x="3721607" y="228600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Din. móvel</a:t>
            </a:r>
            <a:endParaRPr b="0" i="0" sz="1400" u="none" cap="none" strike="noStrike">
              <a:solidFill>
                <a:srgbClr val="000000"/>
              </a:solidFill>
              <a:latin typeface="Arial"/>
              <a:ea typeface="Arial"/>
              <a:cs typeface="Arial"/>
              <a:sym typeface="Arial"/>
            </a:endParaRPr>
          </a:p>
        </p:txBody>
      </p:sp>
      <p:sp>
        <p:nvSpPr>
          <p:cNvPr id="441" name="Google Shape;441;p11"/>
          <p:cNvSpPr txBox="1"/>
          <p:nvPr/>
        </p:nvSpPr>
        <p:spPr>
          <a:xfrm>
            <a:off x="5916168" y="228600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442" name="Google Shape;442;p11"/>
          <p:cNvSpPr txBox="1"/>
          <p:nvPr/>
        </p:nvSpPr>
        <p:spPr>
          <a:xfrm>
            <a:off x="7790687" y="228600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 h por passo</a:t>
            </a:r>
            <a:endParaRPr b="0" i="0" sz="1400" u="none" cap="none" strike="noStrike">
              <a:solidFill>
                <a:srgbClr val="000000"/>
              </a:solidFill>
              <a:latin typeface="Arial"/>
              <a:ea typeface="Arial"/>
              <a:cs typeface="Arial"/>
              <a:sym typeface="Arial"/>
            </a:endParaRPr>
          </a:p>
        </p:txBody>
      </p:sp>
      <p:sp>
        <p:nvSpPr>
          <p:cNvPr id="443" name="Google Shape;443;p11"/>
          <p:cNvSpPr txBox="1"/>
          <p:nvPr/>
        </p:nvSpPr>
        <p:spPr>
          <a:xfrm>
            <a:off x="10469879" y="228600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444" name="Google Shape;444;p11"/>
          <p:cNvSpPr/>
          <p:nvPr/>
        </p:nvSpPr>
        <p:spPr>
          <a:xfrm>
            <a:off x="365760" y="2944368"/>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p11"/>
          <p:cNvSpPr txBox="1"/>
          <p:nvPr/>
        </p:nvSpPr>
        <p:spPr>
          <a:xfrm>
            <a:off x="475488" y="301752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pix-fraud-br</a:t>
            </a:r>
            <a:endParaRPr b="0" i="0" sz="1400" u="none" cap="none" strike="noStrike">
              <a:solidFill>
                <a:srgbClr val="000000"/>
              </a:solidFill>
              <a:latin typeface="Arial"/>
              <a:ea typeface="Arial"/>
              <a:cs typeface="Arial"/>
              <a:sym typeface="Arial"/>
            </a:endParaRPr>
          </a:p>
        </p:txBody>
      </p:sp>
      <p:sp>
        <p:nvSpPr>
          <p:cNvPr id="446" name="Google Shape;446;p11"/>
          <p:cNvSpPr txBox="1"/>
          <p:nvPr/>
        </p:nvSpPr>
        <p:spPr>
          <a:xfrm>
            <a:off x="3721607" y="301752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Pix</a:t>
            </a:r>
            <a:endParaRPr b="0" i="0" sz="1400" u="none" cap="none" strike="noStrike">
              <a:solidFill>
                <a:srgbClr val="000000"/>
              </a:solidFill>
              <a:latin typeface="Arial"/>
              <a:ea typeface="Arial"/>
              <a:cs typeface="Arial"/>
              <a:sym typeface="Arial"/>
            </a:endParaRPr>
          </a:p>
        </p:txBody>
      </p:sp>
      <p:sp>
        <p:nvSpPr>
          <p:cNvPr id="447" name="Google Shape;447;p11"/>
          <p:cNvSpPr txBox="1"/>
          <p:nvPr/>
        </p:nvSpPr>
        <p:spPr>
          <a:xfrm>
            <a:off x="5916168" y="301752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 salto</a:t>
            </a:r>
            <a:endParaRPr b="0" i="0" sz="1400" u="none" cap="none" strike="noStrike">
              <a:solidFill>
                <a:srgbClr val="000000"/>
              </a:solidFill>
              <a:latin typeface="Arial"/>
              <a:ea typeface="Arial"/>
              <a:cs typeface="Arial"/>
              <a:sym typeface="Arial"/>
            </a:endParaRPr>
          </a:p>
        </p:txBody>
      </p:sp>
      <p:sp>
        <p:nvSpPr>
          <p:cNvPr id="448" name="Google Shape;448;p11"/>
          <p:cNvSpPr txBox="1"/>
          <p:nvPr/>
        </p:nvSpPr>
        <p:spPr>
          <a:xfrm>
            <a:off x="7790687" y="301752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Carimbo</a:t>
            </a:r>
            <a:endParaRPr b="0" i="0" sz="1400" u="none" cap="none" strike="noStrike">
              <a:solidFill>
                <a:srgbClr val="000000"/>
              </a:solidFill>
              <a:latin typeface="Arial"/>
              <a:ea typeface="Arial"/>
              <a:cs typeface="Arial"/>
              <a:sym typeface="Arial"/>
            </a:endParaRPr>
          </a:p>
        </p:txBody>
      </p:sp>
      <p:sp>
        <p:nvSpPr>
          <p:cNvPr id="449" name="Google Shape;449;p11"/>
          <p:cNvSpPr txBox="1"/>
          <p:nvPr/>
        </p:nvSpPr>
        <p:spPr>
          <a:xfrm>
            <a:off x="10469879" y="301752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450" name="Google Shape;450;p11"/>
          <p:cNvSpPr/>
          <p:nvPr/>
        </p:nvSpPr>
        <p:spPr>
          <a:xfrm>
            <a:off x="365760" y="3675887"/>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p11"/>
          <p:cNvSpPr txBox="1"/>
          <p:nvPr/>
        </p:nvSpPr>
        <p:spPr>
          <a:xfrm>
            <a:off x="475488" y="3749039"/>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Tide</a:t>
            </a:r>
            <a:endParaRPr b="0" i="0" sz="1400" u="none" cap="none" strike="noStrike">
              <a:solidFill>
                <a:srgbClr val="000000"/>
              </a:solidFill>
              <a:latin typeface="Arial"/>
              <a:ea typeface="Arial"/>
              <a:cs typeface="Arial"/>
              <a:sym typeface="Arial"/>
            </a:endParaRPr>
          </a:p>
        </p:txBody>
      </p:sp>
      <p:sp>
        <p:nvSpPr>
          <p:cNvPr id="452" name="Google Shape;452;p11"/>
          <p:cNvSpPr txBox="1"/>
          <p:nvPr/>
        </p:nvSpPr>
        <p:spPr>
          <a:xfrm>
            <a:off x="3721607" y="3749039"/>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Bancária</a:t>
            </a:r>
            <a:endParaRPr b="0" i="0" sz="1400" u="none" cap="none" strike="noStrike">
              <a:solidFill>
                <a:srgbClr val="000000"/>
              </a:solidFill>
              <a:latin typeface="Arial"/>
              <a:ea typeface="Arial"/>
              <a:cs typeface="Arial"/>
              <a:sym typeface="Arial"/>
            </a:endParaRPr>
          </a:p>
        </p:txBody>
      </p:sp>
      <p:sp>
        <p:nvSpPr>
          <p:cNvPr id="453" name="Google Shape;453;p11"/>
          <p:cNvSpPr txBox="1"/>
          <p:nvPr/>
        </p:nvSpPr>
        <p:spPr>
          <a:xfrm>
            <a:off x="5916168" y="3749039"/>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2–5</a:t>
            </a:r>
            <a:endParaRPr b="0" i="0" sz="1400" u="none" cap="none" strike="noStrike">
              <a:solidFill>
                <a:srgbClr val="000000"/>
              </a:solidFill>
              <a:latin typeface="Arial"/>
              <a:ea typeface="Arial"/>
              <a:cs typeface="Arial"/>
              <a:sym typeface="Arial"/>
            </a:endParaRPr>
          </a:p>
        </p:txBody>
      </p:sp>
      <p:sp>
        <p:nvSpPr>
          <p:cNvPr id="454" name="Google Shape;454;p11"/>
          <p:cNvSpPr txBox="1"/>
          <p:nvPr/>
        </p:nvSpPr>
        <p:spPr>
          <a:xfrm>
            <a:off x="7790687" y="3749039"/>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1–48 h</a:t>
            </a:r>
            <a:endParaRPr b="0" i="0" sz="1400" u="none" cap="none" strike="noStrike">
              <a:solidFill>
                <a:srgbClr val="000000"/>
              </a:solidFill>
              <a:latin typeface="Arial"/>
              <a:ea typeface="Arial"/>
              <a:cs typeface="Arial"/>
              <a:sym typeface="Arial"/>
            </a:endParaRPr>
          </a:p>
        </p:txBody>
      </p:sp>
      <p:sp>
        <p:nvSpPr>
          <p:cNvPr id="455" name="Google Shape;455;p11"/>
          <p:cNvSpPr txBox="1"/>
          <p:nvPr/>
        </p:nvSpPr>
        <p:spPr>
          <a:xfrm>
            <a:off x="10469879" y="3749039"/>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A3121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456" name="Google Shape;456;p11"/>
          <p:cNvSpPr/>
          <p:nvPr/>
        </p:nvSpPr>
        <p:spPr>
          <a:xfrm>
            <a:off x="365760" y="4407408"/>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11"/>
          <p:cNvSpPr/>
          <p:nvPr/>
        </p:nvSpPr>
        <p:spPr>
          <a:xfrm>
            <a:off x="365760" y="4407408"/>
            <a:ext cx="11457432" cy="786384"/>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11"/>
          <p:cNvSpPr txBox="1"/>
          <p:nvPr/>
        </p:nvSpPr>
        <p:spPr>
          <a:xfrm>
            <a:off x="475488" y="4480560"/>
            <a:ext cx="3026663"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PixGuard-Sim</a:t>
            </a:r>
            <a:endParaRPr b="0" i="0" sz="1400" u="none" cap="none" strike="noStrike">
              <a:solidFill>
                <a:srgbClr val="000000"/>
              </a:solidFill>
              <a:latin typeface="Arial"/>
              <a:ea typeface="Arial"/>
              <a:cs typeface="Arial"/>
              <a:sym typeface="Arial"/>
            </a:endParaRPr>
          </a:p>
        </p:txBody>
      </p:sp>
      <p:sp>
        <p:nvSpPr>
          <p:cNvPr id="459" name="Google Shape;459;p11"/>
          <p:cNvSpPr txBox="1"/>
          <p:nvPr/>
        </p:nvSpPr>
        <p:spPr>
          <a:xfrm>
            <a:off x="3721607" y="4480560"/>
            <a:ext cx="1975104"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a:t>
            </a:r>
            <a:endParaRPr b="0" i="0" sz="1400" u="none" cap="none" strike="noStrike">
              <a:solidFill>
                <a:srgbClr val="000000"/>
              </a:solidFill>
              <a:latin typeface="Arial"/>
              <a:ea typeface="Arial"/>
              <a:cs typeface="Arial"/>
              <a:sym typeface="Arial"/>
            </a:endParaRPr>
          </a:p>
        </p:txBody>
      </p:sp>
      <p:sp>
        <p:nvSpPr>
          <p:cNvPr id="460" name="Google Shape;460;p11"/>
          <p:cNvSpPr txBox="1"/>
          <p:nvPr/>
        </p:nvSpPr>
        <p:spPr>
          <a:xfrm>
            <a:off x="5916168" y="4480560"/>
            <a:ext cx="1655063"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1 e multi</a:t>
            </a:r>
            <a:endParaRPr b="0" i="0" sz="1400" u="none" cap="none" strike="noStrike">
              <a:solidFill>
                <a:srgbClr val="000000"/>
              </a:solidFill>
              <a:latin typeface="Arial"/>
              <a:ea typeface="Arial"/>
              <a:cs typeface="Arial"/>
              <a:sym typeface="Arial"/>
            </a:endParaRPr>
          </a:p>
        </p:txBody>
      </p:sp>
      <p:sp>
        <p:nvSpPr>
          <p:cNvPr id="461" name="Google Shape;461;p11"/>
          <p:cNvSpPr txBox="1"/>
          <p:nvPr/>
        </p:nvSpPr>
        <p:spPr>
          <a:xfrm>
            <a:off x="7790687" y="4480560"/>
            <a:ext cx="2459736"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Por evento</a:t>
            </a:r>
            <a:endParaRPr b="0" i="0" sz="1400" u="none" cap="none" strike="noStrike">
              <a:solidFill>
                <a:srgbClr val="000000"/>
              </a:solidFill>
              <a:latin typeface="Arial"/>
              <a:ea typeface="Arial"/>
              <a:cs typeface="Arial"/>
              <a:sym typeface="Arial"/>
            </a:endParaRPr>
          </a:p>
        </p:txBody>
      </p:sp>
      <p:sp>
        <p:nvSpPr>
          <p:cNvPr id="462" name="Google Shape;462;p11"/>
          <p:cNvSpPr txBox="1"/>
          <p:nvPr/>
        </p:nvSpPr>
        <p:spPr>
          <a:xfrm>
            <a:off x="10469879" y="4480560"/>
            <a:ext cx="1243584"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0A5C2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463" name="Google Shape;463;p11"/>
          <p:cNvSpPr/>
          <p:nvPr/>
        </p:nvSpPr>
        <p:spPr>
          <a:xfrm>
            <a:off x="360639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11"/>
          <p:cNvSpPr/>
          <p:nvPr/>
        </p:nvSpPr>
        <p:spPr>
          <a:xfrm>
            <a:off x="580095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5" name="Google Shape;465;p11"/>
          <p:cNvSpPr/>
          <p:nvPr/>
        </p:nvSpPr>
        <p:spPr>
          <a:xfrm>
            <a:off x="7675473"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6" name="Google Shape;466;p11"/>
          <p:cNvSpPr/>
          <p:nvPr/>
        </p:nvSpPr>
        <p:spPr>
          <a:xfrm>
            <a:off x="10354665" y="2212848"/>
            <a:ext cx="10972" cy="2980944"/>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7" name="Google Shape;467;p11"/>
          <p:cNvSpPr/>
          <p:nvPr/>
        </p:nvSpPr>
        <p:spPr>
          <a:xfrm>
            <a:off x="10332720" y="1481328"/>
            <a:ext cx="1444752" cy="3749039"/>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1"/>
          <p:cNvSpPr/>
          <p:nvPr/>
        </p:nvSpPr>
        <p:spPr>
          <a:xfrm>
            <a:off x="10808208" y="4974336"/>
            <a:ext cx="493776" cy="292608"/>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11"/>
          <p:cNvSpPr/>
          <p:nvPr/>
        </p:nvSpPr>
        <p:spPr>
          <a:xfrm>
            <a:off x="2560320" y="5248656"/>
            <a:ext cx="9144000" cy="896112"/>
          </a:xfrm>
          <a:prstGeom prst="roundRect">
            <a:avLst>
              <a:gd fmla="val 16667" name="adj"/>
            </a:avLst>
          </a:prstGeom>
          <a:solidFill>
            <a:srgbClr val="0C2B27"/>
          </a:solidFill>
          <a:ln>
            <a:noFill/>
          </a:ln>
        </p:spPr>
        <p:txBody>
          <a:bodyPr anchorCtr="0" anchor="ctr" bIns="146300" lIns="475475" spcFirstLastPara="1" rIns="475475" wrap="square" tIns="1463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Nenhum mede se a decisão chega a tempo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12"/>
          <p:cNvSpPr/>
          <p:nvPr/>
        </p:nvSpPr>
        <p:spPr>
          <a:xfrm>
            <a:off x="0" y="0"/>
            <a:ext cx="12191695" cy="6858000"/>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476" name="Google Shape;476;p1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77" name="Google Shape;477;p1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JetBrains Mono"/>
                <a:ea typeface="JetBrains Mono"/>
                <a:cs typeface="JetBrains Mono"/>
                <a:sym typeface="JetBrains Mono"/>
              </a:rPr>
              <a:t>15</a:t>
            </a:r>
            <a:endParaRPr b="0" i="0" sz="1400" u="none" cap="none" strike="noStrike">
              <a:solidFill>
                <a:srgbClr val="000000"/>
              </a:solidFill>
              <a:latin typeface="Arial"/>
              <a:ea typeface="Arial"/>
              <a:cs typeface="Arial"/>
              <a:sym typeface="Arial"/>
            </a:endParaRPr>
          </a:p>
        </p:txBody>
      </p:sp>
      <p:sp>
        <p:nvSpPr>
          <p:cNvPr id="478" name="Google Shape;478;p12"/>
          <p:cNvSpPr/>
          <p:nvPr/>
        </p:nvSpPr>
        <p:spPr>
          <a:xfrm>
            <a:off x="5870448" y="841248"/>
            <a:ext cx="5998464" cy="5175504"/>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g03_justo.jpg" id="479" name="Google Shape;479;p12"/>
          <p:cNvPicPr preferRelativeResize="0"/>
          <p:nvPr/>
        </p:nvPicPr>
        <p:blipFill rotWithShape="1">
          <a:blip r:embed="rId4">
            <a:alphaModFix/>
          </a:blip>
          <a:srcRect b="0" l="0" r="0" t="0"/>
          <a:stretch/>
        </p:blipFill>
        <p:spPr>
          <a:xfrm>
            <a:off x="5989320" y="2140518"/>
            <a:ext cx="5760720" cy="2576962"/>
          </a:xfrm>
          <a:prstGeom prst="rect">
            <a:avLst/>
          </a:prstGeom>
          <a:noFill/>
          <a:ln>
            <a:noFill/>
          </a:ln>
        </p:spPr>
      </p:pic>
      <p:sp>
        <p:nvSpPr>
          <p:cNvPr id="480" name="Google Shape;480;p12"/>
          <p:cNvSpPr txBox="1"/>
          <p:nvPr/>
        </p:nvSpPr>
        <p:spPr>
          <a:xfrm>
            <a:off x="868680" y="1874519"/>
            <a:ext cx="182880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600"/>
              <a:buFont typeface="Arial"/>
              <a:buNone/>
            </a:pPr>
            <a:r>
              <a:rPr b="1" i="0" lang="en-US" sz="7600" u="none" cap="none" strike="noStrike">
                <a:solidFill>
                  <a:srgbClr val="FFFFFF"/>
                </a:solidFill>
                <a:latin typeface="JetBrains Mono"/>
                <a:ea typeface="JetBrains Mono"/>
                <a:cs typeface="JetBrains Mono"/>
                <a:sym typeface="JetBrains Mono"/>
              </a:rPr>
              <a:t>01</a:t>
            </a:r>
            <a:endParaRPr b="0" i="0" sz="1400" u="none" cap="none" strike="noStrike">
              <a:solidFill>
                <a:srgbClr val="000000"/>
              </a:solidFill>
              <a:latin typeface="Arial"/>
              <a:ea typeface="Arial"/>
              <a:cs typeface="Arial"/>
              <a:sym typeface="Arial"/>
            </a:endParaRPr>
          </a:p>
        </p:txBody>
      </p:sp>
      <p:sp>
        <p:nvSpPr>
          <p:cNvPr id="481" name="Google Shape;481;p12"/>
          <p:cNvSpPr txBox="1"/>
          <p:nvPr/>
        </p:nvSpPr>
        <p:spPr>
          <a:xfrm>
            <a:off x="868680" y="3017520"/>
            <a:ext cx="493776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FFFFFF"/>
                </a:solidFill>
                <a:latin typeface="Space Grotesk"/>
                <a:ea typeface="Space Grotesk"/>
                <a:cs typeface="Space Grotesk"/>
                <a:sym typeface="Space Grotesk"/>
              </a:rPr>
              <a:t>A proposta</a:t>
            </a:r>
            <a:endParaRPr b="0" i="0" sz="1400" u="none" cap="none" strike="noStrike">
              <a:solidFill>
                <a:srgbClr val="000000"/>
              </a:solidFill>
              <a:latin typeface="Arial"/>
              <a:ea typeface="Arial"/>
              <a:cs typeface="Arial"/>
              <a:sym typeface="Arial"/>
            </a:endParaRPr>
          </a:p>
        </p:txBody>
      </p:sp>
      <p:sp>
        <p:nvSpPr>
          <p:cNvPr id="482" name="Google Shape;482;p12"/>
          <p:cNvSpPr txBox="1"/>
          <p:nvPr/>
        </p:nvSpPr>
        <p:spPr>
          <a:xfrm>
            <a:off x="868680" y="3840480"/>
            <a:ext cx="4755000" cy="21540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Clr>
                <a:srgbClr val="000000"/>
              </a:buClr>
              <a:buSzPts val="32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descr="sbseg2026_rodape.png" id="487" name="Google Shape;487;p6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88" name="Google Shape;488;p6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16</a:t>
            </a:r>
            <a:endParaRPr b="0" i="0" sz="1400" u="none" cap="none" strike="noStrike">
              <a:solidFill>
                <a:srgbClr val="000000"/>
              </a:solidFill>
              <a:latin typeface="Arial"/>
              <a:ea typeface="Arial"/>
              <a:cs typeface="Arial"/>
              <a:sym typeface="Arial"/>
            </a:endParaRPr>
          </a:p>
        </p:txBody>
      </p:sp>
      <p:sp>
        <p:nvSpPr>
          <p:cNvPr id="489" name="Google Shape;489;p6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CENÁRIOS</a:t>
            </a:r>
            <a:endParaRPr b="0" i="0" sz="1400" u="none" cap="none" strike="noStrike">
              <a:solidFill>
                <a:srgbClr val="000000"/>
              </a:solidFill>
              <a:latin typeface="Arial"/>
              <a:ea typeface="Arial"/>
              <a:cs typeface="Arial"/>
              <a:sym typeface="Arial"/>
            </a:endParaRPr>
          </a:p>
        </p:txBody>
      </p:sp>
      <p:sp>
        <p:nvSpPr>
          <p:cNvPr id="490" name="Google Shape;490;p66"/>
          <p:cNvSpPr/>
          <p:nvPr/>
        </p:nvSpPr>
        <p:spPr>
          <a:xfrm>
            <a:off x="713232" y="2048255"/>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66"/>
          <p:cNvSpPr txBox="1"/>
          <p:nvPr/>
        </p:nvSpPr>
        <p:spPr>
          <a:xfrm>
            <a:off x="1133856" y="1874519"/>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Tomada de conta</a:t>
            </a:r>
            <a:endParaRPr b="0" i="0" sz="1400" u="none" cap="none" strike="noStrike">
              <a:solidFill>
                <a:srgbClr val="000000"/>
              </a:solidFill>
              <a:latin typeface="Arial"/>
              <a:ea typeface="Arial"/>
              <a:cs typeface="Arial"/>
              <a:sym typeface="Arial"/>
            </a:endParaRPr>
          </a:p>
        </p:txBody>
      </p:sp>
      <p:sp>
        <p:nvSpPr>
          <p:cNvPr id="492" name="Google Shape;492;p66"/>
          <p:cNvSpPr/>
          <p:nvPr/>
        </p:nvSpPr>
        <p:spPr>
          <a:xfrm>
            <a:off x="713232" y="300837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3" name="Google Shape;493;p66"/>
          <p:cNvSpPr txBox="1"/>
          <p:nvPr/>
        </p:nvSpPr>
        <p:spPr>
          <a:xfrm>
            <a:off x="1133856" y="283464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Coação</a:t>
            </a:r>
            <a:endParaRPr b="0" i="0" sz="1400" u="none" cap="none" strike="noStrike">
              <a:solidFill>
                <a:srgbClr val="000000"/>
              </a:solidFill>
              <a:latin typeface="Arial"/>
              <a:ea typeface="Arial"/>
              <a:cs typeface="Arial"/>
              <a:sym typeface="Arial"/>
            </a:endParaRPr>
          </a:p>
        </p:txBody>
      </p:sp>
      <p:sp>
        <p:nvSpPr>
          <p:cNvPr id="494" name="Google Shape;494;p66"/>
          <p:cNvSpPr/>
          <p:nvPr/>
        </p:nvSpPr>
        <p:spPr>
          <a:xfrm>
            <a:off x="713232" y="396849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66"/>
          <p:cNvSpPr txBox="1"/>
          <p:nvPr/>
        </p:nvSpPr>
        <p:spPr>
          <a:xfrm>
            <a:off x="1133856" y="37947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Falsa devolução MED</a:t>
            </a:r>
            <a:endParaRPr b="0" i="0" sz="1400" u="none" cap="none" strike="noStrike">
              <a:solidFill>
                <a:srgbClr val="000000"/>
              </a:solidFill>
              <a:latin typeface="Arial"/>
              <a:ea typeface="Arial"/>
              <a:cs typeface="Arial"/>
              <a:sym typeface="Arial"/>
            </a:endParaRPr>
          </a:p>
        </p:txBody>
      </p:sp>
      <p:sp>
        <p:nvSpPr>
          <p:cNvPr id="496" name="Google Shape;496;p66"/>
          <p:cNvSpPr/>
          <p:nvPr/>
        </p:nvSpPr>
        <p:spPr>
          <a:xfrm>
            <a:off x="713232" y="492861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66"/>
          <p:cNvSpPr txBox="1"/>
          <p:nvPr/>
        </p:nvSpPr>
        <p:spPr>
          <a:xfrm>
            <a:off x="1133856" y="475488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Cadeia de laranjas</a:t>
            </a:r>
            <a:endParaRPr b="0" i="0" sz="1400" u="none" cap="none" strike="noStrike">
              <a:solidFill>
                <a:srgbClr val="000000"/>
              </a:solidFill>
              <a:latin typeface="Arial"/>
              <a:ea typeface="Arial"/>
              <a:cs typeface="Arial"/>
              <a:sym typeface="Arial"/>
            </a:endParaRPr>
          </a:p>
        </p:txBody>
      </p:sp>
      <p:sp>
        <p:nvSpPr>
          <p:cNvPr id="498" name="Google Shape;498;p66"/>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cenários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descr="sbseg2026_rodape.png" id="503" name="Google Shape;503;p6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04" name="Google Shape;504;p6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17</a:t>
            </a:r>
            <a:endParaRPr b="0" i="0" sz="1400" u="none" cap="none" strike="noStrike">
              <a:solidFill>
                <a:srgbClr val="000000"/>
              </a:solidFill>
              <a:latin typeface="Arial"/>
              <a:ea typeface="Arial"/>
              <a:cs typeface="Arial"/>
              <a:sym typeface="Arial"/>
            </a:endParaRPr>
          </a:p>
        </p:txBody>
      </p:sp>
      <p:sp>
        <p:nvSpPr>
          <p:cNvPr id="505" name="Google Shape;505;p6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CENÁRIOS</a:t>
            </a:r>
            <a:endParaRPr b="0" i="0" sz="1400" u="none" cap="none" strike="noStrike">
              <a:solidFill>
                <a:srgbClr val="000000"/>
              </a:solidFill>
              <a:latin typeface="Arial"/>
              <a:ea typeface="Arial"/>
              <a:cs typeface="Arial"/>
              <a:sym typeface="Arial"/>
            </a:endParaRPr>
          </a:p>
        </p:txBody>
      </p:sp>
      <p:sp>
        <p:nvSpPr>
          <p:cNvPr id="506" name="Google Shape;506;p67"/>
          <p:cNvSpPr/>
          <p:nvPr/>
        </p:nvSpPr>
        <p:spPr>
          <a:xfrm>
            <a:off x="713232" y="2048255"/>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67"/>
          <p:cNvSpPr txBox="1"/>
          <p:nvPr/>
        </p:nvSpPr>
        <p:spPr>
          <a:xfrm>
            <a:off x="1133856" y="1874519"/>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Tomada de conta</a:t>
            </a:r>
            <a:endParaRPr b="0" i="0" sz="1400" u="none" cap="none" strike="noStrike">
              <a:solidFill>
                <a:srgbClr val="000000"/>
              </a:solidFill>
              <a:latin typeface="Arial"/>
              <a:ea typeface="Arial"/>
              <a:cs typeface="Arial"/>
              <a:sym typeface="Arial"/>
            </a:endParaRPr>
          </a:p>
        </p:txBody>
      </p:sp>
      <p:sp>
        <p:nvSpPr>
          <p:cNvPr id="508" name="Google Shape;508;p67"/>
          <p:cNvSpPr/>
          <p:nvPr/>
        </p:nvSpPr>
        <p:spPr>
          <a:xfrm>
            <a:off x="713232" y="300837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67"/>
          <p:cNvSpPr txBox="1"/>
          <p:nvPr/>
        </p:nvSpPr>
        <p:spPr>
          <a:xfrm>
            <a:off x="1133856" y="283464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Coação</a:t>
            </a:r>
            <a:endParaRPr b="0" i="0" sz="1400" u="none" cap="none" strike="noStrike">
              <a:solidFill>
                <a:srgbClr val="000000"/>
              </a:solidFill>
              <a:latin typeface="Arial"/>
              <a:ea typeface="Arial"/>
              <a:cs typeface="Arial"/>
              <a:sym typeface="Arial"/>
            </a:endParaRPr>
          </a:p>
        </p:txBody>
      </p:sp>
      <p:sp>
        <p:nvSpPr>
          <p:cNvPr id="510" name="Google Shape;510;p67"/>
          <p:cNvSpPr/>
          <p:nvPr/>
        </p:nvSpPr>
        <p:spPr>
          <a:xfrm>
            <a:off x="713232" y="396849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67"/>
          <p:cNvSpPr txBox="1"/>
          <p:nvPr/>
        </p:nvSpPr>
        <p:spPr>
          <a:xfrm>
            <a:off x="1133856" y="37947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Falsa devolução MED</a:t>
            </a:r>
            <a:endParaRPr b="0" i="0" sz="1400" u="none" cap="none" strike="noStrike">
              <a:solidFill>
                <a:srgbClr val="000000"/>
              </a:solidFill>
              <a:latin typeface="Arial"/>
              <a:ea typeface="Arial"/>
              <a:cs typeface="Arial"/>
              <a:sym typeface="Arial"/>
            </a:endParaRPr>
          </a:p>
        </p:txBody>
      </p:sp>
      <p:sp>
        <p:nvSpPr>
          <p:cNvPr id="512" name="Google Shape;512;p67"/>
          <p:cNvSpPr/>
          <p:nvPr/>
        </p:nvSpPr>
        <p:spPr>
          <a:xfrm>
            <a:off x="713232" y="492861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p67"/>
          <p:cNvSpPr txBox="1"/>
          <p:nvPr/>
        </p:nvSpPr>
        <p:spPr>
          <a:xfrm>
            <a:off x="1133856" y="475488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Cadeia de laranjas</a:t>
            </a:r>
            <a:endParaRPr b="0" i="0" sz="1400" u="none" cap="none" strike="noStrike">
              <a:solidFill>
                <a:srgbClr val="000000"/>
              </a:solidFill>
              <a:latin typeface="Arial"/>
              <a:ea typeface="Arial"/>
              <a:cs typeface="Arial"/>
              <a:sym typeface="Arial"/>
            </a:endParaRPr>
          </a:p>
        </p:txBody>
      </p:sp>
      <p:sp>
        <p:nvSpPr>
          <p:cNvPr id="514" name="Google Shape;514;p67"/>
          <p:cNvSpPr/>
          <p:nvPr/>
        </p:nvSpPr>
        <p:spPr>
          <a:xfrm>
            <a:off x="566928" y="1783079"/>
            <a:ext cx="5669280" cy="859536"/>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67"/>
          <p:cNvSpPr/>
          <p:nvPr/>
        </p:nvSpPr>
        <p:spPr>
          <a:xfrm rot="-5400000">
            <a:off x="6272784" y="1965960"/>
            <a:ext cx="292608" cy="493776"/>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67"/>
          <p:cNvSpPr/>
          <p:nvPr/>
        </p:nvSpPr>
        <p:spPr>
          <a:xfrm>
            <a:off x="6565392" y="1965960"/>
            <a:ext cx="5029200" cy="3063240"/>
          </a:xfrm>
          <a:prstGeom prst="roundRect">
            <a:avLst>
              <a:gd fmla="val 16667" name="adj"/>
            </a:avLst>
          </a:prstGeom>
          <a:solidFill>
            <a:srgbClr val="0C2B27"/>
          </a:solidFill>
          <a:ln>
            <a:noFill/>
          </a:ln>
        </p:spPr>
        <p:txBody>
          <a:bodyPr anchorCtr="0" anchor="ctr" bIns="45700" lIns="292600" spcFirstLastPara="1" rIns="292600" wrap="square" tIns="45700">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Inter"/>
                <a:ea typeface="Inter"/>
                <a:cs typeface="Inter"/>
                <a:sym typeface="Inter"/>
              </a:rPr>
              <a:t>Sessão remota na conta da vítima. Um salto, e é o que o dado aberto já traz.</a:t>
            </a:r>
            <a:endParaRPr b="0" i="0" sz="1400" u="none" cap="none" strike="noStrike">
              <a:solidFill>
                <a:srgbClr val="000000"/>
              </a:solidFill>
              <a:latin typeface="Arial"/>
              <a:ea typeface="Arial"/>
              <a:cs typeface="Arial"/>
              <a:sym typeface="Arial"/>
            </a:endParaRPr>
          </a:p>
        </p:txBody>
      </p:sp>
      <p:sp>
        <p:nvSpPr>
          <p:cNvPr id="517" name="Google Shape;517;p67"/>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cenários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pic>
        <p:nvPicPr>
          <p:cNvPr descr="sbseg2026_rodape.png" id="522" name="Google Shape;522;p6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23" name="Google Shape;523;p6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18</a:t>
            </a:r>
            <a:endParaRPr b="0" i="0" sz="1400" u="none" cap="none" strike="noStrike">
              <a:solidFill>
                <a:srgbClr val="000000"/>
              </a:solidFill>
              <a:latin typeface="Arial"/>
              <a:ea typeface="Arial"/>
              <a:cs typeface="Arial"/>
              <a:sym typeface="Arial"/>
            </a:endParaRPr>
          </a:p>
        </p:txBody>
      </p:sp>
      <p:sp>
        <p:nvSpPr>
          <p:cNvPr id="524" name="Google Shape;524;p6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CENÁRIOS</a:t>
            </a:r>
            <a:endParaRPr b="0" i="0" sz="1400" u="none" cap="none" strike="noStrike">
              <a:solidFill>
                <a:srgbClr val="000000"/>
              </a:solidFill>
              <a:latin typeface="Arial"/>
              <a:ea typeface="Arial"/>
              <a:cs typeface="Arial"/>
              <a:sym typeface="Arial"/>
            </a:endParaRPr>
          </a:p>
        </p:txBody>
      </p:sp>
      <p:sp>
        <p:nvSpPr>
          <p:cNvPr id="525" name="Google Shape;525;p68"/>
          <p:cNvSpPr/>
          <p:nvPr/>
        </p:nvSpPr>
        <p:spPr>
          <a:xfrm>
            <a:off x="713232" y="2048255"/>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68"/>
          <p:cNvSpPr txBox="1"/>
          <p:nvPr/>
        </p:nvSpPr>
        <p:spPr>
          <a:xfrm>
            <a:off x="1133856" y="1874519"/>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Tomada de conta</a:t>
            </a:r>
            <a:endParaRPr b="0" i="0" sz="1400" u="none" cap="none" strike="noStrike">
              <a:solidFill>
                <a:srgbClr val="000000"/>
              </a:solidFill>
              <a:latin typeface="Arial"/>
              <a:ea typeface="Arial"/>
              <a:cs typeface="Arial"/>
              <a:sym typeface="Arial"/>
            </a:endParaRPr>
          </a:p>
        </p:txBody>
      </p:sp>
      <p:sp>
        <p:nvSpPr>
          <p:cNvPr id="527" name="Google Shape;527;p68"/>
          <p:cNvSpPr/>
          <p:nvPr/>
        </p:nvSpPr>
        <p:spPr>
          <a:xfrm>
            <a:off x="713232" y="300837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68"/>
          <p:cNvSpPr txBox="1"/>
          <p:nvPr/>
        </p:nvSpPr>
        <p:spPr>
          <a:xfrm>
            <a:off x="1133856" y="283464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Coação</a:t>
            </a:r>
            <a:endParaRPr b="0" i="0" sz="1400" u="none" cap="none" strike="noStrike">
              <a:solidFill>
                <a:srgbClr val="000000"/>
              </a:solidFill>
              <a:latin typeface="Arial"/>
              <a:ea typeface="Arial"/>
              <a:cs typeface="Arial"/>
              <a:sym typeface="Arial"/>
            </a:endParaRPr>
          </a:p>
        </p:txBody>
      </p:sp>
      <p:sp>
        <p:nvSpPr>
          <p:cNvPr id="529" name="Google Shape;529;p68"/>
          <p:cNvSpPr/>
          <p:nvPr/>
        </p:nvSpPr>
        <p:spPr>
          <a:xfrm>
            <a:off x="713232" y="396849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p68"/>
          <p:cNvSpPr txBox="1"/>
          <p:nvPr/>
        </p:nvSpPr>
        <p:spPr>
          <a:xfrm>
            <a:off x="1133856" y="37947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Falsa devolução MED</a:t>
            </a:r>
            <a:endParaRPr b="0" i="0" sz="1400" u="none" cap="none" strike="noStrike">
              <a:solidFill>
                <a:srgbClr val="000000"/>
              </a:solidFill>
              <a:latin typeface="Arial"/>
              <a:ea typeface="Arial"/>
              <a:cs typeface="Arial"/>
              <a:sym typeface="Arial"/>
            </a:endParaRPr>
          </a:p>
        </p:txBody>
      </p:sp>
      <p:sp>
        <p:nvSpPr>
          <p:cNvPr id="531" name="Google Shape;531;p68"/>
          <p:cNvSpPr/>
          <p:nvPr/>
        </p:nvSpPr>
        <p:spPr>
          <a:xfrm>
            <a:off x="713232" y="492861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68"/>
          <p:cNvSpPr txBox="1"/>
          <p:nvPr/>
        </p:nvSpPr>
        <p:spPr>
          <a:xfrm>
            <a:off x="1133856" y="475488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Cadeia de laranjas</a:t>
            </a:r>
            <a:endParaRPr b="0" i="0" sz="1400" u="none" cap="none" strike="noStrike">
              <a:solidFill>
                <a:srgbClr val="000000"/>
              </a:solidFill>
              <a:latin typeface="Arial"/>
              <a:ea typeface="Arial"/>
              <a:cs typeface="Arial"/>
              <a:sym typeface="Arial"/>
            </a:endParaRPr>
          </a:p>
        </p:txBody>
      </p:sp>
      <p:sp>
        <p:nvSpPr>
          <p:cNvPr id="533" name="Google Shape;533;p68"/>
          <p:cNvSpPr/>
          <p:nvPr/>
        </p:nvSpPr>
        <p:spPr>
          <a:xfrm>
            <a:off x="566928" y="2743200"/>
            <a:ext cx="5669280" cy="859536"/>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68"/>
          <p:cNvSpPr/>
          <p:nvPr/>
        </p:nvSpPr>
        <p:spPr>
          <a:xfrm rot="-5400000">
            <a:off x="6272784" y="2926080"/>
            <a:ext cx="292608" cy="493776"/>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68"/>
          <p:cNvSpPr/>
          <p:nvPr/>
        </p:nvSpPr>
        <p:spPr>
          <a:xfrm>
            <a:off x="6565392" y="1965960"/>
            <a:ext cx="5029200" cy="3063240"/>
          </a:xfrm>
          <a:prstGeom prst="roundRect">
            <a:avLst>
              <a:gd fmla="val 16667" name="adj"/>
            </a:avLst>
          </a:prstGeom>
          <a:solidFill>
            <a:srgbClr val="0C2B27"/>
          </a:solidFill>
          <a:ln>
            <a:noFill/>
          </a:ln>
        </p:spPr>
        <p:txBody>
          <a:bodyPr anchorCtr="0" anchor="ctr" bIns="45700" lIns="292600" spcFirstLastPara="1" rIns="292600" wrap="square" tIns="45700">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Inter"/>
                <a:ea typeface="Inter"/>
                <a:cs typeface="Inter"/>
                <a:sym typeface="Inter"/>
              </a:rPr>
              <a:t>A vítima paga sob ameaça, do próprio aparelho. Acende só o recebedor novo.</a:t>
            </a:r>
            <a:endParaRPr b="0" i="0" sz="1400" u="none" cap="none" strike="noStrike">
              <a:solidFill>
                <a:srgbClr val="000000"/>
              </a:solidFill>
              <a:latin typeface="Arial"/>
              <a:ea typeface="Arial"/>
              <a:cs typeface="Arial"/>
              <a:sym typeface="Arial"/>
            </a:endParaRPr>
          </a:p>
        </p:txBody>
      </p:sp>
      <p:sp>
        <p:nvSpPr>
          <p:cNvPr id="536" name="Google Shape;536;p68"/>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cenários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descr="sbseg2026_rodape.png" id="541" name="Google Shape;541;p6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42" name="Google Shape;542;p6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19</a:t>
            </a:r>
            <a:endParaRPr b="0" i="0" sz="1400" u="none" cap="none" strike="noStrike">
              <a:solidFill>
                <a:srgbClr val="000000"/>
              </a:solidFill>
              <a:latin typeface="Arial"/>
              <a:ea typeface="Arial"/>
              <a:cs typeface="Arial"/>
              <a:sym typeface="Arial"/>
            </a:endParaRPr>
          </a:p>
        </p:txBody>
      </p:sp>
      <p:sp>
        <p:nvSpPr>
          <p:cNvPr id="543" name="Google Shape;543;p6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CENÁRIOS</a:t>
            </a:r>
            <a:endParaRPr b="0" i="0" sz="1400" u="none" cap="none" strike="noStrike">
              <a:solidFill>
                <a:srgbClr val="000000"/>
              </a:solidFill>
              <a:latin typeface="Arial"/>
              <a:ea typeface="Arial"/>
              <a:cs typeface="Arial"/>
              <a:sym typeface="Arial"/>
            </a:endParaRPr>
          </a:p>
        </p:txBody>
      </p:sp>
      <p:sp>
        <p:nvSpPr>
          <p:cNvPr id="544" name="Google Shape;544;p69"/>
          <p:cNvSpPr/>
          <p:nvPr/>
        </p:nvSpPr>
        <p:spPr>
          <a:xfrm>
            <a:off x="713232" y="2048255"/>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5" name="Google Shape;545;p69"/>
          <p:cNvSpPr txBox="1"/>
          <p:nvPr/>
        </p:nvSpPr>
        <p:spPr>
          <a:xfrm>
            <a:off x="1133856" y="1874519"/>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Tomada de conta</a:t>
            </a:r>
            <a:endParaRPr b="0" i="0" sz="1400" u="none" cap="none" strike="noStrike">
              <a:solidFill>
                <a:srgbClr val="000000"/>
              </a:solidFill>
              <a:latin typeface="Arial"/>
              <a:ea typeface="Arial"/>
              <a:cs typeface="Arial"/>
              <a:sym typeface="Arial"/>
            </a:endParaRPr>
          </a:p>
        </p:txBody>
      </p:sp>
      <p:sp>
        <p:nvSpPr>
          <p:cNvPr id="546" name="Google Shape;546;p69"/>
          <p:cNvSpPr/>
          <p:nvPr/>
        </p:nvSpPr>
        <p:spPr>
          <a:xfrm>
            <a:off x="713232" y="300837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69"/>
          <p:cNvSpPr txBox="1"/>
          <p:nvPr/>
        </p:nvSpPr>
        <p:spPr>
          <a:xfrm>
            <a:off x="1133856" y="283464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Coação</a:t>
            </a:r>
            <a:endParaRPr b="0" i="0" sz="1400" u="none" cap="none" strike="noStrike">
              <a:solidFill>
                <a:srgbClr val="000000"/>
              </a:solidFill>
              <a:latin typeface="Arial"/>
              <a:ea typeface="Arial"/>
              <a:cs typeface="Arial"/>
              <a:sym typeface="Arial"/>
            </a:endParaRPr>
          </a:p>
        </p:txBody>
      </p:sp>
      <p:sp>
        <p:nvSpPr>
          <p:cNvPr id="548" name="Google Shape;548;p69"/>
          <p:cNvSpPr/>
          <p:nvPr/>
        </p:nvSpPr>
        <p:spPr>
          <a:xfrm>
            <a:off x="713232" y="396849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69"/>
          <p:cNvSpPr txBox="1"/>
          <p:nvPr/>
        </p:nvSpPr>
        <p:spPr>
          <a:xfrm>
            <a:off x="1133856" y="37947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Falsa devolução MED</a:t>
            </a:r>
            <a:endParaRPr b="0" i="0" sz="1400" u="none" cap="none" strike="noStrike">
              <a:solidFill>
                <a:srgbClr val="000000"/>
              </a:solidFill>
              <a:latin typeface="Arial"/>
              <a:ea typeface="Arial"/>
              <a:cs typeface="Arial"/>
              <a:sym typeface="Arial"/>
            </a:endParaRPr>
          </a:p>
        </p:txBody>
      </p:sp>
      <p:sp>
        <p:nvSpPr>
          <p:cNvPr id="550" name="Google Shape;550;p69"/>
          <p:cNvSpPr/>
          <p:nvPr/>
        </p:nvSpPr>
        <p:spPr>
          <a:xfrm>
            <a:off x="713232" y="492861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p69"/>
          <p:cNvSpPr txBox="1"/>
          <p:nvPr/>
        </p:nvSpPr>
        <p:spPr>
          <a:xfrm>
            <a:off x="1133856" y="475488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Cadeia de laranjas</a:t>
            </a:r>
            <a:endParaRPr b="0" i="0" sz="1400" u="none" cap="none" strike="noStrike">
              <a:solidFill>
                <a:srgbClr val="000000"/>
              </a:solidFill>
              <a:latin typeface="Arial"/>
              <a:ea typeface="Arial"/>
              <a:cs typeface="Arial"/>
              <a:sym typeface="Arial"/>
            </a:endParaRPr>
          </a:p>
        </p:txBody>
      </p:sp>
      <p:sp>
        <p:nvSpPr>
          <p:cNvPr id="552" name="Google Shape;552;p69"/>
          <p:cNvSpPr/>
          <p:nvPr/>
        </p:nvSpPr>
        <p:spPr>
          <a:xfrm>
            <a:off x="566928" y="3703320"/>
            <a:ext cx="5669280" cy="859536"/>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69"/>
          <p:cNvSpPr/>
          <p:nvPr/>
        </p:nvSpPr>
        <p:spPr>
          <a:xfrm rot="-5400000">
            <a:off x="6272784" y="3886200"/>
            <a:ext cx="292608" cy="493776"/>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69"/>
          <p:cNvSpPr/>
          <p:nvPr/>
        </p:nvSpPr>
        <p:spPr>
          <a:xfrm>
            <a:off x="6565392" y="1965960"/>
            <a:ext cx="5029200" cy="3063240"/>
          </a:xfrm>
          <a:prstGeom prst="roundRect">
            <a:avLst>
              <a:gd fmla="val 16667" name="adj"/>
            </a:avLst>
          </a:prstGeom>
          <a:solidFill>
            <a:srgbClr val="0C2B27"/>
          </a:solidFill>
          <a:ln>
            <a:noFill/>
          </a:ln>
        </p:spPr>
        <p:txBody>
          <a:bodyPr anchorCtr="0" anchor="ctr" bIns="45700" lIns="292600" spcFirstLastPara="1" rIns="292600" wrap="square" tIns="45700">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Inter"/>
                <a:ea typeface="Inter"/>
                <a:cs typeface="Inter"/>
                <a:sym typeface="Inter"/>
              </a:rPr>
              <a:t>Devolução falsa. O golpista usa o próprio MED para mover o dinheiro, em até cinco camadas.</a:t>
            </a:r>
            <a:endParaRPr b="0" i="0" sz="1400" u="none" cap="none" strike="noStrike">
              <a:solidFill>
                <a:srgbClr val="000000"/>
              </a:solidFill>
              <a:latin typeface="Arial"/>
              <a:ea typeface="Arial"/>
              <a:cs typeface="Arial"/>
              <a:sym typeface="Arial"/>
            </a:endParaRPr>
          </a:p>
        </p:txBody>
      </p:sp>
      <p:sp>
        <p:nvSpPr>
          <p:cNvPr id="555" name="Google Shape;555;p69"/>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cenários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pic>
        <p:nvPicPr>
          <p:cNvPr descr="sbseg2026_rodape.png" id="560" name="Google Shape;560;p7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61" name="Google Shape;561;p7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20</a:t>
            </a:r>
            <a:endParaRPr b="0" i="0" sz="1400" u="none" cap="none" strike="noStrike">
              <a:solidFill>
                <a:srgbClr val="000000"/>
              </a:solidFill>
              <a:latin typeface="Arial"/>
              <a:ea typeface="Arial"/>
              <a:cs typeface="Arial"/>
              <a:sym typeface="Arial"/>
            </a:endParaRPr>
          </a:p>
        </p:txBody>
      </p:sp>
      <p:sp>
        <p:nvSpPr>
          <p:cNvPr id="562" name="Google Shape;562;p7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CENÁRIOS</a:t>
            </a:r>
            <a:endParaRPr b="0" i="0" sz="1400" u="none" cap="none" strike="noStrike">
              <a:solidFill>
                <a:srgbClr val="000000"/>
              </a:solidFill>
              <a:latin typeface="Arial"/>
              <a:ea typeface="Arial"/>
              <a:cs typeface="Arial"/>
              <a:sym typeface="Arial"/>
            </a:endParaRPr>
          </a:p>
        </p:txBody>
      </p:sp>
      <p:sp>
        <p:nvSpPr>
          <p:cNvPr id="563" name="Google Shape;563;p70"/>
          <p:cNvSpPr/>
          <p:nvPr/>
        </p:nvSpPr>
        <p:spPr>
          <a:xfrm>
            <a:off x="713232" y="2048255"/>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70"/>
          <p:cNvSpPr txBox="1"/>
          <p:nvPr/>
        </p:nvSpPr>
        <p:spPr>
          <a:xfrm>
            <a:off x="1133856" y="1874519"/>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Tomada de conta</a:t>
            </a:r>
            <a:endParaRPr b="0" i="0" sz="1400" u="none" cap="none" strike="noStrike">
              <a:solidFill>
                <a:srgbClr val="000000"/>
              </a:solidFill>
              <a:latin typeface="Arial"/>
              <a:ea typeface="Arial"/>
              <a:cs typeface="Arial"/>
              <a:sym typeface="Arial"/>
            </a:endParaRPr>
          </a:p>
        </p:txBody>
      </p:sp>
      <p:sp>
        <p:nvSpPr>
          <p:cNvPr id="565" name="Google Shape;565;p70"/>
          <p:cNvSpPr/>
          <p:nvPr/>
        </p:nvSpPr>
        <p:spPr>
          <a:xfrm>
            <a:off x="713232" y="300837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6" name="Google Shape;566;p70"/>
          <p:cNvSpPr txBox="1"/>
          <p:nvPr/>
        </p:nvSpPr>
        <p:spPr>
          <a:xfrm>
            <a:off x="1133856" y="283464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Coação</a:t>
            </a:r>
            <a:endParaRPr b="0" i="0" sz="1400" u="none" cap="none" strike="noStrike">
              <a:solidFill>
                <a:srgbClr val="000000"/>
              </a:solidFill>
              <a:latin typeface="Arial"/>
              <a:ea typeface="Arial"/>
              <a:cs typeface="Arial"/>
              <a:sym typeface="Arial"/>
            </a:endParaRPr>
          </a:p>
        </p:txBody>
      </p:sp>
      <p:sp>
        <p:nvSpPr>
          <p:cNvPr id="567" name="Google Shape;567;p70"/>
          <p:cNvSpPr/>
          <p:nvPr/>
        </p:nvSpPr>
        <p:spPr>
          <a:xfrm>
            <a:off x="713232" y="396849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8" name="Google Shape;568;p70"/>
          <p:cNvSpPr txBox="1"/>
          <p:nvPr/>
        </p:nvSpPr>
        <p:spPr>
          <a:xfrm>
            <a:off x="1133856" y="37947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Falsa devolução MED</a:t>
            </a:r>
            <a:endParaRPr b="0" i="0" sz="1400" u="none" cap="none" strike="noStrike">
              <a:solidFill>
                <a:srgbClr val="000000"/>
              </a:solidFill>
              <a:latin typeface="Arial"/>
              <a:ea typeface="Arial"/>
              <a:cs typeface="Arial"/>
              <a:sym typeface="Arial"/>
            </a:endParaRPr>
          </a:p>
        </p:txBody>
      </p:sp>
      <p:sp>
        <p:nvSpPr>
          <p:cNvPr id="569" name="Google Shape;569;p70"/>
          <p:cNvSpPr/>
          <p:nvPr/>
        </p:nvSpPr>
        <p:spPr>
          <a:xfrm>
            <a:off x="713232" y="4928616"/>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0" name="Google Shape;570;p70"/>
          <p:cNvSpPr txBox="1"/>
          <p:nvPr/>
        </p:nvSpPr>
        <p:spPr>
          <a:xfrm>
            <a:off x="1133856" y="4754880"/>
            <a:ext cx="512064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Cadeia de laranjas</a:t>
            </a:r>
            <a:endParaRPr b="0" i="0" sz="1400" u="none" cap="none" strike="noStrike">
              <a:solidFill>
                <a:srgbClr val="000000"/>
              </a:solidFill>
              <a:latin typeface="Arial"/>
              <a:ea typeface="Arial"/>
              <a:cs typeface="Arial"/>
              <a:sym typeface="Arial"/>
            </a:endParaRPr>
          </a:p>
        </p:txBody>
      </p:sp>
      <p:sp>
        <p:nvSpPr>
          <p:cNvPr id="571" name="Google Shape;571;p70"/>
          <p:cNvSpPr/>
          <p:nvPr/>
        </p:nvSpPr>
        <p:spPr>
          <a:xfrm>
            <a:off x="566928" y="4663440"/>
            <a:ext cx="5669280" cy="859536"/>
          </a:xfrm>
          <a:prstGeom prst="roundRect">
            <a:avLst>
              <a:gd fmla="val 16667" name="adj"/>
            </a:avLst>
          </a:prstGeom>
          <a:noFill/>
          <a:ln cap="flat" cmpd="sng" w="508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70"/>
          <p:cNvSpPr/>
          <p:nvPr/>
        </p:nvSpPr>
        <p:spPr>
          <a:xfrm rot="-5400000">
            <a:off x="6272784" y="4846320"/>
            <a:ext cx="292608" cy="493776"/>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70"/>
          <p:cNvSpPr/>
          <p:nvPr/>
        </p:nvSpPr>
        <p:spPr>
          <a:xfrm>
            <a:off x="6565392" y="1965960"/>
            <a:ext cx="5029200" cy="3063240"/>
          </a:xfrm>
          <a:prstGeom prst="roundRect">
            <a:avLst>
              <a:gd fmla="val 16667" name="adj"/>
            </a:avLst>
          </a:prstGeom>
          <a:solidFill>
            <a:srgbClr val="0C2B27"/>
          </a:solidFill>
          <a:ln>
            <a:noFill/>
          </a:ln>
        </p:spPr>
        <p:txBody>
          <a:bodyPr anchorCtr="0" anchor="ctr" bIns="45700" lIns="292600" spcFirstLastPara="1" rIns="292600" wrap="square" tIns="45700">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Inter"/>
                <a:ea typeface="Inter"/>
                <a:cs typeface="Inter"/>
                <a:sym typeface="Inter"/>
              </a:rPr>
              <a:t>Dispersa dinheiro já tomado. O primeiro salto ainda parece tomada de conta.</a:t>
            </a:r>
            <a:endParaRPr b="0" i="0" sz="1400" u="none" cap="none" strike="noStrike">
              <a:solidFill>
                <a:srgbClr val="000000"/>
              </a:solidFill>
              <a:latin typeface="Arial"/>
              <a:ea typeface="Arial"/>
              <a:cs typeface="Arial"/>
              <a:sym typeface="Arial"/>
            </a:endParaRPr>
          </a:p>
        </p:txBody>
      </p:sp>
      <p:sp>
        <p:nvSpPr>
          <p:cNvPr id="574" name="Google Shape;574;p70"/>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Quatro cenários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pic>
        <p:nvPicPr>
          <p:cNvPr descr="sbseg2026_rodape.png" id="580" name="Google Shape;580;p2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81" name="Google Shape;581;p2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21</a:t>
            </a:r>
            <a:endParaRPr b="0" i="0" sz="1400" u="none" cap="none" strike="noStrike">
              <a:solidFill>
                <a:srgbClr val="000000"/>
              </a:solidFill>
              <a:latin typeface="Arial"/>
              <a:ea typeface="Arial"/>
              <a:cs typeface="Arial"/>
              <a:sym typeface="Arial"/>
            </a:endParaRPr>
          </a:p>
        </p:txBody>
      </p:sp>
      <p:sp>
        <p:nvSpPr>
          <p:cNvPr id="582" name="Google Shape;582;p22"/>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Que sinal cada cenário carrega</a:t>
            </a:r>
            <a:endParaRPr b="0" i="0" sz="1400" u="none" cap="none" strike="noStrike">
              <a:solidFill>
                <a:srgbClr val="000000"/>
              </a:solidFill>
              <a:latin typeface="Arial"/>
              <a:ea typeface="Arial"/>
              <a:cs typeface="Arial"/>
              <a:sym typeface="Arial"/>
            </a:endParaRPr>
          </a:p>
        </p:txBody>
      </p:sp>
      <p:pic>
        <p:nvPicPr>
          <p:cNvPr descr="ds_sinais.png" id="583" name="Google Shape;583;p22"/>
          <p:cNvPicPr preferRelativeResize="0"/>
          <p:nvPr/>
        </p:nvPicPr>
        <p:blipFill rotWithShape="1">
          <a:blip r:embed="rId4">
            <a:alphaModFix/>
          </a:blip>
          <a:srcRect b="0" l="0" r="0" t="0"/>
          <a:stretch/>
        </p:blipFill>
        <p:spPr>
          <a:xfrm>
            <a:off x="411475" y="1314010"/>
            <a:ext cx="7178048" cy="4760275"/>
          </a:xfrm>
          <a:prstGeom prst="rect">
            <a:avLst/>
          </a:prstGeom>
          <a:noFill/>
          <a:ln>
            <a:noFill/>
          </a:ln>
        </p:spPr>
      </p:pic>
      <p:sp>
        <p:nvSpPr>
          <p:cNvPr id="584" name="Google Shape;584;p22"/>
          <p:cNvSpPr/>
          <p:nvPr/>
        </p:nvSpPr>
        <p:spPr>
          <a:xfrm>
            <a:off x="7909560" y="3224783"/>
            <a:ext cx="3959352" cy="2993136"/>
          </a:xfrm>
          <a:prstGeom prst="roundRect">
            <a:avLst>
              <a:gd fmla="val 1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5" name="Google Shape;585;p22"/>
          <p:cNvSpPr/>
          <p:nvPr/>
        </p:nvSpPr>
        <p:spPr>
          <a:xfrm rot="-5400000">
            <a:off x="7635240" y="4824671"/>
            <a:ext cx="493776" cy="493776"/>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6" name="Google Shape;586;p22"/>
          <p:cNvSpPr txBox="1"/>
          <p:nvPr/>
        </p:nvSpPr>
        <p:spPr>
          <a:xfrm>
            <a:off x="8229600" y="3334512"/>
            <a:ext cx="3319272" cy="277368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Na coação, só o recebedor novo.</a:t>
            </a:r>
            <a:endParaRPr b="0" i="0" sz="1400" u="none" cap="none" strike="noStrike">
              <a:solidFill>
                <a:srgbClr val="000000"/>
              </a:solidFill>
              <a:latin typeface="Arial"/>
              <a:ea typeface="Arial"/>
              <a:cs typeface="Arial"/>
              <a:sym typeface="Arial"/>
            </a:endParaRPr>
          </a:p>
        </p:txBody>
      </p:sp>
      <p:sp>
        <p:nvSpPr>
          <p:cNvPr id="587" name="Google Shape;587;p22"/>
          <p:cNvSpPr/>
          <p:nvPr/>
        </p:nvSpPr>
        <p:spPr>
          <a:xfrm>
            <a:off x="3307819" y="4663462"/>
            <a:ext cx="4244375" cy="827510"/>
          </a:xfrm>
          <a:prstGeom prst="roundRect">
            <a:avLst>
              <a:gd fmla="val 6000" name="adj"/>
            </a:avLst>
          </a:prstGeom>
          <a:noFill/>
          <a:ln cap="flat" cmpd="sng" w="76200">
            <a:solidFill>
              <a:srgbClr val="A3121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pic>
        <p:nvPicPr>
          <p:cNvPr descr="sbseg2026_rodape.png" id="593" name="Google Shape;593;p1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94" name="Google Shape;594;p1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22</a:t>
            </a:r>
            <a:endParaRPr b="0" i="0" sz="1400" u="none" cap="none" strike="noStrike">
              <a:solidFill>
                <a:srgbClr val="000000"/>
              </a:solidFill>
              <a:latin typeface="Arial"/>
              <a:ea typeface="Arial"/>
              <a:cs typeface="Arial"/>
              <a:sym typeface="Arial"/>
            </a:endParaRPr>
          </a:p>
        </p:txBody>
      </p:sp>
      <p:sp>
        <p:nvSpPr>
          <p:cNvPr id="595" name="Google Shape;595;p13"/>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Arquitetura</a:t>
            </a:r>
            <a:endParaRPr b="0" i="0" sz="1400" u="none" cap="none" strike="noStrike">
              <a:solidFill>
                <a:srgbClr val="000000"/>
              </a:solidFill>
              <a:latin typeface="Arial"/>
              <a:ea typeface="Arial"/>
              <a:cs typeface="Arial"/>
              <a:sym typeface="Arial"/>
            </a:endParaRPr>
          </a:p>
        </p:txBody>
      </p:sp>
      <p:sp>
        <p:nvSpPr>
          <p:cNvPr id="596" name="Google Shape;596;p13"/>
          <p:cNvSpPr txBox="1"/>
          <p:nvPr/>
        </p:nvSpPr>
        <p:spPr>
          <a:xfrm>
            <a:off x="365760" y="3895344"/>
            <a:ext cx="2724912"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A5145"/>
                </a:solidFill>
                <a:latin typeface="JetBrains Mono"/>
                <a:ea typeface="JetBrains Mono"/>
                <a:cs typeface="JetBrains Mono"/>
                <a:sym typeface="JetBrains Mono"/>
              </a:rPr>
              <a:t>1</a:t>
            </a:r>
            <a:endParaRPr b="0" i="0" sz="1400" u="none" cap="none" strike="noStrike">
              <a:solidFill>
                <a:srgbClr val="000000"/>
              </a:solidFill>
              <a:latin typeface="Arial"/>
              <a:ea typeface="Arial"/>
              <a:cs typeface="Arial"/>
              <a:sym typeface="Arial"/>
            </a:endParaRPr>
          </a:p>
        </p:txBody>
      </p:sp>
      <p:sp>
        <p:nvSpPr>
          <p:cNvPr id="597" name="Google Shape;597;p13"/>
          <p:cNvSpPr txBox="1"/>
          <p:nvPr/>
        </p:nvSpPr>
        <p:spPr>
          <a:xfrm>
            <a:off x="365760" y="4517136"/>
            <a:ext cx="2724912"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Space Grotesk"/>
                <a:ea typeface="Space Grotesk"/>
                <a:cs typeface="Space Grotesk"/>
                <a:sym typeface="Space Grotesk"/>
              </a:rPr>
              <a:t>Janela</a:t>
            </a:r>
            <a:endParaRPr b="0" i="0" sz="1400" u="none" cap="none" strike="noStrike">
              <a:solidFill>
                <a:srgbClr val="000000"/>
              </a:solidFill>
              <a:latin typeface="Arial"/>
              <a:ea typeface="Arial"/>
              <a:cs typeface="Arial"/>
              <a:sym typeface="Arial"/>
            </a:endParaRPr>
          </a:p>
        </p:txBody>
      </p:sp>
      <p:sp>
        <p:nvSpPr>
          <p:cNvPr id="598" name="Google Shape;598;p13"/>
          <p:cNvSpPr txBox="1"/>
          <p:nvPr/>
        </p:nvSpPr>
        <p:spPr>
          <a:xfrm>
            <a:off x="3236976" y="3895344"/>
            <a:ext cx="2724912"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A5145"/>
                </a:solidFill>
                <a:latin typeface="JetBrains Mono"/>
                <a:ea typeface="JetBrains Mono"/>
                <a:cs typeface="JetBrains Mono"/>
                <a:sym typeface="JetBrains Mono"/>
              </a:rPr>
              <a:t>2</a:t>
            </a:r>
            <a:endParaRPr b="0" i="0" sz="1400" u="none" cap="none" strike="noStrike">
              <a:solidFill>
                <a:srgbClr val="000000"/>
              </a:solidFill>
              <a:latin typeface="Arial"/>
              <a:ea typeface="Arial"/>
              <a:cs typeface="Arial"/>
              <a:sym typeface="Arial"/>
            </a:endParaRPr>
          </a:p>
        </p:txBody>
      </p:sp>
      <p:sp>
        <p:nvSpPr>
          <p:cNvPr id="599" name="Google Shape;599;p13"/>
          <p:cNvSpPr txBox="1"/>
          <p:nvPr/>
        </p:nvSpPr>
        <p:spPr>
          <a:xfrm>
            <a:off x="3236976" y="4517136"/>
            <a:ext cx="2724912"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Space Grotesk"/>
                <a:ea typeface="Space Grotesk"/>
                <a:cs typeface="Space Grotesk"/>
                <a:sym typeface="Space Grotesk"/>
              </a:rPr>
              <a:t>Fontes</a:t>
            </a:r>
            <a:endParaRPr b="0" i="0" sz="1400" u="none" cap="none" strike="noStrike">
              <a:solidFill>
                <a:srgbClr val="000000"/>
              </a:solidFill>
              <a:latin typeface="Arial"/>
              <a:ea typeface="Arial"/>
              <a:cs typeface="Arial"/>
              <a:sym typeface="Arial"/>
            </a:endParaRPr>
          </a:p>
        </p:txBody>
      </p:sp>
      <p:sp>
        <p:nvSpPr>
          <p:cNvPr id="600" name="Google Shape;600;p13"/>
          <p:cNvSpPr txBox="1"/>
          <p:nvPr/>
        </p:nvSpPr>
        <p:spPr>
          <a:xfrm>
            <a:off x="6108192" y="3895344"/>
            <a:ext cx="2724912"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A5145"/>
                </a:solidFill>
                <a:latin typeface="JetBrains Mono"/>
                <a:ea typeface="JetBrains Mono"/>
                <a:cs typeface="JetBrains Mono"/>
                <a:sym typeface="JetBrains Mono"/>
              </a:rPr>
              <a:t>3</a:t>
            </a:r>
            <a:endParaRPr b="0" i="0" sz="1400" u="none" cap="none" strike="noStrike">
              <a:solidFill>
                <a:srgbClr val="000000"/>
              </a:solidFill>
              <a:latin typeface="Arial"/>
              <a:ea typeface="Arial"/>
              <a:cs typeface="Arial"/>
              <a:sym typeface="Arial"/>
            </a:endParaRPr>
          </a:p>
        </p:txBody>
      </p:sp>
      <p:sp>
        <p:nvSpPr>
          <p:cNvPr id="601" name="Google Shape;601;p13"/>
          <p:cNvSpPr txBox="1"/>
          <p:nvPr/>
        </p:nvSpPr>
        <p:spPr>
          <a:xfrm>
            <a:off x="6108192" y="4517136"/>
            <a:ext cx="2724912"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Space Grotesk"/>
                <a:ea typeface="Space Grotesk"/>
                <a:cs typeface="Space Grotesk"/>
                <a:sym typeface="Space Grotesk"/>
              </a:rPr>
              <a:t>Cenários</a:t>
            </a:r>
            <a:endParaRPr b="0" i="0" sz="1400" u="none" cap="none" strike="noStrike">
              <a:solidFill>
                <a:srgbClr val="000000"/>
              </a:solidFill>
              <a:latin typeface="Arial"/>
              <a:ea typeface="Arial"/>
              <a:cs typeface="Arial"/>
              <a:sym typeface="Arial"/>
            </a:endParaRPr>
          </a:p>
        </p:txBody>
      </p:sp>
      <p:sp>
        <p:nvSpPr>
          <p:cNvPr id="602" name="Google Shape;602;p13"/>
          <p:cNvSpPr txBox="1"/>
          <p:nvPr/>
        </p:nvSpPr>
        <p:spPr>
          <a:xfrm>
            <a:off x="8979408" y="3895344"/>
            <a:ext cx="2724912"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A5145"/>
                </a:solidFill>
                <a:latin typeface="JetBrains Mono"/>
                <a:ea typeface="JetBrains Mono"/>
                <a:cs typeface="JetBrains Mono"/>
                <a:sym typeface="JetBrains Mono"/>
              </a:rPr>
              <a:t>4</a:t>
            </a:r>
            <a:endParaRPr b="0" i="0" sz="1400" u="none" cap="none" strike="noStrike">
              <a:solidFill>
                <a:srgbClr val="000000"/>
              </a:solidFill>
              <a:latin typeface="Arial"/>
              <a:ea typeface="Arial"/>
              <a:cs typeface="Arial"/>
              <a:sym typeface="Arial"/>
            </a:endParaRPr>
          </a:p>
        </p:txBody>
      </p:sp>
      <p:sp>
        <p:nvSpPr>
          <p:cNvPr id="603" name="Google Shape;603;p13"/>
          <p:cNvSpPr txBox="1"/>
          <p:nvPr/>
        </p:nvSpPr>
        <p:spPr>
          <a:xfrm>
            <a:off x="8979408" y="4517136"/>
            <a:ext cx="2724912"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Space Grotesk"/>
                <a:ea typeface="Space Grotesk"/>
                <a:cs typeface="Space Grotesk"/>
                <a:sym typeface="Space Grotesk"/>
              </a:rPr>
              <a:t>Veredito</a:t>
            </a:r>
            <a:endParaRPr b="0" i="0" sz="1400" u="none" cap="none" strike="noStrike">
              <a:solidFill>
                <a:srgbClr val="000000"/>
              </a:solidFill>
              <a:latin typeface="Arial"/>
              <a:ea typeface="Arial"/>
              <a:cs typeface="Arial"/>
              <a:sym typeface="Arial"/>
            </a:endParaRPr>
          </a:p>
        </p:txBody>
      </p:sp>
      <p:pic>
        <p:nvPicPr>
          <p:cNvPr descr="image.png" id="604" name="Google Shape;604;p13"/>
          <p:cNvPicPr preferRelativeResize="0"/>
          <p:nvPr/>
        </p:nvPicPr>
        <p:blipFill rotWithShape="1">
          <a:blip r:embed="rId4">
            <a:alphaModFix/>
          </a:blip>
          <a:srcRect b="0" l="0" r="0" t="0"/>
          <a:stretch/>
        </p:blipFill>
        <p:spPr>
          <a:xfrm>
            <a:off x="365760" y="1737360"/>
            <a:ext cx="2724912" cy="1655064"/>
          </a:xfrm>
          <a:prstGeom prst="rect">
            <a:avLst/>
          </a:prstGeom>
          <a:noFill/>
          <a:ln>
            <a:noFill/>
          </a:ln>
        </p:spPr>
      </p:pic>
      <p:pic>
        <p:nvPicPr>
          <p:cNvPr descr="image.png" id="605" name="Google Shape;605;p13"/>
          <p:cNvPicPr preferRelativeResize="0"/>
          <p:nvPr/>
        </p:nvPicPr>
        <p:blipFill rotWithShape="1">
          <a:blip r:embed="rId5">
            <a:alphaModFix/>
          </a:blip>
          <a:srcRect b="0" l="0" r="0" t="0"/>
          <a:stretch/>
        </p:blipFill>
        <p:spPr>
          <a:xfrm>
            <a:off x="3236976" y="1737360"/>
            <a:ext cx="2724912" cy="1655064"/>
          </a:xfrm>
          <a:prstGeom prst="rect">
            <a:avLst/>
          </a:prstGeom>
          <a:noFill/>
          <a:ln>
            <a:noFill/>
          </a:ln>
        </p:spPr>
      </p:pic>
      <p:pic>
        <p:nvPicPr>
          <p:cNvPr descr="image.png" id="606" name="Google Shape;606;p13"/>
          <p:cNvPicPr preferRelativeResize="0"/>
          <p:nvPr/>
        </p:nvPicPr>
        <p:blipFill rotWithShape="1">
          <a:blip r:embed="rId6">
            <a:alphaModFix/>
          </a:blip>
          <a:srcRect b="0" l="0" r="0" t="0"/>
          <a:stretch/>
        </p:blipFill>
        <p:spPr>
          <a:xfrm>
            <a:off x="6108192" y="1737360"/>
            <a:ext cx="2724912" cy="1655064"/>
          </a:xfrm>
          <a:prstGeom prst="rect">
            <a:avLst/>
          </a:prstGeom>
          <a:noFill/>
          <a:ln>
            <a:noFill/>
          </a:ln>
        </p:spPr>
      </p:pic>
      <p:pic>
        <p:nvPicPr>
          <p:cNvPr descr="image.png" id="607" name="Google Shape;607;p13"/>
          <p:cNvPicPr preferRelativeResize="0"/>
          <p:nvPr/>
        </p:nvPicPr>
        <p:blipFill rotWithShape="1">
          <a:blip r:embed="rId7">
            <a:alphaModFix/>
          </a:blip>
          <a:srcRect b="0" l="0" r="0" t="0"/>
          <a:stretch/>
        </p:blipFill>
        <p:spPr>
          <a:xfrm>
            <a:off x="8979408" y="1737360"/>
            <a:ext cx="2724912" cy="16550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pic>
        <p:nvPicPr>
          <p:cNvPr descr="sbseg2026_rodape.png" id="613" name="Google Shape;613;p1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14" name="Google Shape;614;p1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23</a:t>
            </a:r>
            <a:endParaRPr b="0" i="0" sz="1400" u="none" cap="none" strike="noStrike">
              <a:solidFill>
                <a:srgbClr val="000000"/>
              </a:solidFill>
              <a:latin typeface="Arial"/>
              <a:ea typeface="Arial"/>
              <a:cs typeface="Arial"/>
              <a:sym typeface="Arial"/>
            </a:endParaRPr>
          </a:p>
        </p:txBody>
      </p:sp>
      <p:sp>
        <p:nvSpPr>
          <p:cNvPr id="615" name="Google Shape;615;p14"/>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1 · Janela</a:t>
            </a:r>
            <a:endParaRPr b="0" i="0" sz="1400" u="none" cap="none" strike="noStrike">
              <a:solidFill>
                <a:srgbClr val="000000"/>
              </a:solidFill>
              <a:latin typeface="Arial"/>
              <a:ea typeface="Arial"/>
              <a:cs typeface="Arial"/>
              <a:sym typeface="Arial"/>
            </a:endParaRPr>
          </a:p>
        </p:txBody>
      </p:sp>
      <p:sp>
        <p:nvSpPr>
          <p:cNvPr id="616" name="Google Shape;616;p14"/>
          <p:cNvSpPr/>
          <p:nvPr/>
        </p:nvSpPr>
        <p:spPr>
          <a:xfrm>
            <a:off x="713232" y="1207008"/>
            <a:ext cx="2569464" cy="548640"/>
          </a:xfrm>
          <a:prstGeom prst="roundRect">
            <a:avLst>
              <a:gd fmla="val 38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7" name="Google Shape;617;p14"/>
          <p:cNvSpPr txBox="1"/>
          <p:nvPr/>
        </p:nvSpPr>
        <p:spPr>
          <a:xfrm>
            <a:off x="713232"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Inter"/>
                <a:ea typeface="Inter"/>
                <a:cs typeface="Inter"/>
                <a:sym typeface="Inter"/>
              </a:rPr>
              <a:t>1 · Janela</a:t>
            </a:r>
            <a:endParaRPr b="0" i="0" sz="1400" u="none" cap="none" strike="noStrike">
              <a:solidFill>
                <a:srgbClr val="000000"/>
              </a:solidFill>
              <a:latin typeface="Arial"/>
              <a:ea typeface="Arial"/>
              <a:cs typeface="Arial"/>
              <a:sym typeface="Arial"/>
            </a:endParaRPr>
          </a:p>
        </p:txBody>
      </p:sp>
      <p:sp>
        <p:nvSpPr>
          <p:cNvPr id="618" name="Google Shape;618;p14"/>
          <p:cNvSpPr/>
          <p:nvPr/>
        </p:nvSpPr>
        <p:spPr>
          <a:xfrm>
            <a:off x="3483864"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9" name="Google Shape;619;p14"/>
          <p:cNvSpPr txBox="1"/>
          <p:nvPr/>
        </p:nvSpPr>
        <p:spPr>
          <a:xfrm>
            <a:off x="3483864"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700"/>
              <a:buFont typeface="Arial"/>
              <a:buNone/>
            </a:pPr>
            <a:r>
              <a:rPr b="1" i="0" lang="en-US" sz="2700" u="none" cap="none" strike="noStrike">
                <a:solidFill>
                  <a:srgbClr val="000000"/>
                </a:solidFill>
                <a:latin typeface="Inter"/>
                <a:ea typeface="Inter"/>
                <a:cs typeface="Inter"/>
                <a:sym typeface="Inter"/>
              </a:rPr>
              <a:t>2 · Fontes</a:t>
            </a:r>
            <a:endParaRPr b="0" i="0" sz="1400" u="none" cap="none" strike="noStrike">
              <a:solidFill>
                <a:srgbClr val="000000"/>
              </a:solidFill>
              <a:latin typeface="Arial"/>
              <a:ea typeface="Arial"/>
              <a:cs typeface="Arial"/>
              <a:sym typeface="Arial"/>
            </a:endParaRPr>
          </a:p>
        </p:txBody>
      </p:sp>
      <p:sp>
        <p:nvSpPr>
          <p:cNvPr id="620" name="Google Shape;620;p14"/>
          <p:cNvSpPr/>
          <p:nvPr/>
        </p:nvSpPr>
        <p:spPr>
          <a:xfrm>
            <a:off x="6254496"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1" name="Google Shape;621;p14"/>
          <p:cNvSpPr txBox="1"/>
          <p:nvPr/>
        </p:nvSpPr>
        <p:spPr>
          <a:xfrm>
            <a:off x="6254496"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Inter"/>
                <a:ea typeface="Inter"/>
                <a:cs typeface="Inter"/>
                <a:sym typeface="Inter"/>
              </a:rPr>
              <a:t>3 · Cenários</a:t>
            </a:r>
            <a:endParaRPr b="0" i="0" sz="1400" u="none" cap="none" strike="noStrike">
              <a:solidFill>
                <a:srgbClr val="000000"/>
              </a:solidFill>
              <a:latin typeface="Arial"/>
              <a:ea typeface="Arial"/>
              <a:cs typeface="Arial"/>
              <a:sym typeface="Arial"/>
            </a:endParaRPr>
          </a:p>
        </p:txBody>
      </p:sp>
      <p:sp>
        <p:nvSpPr>
          <p:cNvPr id="622" name="Google Shape;622;p14"/>
          <p:cNvSpPr/>
          <p:nvPr/>
        </p:nvSpPr>
        <p:spPr>
          <a:xfrm>
            <a:off x="9025128"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3" name="Google Shape;623;p14"/>
          <p:cNvSpPr txBox="1"/>
          <p:nvPr/>
        </p:nvSpPr>
        <p:spPr>
          <a:xfrm>
            <a:off x="9025128"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Inter"/>
                <a:ea typeface="Inter"/>
                <a:cs typeface="Inter"/>
                <a:sym typeface="Inter"/>
              </a:rPr>
              <a:t>4 · Veredito</a:t>
            </a:r>
            <a:endParaRPr b="0" i="0" sz="1400" u="none" cap="none" strike="noStrike">
              <a:solidFill>
                <a:srgbClr val="000000"/>
              </a:solidFill>
              <a:latin typeface="Arial"/>
              <a:ea typeface="Arial"/>
              <a:cs typeface="Arial"/>
              <a:sym typeface="Arial"/>
            </a:endParaRPr>
          </a:p>
        </p:txBody>
      </p:sp>
      <p:pic>
        <p:nvPicPr>
          <p:cNvPr descr="pipe1.png" id="624" name="Google Shape;624;p14"/>
          <p:cNvPicPr preferRelativeResize="0"/>
          <p:nvPr/>
        </p:nvPicPr>
        <p:blipFill rotWithShape="1">
          <a:blip r:embed="rId4">
            <a:alphaModFix/>
          </a:blip>
          <a:srcRect b="0" l="0" r="0" t="0"/>
          <a:stretch/>
        </p:blipFill>
        <p:spPr>
          <a:xfrm>
            <a:off x="411480" y="1956816"/>
            <a:ext cx="6026941" cy="3657600"/>
          </a:xfrm>
          <a:prstGeom prst="rect">
            <a:avLst/>
          </a:prstGeom>
          <a:noFill/>
          <a:ln>
            <a:noFill/>
          </a:ln>
        </p:spPr>
      </p:pic>
      <p:sp>
        <p:nvSpPr>
          <p:cNvPr id="625" name="Google Shape;625;p14"/>
          <p:cNvSpPr/>
          <p:nvPr/>
        </p:nvSpPr>
        <p:spPr>
          <a:xfrm>
            <a:off x="6812280" y="2715768"/>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6" name="Google Shape;626;p14"/>
          <p:cNvSpPr txBox="1"/>
          <p:nvPr/>
        </p:nvSpPr>
        <p:spPr>
          <a:xfrm>
            <a:off x="7159752" y="2560320"/>
            <a:ext cx="4681728" cy="10241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Traz o instante da irrevogabilidade</a:t>
            </a:r>
            <a:endParaRPr b="0" i="0" sz="1400" u="none" cap="none" strike="noStrike">
              <a:solidFill>
                <a:srgbClr val="000000"/>
              </a:solidFill>
              <a:latin typeface="Arial"/>
              <a:ea typeface="Arial"/>
              <a:cs typeface="Arial"/>
              <a:sym typeface="Arial"/>
            </a:endParaRPr>
          </a:p>
        </p:txBody>
      </p:sp>
      <p:sp>
        <p:nvSpPr>
          <p:cNvPr id="627" name="Google Shape;627;p14"/>
          <p:cNvSpPr/>
          <p:nvPr/>
        </p:nvSpPr>
        <p:spPr>
          <a:xfrm>
            <a:off x="817074" y="3552261"/>
            <a:ext cx="5215752" cy="1073139"/>
          </a:xfrm>
          <a:prstGeom prst="roundRect">
            <a:avLst>
              <a:gd fmla="val 6000" name="adj"/>
            </a:avLst>
          </a:prstGeom>
          <a:noFill/>
          <a:ln cap="flat" cmpd="sng" w="76200">
            <a:solidFill>
              <a:srgbClr val="A3121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pic>
        <p:nvPicPr>
          <p:cNvPr descr="sbseg2026_rodape.png" id="633" name="Google Shape;633;p1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34" name="Google Shape;634;p1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24</a:t>
            </a:r>
            <a:endParaRPr b="0" i="0" sz="1400" u="none" cap="none" strike="noStrike">
              <a:solidFill>
                <a:srgbClr val="000000"/>
              </a:solidFill>
              <a:latin typeface="Arial"/>
              <a:ea typeface="Arial"/>
              <a:cs typeface="Arial"/>
              <a:sym typeface="Arial"/>
            </a:endParaRPr>
          </a:p>
        </p:txBody>
      </p:sp>
      <p:sp>
        <p:nvSpPr>
          <p:cNvPr id="635" name="Google Shape;635;p15"/>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2 · Fontes</a:t>
            </a:r>
            <a:endParaRPr b="0" i="0" sz="1400" u="none" cap="none" strike="noStrike">
              <a:solidFill>
                <a:srgbClr val="000000"/>
              </a:solidFill>
              <a:latin typeface="Arial"/>
              <a:ea typeface="Arial"/>
              <a:cs typeface="Arial"/>
              <a:sym typeface="Arial"/>
            </a:endParaRPr>
          </a:p>
        </p:txBody>
      </p:sp>
      <p:sp>
        <p:nvSpPr>
          <p:cNvPr id="636" name="Google Shape;636;p15"/>
          <p:cNvSpPr/>
          <p:nvPr/>
        </p:nvSpPr>
        <p:spPr>
          <a:xfrm>
            <a:off x="713232"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15"/>
          <p:cNvSpPr txBox="1"/>
          <p:nvPr/>
        </p:nvSpPr>
        <p:spPr>
          <a:xfrm>
            <a:off x="713232"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Inter"/>
                <a:ea typeface="Inter"/>
                <a:cs typeface="Inter"/>
                <a:sym typeface="Inter"/>
              </a:rPr>
              <a:t>1 · Janela</a:t>
            </a:r>
            <a:endParaRPr b="0" i="0" sz="1400" u="none" cap="none" strike="noStrike">
              <a:solidFill>
                <a:srgbClr val="000000"/>
              </a:solidFill>
              <a:latin typeface="Arial"/>
              <a:ea typeface="Arial"/>
              <a:cs typeface="Arial"/>
              <a:sym typeface="Arial"/>
            </a:endParaRPr>
          </a:p>
        </p:txBody>
      </p:sp>
      <p:sp>
        <p:nvSpPr>
          <p:cNvPr id="638" name="Google Shape;638;p15"/>
          <p:cNvSpPr/>
          <p:nvPr/>
        </p:nvSpPr>
        <p:spPr>
          <a:xfrm>
            <a:off x="3483864" y="1207008"/>
            <a:ext cx="2569464" cy="548640"/>
          </a:xfrm>
          <a:prstGeom prst="roundRect">
            <a:avLst>
              <a:gd fmla="val 38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9" name="Google Shape;639;p15"/>
          <p:cNvSpPr txBox="1"/>
          <p:nvPr/>
        </p:nvSpPr>
        <p:spPr>
          <a:xfrm>
            <a:off x="3483864"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700"/>
              <a:buFont typeface="Arial"/>
              <a:buNone/>
            </a:pPr>
            <a:r>
              <a:rPr b="1" i="0" lang="en-US" sz="2700" u="none" cap="none" strike="noStrike">
                <a:solidFill>
                  <a:srgbClr val="FFFFFF"/>
                </a:solidFill>
                <a:latin typeface="Inter"/>
                <a:ea typeface="Inter"/>
                <a:cs typeface="Inter"/>
                <a:sym typeface="Inter"/>
              </a:rPr>
              <a:t>2 · Fontes</a:t>
            </a:r>
            <a:endParaRPr b="0" i="0" sz="1400" u="none" cap="none" strike="noStrike">
              <a:solidFill>
                <a:srgbClr val="000000"/>
              </a:solidFill>
              <a:latin typeface="Arial"/>
              <a:ea typeface="Arial"/>
              <a:cs typeface="Arial"/>
              <a:sym typeface="Arial"/>
            </a:endParaRPr>
          </a:p>
        </p:txBody>
      </p:sp>
      <p:sp>
        <p:nvSpPr>
          <p:cNvPr id="640" name="Google Shape;640;p15"/>
          <p:cNvSpPr/>
          <p:nvPr/>
        </p:nvSpPr>
        <p:spPr>
          <a:xfrm>
            <a:off x="6254496"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p15"/>
          <p:cNvSpPr txBox="1"/>
          <p:nvPr/>
        </p:nvSpPr>
        <p:spPr>
          <a:xfrm>
            <a:off x="6254496"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Inter"/>
                <a:ea typeface="Inter"/>
                <a:cs typeface="Inter"/>
                <a:sym typeface="Inter"/>
              </a:rPr>
              <a:t>3 · Cenários</a:t>
            </a:r>
            <a:endParaRPr b="0" i="0" sz="1400" u="none" cap="none" strike="noStrike">
              <a:solidFill>
                <a:srgbClr val="000000"/>
              </a:solidFill>
              <a:latin typeface="Arial"/>
              <a:ea typeface="Arial"/>
              <a:cs typeface="Arial"/>
              <a:sym typeface="Arial"/>
            </a:endParaRPr>
          </a:p>
        </p:txBody>
      </p:sp>
      <p:sp>
        <p:nvSpPr>
          <p:cNvPr id="642" name="Google Shape;642;p15"/>
          <p:cNvSpPr/>
          <p:nvPr/>
        </p:nvSpPr>
        <p:spPr>
          <a:xfrm>
            <a:off x="9025128"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3" name="Google Shape;643;p15"/>
          <p:cNvSpPr txBox="1"/>
          <p:nvPr/>
        </p:nvSpPr>
        <p:spPr>
          <a:xfrm>
            <a:off x="9025128"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Inter"/>
                <a:ea typeface="Inter"/>
                <a:cs typeface="Inter"/>
                <a:sym typeface="Inter"/>
              </a:rPr>
              <a:t>4 · Veredito</a:t>
            </a:r>
            <a:endParaRPr b="0" i="0" sz="1400" u="none" cap="none" strike="noStrike">
              <a:solidFill>
                <a:srgbClr val="000000"/>
              </a:solidFill>
              <a:latin typeface="Arial"/>
              <a:ea typeface="Arial"/>
              <a:cs typeface="Arial"/>
              <a:sym typeface="Arial"/>
            </a:endParaRPr>
          </a:p>
        </p:txBody>
      </p:sp>
      <p:pic>
        <p:nvPicPr>
          <p:cNvPr descr="pipe2.png" id="644" name="Google Shape;644;p15"/>
          <p:cNvPicPr preferRelativeResize="0"/>
          <p:nvPr/>
        </p:nvPicPr>
        <p:blipFill rotWithShape="1">
          <a:blip r:embed="rId4">
            <a:alphaModFix/>
          </a:blip>
          <a:srcRect b="0" l="0" r="0" t="0"/>
          <a:stretch/>
        </p:blipFill>
        <p:spPr>
          <a:xfrm>
            <a:off x="411480" y="1956816"/>
            <a:ext cx="6026941" cy="3657600"/>
          </a:xfrm>
          <a:prstGeom prst="rect">
            <a:avLst/>
          </a:prstGeom>
          <a:noFill/>
          <a:ln>
            <a:noFill/>
          </a:ln>
        </p:spPr>
      </p:pic>
      <p:sp>
        <p:nvSpPr>
          <p:cNvPr id="645" name="Google Shape;645;p15"/>
          <p:cNvSpPr/>
          <p:nvPr/>
        </p:nvSpPr>
        <p:spPr>
          <a:xfrm>
            <a:off x="6812280" y="2715768"/>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15"/>
          <p:cNvSpPr txBox="1"/>
          <p:nvPr/>
        </p:nvSpPr>
        <p:spPr>
          <a:xfrm>
            <a:off x="7159752" y="2560320"/>
            <a:ext cx="4681728" cy="10241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Um adaptador por gerador</a:t>
            </a:r>
            <a:endParaRPr b="0" i="0" sz="1400" u="none" cap="none" strike="noStrike">
              <a:solidFill>
                <a:srgbClr val="000000"/>
              </a:solidFill>
              <a:latin typeface="Arial"/>
              <a:ea typeface="Arial"/>
              <a:cs typeface="Arial"/>
              <a:sym typeface="Arial"/>
            </a:endParaRPr>
          </a:p>
        </p:txBody>
      </p:sp>
      <p:sp>
        <p:nvSpPr>
          <p:cNvPr id="647" name="Google Shape;647;p15"/>
          <p:cNvSpPr/>
          <p:nvPr/>
        </p:nvSpPr>
        <p:spPr>
          <a:xfrm>
            <a:off x="6812280" y="4014215"/>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15"/>
          <p:cNvSpPr txBox="1"/>
          <p:nvPr/>
        </p:nvSpPr>
        <p:spPr>
          <a:xfrm>
            <a:off x="7159752" y="3858768"/>
            <a:ext cx="4681728" cy="10241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Quinze campos, iguais para as três</a:t>
            </a:r>
            <a:endParaRPr b="0" i="0" sz="1400" u="none" cap="none" strike="noStrike">
              <a:solidFill>
                <a:srgbClr val="000000"/>
              </a:solidFill>
              <a:latin typeface="Arial"/>
              <a:ea typeface="Arial"/>
              <a:cs typeface="Arial"/>
              <a:sym typeface="Arial"/>
            </a:endParaRPr>
          </a:p>
        </p:txBody>
      </p:sp>
      <p:sp>
        <p:nvSpPr>
          <p:cNvPr id="649" name="Google Shape;649;p15"/>
          <p:cNvSpPr/>
          <p:nvPr/>
        </p:nvSpPr>
        <p:spPr>
          <a:xfrm>
            <a:off x="3963740" y="3623584"/>
            <a:ext cx="2187817" cy="1037295"/>
          </a:xfrm>
          <a:prstGeom prst="roundRect">
            <a:avLst>
              <a:gd fmla="val 6000" name="adj"/>
            </a:avLst>
          </a:prstGeom>
          <a:noFill/>
          <a:ln cap="flat" cmpd="sng" w="76200">
            <a:solidFill>
              <a:srgbClr val="A3121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pic>
        <p:nvPicPr>
          <p:cNvPr descr="sbseg2026_rodape.png" id="655" name="Google Shape;655;p1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56" name="Google Shape;656;p1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25</a:t>
            </a:r>
            <a:endParaRPr b="0" i="0" sz="1400" u="none" cap="none" strike="noStrike">
              <a:solidFill>
                <a:srgbClr val="000000"/>
              </a:solidFill>
              <a:latin typeface="Arial"/>
              <a:ea typeface="Arial"/>
              <a:cs typeface="Arial"/>
              <a:sym typeface="Arial"/>
            </a:endParaRPr>
          </a:p>
        </p:txBody>
      </p:sp>
      <p:sp>
        <p:nvSpPr>
          <p:cNvPr id="657" name="Google Shape;657;p16"/>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3 · Cenários</a:t>
            </a:r>
            <a:endParaRPr b="0" i="0" sz="1400" u="none" cap="none" strike="noStrike">
              <a:solidFill>
                <a:srgbClr val="000000"/>
              </a:solidFill>
              <a:latin typeface="Arial"/>
              <a:ea typeface="Arial"/>
              <a:cs typeface="Arial"/>
              <a:sym typeface="Arial"/>
            </a:endParaRPr>
          </a:p>
        </p:txBody>
      </p:sp>
      <p:sp>
        <p:nvSpPr>
          <p:cNvPr id="658" name="Google Shape;658;p16"/>
          <p:cNvSpPr/>
          <p:nvPr/>
        </p:nvSpPr>
        <p:spPr>
          <a:xfrm>
            <a:off x="713232"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9" name="Google Shape;659;p16"/>
          <p:cNvSpPr txBox="1"/>
          <p:nvPr/>
        </p:nvSpPr>
        <p:spPr>
          <a:xfrm>
            <a:off x="713232"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Inter"/>
                <a:ea typeface="Inter"/>
                <a:cs typeface="Inter"/>
                <a:sym typeface="Inter"/>
              </a:rPr>
              <a:t>1 · Janela</a:t>
            </a:r>
            <a:endParaRPr b="0" i="0" sz="1400" u="none" cap="none" strike="noStrike">
              <a:solidFill>
                <a:srgbClr val="000000"/>
              </a:solidFill>
              <a:latin typeface="Arial"/>
              <a:ea typeface="Arial"/>
              <a:cs typeface="Arial"/>
              <a:sym typeface="Arial"/>
            </a:endParaRPr>
          </a:p>
        </p:txBody>
      </p:sp>
      <p:sp>
        <p:nvSpPr>
          <p:cNvPr id="660" name="Google Shape;660;p16"/>
          <p:cNvSpPr/>
          <p:nvPr/>
        </p:nvSpPr>
        <p:spPr>
          <a:xfrm>
            <a:off x="3483864"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1" name="Google Shape;661;p16"/>
          <p:cNvSpPr txBox="1"/>
          <p:nvPr/>
        </p:nvSpPr>
        <p:spPr>
          <a:xfrm>
            <a:off x="3483864"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700"/>
              <a:buFont typeface="Arial"/>
              <a:buNone/>
            </a:pPr>
            <a:r>
              <a:rPr b="1" i="0" lang="en-US" sz="2700" u="none" cap="none" strike="noStrike">
                <a:solidFill>
                  <a:srgbClr val="000000"/>
                </a:solidFill>
                <a:latin typeface="Inter"/>
                <a:ea typeface="Inter"/>
                <a:cs typeface="Inter"/>
                <a:sym typeface="Inter"/>
              </a:rPr>
              <a:t>2 · Fontes</a:t>
            </a:r>
            <a:endParaRPr b="0" i="0" sz="1400" u="none" cap="none" strike="noStrike">
              <a:solidFill>
                <a:srgbClr val="000000"/>
              </a:solidFill>
              <a:latin typeface="Arial"/>
              <a:ea typeface="Arial"/>
              <a:cs typeface="Arial"/>
              <a:sym typeface="Arial"/>
            </a:endParaRPr>
          </a:p>
        </p:txBody>
      </p:sp>
      <p:sp>
        <p:nvSpPr>
          <p:cNvPr id="662" name="Google Shape;662;p16"/>
          <p:cNvSpPr/>
          <p:nvPr/>
        </p:nvSpPr>
        <p:spPr>
          <a:xfrm>
            <a:off x="6254496" y="1207008"/>
            <a:ext cx="2569464" cy="548640"/>
          </a:xfrm>
          <a:prstGeom prst="roundRect">
            <a:avLst>
              <a:gd fmla="val 38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3" name="Google Shape;663;p16"/>
          <p:cNvSpPr txBox="1"/>
          <p:nvPr/>
        </p:nvSpPr>
        <p:spPr>
          <a:xfrm>
            <a:off x="6254496"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Inter"/>
                <a:ea typeface="Inter"/>
                <a:cs typeface="Inter"/>
                <a:sym typeface="Inter"/>
              </a:rPr>
              <a:t>3 · Cenários</a:t>
            </a:r>
            <a:endParaRPr b="0" i="0" sz="1400" u="none" cap="none" strike="noStrike">
              <a:solidFill>
                <a:srgbClr val="000000"/>
              </a:solidFill>
              <a:latin typeface="Arial"/>
              <a:ea typeface="Arial"/>
              <a:cs typeface="Arial"/>
              <a:sym typeface="Arial"/>
            </a:endParaRPr>
          </a:p>
        </p:txBody>
      </p:sp>
      <p:sp>
        <p:nvSpPr>
          <p:cNvPr id="664" name="Google Shape;664;p16"/>
          <p:cNvSpPr/>
          <p:nvPr/>
        </p:nvSpPr>
        <p:spPr>
          <a:xfrm>
            <a:off x="9025128"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16"/>
          <p:cNvSpPr txBox="1"/>
          <p:nvPr/>
        </p:nvSpPr>
        <p:spPr>
          <a:xfrm>
            <a:off x="9025128"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Inter"/>
                <a:ea typeface="Inter"/>
                <a:cs typeface="Inter"/>
                <a:sym typeface="Inter"/>
              </a:rPr>
              <a:t>4 · Veredito</a:t>
            </a:r>
            <a:endParaRPr b="0" i="0" sz="1400" u="none" cap="none" strike="noStrike">
              <a:solidFill>
                <a:srgbClr val="000000"/>
              </a:solidFill>
              <a:latin typeface="Arial"/>
              <a:ea typeface="Arial"/>
              <a:cs typeface="Arial"/>
              <a:sym typeface="Arial"/>
            </a:endParaRPr>
          </a:p>
        </p:txBody>
      </p:sp>
      <p:pic>
        <p:nvPicPr>
          <p:cNvPr descr="pipe3.png" id="666" name="Google Shape;666;p16"/>
          <p:cNvPicPr preferRelativeResize="0"/>
          <p:nvPr/>
        </p:nvPicPr>
        <p:blipFill rotWithShape="1">
          <a:blip r:embed="rId4">
            <a:alphaModFix/>
          </a:blip>
          <a:srcRect b="0" l="0" r="0" t="0"/>
          <a:stretch/>
        </p:blipFill>
        <p:spPr>
          <a:xfrm>
            <a:off x="411480" y="1956816"/>
            <a:ext cx="6026941" cy="3657600"/>
          </a:xfrm>
          <a:prstGeom prst="rect">
            <a:avLst/>
          </a:prstGeom>
          <a:noFill/>
          <a:ln>
            <a:noFill/>
          </a:ln>
        </p:spPr>
      </p:pic>
      <p:sp>
        <p:nvSpPr>
          <p:cNvPr id="667" name="Google Shape;667;p16"/>
          <p:cNvSpPr/>
          <p:nvPr/>
        </p:nvSpPr>
        <p:spPr>
          <a:xfrm>
            <a:off x="634438" y="3179185"/>
            <a:ext cx="5579979" cy="1747967"/>
          </a:xfrm>
          <a:prstGeom prst="roundRect">
            <a:avLst>
              <a:gd fmla="val 6000" name="adj"/>
            </a:avLst>
          </a:prstGeom>
          <a:noFill/>
          <a:ln cap="flat" cmpd="sng" w="76200">
            <a:solidFill>
              <a:srgbClr val="A3121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descr="sbseg2026_rodape.png" id="673" name="Google Shape;673;p1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74" name="Google Shape;674;p1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26</a:t>
            </a:r>
            <a:endParaRPr b="0" i="0" sz="1400" u="none" cap="none" strike="noStrike">
              <a:solidFill>
                <a:srgbClr val="000000"/>
              </a:solidFill>
              <a:latin typeface="Arial"/>
              <a:ea typeface="Arial"/>
              <a:cs typeface="Arial"/>
              <a:sym typeface="Arial"/>
            </a:endParaRPr>
          </a:p>
        </p:txBody>
      </p:sp>
      <p:sp>
        <p:nvSpPr>
          <p:cNvPr id="675" name="Google Shape;675;p17"/>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4 · Veredito</a:t>
            </a:r>
            <a:endParaRPr b="0" i="0" sz="1400" u="none" cap="none" strike="noStrike">
              <a:solidFill>
                <a:srgbClr val="000000"/>
              </a:solidFill>
              <a:latin typeface="Arial"/>
              <a:ea typeface="Arial"/>
              <a:cs typeface="Arial"/>
              <a:sym typeface="Arial"/>
            </a:endParaRPr>
          </a:p>
        </p:txBody>
      </p:sp>
      <p:sp>
        <p:nvSpPr>
          <p:cNvPr id="676" name="Google Shape;676;p17"/>
          <p:cNvSpPr/>
          <p:nvPr/>
        </p:nvSpPr>
        <p:spPr>
          <a:xfrm>
            <a:off x="713232"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7" name="Google Shape;677;p17"/>
          <p:cNvSpPr txBox="1"/>
          <p:nvPr/>
        </p:nvSpPr>
        <p:spPr>
          <a:xfrm>
            <a:off x="713232"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Inter"/>
                <a:ea typeface="Inter"/>
                <a:cs typeface="Inter"/>
                <a:sym typeface="Inter"/>
              </a:rPr>
              <a:t>1 · Janela</a:t>
            </a:r>
            <a:endParaRPr b="0" i="0" sz="1400" u="none" cap="none" strike="noStrike">
              <a:solidFill>
                <a:srgbClr val="000000"/>
              </a:solidFill>
              <a:latin typeface="Arial"/>
              <a:ea typeface="Arial"/>
              <a:cs typeface="Arial"/>
              <a:sym typeface="Arial"/>
            </a:endParaRPr>
          </a:p>
        </p:txBody>
      </p:sp>
      <p:sp>
        <p:nvSpPr>
          <p:cNvPr id="678" name="Google Shape;678;p17"/>
          <p:cNvSpPr/>
          <p:nvPr/>
        </p:nvSpPr>
        <p:spPr>
          <a:xfrm>
            <a:off x="3483864"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p17"/>
          <p:cNvSpPr txBox="1"/>
          <p:nvPr/>
        </p:nvSpPr>
        <p:spPr>
          <a:xfrm>
            <a:off x="3483864"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700"/>
              <a:buFont typeface="Arial"/>
              <a:buNone/>
            </a:pPr>
            <a:r>
              <a:rPr b="1" i="0" lang="en-US" sz="2700" u="none" cap="none" strike="noStrike">
                <a:solidFill>
                  <a:srgbClr val="000000"/>
                </a:solidFill>
                <a:latin typeface="Inter"/>
                <a:ea typeface="Inter"/>
                <a:cs typeface="Inter"/>
                <a:sym typeface="Inter"/>
              </a:rPr>
              <a:t>2 · Fontes</a:t>
            </a:r>
            <a:endParaRPr b="0" i="0" sz="1400" u="none" cap="none" strike="noStrike">
              <a:solidFill>
                <a:srgbClr val="000000"/>
              </a:solidFill>
              <a:latin typeface="Arial"/>
              <a:ea typeface="Arial"/>
              <a:cs typeface="Arial"/>
              <a:sym typeface="Arial"/>
            </a:endParaRPr>
          </a:p>
        </p:txBody>
      </p:sp>
      <p:sp>
        <p:nvSpPr>
          <p:cNvPr id="680" name="Google Shape;680;p17"/>
          <p:cNvSpPr/>
          <p:nvPr/>
        </p:nvSpPr>
        <p:spPr>
          <a:xfrm>
            <a:off x="6254496" y="1207008"/>
            <a:ext cx="2569464" cy="548640"/>
          </a:xfrm>
          <a:prstGeom prst="roundRect">
            <a:avLst>
              <a:gd fmla="val 38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1" name="Google Shape;681;p17"/>
          <p:cNvSpPr txBox="1"/>
          <p:nvPr/>
        </p:nvSpPr>
        <p:spPr>
          <a:xfrm>
            <a:off x="6254496"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Inter"/>
                <a:ea typeface="Inter"/>
                <a:cs typeface="Inter"/>
                <a:sym typeface="Inter"/>
              </a:rPr>
              <a:t>3 · Cenários</a:t>
            </a:r>
            <a:endParaRPr b="0" i="0" sz="1400" u="none" cap="none" strike="noStrike">
              <a:solidFill>
                <a:srgbClr val="000000"/>
              </a:solidFill>
              <a:latin typeface="Arial"/>
              <a:ea typeface="Arial"/>
              <a:cs typeface="Arial"/>
              <a:sym typeface="Arial"/>
            </a:endParaRPr>
          </a:p>
        </p:txBody>
      </p:sp>
      <p:sp>
        <p:nvSpPr>
          <p:cNvPr id="682" name="Google Shape;682;p17"/>
          <p:cNvSpPr/>
          <p:nvPr/>
        </p:nvSpPr>
        <p:spPr>
          <a:xfrm>
            <a:off x="9025128" y="1207008"/>
            <a:ext cx="2569464" cy="548640"/>
          </a:xfrm>
          <a:prstGeom prst="roundRect">
            <a:avLst>
              <a:gd fmla="val 38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3" name="Google Shape;683;p17"/>
          <p:cNvSpPr txBox="1"/>
          <p:nvPr/>
        </p:nvSpPr>
        <p:spPr>
          <a:xfrm>
            <a:off x="9025128" y="1261872"/>
            <a:ext cx="256946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Inter"/>
                <a:ea typeface="Inter"/>
                <a:cs typeface="Inter"/>
                <a:sym typeface="Inter"/>
              </a:rPr>
              <a:t>4 · Veredito</a:t>
            </a:r>
            <a:endParaRPr b="0" i="0" sz="1400" u="none" cap="none" strike="noStrike">
              <a:solidFill>
                <a:srgbClr val="000000"/>
              </a:solidFill>
              <a:latin typeface="Arial"/>
              <a:ea typeface="Arial"/>
              <a:cs typeface="Arial"/>
              <a:sym typeface="Arial"/>
            </a:endParaRPr>
          </a:p>
        </p:txBody>
      </p:sp>
      <p:pic>
        <p:nvPicPr>
          <p:cNvPr descr="pipe4.png" id="684" name="Google Shape;684;p17"/>
          <p:cNvPicPr preferRelativeResize="0"/>
          <p:nvPr/>
        </p:nvPicPr>
        <p:blipFill rotWithShape="1">
          <a:blip r:embed="rId4">
            <a:alphaModFix/>
          </a:blip>
          <a:srcRect b="0" l="0" r="0" t="0"/>
          <a:stretch/>
        </p:blipFill>
        <p:spPr>
          <a:xfrm>
            <a:off x="411480" y="2156261"/>
            <a:ext cx="6199632" cy="3276996"/>
          </a:xfrm>
          <a:prstGeom prst="rect">
            <a:avLst/>
          </a:prstGeom>
          <a:noFill/>
          <a:ln>
            <a:noFill/>
          </a:ln>
        </p:spPr>
      </p:pic>
      <p:sp>
        <p:nvSpPr>
          <p:cNvPr id="685" name="Google Shape;685;p17"/>
          <p:cNvSpPr/>
          <p:nvPr/>
        </p:nvSpPr>
        <p:spPr>
          <a:xfrm>
            <a:off x="6812280" y="2715768"/>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17"/>
          <p:cNvSpPr txBox="1"/>
          <p:nvPr/>
        </p:nvSpPr>
        <p:spPr>
          <a:xfrm>
            <a:off x="7159752" y="2560320"/>
            <a:ext cx="4681800" cy="4617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Latência medida</a:t>
            </a:r>
            <a:endParaRPr b="0" i="0" sz="1400" u="none" cap="none" strike="noStrike">
              <a:solidFill>
                <a:srgbClr val="000000"/>
              </a:solidFill>
              <a:latin typeface="Arial"/>
              <a:ea typeface="Arial"/>
              <a:cs typeface="Arial"/>
              <a:sym typeface="Arial"/>
            </a:endParaRPr>
          </a:p>
        </p:txBody>
      </p:sp>
      <p:sp>
        <p:nvSpPr>
          <p:cNvPr id="687" name="Google Shape;687;p17"/>
          <p:cNvSpPr/>
          <p:nvPr/>
        </p:nvSpPr>
        <p:spPr>
          <a:xfrm>
            <a:off x="6812280" y="4014215"/>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8" name="Google Shape;688;p17"/>
          <p:cNvSpPr txBox="1"/>
          <p:nvPr/>
        </p:nvSpPr>
        <p:spPr>
          <a:xfrm>
            <a:off x="7159752" y="3858768"/>
            <a:ext cx="4681728" cy="10241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Prazo de 1,5 s, do Manual do Pix</a:t>
            </a:r>
            <a:endParaRPr b="0" i="0" sz="1400" u="none" cap="none" strike="noStrike">
              <a:solidFill>
                <a:srgbClr val="000000"/>
              </a:solidFill>
              <a:latin typeface="Arial"/>
              <a:ea typeface="Arial"/>
              <a:cs typeface="Arial"/>
              <a:sym typeface="Arial"/>
            </a:endParaRPr>
          </a:p>
        </p:txBody>
      </p:sp>
      <p:sp>
        <p:nvSpPr>
          <p:cNvPr id="689" name="Google Shape;689;p17"/>
          <p:cNvSpPr/>
          <p:nvPr/>
        </p:nvSpPr>
        <p:spPr>
          <a:xfrm>
            <a:off x="4431014" y="3100553"/>
            <a:ext cx="1313076" cy="1675804"/>
          </a:xfrm>
          <a:prstGeom prst="roundRect">
            <a:avLst>
              <a:gd fmla="val 6000" name="adj"/>
            </a:avLst>
          </a:prstGeom>
          <a:noFill/>
          <a:ln cap="flat" cmpd="sng" w="76200">
            <a:solidFill>
              <a:srgbClr val="A3121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pic>
        <p:nvPicPr>
          <p:cNvPr descr="sbseg2026_rodape.png" id="695" name="Google Shape;695;p1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96" name="Google Shape;696;p1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27</a:t>
            </a:r>
            <a:endParaRPr b="0" i="0" sz="1400" u="none" cap="none" strike="noStrike">
              <a:solidFill>
                <a:srgbClr val="000000"/>
              </a:solidFill>
              <a:latin typeface="Arial"/>
              <a:ea typeface="Arial"/>
              <a:cs typeface="Arial"/>
              <a:sym typeface="Arial"/>
            </a:endParaRPr>
          </a:p>
        </p:txBody>
      </p:sp>
      <p:sp>
        <p:nvSpPr>
          <p:cNvPr id="697" name="Google Shape;697;p1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MÉTRICA</a:t>
            </a:r>
            <a:endParaRPr b="0" i="0" sz="1400" u="none" cap="none" strike="noStrike">
              <a:solidFill>
                <a:srgbClr val="000000"/>
              </a:solidFill>
              <a:latin typeface="Arial"/>
              <a:ea typeface="Arial"/>
              <a:cs typeface="Arial"/>
              <a:sym typeface="Arial"/>
            </a:endParaRPr>
          </a:p>
        </p:txBody>
      </p:sp>
      <p:sp>
        <p:nvSpPr>
          <p:cNvPr id="698" name="Google Shape;698;p18"/>
          <p:cNvSpPr txBox="1"/>
          <p:nvPr/>
        </p:nvSpPr>
        <p:spPr>
          <a:xfrm>
            <a:off x="713232" y="566928"/>
            <a:ext cx="10881360"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Uma detecção só conta se as duas valerem</a:t>
            </a:r>
            <a:endParaRPr b="0" i="0" sz="1400" u="none" cap="none" strike="noStrike">
              <a:solidFill>
                <a:srgbClr val="000000"/>
              </a:solidFill>
              <a:latin typeface="Arial"/>
              <a:ea typeface="Arial"/>
              <a:cs typeface="Arial"/>
              <a:sym typeface="Arial"/>
            </a:endParaRPr>
          </a:p>
        </p:txBody>
      </p:sp>
      <p:sp>
        <p:nvSpPr>
          <p:cNvPr id="699" name="Google Shape;699;p18"/>
          <p:cNvSpPr/>
          <p:nvPr/>
        </p:nvSpPr>
        <p:spPr>
          <a:xfrm>
            <a:off x="713232" y="1901952"/>
            <a:ext cx="10744200" cy="1828800"/>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0" name="Google Shape;700;p18"/>
          <p:cNvSpPr txBox="1"/>
          <p:nvPr/>
        </p:nvSpPr>
        <p:spPr>
          <a:xfrm>
            <a:off x="1005840" y="2176272"/>
            <a:ext cx="1014984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0000"/>
                </a:solidFill>
                <a:latin typeface="Space Grotesk"/>
                <a:ea typeface="Space Grotesk"/>
                <a:cs typeface="Space Grotesk"/>
                <a:sym typeface="Space Grotesk"/>
              </a:rPr>
              <a:t>1 · sinalizou</a:t>
            </a:r>
            <a:endParaRPr b="0" i="0" sz="1400" u="none" cap="none" strike="noStrike">
              <a:solidFill>
                <a:srgbClr val="000000"/>
              </a:solidFill>
              <a:latin typeface="Arial"/>
              <a:ea typeface="Arial"/>
              <a:cs typeface="Arial"/>
              <a:sym typeface="Arial"/>
            </a:endParaRPr>
          </a:p>
        </p:txBody>
      </p:sp>
      <p:sp>
        <p:nvSpPr>
          <p:cNvPr id="701" name="Google Shape;701;p18"/>
          <p:cNvSpPr txBox="1"/>
          <p:nvPr/>
        </p:nvSpPr>
        <p:spPr>
          <a:xfrm>
            <a:off x="1005840" y="2770632"/>
            <a:ext cx="10149840" cy="8229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a nota passou do limiar, numa fraude verdadeira</a:t>
            </a:r>
            <a:endParaRPr b="0" i="0" sz="1400" u="none" cap="none" strike="noStrike">
              <a:solidFill>
                <a:srgbClr val="000000"/>
              </a:solidFill>
              <a:latin typeface="Arial"/>
              <a:ea typeface="Arial"/>
              <a:cs typeface="Arial"/>
              <a:sym typeface="Arial"/>
            </a:endParaRPr>
          </a:p>
        </p:txBody>
      </p:sp>
      <p:sp>
        <p:nvSpPr>
          <p:cNvPr id="702" name="Google Shape;702;p18"/>
          <p:cNvSpPr/>
          <p:nvPr/>
        </p:nvSpPr>
        <p:spPr>
          <a:xfrm>
            <a:off x="713232" y="3931920"/>
            <a:ext cx="10744200" cy="1828800"/>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p18"/>
          <p:cNvSpPr txBox="1"/>
          <p:nvPr/>
        </p:nvSpPr>
        <p:spPr>
          <a:xfrm>
            <a:off x="1005840" y="4206240"/>
            <a:ext cx="1014984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0000"/>
                </a:solidFill>
                <a:latin typeface="Space Grotesk"/>
                <a:ea typeface="Space Grotesk"/>
                <a:cs typeface="Space Grotesk"/>
                <a:sym typeface="Space Grotesk"/>
              </a:rPr>
              <a:t>2 · decidiu a tempo</a:t>
            </a:r>
            <a:endParaRPr b="0" i="0" sz="1400" u="none" cap="none" strike="noStrike">
              <a:solidFill>
                <a:srgbClr val="000000"/>
              </a:solidFill>
              <a:latin typeface="Arial"/>
              <a:ea typeface="Arial"/>
              <a:cs typeface="Arial"/>
              <a:sym typeface="Arial"/>
            </a:endParaRPr>
          </a:p>
        </p:txBody>
      </p:sp>
      <p:sp>
        <p:nvSpPr>
          <p:cNvPr id="704" name="Google Shape;704;p18"/>
          <p:cNvSpPr txBox="1"/>
          <p:nvPr/>
        </p:nvSpPr>
        <p:spPr>
          <a:xfrm>
            <a:off x="1005840" y="4800600"/>
            <a:ext cx="10149840" cy="8229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a latência medida coube no prazo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23"/>
          <p:cNvSpPr/>
          <p:nvPr/>
        </p:nvSpPr>
        <p:spPr>
          <a:xfrm>
            <a:off x="0" y="0"/>
            <a:ext cx="12191695" cy="6858000"/>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711" name="Google Shape;711;p2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12" name="Google Shape;712;p2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JetBrains Mono"/>
                <a:ea typeface="JetBrains Mono"/>
                <a:cs typeface="JetBrains Mono"/>
                <a:sym typeface="JetBrains Mono"/>
              </a:rPr>
              <a:t>28</a:t>
            </a:r>
            <a:endParaRPr b="0" i="0" sz="1400" u="none" cap="none" strike="noStrike">
              <a:solidFill>
                <a:srgbClr val="000000"/>
              </a:solidFill>
              <a:latin typeface="Arial"/>
              <a:ea typeface="Arial"/>
              <a:cs typeface="Arial"/>
              <a:sym typeface="Arial"/>
            </a:endParaRPr>
          </a:p>
        </p:txBody>
      </p:sp>
      <p:sp>
        <p:nvSpPr>
          <p:cNvPr id="713" name="Google Shape;713;p23"/>
          <p:cNvSpPr/>
          <p:nvPr/>
        </p:nvSpPr>
        <p:spPr>
          <a:xfrm>
            <a:off x="5870448" y="841248"/>
            <a:ext cx="5998464" cy="5175504"/>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g06_justo.jpg" id="714" name="Google Shape;714;p23"/>
          <p:cNvPicPr preferRelativeResize="0"/>
          <p:nvPr/>
        </p:nvPicPr>
        <p:blipFill rotWithShape="1">
          <a:blip r:embed="rId4">
            <a:alphaModFix/>
          </a:blip>
          <a:srcRect b="0" l="0" r="0" t="0"/>
          <a:stretch/>
        </p:blipFill>
        <p:spPr>
          <a:xfrm>
            <a:off x="5989320" y="1956175"/>
            <a:ext cx="5760720" cy="2945648"/>
          </a:xfrm>
          <a:prstGeom prst="rect">
            <a:avLst/>
          </a:prstGeom>
          <a:noFill/>
          <a:ln>
            <a:noFill/>
          </a:ln>
        </p:spPr>
      </p:pic>
      <p:sp>
        <p:nvSpPr>
          <p:cNvPr id="715" name="Google Shape;715;p23"/>
          <p:cNvSpPr txBox="1"/>
          <p:nvPr/>
        </p:nvSpPr>
        <p:spPr>
          <a:xfrm>
            <a:off x="868680" y="1874519"/>
            <a:ext cx="182880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600"/>
              <a:buFont typeface="Arial"/>
              <a:buNone/>
            </a:pPr>
            <a:r>
              <a:rPr b="1" i="0" lang="en-US" sz="7600" u="none" cap="none" strike="noStrike">
                <a:solidFill>
                  <a:srgbClr val="FFFFFF"/>
                </a:solidFill>
                <a:latin typeface="JetBrains Mono"/>
                <a:ea typeface="JetBrains Mono"/>
                <a:cs typeface="JetBrains Mono"/>
                <a:sym typeface="JetBrains Mono"/>
              </a:rPr>
              <a:t>02</a:t>
            </a:r>
            <a:endParaRPr b="0" i="0" sz="1400" u="none" cap="none" strike="noStrike">
              <a:solidFill>
                <a:srgbClr val="000000"/>
              </a:solidFill>
              <a:latin typeface="Arial"/>
              <a:ea typeface="Arial"/>
              <a:cs typeface="Arial"/>
              <a:sym typeface="Arial"/>
            </a:endParaRPr>
          </a:p>
        </p:txBody>
      </p:sp>
      <p:sp>
        <p:nvSpPr>
          <p:cNvPr id="716" name="Google Shape;716;p23"/>
          <p:cNvSpPr txBox="1"/>
          <p:nvPr/>
        </p:nvSpPr>
        <p:spPr>
          <a:xfrm>
            <a:off x="868680" y="3017520"/>
            <a:ext cx="493776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FFFFFF"/>
                </a:solidFill>
                <a:latin typeface="Space Grotesk"/>
                <a:ea typeface="Space Grotesk"/>
                <a:cs typeface="Space Grotesk"/>
                <a:sym typeface="Space Grotesk"/>
              </a:rPr>
              <a:t>Avaliação</a:t>
            </a:r>
            <a:endParaRPr b="0" i="0" sz="1400" u="none" cap="none" strike="noStrike">
              <a:solidFill>
                <a:srgbClr val="000000"/>
              </a:solidFill>
              <a:latin typeface="Arial"/>
              <a:ea typeface="Arial"/>
              <a:cs typeface="Arial"/>
              <a:sym typeface="Arial"/>
            </a:endParaRPr>
          </a:p>
        </p:txBody>
      </p:sp>
      <p:sp>
        <p:nvSpPr>
          <p:cNvPr id="717" name="Google Shape;717;p23"/>
          <p:cNvSpPr txBox="1"/>
          <p:nvPr/>
        </p:nvSpPr>
        <p:spPr>
          <a:xfrm>
            <a:off x="868680" y="3840480"/>
            <a:ext cx="4755000" cy="21540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Clr>
                <a:srgbClr val="000000"/>
              </a:buClr>
              <a:buSzPts val="32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pic>
        <p:nvPicPr>
          <p:cNvPr descr="sbseg2026_rodape.png" id="723" name="Google Shape;723;p2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24" name="Google Shape;724;p2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29</a:t>
            </a:r>
            <a:endParaRPr b="0" i="0" sz="1400" u="none" cap="none" strike="noStrike">
              <a:solidFill>
                <a:srgbClr val="000000"/>
              </a:solidFill>
              <a:latin typeface="Arial"/>
              <a:ea typeface="Arial"/>
              <a:cs typeface="Arial"/>
              <a:sym typeface="Arial"/>
            </a:endParaRPr>
          </a:p>
        </p:txBody>
      </p:sp>
      <p:sp>
        <p:nvSpPr>
          <p:cNvPr id="725" name="Google Shape;725;p2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CONFIGURAÇÃO</a:t>
            </a:r>
            <a:endParaRPr b="0" i="0" sz="1400" u="none" cap="none" strike="noStrike">
              <a:solidFill>
                <a:srgbClr val="000000"/>
              </a:solidFill>
              <a:latin typeface="Arial"/>
              <a:ea typeface="Arial"/>
              <a:cs typeface="Arial"/>
              <a:sym typeface="Arial"/>
            </a:endParaRPr>
          </a:p>
        </p:txBody>
      </p:sp>
      <p:sp>
        <p:nvSpPr>
          <p:cNvPr id="726" name="Google Shape;726;p24"/>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Os mesmos 1.000 eventos para os cinco</a:t>
            </a:r>
            <a:endParaRPr b="0" i="0" sz="1400" u="none" cap="none" strike="noStrike">
              <a:solidFill>
                <a:srgbClr val="000000"/>
              </a:solidFill>
              <a:latin typeface="Arial"/>
              <a:ea typeface="Arial"/>
              <a:cs typeface="Arial"/>
              <a:sym typeface="Arial"/>
            </a:endParaRPr>
          </a:p>
        </p:txBody>
      </p:sp>
      <p:sp>
        <p:nvSpPr>
          <p:cNvPr id="727" name="Google Shape;727;p24"/>
          <p:cNvSpPr/>
          <p:nvPr/>
        </p:nvSpPr>
        <p:spPr>
          <a:xfrm>
            <a:off x="713232" y="2313432"/>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24"/>
          <p:cNvSpPr txBox="1"/>
          <p:nvPr/>
        </p:nvSpPr>
        <p:spPr>
          <a:xfrm>
            <a:off x="1060704" y="2148840"/>
            <a:ext cx="10607040"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150 fraudes e 850 legítimas</a:t>
            </a:r>
            <a:endParaRPr b="0" i="0" sz="1400" u="none" cap="none" strike="noStrike">
              <a:solidFill>
                <a:srgbClr val="000000"/>
              </a:solidFill>
              <a:latin typeface="Arial"/>
              <a:ea typeface="Arial"/>
              <a:cs typeface="Arial"/>
              <a:sym typeface="Arial"/>
            </a:endParaRPr>
          </a:p>
        </p:txBody>
      </p:sp>
      <p:sp>
        <p:nvSpPr>
          <p:cNvPr id="729" name="Google Shape;729;p24"/>
          <p:cNvSpPr/>
          <p:nvPr/>
        </p:nvSpPr>
        <p:spPr>
          <a:xfrm>
            <a:off x="713232" y="3456432"/>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0" name="Google Shape;730;p24"/>
          <p:cNvSpPr txBox="1"/>
          <p:nvPr/>
        </p:nvSpPr>
        <p:spPr>
          <a:xfrm>
            <a:off x="1060704" y="3291840"/>
            <a:ext cx="10607100" cy="4926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15% de fraude na fatia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descr="sbseg2026_rodape.png" id="736" name="Google Shape;736;p2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37" name="Google Shape;737;p2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30</a:t>
            </a:r>
            <a:endParaRPr b="0" i="0" sz="1400" u="none" cap="none" strike="noStrike">
              <a:solidFill>
                <a:srgbClr val="000000"/>
              </a:solidFill>
              <a:latin typeface="Arial"/>
              <a:ea typeface="Arial"/>
              <a:cs typeface="Arial"/>
              <a:sym typeface="Arial"/>
            </a:endParaRPr>
          </a:p>
        </p:txBody>
      </p:sp>
      <p:sp>
        <p:nvSpPr>
          <p:cNvPr id="738" name="Google Shape;738;p2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 ACHADO CENTRAL</a:t>
            </a:r>
            <a:endParaRPr b="0" i="0" sz="1400" u="none" cap="none" strike="noStrike">
              <a:solidFill>
                <a:srgbClr val="000000"/>
              </a:solidFill>
              <a:latin typeface="Arial"/>
              <a:ea typeface="Arial"/>
              <a:cs typeface="Arial"/>
              <a:sym typeface="Arial"/>
            </a:endParaRPr>
          </a:p>
        </p:txBody>
      </p:sp>
      <p:sp>
        <p:nvSpPr>
          <p:cNvPr id="739" name="Google Shape;739;p27"/>
          <p:cNvSpPr txBox="1"/>
          <p:nvPr/>
        </p:nvSpPr>
        <p:spPr>
          <a:xfrm>
            <a:off x="713232" y="566928"/>
            <a:ext cx="108813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PR-AUC dos cinco detectores</a:t>
            </a:r>
            <a:endParaRPr b="0" i="0" sz="1400" u="none" cap="none" strike="noStrike">
              <a:solidFill>
                <a:srgbClr val="000000"/>
              </a:solidFill>
              <a:latin typeface="Arial"/>
              <a:ea typeface="Arial"/>
              <a:cs typeface="Arial"/>
              <a:sym typeface="Arial"/>
            </a:endParaRPr>
          </a:p>
        </p:txBody>
      </p:sp>
      <p:sp>
        <p:nvSpPr>
          <p:cNvPr id="740" name="Google Shape;740;p27"/>
          <p:cNvSpPr txBox="1"/>
          <p:nvPr/>
        </p:nvSpPr>
        <p:spPr>
          <a:xfrm>
            <a:off x="713232" y="1719072"/>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Random forest</a:t>
            </a:r>
            <a:endParaRPr b="0" i="0" sz="1400" u="none" cap="none" strike="noStrike">
              <a:solidFill>
                <a:srgbClr val="000000"/>
              </a:solidFill>
              <a:latin typeface="Arial"/>
              <a:ea typeface="Arial"/>
              <a:cs typeface="Arial"/>
              <a:sym typeface="Arial"/>
            </a:endParaRPr>
          </a:p>
        </p:txBody>
      </p:sp>
      <p:sp>
        <p:nvSpPr>
          <p:cNvPr id="741" name="Google Shape;741;p27"/>
          <p:cNvSpPr/>
          <p:nvPr/>
        </p:nvSpPr>
        <p:spPr>
          <a:xfrm>
            <a:off x="5943600" y="1774813"/>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2" name="Google Shape;742;p27"/>
          <p:cNvSpPr/>
          <p:nvPr/>
        </p:nvSpPr>
        <p:spPr>
          <a:xfrm>
            <a:off x="5943600" y="1774813"/>
            <a:ext cx="3773114" cy="353031"/>
          </a:xfrm>
          <a:prstGeom prst="roundRect">
            <a:avLst>
              <a:gd fmla="val 25000" name="adj"/>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3" name="Google Shape;743;p27"/>
          <p:cNvSpPr txBox="1"/>
          <p:nvPr/>
        </p:nvSpPr>
        <p:spPr>
          <a:xfrm>
            <a:off x="10122408" y="1719072"/>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JetBrains Mono"/>
                <a:ea typeface="JetBrains Mono"/>
                <a:cs typeface="JetBrains Mono"/>
                <a:sym typeface="JetBrains Mono"/>
              </a:rPr>
              <a:t>0,931</a:t>
            </a:r>
            <a:endParaRPr b="0" i="0" sz="1400" u="none" cap="none" strike="noStrike">
              <a:solidFill>
                <a:srgbClr val="000000"/>
              </a:solidFill>
              <a:latin typeface="Arial"/>
              <a:ea typeface="Arial"/>
              <a:cs typeface="Arial"/>
              <a:sym typeface="Arial"/>
            </a:endParaRPr>
          </a:p>
        </p:txBody>
      </p:sp>
      <p:sp>
        <p:nvSpPr>
          <p:cNvPr id="744" name="Google Shape;744;p27"/>
          <p:cNvSpPr txBox="1"/>
          <p:nvPr/>
        </p:nvSpPr>
        <p:spPr>
          <a:xfrm>
            <a:off x="713232" y="2311603"/>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Qwen2.5-1.5B, direto</a:t>
            </a:r>
            <a:endParaRPr b="0" i="0" sz="1400" u="none" cap="none" strike="noStrike">
              <a:solidFill>
                <a:srgbClr val="000000"/>
              </a:solidFill>
              <a:latin typeface="Arial"/>
              <a:ea typeface="Arial"/>
              <a:cs typeface="Arial"/>
              <a:sym typeface="Arial"/>
            </a:endParaRPr>
          </a:p>
        </p:txBody>
      </p:sp>
      <p:sp>
        <p:nvSpPr>
          <p:cNvPr id="745" name="Google Shape;745;p27"/>
          <p:cNvSpPr/>
          <p:nvPr/>
        </p:nvSpPr>
        <p:spPr>
          <a:xfrm>
            <a:off x="5943600" y="2367345"/>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6" name="Google Shape;746;p27"/>
          <p:cNvSpPr/>
          <p:nvPr/>
        </p:nvSpPr>
        <p:spPr>
          <a:xfrm>
            <a:off x="5943600" y="2367345"/>
            <a:ext cx="812794" cy="353031"/>
          </a:xfrm>
          <a:prstGeom prst="roundRect">
            <a:avLst>
              <a:gd fmla="val 25000" name="adj"/>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27"/>
          <p:cNvSpPr txBox="1"/>
          <p:nvPr/>
        </p:nvSpPr>
        <p:spPr>
          <a:xfrm>
            <a:off x="10122408" y="2311603"/>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JetBrains Mono"/>
                <a:ea typeface="JetBrains Mono"/>
                <a:cs typeface="JetBrains Mono"/>
                <a:sym typeface="JetBrains Mono"/>
              </a:rPr>
              <a:t>0,201</a:t>
            </a:r>
            <a:endParaRPr b="0" i="0" sz="1400" u="none" cap="none" strike="noStrike">
              <a:solidFill>
                <a:srgbClr val="000000"/>
              </a:solidFill>
              <a:latin typeface="Arial"/>
              <a:ea typeface="Arial"/>
              <a:cs typeface="Arial"/>
              <a:sym typeface="Arial"/>
            </a:endParaRPr>
          </a:p>
        </p:txBody>
      </p:sp>
      <p:sp>
        <p:nvSpPr>
          <p:cNvPr id="748" name="Google Shape;748;p27"/>
          <p:cNvSpPr txBox="1"/>
          <p:nvPr/>
        </p:nvSpPr>
        <p:spPr>
          <a:xfrm>
            <a:off x="713232" y="2904134"/>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Qwen2.5-1.5B, raciocínio</a:t>
            </a:r>
            <a:endParaRPr b="0" i="0" sz="1400" u="none" cap="none" strike="noStrike">
              <a:solidFill>
                <a:srgbClr val="000000"/>
              </a:solidFill>
              <a:latin typeface="Arial"/>
              <a:ea typeface="Arial"/>
              <a:cs typeface="Arial"/>
              <a:sym typeface="Arial"/>
            </a:endParaRPr>
          </a:p>
        </p:txBody>
      </p:sp>
      <p:sp>
        <p:nvSpPr>
          <p:cNvPr id="749" name="Google Shape;749;p27"/>
          <p:cNvSpPr/>
          <p:nvPr/>
        </p:nvSpPr>
        <p:spPr>
          <a:xfrm>
            <a:off x="5943600" y="2959876"/>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27"/>
          <p:cNvSpPr/>
          <p:nvPr/>
        </p:nvSpPr>
        <p:spPr>
          <a:xfrm>
            <a:off x="5943600" y="2959876"/>
            <a:ext cx="646318" cy="353031"/>
          </a:xfrm>
          <a:prstGeom prst="roundRect">
            <a:avLst>
              <a:gd fmla="val 25000" name="adj"/>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1" name="Google Shape;751;p27"/>
          <p:cNvSpPr txBox="1"/>
          <p:nvPr/>
        </p:nvSpPr>
        <p:spPr>
          <a:xfrm>
            <a:off x="10122408" y="2904134"/>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JetBrains Mono"/>
                <a:ea typeface="JetBrains Mono"/>
                <a:cs typeface="JetBrains Mono"/>
                <a:sym typeface="JetBrains Mono"/>
              </a:rPr>
              <a:t>0,160</a:t>
            </a:r>
            <a:endParaRPr b="0" i="0" sz="1400" u="none" cap="none" strike="noStrike">
              <a:solidFill>
                <a:srgbClr val="000000"/>
              </a:solidFill>
              <a:latin typeface="Arial"/>
              <a:ea typeface="Arial"/>
              <a:cs typeface="Arial"/>
              <a:sym typeface="Arial"/>
            </a:endParaRPr>
          </a:p>
        </p:txBody>
      </p:sp>
      <p:sp>
        <p:nvSpPr>
          <p:cNvPr id="752" name="Google Shape;752;p27"/>
          <p:cNvSpPr txBox="1"/>
          <p:nvPr/>
        </p:nvSpPr>
        <p:spPr>
          <a:xfrm>
            <a:off x="713232" y="3496665"/>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DeepSeek v4-flash</a:t>
            </a:r>
            <a:endParaRPr b="0" i="0" sz="1400" u="none" cap="none" strike="noStrike">
              <a:solidFill>
                <a:srgbClr val="000000"/>
              </a:solidFill>
              <a:latin typeface="Arial"/>
              <a:ea typeface="Arial"/>
              <a:cs typeface="Arial"/>
              <a:sym typeface="Arial"/>
            </a:endParaRPr>
          </a:p>
        </p:txBody>
      </p:sp>
      <p:sp>
        <p:nvSpPr>
          <p:cNvPr id="753" name="Google Shape;753;p27"/>
          <p:cNvSpPr/>
          <p:nvPr/>
        </p:nvSpPr>
        <p:spPr>
          <a:xfrm>
            <a:off x="5943600" y="3552407"/>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4" name="Google Shape;754;p27"/>
          <p:cNvSpPr/>
          <p:nvPr/>
        </p:nvSpPr>
        <p:spPr>
          <a:xfrm>
            <a:off x="5943600" y="3552407"/>
            <a:ext cx="3425948" cy="353031"/>
          </a:xfrm>
          <a:prstGeom prst="roundRect">
            <a:avLst>
              <a:gd fmla="val 25000" name="adj"/>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5" name="Google Shape;755;p27"/>
          <p:cNvSpPr txBox="1"/>
          <p:nvPr/>
        </p:nvSpPr>
        <p:spPr>
          <a:xfrm>
            <a:off x="10122408" y="3496665"/>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JetBrains Mono"/>
                <a:ea typeface="JetBrains Mono"/>
                <a:cs typeface="JetBrains Mono"/>
                <a:sym typeface="JetBrains Mono"/>
              </a:rPr>
              <a:t>0,846</a:t>
            </a:r>
            <a:endParaRPr b="0" i="0" sz="1400" u="none" cap="none" strike="noStrike">
              <a:solidFill>
                <a:srgbClr val="000000"/>
              </a:solidFill>
              <a:latin typeface="Arial"/>
              <a:ea typeface="Arial"/>
              <a:cs typeface="Arial"/>
              <a:sym typeface="Arial"/>
            </a:endParaRPr>
          </a:p>
        </p:txBody>
      </p:sp>
      <p:sp>
        <p:nvSpPr>
          <p:cNvPr id="756" name="Google Shape;756;p27"/>
          <p:cNvSpPr txBox="1"/>
          <p:nvPr/>
        </p:nvSpPr>
        <p:spPr>
          <a:xfrm>
            <a:off x="713232" y="4089196"/>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DeepSeek v4-pro</a:t>
            </a:r>
            <a:endParaRPr b="0" i="0" sz="1400" u="none" cap="none" strike="noStrike">
              <a:solidFill>
                <a:srgbClr val="000000"/>
              </a:solidFill>
              <a:latin typeface="Arial"/>
              <a:ea typeface="Arial"/>
              <a:cs typeface="Arial"/>
              <a:sym typeface="Arial"/>
            </a:endParaRPr>
          </a:p>
        </p:txBody>
      </p:sp>
      <p:sp>
        <p:nvSpPr>
          <p:cNvPr id="757" name="Google Shape;757;p27"/>
          <p:cNvSpPr/>
          <p:nvPr/>
        </p:nvSpPr>
        <p:spPr>
          <a:xfrm>
            <a:off x="5943600" y="4144938"/>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8" name="Google Shape;758;p27"/>
          <p:cNvSpPr/>
          <p:nvPr/>
        </p:nvSpPr>
        <p:spPr>
          <a:xfrm>
            <a:off x="5943600" y="4144938"/>
            <a:ext cx="3440364" cy="353031"/>
          </a:xfrm>
          <a:prstGeom prst="roundRect">
            <a:avLst>
              <a:gd fmla="val 25000" name="adj"/>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27"/>
          <p:cNvSpPr txBox="1"/>
          <p:nvPr/>
        </p:nvSpPr>
        <p:spPr>
          <a:xfrm>
            <a:off x="10122408" y="4089196"/>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JetBrains Mono"/>
                <a:ea typeface="JetBrains Mono"/>
                <a:cs typeface="JetBrains Mono"/>
                <a:sym typeface="JetBrains Mono"/>
              </a:rPr>
              <a:t>0,849</a:t>
            </a:r>
            <a:endParaRPr b="0" i="0" sz="1400" u="none" cap="none" strike="noStrike">
              <a:solidFill>
                <a:srgbClr val="000000"/>
              </a:solidFill>
              <a:latin typeface="Arial"/>
              <a:ea typeface="Arial"/>
              <a:cs typeface="Arial"/>
              <a:sym typeface="Arial"/>
            </a:endParaRPr>
          </a:p>
        </p:txBody>
      </p:sp>
      <p:sp>
        <p:nvSpPr>
          <p:cNvPr id="760" name="Google Shape;760;p27"/>
          <p:cNvSpPr txBox="1"/>
          <p:nvPr/>
        </p:nvSpPr>
        <p:spPr>
          <a:xfrm>
            <a:off x="713232" y="1188720"/>
            <a:ext cx="10744200" cy="40233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Mesmos 1.000 eventos, 150 fraudes. Ao acaso: 0,150.</a:t>
            </a:r>
            <a:endParaRPr b="0" i="0" sz="1400" u="none" cap="none" strike="noStrike">
              <a:solidFill>
                <a:srgbClr val="000000"/>
              </a:solidFill>
              <a:latin typeface="Arial"/>
              <a:ea typeface="Arial"/>
              <a:cs typeface="Arial"/>
              <a:sym typeface="Arial"/>
            </a:endParaRPr>
          </a:p>
        </p:txBody>
      </p:sp>
      <p:sp>
        <p:nvSpPr>
          <p:cNvPr id="761" name="Google Shape;761;p27"/>
          <p:cNvSpPr/>
          <p:nvPr/>
        </p:nvSpPr>
        <p:spPr>
          <a:xfrm>
            <a:off x="2907791" y="4809744"/>
            <a:ext cx="8549640" cy="1325880"/>
          </a:xfrm>
          <a:prstGeom prst="roundRect">
            <a:avLst>
              <a:gd fmla="val 1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2" name="Google Shape;762;p27"/>
          <p:cNvSpPr/>
          <p:nvPr/>
        </p:nvSpPr>
        <p:spPr>
          <a:xfrm>
            <a:off x="8417052" y="4654296"/>
            <a:ext cx="493776" cy="228600"/>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3" name="Google Shape;763;p27"/>
          <p:cNvSpPr txBox="1"/>
          <p:nvPr/>
        </p:nvSpPr>
        <p:spPr>
          <a:xfrm>
            <a:off x="3227832" y="4901183"/>
            <a:ext cx="7909560" cy="11430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Clr>
                <a:srgbClr val="000000"/>
              </a:buClr>
              <a:buSzPts val="3400"/>
              <a:buFont typeface="Arial"/>
              <a:buNone/>
            </a:pPr>
            <a:r>
              <a:rPr b="1" i="0" lang="en-US" sz="3400" u="none" cap="none" strike="noStrike">
                <a:solidFill>
                  <a:srgbClr val="FFFFFF"/>
                </a:solidFill>
                <a:latin typeface="Inter"/>
                <a:ea typeface="Inter"/>
                <a:cs typeface="Inter"/>
                <a:sym typeface="Inter"/>
              </a:rPr>
              <a:t>Os dois de nuvem chegam a 0,85.</a:t>
            </a:r>
            <a:endParaRPr b="0" i="0" sz="1400" u="none" cap="none" strike="noStrike">
              <a:solidFill>
                <a:srgbClr val="000000"/>
              </a:solidFill>
              <a:latin typeface="Arial"/>
              <a:ea typeface="Arial"/>
              <a:cs typeface="Arial"/>
              <a:sym typeface="Arial"/>
            </a:endParaRPr>
          </a:p>
        </p:txBody>
      </p:sp>
      <p:sp>
        <p:nvSpPr>
          <p:cNvPr id="764" name="Google Shape;764;p27"/>
          <p:cNvSpPr/>
          <p:nvPr/>
        </p:nvSpPr>
        <p:spPr>
          <a:xfrm>
            <a:off x="621792" y="3401568"/>
            <a:ext cx="10927080" cy="1252728"/>
          </a:xfrm>
          <a:prstGeom prst="roundRect">
            <a:avLst>
              <a:gd fmla="val 6000" name="adj"/>
            </a:avLst>
          </a:prstGeom>
          <a:noFill/>
          <a:ln cap="flat" cmpd="sng" w="762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pic>
        <p:nvPicPr>
          <p:cNvPr descr="sbseg2026_rodape.png" id="770" name="Google Shape;770;p2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71" name="Google Shape;771;p2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31</a:t>
            </a:r>
            <a:endParaRPr b="0" i="0" sz="1400" u="none" cap="none" strike="noStrike">
              <a:solidFill>
                <a:srgbClr val="000000"/>
              </a:solidFill>
              <a:latin typeface="Arial"/>
              <a:ea typeface="Arial"/>
              <a:cs typeface="Arial"/>
              <a:sym typeface="Arial"/>
            </a:endParaRPr>
          </a:p>
        </p:txBody>
      </p:sp>
      <p:sp>
        <p:nvSpPr>
          <p:cNvPr id="772" name="Google Shape;772;p2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 ACHADO CENTRAL</a:t>
            </a:r>
            <a:endParaRPr b="0" i="0" sz="1400" u="none" cap="none" strike="noStrike">
              <a:solidFill>
                <a:srgbClr val="000000"/>
              </a:solidFill>
              <a:latin typeface="Arial"/>
              <a:ea typeface="Arial"/>
              <a:cs typeface="Arial"/>
              <a:sym typeface="Arial"/>
            </a:endParaRPr>
          </a:p>
        </p:txBody>
      </p:sp>
      <p:sp>
        <p:nvSpPr>
          <p:cNvPr id="773" name="Google Shape;773;p28"/>
          <p:cNvSpPr txBox="1"/>
          <p:nvPr/>
        </p:nvSpPr>
        <p:spPr>
          <a:xfrm>
            <a:off x="713232" y="566928"/>
            <a:ext cx="108813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Quantas chegam no prazo</a:t>
            </a:r>
            <a:endParaRPr b="0" i="0" sz="1400" u="none" cap="none" strike="noStrike">
              <a:solidFill>
                <a:srgbClr val="000000"/>
              </a:solidFill>
              <a:latin typeface="Arial"/>
              <a:ea typeface="Arial"/>
              <a:cs typeface="Arial"/>
              <a:sym typeface="Arial"/>
            </a:endParaRPr>
          </a:p>
        </p:txBody>
      </p:sp>
      <p:sp>
        <p:nvSpPr>
          <p:cNvPr id="774" name="Google Shape;774;p28"/>
          <p:cNvSpPr txBox="1"/>
          <p:nvPr/>
        </p:nvSpPr>
        <p:spPr>
          <a:xfrm>
            <a:off x="713232" y="1719072"/>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Random forest</a:t>
            </a:r>
            <a:endParaRPr b="0" i="0" sz="1400" u="none" cap="none" strike="noStrike">
              <a:solidFill>
                <a:srgbClr val="000000"/>
              </a:solidFill>
              <a:latin typeface="Arial"/>
              <a:ea typeface="Arial"/>
              <a:cs typeface="Arial"/>
              <a:sym typeface="Arial"/>
            </a:endParaRPr>
          </a:p>
        </p:txBody>
      </p:sp>
      <p:sp>
        <p:nvSpPr>
          <p:cNvPr id="775" name="Google Shape;775;p28"/>
          <p:cNvSpPr/>
          <p:nvPr/>
        </p:nvSpPr>
        <p:spPr>
          <a:xfrm>
            <a:off x="5943600" y="1774813"/>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6" name="Google Shape;776;p28"/>
          <p:cNvSpPr/>
          <p:nvPr/>
        </p:nvSpPr>
        <p:spPr>
          <a:xfrm>
            <a:off x="5943600" y="1774813"/>
            <a:ext cx="2511490" cy="353031"/>
          </a:xfrm>
          <a:prstGeom prst="roundRect">
            <a:avLst>
              <a:gd fmla="val 25000" name="adj"/>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28"/>
          <p:cNvSpPr txBox="1"/>
          <p:nvPr/>
        </p:nvSpPr>
        <p:spPr>
          <a:xfrm>
            <a:off x="10122408" y="1719072"/>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JetBrains Mono"/>
                <a:ea typeface="JetBrains Mono"/>
                <a:cs typeface="JetBrains Mono"/>
                <a:sym typeface="JetBrains Mono"/>
              </a:rPr>
              <a:t>62,0%</a:t>
            </a:r>
            <a:endParaRPr b="0" i="0" sz="1400" u="none" cap="none" strike="noStrike">
              <a:solidFill>
                <a:srgbClr val="000000"/>
              </a:solidFill>
              <a:latin typeface="Arial"/>
              <a:ea typeface="Arial"/>
              <a:cs typeface="Arial"/>
              <a:sym typeface="Arial"/>
            </a:endParaRPr>
          </a:p>
        </p:txBody>
      </p:sp>
      <p:sp>
        <p:nvSpPr>
          <p:cNvPr id="778" name="Google Shape;778;p28"/>
          <p:cNvSpPr txBox="1"/>
          <p:nvPr/>
        </p:nvSpPr>
        <p:spPr>
          <a:xfrm>
            <a:off x="713232" y="2311603"/>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Qwen2.5-1.5B, direto</a:t>
            </a:r>
            <a:endParaRPr b="0" i="0" sz="1400" u="none" cap="none" strike="noStrike">
              <a:solidFill>
                <a:srgbClr val="000000"/>
              </a:solidFill>
              <a:latin typeface="Arial"/>
              <a:ea typeface="Arial"/>
              <a:cs typeface="Arial"/>
              <a:sym typeface="Arial"/>
            </a:endParaRPr>
          </a:p>
        </p:txBody>
      </p:sp>
      <p:sp>
        <p:nvSpPr>
          <p:cNvPr id="779" name="Google Shape;779;p28"/>
          <p:cNvSpPr/>
          <p:nvPr/>
        </p:nvSpPr>
        <p:spPr>
          <a:xfrm>
            <a:off x="5943600" y="2367345"/>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0" name="Google Shape;780;p28"/>
          <p:cNvSpPr/>
          <p:nvPr/>
        </p:nvSpPr>
        <p:spPr>
          <a:xfrm>
            <a:off x="5943600" y="2367345"/>
            <a:ext cx="2538496" cy="353031"/>
          </a:xfrm>
          <a:prstGeom prst="roundRect">
            <a:avLst>
              <a:gd fmla="val 25000" name="adj"/>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28"/>
          <p:cNvSpPr txBox="1"/>
          <p:nvPr/>
        </p:nvSpPr>
        <p:spPr>
          <a:xfrm>
            <a:off x="10122408" y="2311603"/>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JetBrains Mono"/>
                <a:ea typeface="JetBrains Mono"/>
                <a:cs typeface="JetBrains Mono"/>
                <a:sym typeface="JetBrains Mono"/>
              </a:rPr>
              <a:t>62,7%</a:t>
            </a:r>
            <a:endParaRPr b="0" i="0" sz="1400" u="none" cap="none" strike="noStrike">
              <a:solidFill>
                <a:srgbClr val="000000"/>
              </a:solidFill>
              <a:latin typeface="Arial"/>
              <a:ea typeface="Arial"/>
              <a:cs typeface="Arial"/>
              <a:sym typeface="Arial"/>
            </a:endParaRPr>
          </a:p>
        </p:txBody>
      </p:sp>
      <p:sp>
        <p:nvSpPr>
          <p:cNvPr id="782" name="Google Shape;782;p28"/>
          <p:cNvSpPr txBox="1"/>
          <p:nvPr/>
        </p:nvSpPr>
        <p:spPr>
          <a:xfrm>
            <a:off x="713232" y="2904134"/>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Qwen2.5-1.5B, raciocínio</a:t>
            </a:r>
            <a:endParaRPr b="0" i="0" sz="1400" u="none" cap="none" strike="noStrike">
              <a:solidFill>
                <a:srgbClr val="000000"/>
              </a:solidFill>
              <a:latin typeface="Arial"/>
              <a:ea typeface="Arial"/>
              <a:cs typeface="Arial"/>
              <a:sym typeface="Arial"/>
            </a:endParaRPr>
          </a:p>
        </p:txBody>
      </p:sp>
      <p:sp>
        <p:nvSpPr>
          <p:cNvPr id="783" name="Google Shape;783;p28"/>
          <p:cNvSpPr/>
          <p:nvPr/>
        </p:nvSpPr>
        <p:spPr>
          <a:xfrm>
            <a:off x="5943600" y="2959876"/>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4" name="Google Shape;784;p28"/>
          <p:cNvSpPr/>
          <p:nvPr/>
        </p:nvSpPr>
        <p:spPr>
          <a:xfrm>
            <a:off x="5943600" y="2959876"/>
            <a:ext cx="4023786" cy="353031"/>
          </a:xfrm>
          <a:prstGeom prst="roundRect">
            <a:avLst>
              <a:gd fmla="val 25000" name="adj"/>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28"/>
          <p:cNvSpPr txBox="1"/>
          <p:nvPr/>
        </p:nvSpPr>
        <p:spPr>
          <a:xfrm>
            <a:off x="10122408" y="2904134"/>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JetBrains Mono"/>
                <a:ea typeface="JetBrains Mono"/>
                <a:cs typeface="JetBrains Mono"/>
                <a:sym typeface="JetBrains Mono"/>
              </a:rPr>
              <a:t>99,3%</a:t>
            </a:r>
            <a:endParaRPr b="0" i="0" sz="1400" u="none" cap="none" strike="noStrike">
              <a:solidFill>
                <a:srgbClr val="000000"/>
              </a:solidFill>
              <a:latin typeface="Arial"/>
              <a:ea typeface="Arial"/>
              <a:cs typeface="Arial"/>
              <a:sym typeface="Arial"/>
            </a:endParaRPr>
          </a:p>
        </p:txBody>
      </p:sp>
      <p:sp>
        <p:nvSpPr>
          <p:cNvPr id="786" name="Google Shape;786;p28"/>
          <p:cNvSpPr txBox="1"/>
          <p:nvPr/>
        </p:nvSpPr>
        <p:spPr>
          <a:xfrm>
            <a:off x="713232" y="3493008"/>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DeepSeek v4-flash</a:t>
            </a:r>
            <a:endParaRPr b="0" i="0" sz="1400" u="none" cap="none" strike="noStrike">
              <a:solidFill>
                <a:srgbClr val="000000"/>
              </a:solidFill>
              <a:latin typeface="Arial"/>
              <a:ea typeface="Arial"/>
              <a:cs typeface="Arial"/>
              <a:sym typeface="Arial"/>
            </a:endParaRPr>
          </a:p>
        </p:txBody>
      </p:sp>
      <p:sp>
        <p:nvSpPr>
          <p:cNvPr id="787" name="Google Shape;787;p28"/>
          <p:cNvSpPr/>
          <p:nvPr/>
        </p:nvSpPr>
        <p:spPr>
          <a:xfrm>
            <a:off x="5943600" y="3552407"/>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8" name="Google Shape;788;p28"/>
          <p:cNvSpPr/>
          <p:nvPr/>
        </p:nvSpPr>
        <p:spPr>
          <a:xfrm>
            <a:off x="5943600" y="3552407"/>
            <a:ext cx="54864" cy="353031"/>
          </a:xfrm>
          <a:prstGeom prst="roundRect">
            <a:avLst>
              <a:gd fmla="val 25000" name="adj"/>
            </a:avLst>
          </a:prstGeom>
          <a:solidFill>
            <a:srgbClr val="D9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9" name="Google Shape;789;p28"/>
          <p:cNvSpPr txBox="1"/>
          <p:nvPr/>
        </p:nvSpPr>
        <p:spPr>
          <a:xfrm>
            <a:off x="10122408" y="3493008"/>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A3121F"/>
                </a:solidFill>
                <a:latin typeface="JetBrains Mono"/>
                <a:ea typeface="JetBrains Mono"/>
                <a:cs typeface="JetBrains Mono"/>
                <a:sym typeface="JetBrains Mono"/>
              </a:rPr>
              <a:t>0,0%</a:t>
            </a:r>
            <a:endParaRPr b="0" i="0" sz="1400" u="none" cap="none" strike="noStrike">
              <a:solidFill>
                <a:srgbClr val="000000"/>
              </a:solidFill>
              <a:latin typeface="Arial"/>
              <a:ea typeface="Arial"/>
              <a:cs typeface="Arial"/>
              <a:sym typeface="Arial"/>
            </a:endParaRPr>
          </a:p>
        </p:txBody>
      </p:sp>
      <p:sp>
        <p:nvSpPr>
          <p:cNvPr id="790" name="Google Shape;790;p28"/>
          <p:cNvSpPr txBox="1"/>
          <p:nvPr/>
        </p:nvSpPr>
        <p:spPr>
          <a:xfrm>
            <a:off x="713232" y="4087368"/>
            <a:ext cx="5120640"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DeepSeek v4-pro</a:t>
            </a:r>
            <a:endParaRPr b="0" i="0" sz="1400" u="none" cap="none" strike="noStrike">
              <a:solidFill>
                <a:srgbClr val="000000"/>
              </a:solidFill>
              <a:latin typeface="Arial"/>
              <a:ea typeface="Arial"/>
              <a:cs typeface="Arial"/>
              <a:sym typeface="Arial"/>
            </a:endParaRPr>
          </a:p>
        </p:txBody>
      </p:sp>
      <p:sp>
        <p:nvSpPr>
          <p:cNvPr id="791" name="Google Shape;791;p28"/>
          <p:cNvSpPr/>
          <p:nvPr/>
        </p:nvSpPr>
        <p:spPr>
          <a:xfrm>
            <a:off x="5943600" y="4144938"/>
            <a:ext cx="4050791" cy="353031"/>
          </a:xfrm>
          <a:prstGeom prst="roundRect">
            <a:avLst>
              <a:gd fmla="val 25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2" name="Google Shape;792;p28"/>
          <p:cNvSpPr/>
          <p:nvPr/>
        </p:nvSpPr>
        <p:spPr>
          <a:xfrm>
            <a:off x="5943600" y="4144938"/>
            <a:ext cx="54864" cy="353031"/>
          </a:xfrm>
          <a:prstGeom prst="roundRect">
            <a:avLst>
              <a:gd fmla="val 25000" name="adj"/>
            </a:avLst>
          </a:prstGeom>
          <a:solidFill>
            <a:srgbClr val="D9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3" name="Google Shape;793;p28"/>
          <p:cNvSpPr txBox="1"/>
          <p:nvPr/>
        </p:nvSpPr>
        <p:spPr>
          <a:xfrm>
            <a:off x="10122408" y="4087368"/>
            <a:ext cx="1335024" cy="46451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A3121F"/>
                </a:solidFill>
                <a:latin typeface="JetBrains Mono"/>
                <a:ea typeface="JetBrains Mono"/>
                <a:cs typeface="JetBrains Mono"/>
                <a:sym typeface="JetBrains Mono"/>
              </a:rPr>
              <a:t>0,0%</a:t>
            </a:r>
            <a:endParaRPr b="0" i="0" sz="1400" u="none" cap="none" strike="noStrike">
              <a:solidFill>
                <a:srgbClr val="000000"/>
              </a:solidFill>
              <a:latin typeface="Arial"/>
              <a:ea typeface="Arial"/>
              <a:cs typeface="Arial"/>
              <a:sym typeface="Arial"/>
            </a:endParaRPr>
          </a:p>
        </p:txBody>
      </p:sp>
      <p:sp>
        <p:nvSpPr>
          <p:cNvPr id="794" name="Google Shape;794;p28"/>
          <p:cNvSpPr txBox="1"/>
          <p:nvPr/>
        </p:nvSpPr>
        <p:spPr>
          <a:xfrm>
            <a:off x="713232" y="1188720"/>
            <a:ext cx="10744200" cy="40233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Das 150 fraudes: sinalizadas E decididas em 1,5 s.</a:t>
            </a:r>
            <a:endParaRPr b="0" i="0" sz="1400" u="none" cap="none" strike="noStrike">
              <a:solidFill>
                <a:srgbClr val="000000"/>
              </a:solidFill>
              <a:latin typeface="Arial"/>
              <a:ea typeface="Arial"/>
              <a:cs typeface="Arial"/>
              <a:sym typeface="Arial"/>
            </a:endParaRPr>
          </a:p>
        </p:txBody>
      </p:sp>
      <p:sp>
        <p:nvSpPr>
          <p:cNvPr id="795" name="Google Shape;795;p28"/>
          <p:cNvSpPr/>
          <p:nvPr/>
        </p:nvSpPr>
        <p:spPr>
          <a:xfrm>
            <a:off x="1325880" y="4809744"/>
            <a:ext cx="9966960" cy="1298448"/>
          </a:xfrm>
          <a:prstGeom prst="roundRect">
            <a:avLst>
              <a:gd fmla="val 1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6" name="Google Shape;796;p28"/>
          <p:cNvSpPr/>
          <p:nvPr/>
        </p:nvSpPr>
        <p:spPr>
          <a:xfrm>
            <a:off x="6035040" y="4654296"/>
            <a:ext cx="493776" cy="228600"/>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7" name="Google Shape;797;p28"/>
          <p:cNvSpPr txBox="1"/>
          <p:nvPr/>
        </p:nvSpPr>
        <p:spPr>
          <a:xfrm>
            <a:off x="1572768" y="4956048"/>
            <a:ext cx="9473100" cy="63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Clr>
                <a:srgbClr val="000000"/>
              </a:buClr>
              <a:buSzPts val="26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600"/>
              <a:buFont typeface="Arial"/>
              <a:buNone/>
            </a:pPr>
            <a:r>
              <a:rPr b="1" i="0" lang="en-US" sz="2600" u="none" cap="none" strike="noStrike">
                <a:solidFill>
                  <a:srgbClr val="FFFFFF"/>
                </a:solidFill>
                <a:latin typeface="Inter"/>
                <a:ea typeface="Inter"/>
                <a:cs typeface="Inter"/>
                <a:sym typeface="Inter"/>
              </a:rPr>
              <a:t>Dos dois de nuvem, nenhuma decisão cabe no orçamento.</a:t>
            </a:r>
            <a:endParaRPr b="0" i="0" sz="1400" u="none" cap="none" strike="noStrike">
              <a:solidFill>
                <a:srgbClr val="000000"/>
              </a:solidFill>
              <a:latin typeface="Arial"/>
              <a:ea typeface="Arial"/>
              <a:cs typeface="Arial"/>
              <a:sym typeface="Arial"/>
            </a:endParaRPr>
          </a:p>
        </p:txBody>
      </p:sp>
      <p:sp>
        <p:nvSpPr>
          <p:cNvPr id="798" name="Google Shape;798;p28"/>
          <p:cNvSpPr/>
          <p:nvPr/>
        </p:nvSpPr>
        <p:spPr>
          <a:xfrm>
            <a:off x="621792" y="3401568"/>
            <a:ext cx="10927080" cy="1252728"/>
          </a:xfrm>
          <a:prstGeom prst="roundRect">
            <a:avLst>
              <a:gd fmla="val 6000" name="adj"/>
            </a:avLst>
          </a:prstGeom>
          <a:noFill/>
          <a:ln cap="flat" cmpd="sng" w="76200">
            <a:solidFill>
              <a:srgbClr val="D9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pic>
        <p:nvPicPr>
          <p:cNvPr descr="sbseg2026_rodape.png" id="804" name="Google Shape;804;p2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05" name="Google Shape;805;p2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32</a:t>
            </a:r>
            <a:endParaRPr b="0" i="0" sz="1400" u="none" cap="none" strike="noStrike">
              <a:solidFill>
                <a:srgbClr val="000000"/>
              </a:solidFill>
              <a:latin typeface="Arial"/>
              <a:ea typeface="Arial"/>
              <a:cs typeface="Arial"/>
              <a:sym typeface="Arial"/>
            </a:endParaRPr>
          </a:p>
        </p:txBody>
      </p:sp>
      <p:sp>
        <p:nvSpPr>
          <p:cNvPr id="806" name="Google Shape;806;p29"/>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A latência medida, contra o prazo</a:t>
            </a:r>
            <a:endParaRPr b="0" i="0" sz="1400" u="none" cap="none" strike="noStrike">
              <a:solidFill>
                <a:srgbClr val="000000"/>
              </a:solidFill>
              <a:latin typeface="Arial"/>
              <a:ea typeface="Arial"/>
              <a:cs typeface="Arial"/>
              <a:sym typeface="Arial"/>
            </a:endParaRPr>
          </a:p>
        </p:txBody>
      </p:sp>
      <p:pic>
        <p:nvPicPr>
          <p:cNvPr descr="res_latencia.png" id="807" name="Google Shape;807;p29"/>
          <p:cNvPicPr preferRelativeResize="0"/>
          <p:nvPr/>
        </p:nvPicPr>
        <p:blipFill rotWithShape="1">
          <a:blip r:embed="rId4">
            <a:alphaModFix/>
          </a:blip>
          <a:srcRect b="0" l="0" r="0" t="0"/>
          <a:stretch/>
        </p:blipFill>
        <p:spPr>
          <a:xfrm>
            <a:off x="411480" y="1477471"/>
            <a:ext cx="7178040" cy="4433409"/>
          </a:xfrm>
          <a:prstGeom prst="rect">
            <a:avLst/>
          </a:prstGeom>
          <a:noFill/>
          <a:ln>
            <a:noFill/>
          </a:ln>
        </p:spPr>
      </p:pic>
      <p:sp>
        <p:nvSpPr>
          <p:cNvPr id="808" name="Google Shape;808;p29"/>
          <p:cNvSpPr/>
          <p:nvPr/>
        </p:nvSpPr>
        <p:spPr>
          <a:xfrm>
            <a:off x="7909560" y="2687942"/>
            <a:ext cx="3959352" cy="2993136"/>
          </a:xfrm>
          <a:prstGeom prst="roundRect">
            <a:avLst>
              <a:gd fmla="val 1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9" name="Google Shape;809;p29"/>
          <p:cNvSpPr/>
          <p:nvPr/>
        </p:nvSpPr>
        <p:spPr>
          <a:xfrm rot="-5400000">
            <a:off x="7580376" y="3937622"/>
            <a:ext cx="365760" cy="493776"/>
          </a:xfrm>
          <a:prstGeom prst="triangle">
            <a:avLst>
              <a:gd fmla="val 50000" name="adj"/>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0" name="Google Shape;810;p29"/>
          <p:cNvSpPr txBox="1"/>
          <p:nvPr/>
        </p:nvSpPr>
        <p:spPr>
          <a:xfrm>
            <a:off x="8229600" y="2797670"/>
            <a:ext cx="3319272" cy="277368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Os dois de nuvem decidem depois da linha.</a:t>
            </a:r>
            <a:endParaRPr b="0" i="0" sz="1400" u="none" cap="none" strike="noStrike">
              <a:solidFill>
                <a:srgbClr val="000000"/>
              </a:solidFill>
              <a:latin typeface="Arial"/>
              <a:ea typeface="Arial"/>
              <a:cs typeface="Arial"/>
              <a:sym typeface="Arial"/>
            </a:endParaRPr>
          </a:p>
        </p:txBody>
      </p:sp>
      <p:sp>
        <p:nvSpPr>
          <p:cNvPr id="811" name="Google Shape;811;p29"/>
          <p:cNvSpPr/>
          <p:nvPr/>
        </p:nvSpPr>
        <p:spPr>
          <a:xfrm>
            <a:off x="5150422" y="3656934"/>
            <a:ext cx="452216" cy="1155346"/>
          </a:xfrm>
          <a:prstGeom prst="roundRect">
            <a:avLst>
              <a:gd fmla="val 6000" name="adj"/>
            </a:avLst>
          </a:prstGeom>
          <a:noFill/>
          <a:ln cap="flat" cmpd="sng" w="76200">
            <a:solidFill>
              <a:srgbClr val="A3121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descr="sbseg2026_rodape.png" id="817" name="Google Shape;817;p3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18" name="Google Shape;818;p3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33</a:t>
            </a:r>
            <a:endParaRPr b="0" i="0" sz="1400" u="none" cap="none" strike="noStrike">
              <a:solidFill>
                <a:srgbClr val="000000"/>
              </a:solidFill>
              <a:latin typeface="Arial"/>
              <a:ea typeface="Arial"/>
              <a:cs typeface="Arial"/>
              <a:sym typeface="Arial"/>
            </a:endParaRPr>
          </a:p>
        </p:txBody>
      </p:sp>
      <p:sp>
        <p:nvSpPr>
          <p:cNvPr id="819" name="Google Shape;819;p3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 ACHADO CENTRAL</a:t>
            </a:r>
            <a:endParaRPr b="0" i="0" sz="1400" u="none" cap="none" strike="noStrike">
              <a:solidFill>
                <a:srgbClr val="000000"/>
              </a:solidFill>
              <a:latin typeface="Arial"/>
              <a:ea typeface="Arial"/>
              <a:cs typeface="Arial"/>
              <a:sym typeface="Arial"/>
            </a:endParaRPr>
          </a:p>
        </p:txBody>
      </p:sp>
      <p:sp>
        <p:nvSpPr>
          <p:cNvPr id="820" name="Google Shape;820;p30"/>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Quantas fraudes cada um achou</a:t>
            </a:r>
            <a:endParaRPr b="0" i="0" sz="1400" u="none" cap="none" strike="noStrike">
              <a:solidFill>
                <a:srgbClr val="000000"/>
              </a:solidFill>
              <a:latin typeface="Arial"/>
              <a:ea typeface="Arial"/>
              <a:cs typeface="Arial"/>
              <a:sym typeface="Arial"/>
            </a:endParaRPr>
          </a:p>
        </p:txBody>
      </p:sp>
      <p:sp>
        <p:nvSpPr>
          <p:cNvPr id="821" name="Google Shape;821;p30"/>
          <p:cNvSpPr txBox="1"/>
          <p:nvPr/>
        </p:nvSpPr>
        <p:spPr>
          <a:xfrm>
            <a:off x="713232" y="5632704"/>
            <a:ext cx="1078992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Fatia de 1.000 eventos: 150 fraudes e 850 legítimas.</a:t>
            </a:r>
            <a:endParaRPr b="0" i="0" sz="1400" u="none" cap="none" strike="noStrike">
              <a:solidFill>
                <a:srgbClr val="000000"/>
              </a:solidFill>
              <a:latin typeface="Arial"/>
              <a:ea typeface="Arial"/>
              <a:cs typeface="Arial"/>
              <a:sym typeface="Arial"/>
            </a:endParaRPr>
          </a:p>
        </p:txBody>
      </p:sp>
      <p:sp>
        <p:nvSpPr>
          <p:cNvPr id="822" name="Google Shape;822;p30"/>
          <p:cNvSpPr/>
          <p:nvPr/>
        </p:nvSpPr>
        <p:spPr>
          <a:xfrm>
            <a:off x="713232" y="2313432"/>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3" name="Google Shape;823;p30"/>
          <p:cNvSpPr txBox="1"/>
          <p:nvPr/>
        </p:nvSpPr>
        <p:spPr>
          <a:xfrm>
            <a:off x="1060704" y="2148840"/>
            <a:ext cx="102595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DeepSeek v4-pro: 112 de 150</a:t>
            </a:r>
            <a:endParaRPr b="0" i="0" sz="1400" u="none" cap="none" strike="noStrike">
              <a:solidFill>
                <a:srgbClr val="000000"/>
              </a:solidFill>
              <a:latin typeface="Arial"/>
              <a:ea typeface="Arial"/>
              <a:cs typeface="Arial"/>
              <a:sym typeface="Arial"/>
            </a:endParaRPr>
          </a:p>
        </p:txBody>
      </p:sp>
      <p:sp>
        <p:nvSpPr>
          <p:cNvPr id="824" name="Google Shape;824;p30"/>
          <p:cNvSpPr/>
          <p:nvPr/>
        </p:nvSpPr>
        <p:spPr>
          <a:xfrm>
            <a:off x="713232" y="3456432"/>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30"/>
          <p:cNvSpPr txBox="1"/>
          <p:nvPr/>
        </p:nvSpPr>
        <p:spPr>
          <a:xfrm>
            <a:off x="1060704" y="3291840"/>
            <a:ext cx="102595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Random forest: 93 de 150</a:t>
            </a:r>
            <a:endParaRPr b="0" i="0" sz="1400" u="none" cap="none" strike="noStrike">
              <a:solidFill>
                <a:srgbClr val="000000"/>
              </a:solidFill>
              <a:latin typeface="Arial"/>
              <a:ea typeface="Arial"/>
              <a:cs typeface="Arial"/>
              <a:sym typeface="Arial"/>
            </a:endParaRPr>
          </a:p>
        </p:txBody>
      </p:sp>
      <p:sp>
        <p:nvSpPr>
          <p:cNvPr id="826" name="Google Shape;826;p30"/>
          <p:cNvSpPr/>
          <p:nvPr/>
        </p:nvSpPr>
        <p:spPr>
          <a:xfrm>
            <a:off x="713232" y="4599431"/>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7" name="Google Shape;827;p30"/>
          <p:cNvSpPr txBox="1"/>
          <p:nvPr/>
        </p:nvSpPr>
        <p:spPr>
          <a:xfrm>
            <a:off x="1060704" y="4434840"/>
            <a:ext cx="102595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Falsos positivos: 30 contra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pic>
        <p:nvPicPr>
          <p:cNvPr descr="sbseg2026_rodape.png" id="833" name="Google Shape;833;p3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34" name="Google Shape;834;p3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34</a:t>
            </a:r>
            <a:endParaRPr b="0" i="0" sz="1400" u="none" cap="none" strike="noStrike">
              <a:solidFill>
                <a:srgbClr val="000000"/>
              </a:solidFill>
              <a:latin typeface="Arial"/>
              <a:ea typeface="Arial"/>
              <a:cs typeface="Arial"/>
              <a:sym typeface="Arial"/>
            </a:endParaRPr>
          </a:p>
        </p:txBody>
      </p:sp>
      <p:sp>
        <p:nvSpPr>
          <p:cNvPr id="835" name="Google Shape;835;p3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O ACHADO CENTRAL</a:t>
            </a:r>
            <a:endParaRPr b="0" i="0" sz="1400" u="none" cap="none" strike="noStrike">
              <a:solidFill>
                <a:srgbClr val="000000"/>
              </a:solidFill>
              <a:latin typeface="Arial"/>
              <a:ea typeface="Arial"/>
              <a:cs typeface="Arial"/>
              <a:sym typeface="Arial"/>
            </a:endParaRPr>
          </a:p>
        </p:txBody>
      </p:sp>
      <p:sp>
        <p:nvSpPr>
          <p:cNvPr id="836" name="Google Shape;836;p31"/>
          <p:cNvSpPr txBox="1"/>
          <p:nvPr/>
        </p:nvSpPr>
        <p:spPr>
          <a:xfrm>
            <a:off x="713232" y="1481328"/>
            <a:ext cx="10881360" cy="12801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Clr>
                <a:srgbClr val="000000"/>
              </a:buClr>
              <a:buSzPts val="4000"/>
              <a:buFont typeface="Arial"/>
              <a:buNone/>
            </a:pPr>
            <a:r>
              <a:rPr b="1" i="0" lang="en-US" sz="4000" u="none" cap="none" strike="noStrike">
                <a:solidFill>
                  <a:srgbClr val="0C2B27"/>
                </a:solidFill>
                <a:latin typeface="Inter"/>
                <a:ea typeface="Inter"/>
                <a:cs typeface="Inter"/>
                <a:sym typeface="Inter"/>
              </a:rPr>
              <a:t>No p95, o modelo de nuvem mais forte gasta</a:t>
            </a:r>
            <a:endParaRPr b="0" i="0" sz="1400" u="none" cap="none" strike="noStrike">
              <a:solidFill>
                <a:srgbClr val="000000"/>
              </a:solidFill>
              <a:latin typeface="Arial"/>
              <a:ea typeface="Arial"/>
              <a:cs typeface="Arial"/>
              <a:sym typeface="Arial"/>
            </a:endParaRPr>
          </a:p>
        </p:txBody>
      </p:sp>
      <p:sp>
        <p:nvSpPr>
          <p:cNvPr id="837" name="Google Shape;837;p31"/>
          <p:cNvSpPr txBox="1"/>
          <p:nvPr/>
        </p:nvSpPr>
        <p:spPr>
          <a:xfrm>
            <a:off x="713232" y="2889504"/>
            <a:ext cx="10881360" cy="137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600"/>
              <a:buFont typeface="Arial"/>
              <a:buNone/>
            </a:pPr>
            <a:r>
              <a:rPr b="1" i="0" lang="en-US" sz="9600" u="none" cap="none" strike="noStrike">
                <a:solidFill>
                  <a:srgbClr val="A3121F"/>
                </a:solidFill>
                <a:latin typeface="JetBrains Mono"/>
                <a:ea typeface="JetBrains Mono"/>
                <a:cs typeface="JetBrains Mono"/>
                <a:sym typeface="JetBrains Mono"/>
              </a:rPr>
              <a:t>689%</a:t>
            </a:r>
            <a:endParaRPr b="0" i="0" sz="1400" u="none" cap="none" strike="noStrike">
              <a:solidFill>
                <a:srgbClr val="000000"/>
              </a:solidFill>
              <a:latin typeface="Arial"/>
              <a:ea typeface="Arial"/>
              <a:cs typeface="Arial"/>
              <a:sym typeface="Arial"/>
            </a:endParaRPr>
          </a:p>
        </p:txBody>
      </p:sp>
      <p:sp>
        <p:nvSpPr>
          <p:cNvPr id="838" name="Google Shape;838;p31"/>
          <p:cNvSpPr txBox="1"/>
          <p:nvPr/>
        </p:nvSpPr>
        <p:spPr>
          <a:xfrm>
            <a:off x="713232" y="4517136"/>
            <a:ext cx="10881360" cy="7315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0C2B27"/>
                </a:solidFill>
                <a:latin typeface="Space Grotesk"/>
                <a:ea typeface="Space Grotesk"/>
                <a:cs typeface="Space Grotesk"/>
                <a:sym typeface="Space Grotesk"/>
              </a:rPr>
              <a:t>do orçamento de 1,5 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pic>
        <p:nvPicPr>
          <p:cNvPr descr="sbseg2026_rodape.png" id="844" name="Google Shape;844;p3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45" name="Google Shape;845;p3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35</a:t>
            </a:r>
            <a:endParaRPr b="0" i="0" sz="1400" u="none" cap="none" strike="noStrike">
              <a:solidFill>
                <a:srgbClr val="000000"/>
              </a:solidFill>
              <a:latin typeface="Arial"/>
              <a:ea typeface="Arial"/>
              <a:cs typeface="Arial"/>
              <a:sym typeface="Arial"/>
            </a:endParaRPr>
          </a:p>
        </p:txBody>
      </p:sp>
      <p:sp>
        <p:nvSpPr>
          <p:cNvPr id="846" name="Google Shape;846;p3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LIMITAÇÕES E AMEAÇAS À VALIDADE</a:t>
            </a:r>
            <a:endParaRPr b="0" i="0" sz="1400" u="none" cap="none" strike="noStrike">
              <a:solidFill>
                <a:srgbClr val="000000"/>
              </a:solidFill>
              <a:latin typeface="Arial"/>
              <a:ea typeface="Arial"/>
              <a:cs typeface="Arial"/>
              <a:sym typeface="Arial"/>
            </a:endParaRPr>
          </a:p>
        </p:txBody>
      </p:sp>
      <p:sp>
        <p:nvSpPr>
          <p:cNvPr id="847" name="Google Shape;847;p34"/>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Limitações</a:t>
            </a:r>
            <a:endParaRPr b="0" i="0" sz="1400" u="none" cap="none" strike="noStrike">
              <a:solidFill>
                <a:srgbClr val="000000"/>
              </a:solidFill>
              <a:latin typeface="Arial"/>
              <a:ea typeface="Arial"/>
              <a:cs typeface="Arial"/>
              <a:sym typeface="Arial"/>
            </a:endParaRPr>
          </a:p>
        </p:txBody>
      </p:sp>
      <p:sp>
        <p:nvSpPr>
          <p:cNvPr id="848" name="Google Shape;848;p34"/>
          <p:cNvSpPr/>
          <p:nvPr/>
        </p:nvSpPr>
        <p:spPr>
          <a:xfrm>
            <a:off x="713232" y="2468880"/>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9" name="Google Shape;849;p34"/>
          <p:cNvSpPr txBox="1"/>
          <p:nvPr/>
        </p:nvSpPr>
        <p:spPr>
          <a:xfrm>
            <a:off x="1060704" y="2304288"/>
            <a:ext cx="10259700" cy="4926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lang="en-US" sz="3200">
                <a:solidFill>
                  <a:srgbClr val="0C2B27"/>
                </a:solidFill>
                <a:latin typeface="Inter"/>
                <a:ea typeface="Inter"/>
                <a:cs typeface="Inter"/>
                <a:sym typeface="Inter"/>
              </a:rPr>
              <a:t>Dados</a:t>
            </a:r>
            <a:r>
              <a:rPr b="1" i="0" lang="en-US" sz="3200" u="none" cap="none" strike="noStrike">
                <a:solidFill>
                  <a:srgbClr val="0C2B27"/>
                </a:solidFill>
                <a:latin typeface="Inter"/>
                <a:ea typeface="Inter"/>
                <a:cs typeface="Inter"/>
                <a:sym typeface="Inter"/>
              </a:rPr>
              <a:t> sintéticos</a:t>
            </a:r>
            <a:endParaRPr b="0" i="0" sz="1400" u="none" cap="none" strike="noStrike">
              <a:solidFill>
                <a:srgbClr val="000000"/>
              </a:solidFill>
              <a:latin typeface="Arial"/>
              <a:ea typeface="Arial"/>
              <a:cs typeface="Arial"/>
              <a:sym typeface="Arial"/>
            </a:endParaRPr>
          </a:p>
        </p:txBody>
      </p:sp>
      <p:sp>
        <p:nvSpPr>
          <p:cNvPr id="850" name="Google Shape;850;p34"/>
          <p:cNvSpPr/>
          <p:nvPr/>
        </p:nvSpPr>
        <p:spPr>
          <a:xfrm>
            <a:off x="713232" y="3749039"/>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1" name="Google Shape;851;p34"/>
          <p:cNvSpPr txBox="1"/>
          <p:nvPr/>
        </p:nvSpPr>
        <p:spPr>
          <a:xfrm>
            <a:off x="1060704" y="3584448"/>
            <a:ext cx="10259567"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Prazo medido em uma máquina só</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35"/>
          <p:cNvSpPr/>
          <p:nvPr/>
        </p:nvSpPr>
        <p:spPr>
          <a:xfrm>
            <a:off x="0" y="0"/>
            <a:ext cx="12191695" cy="6858000"/>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858" name="Google Shape;858;p3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59" name="Google Shape;859;p3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JetBrains Mono"/>
                <a:ea typeface="JetBrains Mono"/>
                <a:cs typeface="JetBrains Mono"/>
                <a:sym typeface="JetBrains Mono"/>
              </a:rPr>
              <a:t>36</a:t>
            </a:r>
            <a:endParaRPr b="0" i="0" sz="1400" u="none" cap="none" strike="noStrike">
              <a:solidFill>
                <a:srgbClr val="000000"/>
              </a:solidFill>
              <a:latin typeface="Arial"/>
              <a:ea typeface="Arial"/>
              <a:cs typeface="Arial"/>
              <a:sym typeface="Arial"/>
            </a:endParaRPr>
          </a:p>
        </p:txBody>
      </p:sp>
      <p:sp>
        <p:nvSpPr>
          <p:cNvPr id="860" name="Google Shape;860;p35"/>
          <p:cNvSpPr/>
          <p:nvPr/>
        </p:nvSpPr>
        <p:spPr>
          <a:xfrm>
            <a:off x="5870448" y="841248"/>
            <a:ext cx="5998464" cy="5175504"/>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g07_justo.jpg" id="861" name="Google Shape;861;p35"/>
          <p:cNvPicPr preferRelativeResize="0"/>
          <p:nvPr/>
        </p:nvPicPr>
        <p:blipFill rotWithShape="1">
          <a:blip r:embed="rId4">
            <a:alphaModFix/>
          </a:blip>
          <a:srcRect b="0" l="0" r="0" t="0"/>
          <a:stretch/>
        </p:blipFill>
        <p:spPr>
          <a:xfrm>
            <a:off x="5989320" y="2105954"/>
            <a:ext cx="5760720" cy="2646090"/>
          </a:xfrm>
          <a:prstGeom prst="rect">
            <a:avLst/>
          </a:prstGeom>
          <a:noFill/>
          <a:ln>
            <a:noFill/>
          </a:ln>
        </p:spPr>
      </p:pic>
      <p:sp>
        <p:nvSpPr>
          <p:cNvPr id="862" name="Google Shape;862;p35"/>
          <p:cNvSpPr txBox="1"/>
          <p:nvPr/>
        </p:nvSpPr>
        <p:spPr>
          <a:xfrm>
            <a:off x="868680" y="1874519"/>
            <a:ext cx="182880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600"/>
              <a:buFont typeface="Arial"/>
              <a:buNone/>
            </a:pPr>
            <a:r>
              <a:rPr b="1" i="0" lang="en-US" sz="7600" u="none" cap="none" strike="noStrike">
                <a:solidFill>
                  <a:srgbClr val="FFFFFF"/>
                </a:solidFill>
                <a:latin typeface="JetBrains Mono"/>
                <a:ea typeface="JetBrains Mono"/>
                <a:cs typeface="JetBrains Mono"/>
                <a:sym typeface="JetBrains Mono"/>
              </a:rPr>
              <a:t>03</a:t>
            </a:r>
            <a:endParaRPr b="0" i="0" sz="1400" u="none" cap="none" strike="noStrike">
              <a:solidFill>
                <a:srgbClr val="000000"/>
              </a:solidFill>
              <a:latin typeface="Arial"/>
              <a:ea typeface="Arial"/>
              <a:cs typeface="Arial"/>
              <a:sym typeface="Arial"/>
            </a:endParaRPr>
          </a:p>
        </p:txBody>
      </p:sp>
      <p:sp>
        <p:nvSpPr>
          <p:cNvPr id="863" name="Google Shape;863;p35"/>
          <p:cNvSpPr txBox="1"/>
          <p:nvPr/>
        </p:nvSpPr>
        <p:spPr>
          <a:xfrm>
            <a:off x="868680" y="3017520"/>
            <a:ext cx="493776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FFFFFF"/>
                </a:solidFill>
                <a:latin typeface="Space Grotesk"/>
                <a:ea typeface="Space Grotesk"/>
                <a:cs typeface="Space Grotesk"/>
                <a:sym typeface="Space Grotesk"/>
              </a:rPr>
              <a:t>Conclusões</a:t>
            </a:r>
            <a:endParaRPr b="0" i="0" sz="1400" u="none" cap="none" strike="noStrike">
              <a:solidFill>
                <a:srgbClr val="000000"/>
              </a:solidFill>
              <a:latin typeface="Arial"/>
              <a:ea typeface="Arial"/>
              <a:cs typeface="Arial"/>
              <a:sym typeface="Arial"/>
            </a:endParaRPr>
          </a:p>
        </p:txBody>
      </p:sp>
      <p:sp>
        <p:nvSpPr>
          <p:cNvPr id="864" name="Google Shape;864;p35"/>
          <p:cNvSpPr txBox="1"/>
          <p:nvPr/>
        </p:nvSpPr>
        <p:spPr>
          <a:xfrm>
            <a:off x="868680" y="3840480"/>
            <a:ext cx="4755000" cy="21540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Clr>
                <a:srgbClr val="000000"/>
              </a:buClr>
              <a:buSzPts val="32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descr="sbseg2026_rodape.png" id="870" name="Google Shape;870;p3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71" name="Google Shape;871;p3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37</a:t>
            </a:r>
            <a:endParaRPr b="0" i="0" sz="1400" u="none" cap="none" strike="noStrike">
              <a:solidFill>
                <a:srgbClr val="000000"/>
              </a:solidFill>
              <a:latin typeface="Arial"/>
              <a:ea typeface="Arial"/>
              <a:cs typeface="Arial"/>
              <a:sym typeface="Arial"/>
            </a:endParaRPr>
          </a:p>
        </p:txBody>
      </p:sp>
      <p:sp>
        <p:nvSpPr>
          <p:cNvPr id="872" name="Google Shape;872;p3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CONCLUSÕES</a:t>
            </a:r>
            <a:endParaRPr b="0" i="0" sz="1400" u="none" cap="none" strike="noStrike">
              <a:solidFill>
                <a:srgbClr val="000000"/>
              </a:solidFill>
              <a:latin typeface="Arial"/>
              <a:ea typeface="Arial"/>
              <a:cs typeface="Arial"/>
              <a:sym typeface="Arial"/>
            </a:endParaRPr>
          </a:p>
        </p:txBody>
      </p:sp>
      <p:sp>
        <p:nvSpPr>
          <p:cNvPr id="873" name="Google Shape;873;p36"/>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A contribuição</a:t>
            </a:r>
            <a:endParaRPr b="0" i="0" sz="1400" u="none" cap="none" strike="noStrike">
              <a:solidFill>
                <a:srgbClr val="000000"/>
              </a:solidFill>
              <a:latin typeface="Arial"/>
              <a:ea typeface="Arial"/>
              <a:cs typeface="Arial"/>
              <a:sym typeface="Arial"/>
            </a:endParaRPr>
          </a:p>
        </p:txBody>
      </p:sp>
      <p:sp>
        <p:nvSpPr>
          <p:cNvPr id="874" name="Google Shape;874;p36"/>
          <p:cNvSpPr/>
          <p:nvPr/>
        </p:nvSpPr>
        <p:spPr>
          <a:xfrm>
            <a:off x="713232" y="2194560"/>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5" name="Google Shape;875;p36"/>
          <p:cNvSpPr txBox="1"/>
          <p:nvPr/>
        </p:nvSpPr>
        <p:spPr>
          <a:xfrm>
            <a:off x="1060704" y="2103120"/>
            <a:ext cx="10259567"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Protocolo de avaliação sensível ao prazo</a:t>
            </a:r>
            <a:endParaRPr b="0" i="0" sz="1400" u="none" cap="none" strike="noStrike">
              <a:solidFill>
                <a:srgbClr val="000000"/>
              </a:solidFill>
              <a:latin typeface="Arial"/>
              <a:ea typeface="Arial"/>
              <a:cs typeface="Arial"/>
              <a:sym typeface="Arial"/>
            </a:endParaRPr>
          </a:p>
        </p:txBody>
      </p:sp>
      <p:sp>
        <p:nvSpPr>
          <p:cNvPr id="876" name="Google Shape;876;p36"/>
          <p:cNvSpPr/>
          <p:nvPr/>
        </p:nvSpPr>
        <p:spPr>
          <a:xfrm>
            <a:off x="713232" y="3255264"/>
            <a:ext cx="155448" cy="155448"/>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p36"/>
          <p:cNvSpPr txBox="1"/>
          <p:nvPr/>
        </p:nvSpPr>
        <p:spPr>
          <a:xfrm>
            <a:off x="1060704" y="3163824"/>
            <a:ext cx="10259700" cy="4926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Gerador nativo de Pix com </a:t>
            </a:r>
            <a:r>
              <a:rPr b="1" lang="en-US" sz="3200">
                <a:solidFill>
                  <a:srgbClr val="0C2B27"/>
                </a:solidFill>
                <a:latin typeface="Inter"/>
                <a:ea typeface="Inter"/>
                <a:cs typeface="Inter"/>
                <a:sym typeface="Inter"/>
              </a:rPr>
              <a:t>tempo</a:t>
            </a:r>
            <a:r>
              <a:rPr b="1" i="0" lang="en-US" sz="3200" u="none" cap="none" strike="noStrike">
                <a:solidFill>
                  <a:srgbClr val="0C2B27"/>
                </a:solidFill>
                <a:latin typeface="Inter"/>
                <a:ea typeface="Inter"/>
                <a:cs typeface="Inter"/>
                <a:sym typeface="Inter"/>
              </a:rPr>
              <a:t> de liquidação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pic>
        <p:nvPicPr>
          <p:cNvPr descr="sbseg2026_rodape.png" id="883" name="Google Shape;883;p3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84" name="Google Shape;884;p3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38</a:t>
            </a:r>
            <a:endParaRPr b="0" i="0" sz="1400" u="none" cap="none" strike="noStrike">
              <a:solidFill>
                <a:srgbClr val="000000"/>
              </a:solidFill>
              <a:latin typeface="Arial"/>
              <a:ea typeface="Arial"/>
              <a:cs typeface="Arial"/>
              <a:sym typeface="Arial"/>
            </a:endParaRPr>
          </a:p>
        </p:txBody>
      </p:sp>
      <p:sp>
        <p:nvSpPr>
          <p:cNvPr id="885" name="Google Shape;885;p3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CONCLUSÕES</a:t>
            </a:r>
            <a:endParaRPr b="0" i="0" sz="1400" u="none" cap="none" strike="noStrike">
              <a:solidFill>
                <a:srgbClr val="000000"/>
              </a:solidFill>
              <a:latin typeface="Arial"/>
              <a:ea typeface="Arial"/>
              <a:cs typeface="Arial"/>
              <a:sym typeface="Arial"/>
            </a:endParaRPr>
          </a:p>
        </p:txBody>
      </p:sp>
      <p:sp>
        <p:nvSpPr>
          <p:cNvPr id="886" name="Google Shape;886;p37"/>
          <p:cNvSpPr txBox="1"/>
          <p:nvPr/>
        </p:nvSpPr>
        <p:spPr>
          <a:xfrm>
            <a:off x="713232" y="2103120"/>
            <a:ext cx="10881360" cy="2377440"/>
          </a:xfrm>
          <a:prstGeom prst="rect">
            <a:avLst/>
          </a:prstGeom>
          <a:noFill/>
          <a:ln>
            <a:noFill/>
          </a:ln>
        </p:spPr>
        <p:txBody>
          <a:bodyPr anchorCtr="0" anchor="ctr" bIns="0" lIns="0" spcFirstLastPara="1" rIns="0" wrap="square" tIns="0">
            <a:spAutoFit/>
          </a:bodyPr>
          <a:lstStyle/>
          <a:p>
            <a:pPr indent="0" lvl="0" marL="0" marR="0" rtl="0" algn="ctr">
              <a:lnSpc>
                <a:spcPct val="118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Os dois que acham mais fraude não respondem dentro dos 1,5 s; o que responde a tempo acha menos.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pic>
        <p:nvPicPr>
          <p:cNvPr descr="sbseg2026_rodape.png" id="892" name="Google Shape;892;p3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93" name="Google Shape;893;p3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39</a:t>
            </a:r>
            <a:endParaRPr b="0" i="0" sz="1400" u="none" cap="none" strike="noStrike">
              <a:solidFill>
                <a:srgbClr val="000000"/>
              </a:solidFill>
              <a:latin typeface="Arial"/>
              <a:ea typeface="Arial"/>
              <a:cs typeface="Arial"/>
              <a:sym typeface="Arial"/>
            </a:endParaRPr>
          </a:p>
        </p:txBody>
      </p:sp>
      <p:pic>
        <p:nvPicPr>
          <p:cNvPr descr="disponiveis.png" id="894" name="Google Shape;894;p38"/>
          <p:cNvPicPr preferRelativeResize="0"/>
          <p:nvPr/>
        </p:nvPicPr>
        <p:blipFill rotWithShape="1">
          <a:blip r:embed="rId4">
            <a:alphaModFix/>
          </a:blip>
          <a:srcRect b="0" l="0" r="0" t="0"/>
          <a:stretch/>
        </p:blipFill>
        <p:spPr>
          <a:xfrm>
            <a:off x="292608" y="2116836"/>
            <a:ext cx="2761488" cy="2761488"/>
          </a:xfrm>
          <a:prstGeom prst="rect">
            <a:avLst/>
          </a:prstGeom>
          <a:noFill/>
          <a:ln>
            <a:noFill/>
          </a:ln>
        </p:spPr>
      </p:pic>
      <p:pic>
        <p:nvPicPr>
          <p:cNvPr descr="funcionais.png" id="895" name="Google Shape;895;p38"/>
          <p:cNvPicPr preferRelativeResize="0"/>
          <p:nvPr/>
        </p:nvPicPr>
        <p:blipFill rotWithShape="1">
          <a:blip r:embed="rId5">
            <a:alphaModFix/>
          </a:blip>
          <a:srcRect b="0" l="0" r="0" t="0"/>
          <a:stretch/>
        </p:blipFill>
        <p:spPr>
          <a:xfrm>
            <a:off x="3240938" y="2116836"/>
            <a:ext cx="2761488" cy="2761488"/>
          </a:xfrm>
          <a:prstGeom prst="rect">
            <a:avLst/>
          </a:prstGeom>
          <a:noFill/>
          <a:ln>
            <a:noFill/>
          </a:ln>
        </p:spPr>
      </p:pic>
      <p:pic>
        <p:nvPicPr>
          <p:cNvPr descr="sustentaveis.png" id="896" name="Google Shape;896;p38"/>
          <p:cNvPicPr preferRelativeResize="0"/>
          <p:nvPr/>
        </p:nvPicPr>
        <p:blipFill rotWithShape="1">
          <a:blip r:embed="rId6">
            <a:alphaModFix/>
          </a:blip>
          <a:srcRect b="0" l="0" r="0" t="0"/>
          <a:stretch/>
        </p:blipFill>
        <p:spPr>
          <a:xfrm>
            <a:off x="6189268" y="2116836"/>
            <a:ext cx="2761488" cy="2761488"/>
          </a:xfrm>
          <a:prstGeom prst="rect">
            <a:avLst/>
          </a:prstGeom>
          <a:noFill/>
          <a:ln>
            <a:noFill/>
          </a:ln>
        </p:spPr>
      </p:pic>
      <p:pic>
        <p:nvPicPr>
          <p:cNvPr descr="reproduziveis.png" id="897" name="Google Shape;897;p38"/>
          <p:cNvPicPr preferRelativeResize="0"/>
          <p:nvPr/>
        </p:nvPicPr>
        <p:blipFill rotWithShape="1">
          <a:blip r:embed="rId7">
            <a:alphaModFix/>
          </a:blip>
          <a:srcRect b="0" l="0" r="0" t="0"/>
          <a:stretch/>
        </p:blipFill>
        <p:spPr>
          <a:xfrm>
            <a:off x="9137599" y="2116836"/>
            <a:ext cx="2761488" cy="276148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pic>
        <p:nvPicPr>
          <p:cNvPr descr="img08_faixa.jpg" id="903" name="Google Shape;903;p39"/>
          <p:cNvPicPr preferRelativeResize="0"/>
          <p:nvPr/>
        </p:nvPicPr>
        <p:blipFill rotWithShape="1">
          <a:blip r:embed="rId3">
            <a:alphaModFix/>
          </a:blip>
          <a:srcRect b="0" l="0" r="0" t="0"/>
          <a:stretch/>
        </p:blipFill>
        <p:spPr>
          <a:xfrm>
            <a:off x="0" y="0"/>
            <a:ext cx="12191695" cy="6858000"/>
          </a:xfrm>
          <a:prstGeom prst="rect">
            <a:avLst/>
          </a:prstGeom>
          <a:noFill/>
          <a:ln>
            <a:noFill/>
          </a:ln>
        </p:spPr>
      </p:pic>
      <p:pic>
        <p:nvPicPr>
          <p:cNvPr descr="sbseg2026_rodape.png" id="904" name="Google Shape;904;p39"/>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905" name="Google Shape;905;p3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40</a:t>
            </a:r>
            <a:endParaRPr b="0" i="0" sz="1400" u="none" cap="none" strike="noStrike">
              <a:solidFill>
                <a:srgbClr val="000000"/>
              </a:solidFill>
              <a:latin typeface="Arial"/>
              <a:ea typeface="Arial"/>
              <a:cs typeface="Arial"/>
              <a:sym typeface="Arial"/>
            </a:endParaRPr>
          </a:p>
        </p:txBody>
      </p:sp>
      <p:sp>
        <p:nvSpPr>
          <p:cNvPr id="906" name="Google Shape;906;p39"/>
          <p:cNvSpPr txBox="1"/>
          <p:nvPr/>
        </p:nvSpPr>
        <p:spPr>
          <a:xfrm>
            <a:off x="713232" y="411480"/>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Obrigado!</a:t>
            </a:r>
            <a:endParaRPr b="0" i="0" sz="1400" u="none" cap="none" strike="noStrike">
              <a:solidFill>
                <a:srgbClr val="000000"/>
              </a:solidFill>
              <a:latin typeface="Arial"/>
              <a:ea typeface="Arial"/>
              <a:cs typeface="Arial"/>
              <a:sym typeface="Arial"/>
            </a:endParaRPr>
          </a:p>
        </p:txBody>
      </p:sp>
      <p:sp>
        <p:nvSpPr>
          <p:cNvPr id="907" name="Google Shape;907;p39"/>
          <p:cNvSpPr txBox="1"/>
          <p:nvPr/>
        </p:nvSpPr>
        <p:spPr>
          <a:xfrm>
            <a:off x="713232" y="1161288"/>
            <a:ext cx="59436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Perguntas são bem-vindas</a:t>
            </a:r>
            <a:endParaRPr b="0" i="0" sz="1400" u="none" cap="none" strike="noStrike">
              <a:solidFill>
                <a:srgbClr val="000000"/>
              </a:solidFill>
              <a:latin typeface="Arial"/>
              <a:ea typeface="Arial"/>
              <a:cs typeface="Arial"/>
              <a:sym typeface="Arial"/>
            </a:endParaRPr>
          </a:p>
        </p:txBody>
      </p:sp>
      <p:sp>
        <p:nvSpPr>
          <p:cNvPr id="908" name="Google Shape;908;p39"/>
          <p:cNvSpPr txBox="1"/>
          <p:nvPr/>
        </p:nvSpPr>
        <p:spPr>
          <a:xfrm>
            <a:off x="713232" y="1783080"/>
            <a:ext cx="45720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A5145"/>
                </a:solidFill>
                <a:latin typeface="Inter"/>
                <a:ea typeface="Inter"/>
                <a:cs typeface="Inter"/>
                <a:sym typeface="Inter"/>
              </a:rPr>
              <a:t>AUTOR DE CONTATO</a:t>
            </a:r>
            <a:endParaRPr b="0" i="0" sz="1400" u="none" cap="none" strike="noStrike">
              <a:solidFill>
                <a:srgbClr val="000000"/>
              </a:solidFill>
              <a:latin typeface="Arial"/>
              <a:ea typeface="Arial"/>
              <a:cs typeface="Arial"/>
              <a:sym typeface="Arial"/>
            </a:endParaRPr>
          </a:p>
        </p:txBody>
      </p:sp>
      <p:sp>
        <p:nvSpPr>
          <p:cNvPr id="909" name="Google Shape;909;p39"/>
          <p:cNvSpPr txBox="1"/>
          <p:nvPr/>
        </p:nvSpPr>
        <p:spPr>
          <a:xfrm>
            <a:off x="713232" y="2093976"/>
            <a:ext cx="594360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Space Grotesk"/>
                <a:ea typeface="Space Grotesk"/>
                <a:cs typeface="Space Grotesk"/>
                <a:sym typeface="Space Grotesk"/>
              </a:rPr>
              <a:t>Cristhian Kapelinski</a:t>
            </a:r>
            <a:endParaRPr b="0" i="0" sz="1400" u="none" cap="none" strike="noStrike">
              <a:solidFill>
                <a:srgbClr val="000000"/>
              </a:solidFill>
              <a:latin typeface="Arial"/>
              <a:ea typeface="Arial"/>
              <a:cs typeface="Arial"/>
              <a:sym typeface="Arial"/>
            </a:endParaRPr>
          </a:p>
        </p:txBody>
      </p:sp>
      <p:sp>
        <p:nvSpPr>
          <p:cNvPr id="910" name="Google Shape;910;p39"/>
          <p:cNvSpPr txBox="1"/>
          <p:nvPr/>
        </p:nvSpPr>
        <p:spPr>
          <a:xfrm>
            <a:off x="713232" y="2514600"/>
            <a:ext cx="108813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cristhianavila.aluno@unipampa.edu.br</a:t>
            </a:r>
            <a:endParaRPr b="0" i="0" sz="1400" u="none" cap="none" strike="noStrike">
              <a:solidFill>
                <a:srgbClr val="000000"/>
              </a:solidFill>
              <a:latin typeface="Arial"/>
              <a:ea typeface="Arial"/>
              <a:cs typeface="Arial"/>
              <a:sym typeface="Arial"/>
            </a:endParaRPr>
          </a:p>
        </p:txBody>
      </p:sp>
      <p:pic>
        <p:nvPicPr>
          <p:cNvPr descr="aihorizonlabs.png" id="911" name="Google Shape;911;p39"/>
          <p:cNvPicPr preferRelativeResize="0"/>
          <p:nvPr/>
        </p:nvPicPr>
        <p:blipFill rotWithShape="1">
          <a:blip r:embed="rId5">
            <a:alphaModFix/>
          </a:blip>
          <a:srcRect b="0" l="0" r="0" t="0"/>
          <a:stretch/>
        </p:blipFill>
        <p:spPr>
          <a:xfrm>
            <a:off x="713232" y="3639312"/>
            <a:ext cx="1795881" cy="438912"/>
          </a:xfrm>
          <a:prstGeom prst="rect">
            <a:avLst/>
          </a:prstGeom>
          <a:noFill/>
          <a:ln>
            <a:noFill/>
          </a:ln>
        </p:spPr>
      </p:pic>
      <p:pic>
        <p:nvPicPr>
          <p:cNvPr descr="unipampa.png" id="912" name="Google Shape;912;p39"/>
          <p:cNvPicPr preferRelativeResize="0"/>
          <p:nvPr/>
        </p:nvPicPr>
        <p:blipFill rotWithShape="1">
          <a:blip r:embed="rId6">
            <a:alphaModFix/>
          </a:blip>
          <a:srcRect b="0" l="0" r="0" t="0"/>
          <a:stretch/>
        </p:blipFill>
        <p:spPr>
          <a:xfrm>
            <a:off x="3291840" y="3584448"/>
            <a:ext cx="833120" cy="548640"/>
          </a:xfrm>
          <a:prstGeom prst="rect">
            <a:avLst/>
          </a:prstGeom>
          <a:noFill/>
          <a:ln>
            <a:noFill/>
          </a:ln>
        </p:spPr>
      </p:pic>
      <p:pic>
        <p:nvPicPr>
          <p:cNvPr descr="artefato.png" id="913" name="Google Shape;913;p39"/>
          <p:cNvPicPr preferRelativeResize="0"/>
          <p:nvPr/>
        </p:nvPicPr>
        <p:blipFill rotWithShape="1">
          <a:blip r:embed="rId7">
            <a:alphaModFix/>
          </a:blip>
          <a:srcRect b="0" l="0" r="0" t="0"/>
          <a:stretch/>
        </p:blipFill>
        <p:spPr>
          <a:xfrm>
            <a:off x="749808" y="4059936"/>
            <a:ext cx="822960" cy="822960"/>
          </a:xfrm>
          <a:prstGeom prst="rect">
            <a:avLst/>
          </a:prstGeom>
          <a:noFill/>
          <a:ln>
            <a:noFill/>
          </a:ln>
        </p:spPr>
      </p:pic>
      <p:sp>
        <p:nvSpPr>
          <p:cNvPr id="914" name="Google Shape;914;p39"/>
          <p:cNvSpPr txBox="1"/>
          <p:nvPr/>
        </p:nvSpPr>
        <p:spPr>
          <a:xfrm>
            <a:off x="-9144" y="4956048"/>
            <a:ext cx="2340864"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Artefato</a:t>
            </a:r>
            <a:endParaRPr b="0" i="0" sz="1400" u="none" cap="none" strike="noStrike">
              <a:solidFill>
                <a:srgbClr val="000000"/>
              </a:solidFill>
              <a:latin typeface="Arial"/>
              <a:ea typeface="Arial"/>
              <a:cs typeface="Arial"/>
              <a:sym typeface="Arial"/>
            </a:endParaRPr>
          </a:p>
        </p:txBody>
      </p:sp>
      <p:pic>
        <p:nvPicPr>
          <p:cNvPr descr="laboratorio.png" id="915" name="Google Shape;915;p39"/>
          <p:cNvPicPr preferRelativeResize="0"/>
          <p:nvPr/>
        </p:nvPicPr>
        <p:blipFill rotWithShape="1">
          <a:blip r:embed="rId8">
            <a:alphaModFix/>
          </a:blip>
          <a:srcRect b="0" l="0" r="0" t="0"/>
          <a:stretch/>
        </p:blipFill>
        <p:spPr>
          <a:xfrm>
            <a:off x="3383280" y="4059936"/>
            <a:ext cx="822960" cy="822960"/>
          </a:xfrm>
          <a:prstGeom prst="rect">
            <a:avLst/>
          </a:prstGeom>
          <a:noFill/>
          <a:ln>
            <a:noFill/>
          </a:ln>
        </p:spPr>
      </p:pic>
      <p:sp>
        <p:nvSpPr>
          <p:cNvPr id="916" name="Google Shape;916;p39"/>
          <p:cNvSpPr txBox="1"/>
          <p:nvPr/>
        </p:nvSpPr>
        <p:spPr>
          <a:xfrm>
            <a:off x="2253996" y="4956048"/>
            <a:ext cx="3081528"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Laboratório</a:t>
            </a:r>
            <a:endParaRPr b="0" i="0" sz="1400" u="none" cap="none" strike="noStrike">
              <a:solidFill>
                <a:srgbClr val="000000"/>
              </a:solidFill>
              <a:latin typeface="Arial"/>
              <a:ea typeface="Arial"/>
              <a:cs typeface="Arial"/>
              <a:sym typeface="Arial"/>
            </a:endParaRPr>
          </a:p>
        </p:txBody>
      </p:sp>
      <p:sp>
        <p:nvSpPr>
          <p:cNvPr id="917" name="Google Shape;917;p39"/>
          <p:cNvSpPr/>
          <p:nvPr/>
        </p:nvSpPr>
        <p:spPr>
          <a:xfrm>
            <a:off x="621792" y="5504688"/>
            <a:ext cx="4663440" cy="621792"/>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8" name="Google Shape;918;p39"/>
          <p:cNvSpPr txBox="1"/>
          <p:nvPr/>
        </p:nvSpPr>
        <p:spPr>
          <a:xfrm>
            <a:off x="841248" y="5660136"/>
            <a:ext cx="10058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00000"/>
                </a:solidFill>
                <a:latin typeface="Inter"/>
                <a:ea typeface="Inter"/>
                <a:cs typeface="Inter"/>
                <a:sym typeface="Inter"/>
              </a:rPr>
              <a:t>Apoio</a:t>
            </a:r>
            <a:endParaRPr b="0" i="0" sz="1400" u="none" cap="none" strike="noStrike">
              <a:solidFill>
                <a:srgbClr val="000000"/>
              </a:solidFill>
              <a:latin typeface="Arial"/>
              <a:ea typeface="Arial"/>
              <a:cs typeface="Arial"/>
              <a:sym typeface="Arial"/>
            </a:endParaRPr>
          </a:p>
        </p:txBody>
      </p:sp>
      <p:pic>
        <p:nvPicPr>
          <p:cNvPr descr="capes.png" id="919" name="Google Shape;919;p39"/>
          <p:cNvPicPr preferRelativeResize="0"/>
          <p:nvPr/>
        </p:nvPicPr>
        <p:blipFill rotWithShape="1">
          <a:blip r:embed="rId9">
            <a:alphaModFix/>
          </a:blip>
          <a:srcRect b="0" l="0" r="0" t="0"/>
          <a:stretch/>
        </p:blipFill>
        <p:spPr>
          <a:xfrm>
            <a:off x="1910297" y="5632704"/>
            <a:ext cx="365045" cy="274320"/>
          </a:xfrm>
          <a:prstGeom prst="rect">
            <a:avLst/>
          </a:prstGeom>
          <a:noFill/>
          <a:ln>
            <a:noFill/>
          </a:ln>
        </p:spPr>
      </p:pic>
      <p:pic>
        <p:nvPicPr>
          <p:cNvPr descr="cnpq.png" id="920" name="Google Shape;920;p39"/>
          <p:cNvPicPr preferRelativeResize="0"/>
          <p:nvPr/>
        </p:nvPicPr>
        <p:blipFill rotWithShape="1">
          <a:blip r:embed="rId10">
            <a:alphaModFix/>
          </a:blip>
          <a:srcRect b="0" l="0" r="0" t="0"/>
          <a:stretch/>
        </p:blipFill>
        <p:spPr>
          <a:xfrm>
            <a:off x="2356840" y="5632704"/>
            <a:ext cx="910949" cy="274320"/>
          </a:xfrm>
          <a:prstGeom prst="rect">
            <a:avLst/>
          </a:prstGeom>
          <a:noFill/>
          <a:ln>
            <a:noFill/>
          </a:ln>
        </p:spPr>
      </p:pic>
      <p:pic>
        <p:nvPicPr>
          <p:cNvPr descr="fapergs.png" id="921" name="Google Shape;921;p39"/>
          <p:cNvPicPr preferRelativeResize="0"/>
          <p:nvPr/>
        </p:nvPicPr>
        <p:blipFill rotWithShape="1">
          <a:blip r:embed="rId11">
            <a:alphaModFix/>
          </a:blip>
          <a:srcRect b="0" l="0" r="0" t="0"/>
          <a:stretch/>
        </p:blipFill>
        <p:spPr>
          <a:xfrm>
            <a:off x="3349286" y="5632704"/>
            <a:ext cx="1763007" cy="274320"/>
          </a:xfrm>
          <a:prstGeom prst="rect">
            <a:avLst/>
          </a:prstGeom>
          <a:noFill/>
          <a:ln>
            <a:noFill/>
          </a:ln>
        </p:spPr>
      </p:pic>
      <p:pic>
        <p:nvPicPr>
          <p:cNvPr descr="qr_PixGuardSim.png" id="922" name="Google Shape;922;p39"/>
          <p:cNvPicPr preferRelativeResize="0"/>
          <p:nvPr/>
        </p:nvPicPr>
        <p:blipFill rotWithShape="1">
          <a:blip r:embed="rId12">
            <a:alphaModFix/>
          </a:blip>
          <a:srcRect b="0" l="0" r="0" t="0"/>
          <a:stretch/>
        </p:blipFill>
        <p:spPr>
          <a:xfrm>
            <a:off x="10149840" y="914400"/>
            <a:ext cx="1097280" cy="1097280"/>
          </a:xfrm>
          <a:prstGeom prst="rect">
            <a:avLst/>
          </a:prstGeom>
          <a:noFill/>
          <a:ln>
            <a:noFill/>
          </a:ln>
        </p:spPr>
      </p:pic>
      <p:sp>
        <p:nvSpPr>
          <p:cNvPr id="923" name="Google Shape;923;p39"/>
          <p:cNvSpPr txBox="1"/>
          <p:nvPr/>
        </p:nvSpPr>
        <p:spPr>
          <a:xfrm>
            <a:off x="9326880" y="2176272"/>
            <a:ext cx="274320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Artigo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pic>
        <p:nvPicPr>
          <p:cNvPr descr="sbseg2026_rodape.png" id="929" name="Google Shape;929;p4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30" name="Google Shape;930;p4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41</a:t>
            </a:r>
            <a:endParaRPr b="0" i="0" sz="1400" u="none" cap="none" strike="noStrike">
              <a:solidFill>
                <a:srgbClr val="000000"/>
              </a:solidFill>
              <a:latin typeface="Arial"/>
              <a:ea typeface="Arial"/>
              <a:cs typeface="Arial"/>
              <a:sym typeface="Arial"/>
            </a:endParaRPr>
          </a:p>
        </p:txBody>
      </p:sp>
      <p:sp>
        <p:nvSpPr>
          <p:cNvPr id="931" name="Google Shape;931;p4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32" name="Google Shape;932;p40"/>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Tudo é sintético. E daí?</a:t>
            </a:r>
            <a:endParaRPr b="0" i="0" sz="1400" u="none" cap="none" strike="noStrike">
              <a:solidFill>
                <a:srgbClr val="000000"/>
              </a:solidFill>
              <a:latin typeface="Arial"/>
              <a:ea typeface="Arial"/>
              <a:cs typeface="Arial"/>
              <a:sym typeface="Arial"/>
            </a:endParaRPr>
          </a:p>
        </p:txBody>
      </p:sp>
      <p:sp>
        <p:nvSpPr>
          <p:cNvPr id="933" name="Google Shape;933;p40"/>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4" name="Google Shape;934;p40"/>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Pix real</a:t>
            </a:r>
            <a:r>
              <a:rPr b="0" i="0" lang="en-US" sz="3200" u="none" cap="none" strike="noStrike">
                <a:solidFill>
                  <a:srgbClr val="0C2B27"/>
                </a:solidFill>
                <a:latin typeface="Inter"/>
                <a:ea typeface="Inter"/>
                <a:cs typeface="Inter"/>
                <a:sym typeface="Inter"/>
              </a:rPr>
              <a:t> é privado: nada aqui é taxa de produção</a:t>
            </a:r>
            <a:endParaRPr b="0" i="0" sz="1400" u="none" cap="none" strike="noStrike">
              <a:solidFill>
                <a:srgbClr val="000000"/>
              </a:solidFill>
              <a:latin typeface="Arial"/>
              <a:ea typeface="Arial"/>
              <a:cs typeface="Arial"/>
              <a:sym typeface="Arial"/>
            </a:endParaRPr>
          </a:p>
        </p:txBody>
      </p:sp>
      <p:sp>
        <p:nvSpPr>
          <p:cNvPr id="935" name="Google Shape;935;p40"/>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6" name="Google Shape;936;p40"/>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A latência</a:t>
            </a:r>
            <a:r>
              <a:rPr b="0" i="0" lang="en-US" sz="3200" u="none" cap="none" strike="noStrike">
                <a:solidFill>
                  <a:srgbClr val="0C2B27"/>
                </a:solidFill>
                <a:latin typeface="Inter"/>
                <a:ea typeface="Inter"/>
                <a:cs typeface="Inter"/>
                <a:sym typeface="Inter"/>
              </a:rPr>
              <a:t> é cronometrada, não configurada</a:t>
            </a:r>
            <a:endParaRPr b="0" i="0" sz="1400" u="none" cap="none" strike="noStrike">
              <a:solidFill>
                <a:srgbClr val="000000"/>
              </a:solidFill>
              <a:latin typeface="Arial"/>
              <a:ea typeface="Arial"/>
              <a:cs typeface="Arial"/>
              <a:sym typeface="Arial"/>
            </a:endParaRPr>
          </a:p>
        </p:txBody>
      </p:sp>
      <p:sp>
        <p:nvSpPr>
          <p:cNvPr id="937" name="Google Shape;937;p40"/>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8" name="Google Shape;938;p40"/>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O prazo</a:t>
            </a:r>
            <a:r>
              <a:rPr b="0" i="0" lang="en-US" sz="3200" u="none" cap="none" strike="noStrike">
                <a:solidFill>
                  <a:srgbClr val="0C2B27"/>
                </a:solidFill>
                <a:latin typeface="Inter"/>
                <a:ea typeface="Inter"/>
                <a:cs typeface="Inter"/>
                <a:sym typeface="Inter"/>
              </a:rPr>
              <a:t> é do regulador: 1,5 s, p95</a:t>
            </a:r>
            <a:endParaRPr b="0" i="0" sz="1400" u="none" cap="none" strike="noStrike">
              <a:solidFill>
                <a:srgbClr val="000000"/>
              </a:solidFill>
              <a:latin typeface="Arial"/>
              <a:ea typeface="Arial"/>
              <a:cs typeface="Arial"/>
              <a:sym typeface="Arial"/>
            </a:endParaRPr>
          </a:p>
        </p:txBody>
      </p:sp>
      <p:sp>
        <p:nvSpPr>
          <p:cNvPr id="939" name="Google Shape;939;p40"/>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0" name="Google Shape;940;p40"/>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Três fontes</a:t>
            </a:r>
            <a:r>
              <a:rPr b="0" i="0" lang="en-US" sz="3200" u="none" cap="none" strike="noStrike">
                <a:solidFill>
                  <a:srgbClr val="0C2B27"/>
                </a:solidFill>
                <a:latin typeface="Inter"/>
                <a:ea typeface="Inter"/>
                <a:cs typeface="Inter"/>
                <a:sym typeface="Inter"/>
              </a:rPr>
              <a:t> duas feitas por outros grupos</a:t>
            </a:r>
            <a:endParaRPr b="0" i="0" sz="1400" u="none" cap="none" strike="noStrike">
              <a:solidFill>
                <a:srgbClr val="000000"/>
              </a:solidFill>
              <a:latin typeface="Arial"/>
              <a:ea typeface="Arial"/>
              <a:cs typeface="Arial"/>
              <a:sym typeface="Arial"/>
            </a:endParaRPr>
          </a:p>
        </p:txBody>
      </p:sp>
      <p:sp>
        <p:nvSpPr>
          <p:cNvPr id="941" name="Google Shape;941;p40"/>
          <p:cNvSpPr/>
          <p:nvPr/>
        </p:nvSpPr>
        <p:spPr>
          <a:xfrm>
            <a:off x="566928" y="4590288"/>
            <a:ext cx="11155680" cy="958291"/>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2" name="Google Shape;942;p40"/>
          <p:cNvSpPr txBox="1"/>
          <p:nvPr/>
        </p:nvSpPr>
        <p:spPr>
          <a:xfrm>
            <a:off x="896112" y="4791456"/>
            <a:ext cx="10332720" cy="55595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O achado central vem do relógio, não do dado.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pic>
        <p:nvPicPr>
          <p:cNvPr descr="sbseg2026_rodape.png" id="948" name="Google Shape;948;p4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49" name="Google Shape;949;p4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42</a:t>
            </a:r>
            <a:endParaRPr b="0" i="0" sz="1400" u="none" cap="none" strike="noStrike">
              <a:solidFill>
                <a:srgbClr val="000000"/>
              </a:solidFill>
              <a:latin typeface="Arial"/>
              <a:ea typeface="Arial"/>
              <a:cs typeface="Arial"/>
              <a:sym typeface="Arial"/>
            </a:endParaRPr>
          </a:p>
        </p:txBody>
      </p:sp>
      <p:sp>
        <p:nvSpPr>
          <p:cNvPr id="950" name="Google Shape;950;p4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51" name="Google Shape;951;p41"/>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15% de fraude na fatia?</a:t>
            </a:r>
            <a:endParaRPr b="0" i="0" sz="1400" u="none" cap="none" strike="noStrike">
              <a:solidFill>
                <a:srgbClr val="000000"/>
              </a:solidFill>
              <a:latin typeface="Arial"/>
              <a:ea typeface="Arial"/>
              <a:cs typeface="Arial"/>
              <a:sym typeface="Arial"/>
            </a:endParaRPr>
          </a:p>
        </p:txBody>
      </p:sp>
      <p:sp>
        <p:nvSpPr>
          <p:cNvPr id="952" name="Google Shape;952;p41"/>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3" name="Google Shape;953;p41"/>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1.000 eventos</a:t>
            </a:r>
            <a:r>
              <a:rPr b="0" i="0" lang="en-US" sz="3200" u="none" cap="none" strike="noStrike">
                <a:solidFill>
                  <a:srgbClr val="0C2B27"/>
                </a:solidFill>
                <a:latin typeface="Inter"/>
                <a:ea typeface="Inter"/>
                <a:cs typeface="Inter"/>
                <a:sym typeface="Inter"/>
              </a:rPr>
              <a:t> 150 fraudes, 850 legítimas</a:t>
            </a:r>
            <a:endParaRPr b="0" i="0" sz="1400" u="none" cap="none" strike="noStrike">
              <a:solidFill>
                <a:srgbClr val="000000"/>
              </a:solidFill>
              <a:latin typeface="Arial"/>
              <a:ea typeface="Arial"/>
              <a:cs typeface="Arial"/>
              <a:sym typeface="Arial"/>
            </a:endParaRPr>
          </a:p>
        </p:txBody>
      </p:sp>
      <p:sp>
        <p:nvSpPr>
          <p:cNvPr id="954" name="Google Shape;954;p41"/>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5" name="Google Shape;955;p41"/>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Ao acaso</a:t>
            </a:r>
            <a:r>
              <a:rPr b="0" i="0" lang="en-US" sz="3200" u="none" cap="none" strike="noStrike">
                <a:solidFill>
                  <a:srgbClr val="0C2B27"/>
                </a:solidFill>
                <a:latin typeface="Inter"/>
                <a:ea typeface="Inter"/>
                <a:cs typeface="Inter"/>
                <a:sym typeface="Inter"/>
              </a:rPr>
              <a:t> 0,150 aqui, e não 1,19%</a:t>
            </a:r>
            <a:endParaRPr b="0" i="0" sz="1400" u="none" cap="none" strike="noStrike">
              <a:solidFill>
                <a:srgbClr val="000000"/>
              </a:solidFill>
              <a:latin typeface="Arial"/>
              <a:ea typeface="Arial"/>
              <a:cs typeface="Arial"/>
              <a:sym typeface="Arial"/>
            </a:endParaRPr>
          </a:p>
        </p:txBody>
      </p:sp>
      <p:sp>
        <p:nvSpPr>
          <p:cNvPr id="956" name="Google Shape;956;p41"/>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7" name="Google Shape;957;p41"/>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Por quê</a:t>
            </a:r>
            <a:r>
              <a:rPr b="0" i="0" lang="en-US" sz="3200" u="none" cap="none" strike="noStrike">
                <a:solidFill>
                  <a:srgbClr val="0C2B27"/>
                </a:solidFill>
                <a:latin typeface="Inter"/>
                <a:ea typeface="Inter"/>
                <a:cs typeface="Inter"/>
                <a:sym typeface="Inter"/>
              </a:rPr>
              <a:t> a 1,19% sobrariam dezenas de fraudes</a:t>
            </a:r>
            <a:endParaRPr b="0" i="0" sz="1400" u="none" cap="none" strike="noStrike">
              <a:solidFill>
                <a:srgbClr val="000000"/>
              </a:solidFill>
              <a:latin typeface="Arial"/>
              <a:ea typeface="Arial"/>
              <a:cs typeface="Arial"/>
              <a:sym typeface="Arial"/>
            </a:endParaRPr>
          </a:p>
        </p:txBody>
      </p:sp>
      <p:sp>
        <p:nvSpPr>
          <p:cNvPr id="958" name="Google Shape;958;p41"/>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9" name="Google Shape;959;p41"/>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O preço</a:t>
            </a:r>
            <a:r>
              <a:rPr b="0" i="0" lang="en-US" sz="3200" u="none" cap="none" strike="noStrike">
                <a:solidFill>
                  <a:srgbClr val="0C2B27"/>
                </a:solidFill>
                <a:latin typeface="Inter"/>
                <a:ea typeface="Inter"/>
                <a:cs typeface="Inter"/>
                <a:sym typeface="Inter"/>
              </a:rPr>
              <a:t> precisão daqui não é taxa de produção</a:t>
            </a:r>
            <a:endParaRPr b="0" i="0" sz="1400" u="none" cap="none" strike="noStrike">
              <a:solidFill>
                <a:srgbClr val="000000"/>
              </a:solidFill>
              <a:latin typeface="Arial"/>
              <a:ea typeface="Arial"/>
              <a:cs typeface="Arial"/>
              <a:sym typeface="Arial"/>
            </a:endParaRPr>
          </a:p>
        </p:txBody>
      </p:sp>
      <p:sp>
        <p:nvSpPr>
          <p:cNvPr id="960" name="Google Shape;960;p41"/>
          <p:cNvSpPr/>
          <p:nvPr/>
        </p:nvSpPr>
        <p:spPr>
          <a:xfrm>
            <a:off x="566928" y="4590288"/>
            <a:ext cx="11155680" cy="1514246"/>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1" name="Google Shape;961;p41"/>
          <p:cNvSpPr txBox="1"/>
          <p:nvPr/>
        </p:nvSpPr>
        <p:spPr>
          <a:xfrm>
            <a:off x="896112" y="4791456"/>
            <a:ext cx="103327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A latência e a ordem dos detectores não mudam.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pic>
        <p:nvPicPr>
          <p:cNvPr descr="sbseg2026_rodape.png" id="967" name="Google Shape;967;p4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68" name="Google Shape;968;p4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43</a:t>
            </a:r>
            <a:endParaRPr b="0" i="0" sz="1400" u="none" cap="none" strike="noStrike">
              <a:solidFill>
                <a:srgbClr val="000000"/>
              </a:solidFill>
              <a:latin typeface="Arial"/>
              <a:ea typeface="Arial"/>
              <a:cs typeface="Arial"/>
              <a:sym typeface="Arial"/>
            </a:endParaRPr>
          </a:p>
        </p:txBody>
      </p:sp>
      <p:sp>
        <p:nvSpPr>
          <p:cNvPr id="969" name="Google Shape;969;p4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70" name="Google Shape;970;p42"/>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Uma máquina, uma rede</a:t>
            </a:r>
            <a:endParaRPr b="0" i="0" sz="1400" u="none" cap="none" strike="noStrike">
              <a:solidFill>
                <a:srgbClr val="000000"/>
              </a:solidFill>
              <a:latin typeface="Arial"/>
              <a:ea typeface="Arial"/>
              <a:cs typeface="Arial"/>
              <a:sym typeface="Arial"/>
            </a:endParaRPr>
          </a:p>
        </p:txBody>
      </p:sp>
      <p:sp>
        <p:nvSpPr>
          <p:cNvPr id="971" name="Google Shape;971;p42"/>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2" name="Google Shape;972;p42"/>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Local</a:t>
            </a:r>
            <a:r>
              <a:rPr b="0" i="0" lang="en-US" sz="3200" u="none" cap="none" strike="noStrike">
                <a:solidFill>
                  <a:srgbClr val="0C2B27"/>
                </a:solidFill>
                <a:latin typeface="Inter"/>
                <a:ea typeface="Inter"/>
                <a:cs typeface="Inter"/>
                <a:sym typeface="Inter"/>
              </a:rPr>
              <a:t> Ryzen 5 8600G e RTX 5060 Ti de 16 GB</a:t>
            </a:r>
            <a:endParaRPr b="0" i="0" sz="1400" u="none" cap="none" strike="noStrike">
              <a:solidFill>
                <a:srgbClr val="000000"/>
              </a:solidFill>
              <a:latin typeface="Arial"/>
              <a:ea typeface="Arial"/>
              <a:cs typeface="Arial"/>
              <a:sym typeface="Arial"/>
            </a:endParaRPr>
          </a:p>
        </p:txBody>
      </p:sp>
      <p:sp>
        <p:nvSpPr>
          <p:cNvPr id="973" name="Google Shape;973;p42"/>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4" name="Google Shape;974;p42"/>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Nuvem</a:t>
            </a:r>
            <a:r>
              <a:rPr b="0" i="0" lang="en-US" sz="3200" u="none" cap="none" strike="noStrike">
                <a:solidFill>
                  <a:srgbClr val="0C2B27"/>
                </a:solidFill>
                <a:latin typeface="Inter"/>
                <a:ea typeface="Inter"/>
                <a:cs typeface="Inter"/>
                <a:sym typeface="Inter"/>
              </a:rPr>
              <a:t> a latência inclui a ida e a volta</a:t>
            </a:r>
            <a:endParaRPr b="0" i="0" sz="1400" u="none" cap="none" strike="noStrike">
              <a:solidFill>
                <a:srgbClr val="000000"/>
              </a:solidFill>
              <a:latin typeface="Arial"/>
              <a:ea typeface="Arial"/>
              <a:cs typeface="Arial"/>
              <a:sym typeface="Arial"/>
            </a:endParaRPr>
          </a:p>
        </p:txBody>
      </p:sp>
      <p:sp>
        <p:nvSpPr>
          <p:cNvPr id="975" name="Google Shape;975;p42"/>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6" name="Google Shape;976;p42"/>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3,4× e 6,9×</a:t>
            </a:r>
            <a:r>
              <a:rPr b="0" i="0" lang="en-US" sz="3200" u="none" cap="none" strike="noStrike">
                <a:solidFill>
                  <a:srgbClr val="0C2B27"/>
                </a:solidFill>
                <a:latin typeface="Inter"/>
                <a:ea typeface="Inter"/>
                <a:cs typeface="Inter"/>
                <a:sym typeface="Inter"/>
              </a:rPr>
              <a:t> do orçamento: hardware não fecha</a:t>
            </a:r>
            <a:endParaRPr b="0" i="0" sz="1400" u="none" cap="none" strike="noStrike">
              <a:solidFill>
                <a:srgbClr val="000000"/>
              </a:solidFill>
              <a:latin typeface="Arial"/>
              <a:ea typeface="Arial"/>
              <a:cs typeface="Arial"/>
              <a:sym typeface="Arial"/>
            </a:endParaRPr>
          </a:p>
        </p:txBody>
      </p:sp>
      <p:sp>
        <p:nvSpPr>
          <p:cNvPr id="977" name="Google Shape;977;p42"/>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8" name="Google Shape;978;p42"/>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Encolheria</a:t>
            </a:r>
            <a:r>
              <a:rPr b="0" i="0" lang="en-US" sz="3200" u="none" cap="none" strike="noStrike">
                <a:solidFill>
                  <a:srgbClr val="0C2B27"/>
                </a:solidFill>
                <a:latin typeface="Inter"/>
                <a:ea typeface="Inter"/>
                <a:cs typeface="Inter"/>
                <a:sym typeface="Inter"/>
              </a:rPr>
              <a:t> com quantização ou modelo na casa</a:t>
            </a:r>
            <a:endParaRPr b="0" i="0" sz="1400" u="none" cap="none" strike="noStrike">
              <a:solidFill>
                <a:srgbClr val="000000"/>
              </a:solidFill>
              <a:latin typeface="Arial"/>
              <a:ea typeface="Arial"/>
              <a:cs typeface="Arial"/>
              <a:sym typeface="Arial"/>
            </a:endParaRPr>
          </a:p>
        </p:txBody>
      </p:sp>
      <p:sp>
        <p:nvSpPr>
          <p:cNvPr id="979" name="Google Shape;979;p42"/>
          <p:cNvSpPr/>
          <p:nvPr/>
        </p:nvSpPr>
        <p:spPr>
          <a:xfrm>
            <a:off x="566928" y="4590288"/>
            <a:ext cx="11155680" cy="1514246"/>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0" name="Google Shape;980;p42"/>
          <p:cNvSpPr txBox="1"/>
          <p:nvPr/>
        </p:nvSpPr>
        <p:spPr>
          <a:xfrm>
            <a:off x="896112" y="4791456"/>
            <a:ext cx="103327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Veredito da máquina declarada: re-medir, não herdar.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pic>
        <p:nvPicPr>
          <p:cNvPr descr="sbseg2026_rodape.png" id="986" name="Google Shape;986;p4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87" name="Google Shape;987;p4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44</a:t>
            </a:r>
            <a:endParaRPr b="0" i="0" sz="1400" u="none" cap="none" strike="noStrike">
              <a:solidFill>
                <a:srgbClr val="000000"/>
              </a:solidFill>
              <a:latin typeface="Arial"/>
              <a:ea typeface="Arial"/>
              <a:cs typeface="Arial"/>
              <a:sym typeface="Arial"/>
            </a:endParaRPr>
          </a:p>
        </p:txBody>
      </p:sp>
      <p:sp>
        <p:nvSpPr>
          <p:cNvPr id="988" name="Google Shape;988;p4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89" name="Google Shape;989;p43"/>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 prazo é do regulador</a:t>
            </a:r>
            <a:endParaRPr b="0" i="0" sz="1400" u="none" cap="none" strike="noStrike">
              <a:solidFill>
                <a:srgbClr val="000000"/>
              </a:solidFill>
              <a:latin typeface="Arial"/>
              <a:ea typeface="Arial"/>
              <a:cs typeface="Arial"/>
              <a:sym typeface="Arial"/>
            </a:endParaRPr>
          </a:p>
        </p:txBody>
      </p:sp>
      <p:sp>
        <p:nvSpPr>
          <p:cNvPr id="990" name="Google Shape;990;p43"/>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1" name="Google Shape;991;p43"/>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1,5 s</a:t>
            </a:r>
            <a:r>
              <a:rPr b="0" i="0" lang="en-US" sz="3200" u="none" cap="none" strike="noStrike">
                <a:solidFill>
                  <a:srgbClr val="0C2B27"/>
                </a:solidFill>
                <a:latin typeface="Inter"/>
                <a:ea typeface="Inter"/>
                <a:cs typeface="Inter"/>
                <a:sym typeface="Inter"/>
              </a:rPr>
              <a:t> p95 da autorização da pagadora</a:t>
            </a:r>
            <a:endParaRPr b="0" i="0" sz="1400" u="none" cap="none" strike="noStrike">
              <a:solidFill>
                <a:srgbClr val="000000"/>
              </a:solidFill>
              <a:latin typeface="Arial"/>
              <a:ea typeface="Arial"/>
              <a:cs typeface="Arial"/>
              <a:sym typeface="Arial"/>
            </a:endParaRPr>
          </a:p>
        </p:txBody>
      </p:sp>
      <p:sp>
        <p:nvSpPr>
          <p:cNvPr id="992" name="Google Shape;992;p43"/>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43"/>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0,9 s</a:t>
            </a:r>
            <a:r>
              <a:rPr b="0" i="0" lang="en-US" sz="3200" u="none" cap="none" strike="noStrike">
                <a:solidFill>
                  <a:srgbClr val="0C2B27"/>
                </a:solidFill>
                <a:latin typeface="Inter"/>
                <a:ea typeface="Inter"/>
                <a:cs typeface="Inter"/>
                <a:sym typeface="Inter"/>
              </a:rPr>
              <a:t> p50 da mesma linha do manual</a:t>
            </a:r>
            <a:endParaRPr b="0" i="0" sz="1400" u="none" cap="none" strike="noStrike">
              <a:solidFill>
                <a:srgbClr val="000000"/>
              </a:solidFill>
              <a:latin typeface="Arial"/>
              <a:ea typeface="Arial"/>
              <a:cs typeface="Arial"/>
              <a:sym typeface="Arial"/>
            </a:endParaRPr>
          </a:p>
        </p:txBody>
      </p:sp>
      <p:sp>
        <p:nvSpPr>
          <p:cNvPr id="994" name="Google Shape;994;p43"/>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p43"/>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30 a 60 min</a:t>
            </a:r>
            <a:r>
              <a:rPr b="0" i="0" lang="en-US" sz="3200" u="none" cap="none" strike="noStrike">
                <a:solidFill>
                  <a:srgbClr val="0C2B27"/>
                </a:solidFill>
                <a:latin typeface="Inter"/>
                <a:ea typeface="Inter"/>
                <a:cs typeface="Inter"/>
                <a:sym typeface="Inter"/>
              </a:rPr>
              <a:t> janela larga, se já há suspeita</a:t>
            </a:r>
            <a:endParaRPr b="0" i="0" sz="1400" u="none" cap="none" strike="noStrike">
              <a:solidFill>
                <a:srgbClr val="000000"/>
              </a:solidFill>
              <a:latin typeface="Arial"/>
              <a:ea typeface="Arial"/>
              <a:cs typeface="Arial"/>
              <a:sym typeface="Arial"/>
            </a:endParaRPr>
          </a:p>
        </p:txBody>
      </p:sp>
      <p:sp>
        <p:nvSpPr>
          <p:cNvPr id="996" name="Google Shape;996;p43"/>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43"/>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Liquidação</a:t>
            </a:r>
            <a:r>
              <a:rPr b="0" i="0" lang="en-US" sz="3200" u="none" cap="none" strike="noStrike">
                <a:solidFill>
                  <a:srgbClr val="0C2B27"/>
                </a:solidFill>
                <a:latin typeface="Inter"/>
                <a:ea typeface="Inter"/>
                <a:cs typeface="Inter"/>
                <a:sym typeface="Inter"/>
              </a:rPr>
              <a:t> no gerador, 300 a 1.999 ms</a:t>
            </a:r>
            <a:endParaRPr b="0" i="0" sz="1400" u="none" cap="none" strike="noStrike">
              <a:solidFill>
                <a:srgbClr val="000000"/>
              </a:solidFill>
              <a:latin typeface="Arial"/>
              <a:ea typeface="Arial"/>
              <a:cs typeface="Arial"/>
              <a:sym typeface="Arial"/>
            </a:endParaRPr>
          </a:p>
        </p:txBody>
      </p:sp>
      <p:sp>
        <p:nvSpPr>
          <p:cNvPr id="998" name="Google Shape;998;p43"/>
          <p:cNvSpPr/>
          <p:nvPr/>
        </p:nvSpPr>
        <p:spPr>
          <a:xfrm>
            <a:off x="566928" y="4590288"/>
            <a:ext cx="11155680" cy="1514246"/>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9" name="Google Shape;999;p43"/>
          <p:cNvSpPr txBox="1"/>
          <p:nvPr/>
        </p:nvSpPr>
        <p:spPr>
          <a:xfrm>
            <a:off x="896112" y="4791456"/>
            <a:ext cx="103327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Nenhuma linha é prazo de detecção: elas limitam participante.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pic>
        <p:nvPicPr>
          <p:cNvPr descr="sbseg2026_rodape.png" id="1005" name="Google Shape;1005;p4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06" name="Google Shape;1006;p4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45</a:t>
            </a:r>
            <a:endParaRPr b="0" i="0" sz="1400" u="none" cap="none" strike="noStrike">
              <a:solidFill>
                <a:srgbClr val="000000"/>
              </a:solidFill>
              <a:latin typeface="Arial"/>
              <a:ea typeface="Arial"/>
              <a:cs typeface="Arial"/>
              <a:sym typeface="Arial"/>
            </a:endParaRPr>
          </a:p>
        </p:txBody>
      </p:sp>
      <p:sp>
        <p:nvSpPr>
          <p:cNvPr id="1007" name="Google Shape;1007;p4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08" name="Google Shape;1008;p44"/>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“No prazo” é recall?</a:t>
            </a:r>
            <a:endParaRPr b="0" i="0" sz="1400" u="none" cap="none" strike="noStrike">
              <a:solidFill>
                <a:srgbClr val="000000"/>
              </a:solidFill>
              <a:latin typeface="Arial"/>
              <a:ea typeface="Arial"/>
              <a:cs typeface="Arial"/>
              <a:sym typeface="Arial"/>
            </a:endParaRPr>
          </a:p>
        </p:txBody>
      </p:sp>
      <p:sp>
        <p:nvSpPr>
          <p:cNvPr id="1009" name="Google Shape;1009;p44"/>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0" name="Google Shape;1010;p44"/>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É</a:t>
            </a:r>
            <a:r>
              <a:rPr b="0" i="0" lang="en-US" sz="3200" u="none" cap="none" strike="noStrike">
                <a:solidFill>
                  <a:srgbClr val="0C2B27"/>
                </a:solidFill>
                <a:latin typeface="Inter"/>
                <a:ea typeface="Inter"/>
                <a:cs typeface="Inter"/>
                <a:sym typeface="Inter"/>
              </a:rPr>
              <a:t> recall restrita ao que chega a tempo</a:t>
            </a:r>
            <a:endParaRPr b="0" i="0" sz="1400" u="none" cap="none" strike="noStrike">
              <a:solidFill>
                <a:srgbClr val="000000"/>
              </a:solidFill>
              <a:latin typeface="Arial"/>
              <a:ea typeface="Arial"/>
              <a:cs typeface="Arial"/>
              <a:sym typeface="Arial"/>
            </a:endParaRPr>
          </a:p>
        </p:txBody>
      </p:sp>
      <p:sp>
        <p:nvSpPr>
          <p:cNvPr id="1011" name="Google Shape;1011;p44"/>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2" name="Google Shape;1012;p44"/>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Não é</a:t>
            </a:r>
            <a:r>
              <a:rPr b="0" i="0" lang="en-US" sz="3200" u="none" cap="none" strike="noStrike">
                <a:solidFill>
                  <a:srgbClr val="0C2B27"/>
                </a:solidFill>
                <a:latin typeface="Inter"/>
                <a:ea typeface="Inter"/>
                <a:cs typeface="Inter"/>
                <a:sym typeface="Inter"/>
              </a:rPr>
              <a:t> estimador novo: é uma condição a mais</a:t>
            </a:r>
            <a:endParaRPr b="0" i="0" sz="1400" u="none" cap="none" strike="noStrike">
              <a:solidFill>
                <a:srgbClr val="000000"/>
              </a:solidFill>
              <a:latin typeface="Arial"/>
              <a:ea typeface="Arial"/>
              <a:cs typeface="Arial"/>
              <a:sym typeface="Arial"/>
            </a:endParaRPr>
          </a:p>
        </p:txBody>
      </p:sp>
      <p:sp>
        <p:nvSpPr>
          <p:cNvPr id="1013" name="Google Shape;1013;p44"/>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4" name="Google Shape;1014;p44"/>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Tabulares</a:t>
            </a:r>
            <a:r>
              <a:rPr b="0" i="0" lang="en-US" sz="3200" u="none" cap="none" strike="noStrike">
                <a:solidFill>
                  <a:srgbClr val="0C2B27"/>
                </a:solidFill>
                <a:latin typeface="Inter"/>
                <a:ea typeface="Inter"/>
                <a:cs typeface="Inter"/>
                <a:sym typeface="Inter"/>
              </a:rPr>
              <a:t> decidem em &lt; 0,01 ms: é a recall deles</a:t>
            </a:r>
            <a:endParaRPr b="0" i="0" sz="1400" u="none" cap="none" strike="noStrike">
              <a:solidFill>
                <a:srgbClr val="000000"/>
              </a:solidFill>
              <a:latin typeface="Arial"/>
              <a:ea typeface="Arial"/>
              <a:cs typeface="Arial"/>
              <a:sym typeface="Arial"/>
            </a:endParaRPr>
          </a:p>
        </p:txBody>
      </p:sp>
      <p:sp>
        <p:nvSpPr>
          <p:cNvPr id="1015" name="Google Shape;1015;p44"/>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6" name="Google Shape;1016;p44"/>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Só separa</a:t>
            </a:r>
            <a:r>
              <a:rPr b="0" i="0" lang="en-US" sz="3200" u="none" cap="none" strike="noStrike">
                <a:solidFill>
                  <a:srgbClr val="0C2B27"/>
                </a:solidFill>
                <a:latin typeface="Inter"/>
                <a:ea typeface="Inter"/>
                <a:cs typeface="Inter"/>
                <a:sym typeface="Inter"/>
              </a:rPr>
              <a:t> com latência perto da janela</a:t>
            </a:r>
            <a:endParaRPr b="0" i="0" sz="1400" u="none" cap="none" strike="noStrike">
              <a:solidFill>
                <a:srgbClr val="000000"/>
              </a:solidFill>
              <a:latin typeface="Arial"/>
              <a:ea typeface="Arial"/>
              <a:cs typeface="Arial"/>
              <a:sym typeface="Arial"/>
            </a:endParaRPr>
          </a:p>
        </p:txBody>
      </p:sp>
      <p:sp>
        <p:nvSpPr>
          <p:cNvPr id="1017" name="Google Shape;1017;p44"/>
          <p:cNvSpPr/>
          <p:nvPr/>
        </p:nvSpPr>
        <p:spPr>
          <a:xfrm>
            <a:off x="566928" y="4590288"/>
            <a:ext cx="11155680" cy="1514246"/>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8" name="Google Shape;1018;p44"/>
          <p:cNvSpPr txBox="1"/>
          <p:nvPr/>
        </p:nvSpPr>
        <p:spPr>
          <a:xfrm>
            <a:off x="896112" y="4791456"/>
            <a:ext cx="103327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Acurácia e prazo saem juntos, nunca sozinhos.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pic>
        <p:nvPicPr>
          <p:cNvPr descr="sbseg2026_rodape.png" id="1024" name="Google Shape;1024;p4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25" name="Google Shape;1025;p4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46</a:t>
            </a:r>
            <a:endParaRPr b="0" i="0" sz="1400" u="none" cap="none" strike="noStrike">
              <a:solidFill>
                <a:srgbClr val="000000"/>
              </a:solidFill>
              <a:latin typeface="Arial"/>
              <a:ea typeface="Arial"/>
              <a:cs typeface="Arial"/>
              <a:sym typeface="Arial"/>
            </a:endParaRPr>
          </a:p>
        </p:txBody>
      </p:sp>
      <p:sp>
        <p:nvSpPr>
          <p:cNvPr id="1026" name="Google Shape;1026;p4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27" name="Google Shape;1027;p45"/>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0,993 no prazo, PR-AUC 0,160</a:t>
            </a:r>
            <a:endParaRPr b="0" i="0" sz="1400" u="none" cap="none" strike="noStrike">
              <a:solidFill>
                <a:srgbClr val="000000"/>
              </a:solidFill>
              <a:latin typeface="Arial"/>
              <a:ea typeface="Arial"/>
              <a:cs typeface="Arial"/>
              <a:sym typeface="Arial"/>
            </a:endParaRPr>
          </a:p>
        </p:txBody>
      </p:sp>
      <p:sp>
        <p:nvSpPr>
          <p:cNvPr id="1028" name="Google Shape;1028;p45"/>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9" name="Google Shape;1029;p45"/>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LLM local</a:t>
            </a:r>
            <a:r>
              <a:rPr b="0" i="0" lang="en-US" sz="3200" u="none" cap="none" strike="noStrike">
                <a:solidFill>
                  <a:srgbClr val="0C2B27"/>
                </a:solidFill>
                <a:latin typeface="Inter"/>
                <a:ea typeface="Inter"/>
                <a:cs typeface="Inter"/>
                <a:sym typeface="Inter"/>
              </a:rPr>
              <a:t> sinaliza 149 das 150: recall 0,993</a:t>
            </a:r>
            <a:endParaRPr b="0" i="0" sz="1400" u="none" cap="none" strike="noStrike">
              <a:solidFill>
                <a:srgbClr val="000000"/>
              </a:solidFill>
              <a:latin typeface="Arial"/>
              <a:ea typeface="Arial"/>
              <a:cs typeface="Arial"/>
              <a:sym typeface="Arial"/>
            </a:endParaRPr>
          </a:p>
        </p:txBody>
      </p:sp>
      <p:sp>
        <p:nvSpPr>
          <p:cNvPr id="1030" name="Google Shape;1030;p45"/>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p45"/>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E também</a:t>
            </a:r>
            <a:r>
              <a:rPr b="0" i="0" lang="en-US" sz="3200" u="none" cap="none" strike="noStrike">
                <a:solidFill>
                  <a:srgbClr val="0C2B27"/>
                </a:solidFill>
                <a:latin typeface="Inter"/>
                <a:ea typeface="Inter"/>
                <a:cs typeface="Inter"/>
                <a:sym typeface="Inter"/>
              </a:rPr>
              <a:t> 850 falsos em 850 legítimas</a:t>
            </a:r>
            <a:endParaRPr b="0" i="0" sz="1400" u="none" cap="none" strike="noStrike">
              <a:solidFill>
                <a:srgbClr val="000000"/>
              </a:solidFill>
              <a:latin typeface="Arial"/>
              <a:ea typeface="Arial"/>
              <a:cs typeface="Arial"/>
              <a:sym typeface="Arial"/>
            </a:endParaRPr>
          </a:p>
        </p:txBody>
      </p:sp>
      <p:sp>
        <p:nvSpPr>
          <p:cNvPr id="1032" name="Google Shape;1032;p45"/>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3" name="Google Shape;1033;p45"/>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Precisão</a:t>
            </a:r>
            <a:r>
              <a:rPr b="0" i="0" lang="en-US" sz="3200" u="none" cap="none" strike="noStrike">
                <a:solidFill>
                  <a:srgbClr val="0C2B27"/>
                </a:solidFill>
                <a:latin typeface="Inter"/>
                <a:ea typeface="Inter"/>
                <a:cs typeface="Inter"/>
                <a:sym typeface="Inter"/>
              </a:rPr>
              <a:t> 0,149: a tempo, e errando quase tudo</a:t>
            </a:r>
            <a:endParaRPr b="0" i="0" sz="1400" u="none" cap="none" strike="noStrike">
              <a:solidFill>
                <a:srgbClr val="000000"/>
              </a:solidFill>
              <a:latin typeface="Arial"/>
              <a:ea typeface="Arial"/>
              <a:cs typeface="Arial"/>
              <a:sym typeface="Arial"/>
            </a:endParaRPr>
          </a:p>
        </p:txBody>
      </p:sp>
      <p:sp>
        <p:nvSpPr>
          <p:cNvPr id="1034" name="Google Shape;1034;p45"/>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5" name="Google Shape;1035;p45"/>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Leitura</a:t>
            </a:r>
            <a:r>
              <a:rPr b="0" i="0" lang="en-US" sz="3200" u="none" cap="none" strike="noStrike">
                <a:solidFill>
                  <a:srgbClr val="0C2B27"/>
                </a:solidFill>
                <a:latin typeface="Inter"/>
                <a:ea typeface="Inter"/>
                <a:cs typeface="Inter"/>
                <a:sym typeface="Inter"/>
              </a:rPr>
              <a:t> a fração no prazo não substitui acurácia</a:t>
            </a:r>
            <a:endParaRPr b="0" i="0" sz="1400" u="none" cap="none" strike="noStrike">
              <a:solidFill>
                <a:srgbClr val="000000"/>
              </a:solidFill>
              <a:latin typeface="Arial"/>
              <a:ea typeface="Arial"/>
              <a:cs typeface="Arial"/>
              <a:sym typeface="Arial"/>
            </a:endParaRPr>
          </a:p>
        </p:txBody>
      </p:sp>
      <p:sp>
        <p:nvSpPr>
          <p:cNvPr id="1036" name="Google Shape;1036;p45"/>
          <p:cNvSpPr/>
          <p:nvPr/>
        </p:nvSpPr>
        <p:spPr>
          <a:xfrm>
            <a:off x="566928" y="4590288"/>
            <a:ext cx="11155680" cy="958291"/>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7" name="Google Shape;1037;p45"/>
          <p:cNvSpPr txBox="1"/>
          <p:nvPr/>
        </p:nvSpPr>
        <p:spPr>
          <a:xfrm>
            <a:off x="896112" y="4791456"/>
            <a:ext cx="10332720" cy="55595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Chegar a tempo e acertar são duas perguntas.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pic>
        <p:nvPicPr>
          <p:cNvPr descr="sbseg2026_rodape.png" id="1043" name="Google Shape;1043;p4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44" name="Google Shape;1044;p4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47</a:t>
            </a:r>
            <a:endParaRPr b="0" i="0" sz="1400" u="none" cap="none" strike="noStrike">
              <a:solidFill>
                <a:srgbClr val="000000"/>
              </a:solidFill>
              <a:latin typeface="Arial"/>
              <a:ea typeface="Arial"/>
              <a:cs typeface="Arial"/>
              <a:sym typeface="Arial"/>
            </a:endParaRPr>
          </a:p>
        </p:txBody>
      </p:sp>
      <p:sp>
        <p:nvSpPr>
          <p:cNvPr id="1045" name="Google Shape;1045;p4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46" name="Google Shape;1046;p46"/>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0,920 ou 0,137 no pix-fraud-br?</a:t>
            </a:r>
            <a:endParaRPr b="0" i="0" sz="1400" u="none" cap="none" strike="noStrike">
              <a:solidFill>
                <a:srgbClr val="000000"/>
              </a:solidFill>
              <a:latin typeface="Arial"/>
              <a:ea typeface="Arial"/>
              <a:cs typeface="Arial"/>
              <a:sym typeface="Arial"/>
            </a:endParaRPr>
          </a:p>
        </p:txBody>
      </p:sp>
      <p:sp>
        <p:nvSpPr>
          <p:cNvPr id="1047" name="Google Shape;1047;p46"/>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8" name="Google Shape;1048;p46"/>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0,920</a:t>
            </a:r>
            <a:r>
              <a:rPr b="0" i="0" lang="en-US" sz="3200" u="none" cap="none" strike="noStrike">
                <a:solidFill>
                  <a:srgbClr val="0C2B27"/>
                </a:solidFill>
                <a:latin typeface="Inter"/>
                <a:ea typeface="Inter"/>
                <a:cs typeface="Inter"/>
                <a:sym typeface="Inter"/>
              </a:rPr>
              <a:t> XGBoost, atributos próprios da fonte</a:t>
            </a:r>
            <a:endParaRPr b="0" i="0" sz="1400" u="none" cap="none" strike="noStrike">
              <a:solidFill>
                <a:srgbClr val="000000"/>
              </a:solidFill>
              <a:latin typeface="Arial"/>
              <a:ea typeface="Arial"/>
              <a:cs typeface="Arial"/>
              <a:sym typeface="Arial"/>
            </a:endParaRPr>
          </a:p>
        </p:txBody>
      </p:sp>
      <p:sp>
        <p:nvSpPr>
          <p:cNvPr id="1049" name="Google Shape;1049;p46"/>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0" name="Google Shape;1050;p46"/>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0,137</a:t>
            </a:r>
            <a:r>
              <a:rPr b="0" i="0" lang="en-US" sz="3200" u="none" cap="none" strike="noStrike">
                <a:solidFill>
                  <a:srgbClr val="0C2B27"/>
                </a:solidFill>
                <a:latin typeface="Inter"/>
                <a:ea typeface="Inter"/>
                <a:cs typeface="Inter"/>
                <a:sym typeface="Inter"/>
              </a:rPr>
              <a:t> random forest, esquema comum</a:t>
            </a:r>
            <a:endParaRPr b="0" i="0" sz="1400" u="none" cap="none" strike="noStrike">
              <a:solidFill>
                <a:srgbClr val="000000"/>
              </a:solidFill>
              <a:latin typeface="Arial"/>
              <a:ea typeface="Arial"/>
              <a:cs typeface="Arial"/>
              <a:sym typeface="Arial"/>
            </a:endParaRPr>
          </a:p>
        </p:txBody>
      </p:sp>
      <p:sp>
        <p:nvSpPr>
          <p:cNvPr id="1051" name="Google Shape;1051;p46"/>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2" name="Google Shape;1052;p46"/>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A causa</a:t>
            </a:r>
            <a:r>
              <a:rPr b="0" i="0" lang="en-US" sz="3200" u="none" cap="none" strike="noStrike">
                <a:solidFill>
                  <a:srgbClr val="0C2B27"/>
                </a:solidFill>
                <a:latin typeface="Inter"/>
                <a:ea typeface="Inter"/>
                <a:cs typeface="Inter"/>
                <a:sym typeface="Inter"/>
              </a:rPr>
              <a:t> saldo prévio: 2/3 da importância lá</a:t>
            </a:r>
            <a:endParaRPr b="0" i="0" sz="1400" u="none" cap="none" strike="noStrike">
              <a:solidFill>
                <a:srgbClr val="000000"/>
              </a:solidFill>
              <a:latin typeface="Arial"/>
              <a:ea typeface="Arial"/>
              <a:cs typeface="Arial"/>
              <a:sym typeface="Arial"/>
            </a:endParaRPr>
          </a:p>
        </p:txBody>
      </p:sp>
      <p:sp>
        <p:nvSpPr>
          <p:cNvPr id="1053" name="Google Shape;1053;p46"/>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4" name="Google Shape;1054;p46"/>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Entre fontes</a:t>
            </a:r>
            <a:r>
              <a:rPr b="0" i="0" lang="en-US" sz="3200" u="none" cap="none" strike="noStrike">
                <a:solidFill>
                  <a:srgbClr val="0C2B27"/>
                </a:solidFill>
                <a:latin typeface="Inter"/>
                <a:ea typeface="Inter"/>
                <a:cs typeface="Inter"/>
                <a:sym typeface="Inter"/>
              </a:rPr>
              <a:t> 0,743 aqui cai para 0,021 lá</a:t>
            </a:r>
            <a:endParaRPr b="0" i="0" sz="1400" u="none" cap="none" strike="noStrike">
              <a:solidFill>
                <a:srgbClr val="000000"/>
              </a:solidFill>
              <a:latin typeface="Arial"/>
              <a:ea typeface="Arial"/>
              <a:cs typeface="Arial"/>
              <a:sym typeface="Arial"/>
            </a:endParaRPr>
          </a:p>
        </p:txBody>
      </p:sp>
      <p:sp>
        <p:nvSpPr>
          <p:cNvPr id="1055" name="Google Shape;1055;p46"/>
          <p:cNvSpPr/>
          <p:nvPr/>
        </p:nvSpPr>
        <p:spPr>
          <a:xfrm>
            <a:off x="566928" y="4590288"/>
            <a:ext cx="11155680" cy="1514246"/>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6" name="Google Shape;1056;p46"/>
          <p:cNvSpPr txBox="1"/>
          <p:nvPr/>
        </p:nvSpPr>
        <p:spPr>
          <a:xfrm>
            <a:off x="896112" y="4791456"/>
            <a:ext cx="103327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Uma PR-AUC fala de detector, dado e esquema.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pic>
        <p:nvPicPr>
          <p:cNvPr descr="sbseg2026_rodape.png" id="1062" name="Google Shape;1062;p4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63" name="Google Shape;1063;p4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48</a:t>
            </a:r>
            <a:endParaRPr b="0" i="0" sz="1400" u="none" cap="none" strike="noStrike">
              <a:solidFill>
                <a:srgbClr val="000000"/>
              </a:solidFill>
              <a:latin typeface="Arial"/>
              <a:ea typeface="Arial"/>
              <a:cs typeface="Arial"/>
              <a:sym typeface="Arial"/>
            </a:endParaRPr>
          </a:p>
        </p:txBody>
      </p:sp>
      <p:sp>
        <p:nvSpPr>
          <p:cNvPr id="1064" name="Google Shape;1064;p4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65" name="Google Shape;1065;p47"/>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Sinais por cenário</a:t>
            </a:r>
            <a:endParaRPr b="0" i="0" sz="1400" u="none" cap="none" strike="noStrike">
              <a:solidFill>
                <a:srgbClr val="000000"/>
              </a:solidFill>
              <a:latin typeface="Arial"/>
              <a:ea typeface="Arial"/>
              <a:cs typeface="Arial"/>
              <a:sym typeface="Arial"/>
            </a:endParaRPr>
          </a:p>
        </p:txBody>
      </p:sp>
      <p:sp>
        <p:nvSpPr>
          <p:cNvPr id="1066" name="Google Shape;1066;p47"/>
          <p:cNvSpPr/>
          <p:nvPr/>
        </p:nvSpPr>
        <p:spPr>
          <a:xfrm>
            <a:off x="475488" y="1627632"/>
            <a:ext cx="11018520" cy="1207007"/>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7" name="Google Shape;1067;p47"/>
          <p:cNvSpPr txBox="1"/>
          <p:nvPr/>
        </p:nvSpPr>
        <p:spPr>
          <a:xfrm>
            <a:off x="585216" y="1792224"/>
            <a:ext cx="4078224" cy="9509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Cenário</a:t>
            </a:r>
            <a:endParaRPr b="0" i="0" sz="1400" u="none" cap="none" strike="noStrike">
              <a:solidFill>
                <a:srgbClr val="000000"/>
              </a:solidFill>
              <a:latin typeface="Arial"/>
              <a:ea typeface="Arial"/>
              <a:cs typeface="Arial"/>
              <a:sym typeface="Arial"/>
            </a:endParaRPr>
          </a:p>
        </p:txBody>
      </p:sp>
      <p:sp>
        <p:nvSpPr>
          <p:cNvPr id="1068" name="Google Shape;1068;p47"/>
          <p:cNvSpPr txBox="1"/>
          <p:nvPr/>
        </p:nvSpPr>
        <p:spPr>
          <a:xfrm>
            <a:off x="4882896" y="1792224"/>
            <a:ext cx="2029967" cy="9509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Aparelho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trocado</a:t>
            </a:r>
            <a:endParaRPr b="0" i="0" sz="1400" u="none" cap="none" strike="noStrike">
              <a:solidFill>
                <a:srgbClr val="000000"/>
              </a:solidFill>
              <a:latin typeface="Arial"/>
              <a:ea typeface="Arial"/>
              <a:cs typeface="Arial"/>
              <a:sym typeface="Arial"/>
            </a:endParaRPr>
          </a:p>
        </p:txBody>
      </p:sp>
      <p:sp>
        <p:nvSpPr>
          <p:cNvPr id="1069" name="Google Shape;1069;p47"/>
          <p:cNvSpPr txBox="1"/>
          <p:nvPr/>
        </p:nvSpPr>
        <p:spPr>
          <a:xfrm>
            <a:off x="7132320" y="1792224"/>
            <a:ext cx="2414015" cy="9509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Recebedor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novo</a:t>
            </a:r>
            <a:endParaRPr b="0" i="0" sz="1400" u="none" cap="none" strike="noStrike">
              <a:solidFill>
                <a:srgbClr val="000000"/>
              </a:solidFill>
              <a:latin typeface="Arial"/>
              <a:ea typeface="Arial"/>
              <a:cs typeface="Arial"/>
              <a:sym typeface="Arial"/>
            </a:endParaRPr>
          </a:p>
        </p:txBody>
      </p:sp>
      <p:sp>
        <p:nvSpPr>
          <p:cNvPr id="1070" name="Google Shape;1070;p47"/>
          <p:cNvSpPr txBox="1"/>
          <p:nvPr/>
        </p:nvSpPr>
        <p:spPr>
          <a:xfrm>
            <a:off x="9765792" y="1792224"/>
            <a:ext cx="1618487" cy="9509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Sessão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remota</a:t>
            </a:r>
            <a:endParaRPr b="0" i="0" sz="1400" u="none" cap="none" strike="noStrike">
              <a:solidFill>
                <a:srgbClr val="000000"/>
              </a:solidFill>
              <a:latin typeface="Arial"/>
              <a:ea typeface="Arial"/>
              <a:cs typeface="Arial"/>
              <a:sym typeface="Arial"/>
            </a:endParaRPr>
          </a:p>
        </p:txBody>
      </p:sp>
      <p:sp>
        <p:nvSpPr>
          <p:cNvPr id="1071" name="Google Shape;1071;p47"/>
          <p:cNvSpPr txBox="1"/>
          <p:nvPr/>
        </p:nvSpPr>
        <p:spPr>
          <a:xfrm>
            <a:off x="585216" y="2880360"/>
            <a:ext cx="4078224" cy="42062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Legítimo</a:t>
            </a:r>
            <a:endParaRPr b="0" i="0" sz="1400" u="none" cap="none" strike="noStrike">
              <a:solidFill>
                <a:srgbClr val="000000"/>
              </a:solidFill>
              <a:latin typeface="Arial"/>
              <a:ea typeface="Arial"/>
              <a:cs typeface="Arial"/>
              <a:sym typeface="Arial"/>
            </a:endParaRPr>
          </a:p>
        </p:txBody>
      </p:sp>
      <p:sp>
        <p:nvSpPr>
          <p:cNvPr id="1072" name="Google Shape;1072;p47"/>
          <p:cNvSpPr txBox="1"/>
          <p:nvPr/>
        </p:nvSpPr>
        <p:spPr>
          <a:xfrm>
            <a:off x="4882896" y="2880360"/>
            <a:ext cx="202996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0,06</a:t>
            </a:r>
            <a:endParaRPr b="0" i="0" sz="1400" u="none" cap="none" strike="noStrike">
              <a:solidFill>
                <a:srgbClr val="000000"/>
              </a:solidFill>
              <a:latin typeface="Arial"/>
              <a:ea typeface="Arial"/>
              <a:cs typeface="Arial"/>
              <a:sym typeface="Arial"/>
            </a:endParaRPr>
          </a:p>
        </p:txBody>
      </p:sp>
      <p:sp>
        <p:nvSpPr>
          <p:cNvPr id="1073" name="Google Shape;1073;p47"/>
          <p:cNvSpPr txBox="1"/>
          <p:nvPr/>
        </p:nvSpPr>
        <p:spPr>
          <a:xfrm>
            <a:off x="7132320" y="2880360"/>
            <a:ext cx="2414015"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0,03</a:t>
            </a:r>
            <a:endParaRPr b="0" i="0" sz="1400" u="none" cap="none" strike="noStrike">
              <a:solidFill>
                <a:srgbClr val="000000"/>
              </a:solidFill>
              <a:latin typeface="Arial"/>
              <a:ea typeface="Arial"/>
              <a:cs typeface="Arial"/>
              <a:sym typeface="Arial"/>
            </a:endParaRPr>
          </a:p>
        </p:txBody>
      </p:sp>
      <p:sp>
        <p:nvSpPr>
          <p:cNvPr id="1074" name="Google Shape;1074;p47"/>
          <p:cNvSpPr txBox="1"/>
          <p:nvPr/>
        </p:nvSpPr>
        <p:spPr>
          <a:xfrm>
            <a:off x="9765792" y="2880360"/>
            <a:ext cx="161848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0,00</a:t>
            </a:r>
            <a:endParaRPr b="0" i="0" sz="1400" u="none" cap="none" strike="noStrike">
              <a:solidFill>
                <a:srgbClr val="000000"/>
              </a:solidFill>
              <a:latin typeface="Arial"/>
              <a:ea typeface="Arial"/>
              <a:cs typeface="Arial"/>
              <a:sym typeface="Arial"/>
            </a:endParaRPr>
          </a:p>
        </p:txBody>
      </p:sp>
      <p:sp>
        <p:nvSpPr>
          <p:cNvPr id="1075" name="Google Shape;1075;p47"/>
          <p:cNvSpPr/>
          <p:nvPr/>
        </p:nvSpPr>
        <p:spPr>
          <a:xfrm>
            <a:off x="475488" y="3341217"/>
            <a:ext cx="1101852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6" name="Google Shape;1076;p47"/>
          <p:cNvSpPr txBox="1"/>
          <p:nvPr/>
        </p:nvSpPr>
        <p:spPr>
          <a:xfrm>
            <a:off x="585216" y="3429000"/>
            <a:ext cx="4078224" cy="42062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Tomada de conta</a:t>
            </a:r>
            <a:endParaRPr b="0" i="0" sz="1400" u="none" cap="none" strike="noStrike">
              <a:solidFill>
                <a:srgbClr val="000000"/>
              </a:solidFill>
              <a:latin typeface="Arial"/>
              <a:ea typeface="Arial"/>
              <a:cs typeface="Arial"/>
              <a:sym typeface="Arial"/>
            </a:endParaRPr>
          </a:p>
        </p:txBody>
      </p:sp>
      <p:sp>
        <p:nvSpPr>
          <p:cNvPr id="1077" name="Google Shape;1077;p47"/>
          <p:cNvSpPr txBox="1"/>
          <p:nvPr/>
        </p:nvSpPr>
        <p:spPr>
          <a:xfrm>
            <a:off x="4882896" y="3429000"/>
            <a:ext cx="202996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0,61</a:t>
            </a:r>
            <a:endParaRPr b="0" i="0" sz="1400" u="none" cap="none" strike="noStrike">
              <a:solidFill>
                <a:srgbClr val="000000"/>
              </a:solidFill>
              <a:latin typeface="Arial"/>
              <a:ea typeface="Arial"/>
              <a:cs typeface="Arial"/>
              <a:sym typeface="Arial"/>
            </a:endParaRPr>
          </a:p>
        </p:txBody>
      </p:sp>
      <p:sp>
        <p:nvSpPr>
          <p:cNvPr id="1078" name="Google Shape;1078;p47"/>
          <p:cNvSpPr txBox="1"/>
          <p:nvPr/>
        </p:nvSpPr>
        <p:spPr>
          <a:xfrm>
            <a:off x="7132320" y="3429000"/>
            <a:ext cx="2414015"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1,00</a:t>
            </a:r>
            <a:endParaRPr b="0" i="0" sz="1400" u="none" cap="none" strike="noStrike">
              <a:solidFill>
                <a:srgbClr val="000000"/>
              </a:solidFill>
              <a:latin typeface="Arial"/>
              <a:ea typeface="Arial"/>
              <a:cs typeface="Arial"/>
              <a:sym typeface="Arial"/>
            </a:endParaRPr>
          </a:p>
        </p:txBody>
      </p:sp>
      <p:sp>
        <p:nvSpPr>
          <p:cNvPr id="1079" name="Google Shape;1079;p47"/>
          <p:cNvSpPr txBox="1"/>
          <p:nvPr/>
        </p:nvSpPr>
        <p:spPr>
          <a:xfrm>
            <a:off x="9765792" y="3429000"/>
            <a:ext cx="161848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1,00</a:t>
            </a:r>
            <a:endParaRPr b="0" i="0" sz="1400" u="none" cap="none" strike="noStrike">
              <a:solidFill>
                <a:srgbClr val="000000"/>
              </a:solidFill>
              <a:latin typeface="Arial"/>
              <a:ea typeface="Arial"/>
              <a:cs typeface="Arial"/>
              <a:sym typeface="Arial"/>
            </a:endParaRPr>
          </a:p>
        </p:txBody>
      </p:sp>
      <p:sp>
        <p:nvSpPr>
          <p:cNvPr id="1080" name="Google Shape;1080;p47"/>
          <p:cNvSpPr/>
          <p:nvPr/>
        </p:nvSpPr>
        <p:spPr>
          <a:xfrm>
            <a:off x="475488" y="3889857"/>
            <a:ext cx="1101852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1" name="Google Shape;1081;p47"/>
          <p:cNvSpPr txBox="1"/>
          <p:nvPr/>
        </p:nvSpPr>
        <p:spPr>
          <a:xfrm>
            <a:off x="585216" y="3977639"/>
            <a:ext cx="4078224" cy="42062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Cadeia de laranjas</a:t>
            </a:r>
            <a:endParaRPr b="0" i="0" sz="1400" u="none" cap="none" strike="noStrike">
              <a:solidFill>
                <a:srgbClr val="000000"/>
              </a:solidFill>
              <a:latin typeface="Arial"/>
              <a:ea typeface="Arial"/>
              <a:cs typeface="Arial"/>
              <a:sym typeface="Arial"/>
            </a:endParaRPr>
          </a:p>
        </p:txBody>
      </p:sp>
      <p:sp>
        <p:nvSpPr>
          <p:cNvPr id="1082" name="Google Shape;1082;p47"/>
          <p:cNvSpPr txBox="1"/>
          <p:nvPr/>
        </p:nvSpPr>
        <p:spPr>
          <a:xfrm>
            <a:off x="4882896" y="3977639"/>
            <a:ext cx="202996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0,26</a:t>
            </a:r>
            <a:endParaRPr b="0" i="0" sz="1400" u="none" cap="none" strike="noStrike">
              <a:solidFill>
                <a:srgbClr val="000000"/>
              </a:solidFill>
              <a:latin typeface="Arial"/>
              <a:ea typeface="Arial"/>
              <a:cs typeface="Arial"/>
              <a:sym typeface="Arial"/>
            </a:endParaRPr>
          </a:p>
        </p:txBody>
      </p:sp>
      <p:sp>
        <p:nvSpPr>
          <p:cNvPr id="1083" name="Google Shape;1083;p47"/>
          <p:cNvSpPr txBox="1"/>
          <p:nvPr/>
        </p:nvSpPr>
        <p:spPr>
          <a:xfrm>
            <a:off x="7132320" y="3977639"/>
            <a:ext cx="2414015"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0,62</a:t>
            </a:r>
            <a:endParaRPr b="0" i="0" sz="1400" u="none" cap="none" strike="noStrike">
              <a:solidFill>
                <a:srgbClr val="000000"/>
              </a:solidFill>
              <a:latin typeface="Arial"/>
              <a:ea typeface="Arial"/>
              <a:cs typeface="Arial"/>
              <a:sym typeface="Arial"/>
            </a:endParaRPr>
          </a:p>
        </p:txBody>
      </p:sp>
      <p:sp>
        <p:nvSpPr>
          <p:cNvPr id="1084" name="Google Shape;1084;p47"/>
          <p:cNvSpPr txBox="1"/>
          <p:nvPr/>
        </p:nvSpPr>
        <p:spPr>
          <a:xfrm>
            <a:off x="9765792" y="3977639"/>
            <a:ext cx="161848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0,34</a:t>
            </a:r>
            <a:endParaRPr b="0" i="0" sz="1400" u="none" cap="none" strike="noStrike">
              <a:solidFill>
                <a:srgbClr val="000000"/>
              </a:solidFill>
              <a:latin typeface="Arial"/>
              <a:ea typeface="Arial"/>
              <a:cs typeface="Arial"/>
              <a:sym typeface="Arial"/>
            </a:endParaRPr>
          </a:p>
        </p:txBody>
      </p:sp>
      <p:sp>
        <p:nvSpPr>
          <p:cNvPr id="1085" name="Google Shape;1085;p47"/>
          <p:cNvSpPr/>
          <p:nvPr/>
        </p:nvSpPr>
        <p:spPr>
          <a:xfrm>
            <a:off x="475488" y="4438497"/>
            <a:ext cx="1101852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6" name="Google Shape;1086;p47"/>
          <p:cNvSpPr txBox="1"/>
          <p:nvPr/>
        </p:nvSpPr>
        <p:spPr>
          <a:xfrm>
            <a:off x="585216" y="4526279"/>
            <a:ext cx="4078224" cy="42062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Devolução MED</a:t>
            </a:r>
            <a:endParaRPr b="0" i="0" sz="1400" u="none" cap="none" strike="noStrike">
              <a:solidFill>
                <a:srgbClr val="000000"/>
              </a:solidFill>
              <a:latin typeface="Arial"/>
              <a:ea typeface="Arial"/>
              <a:cs typeface="Arial"/>
              <a:sym typeface="Arial"/>
            </a:endParaRPr>
          </a:p>
        </p:txBody>
      </p:sp>
      <p:sp>
        <p:nvSpPr>
          <p:cNvPr id="1087" name="Google Shape;1087;p47"/>
          <p:cNvSpPr txBox="1"/>
          <p:nvPr/>
        </p:nvSpPr>
        <p:spPr>
          <a:xfrm>
            <a:off x="4882896" y="4526279"/>
            <a:ext cx="202996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0,37</a:t>
            </a:r>
            <a:endParaRPr b="0" i="0" sz="1400" u="none" cap="none" strike="noStrike">
              <a:solidFill>
                <a:srgbClr val="000000"/>
              </a:solidFill>
              <a:latin typeface="Arial"/>
              <a:ea typeface="Arial"/>
              <a:cs typeface="Arial"/>
              <a:sym typeface="Arial"/>
            </a:endParaRPr>
          </a:p>
        </p:txBody>
      </p:sp>
      <p:sp>
        <p:nvSpPr>
          <p:cNvPr id="1088" name="Google Shape;1088;p47"/>
          <p:cNvSpPr txBox="1"/>
          <p:nvPr/>
        </p:nvSpPr>
        <p:spPr>
          <a:xfrm>
            <a:off x="7132320" y="4526279"/>
            <a:ext cx="2414015"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0,53</a:t>
            </a:r>
            <a:endParaRPr b="0" i="0" sz="1400" u="none" cap="none" strike="noStrike">
              <a:solidFill>
                <a:srgbClr val="000000"/>
              </a:solidFill>
              <a:latin typeface="Arial"/>
              <a:ea typeface="Arial"/>
              <a:cs typeface="Arial"/>
              <a:sym typeface="Arial"/>
            </a:endParaRPr>
          </a:p>
        </p:txBody>
      </p:sp>
      <p:sp>
        <p:nvSpPr>
          <p:cNvPr id="1089" name="Google Shape;1089;p47"/>
          <p:cNvSpPr txBox="1"/>
          <p:nvPr/>
        </p:nvSpPr>
        <p:spPr>
          <a:xfrm>
            <a:off x="9765792" y="4526279"/>
            <a:ext cx="161848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0,00</a:t>
            </a:r>
            <a:endParaRPr b="0" i="0" sz="1400" u="none" cap="none" strike="noStrike">
              <a:solidFill>
                <a:srgbClr val="000000"/>
              </a:solidFill>
              <a:latin typeface="Arial"/>
              <a:ea typeface="Arial"/>
              <a:cs typeface="Arial"/>
              <a:sym typeface="Arial"/>
            </a:endParaRPr>
          </a:p>
        </p:txBody>
      </p:sp>
      <p:sp>
        <p:nvSpPr>
          <p:cNvPr id="1090" name="Google Shape;1090;p47"/>
          <p:cNvSpPr/>
          <p:nvPr/>
        </p:nvSpPr>
        <p:spPr>
          <a:xfrm>
            <a:off x="475488" y="4987137"/>
            <a:ext cx="1101852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1" name="Google Shape;1091;p47"/>
          <p:cNvSpPr txBox="1"/>
          <p:nvPr/>
        </p:nvSpPr>
        <p:spPr>
          <a:xfrm>
            <a:off x="585216" y="5074919"/>
            <a:ext cx="4078224" cy="42062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Coação</a:t>
            </a:r>
            <a:endParaRPr b="0" i="0" sz="1400" u="none" cap="none" strike="noStrike">
              <a:solidFill>
                <a:srgbClr val="000000"/>
              </a:solidFill>
              <a:latin typeface="Arial"/>
              <a:ea typeface="Arial"/>
              <a:cs typeface="Arial"/>
              <a:sym typeface="Arial"/>
            </a:endParaRPr>
          </a:p>
        </p:txBody>
      </p:sp>
      <p:sp>
        <p:nvSpPr>
          <p:cNvPr id="1092" name="Google Shape;1092;p47"/>
          <p:cNvSpPr txBox="1"/>
          <p:nvPr/>
        </p:nvSpPr>
        <p:spPr>
          <a:xfrm>
            <a:off x="4882896" y="5074919"/>
            <a:ext cx="202996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0,00</a:t>
            </a:r>
            <a:endParaRPr b="0" i="0" sz="1400" u="none" cap="none" strike="noStrike">
              <a:solidFill>
                <a:srgbClr val="000000"/>
              </a:solidFill>
              <a:latin typeface="Arial"/>
              <a:ea typeface="Arial"/>
              <a:cs typeface="Arial"/>
              <a:sym typeface="Arial"/>
            </a:endParaRPr>
          </a:p>
        </p:txBody>
      </p:sp>
      <p:sp>
        <p:nvSpPr>
          <p:cNvPr id="1093" name="Google Shape;1093;p47"/>
          <p:cNvSpPr txBox="1"/>
          <p:nvPr/>
        </p:nvSpPr>
        <p:spPr>
          <a:xfrm>
            <a:off x="7132320" y="5074919"/>
            <a:ext cx="2414015"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1,00</a:t>
            </a:r>
            <a:endParaRPr b="0" i="0" sz="1400" u="none" cap="none" strike="noStrike">
              <a:solidFill>
                <a:srgbClr val="000000"/>
              </a:solidFill>
              <a:latin typeface="Arial"/>
              <a:ea typeface="Arial"/>
              <a:cs typeface="Arial"/>
              <a:sym typeface="Arial"/>
            </a:endParaRPr>
          </a:p>
        </p:txBody>
      </p:sp>
      <p:sp>
        <p:nvSpPr>
          <p:cNvPr id="1094" name="Google Shape;1094;p47"/>
          <p:cNvSpPr txBox="1"/>
          <p:nvPr/>
        </p:nvSpPr>
        <p:spPr>
          <a:xfrm>
            <a:off x="9765792" y="5074919"/>
            <a:ext cx="1618487" cy="42062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0,00</a:t>
            </a:r>
            <a:endParaRPr b="0" i="0" sz="1400" u="none" cap="none" strike="noStrike">
              <a:solidFill>
                <a:srgbClr val="000000"/>
              </a:solidFill>
              <a:latin typeface="Arial"/>
              <a:ea typeface="Arial"/>
              <a:cs typeface="Arial"/>
              <a:sym typeface="Arial"/>
            </a:endParaRPr>
          </a:p>
        </p:txBody>
      </p:sp>
      <p:sp>
        <p:nvSpPr>
          <p:cNvPr id="1095" name="Google Shape;1095;p47"/>
          <p:cNvSpPr/>
          <p:nvPr/>
        </p:nvSpPr>
        <p:spPr>
          <a:xfrm>
            <a:off x="4767681" y="2798064"/>
            <a:ext cx="10972" cy="2743199"/>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6" name="Google Shape;1096;p47"/>
          <p:cNvSpPr/>
          <p:nvPr/>
        </p:nvSpPr>
        <p:spPr>
          <a:xfrm>
            <a:off x="7017105" y="2798064"/>
            <a:ext cx="10972" cy="2743199"/>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7" name="Google Shape;1097;p47"/>
          <p:cNvSpPr/>
          <p:nvPr/>
        </p:nvSpPr>
        <p:spPr>
          <a:xfrm>
            <a:off x="9650577" y="2798064"/>
            <a:ext cx="10972" cy="2743199"/>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8" name="Google Shape;1098;p47"/>
          <p:cNvSpPr txBox="1"/>
          <p:nvPr/>
        </p:nvSpPr>
        <p:spPr>
          <a:xfrm>
            <a:off x="530352" y="5614416"/>
            <a:ext cx="1115568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Fração dos eventos com o sinal. O detector tabular não vê a sessão remota.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pic>
        <p:nvPicPr>
          <p:cNvPr descr="sbseg2026_rodape.png" id="1104" name="Google Shape;1104;p4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05" name="Google Shape;1105;p4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49</a:t>
            </a:r>
            <a:endParaRPr b="0" i="0" sz="1400" u="none" cap="none" strike="noStrike">
              <a:solidFill>
                <a:srgbClr val="000000"/>
              </a:solidFill>
              <a:latin typeface="Arial"/>
              <a:ea typeface="Arial"/>
              <a:cs typeface="Arial"/>
              <a:sym typeface="Arial"/>
            </a:endParaRPr>
          </a:p>
        </p:txBody>
      </p:sp>
      <p:sp>
        <p:nvSpPr>
          <p:cNvPr id="1106" name="Google Shape;1106;p4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107" name="Google Shape;1107;p48"/>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As quinze colunas do evento</a:t>
            </a:r>
            <a:endParaRPr b="0" i="0" sz="1400" u="none" cap="none" strike="noStrike">
              <a:solidFill>
                <a:srgbClr val="000000"/>
              </a:solidFill>
              <a:latin typeface="Arial"/>
              <a:ea typeface="Arial"/>
              <a:cs typeface="Arial"/>
              <a:sym typeface="Arial"/>
            </a:endParaRPr>
          </a:p>
        </p:txBody>
      </p:sp>
      <p:sp>
        <p:nvSpPr>
          <p:cNvPr id="1108" name="Google Shape;1108;p48"/>
          <p:cNvSpPr/>
          <p:nvPr/>
        </p:nvSpPr>
        <p:spPr>
          <a:xfrm>
            <a:off x="475488" y="1664207"/>
            <a:ext cx="10853928" cy="713232"/>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9" name="Google Shape;1109;p48"/>
          <p:cNvSpPr txBox="1"/>
          <p:nvPr/>
        </p:nvSpPr>
        <p:spPr>
          <a:xfrm>
            <a:off x="585216" y="1828800"/>
            <a:ext cx="473659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Grupo</a:t>
            </a:r>
            <a:endParaRPr b="0" i="0" sz="1400" u="none" cap="none" strike="noStrike">
              <a:solidFill>
                <a:srgbClr val="000000"/>
              </a:solidFill>
              <a:latin typeface="Arial"/>
              <a:ea typeface="Arial"/>
              <a:cs typeface="Arial"/>
              <a:sym typeface="Arial"/>
            </a:endParaRPr>
          </a:p>
        </p:txBody>
      </p:sp>
      <p:sp>
        <p:nvSpPr>
          <p:cNvPr id="1110" name="Google Shape;1110;p48"/>
          <p:cNvSpPr txBox="1"/>
          <p:nvPr/>
        </p:nvSpPr>
        <p:spPr>
          <a:xfrm>
            <a:off x="5541264" y="1828800"/>
            <a:ext cx="1837943"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Campos</a:t>
            </a:r>
            <a:endParaRPr b="0" i="0" sz="1400" u="none" cap="none" strike="noStrike">
              <a:solidFill>
                <a:srgbClr val="000000"/>
              </a:solidFill>
              <a:latin typeface="Arial"/>
              <a:ea typeface="Arial"/>
              <a:cs typeface="Arial"/>
              <a:sym typeface="Arial"/>
            </a:endParaRPr>
          </a:p>
        </p:txBody>
      </p:sp>
      <p:sp>
        <p:nvSpPr>
          <p:cNvPr id="1111" name="Google Shape;1111;p48"/>
          <p:cNvSpPr txBox="1"/>
          <p:nvPr/>
        </p:nvSpPr>
        <p:spPr>
          <a:xfrm>
            <a:off x="7598663" y="1828800"/>
            <a:ext cx="362102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De fonte externa</a:t>
            </a:r>
            <a:endParaRPr b="0" i="0" sz="1400" u="none" cap="none" strike="noStrike">
              <a:solidFill>
                <a:srgbClr val="000000"/>
              </a:solidFill>
              <a:latin typeface="Arial"/>
              <a:ea typeface="Arial"/>
              <a:cs typeface="Arial"/>
              <a:sym typeface="Arial"/>
            </a:endParaRPr>
          </a:p>
        </p:txBody>
      </p:sp>
      <p:sp>
        <p:nvSpPr>
          <p:cNvPr id="1112" name="Google Shape;1112;p48"/>
          <p:cNvSpPr txBox="1"/>
          <p:nvPr/>
        </p:nvSpPr>
        <p:spPr>
          <a:xfrm>
            <a:off x="585216" y="2423160"/>
            <a:ext cx="4736592"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Identidade e rótulo</a:t>
            </a:r>
            <a:endParaRPr b="0" i="0" sz="1400" u="none" cap="none" strike="noStrike">
              <a:solidFill>
                <a:srgbClr val="000000"/>
              </a:solidFill>
              <a:latin typeface="Arial"/>
              <a:ea typeface="Arial"/>
              <a:cs typeface="Arial"/>
              <a:sym typeface="Arial"/>
            </a:endParaRPr>
          </a:p>
        </p:txBody>
      </p:sp>
      <p:sp>
        <p:nvSpPr>
          <p:cNvPr id="1113" name="Google Shape;1113;p48"/>
          <p:cNvSpPr txBox="1"/>
          <p:nvPr/>
        </p:nvSpPr>
        <p:spPr>
          <a:xfrm>
            <a:off x="5541264" y="2423160"/>
            <a:ext cx="1837943"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3</a:t>
            </a:r>
            <a:endParaRPr b="0" i="0" sz="1400" u="none" cap="none" strike="noStrike">
              <a:solidFill>
                <a:srgbClr val="000000"/>
              </a:solidFill>
              <a:latin typeface="Arial"/>
              <a:ea typeface="Arial"/>
              <a:cs typeface="Arial"/>
              <a:sym typeface="Arial"/>
            </a:endParaRPr>
          </a:p>
        </p:txBody>
      </p:sp>
      <p:sp>
        <p:nvSpPr>
          <p:cNvPr id="1114" name="Google Shape;1114;p48"/>
          <p:cNvSpPr txBox="1"/>
          <p:nvPr/>
        </p:nvSpPr>
        <p:spPr>
          <a:xfrm>
            <a:off x="7598663" y="2423160"/>
            <a:ext cx="3621024"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da fonte</a:t>
            </a:r>
            <a:endParaRPr b="0" i="0" sz="1400" u="none" cap="none" strike="noStrike">
              <a:solidFill>
                <a:srgbClr val="000000"/>
              </a:solidFill>
              <a:latin typeface="Arial"/>
              <a:ea typeface="Arial"/>
              <a:cs typeface="Arial"/>
              <a:sym typeface="Arial"/>
            </a:endParaRPr>
          </a:p>
        </p:txBody>
      </p:sp>
      <p:sp>
        <p:nvSpPr>
          <p:cNvPr id="1115" name="Google Shape;1115;p48"/>
          <p:cNvSpPr/>
          <p:nvPr/>
        </p:nvSpPr>
        <p:spPr>
          <a:xfrm>
            <a:off x="475488" y="2993745"/>
            <a:ext cx="10853928"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6" name="Google Shape;1116;p48"/>
          <p:cNvSpPr txBox="1"/>
          <p:nvPr/>
        </p:nvSpPr>
        <p:spPr>
          <a:xfrm>
            <a:off x="585216" y="3081528"/>
            <a:ext cx="4736592"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Contas</a:t>
            </a:r>
            <a:endParaRPr b="0" i="0" sz="1400" u="none" cap="none" strike="noStrike">
              <a:solidFill>
                <a:srgbClr val="000000"/>
              </a:solidFill>
              <a:latin typeface="Arial"/>
              <a:ea typeface="Arial"/>
              <a:cs typeface="Arial"/>
              <a:sym typeface="Arial"/>
            </a:endParaRPr>
          </a:p>
        </p:txBody>
      </p:sp>
      <p:sp>
        <p:nvSpPr>
          <p:cNvPr id="1117" name="Google Shape;1117;p48"/>
          <p:cNvSpPr txBox="1"/>
          <p:nvPr/>
        </p:nvSpPr>
        <p:spPr>
          <a:xfrm>
            <a:off x="5541264" y="3081528"/>
            <a:ext cx="1837943"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3</a:t>
            </a:r>
            <a:endParaRPr b="0" i="0" sz="1400" u="none" cap="none" strike="noStrike">
              <a:solidFill>
                <a:srgbClr val="000000"/>
              </a:solidFill>
              <a:latin typeface="Arial"/>
              <a:ea typeface="Arial"/>
              <a:cs typeface="Arial"/>
              <a:sym typeface="Arial"/>
            </a:endParaRPr>
          </a:p>
        </p:txBody>
      </p:sp>
      <p:sp>
        <p:nvSpPr>
          <p:cNvPr id="1118" name="Google Shape;1118;p48"/>
          <p:cNvSpPr txBox="1"/>
          <p:nvPr/>
        </p:nvSpPr>
        <p:spPr>
          <a:xfrm>
            <a:off x="7598663" y="3081528"/>
            <a:ext cx="3621024"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duas da fonte</a:t>
            </a:r>
            <a:endParaRPr b="0" i="0" sz="1400" u="none" cap="none" strike="noStrike">
              <a:solidFill>
                <a:srgbClr val="000000"/>
              </a:solidFill>
              <a:latin typeface="Arial"/>
              <a:ea typeface="Arial"/>
              <a:cs typeface="Arial"/>
              <a:sym typeface="Arial"/>
            </a:endParaRPr>
          </a:p>
        </p:txBody>
      </p:sp>
      <p:sp>
        <p:nvSpPr>
          <p:cNvPr id="1119" name="Google Shape;1119;p48"/>
          <p:cNvSpPr/>
          <p:nvPr/>
        </p:nvSpPr>
        <p:spPr>
          <a:xfrm>
            <a:off x="475488" y="3652113"/>
            <a:ext cx="10853928"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0" name="Google Shape;1120;p48"/>
          <p:cNvSpPr txBox="1"/>
          <p:nvPr/>
        </p:nvSpPr>
        <p:spPr>
          <a:xfrm>
            <a:off x="585216" y="3739896"/>
            <a:ext cx="4736592"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Linha do tempo</a:t>
            </a:r>
            <a:endParaRPr b="0" i="0" sz="1400" u="none" cap="none" strike="noStrike">
              <a:solidFill>
                <a:srgbClr val="000000"/>
              </a:solidFill>
              <a:latin typeface="Arial"/>
              <a:ea typeface="Arial"/>
              <a:cs typeface="Arial"/>
              <a:sym typeface="Arial"/>
            </a:endParaRPr>
          </a:p>
        </p:txBody>
      </p:sp>
      <p:sp>
        <p:nvSpPr>
          <p:cNvPr id="1121" name="Google Shape;1121;p48"/>
          <p:cNvSpPr txBox="1"/>
          <p:nvPr/>
        </p:nvSpPr>
        <p:spPr>
          <a:xfrm>
            <a:off x="5541264" y="3739896"/>
            <a:ext cx="1837943"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3</a:t>
            </a:r>
            <a:endParaRPr b="0" i="0" sz="1400" u="none" cap="none" strike="noStrike">
              <a:solidFill>
                <a:srgbClr val="000000"/>
              </a:solidFill>
              <a:latin typeface="Arial"/>
              <a:ea typeface="Arial"/>
              <a:cs typeface="Arial"/>
              <a:sym typeface="Arial"/>
            </a:endParaRPr>
          </a:p>
        </p:txBody>
      </p:sp>
      <p:sp>
        <p:nvSpPr>
          <p:cNvPr id="1122" name="Google Shape;1122;p48"/>
          <p:cNvSpPr txBox="1"/>
          <p:nvPr/>
        </p:nvSpPr>
        <p:spPr>
          <a:xfrm>
            <a:off x="7598663" y="3739896"/>
            <a:ext cx="3621024"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início da fonte</a:t>
            </a:r>
            <a:endParaRPr b="0" i="0" sz="1400" u="none" cap="none" strike="noStrike">
              <a:solidFill>
                <a:srgbClr val="000000"/>
              </a:solidFill>
              <a:latin typeface="Arial"/>
              <a:ea typeface="Arial"/>
              <a:cs typeface="Arial"/>
              <a:sym typeface="Arial"/>
            </a:endParaRPr>
          </a:p>
        </p:txBody>
      </p:sp>
      <p:sp>
        <p:nvSpPr>
          <p:cNvPr id="1123" name="Google Shape;1123;p48"/>
          <p:cNvSpPr/>
          <p:nvPr/>
        </p:nvSpPr>
        <p:spPr>
          <a:xfrm>
            <a:off x="475488" y="4310481"/>
            <a:ext cx="10853928"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4" name="Google Shape;1124;p48"/>
          <p:cNvSpPr txBox="1"/>
          <p:nvPr/>
        </p:nvSpPr>
        <p:spPr>
          <a:xfrm>
            <a:off x="585216" y="4398264"/>
            <a:ext cx="4736592"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Atributos do detector</a:t>
            </a:r>
            <a:endParaRPr b="0" i="0" sz="1400" u="none" cap="none" strike="noStrike">
              <a:solidFill>
                <a:srgbClr val="000000"/>
              </a:solidFill>
              <a:latin typeface="Arial"/>
              <a:ea typeface="Arial"/>
              <a:cs typeface="Arial"/>
              <a:sym typeface="Arial"/>
            </a:endParaRPr>
          </a:p>
        </p:txBody>
      </p:sp>
      <p:sp>
        <p:nvSpPr>
          <p:cNvPr id="1125" name="Google Shape;1125;p48"/>
          <p:cNvSpPr txBox="1"/>
          <p:nvPr/>
        </p:nvSpPr>
        <p:spPr>
          <a:xfrm>
            <a:off x="5541264" y="4398264"/>
            <a:ext cx="1837943"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4</a:t>
            </a:r>
            <a:endParaRPr b="0" i="0" sz="1400" u="none" cap="none" strike="noStrike">
              <a:solidFill>
                <a:srgbClr val="000000"/>
              </a:solidFill>
              <a:latin typeface="Arial"/>
              <a:ea typeface="Arial"/>
              <a:cs typeface="Arial"/>
              <a:sym typeface="Arial"/>
            </a:endParaRPr>
          </a:p>
        </p:txBody>
      </p:sp>
      <p:sp>
        <p:nvSpPr>
          <p:cNvPr id="1126" name="Google Shape;1126;p48"/>
          <p:cNvSpPr txBox="1"/>
          <p:nvPr/>
        </p:nvSpPr>
        <p:spPr>
          <a:xfrm>
            <a:off x="7598663" y="4398264"/>
            <a:ext cx="3621024"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só o valor</a:t>
            </a:r>
            <a:endParaRPr b="0" i="0" sz="1400" u="none" cap="none" strike="noStrike">
              <a:solidFill>
                <a:srgbClr val="000000"/>
              </a:solidFill>
              <a:latin typeface="Arial"/>
              <a:ea typeface="Arial"/>
              <a:cs typeface="Arial"/>
              <a:sym typeface="Arial"/>
            </a:endParaRPr>
          </a:p>
        </p:txBody>
      </p:sp>
      <p:sp>
        <p:nvSpPr>
          <p:cNvPr id="1127" name="Google Shape;1127;p48"/>
          <p:cNvSpPr/>
          <p:nvPr/>
        </p:nvSpPr>
        <p:spPr>
          <a:xfrm>
            <a:off x="475488" y="4968849"/>
            <a:ext cx="10853928"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8" name="Google Shape;1128;p48"/>
          <p:cNvSpPr txBox="1"/>
          <p:nvPr/>
        </p:nvSpPr>
        <p:spPr>
          <a:xfrm>
            <a:off x="585216" y="5056631"/>
            <a:ext cx="4736592"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Sinais nativos do Pix</a:t>
            </a:r>
            <a:endParaRPr b="0" i="0" sz="1400" u="none" cap="none" strike="noStrike">
              <a:solidFill>
                <a:srgbClr val="000000"/>
              </a:solidFill>
              <a:latin typeface="Arial"/>
              <a:ea typeface="Arial"/>
              <a:cs typeface="Arial"/>
              <a:sym typeface="Arial"/>
            </a:endParaRPr>
          </a:p>
        </p:txBody>
      </p:sp>
      <p:sp>
        <p:nvSpPr>
          <p:cNvPr id="1129" name="Google Shape;1129;p48"/>
          <p:cNvSpPr txBox="1"/>
          <p:nvPr/>
        </p:nvSpPr>
        <p:spPr>
          <a:xfrm>
            <a:off x="5541264" y="5056631"/>
            <a:ext cx="1837943"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2</a:t>
            </a:r>
            <a:endParaRPr b="0" i="0" sz="1400" u="none" cap="none" strike="noStrike">
              <a:solidFill>
                <a:srgbClr val="000000"/>
              </a:solidFill>
              <a:latin typeface="Arial"/>
              <a:ea typeface="Arial"/>
              <a:cs typeface="Arial"/>
              <a:sym typeface="Arial"/>
            </a:endParaRPr>
          </a:p>
        </p:txBody>
      </p:sp>
      <p:sp>
        <p:nvSpPr>
          <p:cNvPr id="1130" name="Google Shape;1130;p48"/>
          <p:cNvSpPr txBox="1"/>
          <p:nvPr/>
        </p:nvSpPr>
        <p:spPr>
          <a:xfrm>
            <a:off x="7598663" y="5056631"/>
            <a:ext cx="3621024"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sempre zero</a:t>
            </a:r>
            <a:endParaRPr b="0" i="0" sz="1400" u="none" cap="none" strike="noStrike">
              <a:solidFill>
                <a:srgbClr val="000000"/>
              </a:solidFill>
              <a:latin typeface="Arial"/>
              <a:ea typeface="Arial"/>
              <a:cs typeface="Arial"/>
              <a:sym typeface="Arial"/>
            </a:endParaRPr>
          </a:p>
        </p:txBody>
      </p:sp>
      <p:sp>
        <p:nvSpPr>
          <p:cNvPr id="1131" name="Google Shape;1131;p48"/>
          <p:cNvSpPr/>
          <p:nvPr/>
        </p:nvSpPr>
        <p:spPr>
          <a:xfrm>
            <a:off x="5426049" y="2340864"/>
            <a:ext cx="10972" cy="3291839"/>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2" name="Google Shape;1132;p48"/>
          <p:cNvSpPr/>
          <p:nvPr/>
        </p:nvSpPr>
        <p:spPr>
          <a:xfrm>
            <a:off x="7483449" y="2340864"/>
            <a:ext cx="10972" cy="3291839"/>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3" name="Google Shape;1133;p48"/>
          <p:cNvSpPr txBox="1"/>
          <p:nvPr/>
        </p:nvSpPr>
        <p:spPr>
          <a:xfrm>
            <a:off x="530352" y="5577840"/>
            <a:ext cx="1115568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Das quatro colunas do detector, só o valor sobrevive ao mapeamento.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pic>
        <p:nvPicPr>
          <p:cNvPr descr="sbseg2026_rodape.png" id="1139" name="Google Shape;1139;p4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40" name="Google Shape;1140;p4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50</a:t>
            </a:r>
            <a:endParaRPr b="0" i="0" sz="1400" u="none" cap="none" strike="noStrike">
              <a:solidFill>
                <a:srgbClr val="000000"/>
              </a:solidFill>
              <a:latin typeface="Arial"/>
              <a:ea typeface="Arial"/>
              <a:cs typeface="Arial"/>
              <a:sym typeface="Arial"/>
            </a:endParaRPr>
          </a:p>
        </p:txBody>
      </p:sp>
      <p:sp>
        <p:nvSpPr>
          <p:cNvPr id="1141" name="Google Shape;1141;p4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142" name="Google Shape;1142;p49"/>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Coação foi feita indetectável?</a:t>
            </a:r>
            <a:endParaRPr b="0" i="0" sz="1400" u="none" cap="none" strike="noStrike">
              <a:solidFill>
                <a:srgbClr val="000000"/>
              </a:solidFill>
              <a:latin typeface="Arial"/>
              <a:ea typeface="Arial"/>
              <a:cs typeface="Arial"/>
              <a:sym typeface="Arial"/>
            </a:endParaRPr>
          </a:p>
        </p:txBody>
      </p:sp>
      <p:sp>
        <p:nvSpPr>
          <p:cNvPr id="1143" name="Google Shape;1143;p49"/>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4" name="Google Shape;1144;p49"/>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Não</a:t>
            </a:r>
            <a:r>
              <a:rPr b="0" i="0" lang="en-US" sz="3200" u="none" cap="none" strike="noStrike">
                <a:solidFill>
                  <a:srgbClr val="0C2B27"/>
                </a:solidFill>
                <a:latin typeface="Inter"/>
                <a:ea typeface="Inter"/>
                <a:cs typeface="Inter"/>
                <a:sym typeface="Inter"/>
              </a:rPr>
              <a:t> o valor sobe e o recebedor é novo: 1,00</a:t>
            </a:r>
            <a:endParaRPr b="0" i="0" sz="1400" u="none" cap="none" strike="noStrike">
              <a:solidFill>
                <a:srgbClr val="000000"/>
              </a:solidFill>
              <a:latin typeface="Arial"/>
              <a:ea typeface="Arial"/>
              <a:cs typeface="Arial"/>
              <a:sym typeface="Arial"/>
            </a:endParaRPr>
          </a:p>
        </p:txBody>
      </p:sp>
      <p:sp>
        <p:nvSpPr>
          <p:cNvPr id="1145" name="Google Shape;1145;p49"/>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6" name="Google Shape;1146;p49"/>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Pobre</a:t>
            </a:r>
            <a:r>
              <a:rPr b="0" i="0" lang="en-US" sz="3200" u="none" cap="none" strike="noStrike">
                <a:solidFill>
                  <a:srgbClr val="0C2B27"/>
                </a:solidFill>
                <a:latin typeface="Inter"/>
                <a:ea typeface="Inter"/>
                <a:cs typeface="Inter"/>
                <a:sym typeface="Inter"/>
              </a:rPr>
              <a:t> em duas das quatro colunas visíveis</a:t>
            </a:r>
            <a:endParaRPr b="0" i="0" sz="1400" u="none" cap="none" strike="noStrike">
              <a:solidFill>
                <a:srgbClr val="000000"/>
              </a:solidFill>
              <a:latin typeface="Arial"/>
              <a:ea typeface="Arial"/>
              <a:cs typeface="Arial"/>
              <a:sym typeface="Arial"/>
            </a:endParaRPr>
          </a:p>
        </p:txBody>
      </p:sp>
      <p:sp>
        <p:nvSpPr>
          <p:cNvPr id="1147" name="Google Shape;1147;p49"/>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8" name="Google Shape;1148;p49"/>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Aparelho</a:t>
            </a:r>
            <a:r>
              <a:rPr b="0" i="0" lang="en-US" sz="3200" u="none" cap="none" strike="noStrike">
                <a:solidFill>
                  <a:srgbClr val="0C2B27"/>
                </a:solidFill>
                <a:latin typeface="Inter"/>
                <a:ea typeface="Inter"/>
                <a:cs typeface="Inter"/>
                <a:sym typeface="Inter"/>
              </a:rPr>
              <a:t> não muda; velocidade abaixo da média</a:t>
            </a:r>
            <a:endParaRPr b="0" i="0" sz="1400" u="none" cap="none" strike="noStrike">
              <a:solidFill>
                <a:srgbClr val="000000"/>
              </a:solidFill>
              <a:latin typeface="Arial"/>
              <a:ea typeface="Arial"/>
              <a:cs typeface="Arial"/>
              <a:sym typeface="Arial"/>
            </a:endParaRPr>
          </a:p>
        </p:txBody>
      </p:sp>
      <p:sp>
        <p:nvSpPr>
          <p:cNvPr id="1149" name="Google Shape;1149;p49"/>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0" name="Google Shape;1150;p49"/>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Recall</a:t>
            </a:r>
            <a:r>
              <a:rPr b="0" i="0" lang="en-US" sz="3200" u="none" cap="none" strike="noStrike">
                <a:solidFill>
                  <a:srgbClr val="0C2B27"/>
                </a:solidFill>
                <a:latin typeface="Inter"/>
                <a:ea typeface="Inter"/>
                <a:cs typeface="Inter"/>
                <a:sym typeface="Inter"/>
              </a:rPr>
              <a:t> 0,146 [0,069, 0,284] em 41 eventos</a:t>
            </a:r>
            <a:endParaRPr b="0" i="0" sz="1400" u="none" cap="none" strike="noStrike">
              <a:solidFill>
                <a:srgbClr val="000000"/>
              </a:solidFill>
              <a:latin typeface="Arial"/>
              <a:ea typeface="Arial"/>
              <a:cs typeface="Arial"/>
              <a:sym typeface="Arial"/>
            </a:endParaRPr>
          </a:p>
        </p:txBody>
      </p:sp>
      <p:sp>
        <p:nvSpPr>
          <p:cNvPr id="1151" name="Google Shape;1151;p49"/>
          <p:cNvSpPr/>
          <p:nvPr/>
        </p:nvSpPr>
        <p:spPr>
          <a:xfrm>
            <a:off x="566928" y="4590288"/>
            <a:ext cx="11155680" cy="1514246"/>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2" name="Google Shape;1152;p49"/>
          <p:cNvSpPr txBox="1"/>
          <p:nvPr/>
        </p:nvSpPr>
        <p:spPr>
          <a:xfrm>
            <a:off x="896112" y="4791456"/>
            <a:ext cx="103327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Livre de sinal nessas duas colunas, não em geral.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pic>
        <p:nvPicPr>
          <p:cNvPr descr="sbseg2026_rodape.png" id="1158" name="Google Shape;1158;p5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59" name="Google Shape;1159;p5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51</a:t>
            </a:r>
            <a:endParaRPr b="0" i="0" sz="1400" u="none" cap="none" strike="noStrike">
              <a:solidFill>
                <a:srgbClr val="000000"/>
              </a:solidFill>
              <a:latin typeface="Arial"/>
              <a:ea typeface="Arial"/>
              <a:cs typeface="Arial"/>
              <a:sym typeface="Arial"/>
            </a:endParaRPr>
          </a:p>
        </p:txBody>
      </p:sp>
      <p:sp>
        <p:nvSpPr>
          <p:cNvPr id="1160" name="Google Shape;1160;p5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161" name="Google Shape;1161;p50"/>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n por cenário: 53, 60, 39 e 41</a:t>
            </a:r>
            <a:endParaRPr b="0" i="0" sz="1400" u="none" cap="none" strike="noStrike">
              <a:solidFill>
                <a:srgbClr val="000000"/>
              </a:solidFill>
              <a:latin typeface="Arial"/>
              <a:ea typeface="Arial"/>
              <a:cs typeface="Arial"/>
              <a:sym typeface="Arial"/>
            </a:endParaRPr>
          </a:p>
        </p:txBody>
      </p:sp>
      <p:sp>
        <p:nvSpPr>
          <p:cNvPr id="1162" name="Google Shape;1162;p50"/>
          <p:cNvSpPr/>
          <p:nvPr/>
        </p:nvSpPr>
        <p:spPr>
          <a:xfrm>
            <a:off x="475488" y="1847088"/>
            <a:ext cx="11073384" cy="713232"/>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3" name="Google Shape;1163;p50"/>
          <p:cNvSpPr txBox="1"/>
          <p:nvPr/>
        </p:nvSpPr>
        <p:spPr>
          <a:xfrm>
            <a:off x="585216" y="2011680"/>
            <a:ext cx="4681728"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Cenário</a:t>
            </a:r>
            <a:endParaRPr b="0" i="0" sz="1400" u="none" cap="none" strike="noStrike">
              <a:solidFill>
                <a:srgbClr val="000000"/>
              </a:solidFill>
              <a:latin typeface="Arial"/>
              <a:ea typeface="Arial"/>
              <a:cs typeface="Arial"/>
              <a:sym typeface="Arial"/>
            </a:endParaRPr>
          </a:p>
        </p:txBody>
      </p:sp>
      <p:sp>
        <p:nvSpPr>
          <p:cNvPr id="1164" name="Google Shape;1164;p50"/>
          <p:cNvSpPr txBox="1"/>
          <p:nvPr/>
        </p:nvSpPr>
        <p:spPr>
          <a:xfrm>
            <a:off x="5486400" y="2011680"/>
            <a:ext cx="1362456"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Recall</a:t>
            </a:r>
            <a:endParaRPr b="0" i="0" sz="1400" u="none" cap="none" strike="noStrike">
              <a:solidFill>
                <a:srgbClr val="000000"/>
              </a:solidFill>
              <a:latin typeface="Arial"/>
              <a:ea typeface="Arial"/>
              <a:cs typeface="Arial"/>
              <a:sym typeface="Arial"/>
            </a:endParaRPr>
          </a:p>
        </p:txBody>
      </p:sp>
      <p:sp>
        <p:nvSpPr>
          <p:cNvPr id="1165" name="Google Shape;1165;p50"/>
          <p:cNvSpPr txBox="1"/>
          <p:nvPr/>
        </p:nvSpPr>
        <p:spPr>
          <a:xfrm>
            <a:off x="7068312" y="2011680"/>
            <a:ext cx="3547872"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IC 95%</a:t>
            </a:r>
            <a:endParaRPr b="0" i="0" sz="1400" u="none" cap="none" strike="noStrike">
              <a:solidFill>
                <a:srgbClr val="000000"/>
              </a:solidFill>
              <a:latin typeface="Arial"/>
              <a:ea typeface="Arial"/>
              <a:cs typeface="Arial"/>
              <a:sym typeface="Arial"/>
            </a:endParaRPr>
          </a:p>
        </p:txBody>
      </p:sp>
      <p:sp>
        <p:nvSpPr>
          <p:cNvPr id="1166" name="Google Shape;1166;p50"/>
          <p:cNvSpPr txBox="1"/>
          <p:nvPr/>
        </p:nvSpPr>
        <p:spPr>
          <a:xfrm>
            <a:off x="10835640" y="2011680"/>
            <a:ext cx="603504"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n</a:t>
            </a:r>
            <a:endParaRPr b="0" i="0" sz="1400" u="none" cap="none" strike="noStrike">
              <a:solidFill>
                <a:srgbClr val="000000"/>
              </a:solidFill>
              <a:latin typeface="Arial"/>
              <a:ea typeface="Arial"/>
              <a:cs typeface="Arial"/>
              <a:sym typeface="Arial"/>
            </a:endParaRPr>
          </a:p>
        </p:txBody>
      </p:sp>
      <p:sp>
        <p:nvSpPr>
          <p:cNvPr id="1167" name="Google Shape;1167;p50"/>
          <p:cNvSpPr txBox="1"/>
          <p:nvPr/>
        </p:nvSpPr>
        <p:spPr>
          <a:xfrm>
            <a:off x="585216" y="2606040"/>
            <a:ext cx="4681728" cy="5577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Tomada de conta</a:t>
            </a:r>
            <a:endParaRPr b="0" i="0" sz="1400" u="none" cap="none" strike="noStrike">
              <a:solidFill>
                <a:srgbClr val="000000"/>
              </a:solidFill>
              <a:latin typeface="Arial"/>
              <a:ea typeface="Arial"/>
              <a:cs typeface="Arial"/>
              <a:sym typeface="Arial"/>
            </a:endParaRPr>
          </a:p>
        </p:txBody>
      </p:sp>
      <p:sp>
        <p:nvSpPr>
          <p:cNvPr id="1168" name="Google Shape;1168;p50"/>
          <p:cNvSpPr txBox="1"/>
          <p:nvPr/>
        </p:nvSpPr>
        <p:spPr>
          <a:xfrm>
            <a:off x="5486400" y="2606040"/>
            <a:ext cx="1362456"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0,736</a:t>
            </a:r>
            <a:endParaRPr b="0" i="0" sz="1400" u="none" cap="none" strike="noStrike">
              <a:solidFill>
                <a:srgbClr val="000000"/>
              </a:solidFill>
              <a:latin typeface="Arial"/>
              <a:ea typeface="Arial"/>
              <a:cs typeface="Arial"/>
              <a:sym typeface="Arial"/>
            </a:endParaRPr>
          </a:p>
        </p:txBody>
      </p:sp>
      <p:sp>
        <p:nvSpPr>
          <p:cNvPr id="1169" name="Google Shape;1169;p50"/>
          <p:cNvSpPr txBox="1"/>
          <p:nvPr/>
        </p:nvSpPr>
        <p:spPr>
          <a:xfrm>
            <a:off x="7068312" y="2606040"/>
            <a:ext cx="3547872"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0,604 a 0,836</a:t>
            </a:r>
            <a:endParaRPr b="0" i="0" sz="1400" u="none" cap="none" strike="noStrike">
              <a:solidFill>
                <a:srgbClr val="000000"/>
              </a:solidFill>
              <a:latin typeface="Arial"/>
              <a:ea typeface="Arial"/>
              <a:cs typeface="Arial"/>
              <a:sym typeface="Arial"/>
            </a:endParaRPr>
          </a:p>
        </p:txBody>
      </p:sp>
      <p:sp>
        <p:nvSpPr>
          <p:cNvPr id="1170" name="Google Shape;1170;p50"/>
          <p:cNvSpPr txBox="1"/>
          <p:nvPr/>
        </p:nvSpPr>
        <p:spPr>
          <a:xfrm>
            <a:off x="10835640" y="2606040"/>
            <a:ext cx="603504"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53</a:t>
            </a:r>
            <a:endParaRPr b="0" i="0" sz="1400" u="none" cap="none" strike="noStrike">
              <a:solidFill>
                <a:srgbClr val="000000"/>
              </a:solidFill>
              <a:latin typeface="Arial"/>
              <a:ea typeface="Arial"/>
              <a:cs typeface="Arial"/>
              <a:sym typeface="Arial"/>
            </a:endParaRPr>
          </a:p>
        </p:txBody>
      </p:sp>
      <p:sp>
        <p:nvSpPr>
          <p:cNvPr id="1171" name="Google Shape;1171;p50"/>
          <p:cNvSpPr/>
          <p:nvPr/>
        </p:nvSpPr>
        <p:spPr>
          <a:xfrm>
            <a:off x="475488" y="3204057"/>
            <a:ext cx="11073384"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2" name="Google Shape;1172;p50"/>
          <p:cNvSpPr txBox="1"/>
          <p:nvPr/>
        </p:nvSpPr>
        <p:spPr>
          <a:xfrm>
            <a:off x="585216" y="3291840"/>
            <a:ext cx="4681728" cy="5577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Cadeia de laranjas</a:t>
            </a:r>
            <a:endParaRPr b="0" i="0" sz="1400" u="none" cap="none" strike="noStrike">
              <a:solidFill>
                <a:srgbClr val="000000"/>
              </a:solidFill>
              <a:latin typeface="Arial"/>
              <a:ea typeface="Arial"/>
              <a:cs typeface="Arial"/>
              <a:sym typeface="Arial"/>
            </a:endParaRPr>
          </a:p>
        </p:txBody>
      </p:sp>
      <p:sp>
        <p:nvSpPr>
          <p:cNvPr id="1173" name="Google Shape;1173;p50"/>
          <p:cNvSpPr txBox="1"/>
          <p:nvPr/>
        </p:nvSpPr>
        <p:spPr>
          <a:xfrm>
            <a:off x="5486400" y="3291840"/>
            <a:ext cx="1362456"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0,433</a:t>
            </a:r>
            <a:endParaRPr b="0" i="0" sz="1400" u="none" cap="none" strike="noStrike">
              <a:solidFill>
                <a:srgbClr val="000000"/>
              </a:solidFill>
              <a:latin typeface="Arial"/>
              <a:ea typeface="Arial"/>
              <a:cs typeface="Arial"/>
              <a:sym typeface="Arial"/>
            </a:endParaRPr>
          </a:p>
        </p:txBody>
      </p:sp>
      <p:sp>
        <p:nvSpPr>
          <p:cNvPr id="1174" name="Google Shape;1174;p50"/>
          <p:cNvSpPr txBox="1"/>
          <p:nvPr/>
        </p:nvSpPr>
        <p:spPr>
          <a:xfrm>
            <a:off x="7068312" y="3291840"/>
            <a:ext cx="3547872"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0,316 a 0,559</a:t>
            </a:r>
            <a:endParaRPr b="0" i="0" sz="1400" u="none" cap="none" strike="noStrike">
              <a:solidFill>
                <a:srgbClr val="000000"/>
              </a:solidFill>
              <a:latin typeface="Arial"/>
              <a:ea typeface="Arial"/>
              <a:cs typeface="Arial"/>
              <a:sym typeface="Arial"/>
            </a:endParaRPr>
          </a:p>
        </p:txBody>
      </p:sp>
      <p:sp>
        <p:nvSpPr>
          <p:cNvPr id="1175" name="Google Shape;1175;p50"/>
          <p:cNvSpPr txBox="1"/>
          <p:nvPr/>
        </p:nvSpPr>
        <p:spPr>
          <a:xfrm>
            <a:off x="10835640" y="3291840"/>
            <a:ext cx="603504"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60</a:t>
            </a:r>
            <a:endParaRPr b="0" i="0" sz="1400" u="none" cap="none" strike="noStrike">
              <a:solidFill>
                <a:srgbClr val="000000"/>
              </a:solidFill>
              <a:latin typeface="Arial"/>
              <a:ea typeface="Arial"/>
              <a:cs typeface="Arial"/>
              <a:sym typeface="Arial"/>
            </a:endParaRPr>
          </a:p>
        </p:txBody>
      </p:sp>
      <p:sp>
        <p:nvSpPr>
          <p:cNvPr id="1176" name="Google Shape;1176;p50"/>
          <p:cNvSpPr/>
          <p:nvPr/>
        </p:nvSpPr>
        <p:spPr>
          <a:xfrm>
            <a:off x="475488" y="3889857"/>
            <a:ext cx="11073384"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7" name="Google Shape;1177;p50"/>
          <p:cNvSpPr txBox="1"/>
          <p:nvPr/>
        </p:nvSpPr>
        <p:spPr>
          <a:xfrm>
            <a:off x="585216" y="3977639"/>
            <a:ext cx="4681728" cy="5577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Falsa devolução MED</a:t>
            </a:r>
            <a:endParaRPr b="0" i="0" sz="1400" u="none" cap="none" strike="noStrike">
              <a:solidFill>
                <a:srgbClr val="000000"/>
              </a:solidFill>
              <a:latin typeface="Arial"/>
              <a:ea typeface="Arial"/>
              <a:cs typeface="Arial"/>
              <a:sym typeface="Arial"/>
            </a:endParaRPr>
          </a:p>
        </p:txBody>
      </p:sp>
      <p:sp>
        <p:nvSpPr>
          <p:cNvPr id="1178" name="Google Shape;1178;p50"/>
          <p:cNvSpPr txBox="1"/>
          <p:nvPr/>
        </p:nvSpPr>
        <p:spPr>
          <a:xfrm>
            <a:off x="5486400" y="3977639"/>
            <a:ext cx="1362456"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0,282</a:t>
            </a:r>
            <a:endParaRPr b="0" i="0" sz="1400" u="none" cap="none" strike="noStrike">
              <a:solidFill>
                <a:srgbClr val="000000"/>
              </a:solidFill>
              <a:latin typeface="Arial"/>
              <a:ea typeface="Arial"/>
              <a:cs typeface="Arial"/>
              <a:sym typeface="Arial"/>
            </a:endParaRPr>
          </a:p>
        </p:txBody>
      </p:sp>
      <p:sp>
        <p:nvSpPr>
          <p:cNvPr id="1179" name="Google Shape;1179;p50"/>
          <p:cNvSpPr txBox="1"/>
          <p:nvPr/>
        </p:nvSpPr>
        <p:spPr>
          <a:xfrm>
            <a:off x="7068312" y="3977639"/>
            <a:ext cx="3547872"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0,165 a 0,438</a:t>
            </a:r>
            <a:endParaRPr b="0" i="0" sz="1400" u="none" cap="none" strike="noStrike">
              <a:solidFill>
                <a:srgbClr val="000000"/>
              </a:solidFill>
              <a:latin typeface="Arial"/>
              <a:ea typeface="Arial"/>
              <a:cs typeface="Arial"/>
              <a:sym typeface="Arial"/>
            </a:endParaRPr>
          </a:p>
        </p:txBody>
      </p:sp>
      <p:sp>
        <p:nvSpPr>
          <p:cNvPr id="1180" name="Google Shape;1180;p50"/>
          <p:cNvSpPr txBox="1"/>
          <p:nvPr/>
        </p:nvSpPr>
        <p:spPr>
          <a:xfrm>
            <a:off x="10835640" y="3977639"/>
            <a:ext cx="603504"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39</a:t>
            </a:r>
            <a:endParaRPr b="0" i="0" sz="1400" u="none" cap="none" strike="noStrike">
              <a:solidFill>
                <a:srgbClr val="000000"/>
              </a:solidFill>
              <a:latin typeface="Arial"/>
              <a:ea typeface="Arial"/>
              <a:cs typeface="Arial"/>
              <a:sym typeface="Arial"/>
            </a:endParaRPr>
          </a:p>
        </p:txBody>
      </p:sp>
      <p:sp>
        <p:nvSpPr>
          <p:cNvPr id="1181" name="Google Shape;1181;p50"/>
          <p:cNvSpPr/>
          <p:nvPr/>
        </p:nvSpPr>
        <p:spPr>
          <a:xfrm>
            <a:off x="475488" y="4575657"/>
            <a:ext cx="11073384"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2" name="Google Shape;1182;p50"/>
          <p:cNvSpPr txBox="1"/>
          <p:nvPr/>
        </p:nvSpPr>
        <p:spPr>
          <a:xfrm>
            <a:off x="585216" y="4663440"/>
            <a:ext cx="4681728" cy="5577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Coação</a:t>
            </a:r>
            <a:endParaRPr b="0" i="0" sz="1400" u="none" cap="none" strike="noStrike">
              <a:solidFill>
                <a:srgbClr val="000000"/>
              </a:solidFill>
              <a:latin typeface="Arial"/>
              <a:ea typeface="Arial"/>
              <a:cs typeface="Arial"/>
              <a:sym typeface="Arial"/>
            </a:endParaRPr>
          </a:p>
        </p:txBody>
      </p:sp>
      <p:sp>
        <p:nvSpPr>
          <p:cNvPr id="1183" name="Google Shape;1183;p50"/>
          <p:cNvSpPr txBox="1"/>
          <p:nvPr/>
        </p:nvSpPr>
        <p:spPr>
          <a:xfrm>
            <a:off x="5486400" y="4663440"/>
            <a:ext cx="1362456"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0,146</a:t>
            </a:r>
            <a:endParaRPr b="0" i="0" sz="1400" u="none" cap="none" strike="noStrike">
              <a:solidFill>
                <a:srgbClr val="000000"/>
              </a:solidFill>
              <a:latin typeface="Arial"/>
              <a:ea typeface="Arial"/>
              <a:cs typeface="Arial"/>
              <a:sym typeface="Arial"/>
            </a:endParaRPr>
          </a:p>
        </p:txBody>
      </p:sp>
      <p:sp>
        <p:nvSpPr>
          <p:cNvPr id="1184" name="Google Shape;1184;p50"/>
          <p:cNvSpPr txBox="1"/>
          <p:nvPr/>
        </p:nvSpPr>
        <p:spPr>
          <a:xfrm>
            <a:off x="7068312" y="4663440"/>
            <a:ext cx="3547872"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0,069 a 0,284</a:t>
            </a:r>
            <a:endParaRPr b="0" i="0" sz="1400" u="none" cap="none" strike="noStrike">
              <a:solidFill>
                <a:srgbClr val="000000"/>
              </a:solidFill>
              <a:latin typeface="Arial"/>
              <a:ea typeface="Arial"/>
              <a:cs typeface="Arial"/>
              <a:sym typeface="Arial"/>
            </a:endParaRPr>
          </a:p>
        </p:txBody>
      </p:sp>
      <p:sp>
        <p:nvSpPr>
          <p:cNvPr id="1185" name="Google Shape;1185;p50"/>
          <p:cNvSpPr txBox="1"/>
          <p:nvPr/>
        </p:nvSpPr>
        <p:spPr>
          <a:xfrm>
            <a:off x="10835640" y="4663440"/>
            <a:ext cx="603504" cy="5577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41</a:t>
            </a:r>
            <a:endParaRPr b="0" i="0" sz="1400" u="none" cap="none" strike="noStrike">
              <a:solidFill>
                <a:srgbClr val="000000"/>
              </a:solidFill>
              <a:latin typeface="Arial"/>
              <a:ea typeface="Arial"/>
              <a:cs typeface="Arial"/>
              <a:sym typeface="Arial"/>
            </a:endParaRPr>
          </a:p>
        </p:txBody>
      </p:sp>
      <p:sp>
        <p:nvSpPr>
          <p:cNvPr id="1186" name="Google Shape;1186;p50"/>
          <p:cNvSpPr/>
          <p:nvPr/>
        </p:nvSpPr>
        <p:spPr>
          <a:xfrm>
            <a:off x="5371185" y="2523744"/>
            <a:ext cx="10972" cy="2743199"/>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7" name="Google Shape;1187;p50"/>
          <p:cNvSpPr/>
          <p:nvPr/>
        </p:nvSpPr>
        <p:spPr>
          <a:xfrm>
            <a:off x="6953097" y="2523744"/>
            <a:ext cx="10972" cy="2743199"/>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8" name="Google Shape;1188;p50"/>
          <p:cNvSpPr/>
          <p:nvPr/>
        </p:nvSpPr>
        <p:spPr>
          <a:xfrm>
            <a:off x="10720425" y="2523744"/>
            <a:ext cx="10972" cy="2743199"/>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9" name="Google Shape;1189;p50"/>
          <p:cNvSpPr txBox="1"/>
          <p:nvPr/>
        </p:nvSpPr>
        <p:spPr>
          <a:xfrm>
            <a:off x="530352" y="5532120"/>
            <a:ext cx="1115568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Os extremos não se sobrepõem; laranjas e MED, sim.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pic>
        <p:nvPicPr>
          <p:cNvPr descr="sbseg2026_rodape.png" id="1195" name="Google Shape;1195;p5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96" name="Google Shape;1196;p5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52</a:t>
            </a:r>
            <a:endParaRPr b="0" i="0" sz="1400" u="none" cap="none" strike="noStrike">
              <a:solidFill>
                <a:srgbClr val="000000"/>
              </a:solidFill>
              <a:latin typeface="Arial"/>
              <a:ea typeface="Arial"/>
              <a:cs typeface="Arial"/>
              <a:sym typeface="Arial"/>
            </a:endParaRPr>
          </a:p>
        </p:txBody>
      </p:sp>
      <p:sp>
        <p:nvSpPr>
          <p:cNvPr id="1197" name="Google Shape;1197;p5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198" name="Google Shape;1198;p51"/>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 detector de grafo</a:t>
            </a:r>
            <a:endParaRPr b="0" i="0" sz="1400" u="none" cap="none" strike="noStrike">
              <a:solidFill>
                <a:srgbClr val="000000"/>
              </a:solidFill>
              <a:latin typeface="Arial"/>
              <a:ea typeface="Arial"/>
              <a:cs typeface="Arial"/>
              <a:sym typeface="Arial"/>
            </a:endParaRPr>
          </a:p>
        </p:txBody>
      </p:sp>
      <p:sp>
        <p:nvSpPr>
          <p:cNvPr id="1199" name="Google Shape;1199;p51"/>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0" name="Google Shape;1200;p51"/>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GraphSAGE</a:t>
            </a:r>
            <a:r>
              <a:rPr b="0" i="0" lang="en-US" sz="3200" u="none" cap="none" strike="noStrike">
                <a:solidFill>
                  <a:srgbClr val="0C2B27"/>
                </a:solidFill>
                <a:latin typeface="Inter"/>
                <a:ea typeface="Inter"/>
                <a:cs typeface="Inter"/>
                <a:sym typeface="Inter"/>
              </a:rPr>
              <a:t> duas camadas; ajusta em 2,4 s</a:t>
            </a:r>
            <a:endParaRPr b="0" i="0" sz="1400" u="none" cap="none" strike="noStrike">
              <a:solidFill>
                <a:srgbClr val="000000"/>
              </a:solidFill>
              <a:latin typeface="Arial"/>
              <a:ea typeface="Arial"/>
              <a:cs typeface="Arial"/>
              <a:sym typeface="Arial"/>
            </a:endParaRPr>
          </a:p>
        </p:txBody>
      </p:sp>
      <p:sp>
        <p:nvSpPr>
          <p:cNvPr id="1201" name="Google Shape;1201;p51"/>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2" name="Google Shape;1202;p51"/>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PR‑AUC</a:t>
            </a:r>
            <a:r>
              <a:rPr b="0" i="0" lang="en-US" sz="3200" u="none" cap="none" strike="noStrike">
                <a:solidFill>
                  <a:srgbClr val="0C2B27"/>
                </a:solidFill>
                <a:latin typeface="Inter"/>
                <a:ea typeface="Inter"/>
                <a:cs typeface="Inter"/>
                <a:sym typeface="Inter"/>
              </a:rPr>
              <a:t> 0,247 no nosso e 0,011 no Tide-HI</a:t>
            </a:r>
            <a:endParaRPr b="0" i="0" sz="1400" u="none" cap="none" strike="noStrike">
              <a:solidFill>
                <a:srgbClr val="000000"/>
              </a:solidFill>
              <a:latin typeface="Arial"/>
              <a:ea typeface="Arial"/>
              <a:cs typeface="Arial"/>
              <a:sym typeface="Arial"/>
            </a:endParaRPr>
          </a:p>
        </p:txBody>
      </p:sp>
      <p:sp>
        <p:nvSpPr>
          <p:cNvPr id="1203" name="Google Shape;1203;p51"/>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4" name="Google Shape;1204;p51"/>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Recall 0,850</a:t>
            </a:r>
            <a:r>
              <a:rPr b="0" i="0" lang="en-US" sz="3200" u="none" cap="none" strike="noStrike">
                <a:solidFill>
                  <a:srgbClr val="0C2B27"/>
                </a:solidFill>
                <a:latin typeface="Inter"/>
                <a:ea typeface="Inter"/>
                <a:cs typeface="Inter"/>
                <a:sym typeface="Inter"/>
              </a:rPr>
              <a:t> com precisão 0,082: sinaliza demais</a:t>
            </a:r>
            <a:endParaRPr b="0" i="0" sz="1400" u="none" cap="none" strike="noStrike">
              <a:solidFill>
                <a:srgbClr val="000000"/>
              </a:solidFill>
              <a:latin typeface="Arial"/>
              <a:ea typeface="Arial"/>
              <a:cs typeface="Arial"/>
              <a:sym typeface="Arial"/>
            </a:endParaRPr>
          </a:p>
        </p:txBody>
      </p:sp>
      <p:sp>
        <p:nvSpPr>
          <p:cNvPr id="1205" name="Google Shape;1205;p51"/>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6" name="Google Shape;1206;p51"/>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Grau médio</a:t>
            </a:r>
            <a:r>
              <a:rPr b="0" i="0" lang="en-US" sz="3200" u="none" cap="none" strike="noStrike">
                <a:solidFill>
                  <a:srgbClr val="0C2B27"/>
                </a:solidFill>
                <a:latin typeface="Inter"/>
                <a:ea typeface="Inter"/>
                <a:cs typeface="Inter"/>
                <a:sym typeface="Inter"/>
              </a:rPr>
              <a:t> 20 aqui e 29 no Tide-HI</a:t>
            </a:r>
            <a:endParaRPr b="0" i="0" sz="1400" u="none" cap="none" strike="noStrike">
              <a:solidFill>
                <a:srgbClr val="000000"/>
              </a:solidFill>
              <a:latin typeface="Arial"/>
              <a:ea typeface="Arial"/>
              <a:cs typeface="Arial"/>
              <a:sym typeface="Arial"/>
            </a:endParaRPr>
          </a:p>
        </p:txBody>
      </p:sp>
      <p:sp>
        <p:nvSpPr>
          <p:cNvPr id="1207" name="Google Shape;1207;p51"/>
          <p:cNvSpPr/>
          <p:nvPr/>
        </p:nvSpPr>
        <p:spPr>
          <a:xfrm>
            <a:off x="566928" y="4590288"/>
            <a:ext cx="11155680" cy="1514246"/>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8" name="Google Shape;1208;p51"/>
          <p:cNvSpPr txBox="1"/>
          <p:nvPr/>
        </p:nvSpPr>
        <p:spPr>
          <a:xfrm>
            <a:off x="896112" y="4791456"/>
            <a:ext cx="103327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Uma arquitetura pequena: não é veredito sobre grafo.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pic>
        <p:nvPicPr>
          <p:cNvPr descr="sbseg2026_rodape.png" id="1214" name="Google Shape;1214;p5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15" name="Google Shape;1215;p5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53</a:t>
            </a:r>
            <a:endParaRPr b="0" i="0" sz="1400" u="none" cap="none" strike="noStrike">
              <a:solidFill>
                <a:srgbClr val="000000"/>
              </a:solidFill>
              <a:latin typeface="Arial"/>
              <a:ea typeface="Arial"/>
              <a:cs typeface="Arial"/>
              <a:sym typeface="Arial"/>
            </a:endParaRPr>
          </a:p>
        </p:txBody>
      </p:sp>
      <p:sp>
        <p:nvSpPr>
          <p:cNvPr id="1216" name="Google Shape;1216;p5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217" name="Google Shape;1217;p52"/>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Os dois prompts</a:t>
            </a:r>
            <a:endParaRPr b="0" i="0" sz="1400" u="none" cap="none" strike="noStrike">
              <a:solidFill>
                <a:srgbClr val="000000"/>
              </a:solidFill>
              <a:latin typeface="Arial"/>
              <a:ea typeface="Arial"/>
              <a:cs typeface="Arial"/>
              <a:sym typeface="Arial"/>
            </a:endParaRPr>
          </a:p>
        </p:txBody>
      </p:sp>
      <p:sp>
        <p:nvSpPr>
          <p:cNvPr id="1218" name="Google Shape;1218;p52"/>
          <p:cNvSpPr/>
          <p:nvPr/>
        </p:nvSpPr>
        <p:spPr>
          <a:xfrm>
            <a:off x="603504" y="178308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9" name="Google Shape;1219;p52"/>
          <p:cNvSpPr txBox="1"/>
          <p:nvPr/>
        </p:nvSpPr>
        <p:spPr>
          <a:xfrm>
            <a:off x="996696" y="162763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Direto</a:t>
            </a:r>
            <a:r>
              <a:rPr b="0" i="0" lang="en-US" sz="3200" u="none" cap="none" strike="noStrike">
                <a:solidFill>
                  <a:srgbClr val="0C2B27"/>
                </a:solidFill>
                <a:latin typeface="Inter"/>
                <a:ea typeface="Inter"/>
                <a:cs typeface="Inter"/>
                <a:sym typeface="Inter"/>
              </a:rPr>
              <a:t> só a probabilidade; teto de 8 tokens</a:t>
            </a:r>
            <a:endParaRPr b="0" i="0" sz="1400" u="none" cap="none" strike="noStrike">
              <a:solidFill>
                <a:srgbClr val="000000"/>
              </a:solidFill>
              <a:latin typeface="Arial"/>
              <a:ea typeface="Arial"/>
              <a:cs typeface="Arial"/>
              <a:sym typeface="Arial"/>
            </a:endParaRPr>
          </a:p>
        </p:txBody>
      </p:sp>
      <p:sp>
        <p:nvSpPr>
          <p:cNvPr id="1220" name="Google Shape;1220;p52"/>
          <p:cNvSpPr/>
          <p:nvPr/>
        </p:nvSpPr>
        <p:spPr>
          <a:xfrm>
            <a:off x="603504" y="251460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1" name="Google Shape;1221;p52"/>
          <p:cNvSpPr txBox="1"/>
          <p:nvPr/>
        </p:nvSpPr>
        <p:spPr>
          <a:xfrm>
            <a:off x="996696" y="235915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Raciocínio</a:t>
            </a:r>
            <a:r>
              <a:rPr b="0" i="0" lang="en-US" sz="3200" u="none" cap="none" strike="noStrike">
                <a:solidFill>
                  <a:srgbClr val="0C2B27"/>
                </a:solidFill>
                <a:latin typeface="Inter"/>
                <a:ea typeface="Inter"/>
                <a:cs typeface="Inter"/>
                <a:sym typeface="Inter"/>
              </a:rPr>
              <a:t> três frases e o veredito; teto 320</a:t>
            </a:r>
            <a:endParaRPr b="0" i="0" sz="1400" u="none" cap="none" strike="noStrike">
              <a:solidFill>
                <a:srgbClr val="000000"/>
              </a:solidFill>
              <a:latin typeface="Arial"/>
              <a:ea typeface="Arial"/>
              <a:cs typeface="Arial"/>
              <a:sym typeface="Arial"/>
            </a:endParaRPr>
          </a:p>
        </p:txBody>
      </p:sp>
      <p:sp>
        <p:nvSpPr>
          <p:cNvPr id="1222" name="Google Shape;1222;p52"/>
          <p:cNvSpPr/>
          <p:nvPr/>
        </p:nvSpPr>
        <p:spPr>
          <a:xfrm>
            <a:off x="603504" y="324612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3" name="Google Shape;1223;p52"/>
          <p:cNvSpPr txBox="1"/>
          <p:nvPr/>
        </p:nvSpPr>
        <p:spPr>
          <a:xfrm>
            <a:off x="996696" y="309067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Gasto</a:t>
            </a:r>
            <a:r>
              <a:rPr b="0" i="0" lang="en-US" sz="3200" u="none" cap="none" strike="noStrike">
                <a:solidFill>
                  <a:srgbClr val="0C2B27"/>
                </a:solidFill>
                <a:latin typeface="Inter"/>
                <a:ea typeface="Inter"/>
                <a:cs typeface="Inter"/>
                <a:sym typeface="Inter"/>
              </a:rPr>
              <a:t> 5 e 8 tokens local; 171 e 284 na nuvem</a:t>
            </a:r>
            <a:endParaRPr b="0" i="0" sz="1400" u="none" cap="none" strike="noStrike">
              <a:solidFill>
                <a:srgbClr val="000000"/>
              </a:solidFill>
              <a:latin typeface="Arial"/>
              <a:ea typeface="Arial"/>
              <a:cs typeface="Arial"/>
              <a:sym typeface="Arial"/>
            </a:endParaRPr>
          </a:p>
        </p:txBody>
      </p:sp>
      <p:sp>
        <p:nvSpPr>
          <p:cNvPr id="1224" name="Google Shape;1224;p52"/>
          <p:cNvSpPr/>
          <p:nvPr/>
        </p:nvSpPr>
        <p:spPr>
          <a:xfrm>
            <a:off x="603504" y="3977640"/>
            <a:ext cx="164592" cy="164592"/>
          </a:xfrm>
          <a:prstGeom prst="ellipse">
            <a:avLst/>
          </a:prstGeom>
          <a:solidFill>
            <a:srgbClr val="77B6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5" name="Google Shape;1225;p52"/>
          <p:cNvSpPr txBox="1"/>
          <p:nvPr/>
        </p:nvSpPr>
        <p:spPr>
          <a:xfrm>
            <a:off x="996696" y="3822192"/>
            <a:ext cx="10753344"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1A5145"/>
                </a:solidFill>
                <a:latin typeface="Inter"/>
                <a:ea typeface="Inter"/>
                <a:cs typeface="Inter"/>
                <a:sym typeface="Inter"/>
              </a:rPr>
              <a:t>Nomeados</a:t>
            </a:r>
            <a:r>
              <a:rPr b="0" i="0" lang="en-US" sz="3200" u="none" cap="none" strike="noStrike">
                <a:solidFill>
                  <a:srgbClr val="0C2B27"/>
                </a:solidFill>
                <a:latin typeface="Inter"/>
                <a:ea typeface="Inter"/>
                <a:cs typeface="Inter"/>
                <a:sym typeface="Inter"/>
              </a:rPr>
              <a:t> os quatro sinais, no próprio prompt</a:t>
            </a:r>
            <a:endParaRPr b="0" i="0" sz="1400" u="none" cap="none" strike="noStrike">
              <a:solidFill>
                <a:srgbClr val="000000"/>
              </a:solidFill>
              <a:latin typeface="Arial"/>
              <a:ea typeface="Arial"/>
              <a:cs typeface="Arial"/>
              <a:sym typeface="Arial"/>
            </a:endParaRPr>
          </a:p>
        </p:txBody>
      </p:sp>
      <p:sp>
        <p:nvSpPr>
          <p:cNvPr id="1226" name="Google Shape;1226;p52"/>
          <p:cNvSpPr/>
          <p:nvPr/>
        </p:nvSpPr>
        <p:spPr>
          <a:xfrm>
            <a:off x="566928" y="4590288"/>
            <a:ext cx="11155680" cy="1514246"/>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7" name="Google Shape;1227;p52"/>
          <p:cNvSpPr txBox="1"/>
          <p:nvPr/>
        </p:nvSpPr>
        <p:spPr>
          <a:xfrm>
            <a:off x="896112" y="4791456"/>
            <a:ext cx="103327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O teto não prende: separa quanto cada um fala.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pic>
        <p:nvPicPr>
          <p:cNvPr descr="sbseg2026_rodape.png" id="1233" name="Google Shape;1233;p1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34" name="Google Shape;1234;p1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54</a:t>
            </a:r>
            <a:endParaRPr b="0" i="0" sz="1400" u="none" cap="none" strike="noStrike">
              <a:solidFill>
                <a:srgbClr val="000000"/>
              </a:solidFill>
              <a:latin typeface="Arial"/>
              <a:ea typeface="Arial"/>
              <a:cs typeface="Arial"/>
              <a:sym typeface="Arial"/>
            </a:endParaRPr>
          </a:p>
        </p:txBody>
      </p:sp>
      <p:sp>
        <p:nvSpPr>
          <p:cNvPr id="1235" name="Google Shape;1235;p1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ENTRADAS</a:t>
            </a:r>
            <a:endParaRPr b="0" i="0" sz="1400" u="none" cap="none" strike="noStrike">
              <a:solidFill>
                <a:srgbClr val="000000"/>
              </a:solidFill>
              <a:latin typeface="Arial"/>
              <a:ea typeface="Arial"/>
              <a:cs typeface="Arial"/>
              <a:sym typeface="Arial"/>
            </a:endParaRPr>
          </a:p>
        </p:txBody>
      </p:sp>
      <p:sp>
        <p:nvSpPr>
          <p:cNvPr id="1236" name="Google Shape;1236;p19"/>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Três fontes independentes, um esquema</a:t>
            </a:r>
            <a:endParaRPr b="0" i="0" sz="1400" u="none" cap="none" strike="noStrike">
              <a:solidFill>
                <a:srgbClr val="000000"/>
              </a:solidFill>
              <a:latin typeface="Arial"/>
              <a:ea typeface="Arial"/>
              <a:cs typeface="Arial"/>
              <a:sym typeface="Arial"/>
            </a:endParaRPr>
          </a:p>
        </p:txBody>
      </p:sp>
      <p:sp>
        <p:nvSpPr>
          <p:cNvPr id="1237" name="Google Shape;1237;p19"/>
          <p:cNvSpPr/>
          <p:nvPr/>
        </p:nvSpPr>
        <p:spPr>
          <a:xfrm>
            <a:off x="365760" y="1709928"/>
            <a:ext cx="11457432" cy="749808"/>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8" name="Google Shape;1238;p19"/>
          <p:cNvSpPr txBox="1"/>
          <p:nvPr/>
        </p:nvSpPr>
        <p:spPr>
          <a:xfrm>
            <a:off x="475488" y="1874519"/>
            <a:ext cx="2889504" cy="493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Fonte</a:t>
            </a:r>
            <a:endParaRPr b="0" i="0" sz="1400" u="none" cap="none" strike="noStrike">
              <a:solidFill>
                <a:srgbClr val="000000"/>
              </a:solidFill>
              <a:latin typeface="Arial"/>
              <a:ea typeface="Arial"/>
              <a:cs typeface="Arial"/>
              <a:sym typeface="Arial"/>
            </a:endParaRPr>
          </a:p>
        </p:txBody>
      </p:sp>
      <p:sp>
        <p:nvSpPr>
          <p:cNvPr id="1239" name="Google Shape;1239;p19"/>
          <p:cNvSpPr txBox="1"/>
          <p:nvPr/>
        </p:nvSpPr>
        <p:spPr>
          <a:xfrm>
            <a:off x="3584448" y="1874519"/>
            <a:ext cx="2112263" cy="49377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Licença</a:t>
            </a:r>
            <a:endParaRPr b="0" i="0" sz="1400" u="none" cap="none" strike="noStrike">
              <a:solidFill>
                <a:srgbClr val="000000"/>
              </a:solidFill>
              <a:latin typeface="Arial"/>
              <a:ea typeface="Arial"/>
              <a:cs typeface="Arial"/>
              <a:sym typeface="Arial"/>
            </a:endParaRPr>
          </a:p>
        </p:txBody>
      </p:sp>
      <p:sp>
        <p:nvSpPr>
          <p:cNvPr id="1240" name="Google Shape;1240;p19"/>
          <p:cNvSpPr txBox="1"/>
          <p:nvPr/>
        </p:nvSpPr>
        <p:spPr>
          <a:xfrm>
            <a:off x="5916168" y="1874519"/>
            <a:ext cx="1792224" cy="49377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Ilícito</a:t>
            </a:r>
            <a:endParaRPr b="0" i="0" sz="1400" u="none" cap="none" strike="noStrike">
              <a:solidFill>
                <a:srgbClr val="000000"/>
              </a:solidFill>
              <a:latin typeface="Arial"/>
              <a:ea typeface="Arial"/>
              <a:cs typeface="Arial"/>
              <a:sym typeface="Arial"/>
            </a:endParaRPr>
          </a:p>
        </p:txBody>
      </p:sp>
      <p:sp>
        <p:nvSpPr>
          <p:cNvPr id="1241" name="Google Shape;1241;p19"/>
          <p:cNvSpPr txBox="1"/>
          <p:nvPr/>
        </p:nvSpPr>
        <p:spPr>
          <a:xfrm>
            <a:off x="7927848" y="1874519"/>
            <a:ext cx="3785615" cy="493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FFFF"/>
                </a:solidFill>
                <a:latin typeface="Inter"/>
                <a:ea typeface="Inter"/>
                <a:cs typeface="Inter"/>
                <a:sym typeface="Inter"/>
              </a:rPr>
              <a:t>Papel</a:t>
            </a:r>
            <a:endParaRPr b="0" i="0" sz="1400" u="none" cap="none" strike="noStrike">
              <a:solidFill>
                <a:srgbClr val="000000"/>
              </a:solidFill>
              <a:latin typeface="Arial"/>
              <a:ea typeface="Arial"/>
              <a:cs typeface="Arial"/>
              <a:sym typeface="Arial"/>
            </a:endParaRPr>
          </a:p>
        </p:txBody>
      </p:sp>
      <p:sp>
        <p:nvSpPr>
          <p:cNvPr id="1242" name="Google Shape;1242;p19"/>
          <p:cNvSpPr/>
          <p:nvPr/>
        </p:nvSpPr>
        <p:spPr>
          <a:xfrm>
            <a:off x="365760" y="2350008"/>
            <a:ext cx="11457432" cy="1243584"/>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3" name="Google Shape;1243;p19"/>
          <p:cNvSpPr txBox="1"/>
          <p:nvPr/>
        </p:nvSpPr>
        <p:spPr>
          <a:xfrm>
            <a:off x="475488" y="2468880"/>
            <a:ext cx="2889504" cy="9692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PixGuard-Sim</a:t>
            </a:r>
            <a:endParaRPr b="0" i="0" sz="1400" u="none" cap="none" strike="noStrike">
              <a:solidFill>
                <a:srgbClr val="000000"/>
              </a:solidFill>
              <a:latin typeface="Arial"/>
              <a:ea typeface="Arial"/>
              <a:cs typeface="Arial"/>
              <a:sym typeface="Arial"/>
            </a:endParaRPr>
          </a:p>
        </p:txBody>
      </p:sp>
      <p:sp>
        <p:nvSpPr>
          <p:cNvPr id="1244" name="Google Shape;1244;p19"/>
          <p:cNvSpPr txBox="1"/>
          <p:nvPr/>
        </p:nvSpPr>
        <p:spPr>
          <a:xfrm>
            <a:off x="3584448" y="2468880"/>
            <a:ext cx="2112263" cy="9692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MIT</a:t>
            </a:r>
            <a:endParaRPr b="0" i="0" sz="1400" u="none" cap="none" strike="noStrike">
              <a:solidFill>
                <a:srgbClr val="000000"/>
              </a:solidFill>
              <a:latin typeface="Arial"/>
              <a:ea typeface="Arial"/>
              <a:cs typeface="Arial"/>
              <a:sym typeface="Arial"/>
            </a:endParaRPr>
          </a:p>
        </p:txBody>
      </p:sp>
      <p:sp>
        <p:nvSpPr>
          <p:cNvPr id="1245" name="Google Shape;1245;p19"/>
          <p:cNvSpPr txBox="1"/>
          <p:nvPr/>
        </p:nvSpPr>
        <p:spPr>
          <a:xfrm>
            <a:off x="5916168" y="2468880"/>
            <a:ext cx="1792224" cy="9692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JetBrains Mono"/>
                <a:ea typeface="JetBrains Mono"/>
                <a:cs typeface="JetBrains Mono"/>
                <a:sym typeface="JetBrains Mono"/>
              </a:rPr>
              <a:t>1,19%</a:t>
            </a:r>
            <a:endParaRPr b="0" i="0" sz="1400" u="none" cap="none" strike="noStrike">
              <a:solidFill>
                <a:srgbClr val="000000"/>
              </a:solidFill>
              <a:latin typeface="Arial"/>
              <a:ea typeface="Arial"/>
              <a:cs typeface="Arial"/>
              <a:sym typeface="Arial"/>
            </a:endParaRPr>
          </a:p>
        </p:txBody>
      </p:sp>
      <p:sp>
        <p:nvSpPr>
          <p:cNvPr id="1246" name="Google Shape;1246;p19"/>
          <p:cNvSpPr txBox="1"/>
          <p:nvPr/>
        </p:nvSpPr>
        <p:spPr>
          <a:xfrm>
            <a:off x="7927848" y="2468880"/>
            <a:ext cx="3785615" cy="9692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única com coação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e MED multi-salto</a:t>
            </a:r>
            <a:endParaRPr b="0" i="0" sz="1400" u="none" cap="none" strike="noStrike">
              <a:solidFill>
                <a:srgbClr val="000000"/>
              </a:solidFill>
              <a:latin typeface="Arial"/>
              <a:ea typeface="Arial"/>
              <a:cs typeface="Arial"/>
              <a:sym typeface="Arial"/>
            </a:endParaRPr>
          </a:p>
        </p:txBody>
      </p:sp>
      <p:sp>
        <p:nvSpPr>
          <p:cNvPr id="1247" name="Google Shape;1247;p19"/>
          <p:cNvSpPr/>
          <p:nvPr/>
        </p:nvSpPr>
        <p:spPr>
          <a:xfrm>
            <a:off x="365760" y="3383280"/>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8" name="Google Shape;1248;p19"/>
          <p:cNvSpPr txBox="1"/>
          <p:nvPr/>
        </p:nvSpPr>
        <p:spPr>
          <a:xfrm>
            <a:off x="475488" y="3474720"/>
            <a:ext cx="2889504" cy="9692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pix-fraud-br</a:t>
            </a:r>
            <a:endParaRPr b="0" i="0" sz="1400" u="none" cap="none" strike="noStrike">
              <a:solidFill>
                <a:srgbClr val="000000"/>
              </a:solidFill>
              <a:latin typeface="Arial"/>
              <a:ea typeface="Arial"/>
              <a:cs typeface="Arial"/>
              <a:sym typeface="Arial"/>
            </a:endParaRPr>
          </a:p>
        </p:txBody>
      </p:sp>
      <p:sp>
        <p:nvSpPr>
          <p:cNvPr id="1249" name="Google Shape;1249;p19"/>
          <p:cNvSpPr txBox="1"/>
          <p:nvPr/>
        </p:nvSpPr>
        <p:spPr>
          <a:xfrm>
            <a:off x="3584448" y="3474720"/>
            <a:ext cx="2112263" cy="9692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ODC-BY</a:t>
            </a:r>
            <a:endParaRPr b="0" i="0" sz="1400" u="none" cap="none" strike="noStrike">
              <a:solidFill>
                <a:srgbClr val="000000"/>
              </a:solidFill>
              <a:latin typeface="Arial"/>
              <a:ea typeface="Arial"/>
              <a:cs typeface="Arial"/>
              <a:sym typeface="Arial"/>
            </a:endParaRPr>
          </a:p>
        </p:txBody>
      </p:sp>
      <p:sp>
        <p:nvSpPr>
          <p:cNvPr id="1250" name="Google Shape;1250;p19"/>
          <p:cNvSpPr txBox="1"/>
          <p:nvPr/>
        </p:nvSpPr>
        <p:spPr>
          <a:xfrm>
            <a:off x="5916168" y="3474720"/>
            <a:ext cx="1792224" cy="9692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JetBrains Mono"/>
                <a:ea typeface="JetBrains Mono"/>
                <a:cs typeface="JetBrains Mono"/>
                <a:sym typeface="JetBrains Mono"/>
              </a:rPr>
              <a:t>0,77%</a:t>
            </a:r>
            <a:endParaRPr b="0" i="0" sz="1400" u="none" cap="none" strike="noStrike">
              <a:solidFill>
                <a:srgbClr val="000000"/>
              </a:solidFill>
              <a:latin typeface="Arial"/>
              <a:ea typeface="Arial"/>
              <a:cs typeface="Arial"/>
              <a:sym typeface="Arial"/>
            </a:endParaRPr>
          </a:p>
        </p:txBody>
      </p:sp>
      <p:sp>
        <p:nvSpPr>
          <p:cNvPr id="1251" name="Google Shape;1251;p19"/>
          <p:cNvSpPr txBox="1"/>
          <p:nvPr/>
        </p:nvSpPr>
        <p:spPr>
          <a:xfrm>
            <a:off x="7927848" y="3474720"/>
            <a:ext cx="3785615" cy="9692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salto único, 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Inter"/>
                <a:ea typeface="Inter"/>
                <a:cs typeface="Inter"/>
                <a:sym typeface="Inter"/>
              </a:rPr>
              <a:t>baseline publicado</a:t>
            </a:r>
            <a:endParaRPr b="0" i="0" sz="1400" u="none" cap="none" strike="noStrike">
              <a:solidFill>
                <a:srgbClr val="000000"/>
              </a:solidFill>
              <a:latin typeface="Arial"/>
              <a:ea typeface="Arial"/>
              <a:cs typeface="Arial"/>
              <a:sym typeface="Arial"/>
            </a:endParaRPr>
          </a:p>
        </p:txBody>
      </p:sp>
      <p:sp>
        <p:nvSpPr>
          <p:cNvPr id="1252" name="Google Shape;1252;p19"/>
          <p:cNvSpPr/>
          <p:nvPr/>
        </p:nvSpPr>
        <p:spPr>
          <a:xfrm>
            <a:off x="365760" y="4389120"/>
            <a:ext cx="11457432"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3" name="Google Shape;1253;p19"/>
          <p:cNvSpPr txBox="1"/>
          <p:nvPr/>
        </p:nvSpPr>
        <p:spPr>
          <a:xfrm>
            <a:off x="475488" y="4480560"/>
            <a:ext cx="2889504" cy="9692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Tide HI / LI</a:t>
            </a:r>
            <a:endParaRPr b="0" i="0" sz="1400" u="none" cap="none" strike="noStrike">
              <a:solidFill>
                <a:srgbClr val="000000"/>
              </a:solidFill>
              <a:latin typeface="Arial"/>
              <a:ea typeface="Arial"/>
              <a:cs typeface="Arial"/>
              <a:sym typeface="Arial"/>
            </a:endParaRPr>
          </a:p>
        </p:txBody>
      </p:sp>
      <p:sp>
        <p:nvSpPr>
          <p:cNvPr id="1254" name="Google Shape;1254;p19"/>
          <p:cNvSpPr txBox="1"/>
          <p:nvPr/>
        </p:nvSpPr>
        <p:spPr>
          <a:xfrm>
            <a:off x="3584448" y="4480560"/>
            <a:ext cx="2112263" cy="9692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CC BY 4.0</a:t>
            </a:r>
            <a:endParaRPr b="0" i="0" sz="1400" u="none" cap="none" strike="noStrike">
              <a:solidFill>
                <a:srgbClr val="000000"/>
              </a:solidFill>
              <a:latin typeface="Arial"/>
              <a:ea typeface="Arial"/>
              <a:cs typeface="Arial"/>
              <a:sym typeface="Arial"/>
            </a:endParaRPr>
          </a:p>
        </p:txBody>
      </p:sp>
      <p:sp>
        <p:nvSpPr>
          <p:cNvPr id="1255" name="Google Shape;1255;p19"/>
          <p:cNvSpPr txBox="1"/>
          <p:nvPr/>
        </p:nvSpPr>
        <p:spPr>
          <a:xfrm>
            <a:off x="5916168" y="4480560"/>
            <a:ext cx="1792224" cy="9692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HI 0,19%</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LI 0,10%</a:t>
            </a:r>
            <a:endParaRPr b="0" i="0" sz="1400" u="none" cap="none" strike="noStrike">
              <a:solidFill>
                <a:srgbClr val="000000"/>
              </a:solidFill>
              <a:latin typeface="Arial"/>
              <a:ea typeface="Arial"/>
              <a:cs typeface="Arial"/>
              <a:sym typeface="Arial"/>
            </a:endParaRPr>
          </a:p>
        </p:txBody>
      </p:sp>
      <p:sp>
        <p:nvSpPr>
          <p:cNvPr id="1256" name="Google Shape;1256;p19"/>
          <p:cNvSpPr txBox="1"/>
          <p:nvPr/>
        </p:nvSpPr>
        <p:spPr>
          <a:xfrm>
            <a:off x="7927848" y="4480560"/>
            <a:ext cx="3785615" cy="9692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cadeias multi-salto,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C2B27"/>
                </a:solidFill>
                <a:latin typeface="Inter"/>
                <a:ea typeface="Inter"/>
                <a:cs typeface="Inter"/>
                <a:sym typeface="Inter"/>
              </a:rPr>
              <a:t>ilícito mais raro</a:t>
            </a:r>
            <a:endParaRPr b="0" i="0" sz="1400" u="none" cap="none" strike="noStrike">
              <a:solidFill>
                <a:srgbClr val="000000"/>
              </a:solidFill>
              <a:latin typeface="Arial"/>
              <a:ea typeface="Arial"/>
              <a:cs typeface="Arial"/>
              <a:sym typeface="Arial"/>
            </a:endParaRPr>
          </a:p>
        </p:txBody>
      </p:sp>
      <p:sp>
        <p:nvSpPr>
          <p:cNvPr id="1257" name="Google Shape;1257;p19"/>
          <p:cNvSpPr/>
          <p:nvPr/>
        </p:nvSpPr>
        <p:spPr>
          <a:xfrm>
            <a:off x="3469233" y="2423160"/>
            <a:ext cx="10972" cy="3017520"/>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8" name="Google Shape;1258;p19"/>
          <p:cNvSpPr/>
          <p:nvPr/>
        </p:nvSpPr>
        <p:spPr>
          <a:xfrm>
            <a:off x="5800953" y="2423160"/>
            <a:ext cx="10972" cy="3017520"/>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9" name="Google Shape;1259;p19"/>
          <p:cNvSpPr/>
          <p:nvPr/>
        </p:nvSpPr>
        <p:spPr>
          <a:xfrm>
            <a:off x="7812633" y="2423160"/>
            <a:ext cx="10972" cy="3017520"/>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0" name="Google Shape;1260;p19"/>
          <p:cNvSpPr txBox="1"/>
          <p:nvPr/>
        </p:nvSpPr>
        <p:spPr>
          <a:xfrm>
            <a:off x="566928" y="5541264"/>
            <a:ext cx="11055096"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Space Grotesk"/>
                <a:ea typeface="Space Grotesk"/>
                <a:cs typeface="Space Grotesk"/>
                <a:sym typeface="Space Grotesk"/>
              </a:rPr>
              <a:t>Só o valor sobrevive; as outras três são injetadas.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pic>
        <p:nvPicPr>
          <p:cNvPr descr="sbseg2026_rodape.png" id="1266" name="Google Shape;1266;p2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67" name="Google Shape;1267;p2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500"/>
              <a:buFont typeface="Arial"/>
              <a:buNone/>
            </a:pPr>
            <a:r>
              <a:rPr b="1" i="0" lang="en-US" sz="2500" u="none" cap="none" strike="noStrike">
                <a:solidFill>
                  <a:srgbClr val="0C2B27"/>
                </a:solidFill>
                <a:latin typeface="JetBrains Mono"/>
                <a:ea typeface="JetBrains Mono"/>
                <a:cs typeface="JetBrains Mono"/>
                <a:sym typeface="JetBrains Mono"/>
              </a:rPr>
              <a:t>55</a:t>
            </a:r>
            <a:endParaRPr b="0" i="0" sz="1400" u="none" cap="none" strike="noStrike">
              <a:solidFill>
                <a:srgbClr val="000000"/>
              </a:solidFill>
              <a:latin typeface="Arial"/>
              <a:ea typeface="Arial"/>
              <a:cs typeface="Arial"/>
              <a:sym typeface="Arial"/>
            </a:endParaRPr>
          </a:p>
        </p:txBody>
      </p:sp>
      <p:sp>
        <p:nvSpPr>
          <p:cNvPr id="1268" name="Google Shape;1268;p2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C2B27"/>
                </a:solidFill>
                <a:latin typeface="Inter"/>
                <a:ea typeface="Inter"/>
                <a:cs typeface="Inter"/>
                <a:sym typeface="Inter"/>
              </a:rPr>
              <a:t>RESULTADO 1</a:t>
            </a:r>
            <a:endParaRPr b="0" i="0" sz="1400" u="none" cap="none" strike="noStrike">
              <a:solidFill>
                <a:srgbClr val="000000"/>
              </a:solidFill>
              <a:latin typeface="Arial"/>
              <a:ea typeface="Arial"/>
              <a:cs typeface="Arial"/>
              <a:sym typeface="Arial"/>
            </a:endParaRPr>
          </a:p>
        </p:txBody>
      </p:sp>
      <p:sp>
        <p:nvSpPr>
          <p:cNvPr id="1269" name="Google Shape;1269;p26"/>
          <p:cNvSpPr txBox="1"/>
          <p:nvPr/>
        </p:nvSpPr>
        <p:spPr>
          <a:xfrm>
            <a:off x="713232" y="566928"/>
            <a:ext cx="10881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0C2B27"/>
                </a:solidFill>
                <a:latin typeface="Space Grotesk"/>
                <a:ea typeface="Space Grotesk"/>
                <a:cs typeface="Space Grotesk"/>
                <a:sym typeface="Space Grotesk"/>
              </a:rPr>
              <a:t>Os três detectores tabulares</a:t>
            </a:r>
            <a:endParaRPr b="0" i="0" sz="1400" u="none" cap="none" strike="noStrike">
              <a:solidFill>
                <a:srgbClr val="000000"/>
              </a:solidFill>
              <a:latin typeface="Arial"/>
              <a:ea typeface="Arial"/>
              <a:cs typeface="Arial"/>
              <a:sym typeface="Arial"/>
            </a:endParaRPr>
          </a:p>
        </p:txBody>
      </p:sp>
      <p:sp>
        <p:nvSpPr>
          <p:cNvPr id="1270" name="Google Shape;1270;p26"/>
          <p:cNvSpPr/>
          <p:nvPr/>
        </p:nvSpPr>
        <p:spPr>
          <a:xfrm>
            <a:off x="713232" y="1901952"/>
            <a:ext cx="11064240" cy="713232"/>
          </a:xfrm>
          <a:prstGeom prst="rect">
            <a:avLst/>
          </a:prstGeom>
          <a:solidFill>
            <a:srgbClr val="0C2B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1" name="Google Shape;1271;p26"/>
          <p:cNvSpPr txBox="1"/>
          <p:nvPr/>
        </p:nvSpPr>
        <p:spPr>
          <a:xfrm>
            <a:off x="822960" y="2066544"/>
            <a:ext cx="397763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Detector</a:t>
            </a:r>
            <a:endParaRPr b="0" i="0" sz="1400" u="none" cap="none" strike="noStrike">
              <a:solidFill>
                <a:srgbClr val="000000"/>
              </a:solidFill>
              <a:latin typeface="Arial"/>
              <a:ea typeface="Arial"/>
              <a:cs typeface="Arial"/>
              <a:sym typeface="Arial"/>
            </a:endParaRPr>
          </a:p>
        </p:txBody>
      </p:sp>
      <p:sp>
        <p:nvSpPr>
          <p:cNvPr id="1272" name="Google Shape;1272;p26"/>
          <p:cNvSpPr txBox="1"/>
          <p:nvPr/>
        </p:nvSpPr>
        <p:spPr>
          <a:xfrm>
            <a:off x="4946904" y="2066544"/>
            <a:ext cx="123444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F1</a:t>
            </a:r>
            <a:endParaRPr b="0" i="0" sz="1400" u="none" cap="none" strike="noStrike">
              <a:solidFill>
                <a:srgbClr val="000000"/>
              </a:solidFill>
              <a:latin typeface="Arial"/>
              <a:ea typeface="Arial"/>
              <a:cs typeface="Arial"/>
              <a:sym typeface="Arial"/>
            </a:endParaRPr>
          </a:p>
        </p:txBody>
      </p:sp>
      <p:sp>
        <p:nvSpPr>
          <p:cNvPr id="1273" name="Google Shape;1273;p26"/>
          <p:cNvSpPr txBox="1"/>
          <p:nvPr/>
        </p:nvSpPr>
        <p:spPr>
          <a:xfrm>
            <a:off x="6327648" y="2066544"/>
            <a:ext cx="1865376"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PR‑AUC</a:t>
            </a:r>
            <a:endParaRPr b="0" i="0" sz="1400" u="none" cap="none" strike="noStrike">
              <a:solidFill>
                <a:srgbClr val="000000"/>
              </a:solidFill>
              <a:latin typeface="Arial"/>
              <a:ea typeface="Arial"/>
              <a:cs typeface="Arial"/>
              <a:sym typeface="Arial"/>
            </a:endParaRPr>
          </a:p>
        </p:txBody>
      </p:sp>
      <p:sp>
        <p:nvSpPr>
          <p:cNvPr id="1274" name="Google Shape;1274;p26"/>
          <p:cNvSpPr txBox="1"/>
          <p:nvPr/>
        </p:nvSpPr>
        <p:spPr>
          <a:xfrm>
            <a:off x="8339327" y="2066544"/>
            <a:ext cx="1353312"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Recall</a:t>
            </a:r>
            <a:endParaRPr b="0" i="0" sz="1400" u="none" cap="none" strike="noStrike">
              <a:solidFill>
                <a:srgbClr val="000000"/>
              </a:solidFill>
              <a:latin typeface="Arial"/>
              <a:ea typeface="Arial"/>
              <a:cs typeface="Arial"/>
              <a:sym typeface="Arial"/>
            </a:endParaRPr>
          </a:p>
        </p:txBody>
      </p:sp>
      <p:sp>
        <p:nvSpPr>
          <p:cNvPr id="1275" name="Google Shape;1275;p26"/>
          <p:cNvSpPr txBox="1"/>
          <p:nvPr/>
        </p:nvSpPr>
        <p:spPr>
          <a:xfrm>
            <a:off x="9838944" y="2066544"/>
            <a:ext cx="173736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Latência</a:t>
            </a:r>
            <a:endParaRPr b="0" i="0" sz="1400" u="none" cap="none" strike="noStrike">
              <a:solidFill>
                <a:srgbClr val="000000"/>
              </a:solidFill>
              <a:latin typeface="Arial"/>
              <a:ea typeface="Arial"/>
              <a:cs typeface="Arial"/>
              <a:sym typeface="Arial"/>
            </a:endParaRPr>
          </a:p>
        </p:txBody>
      </p:sp>
      <p:sp>
        <p:nvSpPr>
          <p:cNvPr id="1276" name="Google Shape;1276;p26"/>
          <p:cNvSpPr txBox="1"/>
          <p:nvPr/>
        </p:nvSpPr>
        <p:spPr>
          <a:xfrm>
            <a:off x="822960" y="2660904"/>
            <a:ext cx="3977639"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Regra fixa</a:t>
            </a:r>
            <a:endParaRPr b="0" i="0" sz="1400" u="none" cap="none" strike="noStrike">
              <a:solidFill>
                <a:srgbClr val="000000"/>
              </a:solidFill>
              <a:latin typeface="Arial"/>
              <a:ea typeface="Arial"/>
              <a:cs typeface="Arial"/>
              <a:sym typeface="Arial"/>
            </a:endParaRPr>
          </a:p>
        </p:txBody>
      </p:sp>
      <p:sp>
        <p:nvSpPr>
          <p:cNvPr id="1277" name="Google Shape;1277;p26"/>
          <p:cNvSpPr txBox="1"/>
          <p:nvPr/>
        </p:nvSpPr>
        <p:spPr>
          <a:xfrm>
            <a:off x="4946904" y="2660904"/>
            <a:ext cx="12344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44,3%</a:t>
            </a:r>
            <a:endParaRPr b="0" i="0" sz="1400" u="none" cap="none" strike="noStrike">
              <a:solidFill>
                <a:srgbClr val="000000"/>
              </a:solidFill>
              <a:latin typeface="Arial"/>
              <a:ea typeface="Arial"/>
              <a:cs typeface="Arial"/>
              <a:sym typeface="Arial"/>
            </a:endParaRPr>
          </a:p>
        </p:txBody>
      </p:sp>
      <p:sp>
        <p:nvSpPr>
          <p:cNvPr id="1278" name="Google Shape;1278;p26"/>
          <p:cNvSpPr txBox="1"/>
          <p:nvPr/>
        </p:nvSpPr>
        <p:spPr>
          <a:xfrm>
            <a:off x="6327648" y="2660904"/>
            <a:ext cx="1865376"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0,431</a:t>
            </a:r>
            <a:endParaRPr b="0" i="0" sz="1400" u="none" cap="none" strike="noStrike">
              <a:solidFill>
                <a:srgbClr val="000000"/>
              </a:solidFill>
              <a:latin typeface="Arial"/>
              <a:ea typeface="Arial"/>
              <a:cs typeface="Arial"/>
              <a:sym typeface="Arial"/>
            </a:endParaRPr>
          </a:p>
        </p:txBody>
      </p:sp>
      <p:sp>
        <p:nvSpPr>
          <p:cNvPr id="1279" name="Google Shape;1279;p26"/>
          <p:cNvSpPr txBox="1"/>
          <p:nvPr/>
        </p:nvSpPr>
        <p:spPr>
          <a:xfrm>
            <a:off x="8339327" y="2660904"/>
            <a:ext cx="1353312"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34,2%</a:t>
            </a:r>
            <a:endParaRPr b="0" i="0" sz="1400" u="none" cap="none" strike="noStrike">
              <a:solidFill>
                <a:srgbClr val="000000"/>
              </a:solidFill>
              <a:latin typeface="Arial"/>
              <a:ea typeface="Arial"/>
              <a:cs typeface="Arial"/>
              <a:sym typeface="Arial"/>
            </a:endParaRPr>
          </a:p>
        </p:txBody>
      </p:sp>
      <p:sp>
        <p:nvSpPr>
          <p:cNvPr id="1280" name="Google Shape;1280;p26"/>
          <p:cNvSpPr txBox="1"/>
          <p:nvPr/>
        </p:nvSpPr>
        <p:spPr>
          <a:xfrm>
            <a:off x="9838944" y="2660904"/>
            <a:ext cx="173736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&lt; 0,01</a:t>
            </a:r>
            <a:endParaRPr b="0" i="0" sz="1400" u="none" cap="none" strike="noStrike">
              <a:solidFill>
                <a:srgbClr val="000000"/>
              </a:solidFill>
              <a:latin typeface="Arial"/>
              <a:ea typeface="Arial"/>
              <a:cs typeface="Arial"/>
              <a:sym typeface="Arial"/>
            </a:endParaRPr>
          </a:p>
        </p:txBody>
      </p:sp>
      <p:sp>
        <p:nvSpPr>
          <p:cNvPr id="1281" name="Google Shape;1281;p26"/>
          <p:cNvSpPr/>
          <p:nvPr/>
        </p:nvSpPr>
        <p:spPr>
          <a:xfrm>
            <a:off x="713232" y="3231489"/>
            <a:ext cx="1106424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2" name="Google Shape;1282;p26"/>
          <p:cNvSpPr txBox="1"/>
          <p:nvPr/>
        </p:nvSpPr>
        <p:spPr>
          <a:xfrm>
            <a:off x="822960" y="3319272"/>
            <a:ext cx="3977639"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Regressão logística</a:t>
            </a:r>
            <a:endParaRPr b="0" i="0" sz="1400" u="none" cap="none" strike="noStrike">
              <a:solidFill>
                <a:srgbClr val="000000"/>
              </a:solidFill>
              <a:latin typeface="Arial"/>
              <a:ea typeface="Arial"/>
              <a:cs typeface="Arial"/>
              <a:sym typeface="Arial"/>
            </a:endParaRPr>
          </a:p>
        </p:txBody>
      </p:sp>
      <p:sp>
        <p:nvSpPr>
          <p:cNvPr id="1283" name="Google Shape;1283;p26"/>
          <p:cNvSpPr txBox="1"/>
          <p:nvPr/>
        </p:nvSpPr>
        <p:spPr>
          <a:xfrm>
            <a:off x="4946904" y="3319272"/>
            <a:ext cx="12344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63,9%</a:t>
            </a:r>
            <a:endParaRPr b="0" i="0" sz="1400" u="none" cap="none" strike="noStrike">
              <a:solidFill>
                <a:srgbClr val="000000"/>
              </a:solidFill>
              <a:latin typeface="Arial"/>
              <a:ea typeface="Arial"/>
              <a:cs typeface="Arial"/>
              <a:sym typeface="Arial"/>
            </a:endParaRPr>
          </a:p>
        </p:txBody>
      </p:sp>
      <p:sp>
        <p:nvSpPr>
          <p:cNvPr id="1284" name="Google Shape;1284;p26"/>
          <p:cNvSpPr txBox="1"/>
          <p:nvPr/>
        </p:nvSpPr>
        <p:spPr>
          <a:xfrm>
            <a:off x="6327648" y="3319272"/>
            <a:ext cx="1865376"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0,706</a:t>
            </a:r>
            <a:endParaRPr b="0" i="0" sz="1400" u="none" cap="none" strike="noStrike">
              <a:solidFill>
                <a:srgbClr val="000000"/>
              </a:solidFill>
              <a:latin typeface="Arial"/>
              <a:ea typeface="Arial"/>
              <a:cs typeface="Arial"/>
              <a:sym typeface="Arial"/>
            </a:endParaRPr>
          </a:p>
        </p:txBody>
      </p:sp>
      <p:sp>
        <p:nvSpPr>
          <p:cNvPr id="1285" name="Google Shape;1285;p26"/>
          <p:cNvSpPr txBox="1"/>
          <p:nvPr/>
        </p:nvSpPr>
        <p:spPr>
          <a:xfrm>
            <a:off x="8339327" y="3319272"/>
            <a:ext cx="1353312"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51,3%</a:t>
            </a:r>
            <a:endParaRPr b="0" i="0" sz="1400" u="none" cap="none" strike="noStrike">
              <a:solidFill>
                <a:srgbClr val="000000"/>
              </a:solidFill>
              <a:latin typeface="Arial"/>
              <a:ea typeface="Arial"/>
              <a:cs typeface="Arial"/>
              <a:sym typeface="Arial"/>
            </a:endParaRPr>
          </a:p>
        </p:txBody>
      </p:sp>
      <p:sp>
        <p:nvSpPr>
          <p:cNvPr id="1286" name="Google Shape;1286;p26"/>
          <p:cNvSpPr txBox="1"/>
          <p:nvPr/>
        </p:nvSpPr>
        <p:spPr>
          <a:xfrm>
            <a:off x="9838944" y="3319272"/>
            <a:ext cx="173736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JetBrains Mono"/>
                <a:ea typeface="JetBrains Mono"/>
                <a:cs typeface="JetBrains Mono"/>
                <a:sym typeface="JetBrains Mono"/>
              </a:rPr>
              <a:t>&lt; 0,01</a:t>
            </a:r>
            <a:endParaRPr b="0" i="0" sz="1400" u="none" cap="none" strike="noStrike">
              <a:solidFill>
                <a:srgbClr val="000000"/>
              </a:solidFill>
              <a:latin typeface="Arial"/>
              <a:ea typeface="Arial"/>
              <a:cs typeface="Arial"/>
              <a:sym typeface="Arial"/>
            </a:endParaRPr>
          </a:p>
        </p:txBody>
      </p:sp>
      <p:sp>
        <p:nvSpPr>
          <p:cNvPr id="1287" name="Google Shape;1287;p26"/>
          <p:cNvSpPr/>
          <p:nvPr/>
        </p:nvSpPr>
        <p:spPr>
          <a:xfrm>
            <a:off x="713232" y="3889857"/>
            <a:ext cx="11064240" cy="10972"/>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8" name="Google Shape;1288;p26"/>
          <p:cNvSpPr/>
          <p:nvPr/>
        </p:nvSpPr>
        <p:spPr>
          <a:xfrm>
            <a:off x="713232" y="3822191"/>
            <a:ext cx="11064240" cy="804672"/>
          </a:xfrm>
          <a:prstGeom prst="rect">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9" name="Google Shape;1289;p26"/>
          <p:cNvSpPr txBox="1"/>
          <p:nvPr/>
        </p:nvSpPr>
        <p:spPr>
          <a:xfrm>
            <a:off x="822960" y="3977639"/>
            <a:ext cx="3977639"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Inter"/>
                <a:ea typeface="Inter"/>
                <a:cs typeface="Inter"/>
                <a:sym typeface="Inter"/>
              </a:rPr>
              <a:t>Random forest</a:t>
            </a:r>
            <a:endParaRPr b="0" i="0" sz="1400" u="none" cap="none" strike="noStrike">
              <a:solidFill>
                <a:srgbClr val="000000"/>
              </a:solidFill>
              <a:latin typeface="Arial"/>
              <a:ea typeface="Arial"/>
              <a:cs typeface="Arial"/>
              <a:sym typeface="Arial"/>
            </a:endParaRPr>
          </a:p>
        </p:txBody>
      </p:sp>
      <p:sp>
        <p:nvSpPr>
          <p:cNvPr id="1290" name="Google Shape;1290;p26"/>
          <p:cNvSpPr txBox="1"/>
          <p:nvPr/>
        </p:nvSpPr>
        <p:spPr>
          <a:xfrm>
            <a:off x="4946904" y="3977639"/>
            <a:ext cx="12344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JetBrains Mono"/>
                <a:ea typeface="JetBrains Mono"/>
                <a:cs typeface="JetBrains Mono"/>
                <a:sym typeface="JetBrains Mono"/>
              </a:rPr>
              <a:t>68,4%</a:t>
            </a:r>
            <a:endParaRPr b="0" i="0" sz="1400" u="none" cap="none" strike="noStrike">
              <a:solidFill>
                <a:srgbClr val="000000"/>
              </a:solidFill>
              <a:latin typeface="Arial"/>
              <a:ea typeface="Arial"/>
              <a:cs typeface="Arial"/>
              <a:sym typeface="Arial"/>
            </a:endParaRPr>
          </a:p>
        </p:txBody>
      </p:sp>
      <p:sp>
        <p:nvSpPr>
          <p:cNvPr id="1291" name="Google Shape;1291;p26"/>
          <p:cNvSpPr txBox="1"/>
          <p:nvPr/>
        </p:nvSpPr>
        <p:spPr>
          <a:xfrm>
            <a:off x="6327648" y="3977639"/>
            <a:ext cx="1865376"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JetBrains Mono"/>
                <a:ea typeface="JetBrains Mono"/>
                <a:cs typeface="JetBrains Mono"/>
                <a:sym typeface="JetBrains Mono"/>
              </a:rPr>
              <a:t>0,743</a:t>
            </a:r>
            <a:endParaRPr b="0" i="0" sz="1400" u="none" cap="none" strike="noStrike">
              <a:solidFill>
                <a:srgbClr val="000000"/>
              </a:solidFill>
              <a:latin typeface="Arial"/>
              <a:ea typeface="Arial"/>
              <a:cs typeface="Arial"/>
              <a:sym typeface="Arial"/>
            </a:endParaRPr>
          </a:p>
        </p:txBody>
      </p:sp>
      <p:sp>
        <p:nvSpPr>
          <p:cNvPr id="1292" name="Google Shape;1292;p26"/>
          <p:cNvSpPr txBox="1"/>
          <p:nvPr/>
        </p:nvSpPr>
        <p:spPr>
          <a:xfrm>
            <a:off x="8339327" y="3977639"/>
            <a:ext cx="1353312"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JetBrains Mono"/>
                <a:ea typeface="JetBrains Mono"/>
                <a:cs typeface="JetBrains Mono"/>
                <a:sym typeface="JetBrains Mono"/>
              </a:rPr>
              <a:t>62,2%</a:t>
            </a:r>
            <a:endParaRPr b="0" i="0" sz="1400" u="none" cap="none" strike="noStrike">
              <a:solidFill>
                <a:srgbClr val="000000"/>
              </a:solidFill>
              <a:latin typeface="Arial"/>
              <a:ea typeface="Arial"/>
              <a:cs typeface="Arial"/>
              <a:sym typeface="Arial"/>
            </a:endParaRPr>
          </a:p>
        </p:txBody>
      </p:sp>
      <p:sp>
        <p:nvSpPr>
          <p:cNvPr id="1293" name="Google Shape;1293;p26"/>
          <p:cNvSpPr txBox="1"/>
          <p:nvPr/>
        </p:nvSpPr>
        <p:spPr>
          <a:xfrm>
            <a:off x="9838944" y="3977639"/>
            <a:ext cx="173736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JetBrains Mono"/>
                <a:ea typeface="JetBrains Mono"/>
                <a:cs typeface="JetBrains Mono"/>
                <a:sym typeface="JetBrains Mono"/>
              </a:rPr>
              <a:t>&lt; 0,01</a:t>
            </a:r>
            <a:endParaRPr b="0" i="0" sz="1400" u="none" cap="none" strike="noStrike">
              <a:solidFill>
                <a:srgbClr val="000000"/>
              </a:solidFill>
              <a:latin typeface="Arial"/>
              <a:ea typeface="Arial"/>
              <a:cs typeface="Arial"/>
              <a:sym typeface="Arial"/>
            </a:endParaRPr>
          </a:p>
        </p:txBody>
      </p:sp>
      <p:sp>
        <p:nvSpPr>
          <p:cNvPr id="1294" name="Google Shape;1294;p26"/>
          <p:cNvSpPr/>
          <p:nvPr/>
        </p:nvSpPr>
        <p:spPr>
          <a:xfrm>
            <a:off x="4873752" y="2578608"/>
            <a:ext cx="10972" cy="1975103"/>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5" name="Google Shape;1295;p26"/>
          <p:cNvSpPr/>
          <p:nvPr/>
        </p:nvSpPr>
        <p:spPr>
          <a:xfrm>
            <a:off x="6254496" y="2578608"/>
            <a:ext cx="10972" cy="1975103"/>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6" name="Google Shape;1296;p26"/>
          <p:cNvSpPr/>
          <p:nvPr/>
        </p:nvSpPr>
        <p:spPr>
          <a:xfrm>
            <a:off x="8266175" y="2578608"/>
            <a:ext cx="10972" cy="1975103"/>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7" name="Google Shape;1297;p26"/>
          <p:cNvSpPr/>
          <p:nvPr/>
        </p:nvSpPr>
        <p:spPr>
          <a:xfrm>
            <a:off x="9765792" y="2578608"/>
            <a:ext cx="10972" cy="1975103"/>
          </a:xfrm>
          <a:prstGeom prst="rect">
            <a:avLst/>
          </a:prstGeom>
          <a:solidFill>
            <a:srgbClr val="DAE6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8" name="Google Shape;1298;p26"/>
          <p:cNvSpPr txBox="1"/>
          <p:nvPr/>
        </p:nvSpPr>
        <p:spPr>
          <a:xfrm>
            <a:off x="713232" y="1444752"/>
            <a:ext cx="10789920"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0C2B27"/>
                </a:solidFill>
                <a:latin typeface="Inter"/>
                <a:ea typeface="Inter"/>
                <a:cs typeface="Inter"/>
                <a:sym typeface="Inter"/>
              </a:rPr>
              <a:t>16.193 eventos · 193 fraudes · uma linha por transferência</a:t>
            </a:r>
            <a:endParaRPr b="0" i="0" sz="1400" u="none" cap="none" strike="noStrike">
              <a:solidFill>
                <a:srgbClr val="000000"/>
              </a:solidFill>
              <a:latin typeface="Arial"/>
              <a:ea typeface="Arial"/>
              <a:cs typeface="Arial"/>
              <a:sym typeface="Arial"/>
            </a:endParaRPr>
          </a:p>
        </p:txBody>
      </p:sp>
      <p:sp>
        <p:nvSpPr>
          <p:cNvPr id="1299" name="Google Shape;1299;p26"/>
          <p:cNvSpPr/>
          <p:nvPr/>
        </p:nvSpPr>
        <p:spPr>
          <a:xfrm>
            <a:off x="713232" y="5230368"/>
            <a:ext cx="10744200" cy="841248"/>
          </a:xfrm>
          <a:prstGeom prst="roundRect">
            <a:avLst>
              <a:gd fmla="val 6000" name="adj"/>
            </a:avLst>
          </a:prstGeom>
          <a:solidFill>
            <a:srgbClr val="E6F2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0" name="Google Shape;1300;p26"/>
          <p:cNvSpPr txBox="1"/>
          <p:nvPr/>
        </p:nvSpPr>
        <p:spPr>
          <a:xfrm>
            <a:off x="960120" y="5084064"/>
            <a:ext cx="10241280" cy="10972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PR-AUC: área sob a curva precisão-recall.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C2B27"/>
                </a:solidFill>
                <a:latin typeface="Inter"/>
                <a:ea typeface="Inter"/>
                <a:cs typeface="Inter"/>
                <a:sym typeface="Inter"/>
              </a:rPr>
              <a:t>O prazo ainda não separa nada entre os três.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